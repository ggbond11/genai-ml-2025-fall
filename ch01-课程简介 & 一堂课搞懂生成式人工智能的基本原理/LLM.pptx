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41"/>
  </p:notesMasterIdLst>
  <p:sldIdLst>
    <p:sldId id="5361" r:id="rId3"/>
    <p:sldId id="5029" r:id="rId4"/>
    <p:sldId id="5394" r:id="rId5"/>
    <p:sldId id="5396" r:id="rId6"/>
    <p:sldId id="4823" r:id="rId7"/>
    <p:sldId id="4824" r:id="rId8"/>
    <p:sldId id="5363" r:id="rId9"/>
    <p:sldId id="5364" r:id="rId10"/>
    <p:sldId id="5395" r:id="rId11"/>
    <p:sldId id="5398" r:id="rId12"/>
    <p:sldId id="5365" r:id="rId13"/>
    <p:sldId id="5399" r:id="rId14"/>
    <p:sldId id="285" r:id="rId15"/>
    <p:sldId id="4826" r:id="rId16"/>
    <p:sldId id="5367" r:id="rId17"/>
    <p:sldId id="5370" r:id="rId18"/>
    <p:sldId id="5373" r:id="rId19"/>
    <p:sldId id="4990" r:id="rId20"/>
    <p:sldId id="4992" r:id="rId21"/>
    <p:sldId id="5385" r:id="rId22"/>
    <p:sldId id="5352" r:id="rId23"/>
    <p:sldId id="4831" r:id="rId24"/>
    <p:sldId id="5375" r:id="rId25"/>
    <p:sldId id="3230" r:id="rId26"/>
    <p:sldId id="4820" r:id="rId27"/>
    <p:sldId id="5400" r:id="rId28"/>
    <p:sldId id="5392" r:id="rId29"/>
    <p:sldId id="4975" r:id="rId30"/>
    <p:sldId id="5374" r:id="rId31"/>
    <p:sldId id="5402" r:id="rId32"/>
    <p:sldId id="5387" r:id="rId33"/>
    <p:sldId id="5051" r:id="rId34"/>
    <p:sldId id="5403" r:id="rId35"/>
    <p:sldId id="5397" r:id="rId36"/>
    <p:sldId id="5401" r:id="rId37"/>
    <p:sldId id="5342" r:id="rId38"/>
    <p:sldId id="5351" r:id="rId39"/>
    <p:sldId id="257" r:id="rId40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7316" autoAdjust="0"/>
    <p:restoredTop sz="76758" autoAdjust="0"/>
  </p:normalViewPr>
  <p:slideViewPr>
    <p:cSldViewPr snapToGrid="0">
      <p:cViewPr varScale="1">
        <p:scale>
          <a:sx n="44" d="100"/>
          <a:sy n="44" d="100"/>
        </p:scale>
        <p:origin x="1050" y="2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presProps" Target="pres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20" Type="http://schemas.openxmlformats.org/officeDocument/2006/relationships/slide" Target="slides/slide18.xml"/><Relationship Id="rId41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AFCCEC1-E983-49EA-9979-9A789981E6F0}" type="doc">
      <dgm:prSet loTypeId="urn:microsoft.com/office/officeart/2005/8/layout/default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zh-TW" altLang="en-US"/>
        </a:p>
      </dgm:t>
    </dgm:pt>
    <dgm:pt modelId="{364E6BC2-64D6-420F-BF51-D071772AFD8C}">
      <dgm:prSet phldrT="[文字]"/>
      <dgm:spPr/>
      <dgm:t>
        <a:bodyPr/>
        <a:lstStyle/>
        <a:p>
          <a:r>
            <a: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rPr>
            <a:t>原理</a:t>
          </a:r>
        </a:p>
      </dgm:t>
    </dgm:pt>
    <dgm:pt modelId="{D97798C0-00D1-4DA1-BD83-8C1D88C7F105}" type="parTrans" cxnId="{90A8C7E1-1F4A-4523-8D3C-A3A039C41E2E}">
      <dgm:prSet/>
      <dgm:spPr/>
      <dgm:t>
        <a:bodyPr/>
        <a:lstStyle/>
        <a:p>
          <a:endParaRPr lang="zh-TW" altLang="en-US"/>
        </a:p>
      </dgm:t>
    </dgm:pt>
    <dgm:pt modelId="{33FF34F4-434E-4869-AAB0-C9947A481F88}" type="sibTrans" cxnId="{90A8C7E1-1F4A-4523-8D3C-A3A039C41E2E}">
      <dgm:prSet/>
      <dgm:spPr/>
      <dgm:t>
        <a:bodyPr/>
        <a:lstStyle/>
        <a:p>
          <a:endParaRPr lang="zh-TW" altLang="en-US"/>
        </a:p>
      </dgm:t>
    </dgm:pt>
    <dgm:pt modelId="{FFBDDC7E-7B4E-4327-9C6C-22ECABDD3BED}">
      <dgm:prSet phldrT="[文字]"/>
      <dgm:spPr/>
      <dgm:t>
        <a:bodyPr/>
        <a:lstStyle/>
        <a:p>
          <a:r>
            <a: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rPr>
            <a:t>實作</a:t>
          </a:r>
        </a:p>
      </dgm:t>
    </dgm:pt>
    <dgm:pt modelId="{38FB1131-352F-4F17-8DDA-C6280E5907CB}" type="parTrans" cxnId="{FAAB4DFD-4D15-4D84-8B3B-4BB7810C73C8}">
      <dgm:prSet/>
      <dgm:spPr/>
      <dgm:t>
        <a:bodyPr/>
        <a:lstStyle/>
        <a:p>
          <a:endParaRPr lang="zh-TW" altLang="en-US"/>
        </a:p>
      </dgm:t>
    </dgm:pt>
    <dgm:pt modelId="{2867D17B-62F8-41F3-92BC-6B76B76BADF5}" type="sibTrans" cxnId="{FAAB4DFD-4D15-4D84-8B3B-4BB7810C73C8}">
      <dgm:prSet/>
      <dgm:spPr/>
      <dgm:t>
        <a:bodyPr/>
        <a:lstStyle/>
        <a:p>
          <a:endParaRPr lang="zh-TW" altLang="en-US"/>
        </a:p>
      </dgm:t>
    </dgm:pt>
    <dgm:pt modelId="{DB17D594-3CA9-47D8-A374-5CB1C504B718}" type="pres">
      <dgm:prSet presAssocID="{4AFCCEC1-E983-49EA-9979-9A789981E6F0}" presName="diagram" presStyleCnt="0">
        <dgm:presLayoutVars>
          <dgm:dir/>
          <dgm:resizeHandles val="exact"/>
        </dgm:presLayoutVars>
      </dgm:prSet>
      <dgm:spPr/>
    </dgm:pt>
    <dgm:pt modelId="{4956D11F-2109-495E-ACAA-35AFBEAF7BCB}" type="pres">
      <dgm:prSet presAssocID="{364E6BC2-64D6-420F-BF51-D071772AFD8C}" presName="node" presStyleLbl="node1" presStyleIdx="0" presStyleCnt="2">
        <dgm:presLayoutVars>
          <dgm:bulletEnabled val="1"/>
        </dgm:presLayoutVars>
      </dgm:prSet>
      <dgm:spPr/>
    </dgm:pt>
    <dgm:pt modelId="{4A2C4C75-16FE-479B-98EC-FB9B7D55EB0D}" type="pres">
      <dgm:prSet presAssocID="{33FF34F4-434E-4869-AAB0-C9947A481F88}" presName="sibTrans" presStyleCnt="0"/>
      <dgm:spPr/>
    </dgm:pt>
    <dgm:pt modelId="{38412B8C-BB08-41DA-AD5A-74243C21B962}" type="pres">
      <dgm:prSet presAssocID="{FFBDDC7E-7B4E-4327-9C6C-22ECABDD3BED}" presName="node" presStyleLbl="node1" presStyleIdx="1" presStyleCnt="2">
        <dgm:presLayoutVars>
          <dgm:bulletEnabled val="1"/>
        </dgm:presLayoutVars>
      </dgm:prSet>
      <dgm:spPr/>
    </dgm:pt>
  </dgm:ptLst>
  <dgm:cxnLst>
    <dgm:cxn modelId="{2845A924-80C4-4FDF-A8D0-8D4E83ADE12D}" type="presOf" srcId="{FFBDDC7E-7B4E-4327-9C6C-22ECABDD3BED}" destId="{38412B8C-BB08-41DA-AD5A-74243C21B962}" srcOrd="0" destOrd="0" presId="urn:microsoft.com/office/officeart/2005/8/layout/default"/>
    <dgm:cxn modelId="{6BF73166-E96A-4DCB-BFD7-5F5E48EEBA02}" type="presOf" srcId="{364E6BC2-64D6-420F-BF51-D071772AFD8C}" destId="{4956D11F-2109-495E-ACAA-35AFBEAF7BCB}" srcOrd="0" destOrd="0" presId="urn:microsoft.com/office/officeart/2005/8/layout/default"/>
    <dgm:cxn modelId="{80AB5FDD-3133-4BAE-AAD8-423C5EFD3914}" type="presOf" srcId="{4AFCCEC1-E983-49EA-9979-9A789981E6F0}" destId="{DB17D594-3CA9-47D8-A374-5CB1C504B718}" srcOrd="0" destOrd="0" presId="urn:microsoft.com/office/officeart/2005/8/layout/default"/>
    <dgm:cxn modelId="{90A8C7E1-1F4A-4523-8D3C-A3A039C41E2E}" srcId="{4AFCCEC1-E983-49EA-9979-9A789981E6F0}" destId="{364E6BC2-64D6-420F-BF51-D071772AFD8C}" srcOrd="0" destOrd="0" parTransId="{D97798C0-00D1-4DA1-BD83-8C1D88C7F105}" sibTransId="{33FF34F4-434E-4869-AAB0-C9947A481F88}"/>
    <dgm:cxn modelId="{FAAB4DFD-4D15-4D84-8B3B-4BB7810C73C8}" srcId="{4AFCCEC1-E983-49EA-9979-9A789981E6F0}" destId="{FFBDDC7E-7B4E-4327-9C6C-22ECABDD3BED}" srcOrd="1" destOrd="0" parTransId="{38FB1131-352F-4F17-8DDA-C6280E5907CB}" sibTransId="{2867D17B-62F8-41F3-92BC-6B76B76BADF5}"/>
    <dgm:cxn modelId="{D8D8B6EE-E741-4C91-B8C3-BF6F7046EFCD}" type="presParOf" srcId="{DB17D594-3CA9-47D8-A374-5CB1C504B718}" destId="{4956D11F-2109-495E-ACAA-35AFBEAF7BCB}" srcOrd="0" destOrd="0" presId="urn:microsoft.com/office/officeart/2005/8/layout/default"/>
    <dgm:cxn modelId="{666B468F-718B-4845-B76B-FA365ADF0890}" type="presParOf" srcId="{DB17D594-3CA9-47D8-A374-5CB1C504B718}" destId="{4A2C4C75-16FE-479B-98EC-FB9B7D55EB0D}" srcOrd="1" destOrd="0" presId="urn:microsoft.com/office/officeart/2005/8/layout/default"/>
    <dgm:cxn modelId="{6E7E605A-9FE7-41B5-AAAE-9AF0CB6D48AF}" type="presParOf" srcId="{DB17D594-3CA9-47D8-A374-5CB1C504B718}" destId="{38412B8C-BB08-41DA-AD5A-74243C21B962}" srcOrd="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AFCCEC1-E983-49EA-9979-9A789981E6F0}" type="doc">
      <dgm:prSet loTypeId="urn:microsoft.com/office/officeart/2005/8/layout/default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zh-TW" altLang="en-US"/>
        </a:p>
      </dgm:t>
    </dgm:pt>
    <dgm:pt modelId="{364E6BC2-64D6-420F-BF51-D071772AFD8C}">
      <dgm:prSet phldrT="[文字]"/>
      <dgm:spPr/>
      <dgm:t>
        <a:bodyPr/>
        <a:lstStyle/>
        <a:p>
          <a:r>
            <a: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rPr>
            <a:t>原理</a:t>
          </a:r>
        </a:p>
      </dgm:t>
    </dgm:pt>
    <dgm:pt modelId="{D97798C0-00D1-4DA1-BD83-8C1D88C7F105}" type="parTrans" cxnId="{90A8C7E1-1F4A-4523-8D3C-A3A039C41E2E}">
      <dgm:prSet/>
      <dgm:spPr/>
      <dgm:t>
        <a:bodyPr/>
        <a:lstStyle/>
        <a:p>
          <a:endParaRPr lang="zh-TW" altLang="en-US"/>
        </a:p>
      </dgm:t>
    </dgm:pt>
    <dgm:pt modelId="{33FF34F4-434E-4869-AAB0-C9947A481F88}" type="sibTrans" cxnId="{90A8C7E1-1F4A-4523-8D3C-A3A039C41E2E}">
      <dgm:prSet/>
      <dgm:spPr/>
      <dgm:t>
        <a:bodyPr/>
        <a:lstStyle/>
        <a:p>
          <a:endParaRPr lang="zh-TW" altLang="en-US"/>
        </a:p>
      </dgm:t>
    </dgm:pt>
    <dgm:pt modelId="{FFBDDC7E-7B4E-4327-9C6C-22ECABDD3BED}">
      <dgm:prSet phldrT="[文字]"/>
      <dgm:spPr/>
      <dgm:t>
        <a:bodyPr/>
        <a:lstStyle/>
        <a:p>
          <a:r>
            <a: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rPr>
            <a:t>實作</a:t>
          </a:r>
        </a:p>
      </dgm:t>
    </dgm:pt>
    <dgm:pt modelId="{38FB1131-352F-4F17-8DDA-C6280E5907CB}" type="parTrans" cxnId="{FAAB4DFD-4D15-4D84-8B3B-4BB7810C73C8}">
      <dgm:prSet/>
      <dgm:spPr/>
      <dgm:t>
        <a:bodyPr/>
        <a:lstStyle/>
        <a:p>
          <a:endParaRPr lang="zh-TW" altLang="en-US"/>
        </a:p>
      </dgm:t>
    </dgm:pt>
    <dgm:pt modelId="{2867D17B-62F8-41F3-92BC-6B76B76BADF5}" type="sibTrans" cxnId="{FAAB4DFD-4D15-4D84-8B3B-4BB7810C73C8}">
      <dgm:prSet/>
      <dgm:spPr/>
      <dgm:t>
        <a:bodyPr/>
        <a:lstStyle/>
        <a:p>
          <a:endParaRPr lang="zh-TW" altLang="en-US"/>
        </a:p>
      </dgm:t>
    </dgm:pt>
    <dgm:pt modelId="{DB17D594-3CA9-47D8-A374-5CB1C504B718}" type="pres">
      <dgm:prSet presAssocID="{4AFCCEC1-E983-49EA-9979-9A789981E6F0}" presName="diagram" presStyleCnt="0">
        <dgm:presLayoutVars>
          <dgm:dir/>
          <dgm:resizeHandles val="exact"/>
        </dgm:presLayoutVars>
      </dgm:prSet>
      <dgm:spPr/>
    </dgm:pt>
    <dgm:pt modelId="{4956D11F-2109-495E-ACAA-35AFBEAF7BCB}" type="pres">
      <dgm:prSet presAssocID="{364E6BC2-64D6-420F-BF51-D071772AFD8C}" presName="node" presStyleLbl="node1" presStyleIdx="0" presStyleCnt="2">
        <dgm:presLayoutVars>
          <dgm:bulletEnabled val="1"/>
        </dgm:presLayoutVars>
      </dgm:prSet>
      <dgm:spPr/>
    </dgm:pt>
    <dgm:pt modelId="{4A2C4C75-16FE-479B-98EC-FB9B7D55EB0D}" type="pres">
      <dgm:prSet presAssocID="{33FF34F4-434E-4869-AAB0-C9947A481F88}" presName="sibTrans" presStyleCnt="0"/>
      <dgm:spPr/>
    </dgm:pt>
    <dgm:pt modelId="{38412B8C-BB08-41DA-AD5A-74243C21B962}" type="pres">
      <dgm:prSet presAssocID="{FFBDDC7E-7B4E-4327-9C6C-22ECABDD3BED}" presName="node" presStyleLbl="node1" presStyleIdx="1" presStyleCnt="2">
        <dgm:presLayoutVars>
          <dgm:bulletEnabled val="1"/>
        </dgm:presLayoutVars>
      </dgm:prSet>
      <dgm:spPr/>
    </dgm:pt>
  </dgm:ptLst>
  <dgm:cxnLst>
    <dgm:cxn modelId="{2845A924-80C4-4FDF-A8D0-8D4E83ADE12D}" type="presOf" srcId="{FFBDDC7E-7B4E-4327-9C6C-22ECABDD3BED}" destId="{38412B8C-BB08-41DA-AD5A-74243C21B962}" srcOrd="0" destOrd="0" presId="urn:microsoft.com/office/officeart/2005/8/layout/default"/>
    <dgm:cxn modelId="{6BF73166-E96A-4DCB-BFD7-5F5E48EEBA02}" type="presOf" srcId="{364E6BC2-64D6-420F-BF51-D071772AFD8C}" destId="{4956D11F-2109-495E-ACAA-35AFBEAF7BCB}" srcOrd="0" destOrd="0" presId="urn:microsoft.com/office/officeart/2005/8/layout/default"/>
    <dgm:cxn modelId="{80AB5FDD-3133-4BAE-AAD8-423C5EFD3914}" type="presOf" srcId="{4AFCCEC1-E983-49EA-9979-9A789981E6F0}" destId="{DB17D594-3CA9-47D8-A374-5CB1C504B718}" srcOrd="0" destOrd="0" presId="urn:microsoft.com/office/officeart/2005/8/layout/default"/>
    <dgm:cxn modelId="{90A8C7E1-1F4A-4523-8D3C-A3A039C41E2E}" srcId="{4AFCCEC1-E983-49EA-9979-9A789981E6F0}" destId="{364E6BC2-64D6-420F-BF51-D071772AFD8C}" srcOrd="0" destOrd="0" parTransId="{D97798C0-00D1-4DA1-BD83-8C1D88C7F105}" sibTransId="{33FF34F4-434E-4869-AAB0-C9947A481F88}"/>
    <dgm:cxn modelId="{FAAB4DFD-4D15-4D84-8B3B-4BB7810C73C8}" srcId="{4AFCCEC1-E983-49EA-9979-9A789981E6F0}" destId="{FFBDDC7E-7B4E-4327-9C6C-22ECABDD3BED}" srcOrd="1" destOrd="0" parTransId="{38FB1131-352F-4F17-8DDA-C6280E5907CB}" sibTransId="{2867D17B-62F8-41F3-92BC-6B76B76BADF5}"/>
    <dgm:cxn modelId="{D8D8B6EE-E741-4C91-B8C3-BF6F7046EFCD}" type="presParOf" srcId="{DB17D594-3CA9-47D8-A374-5CB1C504B718}" destId="{4956D11F-2109-495E-ACAA-35AFBEAF7BCB}" srcOrd="0" destOrd="0" presId="urn:microsoft.com/office/officeart/2005/8/layout/default"/>
    <dgm:cxn modelId="{666B468F-718B-4845-B76B-FA365ADF0890}" type="presParOf" srcId="{DB17D594-3CA9-47D8-A374-5CB1C504B718}" destId="{4A2C4C75-16FE-479B-98EC-FB9B7D55EB0D}" srcOrd="1" destOrd="0" presId="urn:microsoft.com/office/officeart/2005/8/layout/default"/>
    <dgm:cxn modelId="{6E7E605A-9FE7-41B5-AAAE-9AF0CB6D48AF}" type="presParOf" srcId="{DB17D594-3CA9-47D8-A374-5CB1C504B718}" destId="{38412B8C-BB08-41DA-AD5A-74243C21B962}" srcOrd="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956D11F-2109-495E-ACAA-35AFBEAF7BCB}">
      <dsp:nvSpPr>
        <dsp:cNvPr id="0" name=""/>
        <dsp:cNvSpPr/>
      </dsp:nvSpPr>
      <dsp:spPr>
        <a:xfrm>
          <a:off x="1283" y="673807"/>
          <a:ext cx="5006206" cy="3003723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6500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原理</a:t>
          </a:r>
        </a:p>
      </dsp:txBody>
      <dsp:txXfrm>
        <a:off x="1283" y="673807"/>
        <a:ext cx="5006206" cy="3003723"/>
      </dsp:txXfrm>
    </dsp:sp>
    <dsp:sp modelId="{38412B8C-BB08-41DA-AD5A-74243C21B962}">
      <dsp:nvSpPr>
        <dsp:cNvPr id="0" name=""/>
        <dsp:cNvSpPr/>
      </dsp:nvSpPr>
      <dsp:spPr>
        <a:xfrm>
          <a:off x="5508110" y="673807"/>
          <a:ext cx="5006206" cy="3003723"/>
        </a:xfrm>
        <a:prstGeom prst="rect">
          <a:avLst/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6500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實作</a:t>
          </a:r>
        </a:p>
      </dsp:txBody>
      <dsp:txXfrm>
        <a:off x="5508110" y="673807"/>
        <a:ext cx="5006206" cy="300372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956D11F-2109-495E-ACAA-35AFBEAF7BCB}">
      <dsp:nvSpPr>
        <dsp:cNvPr id="0" name=""/>
        <dsp:cNvSpPr/>
      </dsp:nvSpPr>
      <dsp:spPr>
        <a:xfrm>
          <a:off x="1283" y="673807"/>
          <a:ext cx="5006206" cy="3003723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6500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原理</a:t>
          </a:r>
        </a:p>
      </dsp:txBody>
      <dsp:txXfrm>
        <a:off x="1283" y="673807"/>
        <a:ext cx="5006206" cy="3003723"/>
      </dsp:txXfrm>
    </dsp:sp>
    <dsp:sp modelId="{38412B8C-BB08-41DA-AD5A-74243C21B962}">
      <dsp:nvSpPr>
        <dsp:cNvPr id="0" name=""/>
        <dsp:cNvSpPr/>
      </dsp:nvSpPr>
      <dsp:spPr>
        <a:xfrm>
          <a:off x="5508110" y="673807"/>
          <a:ext cx="5006206" cy="3003723"/>
        </a:xfrm>
        <a:prstGeom prst="rect">
          <a:avLst/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6500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實作</a:t>
          </a:r>
        </a:p>
      </dsp:txBody>
      <dsp:txXfrm>
        <a:off x="5508110" y="673807"/>
        <a:ext cx="5006206" cy="300372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CA8429-C53E-4A00-885E-2D9E1DCD6EAA}" type="datetimeFigureOut">
              <a:rPr lang="zh-TW" altLang="en-US" smtClean="0"/>
              <a:t>2025/9/11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6AB1BD-4F7F-419C-AA50-21DFF22F7D6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92719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drive/1EjiX46muxSMy0avtHPXiulVUhmu37Kyi?hl=zh-tw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gle.com/url?q=https%3A%2F%2Fdiscuss.huggingface.co%2Ft%2Fusing-pipelines-versus-inferenceclient%2F59460" TargetMode="External"/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/>
              <a:t>====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問題</a:t>
            </a:r>
            <a:r>
              <a:rPr lang="en-US" altLang="zh-TW" dirty="0"/>
              <a:t>:</a:t>
            </a:r>
            <a:r>
              <a:rPr lang="zh-TW" altLang="en-US" dirty="0"/>
              <a:t> 要不要多講有關 </a:t>
            </a:r>
            <a:r>
              <a:rPr lang="en-US" altLang="zh-TW" dirty="0"/>
              <a:t>token </a:t>
            </a:r>
            <a:r>
              <a:rPr lang="zh-TW" altLang="en-US" dirty="0"/>
              <a:t>的事情</a:t>
            </a:r>
            <a:endParaRPr lang="en-US" altLang="zh-TW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/>
              <a:t>TODO:</a:t>
            </a:r>
            <a:r>
              <a:rPr lang="zh-TW" altLang="en-US" dirty="0"/>
              <a:t>可以產生所有的東西嗎</a:t>
            </a:r>
            <a:r>
              <a:rPr lang="en-US" altLang="zh-TW" dirty="0"/>
              <a:t>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/>
              <a:t>====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其他能回答日期嗎</a:t>
            </a:r>
            <a:endParaRPr lang="en-US" altLang="zh-TW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 err="1"/>
              <a:t>Colab</a:t>
            </a:r>
            <a:r>
              <a:rPr lang="en-US" altLang="zh-TW" dirty="0"/>
              <a:t>: 27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/>
              <a:t>TODO:</a:t>
            </a:r>
            <a:r>
              <a:rPr lang="zh-TW" altLang="en-US" dirty="0"/>
              <a:t> </a:t>
            </a:r>
            <a:endParaRPr lang="en-US" altLang="zh-TW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/>
              <a:t>System Prompt </a:t>
            </a:r>
            <a:r>
              <a:rPr lang="zh-TW" altLang="en-US" dirty="0"/>
              <a:t>的等級</a:t>
            </a:r>
            <a:endParaRPr lang="en-US" altLang="zh-TW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 err="1"/>
              <a:t>Alaph</a:t>
            </a:r>
            <a:r>
              <a:rPr lang="en-US" altLang="zh-TW" dirty="0"/>
              <a:t> fold???</a:t>
            </a:r>
            <a:endParaRPr lang="zh-TW" altLang="en-US" dirty="0"/>
          </a:p>
          <a:p>
            <a:r>
              <a:rPr lang="zh-TW" altLang="en-US" dirty="0"/>
              <a:t>要不要講 </a:t>
            </a:r>
            <a:r>
              <a:rPr lang="en-US" altLang="zh-TW" dirty="0"/>
              <a:t>codex</a:t>
            </a:r>
          </a:p>
          <a:p>
            <a:r>
              <a:rPr lang="zh-TW" altLang="en-US" dirty="0"/>
              <a:t>姜成翰 </a:t>
            </a:r>
            <a:r>
              <a:rPr lang="en-US" altLang="zh-TW" dirty="0"/>
              <a:t>computer use </a:t>
            </a:r>
            <a:r>
              <a:rPr lang="zh-TW" altLang="en-US" dirty="0"/>
              <a:t>的 </a:t>
            </a:r>
            <a:r>
              <a:rPr lang="en-US" altLang="zh-TW" dirty="0"/>
              <a:t>prompt</a:t>
            </a:r>
          </a:p>
          <a:p>
            <a:endParaRPr lang="en-US" altLang="zh-TW" dirty="0"/>
          </a:p>
          <a:p>
            <a:endParaRPr lang="en-US" altLang="zh-TW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/>
              <a:t>Demo code: </a:t>
            </a:r>
            <a:r>
              <a:rPr lang="en-US" altLang="zh-TW" dirty="0">
                <a:hlinkClick r:id="rId3"/>
              </a:rPr>
              <a:t>https://colab.research.google.com/drive/1EjiX46muxSMy0avtHPXiulVUhmu37Kyi?hl=zh-tw</a:t>
            </a:r>
            <a:endParaRPr lang="en-US" altLang="zh-TW" dirty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6AB1BD-4F7F-419C-AA50-21DFF22F7D63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761802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通常有些模型要訂閱</a:t>
            </a:r>
            <a:r>
              <a:rPr kumimoji="0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(</a:t>
            </a:r>
            <a:r>
              <a:rPr kumimoji="0" lang="zh-TW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課金</a:t>
            </a:r>
            <a:r>
              <a:rPr kumimoji="0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)</a:t>
            </a:r>
            <a:r>
              <a:rPr kumimoji="0" lang="zh-TW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才能使用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6AB1BD-4F7F-419C-AA50-21DFF22F7D63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872555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簡單的使用方式，無窮的用途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6AB1BD-4F7F-419C-AA50-21DFF22F7D63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633125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每次答案都不相同</a:t>
            </a:r>
            <a:r>
              <a:rPr kumimoji="0" lang="en-US" altLang="zh-TW" sz="1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!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產生其他詞彙的可能性非常低 </a:t>
            </a:r>
            <a:r>
              <a:rPr lang="en-US" altLang="zh-TW" dirty="0"/>
              <a:t>….</a:t>
            </a:r>
            <a:r>
              <a:rPr lang="zh-TW" altLang="en-US" dirty="0"/>
              <a:t> </a:t>
            </a:r>
            <a:r>
              <a:rPr lang="en-US" altLang="zh-TW" dirty="0"/>
              <a:t>Sampling strategies </a:t>
            </a:r>
            <a:endParaRPr lang="zh-TW" alt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TW" alt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6AB1BD-4F7F-419C-AA50-21DFF22F7D63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06005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6AB1BD-4F7F-419C-AA50-21DFF22F7D63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547834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When Do You Need Billions of Words of Pretraining Data?</a:t>
            </a:r>
            <a:endParaRPr kumimoji="0" lang="zh-TW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6AB1BD-4F7F-419C-AA50-21DFF22F7D63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759634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但是為什麼一定要回答問題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26AB1BD-4F7F-419C-AA50-21DFF22F7D63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929556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不適合當作搜尋引擎來用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D062098-B490-4862-99B3-299FE094564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605625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6AB1BD-4F7F-419C-AA50-21DFF22F7D63}" type="slidenum">
              <a:rPr lang="zh-TW" altLang="en-US" smtClean="0"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600925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也可以用接龍的方式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6AB1BD-4F7F-419C-AA50-21DFF22F7D63}" type="slidenum">
              <a:rPr lang="zh-TW" altLang="en-US" smtClean="0"/>
              <a:t>21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1879441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https://www.eslite.com/product/1001110932518887?utm_content=&amp;gad_source=1&amp;gclid=CjwKCAjw0YGyBhByEiwAQmBEWqx3XQtnEljmeYeMQmZw-BUlqqYKK6dvFMw11gd46if8XqyYCf3SghoCq7wQAvD_BwE</a:t>
            </a:r>
          </a:p>
          <a:p>
            <a:br>
              <a:rPr lang="zh-TW" altLang="en-US" sz="1800" dirty="0">
                <a:effectLst/>
              </a:rPr>
            </a:br>
            <a:r>
              <a:rPr lang="zh-TW" altLang="en-US" sz="1800" dirty="0">
                <a:effectLst/>
              </a:rPr>
              <a:t>說到辛酸處，荒唐愈可悲。由來同一夢，休笑世人癡！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32571B4-7DA6-4F9B-A17E-AF0AF3696836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296700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E09D99-1760-2262-D43C-0F1D9D07D7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E9C4596-94FD-5487-7EED-52D38A669C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73C9CC4C-C4B5-8A7F-8A6C-CF0181BE38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200" dirty="0"/>
              <a:t>More examples</a:t>
            </a:r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087114E-C790-5486-F0F5-A4ADB98960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6AB1BD-4F7F-419C-AA50-21DFF22F7D63}" type="slidenum">
              <a:rPr lang="zh-TW" altLang="en-US" smtClean="0"/>
              <a:t>30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359869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200" dirty="0"/>
              <a:t>More examples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6AB1BD-4F7F-419C-AA50-21DFF22F7D63}" type="slidenum">
              <a:rPr lang="zh-TW" altLang="en-US" smtClean="0"/>
              <a:t>31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1828176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閉源</a:t>
            </a:r>
            <a:r>
              <a:rPr lang="en-US" altLang="zh-TW" dirty="0"/>
              <a:t>??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6AB1BD-4F7F-419C-AA50-21DFF22F7D63}" type="slidenum">
              <a:rPr lang="zh-TW" altLang="en-US" smtClean="0"/>
              <a:t>36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7089810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TODO: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是否能比較其他 </a:t>
            </a: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inference framework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token_id</a:t>
            </a:r>
            <a:r>
              <a:rPr lang="en-US" altLang="zh-TW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</a:t>
            </a:r>
            <a:r>
              <a:rPr lang="en-US" altLang="zh-TW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torch.multinomial</a:t>
            </a:r>
            <a:r>
              <a:rPr lang="en-US" altLang="zh-TW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(probabilities, </a:t>
            </a:r>
            <a:r>
              <a:rPr lang="en-US" altLang="zh-TW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num_samples</a:t>
            </a:r>
            <a:r>
              <a:rPr lang="en-US" altLang="zh-TW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=1).squeeze()</a:t>
            </a:r>
          </a:p>
          <a:p>
            <a:r>
              <a:rPr lang="en-US" altLang="zh-TW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  <a:r>
              <a:rPr lang="en-US" altLang="zh-TW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pad_token_id</a:t>
            </a:r>
            <a:r>
              <a:rPr lang="en-US" altLang="zh-TW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</a:t>
            </a:r>
            <a:r>
              <a:rPr lang="en-US" altLang="zh-TW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tokenizer.eos_token_id</a:t>
            </a:r>
            <a:r>
              <a:rPr lang="en-US" altLang="zh-TW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</a:p>
          <a:p>
            <a:r>
              <a:rPr lang="en-US" altLang="zh-TW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  <a:r>
              <a:rPr lang="en-US" altLang="zh-TW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attention_mask</a:t>
            </a:r>
            <a:r>
              <a:rPr lang="en-US" altLang="zh-TW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</a:t>
            </a:r>
            <a:r>
              <a:rPr lang="en-US" altLang="zh-TW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torch.ones_like</a:t>
            </a:r>
            <a:r>
              <a:rPr lang="en-US" altLang="zh-TW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US" altLang="zh-TW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input_ids</a:t>
            </a:r>
            <a:r>
              <a:rPr lang="en-US" altLang="zh-TW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======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預告：下次上課的主題是 </a:t>
            </a: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AI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Agent </a:t>
            </a:r>
            <a:endParaRPr lang="zh-TW" alt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Token</a:t>
            </a:r>
          </a:p>
          <a:p>
            <a:r>
              <a:rPr lang="en-US" altLang="zh-TW" dirty="0"/>
              <a:t>Next token</a:t>
            </a:r>
          </a:p>
          <a:p>
            <a:r>
              <a:rPr lang="en-US" altLang="zh-TW" dirty="0"/>
              <a:t>Generate</a:t>
            </a:r>
          </a:p>
          <a:p>
            <a:r>
              <a:rPr lang="en-US" altLang="zh-TW" dirty="0"/>
              <a:t>Chat template / system prompt </a:t>
            </a:r>
          </a:p>
          <a:p>
            <a:r>
              <a:rPr lang="en-US" altLang="zh-TW" dirty="0"/>
              <a:t>Pipeline  / call </a:t>
            </a:r>
            <a:r>
              <a:rPr lang="en-US" altLang="zh-TW" dirty="0" err="1"/>
              <a:t>api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要不要講 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Serverless API</a:t>
            </a:r>
          </a:p>
          <a:p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which is better? 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https://discuss.huggingface.co/t/using-pipelines-versus-inferenceclient/59460</a:t>
            </a:r>
            <a:endParaRPr lang="en-US" altLang="zh-TW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6AB1BD-4F7F-419C-AA50-21DFF22F7D63}" type="slidenum">
              <a:rPr lang="zh-TW" altLang="en-US" smtClean="0"/>
              <a:t>38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725173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83C66B1-EF14-4647-FF13-11FCE5DBE0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6A9029ED-9501-4F44-4D7D-F1D105AC21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CD2DFC7-CE59-CEB0-08ED-428DE608A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C009E-C670-42B0-92CD-F060A53057A1}" type="datetimeFigureOut">
              <a:rPr lang="zh-TW" altLang="en-US" smtClean="0"/>
              <a:t>2025/9/11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0D3F28F-E840-9E3E-D43E-BB87B487C7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5203DC8-05C7-0CD4-F240-A9937980F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BFE85-A191-413D-9C66-695752E4D47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303617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EEA68CA-978F-0251-1725-A7B037F6E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41BFCB6-1F46-15A2-F694-D2A4346971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219CB63-399A-4F7A-170E-C65BAFCB0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C009E-C670-42B0-92CD-F060A53057A1}" type="datetimeFigureOut">
              <a:rPr lang="zh-TW" altLang="en-US" smtClean="0"/>
              <a:t>2025/9/11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D05B579-7B57-4AD0-2BBA-0D287AEBE0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6064B91-16BB-41BC-D699-1E601A195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BFE85-A191-413D-9C66-695752E4D47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845233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50F036B-E905-4638-D559-C0C777707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42C1D10-40AB-E403-CECC-372DE2820D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B651A0B-05BB-B598-3647-25A4593D6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C009E-C670-42B0-92CD-F060A53057A1}" type="datetimeFigureOut">
              <a:rPr lang="zh-TW" altLang="en-US" smtClean="0"/>
              <a:t>2025/9/11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459A2E6-7761-41B5-7A0B-A62ACA7299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07CCFD1-58A0-8B73-C968-AF95A21E5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BFE85-A191-413D-9C66-695752E4D47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694973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888413C-2D1C-EE40-C7E8-3809F622A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2469C3D-005D-EF23-00CA-484E0504B6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1DCA644C-BED7-E339-70F1-F8119CF09D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F9BCAD62-6FBC-3986-C059-554EE50C9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C009E-C670-42B0-92CD-F060A53057A1}" type="datetimeFigureOut">
              <a:rPr lang="zh-TW" altLang="en-US" smtClean="0"/>
              <a:t>2025/9/11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78D6E4B3-F8C1-C5A9-9BED-D343759FA8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16A785F-FA03-548E-BA87-7A11B6850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BFE85-A191-413D-9C66-695752E4D47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166861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9F7A7B6-2038-1011-03D4-E18BDBDE78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69B7524-840A-92D4-6948-CB5B388B27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92073802-C40F-17A3-34B6-AA36D24933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EBE92470-85B6-FAC7-87A6-6CB6C6C88B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083126E9-46D7-8661-0D4E-094C2B5144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8E4FDAD1-2D6E-EE7C-67DF-CAE8CEE235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C009E-C670-42B0-92CD-F060A53057A1}" type="datetimeFigureOut">
              <a:rPr lang="zh-TW" altLang="en-US" smtClean="0"/>
              <a:t>2025/9/11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37A5FAD2-0856-920E-2726-21CFF7F8C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EF0E0BFA-8A9B-3785-092B-67022BEC2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BFE85-A191-413D-9C66-695752E4D47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36294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C7679F6-072A-872D-8B0F-72F5DAD4C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EC98DABA-DD67-84F0-8F93-AF5C1EC75B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C009E-C670-42B0-92CD-F060A53057A1}" type="datetimeFigureOut">
              <a:rPr lang="zh-TW" altLang="en-US" smtClean="0"/>
              <a:t>2025/9/11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7E283AD2-40B8-1FA8-25B1-FA6F4392B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B8063602-0F90-1CF7-9263-27A920C2D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BFE85-A191-413D-9C66-695752E4D47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824634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920BF53A-2182-5A75-4BE4-5085DC35C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C009E-C670-42B0-92CD-F060A53057A1}" type="datetimeFigureOut">
              <a:rPr lang="zh-TW" altLang="en-US" smtClean="0"/>
              <a:t>2025/9/11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B031BF29-1737-BFD4-0229-4D87A41ED8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99698D7-B208-3663-2262-5C29FFCF1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BFE85-A191-413D-9C66-695752E4D47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790627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3E0BD40-0A3E-C686-4AB2-E5CE43D49D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E8F488E-62B5-0A74-0EA6-BE161284EE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52643210-B1CD-8E56-B170-B543878A72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F3838DB-9B36-C9A5-AAB7-08CD7E63F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C009E-C670-42B0-92CD-F060A53057A1}" type="datetimeFigureOut">
              <a:rPr lang="zh-TW" altLang="en-US" smtClean="0"/>
              <a:t>2025/9/11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7F49230-8495-9A27-EDFE-2EE95D21B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3F309C3-9D09-CAF6-AF89-9CAD0CC21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BFE85-A191-413D-9C66-695752E4D47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410200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D259913-EDC5-C3A1-4AC8-4C6F6AF3FF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8B7DC66D-DF75-2808-01D2-76B37B1FCB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BC91D4C1-8C9E-8772-F918-69947F51C1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5B33A30-1882-7ACE-D647-28969D8EC9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C009E-C670-42B0-92CD-F060A53057A1}" type="datetimeFigureOut">
              <a:rPr lang="zh-TW" altLang="en-US" smtClean="0"/>
              <a:t>2025/9/11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ED64681-F71C-E330-5F3C-1D861B514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ED1A0FB-C143-FFCC-F727-A7BDAE721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BFE85-A191-413D-9C66-695752E4D47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408667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3CE9666-4702-E330-31BB-C90F925B66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D824B50E-D9B4-2E28-4ADF-D8053C967B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A6E8869-AEC8-8B35-D962-9EC1DD0E2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C009E-C670-42B0-92CD-F060A53057A1}" type="datetimeFigureOut">
              <a:rPr lang="zh-TW" altLang="en-US" smtClean="0"/>
              <a:t>2025/9/11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C76A67B-76B0-4952-C579-78F4D48E4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D731311-E895-BB38-57BC-ACEE2920E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BFE85-A191-413D-9C66-695752E4D47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781038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7E159073-FEAD-EEA5-8439-D60C111546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75022CFD-F6FB-0F65-5472-A8803BA567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DE95BA6-7811-58AE-C713-A1097F416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C009E-C670-42B0-92CD-F060A53057A1}" type="datetimeFigureOut">
              <a:rPr lang="zh-TW" altLang="en-US" smtClean="0"/>
              <a:t>2025/9/11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A5F7C84-B51A-0561-7D64-AB8B6C6E68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DCC315A-5ABD-02A3-C983-E8076FEF5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BFE85-A191-413D-9C66-695752E4D47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769343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BE222B1-1B58-AD58-08A0-C97038B0BF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61A94F92-2E17-CE32-25CF-CD2AF27119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2788A3D-E5BF-B784-63C6-6CFF3FBE37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AC99C-D50E-4E91-A691-9BDF38185A97}" type="datetimeFigureOut">
              <a:rPr lang="zh-TW" altLang="en-US" smtClean="0"/>
              <a:t>2025/9/11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88EA435-9216-A9ED-C989-4859C7113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D503C4D-2220-45BD-EEDD-CC468362E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749F2-A68F-44FD-956F-573CA8BB65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813962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FC86210-5A2D-F814-C6F9-FB35DE2E87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0E5F91B-69A5-6142-0EA9-1317D45DF9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2D76C18-EA00-AF90-6299-451289596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AC99C-D50E-4E91-A691-9BDF38185A97}" type="datetimeFigureOut">
              <a:rPr lang="zh-TW" altLang="en-US" smtClean="0"/>
              <a:t>2025/9/11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7031288-B5DC-F194-E61B-EB27F913A6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72B8D3B-9C2E-B8EC-D337-8194DF73B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749F2-A68F-44FD-956F-573CA8BB65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32683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510960B-7B67-6827-8097-830998D386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DCA02B7-B506-AB6B-B8EB-997AE1DF07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AC54452-1EC4-2A1B-7DB5-6276485C7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AC99C-D50E-4E91-A691-9BDF38185A97}" type="datetimeFigureOut">
              <a:rPr lang="zh-TW" altLang="en-US" smtClean="0"/>
              <a:t>2025/9/11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0C51114-E962-B173-55D5-33803C3C65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215CB33-F495-BE2B-3240-DA8070AD0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749F2-A68F-44FD-956F-573CA8BB65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684554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0FACD11-CC31-B048-7B1C-7730BB760D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6274E05-31A4-6D55-4AE0-CF4D59418D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4A3A3F41-39AB-C1CB-EA5A-774F09F360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B4FFC2D-76D3-89B6-B0DD-02C48AFC4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AC99C-D50E-4E91-A691-9BDF38185A97}" type="datetimeFigureOut">
              <a:rPr lang="zh-TW" altLang="en-US" smtClean="0"/>
              <a:t>2025/9/11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429ED95-48B8-3DDA-8539-D79B07B84A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8182DB1-C7EC-A71A-1F6B-126A2B428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749F2-A68F-44FD-956F-573CA8BB65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994171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24DDE36-599E-5E0A-437B-12D9C57660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314BC7B-3C51-3662-8116-F23B4B4CA3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B9178161-F486-A98D-22D5-61CD31AFE3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CFBAD2CF-9515-7307-F111-00175C8AD2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B2405D7E-58EC-A791-FDC5-AC82E6B7BE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89BC6CF4-CCA1-0A3A-EFFD-69F9D53214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AC99C-D50E-4E91-A691-9BDF38185A97}" type="datetimeFigureOut">
              <a:rPr lang="zh-TW" altLang="en-US" smtClean="0"/>
              <a:t>2025/9/11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37D6CABE-7B78-4B05-7BD6-8F4C41BF9D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1954DF93-E26F-786A-EE04-DB1303A32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749F2-A68F-44FD-956F-573CA8BB65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0926737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5653AC3-0213-EDEF-BFE9-E69E119F86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530D37DC-51F3-EE5E-5382-26E7FC56A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AC99C-D50E-4E91-A691-9BDF38185A97}" type="datetimeFigureOut">
              <a:rPr lang="zh-TW" altLang="en-US" smtClean="0"/>
              <a:t>2025/9/11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A7EEA5F8-7888-9649-DED9-245CFC0CB5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DA1A9CBD-E389-2032-52BC-2E8A7D988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749F2-A68F-44FD-956F-573CA8BB65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5456680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5872E7B4-EC75-CEB4-BAD6-E40D9C2FF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AC99C-D50E-4E91-A691-9BDF38185A97}" type="datetimeFigureOut">
              <a:rPr lang="zh-TW" altLang="en-US" smtClean="0"/>
              <a:t>2025/9/11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F7D96D25-D66E-CC1A-A9C1-6EF41E4DD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3FF2DE5-1D20-A0A6-DD70-54490C845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749F2-A68F-44FD-956F-573CA8BB65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970629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45F0292-F8D4-D14B-AFF5-3287BFF12E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C00D747-9E88-F7E4-5328-AA3B181083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1290F6F8-4FE0-8674-733D-A365CE9FA9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694903C-A004-9A97-CD66-057D50200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AC99C-D50E-4E91-A691-9BDF38185A97}" type="datetimeFigureOut">
              <a:rPr lang="zh-TW" altLang="en-US" smtClean="0"/>
              <a:t>2025/9/11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B165B56-7A8E-3C37-A104-6B73F6214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6186F07-F4F9-8F61-F081-6A88F8375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749F2-A68F-44FD-956F-573CA8BB65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0753376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E444E33-0634-B9FD-2CF3-963B01F95D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CBCF4B4C-EA68-63EA-C117-2DF5A44008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30AC159D-5559-8304-14C4-38FAAC2E4A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5CD6BE0C-33A9-99B6-CB21-18D9EA259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AC99C-D50E-4E91-A691-9BDF38185A97}" type="datetimeFigureOut">
              <a:rPr lang="zh-TW" altLang="en-US" smtClean="0"/>
              <a:t>2025/9/11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92CE11E-4101-BAFC-E041-8F5E38DCF9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E7D94AD-8AD1-8B07-7B46-8347073F5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749F2-A68F-44FD-956F-573CA8BB65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770337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7A06DEE-DE7C-2316-98CB-8E2F52862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7AA765D2-9CAC-05F3-7EDF-EC0DBB9021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E5A9D5C-5962-670A-9DEE-3CEAF1CC1B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AC99C-D50E-4E91-A691-9BDF38185A97}" type="datetimeFigureOut">
              <a:rPr lang="zh-TW" altLang="en-US" smtClean="0"/>
              <a:t>2025/9/11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174C8D2-FC69-EFE6-A0AF-47BF0C5A1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4FD47E9-D838-909C-7E00-3406B9E68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749F2-A68F-44FD-956F-573CA8BB65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0536047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1356B2BE-4873-07E3-4F1E-5531AE2F56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DE0F503E-3630-7BB7-63A6-EC86708DB0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5C0708C-2157-B73B-A075-4E711FA304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AC99C-D50E-4E91-A691-9BDF38185A97}" type="datetimeFigureOut">
              <a:rPr lang="zh-TW" altLang="en-US" smtClean="0"/>
              <a:t>2025/9/11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AD7B05A-82AD-59BC-6B9C-8FC63BDDEC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A2D7B87-4358-D971-EA71-7EE011E64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749F2-A68F-44FD-956F-573CA8BB65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8585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1F4605EA-4FB6-E4CD-24BB-351FDECCA3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BB7C52B-9272-E18B-50CA-FE596C9E8F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AA84D3D-E532-E03A-BC09-B8B9503142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AC009E-C670-42B0-92CD-F060A53057A1}" type="datetimeFigureOut">
              <a:rPr lang="zh-TW" altLang="en-US" smtClean="0"/>
              <a:t>2025/9/11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205FE1A-8AA8-101C-C1B2-64E2467521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7703AA9-8CFD-6389-932C-0472BA3567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DBFE85-A191-413D-9C66-695752E4D47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748235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B3C67E51-2FA3-763B-8BBF-6754094063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35C3DDF-A565-7579-7A30-25D809AE5C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9B885BC-0E7A-84FD-B83E-2618CAAE02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6AC99C-D50E-4E91-A691-9BDF38185A97}" type="datetimeFigureOut">
              <a:rPr lang="zh-TW" altLang="en-US" smtClean="0"/>
              <a:t>2025/9/11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5EFC2AC-0D83-6F80-2A4B-0DD8D6F13F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0C00092-548F-35BB-5478-C7ED510690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4749F2-A68F-44FD-956F-573CA8BB65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73008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gif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svg"/><Relationship Id="rId13" Type="http://schemas.openxmlformats.org/officeDocument/2006/relationships/image" Target="../media/image46.png"/><Relationship Id="rId3" Type="http://schemas.openxmlformats.org/officeDocument/2006/relationships/image" Target="../media/image36.svg"/><Relationship Id="rId7" Type="http://schemas.openxmlformats.org/officeDocument/2006/relationships/image" Target="../media/image40.png"/><Relationship Id="rId12" Type="http://schemas.openxmlformats.org/officeDocument/2006/relationships/image" Target="../media/image45.svg"/><Relationship Id="rId2" Type="http://schemas.openxmlformats.org/officeDocument/2006/relationships/image" Target="../media/image35.png"/><Relationship Id="rId16" Type="http://schemas.openxmlformats.org/officeDocument/2006/relationships/image" Target="../media/image49.sv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9.svg"/><Relationship Id="rId11" Type="http://schemas.openxmlformats.org/officeDocument/2006/relationships/image" Target="../media/image44.png"/><Relationship Id="rId5" Type="http://schemas.openxmlformats.org/officeDocument/2006/relationships/image" Target="../media/image38.png"/><Relationship Id="rId15" Type="http://schemas.openxmlformats.org/officeDocument/2006/relationships/image" Target="../media/image48.png"/><Relationship Id="rId10" Type="http://schemas.openxmlformats.org/officeDocument/2006/relationships/image" Target="../media/image43.svg"/><Relationship Id="rId4" Type="http://schemas.openxmlformats.org/officeDocument/2006/relationships/image" Target="../media/image37.png"/><Relationship Id="rId9" Type="http://schemas.openxmlformats.org/officeDocument/2006/relationships/image" Target="../media/image42.png"/><Relationship Id="rId14" Type="http://schemas.openxmlformats.org/officeDocument/2006/relationships/image" Target="../media/image47.sv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51.svg"/><Relationship Id="rId7" Type="http://schemas.openxmlformats.org/officeDocument/2006/relationships/image" Target="../media/image55.sv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4.png"/><Relationship Id="rId5" Type="http://schemas.openxmlformats.org/officeDocument/2006/relationships/image" Target="../media/image53.svg"/><Relationship Id="rId4" Type="http://schemas.openxmlformats.org/officeDocument/2006/relationships/image" Target="../media/image52.png"/><Relationship Id="rId9" Type="http://schemas.openxmlformats.org/officeDocument/2006/relationships/image" Target="../media/image57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36.svg"/><Relationship Id="rId7" Type="http://schemas.openxmlformats.org/officeDocument/2006/relationships/image" Target="../media/image47.sv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6.png"/><Relationship Id="rId5" Type="http://schemas.openxmlformats.org/officeDocument/2006/relationships/image" Target="../media/image45.svg"/><Relationship Id="rId4" Type="http://schemas.openxmlformats.org/officeDocument/2006/relationships/image" Target="../media/image44.png"/><Relationship Id="rId9" Type="http://schemas.openxmlformats.org/officeDocument/2006/relationships/image" Target="../media/image49.sv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3" Type="http://schemas.openxmlformats.org/officeDocument/2006/relationships/image" Target="../media/image60.png"/><Relationship Id="rId7" Type="http://schemas.openxmlformats.org/officeDocument/2006/relationships/image" Target="../media/image6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66.png"/><Relationship Id="rId5" Type="http://schemas.openxmlformats.org/officeDocument/2006/relationships/image" Target="../media/image64.png"/><Relationship Id="rId4" Type="http://schemas.openxmlformats.org/officeDocument/2006/relationships/image" Target="../media/image61.png"/><Relationship Id="rId9" Type="http://schemas.openxmlformats.org/officeDocument/2006/relationships/image" Target="../media/image69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3" Type="http://schemas.openxmlformats.org/officeDocument/2006/relationships/image" Target="../media/image60.png"/><Relationship Id="rId7" Type="http://schemas.openxmlformats.org/officeDocument/2006/relationships/image" Target="../media/image6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66.png"/><Relationship Id="rId5" Type="http://schemas.openxmlformats.org/officeDocument/2006/relationships/image" Target="../media/image64.png"/><Relationship Id="rId4" Type="http://schemas.openxmlformats.org/officeDocument/2006/relationships/image" Target="../media/image61.png"/><Relationship Id="rId9" Type="http://schemas.openxmlformats.org/officeDocument/2006/relationships/image" Target="../media/image69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3" Type="http://schemas.openxmlformats.org/officeDocument/2006/relationships/image" Target="../media/image361.png"/><Relationship Id="rId7" Type="http://schemas.openxmlformats.org/officeDocument/2006/relationships/image" Target="../media/image71.png"/><Relationship Id="rId12" Type="http://schemas.openxmlformats.org/officeDocument/2006/relationships/image" Target="../media/image76.png"/><Relationship Id="rId2" Type="http://schemas.openxmlformats.org/officeDocument/2006/relationships/image" Target="../media/image350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70.png"/><Relationship Id="rId11" Type="http://schemas.openxmlformats.org/officeDocument/2006/relationships/image" Target="../media/image75.png"/><Relationship Id="rId5" Type="http://schemas.openxmlformats.org/officeDocument/2006/relationships/image" Target="../media/image381.png"/><Relationship Id="rId10" Type="http://schemas.openxmlformats.org/officeDocument/2006/relationships/image" Target="../media/image74.png"/><Relationship Id="rId4" Type="http://schemas.openxmlformats.org/officeDocument/2006/relationships/image" Target="../media/image371.png"/><Relationship Id="rId9" Type="http://schemas.openxmlformats.org/officeDocument/2006/relationships/image" Target="../media/image73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3" Type="http://schemas.openxmlformats.org/officeDocument/2006/relationships/image" Target="../media/image361.png"/><Relationship Id="rId7" Type="http://schemas.openxmlformats.org/officeDocument/2006/relationships/image" Target="../media/image71.png"/><Relationship Id="rId12" Type="http://schemas.openxmlformats.org/officeDocument/2006/relationships/image" Target="../media/image77.png"/><Relationship Id="rId2" Type="http://schemas.openxmlformats.org/officeDocument/2006/relationships/image" Target="../media/image350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70.png"/><Relationship Id="rId11" Type="http://schemas.openxmlformats.org/officeDocument/2006/relationships/image" Target="../media/image75.png"/><Relationship Id="rId5" Type="http://schemas.openxmlformats.org/officeDocument/2006/relationships/image" Target="../media/image381.png"/><Relationship Id="rId10" Type="http://schemas.openxmlformats.org/officeDocument/2006/relationships/image" Target="../media/image74.png"/><Relationship Id="rId4" Type="http://schemas.openxmlformats.org/officeDocument/2006/relationships/image" Target="../media/image371.png"/><Relationship Id="rId9" Type="http://schemas.openxmlformats.org/officeDocument/2006/relationships/image" Target="../media/image7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81.png"/><Relationship Id="rId5" Type="http://schemas.openxmlformats.org/officeDocument/2006/relationships/image" Target="../media/image4.png"/><Relationship Id="rId4" Type="http://schemas.openxmlformats.org/officeDocument/2006/relationships/image" Target="../media/image79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85.png"/><Relationship Id="rId5" Type="http://schemas.openxmlformats.org/officeDocument/2006/relationships/image" Target="../media/image82.png"/><Relationship Id="rId4" Type="http://schemas.openxmlformats.org/officeDocument/2006/relationships/image" Target="../media/image81.jpe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jpe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3E8498D-DA8F-EF6C-5420-F153D4979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7782A201-300F-22E7-61D5-0C3A1B6FE5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4345" y="792189"/>
            <a:ext cx="8879903" cy="4560920"/>
          </a:xfrm>
        </p:spPr>
        <p:txBody>
          <a:bodyPr anchor="b">
            <a:normAutofit/>
          </a:bodyPr>
          <a:lstStyle/>
          <a:p>
            <a:pPr algn="l"/>
            <a:r>
              <a:rPr lang="zh-TW" altLang="en-US" sz="9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一堂課搞懂</a:t>
            </a:r>
            <a:br>
              <a:rPr lang="en-US" altLang="zh-TW" sz="9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zh-TW" altLang="en-US" sz="9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生成式人工智慧的原理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399A125D-3E1A-99AD-1581-229ABA0411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3611" y="482759"/>
            <a:ext cx="7772886" cy="596347"/>
          </a:xfrm>
        </p:spPr>
        <p:txBody>
          <a:bodyPr anchor="t">
            <a:normAutofit/>
          </a:bodyPr>
          <a:lstStyle/>
          <a:p>
            <a:pPr algn="l"/>
            <a:endParaRPr lang="zh-TW" altLang="en-US" sz="2000"/>
          </a:p>
        </p:txBody>
      </p:sp>
      <p:sp>
        <p:nvSpPr>
          <p:cNvPr id="4" name="標題 1">
            <a:extLst>
              <a:ext uri="{FF2B5EF4-FFF2-40B4-BE49-F238E27FC236}">
                <a16:creationId xmlns:a16="http://schemas.microsoft.com/office/drawing/2014/main" id="{D29E34A3-ED14-FB42-4F4A-DE1CA776B088}"/>
              </a:ext>
            </a:extLst>
          </p:cNvPr>
          <p:cNvSpPr txBox="1">
            <a:spLocks/>
          </p:cNvSpPr>
          <p:nvPr/>
        </p:nvSpPr>
        <p:spPr>
          <a:xfrm>
            <a:off x="7613729" y="4745270"/>
            <a:ext cx="3343926" cy="136028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zh-TW" altLang="en-US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李宏毅</a:t>
            </a:r>
          </a:p>
        </p:txBody>
      </p:sp>
    </p:spTree>
    <p:extLst>
      <p:ext uri="{BB962C8B-B14F-4D97-AF65-F5344CB8AC3E}">
        <p14:creationId xmlns:p14="http://schemas.microsoft.com/office/powerpoint/2010/main" val="10559093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B195BF4-0362-7EE0-E190-F0C431566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課程目標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D16CA90E-8233-E1A3-FD19-C2C5823BD6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116" y="2175361"/>
            <a:ext cx="4672212" cy="215612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179D856F-7E1E-52A1-85A5-309874C52F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4822" y="3408680"/>
            <a:ext cx="5194008" cy="240350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80C5EC63-F1C7-868E-7D0A-FE31C5A03855}"/>
              </a:ext>
            </a:extLst>
          </p:cNvPr>
          <p:cNvSpPr txBox="1"/>
          <p:nvPr/>
        </p:nvSpPr>
        <p:spPr>
          <a:xfrm>
            <a:off x="815669" y="4414335"/>
            <a:ext cx="29855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OpenAI ChatGPT</a:t>
            </a:r>
            <a:endParaRPr kumimoji="0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DF1A1884-64CD-A3C4-0343-0E987283D834}"/>
              </a:ext>
            </a:extLst>
          </p:cNvPr>
          <p:cNvSpPr txBox="1"/>
          <p:nvPr/>
        </p:nvSpPr>
        <p:spPr>
          <a:xfrm>
            <a:off x="3344822" y="5895033"/>
            <a:ext cx="28373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Google Gemini</a:t>
            </a:r>
            <a:endParaRPr kumimoji="0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FBAAB374-55EF-6B47-1DDC-6F23ABA6C0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9421" y="2175361"/>
            <a:ext cx="4821758" cy="316753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78F417DC-0CED-5B56-F43E-973EAFA87CD4}"/>
              </a:ext>
            </a:extLst>
          </p:cNvPr>
          <p:cNvSpPr txBox="1"/>
          <p:nvPr/>
        </p:nvSpPr>
        <p:spPr>
          <a:xfrm>
            <a:off x="9293711" y="5413048"/>
            <a:ext cx="28373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Anthropic Claude</a:t>
            </a:r>
          </a:p>
        </p:txBody>
      </p:sp>
    </p:spTree>
    <p:extLst>
      <p:ext uri="{BB962C8B-B14F-4D97-AF65-F5344CB8AC3E}">
        <p14:creationId xmlns:p14="http://schemas.microsoft.com/office/powerpoint/2010/main" val="31253870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2B172D8F-0B8C-5637-4934-8642190781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1794" y="453615"/>
            <a:ext cx="9128411" cy="532187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B0AB2F83-8BB1-A4E0-F859-46179800DD2C}"/>
              </a:ext>
            </a:extLst>
          </p:cNvPr>
          <p:cNvSpPr txBox="1"/>
          <p:nvPr/>
        </p:nvSpPr>
        <p:spPr>
          <a:xfrm>
            <a:off x="1847444" y="6007428"/>
            <a:ext cx="84971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簡單的使用方式，卻有無窮的應用</a:t>
            </a:r>
          </a:p>
        </p:txBody>
      </p:sp>
    </p:spTree>
    <p:extLst>
      <p:ext uri="{BB962C8B-B14F-4D97-AF65-F5344CB8AC3E}">
        <p14:creationId xmlns:p14="http://schemas.microsoft.com/office/powerpoint/2010/main" val="17566818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52BD2C7-90CF-F65B-1BC0-4F37A8658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課程規劃</a:t>
            </a:r>
          </a:p>
        </p:txBody>
      </p:sp>
      <p:graphicFrame>
        <p:nvGraphicFramePr>
          <p:cNvPr id="4" name="內容版面配置區 3">
            <a:extLst>
              <a:ext uri="{FF2B5EF4-FFF2-40B4-BE49-F238E27FC236}">
                <a16:creationId xmlns:a16="http://schemas.microsoft.com/office/drawing/2014/main" id="{E8900CE1-3D9E-8A81-5E4A-127FF32F716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33595950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矩形: 圓角 4">
            <a:extLst>
              <a:ext uri="{FF2B5EF4-FFF2-40B4-BE49-F238E27FC236}">
                <a16:creationId xmlns:a16="http://schemas.microsoft.com/office/drawing/2014/main" id="{8749A95F-D461-B700-CBDC-3104F89DCD42}"/>
              </a:ext>
            </a:extLst>
          </p:cNvPr>
          <p:cNvSpPr/>
          <p:nvPr/>
        </p:nvSpPr>
        <p:spPr>
          <a:xfrm>
            <a:off x="867697" y="2585448"/>
            <a:ext cx="4913671" cy="2831691"/>
          </a:xfrm>
          <a:prstGeom prst="round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147021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86E714E-3AAB-CE5A-AA97-687CA2C5B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ChatGPT, Gemini, Claude …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是語言模型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94BFCCC-A6D1-A51F-E9D3-3FC1AA1944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文字接龍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F55286F-E374-E5F3-AF9C-F1EE78E3A442}"/>
              </a:ext>
            </a:extLst>
          </p:cNvPr>
          <p:cNvSpPr txBox="1"/>
          <p:nvPr/>
        </p:nvSpPr>
        <p:spPr>
          <a:xfrm>
            <a:off x="3152626" y="2495904"/>
            <a:ext cx="22862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240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人工智</a:t>
            </a:r>
            <a:endParaRPr kumimoji="0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3FC4888A-70FF-50D3-958A-C874AEF16586}"/>
              </a:ext>
            </a:extLst>
          </p:cNvPr>
          <p:cNvSpPr txBox="1"/>
          <p:nvPr/>
        </p:nvSpPr>
        <p:spPr>
          <a:xfrm>
            <a:off x="2538221" y="3936583"/>
            <a:ext cx="22862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大型語言模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A670C035-0E75-4B27-B7FC-1AE45AEF9670}"/>
              </a:ext>
            </a:extLst>
          </p:cNvPr>
          <p:cNvSpPr txBox="1"/>
          <p:nvPr/>
        </p:nvSpPr>
        <p:spPr>
          <a:xfrm>
            <a:off x="697456" y="5397288"/>
            <a:ext cx="41544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歡迎大家今天來上</a:t>
            </a: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FAF943BB-67D6-7357-A41B-23A32E465E1B}"/>
              </a:ext>
            </a:extLst>
          </p:cNvPr>
          <p:cNvSpPr/>
          <p:nvPr/>
        </p:nvSpPr>
        <p:spPr>
          <a:xfrm>
            <a:off x="5830255" y="2195591"/>
            <a:ext cx="1693981" cy="109768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語言</a:t>
            </a:r>
            <a:endParaRPr kumimoji="0" lang="en-US" altLang="zh-TW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模型</a:t>
            </a:r>
          </a:p>
        </p:txBody>
      </p:sp>
      <p:cxnSp>
        <p:nvCxnSpPr>
          <p:cNvPr id="8" name="直線單箭頭接點 7">
            <a:extLst>
              <a:ext uri="{FF2B5EF4-FFF2-40B4-BE49-F238E27FC236}">
                <a16:creationId xmlns:a16="http://schemas.microsoft.com/office/drawing/2014/main" id="{1B93C047-E986-6687-4D9F-F4CF3593B565}"/>
              </a:ext>
            </a:extLst>
          </p:cNvPr>
          <p:cNvCxnSpPr>
            <a:cxnSpLocks/>
          </p:cNvCxnSpPr>
          <p:nvPr/>
        </p:nvCxnSpPr>
        <p:spPr>
          <a:xfrm>
            <a:off x="7661986" y="2726737"/>
            <a:ext cx="1079848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單箭頭接點 8">
            <a:extLst>
              <a:ext uri="{FF2B5EF4-FFF2-40B4-BE49-F238E27FC236}">
                <a16:creationId xmlns:a16="http://schemas.microsoft.com/office/drawing/2014/main" id="{0BB893D4-480D-E7EF-2C25-4AA92E05A4A6}"/>
              </a:ext>
            </a:extLst>
          </p:cNvPr>
          <p:cNvCxnSpPr>
            <a:cxnSpLocks/>
          </p:cNvCxnSpPr>
          <p:nvPr/>
        </p:nvCxnSpPr>
        <p:spPr>
          <a:xfrm>
            <a:off x="4877755" y="2732667"/>
            <a:ext cx="794240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736E278E-CDDA-C349-9471-A07525808E61}"/>
              </a:ext>
            </a:extLst>
          </p:cNvPr>
          <p:cNvSpPr/>
          <p:nvPr/>
        </p:nvSpPr>
        <p:spPr>
          <a:xfrm>
            <a:off x="5830255" y="3609806"/>
            <a:ext cx="1693981" cy="109768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語言</a:t>
            </a:r>
            <a:endParaRPr kumimoji="0" lang="en-US" altLang="zh-TW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模型</a:t>
            </a:r>
          </a:p>
        </p:txBody>
      </p: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28422927-48E5-AB08-1B5D-CB62CC3F1CE0}"/>
              </a:ext>
            </a:extLst>
          </p:cNvPr>
          <p:cNvCxnSpPr>
            <a:cxnSpLocks/>
          </p:cNvCxnSpPr>
          <p:nvPr/>
        </p:nvCxnSpPr>
        <p:spPr>
          <a:xfrm>
            <a:off x="7661986" y="4160002"/>
            <a:ext cx="1079848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4A7BF9E1-FD05-5668-6FA5-F7D140E55649}"/>
              </a:ext>
            </a:extLst>
          </p:cNvPr>
          <p:cNvCxnSpPr>
            <a:cxnSpLocks/>
          </p:cNvCxnSpPr>
          <p:nvPr/>
        </p:nvCxnSpPr>
        <p:spPr>
          <a:xfrm>
            <a:off x="4877755" y="4146882"/>
            <a:ext cx="794240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D96CC5E4-7672-6C74-C161-113B30CC1645}"/>
              </a:ext>
            </a:extLst>
          </p:cNvPr>
          <p:cNvSpPr/>
          <p:nvPr/>
        </p:nvSpPr>
        <p:spPr>
          <a:xfrm>
            <a:off x="5830255" y="5079279"/>
            <a:ext cx="1693981" cy="109768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語言</a:t>
            </a:r>
            <a:endParaRPr kumimoji="0" lang="en-US" altLang="zh-TW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模型</a:t>
            </a:r>
          </a:p>
        </p:txBody>
      </p: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00534E77-41CB-A9B1-F9D7-EDAAC1B7B172}"/>
              </a:ext>
            </a:extLst>
          </p:cNvPr>
          <p:cNvCxnSpPr>
            <a:cxnSpLocks/>
          </p:cNvCxnSpPr>
          <p:nvPr/>
        </p:nvCxnSpPr>
        <p:spPr>
          <a:xfrm>
            <a:off x="7661986" y="5629475"/>
            <a:ext cx="1079848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單箭頭接點 14">
            <a:extLst>
              <a:ext uri="{FF2B5EF4-FFF2-40B4-BE49-F238E27FC236}">
                <a16:creationId xmlns:a16="http://schemas.microsoft.com/office/drawing/2014/main" id="{4DC7028D-7D1C-8958-BE8D-89FA4DEC46D2}"/>
              </a:ext>
            </a:extLst>
          </p:cNvPr>
          <p:cNvCxnSpPr>
            <a:cxnSpLocks/>
          </p:cNvCxnSpPr>
          <p:nvPr/>
        </p:nvCxnSpPr>
        <p:spPr>
          <a:xfrm>
            <a:off x="4877755" y="5616355"/>
            <a:ext cx="794240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82571852-C6C0-1F34-5CFE-7A306121CD12}"/>
              </a:ext>
            </a:extLst>
          </p:cNvPr>
          <p:cNvSpPr txBox="1"/>
          <p:nvPr/>
        </p:nvSpPr>
        <p:spPr>
          <a:xfrm>
            <a:off x="8879584" y="2472795"/>
            <a:ext cx="22862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慧</a:t>
            </a: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18B2A713-4911-3E8B-631F-4AD687D53EAA}"/>
              </a:ext>
            </a:extLst>
          </p:cNvPr>
          <p:cNvSpPr txBox="1"/>
          <p:nvPr/>
        </p:nvSpPr>
        <p:spPr>
          <a:xfrm>
            <a:off x="8879583" y="3916049"/>
            <a:ext cx="22862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型</a:t>
            </a: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F1A01E92-A902-7B47-AC9A-A738396AF545}"/>
              </a:ext>
            </a:extLst>
          </p:cNvPr>
          <p:cNvSpPr txBox="1"/>
          <p:nvPr/>
        </p:nvSpPr>
        <p:spPr>
          <a:xfrm>
            <a:off x="8896658" y="5385521"/>
            <a:ext cx="12390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課</a:t>
            </a: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7367D338-3CE3-7565-8AB1-631ACAA3BB08}"/>
              </a:ext>
            </a:extLst>
          </p:cNvPr>
          <p:cNvSpPr txBox="1"/>
          <p:nvPr/>
        </p:nvSpPr>
        <p:spPr>
          <a:xfrm>
            <a:off x="9516164" y="1686549"/>
            <a:ext cx="12774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Token</a:t>
            </a:r>
            <a:endParaRPr kumimoji="0" lang="zh-TW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0FF54AED-AE9E-4F8A-F967-DC0C97455A5F}"/>
              </a:ext>
            </a:extLst>
          </p:cNvPr>
          <p:cNvCxnSpPr/>
          <p:nvPr/>
        </p:nvCxnSpPr>
        <p:spPr>
          <a:xfrm flipH="1">
            <a:off x="9344155" y="2192873"/>
            <a:ext cx="344017" cy="303666"/>
          </a:xfrm>
          <a:prstGeom prst="straightConnector1">
            <a:avLst/>
          </a:prstGeom>
          <a:ln w="57150">
            <a:solidFill>
              <a:schemeClr val="accent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" name="群組 21">
            <a:extLst>
              <a:ext uri="{FF2B5EF4-FFF2-40B4-BE49-F238E27FC236}">
                <a16:creationId xmlns:a16="http://schemas.microsoft.com/office/drawing/2014/main" id="{81A0E1B8-9A78-9AA1-F8F0-C42C356B9FAB}"/>
              </a:ext>
            </a:extLst>
          </p:cNvPr>
          <p:cNvGrpSpPr/>
          <p:nvPr/>
        </p:nvGrpSpPr>
        <p:grpSpPr>
          <a:xfrm>
            <a:off x="9519784" y="2744267"/>
            <a:ext cx="2336923" cy="1905109"/>
            <a:chOff x="9625173" y="3464746"/>
            <a:chExt cx="2336923" cy="1905109"/>
          </a:xfrm>
        </p:grpSpPr>
        <p:pic>
          <p:nvPicPr>
            <p:cNvPr id="2050" name="Picture 2">
              <a:extLst>
                <a:ext uri="{FF2B5EF4-FFF2-40B4-BE49-F238E27FC236}">
                  <a16:creationId xmlns:a16="http://schemas.microsoft.com/office/drawing/2014/main" id="{C301C0AE-2FEF-2A03-F6DF-13DF70909C9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78034" y="3464746"/>
              <a:ext cx="981767" cy="98176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1" name="文字方塊 20">
              <a:extLst>
                <a:ext uri="{FF2B5EF4-FFF2-40B4-BE49-F238E27FC236}">
                  <a16:creationId xmlns:a16="http://schemas.microsoft.com/office/drawing/2014/main" id="{F038F4DA-A96A-9C6C-27BE-BC5D35C19983}"/>
                </a:ext>
              </a:extLst>
            </p:cNvPr>
            <p:cNvSpPr txBox="1"/>
            <p:nvPr/>
          </p:nvSpPr>
          <p:spPr>
            <a:xfrm>
              <a:off x="9625173" y="4538858"/>
              <a:ext cx="2336923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  <a:cs typeface="+mn-cs"/>
                </a:rPr>
                <a:t>Token </a:t>
              </a:r>
              <a:r>
                <a:rPr kumimoji="0" lang="zh-TW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  <a:cs typeface="+mn-cs"/>
                </a:rPr>
                <a:t>常常被翻譯為 </a:t>
              </a:r>
              <a:r>
                <a:rPr kumimoji="0" lang="en-US" altLang="zh-TW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  <a:cs typeface="+mn-cs"/>
                </a:rPr>
                <a:t>“</a:t>
              </a:r>
              <a:r>
                <a:rPr kumimoji="0" lang="zh-TW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  <a:cs typeface="+mn-cs"/>
                </a:rPr>
                <a:t>代幣</a:t>
              </a:r>
              <a:r>
                <a:rPr kumimoji="0" lang="en-US" altLang="zh-TW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  <a:cs typeface="+mn-cs"/>
                </a:rPr>
                <a:t>”</a:t>
              </a:r>
              <a:endPara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endParaRPr>
            </a:p>
          </p:txBody>
        </p:sp>
      </p:grp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3E354F9A-0C09-2C9C-95ED-EDBFBD1F0631}"/>
              </a:ext>
            </a:extLst>
          </p:cNvPr>
          <p:cNvSpPr txBox="1"/>
          <p:nvPr/>
        </p:nvSpPr>
        <p:spPr>
          <a:xfrm>
            <a:off x="1080687" y="4100205"/>
            <a:ext cx="16939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b="1" dirty="0"/>
              <a:t>Prompt </a:t>
            </a:r>
            <a:endParaRPr lang="zh-TW" altLang="en-US" sz="2800" b="1" dirty="0"/>
          </a:p>
        </p:txBody>
      </p:sp>
      <p:cxnSp>
        <p:nvCxnSpPr>
          <p:cNvPr id="24" name="直線單箭頭接點 23">
            <a:extLst>
              <a:ext uri="{FF2B5EF4-FFF2-40B4-BE49-F238E27FC236}">
                <a16:creationId xmlns:a16="http://schemas.microsoft.com/office/drawing/2014/main" id="{7410908D-6178-88F6-7C1E-580C21209628}"/>
              </a:ext>
            </a:extLst>
          </p:cNvPr>
          <p:cNvCxnSpPr>
            <a:cxnSpLocks/>
          </p:cNvCxnSpPr>
          <p:nvPr/>
        </p:nvCxnSpPr>
        <p:spPr>
          <a:xfrm>
            <a:off x="1708737" y="5026154"/>
            <a:ext cx="583908" cy="359367"/>
          </a:xfrm>
          <a:prstGeom prst="straightConnector1">
            <a:avLst/>
          </a:prstGeom>
          <a:ln w="57150">
            <a:solidFill>
              <a:schemeClr val="accent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ED1C7869-FE39-F3DC-CF26-B8962F6DA399}"/>
              </a:ext>
            </a:extLst>
          </p:cNvPr>
          <p:cNvSpPr txBox="1"/>
          <p:nvPr/>
        </p:nvSpPr>
        <p:spPr>
          <a:xfrm>
            <a:off x="630596" y="4597764"/>
            <a:ext cx="23697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給語言模型的輸入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755024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 animBg="1"/>
      <p:bldP spid="10" grpId="0" animBg="1"/>
      <p:bldP spid="13" grpId="0" animBg="1"/>
      <p:bldP spid="16" grpId="0"/>
      <p:bldP spid="17" grpId="0"/>
      <p:bldP spid="18" grpId="0"/>
      <p:bldP spid="19" grpId="0"/>
      <p:bldP spid="23" grpId="0"/>
      <p:bldP spid="2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A8F07DE-DCC8-509C-0436-4F7612915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語言模型怎麼進行回應呢？</a:t>
            </a:r>
            <a:endParaRPr lang="zh-TW" altLang="en-US" dirty="0"/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8DEF7813-188B-66BD-CE96-43689E45415A}"/>
              </a:ext>
            </a:extLst>
          </p:cNvPr>
          <p:cNvSpPr/>
          <p:nvPr/>
        </p:nvSpPr>
        <p:spPr>
          <a:xfrm>
            <a:off x="6308621" y="1916559"/>
            <a:ext cx="1693981" cy="109768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語言</a:t>
            </a:r>
            <a:endParaRPr kumimoji="0" lang="en-US" altLang="zh-TW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模型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964287CE-235A-5CAA-BBAC-65EDABFA39A8}"/>
              </a:ext>
            </a:extLst>
          </p:cNvPr>
          <p:cNvSpPr txBox="1"/>
          <p:nvPr/>
        </p:nvSpPr>
        <p:spPr>
          <a:xfrm>
            <a:off x="1407957" y="2244557"/>
            <a:ext cx="37899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臺灣最高的山是哪座？</a:t>
            </a:r>
          </a:p>
        </p:txBody>
      </p:sp>
      <p:cxnSp>
        <p:nvCxnSpPr>
          <p:cNvPr id="7" name="直線單箭頭接點 6">
            <a:extLst>
              <a:ext uri="{FF2B5EF4-FFF2-40B4-BE49-F238E27FC236}">
                <a16:creationId xmlns:a16="http://schemas.microsoft.com/office/drawing/2014/main" id="{E1CC53F9-DB93-C972-17B5-1CF6C1901E68}"/>
              </a:ext>
            </a:extLst>
          </p:cNvPr>
          <p:cNvCxnSpPr>
            <a:cxnSpLocks/>
          </p:cNvCxnSpPr>
          <p:nvPr/>
        </p:nvCxnSpPr>
        <p:spPr>
          <a:xfrm>
            <a:off x="8140352" y="2466755"/>
            <a:ext cx="1079848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單箭頭接點 7">
            <a:extLst>
              <a:ext uri="{FF2B5EF4-FFF2-40B4-BE49-F238E27FC236}">
                <a16:creationId xmlns:a16="http://schemas.microsoft.com/office/drawing/2014/main" id="{41DA65BC-8510-C944-49C9-D2D1F15F0DFF}"/>
              </a:ext>
            </a:extLst>
          </p:cNvPr>
          <p:cNvCxnSpPr>
            <a:cxnSpLocks/>
          </p:cNvCxnSpPr>
          <p:nvPr/>
        </p:nvCxnSpPr>
        <p:spPr>
          <a:xfrm>
            <a:off x="5356121" y="2453635"/>
            <a:ext cx="794240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71DB12C6-37D7-36A0-0DEC-2C1B25F88384}"/>
              </a:ext>
            </a:extLst>
          </p:cNvPr>
          <p:cNvSpPr txBox="1"/>
          <p:nvPr/>
        </p:nvSpPr>
        <p:spPr>
          <a:xfrm>
            <a:off x="8569576" y="2271227"/>
            <a:ext cx="2784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玉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803B2F4C-0918-B8CD-C7CC-19035A8FD0EB}"/>
              </a:ext>
            </a:extLst>
          </p:cNvPr>
          <p:cNvSpPr/>
          <p:nvPr/>
        </p:nvSpPr>
        <p:spPr>
          <a:xfrm>
            <a:off x="6308621" y="3614938"/>
            <a:ext cx="1693981" cy="109768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語言</a:t>
            </a:r>
            <a:endParaRPr kumimoji="0" lang="en-US" altLang="zh-TW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模型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BF5AC598-AB74-6BAC-D2BE-05186CCB49E1}"/>
              </a:ext>
            </a:extLst>
          </p:cNvPr>
          <p:cNvSpPr txBox="1"/>
          <p:nvPr/>
        </p:nvSpPr>
        <p:spPr>
          <a:xfrm>
            <a:off x="1377468" y="3902334"/>
            <a:ext cx="37899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臺灣最高的山是哪座？玉</a:t>
            </a:r>
          </a:p>
        </p:txBody>
      </p: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CB042AF5-2407-D8D9-7A10-C9AA7BCD793D}"/>
              </a:ext>
            </a:extLst>
          </p:cNvPr>
          <p:cNvCxnSpPr>
            <a:cxnSpLocks/>
          </p:cNvCxnSpPr>
          <p:nvPr/>
        </p:nvCxnSpPr>
        <p:spPr>
          <a:xfrm>
            <a:off x="8140352" y="4165134"/>
            <a:ext cx="1079848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313A36B4-B59B-D91B-1BA1-D21B22536827}"/>
              </a:ext>
            </a:extLst>
          </p:cNvPr>
          <p:cNvCxnSpPr>
            <a:cxnSpLocks/>
          </p:cNvCxnSpPr>
          <p:nvPr/>
        </p:nvCxnSpPr>
        <p:spPr>
          <a:xfrm>
            <a:off x="5356121" y="4152014"/>
            <a:ext cx="794240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F2778DC0-E169-50C0-DE38-BC562EC3DB75}"/>
              </a:ext>
            </a:extLst>
          </p:cNvPr>
          <p:cNvSpPr txBox="1"/>
          <p:nvPr/>
        </p:nvSpPr>
        <p:spPr>
          <a:xfrm>
            <a:off x="8569576" y="3951318"/>
            <a:ext cx="2784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山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E3EC2916-D01C-6FEC-7246-A80AD0A88F20}"/>
              </a:ext>
            </a:extLst>
          </p:cNvPr>
          <p:cNvSpPr/>
          <p:nvPr/>
        </p:nvSpPr>
        <p:spPr>
          <a:xfrm>
            <a:off x="6308621" y="5338127"/>
            <a:ext cx="1693981" cy="109768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語言</a:t>
            </a:r>
            <a:endParaRPr kumimoji="0" lang="en-US" altLang="zh-TW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模型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5004D439-B155-38D0-EB89-C93FC289D188}"/>
              </a:ext>
            </a:extLst>
          </p:cNvPr>
          <p:cNvSpPr txBox="1"/>
          <p:nvPr/>
        </p:nvSpPr>
        <p:spPr>
          <a:xfrm>
            <a:off x="1377468" y="5644370"/>
            <a:ext cx="41674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臺灣最高的山是哪座？玉山</a:t>
            </a:r>
          </a:p>
        </p:txBody>
      </p: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575C575F-A9B1-D551-6C72-6654A3D42726}"/>
              </a:ext>
            </a:extLst>
          </p:cNvPr>
          <p:cNvCxnSpPr>
            <a:cxnSpLocks/>
          </p:cNvCxnSpPr>
          <p:nvPr/>
        </p:nvCxnSpPr>
        <p:spPr>
          <a:xfrm>
            <a:off x="8140352" y="5888323"/>
            <a:ext cx="1079848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F238FE4F-81A1-14C0-51D8-6998A2333A11}"/>
              </a:ext>
            </a:extLst>
          </p:cNvPr>
          <p:cNvCxnSpPr>
            <a:cxnSpLocks/>
          </p:cNvCxnSpPr>
          <p:nvPr/>
        </p:nvCxnSpPr>
        <p:spPr>
          <a:xfrm>
            <a:off x="5356121" y="5875203"/>
            <a:ext cx="794240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0C634D8A-D232-61DE-FACF-8D11B795FDFC}"/>
              </a:ext>
            </a:extLst>
          </p:cNvPr>
          <p:cNvSpPr txBox="1"/>
          <p:nvPr/>
        </p:nvSpPr>
        <p:spPr>
          <a:xfrm>
            <a:off x="8624895" y="5675355"/>
            <a:ext cx="2784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[END]</a:t>
            </a:r>
            <a:endParaRPr kumimoji="0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pic>
        <p:nvPicPr>
          <p:cNvPr id="18" name="圖形 17" descr="困惑的人 以實心填滿">
            <a:extLst>
              <a:ext uri="{FF2B5EF4-FFF2-40B4-BE49-F238E27FC236}">
                <a16:creationId xmlns:a16="http://schemas.microsoft.com/office/drawing/2014/main" id="{FCDB54C0-ECE5-6B44-C831-AE64A26259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6603" y="1852806"/>
            <a:ext cx="1311949" cy="1311949"/>
          </a:xfrm>
          <a:prstGeom prst="rect">
            <a:avLst/>
          </a:prstGeom>
        </p:spPr>
      </p:pic>
      <p:sp>
        <p:nvSpPr>
          <p:cNvPr id="19" name="矩形: 圓角 18">
            <a:extLst>
              <a:ext uri="{FF2B5EF4-FFF2-40B4-BE49-F238E27FC236}">
                <a16:creationId xmlns:a16="http://schemas.microsoft.com/office/drawing/2014/main" id="{FDF3439A-CCAD-9ECD-D084-74D8D1951B77}"/>
              </a:ext>
            </a:extLst>
          </p:cNvPr>
          <p:cNvSpPr/>
          <p:nvPr/>
        </p:nvSpPr>
        <p:spPr>
          <a:xfrm>
            <a:off x="9445805" y="2010936"/>
            <a:ext cx="996643" cy="2627790"/>
          </a:xfrm>
          <a:prstGeom prst="roundRect">
            <a:avLst/>
          </a:prstGeom>
          <a:noFill/>
          <a:ln w="5715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13DE1463-4CC4-1843-9295-F8984CA99A0A}"/>
              </a:ext>
            </a:extLst>
          </p:cNvPr>
          <p:cNvSpPr txBox="1"/>
          <p:nvPr/>
        </p:nvSpPr>
        <p:spPr>
          <a:xfrm>
            <a:off x="10533455" y="4218726"/>
            <a:ext cx="13303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答案</a:t>
            </a:r>
          </a:p>
        </p:txBody>
      </p:sp>
    </p:spTree>
    <p:extLst>
      <p:ext uri="{BB962C8B-B14F-4D97-AF65-F5344CB8AC3E}">
        <p14:creationId xmlns:p14="http://schemas.microsoft.com/office/powerpoint/2010/main" val="5960618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3" grpId="0" animBg="1"/>
      <p:bldP spid="6" grpId="0"/>
      <p:bldP spid="15" grpId="0"/>
      <p:bldP spid="9" grpId="0" animBg="1"/>
      <p:bldP spid="10" grpId="0"/>
      <p:bldP spid="17" grpId="0"/>
      <p:bldP spid="19" grpId="0" animBg="1"/>
      <p:bldP spid="2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FD8371-0066-9E0E-D6F0-19DA406CE2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52C5E1-2C1C-B9B8-3649-08D28483B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語言模型背後的運作過程</a:t>
            </a:r>
            <a:endParaRPr lang="zh-TW" altLang="en-US" dirty="0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29847746-FAB2-8052-5B32-C4AFA1350AC3}"/>
              </a:ext>
            </a:extLst>
          </p:cNvPr>
          <p:cNvSpPr txBox="1"/>
          <p:nvPr/>
        </p:nvSpPr>
        <p:spPr>
          <a:xfrm>
            <a:off x="596650" y="3647575"/>
            <a:ext cx="22862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人   工</a:t>
            </a:r>
          </a:p>
        </p:txBody>
      </p:sp>
      <p:sp>
        <p:nvSpPr>
          <p:cNvPr id="24" name="矩形: 圓角 23">
            <a:extLst>
              <a:ext uri="{FF2B5EF4-FFF2-40B4-BE49-F238E27FC236}">
                <a16:creationId xmlns:a16="http://schemas.microsoft.com/office/drawing/2014/main" id="{476948B9-AE8C-8712-F323-CA9312B847D6}"/>
              </a:ext>
            </a:extLst>
          </p:cNvPr>
          <p:cNvSpPr/>
          <p:nvPr/>
        </p:nvSpPr>
        <p:spPr>
          <a:xfrm>
            <a:off x="3540109" y="3365895"/>
            <a:ext cx="1693981" cy="109768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語言</a:t>
            </a:r>
            <a:endParaRPr kumimoji="0" lang="en-US" altLang="zh-TW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模型</a:t>
            </a:r>
          </a:p>
        </p:txBody>
      </p:sp>
      <p:cxnSp>
        <p:nvCxnSpPr>
          <p:cNvPr id="25" name="直線單箭頭接點 24">
            <a:extLst>
              <a:ext uri="{FF2B5EF4-FFF2-40B4-BE49-F238E27FC236}">
                <a16:creationId xmlns:a16="http://schemas.microsoft.com/office/drawing/2014/main" id="{D614AF25-9587-ECBE-7562-AC1C2E16C2B1}"/>
              </a:ext>
            </a:extLst>
          </p:cNvPr>
          <p:cNvCxnSpPr>
            <a:cxnSpLocks/>
          </p:cNvCxnSpPr>
          <p:nvPr/>
        </p:nvCxnSpPr>
        <p:spPr>
          <a:xfrm>
            <a:off x="5371840" y="3897041"/>
            <a:ext cx="711856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單箭頭接點 25">
            <a:extLst>
              <a:ext uri="{FF2B5EF4-FFF2-40B4-BE49-F238E27FC236}">
                <a16:creationId xmlns:a16="http://schemas.microsoft.com/office/drawing/2014/main" id="{720CC3A1-C675-8097-C5BE-213218D22FD3}"/>
              </a:ext>
            </a:extLst>
          </p:cNvPr>
          <p:cNvCxnSpPr>
            <a:cxnSpLocks/>
          </p:cNvCxnSpPr>
          <p:nvPr/>
        </p:nvCxnSpPr>
        <p:spPr>
          <a:xfrm>
            <a:off x="2628064" y="3905795"/>
            <a:ext cx="794240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468CB86F-727C-EAB7-FB3B-362B274B12DD}"/>
              </a:ext>
            </a:extLst>
          </p:cNvPr>
          <p:cNvSpPr txBox="1"/>
          <p:nvPr/>
        </p:nvSpPr>
        <p:spPr>
          <a:xfrm>
            <a:off x="4387099" y="5786650"/>
            <a:ext cx="55839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Token</a:t>
            </a:r>
            <a:r>
              <a: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 需要覆蓋所有可能的輸出需求</a:t>
            </a:r>
          </a:p>
        </p:txBody>
      </p:sp>
      <p:cxnSp>
        <p:nvCxnSpPr>
          <p:cNvPr id="41" name="直線單箭頭接點 40">
            <a:extLst>
              <a:ext uri="{FF2B5EF4-FFF2-40B4-BE49-F238E27FC236}">
                <a16:creationId xmlns:a16="http://schemas.microsoft.com/office/drawing/2014/main" id="{5BFA43EF-9B1E-95B2-DB1E-0A834C25ECF9}"/>
              </a:ext>
            </a:extLst>
          </p:cNvPr>
          <p:cNvCxnSpPr>
            <a:cxnSpLocks/>
          </p:cNvCxnSpPr>
          <p:nvPr/>
        </p:nvCxnSpPr>
        <p:spPr>
          <a:xfrm>
            <a:off x="8981944" y="3854085"/>
            <a:ext cx="1372953" cy="0"/>
          </a:xfrm>
          <a:prstGeom prst="straightConnector1">
            <a:avLst/>
          </a:prstGeom>
          <a:ln w="5715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7156E00A-0F8C-8F37-B81E-30DDDA3FD656}"/>
              </a:ext>
            </a:extLst>
          </p:cNvPr>
          <p:cNvSpPr txBox="1"/>
          <p:nvPr/>
        </p:nvSpPr>
        <p:spPr>
          <a:xfrm>
            <a:off x="10504466" y="3647574"/>
            <a:ext cx="13727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240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智</a:t>
            </a:r>
            <a:endParaRPr kumimoji="0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B46215C9-1D65-F8F4-A843-D2C5B0C73244}"/>
              </a:ext>
            </a:extLst>
          </p:cNvPr>
          <p:cNvSpPr txBox="1"/>
          <p:nvPr/>
        </p:nvSpPr>
        <p:spPr>
          <a:xfrm>
            <a:off x="8649744" y="4001914"/>
            <a:ext cx="20913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50% </a:t>
            </a:r>
            <a:r>
              <a: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機率</a:t>
            </a:r>
          </a:p>
        </p:txBody>
      </p:sp>
      <p:sp>
        <p:nvSpPr>
          <p:cNvPr id="44" name="文字方塊 43">
            <a:extLst>
              <a:ext uri="{FF2B5EF4-FFF2-40B4-BE49-F238E27FC236}">
                <a16:creationId xmlns:a16="http://schemas.microsoft.com/office/drawing/2014/main" id="{EACF2B23-F8BA-1FFD-95A9-B803D19D5900}"/>
              </a:ext>
            </a:extLst>
          </p:cNvPr>
          <p:cNvSpPr txBox="1"/>
          <p:nvPr/>
        </p:nvSpPr>
        <p:spPr>
          <a:xfrm>
            <a:off x="9009041" y="3235503"/>
            <a:ext cx="13727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擲骰子</a:t>
            </a:r>
          </a:p>
        </p:txBody>
      </p:sp>
      <p:graphicFrame>
        <p:nvGraphicFramePr>
          <p:cNvPr id="45" name="表格 44">
            <a:extLst>
              <a:ext uri="{FF2B5EF4-FFF2-40B4-BE49-F238E27FC236}">
                <a16:creationId xmlns:a16="http://schemas.microsoft.com/office/drawing/2014/main" id="{942AF50A-8538-512D-51C4-5BA64A38BA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859891"/>
              </p:ext>
            </p:extLst>
          </p:nvPr>
        </p:nvGraphicFramePr>
        <p:xfrm>
          <a:off x="6322668" y="1988615"/>
          <a:ext cx="2495142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7571">
                  <a:extLst>
                    <a:ext uri="{9D8B030D-6E8A-4147-A177-3AD203B41FA5}">
                      <a16:colId xmlns:a16="http://schemas.microsoft.com/office/drawing/2014/main" val="3694132306"/>
                    </a:ext>
                  </a:extLst>
                </a:gridCol>
                <a:gridCol w="1247571">
                  <a:extLst>
                    <a:ext uri="{9D8B030D-6E8A-4147-A177-3AD203B41FA5}">
                      <a16:colId xmlns:a16="http://schemas.microsoft.com/office/drawing/2014/main" val="21637906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Token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Score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63034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400" dirty="0"/>
                        <a:t>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0.2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31669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400" dirty="0"/>
                        <a:t>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0.5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05378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how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0.0000...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74895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2400" dirty="0"/>
                        <a:t>자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0.0000...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32605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2400" dirty="0"/>
                        <a:t>ち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0.0000...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73366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/>
                        <a:t>@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0.0000...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42438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……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117328"/>
                  </a:ext>
                </a:extLst>
              </a:tr>
            </a:tbl>
          </a:graphicData>
        </a:graphic>
      </p:graphicFrame>
      <p:sp>
        <p:nvSpPr>
          <p:cNvPr id="46" name="矩形: 圓角 45">
            <a:extLst>
              <a:ext uri="{FF2B5EF4-FFF2-40B4-BE49-F238E27FC236}">
                <a16:creationId xmlns:a16="http://schemas.microsoft.com/office/drawing/2014/main" id="{C2F699DB-718A-250C-298D-AE71A261E1F3}"/>
              </a:ext>
            </a:extLst>
          </p:cNvPr>
          <p:cNvSpPr/>
          <p:nvPr/>
        </p:nvSpPr>
        <p:spPr>
          <a:xfrm>
            <a:off x="6322668" y="1988615"/>
            <a:ext cx="1238498" cy="3657599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81A88538-27BE-E911-8723-80D9EA433032}"/>
              </a:ext>
            </a:extLst>
          </p:cNvPr>
          <p:cNvSpPr txBox="1"/>
          <p:nvPr/>
        </p:nvSpPr>
        <p:spPr>
          <a:xfrm>
            <a:off x="4187439" y="5122994"/>
            <a:ext cx="23128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Vocabulary</a:t>
            </a:r>
            <a:endParaRPr lang="zh-TW" altLang="en-US" sz="2800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DBBECCD8-3AE1-26E9-E29E-3260E1999475}"/>
              </a:ext>
            </a:extLst>
          </p:cNvPr>
          <p:cNvSpPr txBox="1"/>
          <p:nvPr/>
        </p:nvSpPr>
        <p:spPr>
          <a:xfrm>
            <a:off x="1039037" y="1875483"/>
            <a:ext cx="368766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有多種可能的接龍方式，模型怎麼知道要接哪一種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4C83A844-0649-9724-5419-CD6605E3BC9E}"/>
              </a:ext>
            </a:extLst>
          </p:cNvPr>
          <p:cNvSpPr txBox="1"/>
          <p:nvPr/>
        </p:nvSpPr>
        <p:spPr>
          <a:xfrm>
            <a:off x="6096000" y="1461307"/>
            <a:ext cx="29689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Token 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的機率分佈</a:t>
            </a:r>
          </a:p>
        </p:txBody>
      </p:sp>
    </p:spTree>
    <p:extLst>
      <p:ext uri="{BB962C8B-B14F-4D97-AF65-F5344CB8AC3E}">
        <p14:creationId xmlns:p14="http://schemas.microsoft.com/office/powerpoint/2010/main" val="24997757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42" grpId="0"/>
      <p:bldP spid="43" grpId="0"/>
      <p:bldP spid="44" grpId="0"/>
      <p:bldP spid="46" grpId="0" animBg="1"/>
      <p:bldP spid="4" grpId="0"/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B07B55-BD69-92AF-F497-6A444B1B75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619539C-A261-6BB6-80CF-43C28E687A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再看一次回答問題的過程</a:t>
            </a:r>
            <a:endParaRPr lang="zh-TW" altLang="en-US" dirty="0"/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E614E08F-31B1-1722-6458-E62738CC644E}"/>
              </a:ext>
            </a:extLst>
          </p:cNvPr>
          <p:cNvSpPr/>
          <p:nvPr/>
        </p:nvSpPr>
        <p:spPr>
          <a:xfrm>
            <a:off x="5249009" y="1790579"/>
            <a:ext cx="1693981" cy="109768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語言</a:t>
            </a:r>
            <a:endParaRPr kumimoji="0" lang="en-US" altLang="zh-TW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模型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56275270-6A5E-5544-92C0-C0DF7CAE687C}"/>
              </a:ext>
            </a:extLst>
          </p:cNvPr>
          <p:cNvSpPr txBox="1"/>
          <p:nvPr/>
        </p:nvSpPr>
        <p:spPr>
          <a:xfrm>
            <a:off x="348345" y="2118577"/>
            <a:ext cx="37899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臺灣最高的山是哪座？</a:t>
            </a:r>
          </a:p>
        </p:txBody>
      </p:sp>
      <p:cxnSp>
        <p:nvCxnSpPr>
          <p:cNvPr id="8" name="直線單箭頭接點 7">
            <a:extLst>
              <a:ext uri="{FF2B5EF4-FFF2-40B4-BE49-F238E27FC236}">
                <a16:creationId xmlns:a16="http://schemas.microsoft.com/office/drawing/2014/main" id="{26320E56-7F48-3330-B2AB-90EA62522255}"/>
              </a:ext>
            </a:extLst>
          </p:cNvPr>
          <p:cNvCxnSpPr>
            <a:cxnSpLocks/>
          </p:cNvCxnSpPr>
          <p:nvPr/>
        </p:nvCxnSpPr>
        <p:spPr>
          <a:xfrm>
            <a:off x="4296509" y="2327655"/>
            <a:ext cx="794240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AD3BB42B-8C14-46D9-223D-E337C47A66F7}"/>
              </a:ext>
            </a:extLst>
          </p:cNvPr>
          <p:cNvSpPr txBox="1"/>
          <p:nvPr/>
        </p:nvSpPr>
        <p:spPr>
          <a:xfrm>
            <a:off x="10881168" y="2030050"/>
            <a:ext cx="2784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玉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0B894CAE-CD40-CBB8-B2C5-F4F8F9D137B4}"/>
              </a:ext>
            </a:extLst>
          </p:cNvPr>
          <p:cNvSpPr/>
          <p:nvPr/>
        </p:nvSpPr>
        <p:spPr>
          <a:xfrm>
            <a:off x="5249009" y="3488958"/>
            <a:ext cx="1693981" cy="109768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語言</a:t>
            </a:r>
            <a:endParaRPr kumimoji="0" lang="en-US" altLang="zh-TW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模型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3079F94-B7A0-F5D7-0D5E-9D3F331E2AE6}"/>
              </a:ext>
            </a:extLst>
          </p:cNvPr>
          <p:cNvSpPr txBox="1"/>
          <p:nvPr/>
        </p:nvSpPr>
        <p:spPr>
          <a:xfrm>
            <a:off x="317856" y="3776354"/>
            <a:ext cx="37899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臺灣最高的山是哪座？玉</a:t>
            </a:r>
          </a:p>
        </p:txBody>
      </p: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3B346B86-60E4-C4B0-E78F-52704F768DA2}"/>
              </a:ext>
            </a:extLst>
          </p:cNvPr>
          <p:cNvCxnSpPr>
            <a:cxnSpLocks/>
          </p:cNvCxnSpPr>
          <p:nvPr/>
        </p:nvCxnSpPr>
        <p:spPr>
          <a:xfrm>
            <a:off x="4296509" y="4026034"/>
            <a:ext cx="794240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FA5ECC6A-5A75-D5EA-CA85-0085A8BFB006}"/>
              </a:ext>
            </a:extLst>
          </p:cNvPr>
          <p:cNvSpPr/>
          <p:nvPr/>
        </p:nvSpPr>
        <p:spPr>
          <a:xfrm>
            <a:off x="5249009" y="5212147"/>
            <a:ext cx="1693981" cy="109768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語言</a:t>
            </a:r>
            <a:endParaRPr kumimoji="0" lang="en-US" altLang="zh-TW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模型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9F19D8F3-F225-27B1-EF86-F672708667D2}"/>
              </a:ext>
            </a:extLst>
          </p:cNvPr>
          <p:cNvSpPr txBox="1"/>
          <p:nvPr/>
        </p:nvSpPr>
        <p:spPr>
          <a:xfrm>
            <a:off x="317856" y="5518390"/>
            <a:ext cx="41674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臺灣最高的山是哪座？玉山</a:t>
            </a:r>
          </a:p>
        </p:txBody>
      </p:sp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8591415C-B9A0-5644-51D7-4B1FA62F293C}"/>
              </a:ext>
            </a:extLst>
          </p:cNvPr>
          <p:cNvCxnSpPr>
            <a:cxnSpLocks/>
          </p:cNvCxnSpPr>
          <p:nvPr/>
        </p:nvCxnSpPr>
        <p:spPr>
          <a:xfrm>
            <a:off x="4296509" y="5749223"/>
            <a:ext cx="794240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1EDAA4A9-7FA5-E7F2-78B4-B4AD7B0BFAF7}"/>
              </a:ext>
            </a:extLst>
          </p:cNvPr>
          <p:cNvSpPr txBox="1"/>
          <p:nvPr/>
        </p:nvSpPr>
        <p:spPr>
          <a:xfrm>
            <a:off x="10024752" y="5491164"/>
            <a:ext cx="2784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[END]</a:t>
            </a:r>
            <a:endParaRPr kumimoji="0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grpSp>
        <p:nvGrpSpPr>
          <p:cNvPr id="27" name="群組 26">
            <a:extLst>
              <a:ext uri="{FF2B5EF4-FFF2-40B4-BE49-F238E27FC236}">
                <a16:creationId xmlns:a16="http://schemas.microsoft.com/office/drawing/2014/main" id="{622EFDE7-40CF-B078-FBC3-6CB09EAC6B88}"/>
              </a:ext>
            </a:extLst>
          </p:cNvPr>
          <p:cNvGrpSpPr/>
          <p:nvPr/>
        </p:nvGrpSpPr>
        <p:grpSpPr>
          <a:xfrm>
            <a:off x="7905760" y="5212147"/>
            <a:ext cx="1828800" cy="825198"/>
            <a:chOff x="10636884" y="5196717"/>
            <a:chExt cx="1828800" cy="825198"/>
          </a:xfrm>
        </p:grpSpPr>
        <p:cxnSp>
          <p:nvCxnSpPr>
            <p:cNvPr id="28" name="直線接點 27">
              <a:extLst>
                <a:ext uri="{FF2B5EF4-FFF2-40B4-BE49-F238E27FC236}">
                  <a16:creationId xmlns:a16="http://schemas.microsoft.com/office/drawing/2014/main" id="{B9235FFF-556E-1059-8793-910780315CA2}"/>
                </a:ext>
              </a:extLst>
            </p:cNvPr>
            <p:cNvCxnSpPr/>
            <p:nvPr/>
          </p:nvCxnSpPr>
          <p:spPr>
            <a:xfrm>
              <a:off x="10636884" y="6021915"/>
              <a:ext cx="18288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325ADF23-D570-EC17-4EB5-3CC2A39A7C31}"/>
                </a:ext>
              </a:extLst>
            </p:cNvPr>
            <p:cNvSpPr/>
            <p:nvPr/>
          </p:nvSpPr>
          <p:spPr>
            <a:xfrm>
              <a:off x="10797516" y="5196717"/>
              <a:ext cx="186509" cy="776520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96485718-5B32-A078-F170-39B901E61E13}"/>
                </a:ext>
              </a:extLst>
            </p:cNvPr>
            <p:cNvSpPr/>
            <p:nvPr/>
          </p:nvSpPr>
          <p:spPr>
            <a:xfrm>
              <a:off x="11114842" y="5796304"/>
              <a:ext cx="180000" cy="180000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1703735B-E30B-84F0-A725-7818026DA703}"/>
                </a:ext>
              </a:extLst>
            </p:cNvPr>
            <p:cNvSpPr/>
            <p:nvPr/>
          </p:nvSpPr>
          <p:spPr>
            <a:xfrm>
              <a:off x="11452472" y="5366630"/>
              <a:ext cx="186511" cy="625260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F4E58848-C949-3723-A1F7-3A54BF672195}"/>
                </a:ext>
              </a:extLst>
            </p:cNvPr>
            <p:cNvSpPr/>
            <p:nvPr/>
          </p:nvSpPr>
          <p:spPr>
            <a:xfrm>
              <a:off x="11779951" y="5641165"/>
              <a:ext cx="180000" cy="367354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E9944D4E-6C30-D8E9-AAE0-7BA73711A103}"/>
                </a:ext>
              </a:extLst>
            </p:cNvPr>
            <p:cNvSpPr/>
            <p:nvPr/>
          </p:nvSpPr>
          <p:spPr>
            <a:xfrm>
              <a:off x="12107430" y="5830015"/>
              <a:ext cx="180000" cy="178504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</p:grpSp>
      <p:grpSp>
        <p:nvGrpSpPr>
          <p:cNvPr id="34" name="群組 33">
            <a:extLst>
              <a:ext uri="{FF2B5EF4-FFF2-40B4-BE49-F238E27FC236}">
                <a16:creationId xmlns:a16="http://schemas.microsoft.com/office/drawing/2014/main" id="{2A8DEE0C-6A2F-9CBB-C9F8-9A3F228C4C9E}"/>
              </a:ext>
            </a:extLst>
          </p:cNvPr>
          <p:cNvGrpSpPr/>
          <p:nvPr/>
        </p:nvGrpSpPr>
        <p:grpSpPr>
          <a:xfrm>
            <a:off x="7929107" y="3332122"/>
            <a:ext cx="1828800" cy="930986"/>
            <a:chOff x="10684794" y="3329532"/>
            <a:chExt cx="1828800" cy="930986"/>
          </a:xfrm>
        </p:grpSpPr>
        <p:grpSp>
          <p:nvGrpSpPr>
            <p:cNvPr id="35" name="群組 34">
              <a:extLst>
                <a:ext uri="{FF2B5EF4-FFF2-40B4-BE49-F238E27FC236}">
                  <a16:creationId xmlns:a16="http://schemas.microsoft.com/office/drawing/2014/main" id="{215224DB-BDD1-AE4D-FC3B-E1BB16AFFAE3}"/>
                </a:ext>
              </a:extLst>
            </p:cNvPr>
            <p:cNvGrpSpPr/>
            <p:nvPr/>
          </p:nvGrpSpPr>
          <p:grpSpPr>
            <a:xfrm>
              <a:off x="10806153" y="3329532"/>
              <a:ext cx="1489913" cy="908899"/>
              <a:chOff x="6264327" y="1877409"/>
              <a:chExt cx="1489913" cy="908899"/>
            </a:xfrm>
          </p:grpSpPr>
          <p:sp>
            <p:nvSpPr>
              <p:cNvPr id="37" name="矩形 36">
                <a:extLst>
                  <a:ext uri="{FF2B5EF4-FFF2-40B4-BE49-F238E27FC236}">
                    <a16:creationId xmlns:a16="http://schemas.microsoft.com/office/drawing/2014/main" id="{A570E4C3-02AF-87ED-FEF0-441766095465}"/>
                  </a:ext>
                </a:extLst>
              </p:cNvPr>
              <p:cNvSpPr/>
              <p:nvPr/>
            </p:nvSpPr>
            <p:spPr>
              <a:xfrm>
                <a:off x="6264327" y="2641860"/>
                <a:ext cx="180000" cy="144448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38" name="矩形 37">
                <a:extLst>
                  <a:ext uri="{FF2B5EF4-FFF2-40B4-BE49-F238E27FC236}">
                    <a16:creationId xmlns:a16="http://schemas.microsoft.com/office/drawing/2014/main" id="{EC5F3013-2918-6870-ACB1-81CD27F0FEA8}"/>
                  </a:ext>
                </a:extLst>
              </p:cNvPr>
              <p:cNvSpPr/>
              <p:nvPr/>
            </p:nvSpPr>
            <p:spPr>
              <a:xfrm>
                <a:off x="6581652" y="1877409"/>
                <a:ext cx="180000" cy="900000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39" name="矩形 38">
                <a:extLst>
                  <a:ext uri="{FF2B5EF4-FFF2-40B4-BE49-F238E27FC236}">
                    <a16:creationId xmlns:a16="http://schemas.microsoft.com/office/drawing/2014/main" id="{A5F3E785-A49F-AF7A-3775-D007FB5D57E4}"/>
                  </a:ext>
                </a:extLst>
              </p:cNvPr>
              <p:cNvSpPr/>
              <p:nvPr/>
            </p:nvSpPr>
            <p:spPr>
              <a:xfrm>
                <a:off x="6919283" y="2409679"/>
                <a:ext cx="180000" cy="360000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40" name="矩形 39">
                <a:extLst>
                  <a:ext uri="{FF2B5EF4-FFF2-40B4-BE49-F238E27FC236}">
                    <a16:creationId xmlns:a16="http://schemas.microsoft.com/office/drawing/2014/main" id="{757AD6AA-E48B-9EB9-5F5C-193F646F0395}"/>
                  </a:ext>
                </a:extLst>
              </p:cNvPr>
              <p:cNvSpPr/>
              <p:nvPr/>
            </p:nvSpPr>
            <p:spPr>
              <a:xfrm>
                <a:off x="7246761" y="2418954"/>
                <a:ext cx="180000" cy="367354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41" name="矩形 40">
                <a:extLst>
                  <a:ext uri="{FF2B5EF4-FFF2-40B4-BE49-F238E27FC236}">
                    <a16:creationId xmlns:a16="http://schemas.microsoft.com/office/drawing/2014/main" id="{E3A930E2-D00C-B18D-AD15-766FE0D006D7}"/>
                  </a:ext>
                </a:extLst>
              </p:cNvPr>
              <p:cNvSpPr/>
              <p:nvPr/>
            </p:nvSpPr>
            <p:spPr>
              <a:xfrm>
                <a:off x="7574240" y="2607804"/>
                <a:ext cx="180000" cy="178504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</p:grpSp>
        <p:cxnSp>
          <p:nvCxnSpPr>
            <p:cNvPr id="36" name="直線接點 35">
              <a:extLst>
                <a:ext uri="{FF2B5EF4-FFF2-40B4-BE49-F238E27FC236}">
                  <a16:creationId xmlns:a16="http://schemas.microsoft.com/office/drawing/2014/main" id="{2716D121-9250-B838-2E82-D3D38B2D7D4A}"/>
                </a:ext>
              </a:extLst>
            </p:cNvPr>
            <p:cNvCxnSpPr/>
            <p:nvPr/>
          </p:nvCxnSpPr>
          <p:spPr>
            <a:xfrm>
              <a:off x="10684794" y="4260518"/>
              <a:ext cx="18288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2" name="直線單箭頭接點 41">
            <a:extLst>
              <a:ext uri="{FF2B5EF4-FFF2-40B4-BE49-F238E27FC236}">
                <a16:creationId xmlns:a16="http://schemas.microsoft.com/office/drawing/2014/main" id="{6698ED1C-698C-7C66-2D9E-582A9660863A}"/>
              </a:ext>
            </a:extLst>
          </p:cNvPr>
          <p:cNvCxnSpPr>
            <a:cxnSpLocks/>
          </p:cNvCxnSpPr>
          <p:nvPr/>
        </p:nvCxnSpPr>
        <p:spPr>
          <a:xfrm>
            <a:off x="9839187" y="2319466"/>
            <a:ext cx="952910" cy="0"/>
          </a:xfrm>
          <a:prstGeom prst="straightConnector1">
            <a:avLst/>
          </a:prstGeom>
          <a:ln w="5715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6" name="群組 45">
            <a:extLst>
              <a:ext uri="{FF2B5EF4-FFF2-40B4-BE49-F238E27FC236}">
                <a16:creationId xmlns:a16="http://schemas.microsoft.com/office/drawing/2014/main" id="{9026CA37-4D3F-BF21-C68C-A9D4568CCEF7}"/>
              </a:ext>
            </a:extLst>
          </p:cNvPr>
          <p:cNvGrpSpPr/>
          <p:nvPr/>
        </p:nvGrpSpPr>
        <p:grpSpPr>
          <a:xfrm>
            <a:off x="7902514" y="1818647"/>
            <a:ext cx="1828800" cy="818674"/>
            <a:chOff x="12462249" y="1734743"/>
            <a:chExt cx="1828800" cy="818674"/>
          </a:xfrm>
        </p:grpSpPr>
        <p:grpSp>
          <p:nvGrpSpPr>
            <p:cNvPr id="21" name="群組 20">
              <a:extLst>
                <a:ext uri="{FF2B5EF4-FFF2-40B4-BE49-F238E27FC236}">
                  <a16:creationId xmlns:a16="http://schemas.microsoft.com/office/drawing/2014/main" id="{F3D49C79-9200-4C09-75BF-33A775206E6C}"/>
                </a:ext>
              </a:extLst>
            </p:cNvPr>
            <p:cNvGrpSpPr/>
            <p:nvPr/>
          </p:nvGrpSpPr>
          <p:grpSpPr>
            <a:xfrm>
              <a:off x="12594666" y="1734743"/>
              <a:ext cx="1489913" cy="818674"/>
              <a:chOff x="6264327" y="1967634"/>
              <a:chExt cx="1489913" cy="818674"/>
            </a:xfrm>
          </p:grpSpPr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DB869309-C13C-CA7D-660F-7CB50C99659A}"/>
                  </a:ext>
                </a:extLst>
              </p:cNvPr>
              <p:cNvSpPr/>
              <p:nvPr/>
            </p:nvSpPr>
            <p:spPr>
              <a:xfrm>
                <a:off x="6264327" y="2641860"/>
                <a:ext cx="180000" cy="144448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23" name="矩形 22">
                <a:extLst>
                  <a:ext uri="{FF2B5EF4-FFF2-40B4-BE49-F238E27FC236}">
                    <a16:creationId xmlns:a16="http://schemas.microsoft.com/office/drawing/2014/main" id="{D66C9E09-AF24-3C74-4190-B493688B9581}"/>
                  </a:ext>
                </a:extLst>
              </p:cNvPr>
              <p:cNvSpPr/>
              <p:nvPr/>
            </p:nvSpPr>
            <p:spPr>
              <a:xfrm>
                <a:off x="6591805" y="2393617"/>
                <a:ext cx="180000" cy="392691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24" name="矩形 23">
                <a:extLst>
                  <a:ext uri="{FF2B5EF4-FFF2-40B4-BE49-F238E27FC236}">
                    <a16:creationId xmlns:a16="http://schemas.microsoft.com/office/drawing/2014/main" id="{45A6407B-0239-2CC1-8321-5F7DEA10DECC}"/>
                  </a:ext>
                </a:extLst>
              </p:cNvPr>
              <p:cNvSpPr/>
              <p:nvPr/>
            </p:nvSpPr>
            <p:spPr>
              <a:xfrm>
                <a:off x="6919283" y="2150599"/>
                <a:ext cx="180000" cy="635709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25" name="矩形 24">
                <a:extLst>
                  <a:ext uri="{FF2B5EF4-FFF2-40B4-BE49-F238E27FC236}">
                    <a16:creationId xmlns:a16="http://schemas.microsoft.com/office/drawing/2014/main" id="{0E6D647C-2BF6-7DEE-9EAC-B640BE6EE69C}"/>
                  </a:ext>
                </a:extLst>
              </p:cNvPr>
              <p:cNvSpPr/>
              <p:nvPr/>
            </p:nvSpPr>
            <p:spPr>
              <a:xfrm>
                <a:off x="7246761" y="2418954"/>
                <a:ext cx="180000" cy="367354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26" name="矩形 25">
                <a:extLst>
                  <a:ext uri="{FF2B5EF4-FFF2-40B4-BE49-F238E27FC236}">
                    <a16:creationId xmlns:a16="http://schemas.microsoft.com/office/drawing/2014/main" id="{B4ADC870-217B-12CB-1DAF-60AD7668955E}"/>
                  </a:ext>
                </a:extLst>
              </p:cNvPr>
              <p:cNvSpPr/>
              <p:nvPr/>
            </p:nvSpPr>
            <p:spPr>
              <a:xfrm>
                <a:off x="7574240" y="1967634"/>
                <a:ext cx="180000" cy="818674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</p:grpSp>
        <p:cxnSp>
          <p:nvCxnSpPr>
            <p:cNvPr id="45" name="直線接點 44">
              <a:extLst>
                <a:ext uri="{FF2B5EF4-FFF2-40B4-BE49-F238E27FC236}">
                  <a16:creationId xmlns:a16="http://schemas.microsoft.com/office/drawing/2014/main" id="{C9492E53-BE27-7FBE-766B-86222FEA0B0C}"/>
                </a:ext>
              </a:extLst>
            </p:cNvPr>
            <p:cNvCxnSpPr/>
            <p:nvPr/>
          </p:nvCxnSpPr>
          <p:spPr>
            <a:xfrm>
              <a:off x="12462249" y="2553417"/>
              <a:ext cx="18288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7" name="直線單箭頭接點 46">
            <a:extLst>
              <a:ext uri="{FF2B5EF4-FFF2-40B4-BE49-F238E27FC236}">
                <a16:creationId xmlns:a16="http://schemas.microsoft.com/office/drawing/2014/main" id="{4562F0BF-BBC0-5579-6ED9-6E84BEDFE92F}"/>
              </a:ext>
            </a:extLst>
          </p:cNvPr>
          <p:cNvCxnSpPr>
            <a:cxnSpLocks/>
          </p:cNvCxnSpPr>
          <p:nvPr/>
        </p:nvCxnSpPr>
        <p:spPr>
          <a:xfrm>
            <a:off x="6942990" y="2327654"/>
            <a:ext cx="794240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單箭頭接點 47">
            <a:extLst>
              <a:ext uri="{FF2B5EF4-FFF2-40B4-BE49-F238E27FC236}">
                <a16:creationId xmlns:a16="http://schemas.microsoft.com/office/drawing/2014/main" id="{9D9A2C8B-E637-D30E-555B-F0BEB022FDD4}"/>
              </a:ext>
            </a:extLst>
          </p:cNvPr>
          <p:cNvCxnSpPr>
            <a:cxnSpLocks/>
          </p:cNvCxnSpPr>
          <p:nvPr/>
        </p:nvCxnSpPr>
        <p:spPr>
          <a:xfrm>
            <a:off x="6942990" y="4026033"/>
            <a:ext cx="794240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單箭頭接點 48">
            <a:extLst>
              <a:ext uri="{FF2B5EF4-FFF2-40B4-BE49-F238E27FC236}">
                <a16:creationId xmlns:a16="http://schemas.microsoft.com/office/drawing/2014/main" id="{2747F33B-8B33-3302-37A1-E3F4805C71B5}"/>
              </a:ext>
            </a:extLst>
          </p:cNvPr>
          <p:cNvCxnSpPr>
            <a:cxnSpLocks/>
          </p:cNvCxnSpPr>
          <p:nvPr/>
        </p:nvCxnSpPr>
        <p:spPr>
          <a:xfrm>
            <a:off x="6942990" y="5749222"/>
            <a:ext cx="794240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文字方塊 49">
            <a:extLst>
              <a:ext uri="{FF2B5EF4-FFF2-40B4-BE49-F238E27FC236}">
                <a16:creationId xmlns:a16="http://schemas.microsoft.com/office/drawing/2014/main" id="{8802348B-3016-CA9E-6DFB-3D44311BADB1}"/>
              </a:ext>
            </a:extLst>
          </p:cNvPr>
          <p:cNvSpPr txBox="1"/>
          <p:nvPr/>
        </p:nvSpPr>
        <p:spPr>
          <a:xfrm>
            <a:off x="10895954" y="3711962"/>
            <a:ext cx="2784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山</a:t>
            </a:r>
          </a:p>
        </p:txBody>
      </p:sp>
      <p:cxnSp>
        <p:nvCxnSpPr>
          <p:cNvPr id="51" name="直線單箭頭接點 50">
            <a:extLst>
              <a:ext uri="{FF2B5EF4-FFF2-40B4-BE49-F238E27FC236}">
                <a16:creationId xmlns:a16="http://schemas.microsoft.com/office/drawing/2014/main" id="{E550E422-7364-1FFD-D7A4-392F1B126ABC}"/>
              </a:ext>
            </a:extLst>
          </p:cNvPr>
          <p:cNvCxnSpPr>
            <a:cxnSpLocks/>
          </p:cNvCxnSpPr>
          <p:nvPr/>
        </p:nvCxnSpPr>
        <p:spPr>
          <a:xfrm>
            <a:off x="9874293" y="4001378"/>
            <a:ext cx="952910" cy="0"/>
          </a:xfrm>
          <a:prstGeom prst="straightConnector1">
            <a:avLst/>
          </a:prstGeom>
          <a:ln w="5715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單箭頭接點 52">
            <a:extLst>
              <a:ext uri="{FF2B5EF4-FFF2-40B4-BE49-F238E27FC236}">
                <a16:creationId xmlns:a16="http://schemas.microsoft.com/office/drawing/2014/main" id="{72809A34-48E5-CB4F-D7EC-BB700CE07BFC}"/>
              </a:ext>
            </a:extLst>
          </p:cNvPr>
          <p:cNvCxnSpPr>
            <a:cxnSpLocks/>
          </p:cNvCxnSpPr>
          <p:nvPr/>
        </p:nvCxnSpPr>
        <p:spPr>
          <a:xfrm>
            <a:off x="9966475" y="5750307"/>
            <a:ext cx="952910" cy="0"/>
          </a:xfrm>
          <a:prstGeom prst="straightConnector1">
            <a:avLst/>
          </a:prstGeom>
          <a:ln w="5715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文字方塊 53">
            <a:extLst>
              <a:ext uri="{FF2B5EF4-FFF2-40B4-BE49-F238E27FC236}">
                <a16:creationId xmlns:a16="http://schemas.microsoft.com/office/drawing/2014/main" id="{4F07F22D-232D-B23C-9E7C-C4057DA2E9A1}"/>
              </a:ext>
            </a:extLst>
          </p:cNvPr>
          <p:cNvSpPr txBox="1"/>
          <p:nvPr/>
        </p:nvSpPr>
        <p:spPr>
          <a:xfrm>
            <a:off x="9192741" y="1365848"/>
            <a:ext cx="6152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玉</a:t>
            </a:r>
          </a:p>
        </p:txBody>
      </p:sp>
      <p:sp>
        <p:nvSpPr>
          <p:cNvPr id="55" name="文字方塊 54">
            <a:extLst>
              <a:ext uri="{FF2B5EF4-FFF2-40B4-BE49-F238E27FC236}">
                <a16:creationId xmlns:a16="http://schemas.microsoft.com/office/drawing/2014/main" id="{576FCBE9-D673-8A08-9D12-DA79384B7219}"/>
              </a:ext>
            </a:extLst>
          </p:cNvPr>
          <p:cNvSpPr txBox="1"/>
          <p:nvPr/>
        </p:nvSpPr>
        <p:spPr>
          <a:xfrm>
            <a:off x="8199200" y="2874121"/>
            <a:ext cx="5064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山</a:t>
            </a:r>
          </a:p>
        </p:txBody>
      </p:sp>
      <p:sp>
        <p:nvSpPr>
          <p:cNvPr id="57" name="文字方塊 56">
            <a:extLst>
              <a:ext uri="{FF2B5EF4-FFF2-40B4-BE49-F238E27FC236}">
                <a16:creationId xmlns:a16="http://schemas.microsoft.com/office/drawing/2014/main" id="{8D87163A-D54A-AEC1-BB81-A84FB2B35C16}"/>
              </a:ext>
            </a:extLst>
          </p:cNvPr>
          <p:cNvSpPr txBox="1"/>
          <p:nvPr/>
        </p:nvSpPr>
        <p:spPr>
          <a:xfrm>
            <a:off x="7632006" y="4836117"/>
            <a:ext cx="10646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[END]</a:t>
            </a:r>
            <a:endParaRPr kumimoji="0" lang="zh-TW" alt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58" name="文字方塊 57">
            <a:extLst>
              <a:ext uri="{FF2B5EF4-FFF2-40B4-BE49-F238E27FC236}">
                <a16:creationId xmlns:a16="http://schemas.microsoft.com/office/drawing/2014/main" id="{7032F714-9E37-B3A1-9EF4-6B28C42DECFB}"/>
              </a:ext>
            </a:extLst>
          </p:cNvPr>
          <p:cNvSpPr txBox="1"/>
          <p:nvPr/>
        </p:nvSpPr>
        <p:spPr>
          <a:xfrm>
            <a:off x="8295822" y="4939567"/>
            <a:ext cx="10646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是</a:t>
            </a:r>
          </a:p>
        </p:txBody>
      </p:sp>
    </p:spTree>
    <p:extLst>
      <p:ext uri="{BB962C8B-B14F-4D97-AF65-F5344CB8AC3E}">
        <p14:creationId xmlns:p14="http://schemas.microsoft.com/office/powerpoint/2010/main" val="40725344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3" grpId="0" animBg="1"/>
      <p:bldP spid="6" grpId="0"/>
      <p:bldP spid="9" grpId="0" animBg="1"/>
      <p:bldP spid="10" grpId="0"/>
      <p:bldP spid="17" grpId="0"/>
      <p:bldP spid="50" grpId="0"/>
      <p:bldP spid="54" grpId="0"/>
      <p:bldP spid="55" grpId="0"/>
      <p:bldP spid="57" grpId="0"/>
      <p:bldP spid="5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E7F4089-E680-4001-CD38-DD5636F48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這就是為什麼每次的答案都不同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61EFF571-BD86-0E5F-2B3A-A17928DD71BF}"/>
              </a:ext>
            </a:extLst>
          </p:cNvPr>
          <p:cNvSpPr/>
          <p:nvPr/>
        </p:nvSpPr>
        <p:spPr>
          <a:xfrm>
            <a:off x="4502106" y="2961102"/>
            <a:ext cx="1206302" cy="109768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語言</a:t>
            </a:r>
            <a:endParaRPr kumimoji="0" lang="en-US" altLang="zh-TW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模型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D46978F0-5E91-8585-7485-4E33751A33CF}"/>
              </a:ext>
            </a:extLst>
          </p:cNvPr>
          <p:cNvSpPr txBox="1"/>
          <p:nvPr/>
        </p:nvSpPr>
        <p:spPr>
          <a:xfrm>
            <a:off x="712202" y="3315131"/>
            <a:ext cx="37899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臺灣最高的山是哪座？</a:t>
            </a:r>
          </a:p>
        </p:txBody>
      </p:sp>
      <p:cxnSp>
        <p:nvCxnSpPr>
          <p:cNvPr id="6" name="直線單箭頭接點 5">
            <a:extLst>
              <a:ext uri="{FF2B5EF4-FFF2-40B4-BE49-F238E27FC236}">
                <a16:creationId xmlns:a16="http://schemas.microsoft.com/office/drawing/2014/main" id="{B4E35F55-F0E9-1C9C-16E1-4A2642A35860}"/>
              </a:ext>
            </a:extLst>
          </p:cNvPr>
          <p:cNvCxnSpPr>
            <a:cxnSpLocks/>
          </p:cNvCxnSpPr>
          <p:nvPr/>
        </p:nvCxnSpPr>
        <p:spPr>
          <a:xfrm>
            <a:off x="3954635" y="3560761"/>
            <a:ext cx="451340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單箭頭接點 6">
            <a:extLst>
              <a:ext uri="{FF2B5EF4-FFF2-40B4-BE49-F238E27FC236}">
                <a16:creationId xmlns:a16="http://schemas.microsoft.com/office/drawing/2014/main" id="{60BAB576-50F0-085F-5DBE-8350493D156B}"/>
              </a:ext>
            </a:extLst>
          </p:cNvPr>
          <p:cNvCxnSpPr>
            <a:cxnSpLocks/>
          </p:cNvCxnSpPr>
          <p:nvPr/>
        </p:nvCxnSpPr>
        <p:spPr>
          <a:xfrm>
            <a:off x="5784606" y="3560761"/>
            <a:ext cx="487680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群組 9">
            <a:extLst>
              <a:ext uri="{FF2B5EF4-FFF2-40B4-BE49-F238E27FC236}">
                <a16:creationId xmlns:a16="http://schemas.microsoft.com/office/drawing/2014/main" id="{52C3D09D-EF1B-CBF7-1ABD-6306B74E33A9}"/>
              </a:ext>
            </a:extLst>
          </p:cNvPr>
          <p:cNvGrpSpPr/>
          <p:nvPr/>
        </p:nvGrpSpPr>
        <p:grpSpPr>
          <a:xfrm>
            <a:off x="6468087" y="3100607"/>
            <a:ext cx="1828800" cy="818674"/>
            <a:chOff x="12462249" y="1734743"/>
            <a:chExt cx="1828800" cy="818674"/>
          </a:xfrm>
        </p:grpSpPr>
        <p:grpSp>
          <p:nvGrpSpPr>
            <p:cNvPr id="11" name="群組 10">
              <a:extLst>
                <a:ext uri="{FF2B5EF4-FFF2-40B4-BE49-F238E27FC236}">
                  <a16:creationId xmlns:a16="http://schemas.microsoft.com/office/drawing/2014/main" id="{5EFD5BCC-9F65-2EDC-3CEB-8D45C6B9CC95}"/>
                </a:ext>
              </a:extLst>
            </p:cNvPr>
            <p:cNvGrpSpPr/>
            <p:nvPr/>
          </p:nvGrpSpPr>
          <p:grpSpPr>
            <a:xfrm>
              <a:off x="12594666" y="1734743"/>
              <a:ext cx="1489913" cy="818674"/>
              <a:chOff x="6264327" y="1967634"/>
              <a:chExt cx="1489913" cy="818674"/>
            </a:xfrm>
          </p:grpSpPr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0230741A-078B-2EC6-6EC7-30177A5DC8A4}"/>
                  </a:ext>
                </a:extLst>
              </p:cNvPr>
              <p:cNvSpPr/>
              <p:nvPr/>
            </p:nvSpPr>
            <p:spPr>
              <a:xfrm>
                <a:off x="6264327" y="2641860"/>
                <a:ext cx="180000" cy="144448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F3CB900B-1D0D-2B4B-84C7-88D07872EF98}"/>
                  </a:ext>
                </a:extLst>
              </p:cNvPr>
              <p:cNvSpPr/>
              <p:nvPr/>
            </p:nvSpPr>
            <p:spPr>
              <a:xfrm>
                <a:off x="6591805" y="2393617"/>
                <a:ext cx="180000" cy="392691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619C44DA-4BF8-E4D6-52B2-3041FC7ED2FA}"/>
                  </a:ext>
                </a:extLst>
              </p:cNvPr>
              <p:cNvSpPr/>
              <p:nvPr/>
            </p:nvSpPr>
            <p:spPr>
              <a:xfrm>
                <a:off x="6919283" y="2150599"/>
                <a:ext cx="180000" cy="635709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A2E1DD19-A10C-7F9D-74CE-4FB2D7FBF0EE}"/>
                  </a:ext>
                </a:extLst>
              </p:cNvPr>
              <p:cNvSpPr/>
              <p:nvPr/>
            </p:nvSpPr>
            <p:spPr>
              <a:xfrm>
                <a:off x="7246761" y="2418954"/>
                <a:ext cx="180000" cy="367354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0C9F2E4C-A391-52D8-9BD5-D5182F43965D}"/>
                  </a:ext>
                </a:extLst>
              </p:cNvPr>
              <p:cNvSpPr/>
              <p:nvPr/>
            </p:nvSpPr>
            <p:spPr>
              <a:xfrm>
                <a:off x="7574240" y="1967634"/>
                <a:ext cx="180000" cy="818674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</p:grpSp>
        <p:cxnSp>
          <p:nvCxnSpPr>
            <p:cNvPr id="12" name="直線接點 11">
              <a:extLst>
                <a:ext uri="{FF2B5EF4-FFF2-40B4-BE49-F238E27FC236}">
                  <a16:creationId xmlns:a16="http://schemas.microsoft.com/office/drawing/2014/main" id="{A66EBD06-1F18-5757-5E74-B9B7AE8707B0}"/>
                </a:ext>
              </a:extLst>
            </p:cNvPr>
            <p:cNvCxnSpPr/>
            <p:nvPr/>
          </p:nvCxnSpPr>
          <p:spPr>
            <a:xfrm>
              <a:off x="12462249" y="2553417"/>
              <a:ext cx="18288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9D2597E4-8ADB-36CC-82A4-DE5C0D60468F}"/>
              </a:ext>
            </a:extLst>
          </p:cNvPr>
          <p:cNvSpPr txBox="1"/>
          <p:nvPr/>
        </p:nvSpPr>
        <p:spPr>
          <a:xfrm>
            <a:off x="7804130" y="2674440"/>
            <a:ext cx="615287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玉</a:t>
            </a: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C10D206B-D925-3709-D61B-B0FD14816374}"/>
              </a:ext>
            </a:extLst>
          </p:cNvPr>
          <p:cNvSpPr txBox="1"/>
          <p:nvPr/>
        </p:nvSpPr>
        <p:spPr>
          <a:xfrm>
            <a:off x="7147482" y="2940282"/>
            <a:ext cx="615287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是</a:t>
            </a: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1028A4F9-1E03-94AB-07CC-6786527FA902}"/>
              </a:ext>
            </a:extLst>
          </p:cNvPr>
          <p:cNvSpPr txBox="1"/>
          <p:nvPr/>
        </p:nvSpPr>
        <p:spPr>
          <a:xfrm>
            <a:off x="6798477" y="3192021"/>
            <a:ext cx="615287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答</a:t>
            </a:r>
          </a:p>
        </p:txBody>
      </p:sp>
      <p:cxnSp>
        <p:nvCxnSpPr>
          <p:cNvPr id="21" name="直線單箭頭接點 20">
            <a:extLst>
              <a:ext uri="{FF2B5EF4-FFF2-40B4-BE49-F238E27FC236}">
                <a16:creationId xmlns:a16="http://schemas.microsoft.com/office/drawing/2014/main" id="{542791FA-A88E-39A7-508E-B2ABF4612AEA}"/>
              </a:ext>
            </a:extLst>
          </p:cNvPr>
          <p:cNvCxnSpPr>
            <a:cxnSpLocks/>
          </p:cNvCxnSpPr>
          <p:nvPr/>
        </p:nvCxnSpPr>
        <p:spPr>
          <a:xfrm flipV="1">
            <a:off x="8296887" y="1790455"/>
            <a:ext cx="769399" cy="1503770"/>
          </a:xfrm>
          <a:prstGeom prst="straightConnector1">
            <a:avLst/>
          </a:prstGeom>
          <a:ln w="5715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單箭頭接點 22">
            <a:extLst>
              <a:ext uri="{FF2B5EF4-FFF2-40B4-BE49-F238E27FC236}">
                <a16:creationId xmlns:a16="http://schemas.microsoft.com/office/drawing/2014/main" id="{23425D8B-C066-34F5-DAFF-93B2C15BF9B2}"/>
              </a:ext>
            </a:extLst>
          </p:cNvPr>
          <p:cNvCxnSpPr>
            <a:cxnSpLocks/>
          </p:cNvCxnSpPr>
          <p:nvPr/>
        </p:nvCxnSpPr>
        <p:spPr>
          <a:xfrm>
            <a:off x="8296887" y="3691437"/>
            <a:ext cx="769399" cy="1503770"/>
          </a:xfrm>
          <a:prstGeom prst="straightConnector1">
            <a:avLst/>
          </a:prstGeom>
          <a:ln w="5715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單箭頭接點 23">
            <a:extLst>
              <a:ext uri="{FF2B5EF4-FFF2-40B4-BE49-F238E27FC236}">
                <a16:creationId xmlns:a16="http://schemas.microsoft.com/office/drawing/2014/main" id="{3B639D3F-9FBB-1EB7-9846-AD02A95EE894}"/>
              </a:ext>
            </a:extLst>
          </p:cNvPr>
          <p:cNvCxnSpPr>
            <a:cxnSpLocks/>
          </p:cNvCxnSpPr>
          <p:nvPr/>
        </p:nvCxnSpPr>
        <p:spPr>
          <a:xfrm>
            <a:off x="8296887" y="3472996"/>
            <a:ext cx="769399" cy="0"/>
          </a:xfrm>
          <a:prstGeom prst="straightConnector1">
            <a:avLst/>
          </a:prstGeom>
          <a:ln w="5715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C3727A90-F3F1-0F2E-73DF-269B7E90F0C3}"/>
              </a:ext>
            </a:extLst>
          </p:cNvPr>
          <p:cNvSpPr txBox="1"/>
          <p:nvPr/>
        </p:nvSpPr>
        <p:spPr>
          <a:xfrm>
            <a:off x="9148836" y="1559622"/>
            <a:ext cx="1447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玉</a:t>
            </a:r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7F542F8A-CDD2-F2EC-F744-466094634FD5}"/>
              </a:ext>
            </a:extLst>
          </p:cNvPr>
          <p:cNvSpPr txBox="1"/>
          <p:nvPr/>
        </p:nvSpPr>
        <p:spPr>
          <a:xfrm>
            <a:off x="9163743" y="3192021"/>
            <a:ext cx="7693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是</a:t>
            </a:r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118F4652-2CEF-34F3-5A0B-1ED69CC386DE}"/>
              </a:ext>
            </a:extLst>
          </p:cNvPr>
          <p:cNvSpPr txBox="1"/>
          <p:nvPr/>
        </p:nvSpPr>
        <p:spPr>
          <a:xfrm>
            <a:off x="9196485" y="4964374"/>
            <a:ext cx="7693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答</a:t>
            </a: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8D78539F-C25F-D915-8ABD-8F0A0345106E}"/>
              </a:ext>
            </a:extLst>
          </p:cNvPr>
          <p:cNvSpPr txBox="1"/>
          <p:nvPr/>
        </p:nvSpPr>
        <p:spPr>
          <a:xfrm>
            <a:off x="712202" y="5426039"/>
            <a:ext cx="813124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但是你不用擔心模型可能會莫名其妙地回答「三明治」，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0">
              <a:defRPr/>
            </a:pPr>
            <a:r>
              <a:rPr lang="zh-TW" altLang="en-US" sz="240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因為「臺灣最高的山是哪座？」後面接「三」的機率非常低</a:t>
            </a:r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186D8812-2FE0-F25B-C627-49A71B52C3D1}"/>
              </a:ext>
            </a:extLst>
          </p:cNvPr>
          <p:cNvSpPr txBox="1"/>
          <p:nvPr/>
        </p:nvSpPr>
        <p:spPr>
          <a:xfrm>
            <a:off x="9777190" y="1559621"/>
            <a:ext cx="17830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玉山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TW" altLang="en-US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E3B9E80D-5975-6A3A-A017-78CEE29ABEB9}"/>
              </a:ext>
            </a:extLst>
          </p:cNvPr>
          <p:cNvSpPr txBox="1"/>
          <p:nvPr/>
        </p:nvSpPr>
        <p:spPr>
          <a:xfrm>
            <a:off x="9777190" y="3192020"/>
            <a:ext cx="17830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是玉山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TW" altLang="en-US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E99505AC-6715-9E02-E6E4-B403BEFB37C7}"/>
              </a:ext>
            </a:extLst>
          </p:cNvPr>
          <p:cNvSpPr txBox="1"/>
          <p:nvPr/>
        </p:nvSpPr>
        <p:spPr>
          <a:xfrm>
            <a:off x="9795333" y="4964373"/>
            <a:ext cx="20954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答案是玉山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TW" altLang="en-US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0057727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/>
      <p:bldP spid="27" grpId="0"/>
      <p:bldP spid="28" grpId="0"/>
      <p:bldP spid="32" grpId="0"/>
      <p:bldP spid="33" grpId="0"/>
      <p:bldP spid="3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8335416-2418-A190-3DD9-6C79BAD1B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文字接龍不是一件容易的事情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22D6D11F-E93B-A31B-BC4C-7E3B63CFC46A}"/>
              </a:ext>
            </a:extLst>
          </p:cNvPr>
          <p:cNvSpPr txBox="1"/>
          <p:nvPr/>
        </p:nvSpPr>
        <p:spPr>
          <a:xfrm>
            <a:off x="647700" y="1753783"/>
            <a:ext cx="15239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語言知識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2669D74C-2048-EC1B-1444-D97C4B308BFB}"/>
              </a:ext>
            </a:extLst>
          </p:cNvPr>
          <p:cNvSpPr txBox="1"/>
          <p:nvPr/>
        </p:nvSpPr>
        <p:spPr>
          <a:xfrm>
            <a:off x="2825460" y="2256289"/>
            <a:ext cx="23023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240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黃色的</a:t>
            </a:r>
            <a:r>
              <a:rPr lang="en-US" altLang="zh-TW" sz="2400" noProof="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___</a:t>
            </a:r>
            <a:endParaRPr kumimoji="0" lang="nn-NO" altLang="zh-TW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845E3762-13BE-DE4D-AA13-1C87186F7E14}"/>
              </a:ext>
            </a:extLst>
          </p:cNvPr>
          <p:cNvSpPr txBox="1"/>
          <p:nvPr/>
        </p:nvSpPr>
        <p:spPr>
          <a:xfrm>
            <a:off x="3256560" y="4380506"/>
            <a:ext cx="337031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zh-CN" altLang="en-US" sz="240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水的</a:t>
            </a:r>
            <a:r>
              <a:rPr lang="zh-TW" altLang="en-US" sz="240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沸點</a:t>
            </a:r>
            <a:r>
              <a:rPr lang="zh-CN" altLang="en-US" sz="240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是</a:t>
            </a:r>
            <a:r>
              <a:rPr lang="zh-TW" altLang="en-US" sz="240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攝</a:t>
            </a:r>
            <a:r>
              <a:rPr lang="zh-CN" altLang="en-US" sz="240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氏</a:t>
            </a:r>
            <a:r>
              <a:rPr lang="en-US" altLang="zh-TW" sz="240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__</a:t>
            </a:r>
            <a:endParaRPr kumimoji="0" lang="nn-NO" altLang="zh-TW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80BD70EC-008C-1046-8AE4-8563DDFEE694}"/>
              </a:ext>
            </a:extLst>
          </p:cNvPr>
          <p:cNvSpPr txBox="1"/>
          <p:nvPr/>
        </p:nvSpPr>
        <p:spPr>
          <a:xfrm>
            <a:off x="7706609" y="1980213"/>
            <a:ext cx="18431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名詞</a:t>
            </a:r>
            <a:endParaRPr kumimoji="0" lang="nn-NO" altLang="zh-TW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17" name="矩形: 圓角 16">
            <a:extLst>
              <a:ext uri="{FF2B5EF4-FFF2-40B4-BE49-F238E27FC236}">
                <a16:creationId xmlns:a16="http://schemas.microsoft.com/office/drawing/2014/main" id="{531731B6-AAF6-A7AD-0C4D-A71B14E03444}"/>
              </a:ext>
            </a:extLst>
          </p:cNvPr>
          <p:cNvSpPr/>
          <p:nvPr/>
        </p:nvSpPr>
        <p:spPr>
          <a:xfrm>
            <a:off x="5334033" y="2046449"/>
            <a:ext cx="1523934" cy="888921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語言</a:t>
            </a:r>
            <a:endParaRPr kumimoji="0" lang="en-US" altLang="zh-TW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模型</a:t>
            </a:r>
          </a:p>
        </p:txBody>
      </p: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82B665A3-8FA9-9294-8D0B-110D188AE4D1}"/>
              </a:ext>
            </a:extLst>
          </p:cNvPr>
          <p:cNvCxnSpPr>
            <a:cxnSpLocks/>
          </p:cNvCxnSpPr>
          <p:nvPr/>
        </p:nvCxnSpPr>
        <p:spPr>
          <a:xfrm>
            <a:off x="4572066" y="2490910"/>
            <a:ext cx="609174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單箭頭接點 20">
            <a:extLst>
              <a:ext uri="{FF2B5EF4-FFF2-40B4-BE49-F238E27FC236}">
                <a16:creationId xmlns:a16="http://schemas.microsoft.com/office/drawing/2014/main" id="{0128D407-018E-49AB-7E7A-AC53E522C500}"/>
              </a:ext>
            </a:extLst>
          </p:cNvPr>
          <p:cNvCxnSpPr>
            <a:cxnSpLocks/>
          </p:cNvCxnSpPr>
          <p:nvPr/>
        </p:nvCxnSpPr>
        <p:spPr>
          <a:xfrm>
            <a:off x="7005847" y="2490910"/>
            <a:ext cx="609174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85549F8C-0BEA-F1E7-D1F5-CF55EE510820}"/>
              </a:ext>
            </a:extLst>
          </p:cNvPr>
          <p:cNvSpPr txBox="1"/>
          <p:nvPr/>
        </p:nvSpPr>
        <p:spPr>
          <a:xfrm>
            <a:off x="7742476" y="2526182"/>
            <a:ext cx="181353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240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動詞</a:t>
            </a:r>
            <a:endParaRPr kumimoji="0" lang="nn-NO" altLang="zh-TW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549783F4-555C-40E4-EA91-F12BA64ECE2F}"/>
              </a:ext>
            </a:extLst>
          </p:cNvPr>
          <p:cNvSpPr txBox="1"/>
          <p:nvPr/>
        </p:nvSpPr>
        <p:spPr>
          <a:xfrm>
            <a:off x="8606741" y="1968759"/>
            <a:ext cx="15239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機率高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TW" altLang="en-US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4402F0B3-7FA4-B013-13A6-0E69506D9DC2}"/>
              </a:ext>
            </a:extLst>
          </p:cNvPr>
          <p:cNvSpPr txBox="1"/>
          <p:nvPr/>
        </p:nvSpPr>
        <p:spPr>
          <a:xfrm>
            <a:off x="8628186" y="2537636"/>
            <a:ext cx="15239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機率低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TW" altLang="en-US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F5A4ED9C-C016-874A-D569-91C765800137}"/>
              </a:ext>
            </a:extLst>
          </p:cNvPr>
          <p:cNvSpPr txBox="1"/>
          <p:nvPr/>
        </p:nvSpPr>
        <p:spPr>
          <a:xfrm>
            <a:off x="715083" y="3391463"/>
            <a:ext cx="18135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世界知識</a:t>
            </a:r>
          </a:p>
        </p:txBody>
      </p:sp>
      <p:sp>
        <p:nvSpPr>
          <p:cNvPr id="26" name="矩形: 圓角 25">
            <a:extLst>
              <a:ext uri="{FF2B5EF4-FFF2-40B4-BE49-F238E27FC236}">
                <a16:creationId xmlns:a16="http://schemas.microsoft.com/office/drawing/2014/main" id="{3E93FB68-7414-27E8-FC7B-588D5E7FA8AC}"/>
              </a:ext>
            </a:extLst>
          </p:cNvPr>
          <p:cNvSpPr/>
          <p:nvPr/>
        </p:nvSpPr>
        <p:spPr>
          <a:xfrm>
            <a:off x="6780586" y="4110792"/>
            <a:ext cx="1523934" cy="888921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語言</a:t>
            </a:r>
            <a:endParaRPr kumimoji="0" lang="en-US" altLang="zh-TW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模型</a:t>
            </a:r>
          </a:p>
        </p:txBody>
      </p:sp>
      <p:cxnSp>
        <p:nvCxnSpPr>
          <p:cNvPr id="27" name="直線單箭頭接點 26">
            <a:extLst>
              <a:ext uri="{FF2B5EF4-FFF2-40B4-BE49-F238E27FC236}">
                <a16:creationId xmlns:a16="http://schemas.microsoft.com/office/drawing/2014/main" id="{691B951E-1FDE-52F2-DE4E-B6FB9070FEFA}"/>
              </a:ext>
            </a:extLst>
          </p:cNvPr>
          <p:cNvCxnSpPr>
            <a:cxnSpLocks/>
          </p:cNvCxnSpPr>
          <p:nvPr/>
        </p:nvCxnSpPr>
        <p:spPr>
          <a:xfrm>
            <a:off x="6018619" y="4555253"/>
            <a:ext cx="609174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單箭頭接點 27">
            <a:extLst>
              <a:ext uri="{FF2B5EF4-FFF2-40B4-BE49-F238E27FC236}">
                <a16:creationId xmlns:a16="http://schemas.microsoft.com/office/drawing/2014/main" id="{C4CD9AB0-DC79-EA22-4AAE-3BB43E56F692}"/>
              </a:ext>
            </a:extLst>
          </p:cNvPr>
          <p:cNvCxnSpPr>
            <a:cxnSpLocks/>
          </p:cNvCxnSpPr>
          <p:nvPr/>
        </p:nvCxnSpPr>
        <p:spPr>
          <a:xfrm>
            <a:off x="8452400" y="4555253"/>
            <a:ext cx="609174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C74A68E3-3E93-8DD9-392B-73F879199821}"/>
              </a:ext>
            </a:extLst>
          </p:cNvPr>
          <p:cNvSpPr txBox="1"/>
          <p:nvPr/>
        </p:nvSpPr>
        <p:spPr>
          <a:xfrm>
            <a:off x="9218635" y="3980625"/>
            <a:ext cx="18431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n-NO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100</a:t>
            </a:r>
          </a:p>
        </p:txBody>
      </p: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57249D15-0B91-B338-B862-1F00C89ABFD4}"/>
              </a:ext>
            </a:extLst>
          </p:cNvPr>
          <p:cNvSpPr txBox="1"/>
          <p:nvPr/>
        </p:nvSpPr>
        <p:spPr>
          <a:xfrm>
            <a:off x="9254502" y="4526594"/>
            <a:ext cx="181353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2400" noProof="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0</a:t>
            </a:r>
            <a:endParaRPr kumimoji="0" lang="nn-NO" altLang="zh-TW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2A86CF3C-D5F3-D864-6043-768F515B7979}"/>
              </a:ext>
            </a:extLst>
          </p:cNvPr>
          <p:cNvSpPr txBox="1"/>
          <p:nvPr/>
        </p:nvSpPr>
        <p:spPr>
          <a:xfrm>
            <a:off x="10118767" y="3969171"/>
            <a:ext cx="15239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機率高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TW" altLang="en-US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8F48C051-709C-295E-2110-70080EA39E3B}"/>
              </a:ext>
            </a:extLst>
          </p:cNvPr>
          <p:cNvSpPr txBox="1"/>
          <p:nvPr/>
        </p:nvSpPr>
        <p:spPr>
          <a:xfrm>
            <a:off x="10140212" y="4518998"/>
            <a:ext cx="15239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機率低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TW" altLang="en-US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A80F266A-EB80-1E20-A639-D5AD372A5D1F}"/>
              </a:ext>
            </a:extLst>
          </p:cNvPr>
          <p:cNvSpPr txBox="1"/>
          <p:nvPr/>
        </p:nvSpPr>
        <p:spPr>
          <a:xfrm>
            <a:off x="853702" y="5507122"/>
            <a:ext cx="573935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zh-TW" altLang="en-US" sz="240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在 </a:t>
            </a:r>
            <a:r>
              <a:rPr lang="en-US" altLang="zh-TW" sz="240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0.5 </a:t>
            </a:r>
            <a:r>
              <a:rPr lang="zh-TW" altLang="en-US" sz="240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大氣壓下，</a:t>
            </a:r>
            <a:r>
              <a:rPr lang="zh-CN" altLang="en-US" sz="240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水的</a:t>
            </a:r>
            <a:r>
              <a:rPr lang="zh-TW" altLang="en-US" sz="240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沸點</a:t>
            </a:r>
            <a:r>
              <a:rPr lang="zh-CN" altLang="en-US" sz="240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是</a:t>
            </a:r>
            <a:r>
              <a:rPr lang="zh-TW" altLang="en-US" sz="240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攝</a:t>
            </a:r>
            <a:r>
              <a:rPr lang="zh-CN" altLang="en-US" sz="240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氏</a:t>
            </a:r>
            <a:r>
              <a:rPr lang="en-US" altLang="zh-TW" sz="240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__</a:t>
            </a:r>
            <a:endParaRPr kumimoji="0" lang="nn-NO" altLang="zh-TW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38" name="矩形: 圓角 37">
            <a:extLst>
              <a:ext uri="{FF2B5EF4-FFF2-40B4-BE49-F238E27FC236}">
                <a16:creationId xmlns:a16="http://schemas.microsoft.com/office/drawing/2014/main" id="{9DF74630-113F-5D44-6C3C-1419F3DF1D1D}"/>
              </a:ext>
            </a:extLst>
          </p:cNvPr>
          <p:cNvSpPr/>
          <p:nvPr/>
        </p:nvSpPr>
        <p:spPr>
          <a:xfrm>
            <a:off x="6811292" y="5329749"/>
            <a:ext cx="1523934" cy="888921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語言</a:t>
            </a:r>
            <a:endParaRPr kumimoji="0" lang="en-US" altLang="zh-TW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模型</a:t>
            </a:r>
          </a:p>
        </p:txBody>
      </p:sp>
      <p:cxnSp>
        <p:nvCxnSpPr>
          <p:cNvPr id="39" name="直線單箭頭接點 38">
            <a:extLst>
              <a:ext uri="{FF2B5EF4-FFF2-40B4-BE49-F238E27FC236}">
                <a16:creationId xmlns:a16="http://schemas.microsoft.com/office/drawing/2014/main" id="{55B2F596-6D26-2ED8-8745-64D9C242E62D}"/>
              </a:ext>
            </a:extLst>
          </p:cNvPr>
          <p:cNvCxnSpPr>
            <a:cxnSpLocks/>
          </p:cNvCxnSpPr>
          <p:nvPr/>
        </p:nvCxnSpPr>
        <p:spPr>
          <a:xfrm>
            <a:off x="6049325" y="5774210"/>
            <a:ext cx="609174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單箭頭接點 39">
            <a:extLst>
              <a:ext uri="{FF2B5EF4-FFF2-40B4-BE49-F238E27FC236}">
                <a16:creationId xmlns:a16="http://schemas.microsoft.com/office/drawing/2014/main" id="{44F75276-88C9-287C-9E7D-4ABF516E06FE}"/>
              </a:ext>
            </a:extLst>
          </p:cNvPr>
          <p:cNvCxnSpPr>
            <a:cxnSpLocks/>
          </p:cNvCxnSpPr>
          <p:nvPr/>
        </p:nvCxnSpPr>
        <p:spPr>
          <a:xfrm>
            <a:off x="8483106" y="5774210"/>
            <a:ext cx="609174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074D8727-AFA6-FC2B-F914-A36B6FC28689}"/>
              </a:ext>
            </a:extLst>
          </p:cNvPr>
          <p:cNvSpPr txBox="1"/>
          <p:nvPr/>
        </p:nvSpPr>
        <p:spPr>
          <a:xfrm>
            <a:off x="9283576" y="5412160"/>
            <a:ext cx="239336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n-NO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100</a:t>
            </a:r>
            <a:r>
              <a: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 就不應該是機率最高的答案</a:t>
            </a:r>
            <a:endParaRPr kumimoji="0" lang="nn-NO" altLang="zh-TW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45" name="文字方塊 44">
            <a:extLst>
              <a:ext uri="{FF2B5EF4-FFF2-40B4-BE49-F238E27FC236}">
                <a16:creationId xmlns:a16="http://schemas.microsoft.com/office/drawing/2014/main" id="{74EF6FEC-8C61-8510-B62B-3327E17FDA6A}"/>
              </a:ext>
            </a:extLst>
          </p:cNvPr>
          <p:cNvSpPr txBox="1"/>
          <p:nvPr/>
        </p:nvSpPr>
        <p:spPr>
          <a:xfrm>
            <a:off x="704966" y="2256288"/>
            <a:ext cx="15239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較容易學</a:t>
            </a:r>
          </a:p>
        </p:txBody>
      </p:sp>
      <p:sp>
        <p:nvSpPr>
          <p:cNvPr id="46" name="文字方塊 45">
            <a:extLst>
              <a:ext uri="{FF2B5EF4-FFF2-40B4-BE49-F238E27FC236}">
                <a16:creationId xmlns:a16="http://schemas.microsoft.com/office/drawing/2014/main" id="{4C1ED5A1-4B50-4E1D-717D-9EFDF403F5E0}"/>
              </a:ext>
            </a:extLst>
          </p:cNvPr>
          <p:cNvSpPr txBox="1"/>
          <p:nvPr/>
        </p:nvSpPr>
        <p:spPr>
          <a:xfrm>
            <a:off x="715083" y="3869442"/>
            <a:ext cx="15239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無窮無盡</a:t>
            </a:r>
          </a:p>
        </p:txBody>
      </p:sp>
      <p:cxnSp>
        <p:nvCxnSpPr>
          <p:cNvPr id="48" name="直線接點 47">
            <a:extLst>
              <a:ext uri="{FF2B5EF4-FFF2-40B4-BE49-F238E27FC236}">
                <a16:creationId xmlns:a16="http://schemas.microsoft.com/office/drawing/2014/main" id="{69542C8F-C960-EDF2-70BE-4EB15392E27A}"/>
              </a:ext>
            </a:extLst>
          </p:cNvPr>
          <p:cNvCxnSpPr/>
          <p:nvPr/>
        </p:nvCxnSpPr>
        <p:spPr>
          <a:xfrm>
            <a:off x="996028" y="6009120"/>
            <a:ext cx="1971758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28647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7" grpId="0"/>
      <p:bldP spid="16" grpId="0"/>
      <p:bldP spid="17" grpId="0" animBg="1"/>
      <p:bldP spid="22" grpId="0"/>
      <p:bldP spid="23" grpId="0"/>
      <p:bldP spid="24" grpId="0"/>
      <p:bldP spid="25" grpId="0"/>
      <p:bldP spid="26" grpId="0" animBg="1"/>
      <p:bldP spid="33" grpId="0"/>
      <p:bldP spid="34" grpId="0"/>
      <p:bldP spid="35" grpId="0"/>
      <p:bldP spid="36" grpId="0"/>
      <p:bldP spid="37" grpId="0"/>
      <p:bldP spid="38" grpId="0" animBg="1"/>
      <p:bldP spid="41" grpId="0"/>
      <p:bldP spid="45" grpId="0"/>
      <p:bldP spid="4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EA35AA9-93A6-5F0A-1638-7DDDC3CAA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看一眼語言模型背後的運作過程</a:t>
            </a:r>
            <a:endParaRPr lang="zh-TW" altLang="en-US" dirty="0"/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EFBA660B-147A-11C7-7674-ADB8D437FEC9}"/>
              </a:ext>
            </a:extLst>
          </p:cNvPr>
          <p:cNvSpPr/>
          <p:nvPr/>
        </p:nvSpPr>
        <p:spPr>
          <a:xfrm>
            <a:off x="4402019" y="2541881"/>
            <a:ext cx="1693981" cy="109768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語言</a:t>
            </a:r>
            <a:endParaRPr kumimoji="0" lang="en-US" altLang="zh-TW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模型</a:t>
            </a:r>
          </a:p>
        </p:txBody>
      </p:sp>
      <p:cxnSp>
        <p:nvCxnSpPr>
          <p:cNvPr id="5" name="直線單箭頭接點 4">
            <a:extLst>
              <a:ext uri="{FF2B5EF4-FFF2-40B4-BE49-F238E27FC236}">
                <a16:creationId xmlns:a16="http://schemas.microsoft.com/office/drawing/2014/main" id="{2A4E32C5-F7D0-67E1-B24F-3FBCE5F0C076}"/>
              </a:ext>
            </a:extLst>
          </p:cNvPr>
          <p:cNvCxnSpPr>
            <a:cxnSpLocks/>
          </p:cNvCxnSpPr>
          <p:nvPr/>
        </p:nvCxnSpPr>
        <p:spPr>
          <a:xfrm>
            <a:off x="3449519" y="3078957"/>
            <a:ext cx="794240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線單箭頭接點 5">
            <a:extLst>
              <a:ext uri="{FF2B5EF4-FFF2-40B4-BE49-F238E27FC236}">
                <a16:creationId xmlns:a16="http://schemas.microsoft.com/office/drawing/2014/main" id="{E87AC944-3D35-A6BA-BFF6-263340158F35}"/>
              </a:ext>
            </a:extLst>
          </p:cNvPr>
          <p:cNvCxnSpPr>
            <a:cxnSpLocks/>
          </p:cNvCxnSpPr>
          <p:nvPr/>
        </p:nvCxnSpPr>
        <p:spPr>
          <a:xfrm>
            <a:off x="6172200" y="3078956"/>
            <a:ext cx="794240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F04E7712-03E5-2874-735A-4B49DF6E5A00}"/>
                  </a:ext>
                </a:extLst>
              </p:cNvPr>
              <p:cNvSpPr txBox="1"/>
              <p:nvPr/>
            </p:nvSpPr>
            <p:spPr>
              <a:xfrm>
                <a:off x="9022615" y="882513"/>
                <a:ext cx="202747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zh-TW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𝑓</m:t>
                      </m:r>
                      <m:d>
                        <m:dPr>
                          <m:ctrlPr>
                            <a:rPr kumimoji="0" lang="en-US" altLang="zh-TW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altLang="zh-TW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</m:d>
                      <m:r>
                        <a:rPr kumimoji="0" lang="en-US" altLang="zh-TW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 </m:t>
                      </m:r>
                      <m:r>
                        <a:rPr kumimoji="0" lang="en-US" altLang="zh-TW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𝑎𝑥</m:t>
                      </m:r>
                      <m:r>
                        <a:rPr kumimoji="0" lang="en-US" altLang="zh-TW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+</m:t>
                      </m:r>
                      <m:r>
                        <a:rPr kumimoji="0" lang="en-US" altLang="zh-TW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𝑏</m:t>
                      </m:r>
                    </m:oMath>
                  </m:oMathPara>
                </a14:m>
                <a:endParaRPr kumimoji="0" lang="zh-TW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</mc:Choice>
        <mc:Fallback xmlns="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F04E7712-03E5-2874-735A-4B49DF6E5A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22615" y="882513"/>
                <a:ext cx="2027478" cy="369332"/>
              </a:xfrm>
              <a:prstGeom prst="rect">
                <a:avLst/>
              </a:prstGeom>
              <a:blipFill>
                <a:blip r:embed="rId2"/>
                <a:stretch>
                  <a:fillRect l="-4805" r="-2703" b="-35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群組 9">
            <a:extLst>
              <a:ext uri="{FF2B5EF4-FFF2-40B4-BE49-F238E27FC236}">
                <a16:creationId xmlns:a16="http://schemas.microsoft.com/office/drawing/2014/main" id="{71A09EF0-B343-0058-DE74-C7D9040B8149}"/>
              </a:ext>
            </a:extLst>
          </p:cNvPr>
          <p:cNvGrpSpPr/>
          <p:nvPr/>
        </p:nvGrpSpPr>
        <p:grpSpPr>
          <a:xfrm>
            <a:off x="7112674" y="2681386"/>
            <a:ext cx="1828800" cy="818674"/>
            <a:chOff x="12462249" y="1734743"/>
            <a:chExt cx="1828800" cy="818674"/>
          </a:xfrm>
        </p:grpSpPr>
        <p:grpSp>
          <p:nvGrpSpPr>
            <p:cNvPr id="11" name="群組 10">
              <a:extLst>
                <a:ext uri="{FF2B5EF4-FFF2-40B4-BE49-F238E27FC236}">
                  <a16:creationId xmlns:a16="http://schemas.microsoft.com/office/drawing/2014/main" id="{CB7AD538-A7E4-9FBD-98FB-408341513D3B}"/>
                </a:ext>
              </a:extLst>
            </p:cNvPr>
            <p:cNvGrpSpPr/>
            <p:nvPr/>
          </p:nvGrpSpPr>
          <p:grpSpPr>
            <a:xfrm>
              <a:off x="12594666" y="1734743"/>
              <a:ext cx="1489913" cy="818674"/>
              <a:chOff x="6264327" y="1967634"/>
              <a:chExt cx="1489913" cy="818674"/>
            </a:xfrm>
          </p:grpSpPr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8144B833-05CB-F95C-EC67-60BAFBCD71B3}"/>
                  </a:ext>
                </a:extLst>
              </p:cNvPr>
              <p:cNvSpPr/>
              <p:nvPr/>
            </p:nvSpPr>
            <p:spPr>
              <a:xfrm>
                <a:off x="6264327" y="2641860"/>
                <a:ext cx="180000" cy="144448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1D218CD5-2F91-797A-4C27-70C063B3E50E}"/>
                  </a:ext>
                </a:extLst>
              </p:cNvPr>
              <p:cNvSpPr/>
              <p:nvPr/>
            </p:nvSpPr>
            <p:spPr>
              <a:xfrm>
                <a:off x="6591805" y="2393617"/>
                <a:ext cx="180000" cy="392691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C6906EF0-1FC8-ACCA-B210-956364A4AA06}"/>
                  </a:ext>
                </a:extLst>
              </p:cNvPr>
              <p:cNvSpPr/>
              <p:nvPr/>
            </p:nvSpPr>
            <p:spPr>
              <a:xfrm>
                <a:off x="6919283" y="2150599"/>
                <a:ext cx="180000" cy="635709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5FD3A5DC-FA06-B13E-770C-9D523BB5FB82}"/>
                  </a:ext>
                </a:extLst>
              </p:cNvPr>
              <p:cNvSpPr/>
              <p:nvPr/>
            </p:nvSpPr>
            <p:spPr>
              <a:xfrm>
                <a:off x="7246761" y="2418954"/>
                <a:ext cx="180000" cy="367354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FA6439AE-A0EA-39D8-4255-D57FC20171B7}"/>
                  </a:ext>
                </a:extLst>
              </p:cNvPr>
              <p:cNvSpPr/>
              <p:nvPr/>
            </p:nvSpPr>
            <p:spPr>
              <a:xfrm>
                <a:off x="7574240" y="1967634"/>
                <a:ext cx="180000" cy="818674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</p:grpSp>
        <p:cxnSp>
          <p:nvCxnSpPr>
            <p:cNvPr id="12" name="直線接點 11">
              <a:extLst>
                <a:ext uri="{FF2B5EF4-FFF2-40B4-BE49-F238E27FC236}">
                  <a16:creationId xmlns:a16="http://schemas.microsoft.com/office/drawing/2014/main" id="{CC255750-0BA4-DCA9-6210-2085DF19CF7A}"/>
                </a:ext>
              </a:extLst>
            </p:cNvPr>
            <p:cNvCxnSpPr/>
            <p:nvPr/>
          </p:nvCxnSpPr>
          <p:spPr>
            <a:xfrm>
              <a:off x="12462249" y="2553417"/>
              <a:ext cx="18288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C5F68A6E-F91C-FB76-B685-ABC180FC7D3A}"/>
              </a:ext>
            </a:extLst>
          </p:cNvPr>
          <p:cNvSpPr txBox="1"/>
          <p:nvPr/>
        </p:nvSpPr>
        <p:spPr>
          <a:xfrm>
            <a:off x="939716" y="2842049"/>
            <a:ext cx="26615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未完成的句子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DBDCDB38-1094-DEFC-7473-CCD77EE63ADC}"/>
                  </a:ext>
                </a:extLst>
              </p:cNvPr>
              <p:cNvSpPr txBox="1"/>
              <p:nvPr/>
            </p:nvSpPr>
            <p:spPr>
              <a:xfrm>
                <a:off x="5153179" y="1892783"/>
                <a:ext cx="289438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zh-TW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𝑓</m:t>
                      </m:r>
                    </m:oMath>
                  </m:oMathPara>
                </a14:m>
                <a:endParaRPr kumimoji="0" lang="zh-TW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</mc:Choice>
        <mc:Fallback xmlns="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DBDCDB38-1094-DEFC-7473-CCD77EE63A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3179" y="1892783"/>
                <a:ext cx="289438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9865F350-5F79-7623-DF4E-FD597DAD1045}"/>
                  </a:ext>
                </a:extLst>
              </p:cNvPr>
              <p:cNvSpPr txBox="1"/>
              <p:nvPr/>
            </p:nvSpPr>
            <p:spPr>
              <a:xfrm>
                <a:off x="9074515" y="1396293"/>
                <a:ext cx="280339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a:rPr kumimoji="0" lang="en-US" altLang="zh-TW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𝑎</m:t>
                    </m:r>
                    <m:r>
                      <a:rPr kumimoji="0" lang="en-US" altLang="zh-TW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,</m:t>
                    </m:r>
                    <m:r>
                      <a:rPr kumimoji="0" lang="en-US" altLang="zh-TW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𝑏</m:t>
                    </m:r>
                  </m:oMath>
                </a14:m>
                <a:r>
                  <a:rPr kumimoji="0" lang="en-US" altLang="zh-TW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新細明體" panose="02020500000000000000" pitchFamily="18" charset="-120"/>
                    <a:cs typeface="+mn-cs"/>
                  </a:rPr>
                  <a:t>: </a:t>
                </a:r>
                <a:r>
                  <a:rPr kumimoji="0" lang="zh-TW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參數</a:t>
                </a:r>
                <a:r>
                  <a:rPr kumimoji="0" lang="zh-TW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新細明體" panose="02020500000000000000" pitchFamily="18" charset="-120"/>
                    <a:cs typeface="+mn-cs"/>
                  </a:rPr>
                  <a:t> </a:t>
                </a:r>
                <a:r>
                  <a:rPr kumimoji="0" lang="en-US" altLang="zh-TW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新細明體" panose="02020500000000000000" pitchFamily="18" charset="-120"/>
                    <a:cs typeface="+mn-cs"/>
                  </a:rPr>
                  <a:t>(parameter)</a:t>
                </a:r>
                <a:endParaRPr kumimoji="0" lang="zh-TW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</mc:Choice>
        <mc:Fallback xmlns="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9865F350-5F79-7623-DF4E-FD597DAD10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74515" y="1396293"/>
                <a:ext cx="2803396" cy="369332"/>
              </a:xfrm>
              <a:prstGeom prst="rect">
                <a:avLst/>
              </a:prstGeom>
              <a:blipFill>
                <a:blip r:embed="rId4"/>
                <a:stretch>
                  <a:fillRect l="-2832" t="-26230" r="-5664" b="-4918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98DBB3B4-A19D-F8DB-95CF-C7CBF37C504B}"/>
                  </a:ext>
                </a:extLst>
              </p:cNvPr>
              <p:cNvSpPr txBox="1"/>
              <p:nvPr/>
            </p:nvSpPr>
            <p:spPr>
              <a:xfrm>
                <a:off x="2128787" y="2326437"/>
                <a:ext cx="28341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zh-TW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𝑥</m:t>
                      </m:r>
                    </m:oMath>
                  </m:oMathPara>
                </a14:m>
                <a:endParaRPr kumimoji="0" lang="zh-TW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</mc:Choice>
        <mc:Fallback xmlns="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98DBB3B4-A19D-F8DB-95CF-C7CBF37C50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8787" y="2326437"/>
                <a:ext cx="283411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字方塊 18">
                <a:extLst>
                  <a:ext uri="{FF2B5EF4-FFF2-40B4-BE49-F238E27FC236}">
                    <a16:creationId xmlns:a16="http://schemas.microsoft.com/office/drawing/2014/main" id="{0E17BEB8-5C90-971F-1A86-C3E998CF7297}"/>
                  </a:ext>
                </a:extLst>
              </p:cNvPr>
              <p:cNvSpPr txBox="1"/>
              <p:nvPr/>
            </p:nvSpPr>
            <p:spPr>
              <a:xfrm>
                <a:off x="7685484" y="2115609"/>
                <a:ext cx="789126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TW" sz="28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kumimoji="0" lang="zh-TW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</mc:Choice>
        <mc:Fallback xmlns="">
          <p:sp>
            <p:nvSpPr>
              <p:cNvPr id="19" name="文字方塊 18">
                <a:extLst>
                  <a:ext uri="{FF2B5EF4-FFF2-40B4-BE49-F238E27FC236}">
                    <a16:creationId xmlns:a16="http://schemas.microsoft.com/office/drawing/2014/main" id="{0E17BEB8-5C90-971F-1A86-C3E998CF72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5484" y="2115609"/>
                <a:ext cx="789126" cy="430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文字方塊 19">
            <a:extLst>
              <a:ext uri="{FF2B5EF4-FFF2-40B4-BE49-F238E27FC236}">
                <a16:creationId xmlns:a16="http://schemas.microsoft.com/office/drawing/2014/main" id="{00D291BC-39FE-7CAA-6797-01C842397B45}"/>
              </a:ext>
            </a:extLst>
          </p:cNvPr>
          <p:cNvSpPr txBox="1"/>
          <p:nvPr/>
        </p:nvSpPr>
        <p:spPr>
          <a:xfrm>
            <a:off x="1786356" y="5349115"/>
            <a:ext cx="69253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400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百億參數遍地走，十億參數誰都有</a:t>
            </a: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534CDF3F-9217-EA7B-ED95-76FBF4C58914}"/>
              </a:ext>
            </a:extLst>
          </p:cNvPr>
          <p:cNvSpPr txBox="1"/>
          <p:nvPr/>
        </p:nvSpPr>
        <p:spPr>
          <a:xfrm>
            <a:off x="3822892" y="4750716"/>
            <a:ext cx="28522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有非常大量的參數</a:t>
            </a:r>
          </a:p>
        </p:txBody>
      </p:sp>
      <p:cxnSp>
        <p:nvCxnSpPr>
          <p:cNvPr id="27" name="直線單箭頭接點 26">
            <a:extLst>
              <a:ext uri="{FF2B5EF4-FFF2-40B4-BE49-F238E27FC236}">
                <a16:creationId xmlns:a16="http://schemas.microsoft.com/office/drawing/2014/main" id="{B3AAEE0B-B345-F3AD-01C5-1B13B34570F0}"/>
              </a:ext>
            </a:extLst>
          </p:cNvPr>
          <p:cNvCxnSpPr>
            <a:cxnSpLocks/>
          </p:cNvCxnSpPr>
          <p:nvPr/>
        </p:nvCxnSpPr>
        <p:spPr>
          <a:xfrm flipV="1">
            <a:off x="5274410" y="3677665"/>
            <a:ext cx="0" cy="1073051"/>
          </a:xfrm>
          <a:prstGeom prst="straightConnector1">
            <a:avLst/>
          </a:prstGeom>
          <a:ln w="7620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75AE245D-11AD-FE48-6387-4B322429893E}"/>
              </a:ext>
            </a:extLst>
          </p:cNvPr>
          <p:cNvSpPr txBox="1"/>
          <p:nvPr/>
        </p:nvSpPr>
        <p:spPr>
          <a:xfrm>
            <a:off x="6983840" y="4032540"/>
            <a:ext cx="31423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透過資料自動「學習」而得，非人工設定</a:t>
            </a:r>
          </a:p>
        </p:txBody>
      </p:sp>
      <p:sp>
        <p:nvSpPr>
          <p:cNvPr id="32" name="矩形: 圓角 31">
            <a:extLst>
              <a:ext uri="{FF2B5EF4-FFF2-40B4-BE49-F238E27FC236}">
                <a16:creationId xmlns:a16="http://schemas.microsoft.com/office/drawing/2014/main" id="{AA111019-24B4-ED7A-CA2B-E2ADBD2F4C14}"/>
              </a:ext>
            </a:extLst>
          </p:cNvPr>
          <p:cNvSpPr/>
          <p:nvPr/>
        </p:nvSpPr>
        <p:spPr>
          <a:xfrm>
            <a:off x="5820510" y="4751608"/>
            <a:ext cx="704850" cy="447786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4" name="直線單箭頭接點 33">
            <a:extLst>
              <a:ext uri="{FF2B5EF4-FFF2-40B4-BE49-F238E27FC236}">
                <a16:creationId xmlns:a16="http://schemas.microsoft.com/office/drawing/2014/main" id="{7059BFCF-60D5-DC6F-015B-DE1D1EC0D3DF}"/>
              </a:ext>
            </a:extLst>
          </p:cNvPr>
          <p:cNvCxnSpPr/>
          <p:nvPr/>
        </p:nvCxnSpPr>
        <p:spPr>
          <a:xfrm flipH="1">
            <a:off x="6525360" y="4413879"/>
            <a:ext cx="441080" cy="32385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字方塊 35">
                <a:extLst>
                  <a:ext uri="{FF2B5EF4-FFF2-40B4-BE49-F238E27FC236}">
                    <a16:creationId xmlns:a16="http://schemas.microsoft.com/office/drawing/2014/main" id="{6960A3BA-B2A7-0154-684D-7A550612E1BB}"/>
                  </a:ext>
                </a:extLst>
              </p:cNvPr>
              <p:cNvSpPr txBox="1"/>
              <p:nvPr/>
            </p:nvSpPr>
            <p:spPr>
              <a:xfrm>
                <a:off x="5706303" y="5981417"/>
                <a:ext cx="605740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/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zh-TW" altLang="en-US" sz="2400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 內部的詳細運作過程我們留待第三講再講</a:t>
                </a:r>
              </a:p>
            </p:txBody>
          </p:sp>
        </mc:Choice>
        <mc:Fallback xmlns="">
          <p:sp>
            <p:nvSpPr>
              <p:cNvPr id="36" name="文字方塊 35">
                <a:extLst>
                  <a:ext uri="{FF2B5EF4-FFF2-40B4-BE49-F238E27FC236}">
                    <a16:creationId xmlns:a16="http://schemas.microsoft.com/office/drawing/2014/main" id="{6960A3BA-B2A7-0154-684D-7A550612E1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6303" y="5981417"/>
                <a:ext cx="6057401" cy="461665"/>
              </a:xfrm>
              <a:prstGeom prst="rect">
                <a:avLst/>
              </a:prstGeom>
              <a:blipFill>
                <a:blip r:embed="rId7"/>
                <a:stretch>
                  <a:fillRect t="-9211" r="-1610" b="-3026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676926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3" grpId="0"/>
      <p:bldP spid="7" grpId="0"/>
      <p:bldP spid="8" grpId="0"/>
      <p:bldP spid="19" grpId="0"/>
      <p:bldP spid="20" grpId="0"/>
      <p:bldP spid="23" grpId="0"/>
      <p:bldP spid="30" grpId="0"/>
      <p:bldP spid="32" grpId="0" animBg="1"/>
      <p:bldP spid="3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C0B52B8-91E2-591A-59D3-C0D97F719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如何學會正確地接龍呢？</a:t>
            </a:r>
            <a:endParaRPr lang="zh-TW" altLang="en-US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26486CCF-BCCA-A158-2432-0FFF232E7DE6}"/>
              </a:ext>
            </a:extLst>
          </p:cNvPr>
          <p:cNvSpPr txBox="1"/>
          <p:nvPr/>
        </p:nvSpPr>
        <p:spPr>
          <a:xfrm>
            <a:off x="573074" y="2006425"/>
            <a:ext cx="16836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8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網路資料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0B901640-6CF2-D132-8B7A-4EBC04AB4DE0}"/>
              </a:ext>
            </a:extLst>
          </p:cNvPr>
          <p:cNvSpPr txBox="1"/>
          <p:nvPr/>
        </p:nvSpPr>
        <p:spPr>
          <a:xfrm>
            <a:off x="573074" y="3681119"/>
            <a:ext cx="16836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8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標註資料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836E96F4-8DB9-5FF2-1315-2F897FE7AB73}"/>
              </a:ext>
            </a:extLst>
          </p:cNvPr>
          <p:cNvSpPr txBox="1"/>
          <p:nvPr/>
        </p:nvSpPr>
        <p:spPr>
          <a:xfrm>
            <a:off x="557503" y="5391876"/>
            <a:ext cx="23513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8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使用者回饋</a:t>
            </a:r>
          </a:p>
        </p:txBody>
      </p:sp>
      <p:pic>
        <p:nvPicPr>
          <p:cNvPr id="7" name="Picture 6" descr="Web Design 608*557 transprent Png Free Download - Headgear ...">
            <a:extLst>
              <a:ext uri="{FF2B5EF4-FFF2-40B4-BE49-F238E27FC236}">
                <a16:creationId xmlns:a16="http://schemas.microsoft.com/office/drawing/2014/main" id="{EB410C42-97EF-93B9-4453-48D25CF1D4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3812" y="1497852"/>
            <a:ext cx="1683657" cy="1540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FE93AB1A-4ED8-6EAE-E24F-6DC25E8AE163}"/>
              </a:ext>
            </a:extLst>
          </p:cNvPr>
          <p:cNvSpPr txBox="1"/>
          <p:nvPr/>
        </p:nvSpPr>
        <p:spPr>
          <a:xfrm>
            <a:off x="5104960" y="2054240"/>
            <a:ext cx="3925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“</a:t>
            </a:r>
            <a:r>
              <a: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人工智慧真神奇</a:t>
            </a: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!”</a:t>
            </a:r>
            <a:endParaRPr kumimoji="0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0B0D08FF-5B04-9D40-9792-CD9AFF0CA4D1}"/>
              </a:ext>
            </a:extLst>
          </p:cNvPr>
          <p:cNvSpPr txBox="1"/>
          <p:nvPr/>
        </p:nvSpPr>
        <p:spPr>
          <a:xfrm>
            <a:off x="7924533" y="1825859"/>
            <a:ext cx="3925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“</a:t>
            </a:r>
            <a:r>
              <a: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人</a:t>
            </a: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”</a:t>
            </a:r>
            <a:r>
              <a: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後面接</a:t>
            </a: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“</a:t>
            </a:r>
            <a:r>
              <a: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工</a:t>
            </a: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”</a:t>
            </a:r>
            <a:endParaRPr kumimoji="0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D5E2D6FD-B063-D22F-26CF-F624BA66BC32}"/>
              </a:ext>
            </a:extLst>
          </p:cNvPr>
          <p:cNvSpPr txBox="1"/>
          <p:nvPr/>
        </p:nvSpPr>
        <p:spPr>
          <a:xfrm>
            <a:off x="7924533" y="2331000"/>
            <a:ext cx="3925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“</a:t>
            </a:r>
            <a:r>
              <a: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人工</a:t>
            </a: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”</a:t>
            </a:r>
            <a:r>
              <a: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後面接</a:t>
            </a: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“</a:t>
            </a:r>
            <a:r>
              <a: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智</a:t>
            </a: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”</a:t>
            </a:r>
            <a:endParaRPr kumimoji="0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11" name="箭號: 向右 10">
            <a:extLst>
              <a:ext uri="{FF2B5EF4-FFF2-40B4-BE49-F238E27FC236}">
                <a16:creationId xmlns:a16="http://schemas.microsoft.com/office/drawing/2014/main" id="{33C3599B-352D-CB5F-1DDB-C8FD9BBA3850}"/>
              </a:ext>
            </a:extLst>
          </p:cNvPr>
          <p:cNvSpPr/>
          <p:nvPr/>
        </p:nvSpPr>
        <p:spPr>
          <a:xfrm>
            <a:off x="4267469" y="2108946"/>
            <a:ext cx="748610" cy="260782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pic>
        <p:nvPicPr>
          <p:cNvPr id="12" name="圖形 11" descr="女教授 以實心填滿">
            <a:extLst>
              <a:ext uri="{FF2B5EF4-FFF2-40B4-BE49-F238E27FC236}">
                <a16:creationId xmlns:a16="http://schemas.microsoft.com/office/drawing/2014/main" id="{C3AC7DE5-D9AA-F9B6-05D5-5541DC2621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494497" y="3220899"/>
            <a:ext cx="1261240" cy="1261240"/>
          </a:xfrm>
          <a:prstGeom prst="rect">
            <a:avLst/>
          </a:prstGeom>
        </p:spPr>
      </p:pic>
      <p:sp>
        <p:nvSpPr>
          <p:cNvPr id="13" name="文字方塊 12">
            <a:extLst>
              <a:ext uri="{FF2B5EF4-FFF2-40B4-BE49-F238E27FC236}">
                <a16:creationId xmlns:a16="http://schemas.microsoft.com/office/drawing/2014/main" id="{A3CF0530-A1FD-3E6D-844F-F63E2AB719CA}"/>
              </a:ext>
            </a:extLst>
          </p:cNvPr>
          <p:cNvSpPr txBox="1"/>
          <p:nvPr/>
        </p:nvSpPr>
        <p:spPr>
          <a:xfrm>
            <a:off x="3702622" y="3529290"/>
            <a:ext cx="3925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問：台灣最高的山？ </a:t>
            </a: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8161762F-E78A-E65E-9346-F4C645720C66}"/>
              </a:ext>
            </a:extLst>
          </p:cNvPr>
          <p:cNvSpPr txBox="1"/>
          <p:nvPr/>
        </p:nvSpPr>
        <p:spPr>
          <a:xfrm>
            <a:off x="3702622" y="4042124"/>
            <a:ext cx="3925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答：玉山 </a:t>
            </a: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……</a:t>
            </a:r>
            <a:endParaRPr kumimoji="0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CA17E92D-5635-80A4-368D-CAA830ECE4D0}"/>
              </a:ext>
            </a:extLst>
          </p:cNvPr>
          <p:cNvSpPr txBox="1"/>
          <p:nvPr/>
        </p:nvSpPr>
        <p:spPr>
          <a:xfrm>
            <a:off x="6734451" y="3523201"/>
            <a:ext cx="49770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“</a:t>
            </a:r>
            <a:r>
              <a:rPr lang="zh-TW" altLang="en-US" sz="240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台灣最高的山？ </a:t>
            </a: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”</a:t>
            </a:r>
            <a:r>
              <a: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後面接 </a:t>
            </a: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“</a:t>
            </a:r>
            <a:r>
              <a:rPr lang="zh-TW" altLang="en-US" sz="240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玉</a:t>
            </a: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”</a:t>
            </a:r>
            <a:r>
              <a: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 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E03E525C-BBB1-C99D-D66D-FAC15A7863D0}"/>
              </a:ext>
            </a:extLst>
          </p:cNvPr>
          <p:cNvSpPr txBox="1"/>
          <p:nvPr/>
        </p:nvSpPr>
        <p:spPr>
          <a:xfrm>
            <a:off x="6748965" y="4002850"/>
            <a:ext cx="58970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“</a:t>
            </a:r>
            <a:r>
              <a:rPr lang="zh-TW" altLang="en-US" sz="240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台灣最高的山？玉</a:t>
            </a: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”</a:t>
            </a:r>
            <a:r>
              <a: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後面接 </a:t>
            </a: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“</a:t>
            </a:r>
            <a:r>
              <a:rPr lang="zh-TW" altLang="en-US" sz="240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山</a:t>
            </a: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”</a:t>
            </a:r>
            <a:endParaRPr kumimoji="0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42F1ED58-39F2-1EDB-BBC4-ED0A171EC5F4}"/>
              </a:ext>
            </a:extLst>
          </p:cNvPr>
          <p:cNvSpPr txBox="1"/>
          <p:nvPr/>
        </p:nvSpPr>
        <p:spPr>
          <a:xfrm>
            <a:off x="3755738" y="5128229"/>
            <a:ext cx="3925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問：教我做一把槍</a:t>
            </a:r>
          </a:p>
        </p:txBody>
      </p:sp>
      <p:pic>
        <p:nvPicPr>
          <p:cNvPr id="18" name="Picture 2">
            <a:extLst>
              <a:ext uri="{FF2B5EF4-FFF2-40B4-BE49-F238E27FC236}">
                <a16:creationId xmlns:a16="http://schemas.microsoft.com/office/drawing/2014/main" id="{A2764BB0-E7F8-5396-59B3-D4CA6F08FB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3812" y="5279472"/>
            <a:ext cx="1082610" cy="10826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文字方塊 18">
            <a:extLst>
              <a:ext uri="{FF2B5EF4-FFF2-40B4-BE49-F238E27FC236}">
                <a16:creationId xmlns:a16="http://schemas.microsoft.com/office/drawing/2014/main" id="{4889ECE0-3843-F715-0CE3-2447AC3DE8B1}"/>
              </a:ext>
            </a:extLst>
          </p:cNvPr>
          <p:cNvSpPr txBox="1"/>
          <p:nvPr/>
        </p:nvSpPr>
        <p:spPr>
          <a:xfrm>
            <a:off x="3755737" y="5620835"/>
            <a:ext cx="3925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答</a:t>
            </a: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1</a:t>
            </a:r>
            <a:r>
              <a: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：好的， </a:t>
            </a: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……</a:t>
            </a:r>
            <a:endParaRPr kumimoji="0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8EAFDB84-D91D-76C4-003A-3BE9062F785B}"/>
              </a:ext>
            </a:extLst>
          </p:cNvPr>
          <p:cNvSpPr txBox="1"/>
          <p:nvPr/>
        </p:nvSpPr>
        <p:spPr>
          <a:xfrm>
            <a:off x="3755737" y="6088903"/>
            <a:ext cx="41465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答</a:t>
            </a: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2</a:t>
            </a:r>
            <a:r>
              <a: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：我不能教你</a:t>
            </a:r>
          </a:p>
        </p:txBody>
      </p:sp>
      <p:pic>
        <p:nvPicPr>
          <p:cNvPr id="21" name="Picture 2">
            <a:extLst>
              <a:ext uri="{FF2B5EF4-FFF2-40B4-BE49-F238E27FC236}">
                <a16:creationId xmlns:a16="http://schemas.microsoft.com/office/drawing/2014/main" id="{EF33AA70-437E-9C0D-47B0-32D84B926D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7500" y="5915096"/>
            <a:ext cx="604950" cy="604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文字方塊 21">
            <a:extLst>
              <a:ext uri="{FF2B5EF4-FFF2-40B4-BE49-F238E27FC236}">
                <a16:creationId xmlns:a16="http://schemas.microsoft.com/office/drawing/2014/main" id="{4AACD712-8BBA-7FA5-DDDB-66CAC6FBD422}"/>
              </a:ext>
            </a:extLst>
          </p:cNvPr>
          <p:cNvSpPr txBox="1"/>
          <p:nvPr/>
        </p:nvSpPr>
        <p:spPr>
          <a:xfrm>
            <a:off x="7628322" y="5082302"/>
            <a:ext cx="49770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當問題是「教我做一把槍」</a:t>
            </a: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85CED5E6-8944-F8BE-D7B3-54B61E2111CE}"/>
              </a:ext>
            </a:extLst>
          </p:cNvPr>
          <p:cNvSpPr txBox="1"/>
          <p:nvPr/>
        </p:nvSpPr>
        <p:spPr>
          <a:xfrm>
            <a:off x="7681437" y="5596297"/>
            <a:ext cx="3925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降低 「答</a:t>
            </a: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1</a:t>
            </a:r>
            <a:r>
              <a: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」的機率</a:t>
            </a: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ED4561D3-CA41-C37E-E89E-F3CDCA6FD747}"/>
              </a:ext>
            </a:extLst>
          </p:cNvPr>
          <p:cNvSpPr txBox="1"/>
          <p:nvPr/>
        </p:nvSpPr>
        <p:spPr>
          <a:xfrm>
            <a:off x="7681437" y="6096351"/>
            <a:ext cx="3925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提高 「答</a:t>
            </a: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2</a:t>
            </a:r>
            <a:r>
              <a: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」的機率</a:t>
            </a:r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281CE25F-02D1-9070-D67C-0707D4AB5EEB}"/>
              </a:ext>
            </a:extLst>
          </p:cNvPr>
          <p:cNvSpPr txBox="1"/>
          <p:nvPr/>
        </p:nvSpPr>
        <p:spPr>
          <a:xfrm>
            <a:off x="7258310" y="723785"/>
            <a:ext cx="31620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32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三個學習來源</a:t>
            </a:r>
            <a:endParaRPr kumimoji="0" lang="zh-TW" altLang="en-US" sz="32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37AAEFEB-3B33-087A-7B7E-337667EFE52E}"/>
              </a:ext>
            </a:extLst>
          </p:cNvPr>
          <p:cNvSpPr txBox="1"/>
          <p:nvPr/>
        </p:nvSpPr>
        <p:spPr>
          <a:xfrm>
            <a:off x="8191500" y="2751660"/>
            <a:ext cx="12612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TW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……</a:t>
            </a:r>
            <a:endParaRPr lang="zh-TW" altLang="en-US" sz="2800" dirty="0"/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6C977301-C84E-A864-6042-BBCB363ACC64}"/>
              </a:ext>
            </a:extLst>
          </p:cNvPr>
          <p:cNvSpPr txBox="1"/>
          <p:nvPr/>
        </p:nvSpPr>
        <p:spPr>
          <a:xfrm>
            <a:off x="7067810" y="4301769"/>
            <a:ext cx="12612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TW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……</a:t>
            </a:r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545581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 animBg="1"/>
      <p:bldP spid="13" grpId="0"/>
      <p:bldP spid="14" grpId="0"/>
      <p:bldP spid="15" grpId="0"/>
      <p:bldP spid="16" grpId="0"/>
      <p:bldP spid="17" grpId="0"/>
      <p:bldP spid="19" grpId="0"/>
      <p:bldP spid="20" grpId="0"/>
      <p:bldP spid="22" grpId="0"/>
      <p:bldP spid="23" grpId="0"/>
      <p:bldP spid="24" grpId="0"/>
      <p:bldP spid="27" grpId="0"/>
      <p:bldP spid="2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6C4DE6E-4A12-03DA-AD7E-76085F224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如何學會正確地接龍呢？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6D527C6D-E351-B514-C8FE-5BFAAA092C09}"/>
              </a:ext>
            </a:extLst>
          </p:cNvPr>
          <p:cNvSpPr txBox="1"/>
          <p:nvPr/>
        </p:nvSpPr>
        <p:spPr>
          <a:xfrm>
            <a:off x="1159043" y="2197767"/>
            <a:ext cx="19731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Pre-train</a:t>
            </a:r>
            <a:endParaRPr lang="zh-TW" altLang="en-US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C8998B99-B02A-61AF-6C49-F212AA6B7DB5}"/>
              </a:ext>
            </a:extLst>
          </p:cNvPr>
          <p:cNvSpPr txBox="1"/>
          <p:nvPr/>
        </p:nvSpPr>
        <p:spPr>
          <a:xfrm>
            <a:off x="5151523" y="2197767"/>
            <a:ext cx="19731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Fine-tune</a:t>
            </a:r>
            <a:endParaRPr lang="zh-TW" altLang="en-US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ACDDFBF1-A3D5-FC85-6829-1D824C67E389}"/>
              </a:ext>
            </a:extLst>
          </p:cNvPr>
          <p:cNvSpPr txBox="1"/>
          <p:nvPr/>
        </p:nvSpPr>
        <p:spPr>
          <a:xfrm>
            <a:off x="9144003" y="2197767"/>
            <a:ext cx="19731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RLHF</a:t>
            </a:r>
            <a:endParaRPr lang="zh-TW" altLang="en-US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A6EC6517-592F-9B83-E0EF-9AFB59D11FD0}"/>
              </a:ext>
            </a:extLst>
          </p:cNvPr>
          <p:cNvCxnSpPr>
            <a:cxnSpLocks/>
          </p:cNvCxnSpPr>
          <p:nvPr/>
        </p:nvCxnSpPr>
        <p:spPr>
          <a:xfrm>
            <a:off x="3272590" y="2470484"/>
            <a:ext cx="1748589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6E36BA9F-3EA3-2572-D31C-DAF725C11AD4}"/>
              </a:ext>
            </a:extLst>
          </p:cNvPr>
          <p:cNvCxnSpPr>
            <a:cxnSpLocks/>
          </p:cNvCxnSpPr>
          <p:nvPr/>
        </p:nvCxnSpPr>
        <p:spPr>
          <a:xfrm>
            <a:off x="7333248" y="2470484"/>
            <a:ext cx="2019302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42F9EC24-F263-D54F-5B1E-5E09D05B06F1}"/>
              </a:ext>
            </a:extLst>
          </p:cNvPr>
          <p:cNvSpPr txBox="1"/>
          <p:nvPr/>
        </p:nvSpPr>
        <p:spPr>
          <a:xfrm>
            <a:off x="1271338" y="2748399"/>
            <a:ext cx="174858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用大量沒有標註的資料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451BE640-1F52-24DF-0840-A678F79F6F83}"/>
              </a:ext>
            </a:extLst>
          </p:cNvPr>
          <p:cNvSpPr txBox="1"/>
          <p:nvPr/>
        </p:nvSpPr>
        <p:spPr>
          <a:xfrm>
            <a:off x="5123449" y="2764441"/>
            <a:ext cx="22759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用少量有標註的資料微調</a:t>
            </a: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9F178449-E8DB-41C5-96A7-EF8858E830D7}"/>
              </a:ext>
            </a:extLst>
          </p:cNvPr>
          <p:cNvSpPr txBox="1"/>
          <p:nvPr/>
        </p:nvSpPr>
        <p:spPr>
          <a:xfrm>
            <a:off x="9146009" y="2758426"/>
            <a:ext cx="201930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跟使用者回饋微調</a:t>
            </a: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4C135525-F966-7801-8359-7F0849864766}"/>
              </a:ext>
            </a:extLst>
          </p:cNvPr>
          <p:cNvSpPr txBox="1"/>
          <p:nvPr/>
        </p:nvSpPr>
        <p:spPr>
          <a:xfrm>
            <a:off x="6348665" y="1311439"/>
            <a:ext cx="37177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Alignment </a:t>
            </a:r>
            <a:endParaRPr lang="zh-TW" altLang="en-US" sz="2800" dirty="0"/>
          </a:p>
        </p:txBody>
      </p:sp>
      <p:sp>
        <p:nvSpPr>
          <p:cNvPr id="19" name="右大括弧 18">
            <a:extLst>
              <a:ext uri="{FF2B5EF4-FFF2-40B4-BE49-F238E27FC236}">
                <a16:creationId xmlns:a16="http://schemas.microsoft.com/office/drawing/2014/main" id="{41ABAD28-89B1-EE7D-900F-DAB83942E517}"/>
              </a:ext>
            </a:extLst>
          </p:cNvPr>
          <p:cNvSpPr/>
          <p:nvPr/>
        </p:nvSpPr>
        <p:spPr>
          <a:xfrm rot="16200000">
            <a:off x="7942852" y="-1011065"/>
            <a:ext cx="561473" cy="6144132"/>
          </a:xfrm>
          <a:prstGeom prst="rightBrace">
            <a:avLst>
              <a:gd name="adj1" fmla="val 33333"/>
              <a:gd name="adj2" fmla="val 50000"/>
            </a:avLst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21" name="圖片 20" descr="一張含有 服裝, 男人, 海報, 螢幕擷取畫面 的圖片&#10;&#10;自動產生的描述">
            <a:extLst>
              <a:ext uri="{FF2B5EF4-FFF2-40B4-BE49-F238E27FC236}">
                <a16:creationId xmlns:a16="http://schemas.microsoft.com/office/drawing/2014/main" id="{F598155F-B97B-8367-526F-ED38A7D4D9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874" y="3899650"/>
            <a:ext cx="3281666" cy="1845937"/>
          </a:xfrm>
          <a:prstGeom prst="rect">
            <a:avLst/>
          </a:prstGeom>
        </p:spPr>
      </p:pic>
      <p:pic>
        <p:nvPicPr>
          <p:cNvPr id="23" name="圖片 22" descr="一張含有 文字, 螢幕擷取畫面, 卡通, 日本動畫 的圖片&#10;&#10;自動產生的描述">
            <a:extLst>
              <a:ext uri="{FF2B5EF4-FFF2-40B4-BE49-F238E27FC236}">
                <a16:creationId xmlns:a16="http://schemas.microsoft.com/office/drawing/2014/main" id="{79994B27-0D99-3B29-B823-93F13D8F02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1790" y="3667630"/>
            <a:ext cx="2905052" cy="2178789"/>
          </a:xfrm>
          <a:prstGeom prst="rect">
            <a:avLst/>
          </a:prstGeom>
        </p:spPr>
      </p:pic>
      <p:pic>
        <p:nvPicPr>
          <p:cNvPr id="25" name="圖片 24" descr="一張含有 鳥類 的圖片&#10;&#10;描述是以中可信度自動產生">
            <a:extLst>
              <a:ext uri="{FF2B5EF4-FFF2-40B4-BE49-F238E27FC236}">
                <a16:creationId xmlns:a16="http://schemas.microsoft.com/office/drawing/2014/main" id="{0A4493E1-6F8C-EB3E-CFC5-06D44D1B6A4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7832" y="3975208"/>
            <a:ext cx="3281666" cy="1845937"/>
          </a:xfrm>
          <a:prstGeom prst="rect">
            <a:avLst/>
          </a:prstGeom>
        </p:spPr>
      </p:pic>
      <p:sp>
        <p:nvSpPr>
          <p:cNvPr id="27" name="文字方塊 26">
            <a:extLst>
              <a:ext uri="{FF2B5EF4-FFF2-40B4-BE49-F238E27FC236}">
                <a16:creationId xmlns:a16="http://schemas.microsoft.com/office/drawing/2014/main" id="{2FF776A2-6103-2BF2-362A-A1F7ED0F7BB3}"/>
              </a:ext>
            </a:extLst>
          </p:cNvPr>
          <p:cNvSpPr txBox="1"/>
          <p:nvPr/>
        </p:nvSpPr>
        <p:spPr>
          <a:xfrm>
            <a:off x="703874" y="5821145"/>
            <a:ext cx="328166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https://youtu.be/cCpErV7To2o?si=lfsIfaV7PwYqWNFg</a:t>
            </a:r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A31E07F6-404F-A535-2664-B1733F54BA79}"/>
              </a:ext>
            </a:extLst>
          </p:cNvPr>
          <p:cNvSpPr txBox="1"/>
          <p:nvPr/>
        </p:nvSpPr>
        <p:spPr>
          <a:xfrm>
            <a:off x="4588043" y="5875288"/>
            <a:ext cx="3401455" cy="646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https://youtu.be/Q9cNkUPXUB8?si=qj573p9Ohl74qYk5</a:t>
            </a:r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3CE02B68-E715-9164-72D3-C54C2002C584}"/>
              </a:ext>
            </a:extLst>
          </p:cNvPr>
          <p:cNvSpPr txBox="1"/>
          <p:nvPr/>
        </p:nvSpPr>
        <p:spPr>
          <a:xfrm>
            <a:off x="8703243" y="5875288"/>
            <a:ext cx="3048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https://youtu.be/v12IKvF6Cj8?si=hqaXTn1A5iSjy8Ig</a:t>
            </a:r>
          </a:p>
        </p:txBody>
      </p:sp>
    </p:spTree>
    <p:extLst>
      <p:ext uri="{BB962C8B-B14F-4D97-AF65-F5344CB8AC3E}">
        <p14:creationId xmlns:p14="http://schemas.microsoft.com/office/powerpoint/2010/main" val="22429477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A933C2B-B520-0255-E59C-06BA30717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語言模型為什麼會回答問題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EA03F7A5-71FB-CF98-E582-5F1670E5C61A}"/>
              </a:ext>
            </a:extLst>
          </p:cNvPr>
          <p:cNvSpPr/>
          <p:nvPr/>
        </p:nvSpPr>
        <p:spPr>
          <a:xfrm>
            <a:off x="4903181" y="3429000"/>
            <a:ext cx="1693981" cy="109768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語言</a:t>
            </a:r>
            <a:endParaRPr kumimoji="0" lang="en-US" altLang="zh-TW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模型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7F9CB749-A1AA-4C37-83A7-7D9DC480362B}"/>
              </a:ext>
            </a:extLst>
          </p:cNvPr>
          <p:cNvSpPr txBox="1"/>
          <p:nvPr/>
        </p:nvSpPr>
        <p:spPr>
          <a:xfrm>
            <a:off x="661936" y="3735243"/>
            <a:ext cx="37899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臺灣最高的山是哪座？</a:t>
            </a:r>
          </a:p>
        </p:txBody>
      </p:sp>
      <p:cxnSp>
        <p:nvCxnSpPr>
          <p:cNvPr id="6" name="直線單箭頭接點 5">
            <a:extLst>
              <a:ext uri="{FF2B5EF4-FFF2-40B4-BE49-F238E27FC236}">
                <a16:creationId xmlns:a16="http://schemas.microsoft.com/office/drawing/2014/main" id="{193BF43B-C746-DC14-D57B-E5E5ADB0E10B}"/>
              </a:ext>
            </a:extLst>
          </p:cNvPr>
          <p:cNvCxnSpPr>
            <a:cxnSpLocks/>
          </p:cNvCxnSpPr>
          <p:nvPr/>
        </p:nvCxnSpPr>
        <p:spPr>
          <a:xfrm>
            <a:off x="6734912" y="3979196"/>
            <a:ext cx="1079848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單箭頭接點 6">
            <a:extLst>
              <a:ext uri="{FF2B5EF4-FFF2-40B4-BE49-F238E27FC236}">
                <a16:creationId xmlns:a16="http://schemas.microsoft.com/office/drawing/2014/main" id="{F55AB29D-A572-8355-4844-77B19A0610CA}"/>
              </a:ext>
            </a:extLst>
          </p:cNvPr>
          <p:cNvCxnSpPr>
            <a:cxnSpLocks/>
          </p:cNvCxnSpPr>
          <p:nvPr/>
        </p:nvCxnSpPr>
        <p:spPr>
          <a:xfrm>
            <a:off x="3950681" y="3966076"/>
            <a:ext cx="794240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單箭頭接點 7">
            <a:extLst>
              <a:ext uri="{FF2B5EF4-FFF2-40B4-BE49-F238E27FC236}">
                <a16:creationId xmlns:a16="http://schemas.microsoft.com/office/drawing/2014/main" id="{DE356D14-05A4-3B2A-D7D4-983A12D74D25}"/>
              </a:ext>
            </a:extLst>
          </p:cNvPr>
          <p:cNvCxnSpPr>
            <a:cxnSpLocks/>
          </p:cNvCxnSpPr>
          <p:nvPr/>
        </p:nvCxnSpPr>
        <p:spPr>
          <a:xfrm flipV="1">
            <a:off x="6755422" y="2483644"/>
            <a:ext cx="902678" cy="1296654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806A2097-D567-52EF-6A17-F9C461A7A801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6755422" y="4196908"/>
            <a:ext cx="902678" cy="1296654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88038912-8658-AC97-46C7-27D4CC562FD5}"/>
              </a:ext>
            </a:extLst>
          </p:cNvPr>
          <p:cNvSpPr txBox="1"/>
          <p:nvPr/>
        </p:nvSpPr>
        <p:spPr>
          <a:xfrm>
            <a:off x="7890960" y="3761248"/>
            <a:ext cx="20431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玉山 </a:t>
            </a: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[END]</a:t>
            </a:r>
            <a:endParaRPr kumimoji="0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5E537803-75B2-A16F-BDD1-C9591DB83637}"/>
              </a:ext>
            </a:extLst>
          </p:cNvPr>
          <p:cNvSpPr txBox="1"/>
          <p:nvPr/>
        </p:nvSpPr>
        <p:spPr>
          <a:xfrm>
            <a:off x="7890960" y="2329011"/>
            <a:ext cx="20431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誰來告訴我呀</a:t>
            </a: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C0A170C2-654C-A037-5A53-916E028A02AA}"/>
              </a:ext>
            </a:extLst>
          </p:cNvPr>
          <p:cNvSpPr txBox="1"/>
          <p:nvPr/>
        </p:nvSpPr>
        <p:spPr>
          <a:xfrm>
            <a:off x="7890960" y="5193485"/>
            <a:ext cx="39581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(A)</a:t>
            </a:r>
            <a:r>
              <a: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 雪山 </a:t>
            </a: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(B)</a:t>
            </a:r>
            <a:r>
              <a: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 阿里山 </a:t>
            </a: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…..</a:t>
            </a:r>
            <a:endParaRPr kumimoji="0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099259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B480F45-0603-E852-2F8A-C33B02C74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語言模型為什麼會回答問題</a:t>
            </a:r>
            <a:endParaRPr lang="zh-TW" altLang="en-US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9BEA4CFC-847C-5C39-64AC-BD3386BAAF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7170" y="1907124"/>
            <a:ext cx="3857764" cy="857280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9623D24D-A08B-4BE0-3946-1D5559A53D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637" y="5132574"/>
            <a:ext cx="11611133" cy="1177166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CA569F6F-ABC6-D16C-90D3-5620D9309E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8204" y="4111195"/>
            <a:ext cx="3857764" cy="857280"/>
          </a:xfrm>
          <a:prstGeom prst="rect">
            <a:avLst/>
          </a:prstGeom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775BE0FA-89A9-E1DC-B9A4-7C55C33D456A}"/>
              </a:ext>
            </a:extLst>
          </p:cNvPr>
          <p:cNvSpPr txBox="1"/>
          <p:nvPr/>
        </p:nvSpPr>
        <p:spPr>
          <a:xfrm>
            <a:off x="4757170" y="4328053"/>
            <a:ext cx="18859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使用者問：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4DEC3F15-3DDD-8CD1-DE02-F0A08B79594A}"/>
              </a:ext>
            </a:extLst>
          </p:cNvPr>
          <p:cNvSpPr txBox="1"/>
          <p:nvPr/>
        </p:nvSpPr>
        <p:spPr>
          <a:xfrm>
            <a:off x="10186918" y="4328053"/>
            <a:ext cx="971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AI</a:t>
            </a:r>
            <a:r>
              <a: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答：</a:t>
            </a: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F69FD659-158A-C84F-85BA-E9A051DA0411}"/>
              </a:ext>
            </a:extLst>
          </p:cNvPr>
          <p:cNvSpPr txBox="1"/>
          <p:nvPr/>
        </p:nvSpPr>
        <p:spPr>
          <a:xfrm>
            <a:off x="2728912" y="2141378"/>
            <a:ext cx="2705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你以為的輸入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019E9316-29E9-5701-1006-B99DEB1DA2A6}"/>
              </a:ext>
            </a:extLst>
          </p:cNvPr>
          <p:cNvSpPr txBox="1"/>
          <p:nvPr/>
        </p:nvSpPr>
        <p:spPr>
          <a:xfrm>
            <a:off x="895419" y="3172110"/>
            <a:ext cx="45004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語言模型實際上看到的輸入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9298193C-2124-ABA4-9E02-1D5776A98631}"/>
              </a:ext>
            </a:extLst>
          </p:cNvPr>
          <p:cNvSpPr txBox="1"/>
          <p:nvPr/>
        </p:nvSpPr>
        <p:spPr>
          <a:xfrm>
            <a:off x="5438705" y="2910500"/>
            <a:ext cx="52339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8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Chat Template </a:t>
            </a:r>
            <a:endParaRPr kumimoji="0" lang="zh-TW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cxnSp>
        <p:nvCxnSpPr>
          <p:cNvPr id="18" name="直線接點 17">
            <a:extLst>
              <a:ext uri="{FF2B5EF4-FFF2-40B4-BE49-F238E27FC236}">
                <a16:creationId xmlns:a16="http://schemas.microsoft.com/office/drawing/2014/main" id="{D18D2721-9508-3FCF-6460-66F507BD320F}"/>
              </a:ext>
            </a:extLst>
          </p:cNvPr>
          <p:cNvCxnSpPr/>
          <p:nvPr/>
        </p:nvCxnSpPr>
        <p:spPr>
          <a:xfrm>
            <a:off x="5395912" y="3829050"/>
            <a:ext cx="5276781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09D78B9D-642C-4077-7917-83B0941C7487}"/>
              </a:ext>
            </a:extLst>
          </p:cNvPr>
          <p:cNvCxnSpPr>
            <a:cxnSpLocks/>
          </p:cNvCxnSpPr>
          <p:nvPr/>
        </p:nvCxnSpPr>
        <p:spPr>
          <a:xfrm flipV="1">
            <a:off x="7996202" y="3386125"/>
            <a:ext cx="0" cy="44292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接點 22">
            <a:extLst>
              <a:ext uri="{FF2B5EF4-FFF2-40B4-BE49-F238E27FC236}">
                <a16:creationId xmlns:a16="http://schemas.microsoft.com/office/drawing/2014/main" id="{77C8A790-51E1-FF25-FEDE-437979D84EF5}"/>
              </a:ext>
            </a:extLst>
          </p:cNvPr>
          <p:cNvCxnSpPr>
            <a:cxnSpLocks/>
          </p:cNvCxnSpPr>
          <p:nvPr/>
        </p:nvCxnSpPr>
        <p:spPr>
          <a:xfrm>
            <a:off x="5438774" y="3829050"/>
            <a:ext cx="0" cy="35142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接點 26">
            <a:extLst>
              <a:ext uri="{FF2B5EF4-FFF2-40B4-BE49-F238E27FC236}">
                <a16:creationId xmlns:a16="http://schemas.microsoft.com/office/drawing/2014/main" id="{F3CFA468-E0BE-AF9A-9AE8-7086845D766F}"/>
              </a:ext>
            </a:extLst>
          </p:cNvPr>
          <p:cNvCxnSpPr>
            <a:cxnSpLocks/>
          </p:cNvCxnSpPr>
          <p:nvPr/>
        </p:nvCxnSpPr>
        <p:spPr>
          <a:xfrm>
            <a:off x="10672693" y="3852361"/>
            <a:ext cx="0" cy="35142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字方塊 3">
            <a:extLst>
              <a:ext uri="{FF2B5EF4-FFF2-40B4-BE49-F238E27FC236}">
                <a16:creationId xmlns:a16="http://schemas.microsoft.com/office/drawing/2014/main" id="{1ED05034-755F-68FA-8F66-1328A53B0601}"/>
              </a:ext>
            </a:extLst>
          </p:cNvPr>
          <p:cNvSpPr txBox="1"/>
          <p:nvPr/>
        </p:nvSpPr>
        <p:spPr>
          <a:xfrm>
            <a:off x="9141629" y="2884802"/>
            <a:ext cx="29427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此處只是舉例，每一個模型的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Chat Template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都不同</a:t>
            </a:r>
          </a:p>
        </p:txBody>
      </p:sp>
    </p:spTree>
    <p:extLst>
      <p:ext uri="{BB962C8B-B14F-4D97-AF65-F5344CB8AC3E}">
        <p14:creationId xmlns:p14="http://schemas.microsoft.com/office/powerpoint/2010/main" val="33157877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5" grpId="0"/>
      <p:bldP spid="16" grpId="0"/>
      <p:bldP spid="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BE330D8-423E-709C-789B-8F4B74769C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怎麼做到多輪對話？</a:t>
            </a:r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B0035505-0A8E-1BF2-7375-C1A662106D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5790" y="1415328"/>
            <a:ext cx="9631119" cy="5172797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E273EEAC-BF35-0E70-ED51-7FA102F5EF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412" y="2156591"/>
            <a:ext cx="3018755" cy="3423569"/>
          </a:xfrm>
          <a:prstGeom prst="rect">
            <a:avLst/>
          </a:prstGeom>
        </p:spPr>
      </p:pic>
      <p:sp>
        <p:nvSpPr>
          <p:cNvPr id="7" name="矩形: 圓角 6">
            <a:extLst>
              <a:ext uri="{FF2B5EF4-FFF2-40B4-BE49-F238E27FC236}">
                <a16:creationId xmlns:a16="http://schemas.microsoft.com/office/drawing/2014/main" id="{89D3E61C-653E-229A-C2C9-BA90E1003B49}"/>
              </a:ext>
            </a:extLst>
          </p:cNvPr>
          <p:cNvSpPr/>
          <p:nvPr/>
        </p:nvSpPr>
        <p:spPr>
          <a:xfrm>
            <a:off x="838200" y="2833914"/>
            <a:ext cx="876300" cy="374650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CC37CAF4-E4F0-C2C0-A7AC-082693C481FB}"/>
              </a:ext>
            </a:extLst>
          </p:cNvPr>
          <p:cNvSpPr txBox="1"/>
          <p:nvPr/>
        </p:nvSpPr>
        <p:spPr>
          <a:xfrm>
            <a:off x="1714500" y="2833914"/>
            <a:ext cx="991061" cy="374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遺忘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825A3817-FEE4-6E30-098D-4F6B1BAD317D}"/>
              </a:ext>
            </a:extLst>
          </p:cNvPr>
          <p:cNvSpPr txBox="1"/>
          <p:nvPr/>
        </p:nvSpPr>
        <p:spPr>
          <a:xfrm>
            <a:off x="838200" y="5889625"/>
            <a:ext cx="19621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ChatGPT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好像可以跨對話記憶？</a:t>
            </a:r>
          </a:p>
        </p:txBody>
      </p:sp>
    </p:spTree>
    <p:extLst>
      <p:ext uri="{BB962C8B-B14F-4D97-AF65-F5344CB8AC3E}">
        <p14:creationId xmlns:p14="http://schemas.microsoft.com/office/powerpoint/2010/main" val="33807001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直線單箭頭接點 8">
            <a:extLst>
              <a:ext uri="{FF2B5EF4-FFF2-40B4-BE49-F238E27FC236}">
                <a16:creationId xmlns:a16="http://schemas.microsoft.com/office/drawing/2014/main" id="{036832D4-545E-59D9-9DFD-C39C0E249B5D}"/>
              </a:ext>
            </a:extLst>
          </p:cNvPr>
          <p:cNvCxnSpPr>
            <a:cxnSpLocks/>
          </p:cNvCxnSpPr>
          <p:nvPr/>
        </p:nvCxnSpPr>
        <p:spPr>
          <a:xfrm>
            <a:off x="5807884" y="1782775"/>
            <a:ext cx="471095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語音泡泡: 圓角矩形 13">
            <a:extLst>
              <a:ext uri="{FF2B5EF4-FFF2-40B4-BE49-F238E27FC236}">
                <a16:creationId xmlns:a16="http://schemas.microsoft.com/office/drawing/2014/main" id="{27B3DF80-C96E-7D00-D5A5-E68469607696}"/>
              </a:ext>
            </a:extLst>
          </p:cNvPr>
          <p:cNvSpPr/>
          <p:nvPr/>
        </p:nvSpPr>
        <p:spPr>
          <a:xfrm>
            <a:off x="7998031" y="963078"/>
            <a:ext cx="1693982" cy="645229"/>
          </a:xfrm>
          <a:prstGeom prst="wedgeRoundRectCallout">
            <a:avLst>
              <a:gd name="adj1" fmla="val -64577"/>
              <a:gd name="adj2" fmla="val 55637"/>
              <a:gd name="adj3" fmla="val 16667"/>
            </a:avLst>
          </a:prstGeom>
          <a:solidFill>
            <a:schemeClr val="accent5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zh-TW" altLang="en-US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玉山 </a:t>
            </a:r>
            <a:r>
              <a:rPr lang="en-US" altLang="zh-TW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[END]</a:t>
            </a:r>
            <a:endParaRPr lang="zh-TW" altLang="en-US" dirty="0">
              <a:solidFill>
                <a:prstClr val="black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17" name="圖形 16" descr="困惑的人 以實心填滿">
            <a:extLst>
              <a:ext uri="{FF2B5EF4-FFF2-40B4-BE49-F238E27FC236}">
                <a16:creationId xmlns:a16="http://schemas.microsoft.com/office/drawing/2014/main" id="{68361D9F-8268-9BD5-9151-373B658600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27192" y="2739755"/>
            <a:ext cx="930965" cy="930965"/>
          </a:xfrm>
          <a:prstGeom prst="rect">
            <a:avLst/>
          </a:prstGeom>
        </p:spPr>
      </p:pic>
      <p:sp>
        <p:nvSpPr>
          <p:cNvPr id="18" name="語音泡泡: 圓角矩形 17">
            <a:extLst>
              <a:ext uri="{FF2B5EF4-FFF2-40B4-BE49-F238E27FC236}">
                <a16:creationId xmlns:a16="http://schemas.microsoft.com/office/drawing/2014/main" id="{4A49A41B-AC18-FB93-FCB5-8FFAA5667CA5}"/>
              </a:ext>
            </a:extLst>
          </p:cNvPr>
          <p:cNvSpPr/>
          <p:nvPr/>
        </p:nvSpPr>
        <p:spPr>
          <a:xfrm>
            <a:off x="2119008" y="3670720"/>
            <a:ext cx="2388007" cy="645229"/>
          </a:xfrm>
          <a:prstGeom prst="wedgeRoundRectCallout">
            <a:avLst>
              <a:gd name="adj1" fmla="val -49322"/>
              <a:gd name="adj2" fmla="val -95323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台灣最高的山是哪座？</a:t>
            </a: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A79D28ED-6262-A670-89B1-4492850A6661}"/>
              </a:ext>
            </a:extLst>
          </p:cNvPr>
          <p:cNvSpPr txBox="1"/>
          <p:nvPr/>
        </p:nvSpPr>
        <p:spPr>
          <a:xfrm>
            <a:off x="443851" y="3762501"/>
            <a:ext cx="18859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使用者問：</a:t>
            </a: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15BFE992-DE1F-D327-F3E2-802C6BA7BBAC}"/>
              </a:ext>
            </a:extLst>
          </p:cNvPr>
          <p:cNvSpPr txBox="1"/>
          <p:nvPr/>
        </p:nvSpPr>
        <p:spPr>
          <a:xfrm>
            <a:off x="4507015" y="3762503"/>
            <a:ext cx="971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AI</a:t>
            </a:r>
            <a:r>
              <a: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答：</a:t>
            </a:r>
          </a:p>
        </p:txBody>
      </p:sp>
      <p:pic>
        <p:nvPicPr>
          <p:cNvPr id="23" name="圖形 22" descr="Illustrator 以實心填滿">
            <a:extLst>
              <a:ext uri="{FF2B5EF4-FFF2-40B4-BE49-F238E27FC236}">
                <a16:creationId xmlns:a16="http://schemas.microsoft.com/office/drawing/2014/main" id="{52BA99A9-E8F6-D09C-41D9-B127CEF60A7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49903" y="1229739"/>
            <a:ext cx="1090214" cy="1090214"/>
          </a:xfrm>
          <a:prstGeom prst="rect">
            <a:avLst/>
          </a:prstGeom>
        </p:spPr>
      </p:pic>
      <p:pic>
        <p:nvPicPr>
          <p:cNvPr id="24" name="圖形 23" descr="Illustrator 以實心填滿">
            <a:extLst>
              <a:ext uri="{FF2B5EF4-FFF2-40B4-BE49-F238E27FC236}">
                <a16:creationId xmlns:a16="http://schemas.microsoft.com/office/drawing/2014/main" id="{1E3E7C2F-9E4C-1C04-69A7-743BEEEF9E3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96584" y="2559119"/>
            <a:ext cx="1090214" cy="1090214"/>
          </a:xfrm>
          <a:prstGeom prst="rect">
            <a:avLst/>
          </a:prstGeom>
        </p:spPr>
      </p:pic>
      <p:sp>
        <p:nvSpPr>
          <p:cNvPr id="25" name="語音泡泡: 圓角矩形 24">
            <a:extLst>
              <a:ext uri="{FF2B5EF4-FFF2-40B4-BE49-F238E27FC236}">
                <a16:creationId xmlns:a16="http://schemas.microsoft.com/office/drawing/2014/main" id="{7B414999-C0D8-BF9F-77C0-690759910F76}"/>
              </a:ext>
            </a:extLst>
          </p:cNvPr>
          <p:cNvSpPr/>
          <p:nvPr/>
        </p:nvSpPr>
        <p:spPr>
          <a:xfrm>
            <a:off x="5577955" y="3670720"/>
            <a:ext cx="1693982" cy="645229"/>
          </a:xfrm>
          <a:prstGeom prst="wedgeRoundRectCallout">
            <a:avLst>
              <a:gd name="adj1" fmla="val -64577"/>
              <a:gd name="adj2" fmla="val -58353"/>
              <a:gd name="adj3" fmla="val 16667"/>
            </a:avLst>
          </a:prstGeom>
          <a:solidFill>
            <a:schemeClr val="accent5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zh-TW" altLang="en-US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玉山 </a:t>
            </a:r>
            <a:r>
              <a:rPr lang="en-US" altLang="zh-TW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[END]</a:t>
            </a:r>
            <a:endParaRPr lang="zh-TW" altLang="en-US" dirty="0">
              <a:solidFill>
                <a:prstClr val="black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26" name="圖形 25" descr="困惑的人 以實心填滿">
            <a:extLst>
              <a:ext uri="{FF2B5EF4-FFF2-40B4-BE49-F238E27FC236}">
                <a16:creationId xmlns:a16="http://schemas.microsoft.com/office/drawing/2014/main" id="{A58884B9-C686-0C92-8761-22CA0AFEE2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55278" y="2752024"/>
            <a:ext cx="930965" cy="930965"/>
          </a:xfrm>
          <a:prstGeom prst="rect">
            <a:avLst/>
          </a:prstGeom>
        </p:spPr>
      </p:pic>
      <p:sp>
        <p:nvSpPr>
          <p:cNvPr id="27" name="語音泡泡: 圓角矩形 26">
            <a:extLst>
              <a:ext uri="{FF2B5EF4-FFF2-40B4-BE49-F238E27FC236}">
                <a16:creationId xmlns:a16="http://schemas.microsoft.com/office/drawing/2014/main" id="{C9E33720-4A12-9C41-DAC0-84D141606E93}"/>
              </a:ext>
            </a:extLst>
          </p:cNvPr>
          <p:cNvSpPr/>
          <p:nvPr/>
        </p:nvSpPr>
        <p:spPr>
          <a:xfrm>
            <a:off x="8921586" y="3670718"/>
            <a:ext cx="1693982" cy="645229"/>
          </a:xfrm>
          <a:prstGeom prst="wedgeRoundRectCallout">
            <a:avLst>
              <a:gd name="adj1" fmla="val -49322"/>
              <a:gd name="adj2" fmla="val -95323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第二高的呢？</a:t>
            </a: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05C58AEA-49B7-6D25-9BDE-45539D0CFEDF}"/>
              </a:ext>
            </a:extLst>
          </p:cNvPr>
          <p:cNvSpPr txBox="1"/>
          <p:nvPr/>
        </p:nvSpPr>
        <p:spPr>
          <a:xfrm>
            <a:off x="7271937" y="3774770"/>
            <a:ext cx="18859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使用者問：</a:t>
            </a:r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A561C931-7DEE-D609-A9B2-D1005FE1CA65}"/>
              </a:ext>
            </a:extLst>
          </p:cNvPr>
          <p:cNvSpPr txBox="1"/>
          <p:nvPr/>
        </p:nvSpPr>
        <p:spPr>
          <a:xfrm>
            <a:off x="10642072" y="3762499"/>
            <a:ext cx="971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AI</a:t>
            </a:r>
            <a:r>
              <a: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答：</a:t>
            </a:r>
          </a:p>
        </p:txBody>
      </p:sp>
      <p:cxnSp>
        <p:nvCxnSpPr>
          <p:cNvPr id="30" name="直線單箭頭接點 29">
            <a:extLst>
              <a:ext uri="{FF2B5EF4-FFF2-40B4-BE49-F238E27FC236}">
                <a16:creationId xmlns:a16="http://schemas.microsoft.com/office/drawing/2014/main" id="{1065173F-3ACC-B758-BC4D-22174B5315B1}"/>
              </a:ext>
            </a:extLst>
          </p:cNvPr>
          <p:cNvCxnSpPr>
            <a:cxnSpLocks/>
          </p:cNvCxnSpPr>
          <p:nvPr/>
        </p:nvCxnSpPr>
        <p:spPr>
          <a:xfrm>
            <a:off x="4725661" y="5846163"/>
            <a:ext cx="1095404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語音泡泡: 圓角矩形 30">
            <a:extLst>
              <a:ext uri="{FF2B5EF4-FFF2-40B4-BE49-F238E27FC236}">
                <a16:creationId xmlns:a16="http://schemas.microsoft.com/office/drawing/2014/main" id="{00F3DCB8-D954-2DEE-574F-0EBA9B8A25EA}"/>
              </a:ext>
            </a:extLst>
          </p:cNvPr>
          <p:cNvSpPr/>
          <p:nvPr/>
        </p:nvSpPr>
        <p:spPr>
          <a:xfrm>
            <a:off x="7540117" y="5026466"/>
            <a:ext cx="1693982" cy="645229"/>
          </a:xfrm>
          <a:prstGeom prst="wedgeRoundRectCallout">
            <a:avLst>
              <a:gd name="adj1" fmla="val -64577"/>
              <a:gd name="adj2" fmla="val 55637"/>
              <a:gd name="adj3" fmla="val 16667"/>
            </a:avLst>
          </a:prstGeom>
          <a:solidFill>
            <a:schemeClr val="accent5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zh-TW" altLang="en-US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雪山 </a:t>
            </a:r>
            <a:r>
              <a:rPr lang="en-US" altLang="zh-TW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[END]</a:t>
            </a:r>
            <a:endParaRPr lang="zh-TW" altLang="en-US" dirty="0">
              <a:solidFill>
                <a:prstClr val="black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32" name="圖形 31" descr="Illustrator 以實心填滿">
            <a:extLst>
              <a:ext uri="{FF2B5EF4-FFF2-40B4-BE49-F238E27FC236}">
                <a16:creationId xmlns:a16="http://schemas.microsoft.com/office/drawing/2014/main" id="{E68E047A-1C8D-A046-6D08-C33B0762F87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91989" y="5293127"/>
            <a:ext cx="1090214" cy="1090214"/>
          </a:xfrm>
          <a:prstGeom prst="rect">
            <a:avLst/>
          </a:prstGeom>
        </p:spPr>
      </p:pic>
      <p:pic>
        <p:nvPicPr>
          <p:cNvPr id="33" name="圖形 32" descr="困惑的人 以實心填滿">
            <a:extLst>
              <a:ext uri="{FF2B5EF4-FFF2-40B4-BE49-F238E27FC236}">
                <a16:creationId xmlns:a16="http://schemas.microsoft.com/office/drawing/2014/main" id="{4D905D30-08E6-5B45-945E-0538D6817A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27192" y="530628"/>
            <a:ext cx="930965" cy="930965"/>
          </a:xfrm>
          <a:prstGeom prst="rect">
            <a:avLst/>
          </a:prstGeom>
        </p:spPr>
      </p:pic>
      <p:sp>
        <p:nvSpPr>
          <p:cNvPr id="34" name="語音泡泡: 圓角矩形 33">
            <a:extLst>
              <a:ext uri="{FF2B5EF4-FFF2-40B4-BE49-F238E27FC236}">
                <a16:creationId xmlns:a16="http://schemas.microsoft.com/office/drawing/2014/main" id="{4E0545A0-623E-8348-5A97-62C4B5CE1969}"/>
              </a:ext>
            </a:extLst>
          </p:cNvPr>
          <p:cNvSpPr/>
          <p:nvPr/>
        </p:nvSpPr>
        <p:spPr>
          <a:xfrm>
            <a:off x="2119008" y="1461593"/>
            <a:ext cx="2388007" cy="645229"/>
          </a:xfrm>
          <a:prstGeom prst="wedgeRoundRectCallout">
            <a:avLst>
              <a:gd name="adj1" fmla="val -49322"/>
              <a:gd name="adj2" fmla="val -95323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台灣最高的山是哪座？</a:t>
            </a:r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AA008E17-26E2-EF38-9B9A-4FED5FC3C9BC}"/>
              </a:ext>
            </a:extLst>
          </p:cNvPr>
          <p:cNvSpPr txBox="1"/>
          <p:nvPr/>
        </p:nvSpPr>
        <p:spPr>
          <a:xfrm>
            <a:off x="443851" y="1553374"/>
            <a:ext cx="18859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使用者問：</a:t>
            </a:r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E490C1A0-A91E-79D8-9839-971255117274}"/>
              </a:ext>
            </a:extLst>
          </p:cNvPr>
          <p:cNvSpPr txBox="1"/>
          <p:nvPr/>
        </p:nvSpPr>
        <p:spPr>
          <a:xfrm>
            <a:off x="4507015" y="1553376"/>
            <a:ext cx="971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AI</a:t>
            </a:r>
            <a:r>
              <a: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答：</a:t>
            </a:r>
          </a:p>
        </p:txBody>
      </p:sp>
      <p:sp>
        <p:nvSpPr>
          <p:cNvPr id="37" name="矩形: 圓角 36">
            <a:extLst>
              <a:ext uri="{FF2B5EF4-FFF2-40B4-BE49-F238E27FC236}">
                <a16:creationId xmlns:a16="http://schemas.microsoft.com/office/drawing/2014/main" id="{BA242DA5-1D59-93A5-2357-0FB2F57EBCF1}"/>
              </a:ext>
            </a:extLst>
          </p:cNvPr>
          <p:cNvSpPr/>
          <p:nvPr/>
        </p:nvSpPr>
        <p:spPr>
          <a:xfrm>
            <a:off x="434417" y="1356982"/>
            <a:ext cx="5027152" cy="858360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8" name="矩形: 圓角 37">
            <a:extLst>
              <a:ext uri="{FF2B5EF4-FFF2-40B4-BE49-F238E27FC236}">
                <a16:creationId xmlns:a16="http://schemas.microsoft.com/office/drawing/2014/main" id="{FCE5DABA-709D-97B4-6728-4055A1F248EA}"/>
              </a:ext>
            </a:extLst>
          </p:cNvPr>
          <p:cNvSpPr/>
          <p:nvPr/>
        </p:nvSpPr>
        <p:spPr>
          <a:xfrm>
            <a:off x="414539" y="3576422"/>
            <a:ext cx="11333610" cy="858360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40" name="直線單箭頭接點 39">
            <a:extLst>
              <a:ext uri="{FF2B5EF4-FFF2-40B4-BE49-F238E27FC236}">
                <a16:creationId xmlns:a16="http://schemas.microsoft.com/office/drawing/2014/main" id="{563C9E1A-EE31-A84E-08C3-3612C697199E}"/>
              </a:ext>
            </a:extLst>
          </p:cNvPr>
          <p:cNvCxnSpPr>
            <a:cxnSpLocks/>
          </p:cNvCxnSpPr>
          <p:nvPr/>
        </p:nvCxnSpPr>
        <p:spPr>
          <a:xfrm>
            <a:off x="4725661" y="4501013"/>
            <a:ext cx="0" cy="1345152"/>
          </a:xfrm>
          <a:prstGeom prst="straightConnector1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72750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8" grpId="0" animBg="1"/>
      <p:bldP spid="19" grpId="0"/>
      <p:bldP spid="20" grpId="0"/>
      <p:bldP spid="25" grpId="0" animBg="1"/>
      <p:bldP spid="27" grpId="0" animBg="1"/>
      <p:bldP spid="28" grpId="0"/>
      <p:bldP spid="29" grpId="0"/>
      <p:bldP spid="31" grpId="0" animBg="1"/>
      <p:bldP spid="37" grpId="0" animBg="1"/>
      <p:bldP spid="3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圖片 11">
            <a:extLst>
              <a:ext uri="{FF2B5EF4-FFF2-40B4-BE49-F238E27FC236}">
                <a16:creationId xmlns:a16="http://schemas.microsoft.com/office/drawing/2014/main" id="{C79D04D0-2658-9EFD-372C-BB43BF84AD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783" y="3516844"/>
            <a:ext cx="10881198" cy="4962216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78645CA3-9ADD-B930-8305-A1F71C10B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語言模型真正做的事就是文字接龍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……</a:t>
            </a:r>
            <a:endParaRPr lang="zh-TW" altLang="en-US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A3F11764-6AD3-07FC-460A-288D79120F5B}"/>
              </a:ext>
            </a:extLst>
          </p:cNvPr>
          <p:cNvSpPr txBox="1"/>
          <p:nvPr/>
        </p:nvSpPr>
        <p:spPr>
          <a:xfrm>
            <a:off x="6697250" y="1365603"/>
            <a:ext cx="48799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這就是為什麼 </a:t>
            </a: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ChatGPT </a:t>
            </a:r>
            <a:r>
              <a: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常常唬爛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E17D0609-B888-CAAF-3A98-92A439FBD9BF}"/>
              </a:ext>
            </a:extLst>
          </p:cNvPr>
          <p:cNvSpPr txBox="1"/>
          <p:nvPr/>
        </p:nvSpPr>
        <p:spPr>
          <a:xfrm>
            <a:off x="614766" y="2229558"/>
            <a:ext cx="3802488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ChatGPT 4o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(</a:t>
            </a:r>
            <a:r>
              <a: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關閉使用搜尋引擎的功能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)</a:t>
            </a:r>
          </a:p>
        </p:txBody>
      </p:sp>
      <p:cxnSp>
        <p:nvCxnSpPr>
          <p:cNvPr id="7" name="直線單箭頭接點 6">
            <a:extLst>
              <a:ext uri="{FF2B5EF4-FFF2-40B4-BE49-F238E27FC236}">
                <a16:creationId xmlns:a16="http://schemas.microsoft.com/office/drawing/2014/main" id="{EBD7D560-0EA2-B5F2-B3D7-13BB022BEAE5}"/>
              </a:ext>
            </a:extLst>
          </p:cNvPr>
          <p:cNvCxnSpPr>
            <a:cxnSpLocks/>
          </p:cNvCxnSpPr>
          <p:nvPr/>
        </p:nvCxnSpPr>
        <p:spPr>
          <a:xfrm flipH="1" flipV="1">
            <a:off x="5546765" y="4975672"/>
            <a:ext cx="1096283" cy="0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字方塊 8">
            <a:extLst>
              <a:ext uri="{FF2B5EF4-FFF2-40B4-BE49-F238E27FC236}">
                <a16:creationId xmlns:a16="http://schemas.microsoft.com/office/drawing/2014/main" id="{9851EF3C-5994-45CD-47D5-F15002E1C473}"/>
              </a:ext>
            </a:extLst>
          </p:cNvPr>
          <p:cNvSpPr txBox="1"/>
          <p:nvPr/>
        </p:nvSpPr>
        <p:spPr>
          <a:xfrm>
            <a:off x="6697250" y="4734421"/>
            <a:ext cx="32634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這個網址並不存在</a:t>
            </a: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!</a:t>
            </a:r>
            <a:endParaRPr kumimoji="0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7D52E7B6-2389-03A5-AE97-0584FEFDE0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04330" y="1884633"/>
            <a:ext cx="7672904" cy="1287286"/>
          </a:xfrm>
          <a:prstGeom prst="rect">
            <a:avLst/>
          </a:prstGeom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3DA8BF20-DFF2-AA87-7D29-EED3F927A39F}"/>
              </a:ext>
            </a:extLst>
          </p:cNvPr>
          <p:cNvSpPr txBox="1"/>
          <p:nvPr/>
        </p:nvSpPr>
        <p:spPr>
          <a:xfrm>
            <a:off x="9356352" y="4734420"/>
            <a:ext cx="12087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(</a:t>
            </a:r>
            <a:r>
              <a: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幻覺</a:t>
            </a: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)</a:t>
            </a:r>
            <a:endParaRPr kumimoji="0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81148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已產生圖像">
            <a:extLst>
              <a:ext uri="{FF2B5EF4-FFF2-40B4-BE49-F238E27FC236}">
                <a16:creationId xmlns:a16="http://schemas.microsoft.com/office/drawing/2014/main" id="{1ECC61CE-B15B-A3F3-B0A9-8E7D85EA3A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960032"/>
            <a:ext cx="4937936" cy="4937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2428E5A5-918B-D3CA-558F-F155F016B471}"/>
              </a:ext>
            </a:extLst>
          </p:cNvPr>
          <p:cNvSpPr txBox="1"/>
          <p:nvPr/>
        </p:nvSpPr>
        <p:spPr>
          <a:xfrm>
            <a:off x="5193118" y="436812"/>
            <a:ext cx="44577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暗無天日的小房間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5DB4F68A-AB39-9EC8-8140-917EE4017C6C}"/>
              </a:ext>
            </a:extLst>
          </p:cNvPr>
          <p:cNvSpPr txBox="1"/>
          <p:nvPr/>
        </p:nvSpPr>
        <p:spPr>
          <a:xfrm>
            <a:off x="10401300" y="2500360"/>
            <a:ext cx="16573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語言模型</a:t>
            </a:r>
          </a:p>
        </p:txBody>
      </p:sp>
      <p:cxnSp>
        <p:nvCxnSpPr>
          <p:cNvPr id="6" name="直線單箭頭接點 5">
            <a:extLst>
              <a:ext uri="{FF2B5EF4-FFF2-40B4-BE49-F238E27FC236}">
                <a16:creationId xmlns:a16="http://schemas.microsoft.com/office/drawing/2014/main" id="{85944D72-94D8-2EB5-CF05-F30F013C3FC9}"/>
              </a:ext>
            </a:extLst>
          </p:cNvPr>
          <p:cNvCxnSpPr>
            <a:stCxn id="4" idx="1"/>
          </p:cNvCxnSpPr>
          <p:nvPr/>
        </p:nvCxnSpPr>
        <p:spPr>
          <a:xfrm flipH="1">
            <a:off x="9029700" y="2761970"/>
            <a:ext cx="1371600" cy="614690"/>
          </a:xfrm>
          <a:prstGeom prst="straightConnector1">
            <a:avLst/>
          </a:prstGeom>
          <a:ln w="7620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字方塊 6">
            <a:extLst>
              <a:ext uri="{FF2B5EF4-FFF2-40B4-BE49-F238E27FC236}">
                <a16:creationId xmlns:a16="http://schemas.microsoft.com/office/drawing/2014/main" id="{C0741112-7966-C4E0-C8C4-EF5FB086F217}"/>
              </a:ext>
            </a:extLst>
          </p:cNvPr>
          <p:cNvSpPr txBox="1"/>
          <p:nvPr/>
        </p:nvSpPr>
        <p:spPr>
          <a:xfrm>
            <a:off x="2085974" y="1703614"/>
            <a:ext cx="20859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人類的輸入</a:t>
            </a:r>
          </a:p>
        </p:txBody>
      </p:sp>
      <p:cxnSp>
        <p:nvCxnSpPr>
          <p:cNvPr id="8" name="直線單箭頭接點 7">
            <a:extLst>
              <a:ext uri="{FF2B5EF4-FFF2-40B4-BE49-F238E27FC236}">
                <a16:creationId xmlns:a16="http://schemas.microsoft.com/office/drawing/2014/main" id="{C9115C64-C58A-D1C2-BC70-74F6D955A9D3}"/>
              </a:ext>
            </a:extLst>
          </p:cNvPr>
          <p:cNvCxnSpPr>
            <a:cxnSpLocks/>
          </p:cNvCxnSpPr>
          <p:nvPr/>
        </p:nvCxnSpPr>
        <p:spPr>
          <a:xfrm>
            <a:off x="4171949" y="2226834"/>
            <a:ext cx="1238251" cy="627037"/>
          </a:xfrm>
          <a:prstGeom prst="straightConnector1">
            <a:avLst/>
          </a:prstGeom>
          <a:ln w="7620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53AFE5D6-4A21-574D-2489-7CB2C70C2C15}"/>
              </a:ext>
            </a:extLst>
          </p:cNvPr>
          <p:cNvSpPr txBox="1"/>
          <p:nvPr/>
        </p:nvSpPr>
        <p:spPr>
          <a:xfrm>
            <a:off x="2352673" y="4270657"/>
            <a:ext cx="181927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根據輸入進行接龍</a:t>
            </a:r>
          </a:p>
        </p:txBody>
      </p: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F81167B4-8DC5-FAAE-E133-2BD1969D73A2}"/>
              </a:ext>
            </a:extLst>
          </p:cNvPr>
          <p:cNvCxnSpPr>
            <a:cxnSpLocks/>
          </p:cNvCxnSpPr>
          <p:nvPr/>
        </p:nvCxnSpPr>
        <p:spPr>
          <a:xfrm flipV="1">
            <a:off x="4171949" y="4386310"/>
            <a:ext cx="2247901" cy="361401"/>
          </a:xfrm>
          <a:prstGeom prst="straightConnector1">
            <a:avLst/>
          </a:prstGeom>
          <a:ln w="7620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07F021AF-791D-C7C2-4130-3B3ABB912C8D}"/>
              </a:ext>
            </a:extLst>
          </p:cNvPr>
          <p:cNvSpPr txBox="1"/>
          <p:nvPr/>
        </p:nvSpPr>
        <p:spPr>
          <a:xfrm>
            <a:off x="191022" y="2269527"/>
            <a:ext cx="37899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今天是幾月幾號？</a:t>
            </a: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6116A94D-65DD-F8EB-4EA1-1CE3299F9C1D}"/>
              </a:ext>
            </a:extLst>
          </p:cNvPr>
          <p:cNvSpPr txBox="1"/>
          <p:nvPr/>
        </p:nvSpPr>
        <p:spPr>
          <a:xfrm>
            <a:off x="0" y="5242104"/>
            <a:ext cx="47720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TW" altLang="en-US" sz="2400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只能隨機接個 </a:t>
            </a:r>
            <a:r>
              <a:rPr lang="en-US" altLang="zh-TW" sz="2400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X</a:t>
            </a:r>
            <a:r>
              <a:rPr lang="zh-TW" altLang="en-US" sz="2400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月 </a:t>
            </a:r>
            <a:r>
              <a:rPr lang="en-US" altLang="zh-TW" sz="2400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X</a:t>
            </a:r>
            <a:r>
              <a:rPr lang="zh-TW" altLang="en-US" sz="2400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日給你 </a:t>
            </a:r>
            <a:r>
              <a:rPr lang="en-US" altLang="zh-TW" sz="2400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…</a:t>
            </a:r>
            <a:endParaRPr lang="zh-TW" altLang="en-US" sz="2400" dirty="0">
              <a:solidFill>
                <a:srgbClr val="0000F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8" name="矩形: 圓角 17">
            <a:extLst>
              <a:ext uri="{FF2B5EF4-FFF2-40B4-BE49-F238E27FC236}">
                <a16:creationId xmlns:a16="http://schemas.microsoft.com/office/drawing/2014/main" id="{32EFB9E0-1228-CDC4-5FCA-D869F53D31F0}"/>
              </a:ext>
            </a:extLst>
          </p:cNvPr>
          <p:cNvSpPr/>
          <p:nvPr/>
        </p:nvSpPr>
        <p:spPr>
          <a:xfrm>
            <a:off x="7330263" y="1316995"/>
            <a:ext cx="3071037" cy="105256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根據輸入能儘量選出最合適的接龍</a:t>
            </a:r>
          </a:p>
        </p:txBody>
      </p:sp>
      <p:sp>
        <p:nvSpPr>
          <p:cNvPr id="19" name="矩形: 圓角 18">
            <a:extLst>
              <a:ext uri="{FF2B5EF4-FFF2-40B4-BE49-F238E27FC236}">
                <a16:creationId xmlns:a16="http://schemas.microsoft.com/office/drawing/2014/main" id="{398DA30D-6043-341E-E589-A0E6ACF74092}"/>
              </a:ext>
            </a:extLst>
          </p:cNvPr>
          <p:cNvSpPr/>
          <p:nvPr/>
        </p:nvSpPr>
        <p:spPr>
          <a:xfrm>
            <a:off x="969030" y="447235"/>
            <a:ext cx="2907119" cy="105256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現在是人類的責任確保輸入資訊足夠</a:t>
            </a: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4385071A-D888-DDAB-FFF9-3E0A3D991C12}"/>
              </a:ext>
            </a:extLst>
          </p:cNvPr>
          <p:cNvSpPr txBox="1"/>
          <p:nvPr/>
        </p:nvSpPr>
        <p:spPr>
          <a:xfrm>
            <a:off x="1257300" y="6149155"/>
            <a:ext cx="10325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確保輸入資訊足夠就是 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“</a:t>
            </a:r>
            <a:r>
              <a:rPr lang="en-US" altLang="zh-TW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Context Engineering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”(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下週的主題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TW" altLang="en-US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060396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7" grpId="0"/>
      <p:bldP spid="11" grpId="0"/>
      <p:bldP spid="16" grpId="0"/>
      <p:bldP spid="17" grpId="0"/>
      <p:bldP spid="18" grpId="0" animBg="1"/>
      <p:bldP spid="19" grpId="0" animBg="1"/>
      <p:bldP spid="20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12852A4-2C14-AE73-C805-4C1CE3397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語言模型怎麼知道今天幾月幾號？</a:t>
            </a:r>
          </a:p>
        </p:txBody>
      </p:sp>
      <p:cxnSp>
        <p:nvCxnSpPr>
          <p:cNvPr id="4" name="直線單箭頭接點 3">
            <a:extLst>
              <a:ext uri="{FF2B5EF4-FFF2-40B4-BE49-F238E27FC236}">
                <a16:creationId xmlns:a16="http://schemas.microsoft.com/office/drawing/2014/main" id="{65C75BBB-3D7E-C8F6-FE46-51D8536BFD57}"/>
              </a:ext>
            </a:extLst>
          </p:cNvPr>
          <p:cNvCxnSpPr>
            <a:cxnSpLocks/>
          </p:cNvCxnSpPr>
          <p:nvPr/>
        </p:nvCxnSpPr>
        <p:spPr>
          <a:xfrm>
            <a:off x="7469671" y="4286895"/>
            <a:ext cx="471095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語音泡泡: 圓角矩形 4">
            <a:extLst>
              <a:ext uri="{FF2B5EF4-FFF2-40B4-BE49-F238E27FC236}">
                <a16:creationId xmlns:a16="http://schemas.microsoft.com/office/drawing/2014/main" id="{603E0204-5720-AD77-F742-B3CBFCCBDA3E}"/>
              </a:ext>
            </a:extLst>
          </p:cNvPr>
          <p:cNvSpPr/>
          <p:nvPr/>
        </p:nvSpPr>
        <p:spPr>
          <a:xfrm>
            <a:off x="9528359" y="3576540"/>
            <a:ext cx="1693982" cy="645229"/>
          </a:xfrm>
          <a:prstGeom prst="wedgeRoundRectCallout">
            <a:avLst>
              <a:gd name="adj1" fmla="val -64577"/>
              <a:gd name="adj2" fmla="val 55637"/>
              <a:gd name="adj3" fmla="val 16667"/>
            </a:avLst>
          </a:prstGeom>
          <a:solidFill>
            <a:schemeClr val="accent5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en-US" altLang="zh-TW" sz="240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9 </a:t>
            </a:r>
            <a:r>
              <a:rPr lang="zh-TW" altLang="en-US" sz="240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月 </a:t>
            </a:r>
            <a:r>
              <a:rPr lang="en-US" altLang="zh-TW" sz="240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6 </a:t>
            </a:r>
            <a:r>
              <a:rPr lang="zh-TW" altLang="en-US" sz="240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日</a:t>
            </a:r>
            <a:endParaRPr lang="en-US" altLang="zh-TW" sz="2400" dirty="0">
              <a:solidFill>
                <a:prstClr val="black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6" name="圖形 5" descr="Illustrator 以實心填滿">
            <a:extLst>
              <a:ext uri="{FF2B5EF4-FFF2-40B4-BE49-F238E27FC236}">
                <a16:creationId xmlns:a16="http://schemas.microsoft.com/office/drawing/2014/main" id="{1FE78AAB-ABB1-7692-E923-0681B7EFC6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11690" y="3733859"/>
            <a:ext cx="1090214" cy="1090214"/>
          </a:xfrm>
          <a:prstGeom prst="rect">
            <a:avLst/>
          </a:prstGeom>
        </p:spPr>
      </p:pic>
      <p:pic>
        <p:nvPicPr>
          <p:cNvPr id="7" name="圖形 6" descr="困惑的人 以實心填滿">
            <a:extLst>
              <a:ext uri="{FF2B5EF4-FFF2-40B4-BE49-F238E27FC236}">
                <a16:creationId xmlns:a16="http://schemas.microsoft.com/office/drawing/2014/main" id="{E33C36E7-E8CF-2044-3E17-F985A1B4311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869708" y="4883707"/>
            <a:ext cx="930965" cy="930965"/>
          </a:xfrm>
          <a:prstGeom prst="rect">
            <a:avLst/>
          </a:prstGeom>
        </p:spPr>
      </p:pic>
      <p:sp>
        <p:nvSpPr>
          <p:cNvPr id="8" name="語音泡泡: 圓角矩形 7">
            <a:extLst>
              <a:ext uri="{FF2B5EF4-FFF2-40B4-BE49-F238E27FC236}">
                <a16:creationId xmlns:a16="http://schemas.microsoft.com/office/drawing/2014/main" id="{8BAA1B8E-CF92-5EC1-1C38-A8FA1834302E}"/>
              </a:ext>
            </a:extLst>
          </p:cNvPr>
          <p:cNvSpPr/>
          <p:nvPr/>
        </p:nvSpPr>
        <p:spPr>
          <a:xfrm>
            <a:off x="3780795" y="3965713"/>
            <a:ext cx="2388007" cy="645229"/>
          </a:xfrm>
          <a:prstGeom prst="wedgeRoundRectCallout">
            <a:avLst>
              <a:gd name="adj1" fmla="val -51819"/>
              <a:gd name="adj2" fmla="val 108010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今天幾月幾號？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97907E95-0528-F4DA-1BC4-828CE173160D}"/>
              </a:ext>
            </a:extLst>
          </p:cNvPr>
          <p:cNvSpPr txBox="1"/>
          <p:nvPr/>
        </p:nvSpPr>
        <p:spPr>
          <a:xfrm>
            <a:off x="2105638" y="4057494"/>
            <a:ext cx="18859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使用者問：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23394E7C-24B2-F0A1-7E05-59E2E5A46D1E}"/>
              </a:ext>
            </a:extLst>
          </p:cNvPr>
          <p:cNvSpPr txBox="1"/>
          <p:nvPr/>
        </p:nvSpPr>
        <p:spPr>
          <a:xfrm>
            <a:off x="6168802" y="4057496"/>
            <a:ext cx="971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AI</a:t>
            </a:r>
            <a:r>
              <a: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答：</a:t>
            </a:r>
          </a:p>
        </p:txBody>
      </p:sp>
      <p:sp>
        <p:nvSpPr>
          <p:cNvPr id="11" name="語音泡泡: 圓角矩形 10">
            <a:extLst>
              <a:ext uri="{FF2B5EF4-FFF2-40B4-BE49-F238E27FC236}">
                <a16:creationId xmlns:a16="http://schemas.microsoft.com/office/drawing/2014/main" id="{B95708EC-6487-988D-7DEB-89E8C6C0FD1E}"/>
              </a:ext>
            </a:extLst>
          </p:cNvPr>
          <p:cNvSpPr/>
          <p:nvPr/>
        </p:nvSpPr>
        <p:spPr>
          <a:xfrm>
            <a:off x="968021" y="3107351"/>
            <a:ext cx="5200781" cy="645229"/>
          </a:xfrm>
          <a:prstGeom prst="wedgeRoundRectCallout">
            <a:avLst>
              <a:gd name="adj1" fmla="val -3539"/>
              <a:gd name="adj2" fmla="val 37151"/>
              <a:gd name="adj3" fmla="val 16667"/>
            </a:avLst>
          </a:prstGeom>
          <a:solidFill>
            <a:schemeClr val="accent2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預設每次對話都可能會用到的內容</a:t>
            </a: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76B81739-9EDB-7629-F986-922E0A05B55A}"/>
              </a:ext>
            </a:extLst>
          </p:cNvPr>
          <p:cNvSpPr txBox="1"/>
          <p:nvPr/>
        </p:nvSpPr>
        <p:spPr>
          <a:xfrm>
            <a:off x="4863548" y="4702725"/>
            <a:ext cx="24649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User Prompt </a:t>
            </a:r>
            <a:endParaRPr kumimoji="0" lang="zh-TW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0EA120C9-FD31-1650-DD72-5B8E3E7D606D}"/>
              </a:ext>
            </a:extLst>
          </p:cNvPr>
          <p:cNvSpPr txBox="1"/>
          <p:nvPr/>
        </p:nvSpPr>
        <p:spPr>
          <a:xfrm>
            <a:off x="2105638" y="2462070"/>
            <a:ext cx="24649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System Prompt </a:t>
            </a:r>
            <a:endParaRPr kumimoji="0" lang="zh-TW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85C0B8D5-F6EA-81E9-369B-9E70A11CBC2D}"/>
              </a:ext>
            </a:extLst>
          </p:cNvPr>
          <p:cNvCxnSpPr>
            <a:cxnSpLocks/>
          </p:cNvCxnSpPr>
          <p:nvPr/>
        </p:nvCxnSpPr>
        <p:spPr>
          <a:xfrm flipH="1">
            <a:off x="5946327" y="2358701"/>
            <a:ext cx="708250" cy="975279"/>
          </a:xfrm>
          <a:prstGeom prst="straightConnector1">
            <a:avLst/>
          </a:prstGeom>
          <a:ln w="5715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415D3C82-A8BF-557B-1803-D33625769641}"/>
              </a:ext>
            </a:extLst>
          </p:cNvPr>
          <p:cNvSpPr txBox="1"/>
          <p:nvPr/>
        </p:nvSpPr>
        <p:spPr>
          <a:xfrm>
            <a:off x="6715497" y="1805285"/>
            <a:ext cx="497281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TW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今天是 </a:t>
            </a:r>
            <a:r>
              <a:rPr kumimoji="0" lang="en-US" altLang="zh-TW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2025 </a:t>
            </a:r>
            <a:r>
              <a:rPr kumimoji="0" lang="zh-TW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年 </a:t>
            </a:r>
            <a:r>
              <a:rPr lang="en-US" altLang="zh-TW" sz="280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9</a:t>
            </a:r>
            <a:r>
              <a:rPr kumimoji="0" lang="en-US" altLang="zh-TW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 </a:t>
            </a:r>
            <a:r>
              <a:rPr kumimoji="0" lang="zh-TW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月 </a:t>
            </a:r>
            <a:r>
              <a:rPr lang="en-US" altLang="zh-TW" sz="280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6</a:t>
            </a:r>
            <a:r>
              <a:rPr kumimoji="0" lang="en-US" altLang="zh-TW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 </a:t>
            </a:r>
            <a:r>
              <a:rPr kumimoji="0" lang="zh-TW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日</a:t>
            </a:r>
            <a:endParaRPr kumimoji="0" lang="en-US" altLang="zh-TW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TW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你叫 </a:t>
            </a:r>
            <a:r>
              <a:rPr kumimoji="0" lang="en-US" altLang="zh-TW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OOO</a:t>
            </a:r>
            <a:endParaRPr kumimoji="0" lang="zh-TW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18" name="矩形: 圓角 17">
            <a:extLst>
              <a:ext uri="{FF2B5EF4-FFF2-40B4-BE49-F238E27FC236}">
                <a16:creationId xmlns:a16="http://schemas.microsoft.com/office/drawing/2014/main" id="{E4E5ED11-B4C1-38FA-908A-607F6ADFA7DE}"/>
              </a:ext>
            </a:extLst>
          </p:cNvPr>
          <p:cNvSpPr/>
          <p:nvPr/>
        </p:nvSpPr>
        <p:spPr>
          <a:xfrm>
            <a:off x="714181" y="2948103"/>
            <a:ext cx="6584566" cy="1754619"/>
          </a:xfrm>
          <a:prstGeom prst="roundRect">
            <a:avLst>
              <a:gd name="adj" fmla="val 6449"/>
            </a:avLst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792652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1" grpId="0" animBg="1"/>
      <p:bldP spid="13" grpId="0"/>
      <p:bldP spid="14" grpId="0"/>
      <p:bldP spid="17" grpId="0"/>
      <p:bldP spid="18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圖片 34">
            <a:extLst>
              <a:ext uri="{FF2B5EF4-FFF2-40B4-BE49-F238E27FC236}">
                <a16:creationId xmlns:a16="http://schemas.microsoft.com/office/drawing/2014/main" id="{0F4D7410-BA47-C88E-2185-75A7E31737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5937" y="4092555"/>
            <a:ext cx="3351526" cy="2650369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F7E9BBEA-96B1-A07D-6AEE-5B916004F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機器怎麼畫圖或發出聲音？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B7093803-B076-13EF-6EB9-35937D3C952D}"/>
              </a:ext>
            </a:extLst>
          </p:cNvPr>
          <p:cNvSpPr/>
          <p:nvPr/>
        </p:nvSpPr>
        <p:spPr>
          <a:xfrm>
            <a:off x="4101223" y="2231376"/>
            <a:ext cx="1693981" cy="1097684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影像</a:t>
            </a:r>
            <a:endParaRPr kumimoji="0" lang="en-US" altLang="zh-TW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生成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1895AE82-897E-F485-1477-B0602B3FF8D5}"/>
              </a:ext>
            </a:extLst>
          </p:cNvPr>
          <p:cNvSpPr txBox="1"/>
          <p:nvPr/>
        </p:nvSpPr>
        <p:spPr>
          <a:xfrm>
            <a:off x="358140" y="2545316"/>
            <a:ext cx="27469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一隻在奔跑的狗</a:t>
            </a:r>
          </a:p>
        </p:txBody>
      </p:sp>
      <p:cxnSp>
        <p:nvCxnSpPr>
          <p:cNvPr id="8" name="直線單箭頭接點 7">
            <a:extLst>
              <a:ext uri="{FF2B5EF4-FFF2-40B4-BE49-F238E27FC236}">
                <a16:creationId xmlns:a16="http://schemas.microsoft.com/office/drawing/2014/main" id="{D4D444FC-6A8E-5831-F1A8-DC1014CADE4F}"/>
              </a:ext>
            </a:extLst>
          </p:cNvPr>
          <p:cNvCxnSpPr>
            <a:cxnSpLocks/>
          </p:cNvCxnSpPr>
          <p:nvPr/>
        </p:nvCxnSpPr>
        <p:spPr>
          <a:xfrm>
            <a:off x="5893094" y="2791081"/>
            <a:ext cx="796423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單箭頭接點 8">
            <a:extLst>
              <a:ext uri="{FF2B5EF4-FFF2-40B4-BE49-F238E27FC236}">
                <a16:creationId xmlns:a16="http://schemas.microsoft.com/office/drawing/2014/main" id="{20AA5AF1-A4C4-0BDE-70C9-38EE56D81616}"/>
              </a:ext>
            </a:extLst>
          </p:cNvPr>
          <p:cNvCxnSpPr>
            <a:cxnSpLocks/>
          </p:cNvCxnSpPr>
          <p:nvPr/>
        </p:nvCxnSpPr>
        <p:spPr>
          <a:xfrm>
            <a:off x="3171665" y="2791081"/>
            <a:ext cx="796423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A2E0E904-859E-D8FD-2FD9-DE88193D9DA9}"/>
              </a:ext>
            </a:extLst>
          </p:cNvPr>
          <p:cNvSpPr/>
          <p:nvPr/>
        </p:nvSpPr>
        <p:spPr>
          <a:xfrm>
            <a:off x="7007576" y="1690688"/>
            <a:ext cx="528735" cy="46653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A1EA5FD5-EB60-8A0B-CECA-95DA1E68FB8D}"/>
              </a:ext>
            </a:extLst>
          </p:cNvPr>
          <p:cNvSpPr/>
          <p:nvPr/>
        </p:nvSpPr>
        <p:spPr>
          <a:xfrm>
            <a:off x="7701152" y="1690688"/>
            <a:ext cx="528735" cy="46653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F946A635-03D7-64E2-E6F4-DACCD74D054C}"/>
              </a:ext>
            </a:extLst>
          </p:cNvPr>
          <p:cNvSpPr/>
          <p:nvPr/>
        </p:nvSpPr>
        <p:spPr>
          <a:xfrm>
            <a:off x="8369847" y="1690688"/>
            <a:ext cx="528735" cy="46653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041125D1-D004-5972-0744-C54B84BA0526}"/>
              </a:ext>
            </a:extLst>
          </p:cNvPr>
          <p:cNvSpPr/>
          <p:nvPr/>
        </p:nvSpPr>
        <p:spPr>
          <a:xfrm>
            <a:off x="9063423" y="1690688"/>
            <a:ext cx="528735" cy="46653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B5F7F99A-CF6F-44DF-8C8D-40455822A738}"/>
              </a:ext>
            </a:extLst>
          </p:cNvPr>
          <p:cNvSpPr/>
          <p:nvPr/>
        </p:nvSpPr>
        <p:spPr>
          <a:xfrm>
            <a:off x="6997727" y="2265040"/>
            <a:ext cx="528735" cy="46653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22CDA25B-6D78-5699-8F67-7834C0C82754}"/>
              </a:ext>
            </a:extLst>
          </p:cNvPr>
          <p:cNvSpPr/>
          <p:nvPr/>
        </p:nvSpPr>
        <p:spPr>
          <a:xfrm>
            <a:off x="7691303" y="2265040"/>
            <a:ext cx="528735" cy="46653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160CA1A0-E602-1E64-EC86-55C81C86F1B3}"/>
              </a:ext>
            </a:extLst>
          </p:cNvPr>
          <p:cNvSpPr/>
          <p:nvPr/>
        </p:nvSpPr>
        <p:spPr>
          <a:xfrm>
            <a:off x="8359998" y="2265040"/>
            <a:ext cx="528735" cy="46653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7" name="矩形: 圓角 16">
            <a:extLst>
              <a:ext uri="{FF2B5EF4-FFF2-40B4-BE49-F238E27FC236}">
                <a16:creationId xmlns:a16="http://schemas.microsoft.com/office/drawing/2014/main" id="{2365BA9E-F42E-2CD9-97ED-C48880504B7F}"/>
              </a:ext>
            </a:extLst>
          </p:cNvPr>
          <p:cNvSpPr/>
          <p:nvPr/>
        </p:nvSpPr>
        <p:spPr>
          <a:xfrm>
            <a:off x="9053574" y="2265040"/>
            <a:ext cx="528735" cy="46653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8" name="矩形: 圓角 17">
            <a:extLst>
              <a:ext uri="{FF2B5EF4-FFF2-40B4-BE49-F238E27FC236}">
                <a16:creationId xmlns:a16="http://schemas.microsoft.com/office/drawing/2014/main" id="{42B83461-33E4-995A-598E-91B69E2F4DE8}"/>
              </a:ext>
            </a:extLst>
          </p:cNvPr>
          <p:cNvSpPr/>
          <p:nvPr/>
        </p:nvSpPr>
        <p:spPr>
          <a:xfrm>
            <a:off x="6997727" y="2848252"/>
            <a:ext cx="528735" cy="46653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9" name="矩形: 圓角 18">
            <a:extLst>
              <a:ext uri="{FF2B5EF4-FFF2-40B4-BE49-F238E27FC236}">
                <a16:creationId xmlns:a16="http://schemas.microsoft.com/office/drawing/2014/main" id="{FB8FA98D-85E8-78F6-44AD-E02ED000DDEF}"/>
              </a:ext>
            </a:extLst>
          </p:cNvPr>
          <p:cNvSpPr/>
          <p:nvPr/>
        </p:nvSpPr>
        <p:spPr>
          <a:xfrm>
            <a:off x="7691303" y="2848252"/>
            <a:ext cx="528735" cy="46653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20" name="矩形: 圓角 19">
            <a:extLst>
              <a:ext uri="{FF2B5EF4-FFF2-40B4-BE49-F238E27FC236}">
                <a16:creationId xmlns:a16="http://schemas.microsoft.com/office/drawing/2014/main" id="{FFA50D8F-8814-FDA2-5A1F-1FB1479C25CD}"/>
              </a:ext>
            </a:extLst>
          </p:cNvPr>
          <p:cNvSpPr/>
          <p:nvPr/>
        </p:nvSpPr>
        <p:spPr>
          <a:xfrm>
            <a:off x="8359998" y="2848252"/>
            <a:ext cx="528735" cy="46653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21" name="矩形: 圓角 20">
            <a:extLst>
              <a:ext uri="{FF2B5EF4-FFF2-40B4-BE49-F238E27FC236}">
                <a16:creationId xmlns:a16="http://schemas.microsoft.com/office/drawing/2014/main" id="{10BAC585-DE1B-0076-7531-88EA54025213}"/>
              </a:ext>
            </a:extLst>
          </p:cNvPr>
          <p:cNvSpPr/>
          <p:nvPr/>
        </p:nvSpPr>
        <p:spPr>
          <a:xfrm>
            <a:off x="9053574" y="2848252"/>
            <a:ext cx="528735" cy="46653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22" name="矩形: 圓角 21">
            <a:extLst>
              <a:ext uri="{FF2B5EF4-FFF2-40B4-BE49-F238E27FC236}">
                <a16:creationId xmlns:a16="http://schemas.microsoft.com/office/drawing/2014/main" id="{B6638134-9858-611E-493D-3D493EDCFA59}"/>
              </a:ext>
            </a:extLst>
          </p:cNvPr>
          <p:cNvSpPr/>
          <p:nvPr/>
        </p:nvSpPr>
        <p:spPr>
          <a:xfrm>
            <a:off x="6997727" y="3400254"/>
            <a:ext cx="528735" cy="46653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23" name="矩形: 圓角 22">
            <a:extLst>
              <a:ext uri="{FF2B5EF4-FFF2-40B4-BE49-F238E27FC236}">
                <a16:creationId xmlns:a16="http://schemas.microsoft.com/office/drawing/2014/main" id="{B76B2DE9-6D6A-4F26-4F80-E04CC8E46654}"/>
              </a:ext>
            </a:extLst>
          </p:cNvPr>
          <p:cNvSpPr/>
          <p:nvPr/>
        </p:nvSpPr>
        <p:spPr>
          <a:xfrm>
            <a:off x="7691303" y="3400254"/>
            <a:ext cx="528735" cy="46653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24" name="矩形: 圓角 23">
            <a:extLst>
              <a:ext uri="{FF2B5EF4-FFF2-40B4-BE49-F238E27FC236}">
                <a16:creationId xmlns:a16="http://schemas.microsoft.com/office/drawing/2014/main" id="{AD73CAC8-FFCE-9011-12FF-7CDD35512F6E}"/>
              </a:ext>
            </a:extLst>
          </p:cNvPr>
          <p:cNvSpPr/>
          <p:nvPr/>
        </p:nvSpPr>
        <p:spPr>
          <a:xfrm>
            <a:off x="8359998" y="3400254"/>
            <a:ext cx="528735" cy="46653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25" name="矩形: 圓角 24">
            <a:extLst>
              <a:ext uri="{FF2B5EF4-FFF2-40B4-BE49-F238E27FC236}">
                <a16:creationId xmlns:a16="http://schemas.microsoft.com/office/drawing/2014/main" id="{E2596862-7BA4-B5EE-4020-CE253000C6CF}"/>
              </a:ext>
            </a:extLst>
          </p:cNvPr>
          <p:cNvSpPr/>
          <p:nvPr/>
        </p:nvSpPr>
        <p:spPr>
          <a:xfrm>
            <a:off x="9053574" y="3400254"/>
            <a:ext cx="528735" cy="46653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26" name="矩形: 圓角 25">
            <a:extLst>
              <a:ext uri="{FF2B5EF4-FFF2-40B4-BE49-F238E27FC236}">
                <a16:creationId xmlns:a16="http://schemas.microsoft.com/office/drawing/2014/main" id="{B2ED3EC6-9201-56A8-2F9F-0031D48883AA}"/>
              </a:ext>
            </a:extLst>
          </p:cNvPr>
          <p:cNvSpPr/>
          <p:nvPr/>
        </p:nvSpPr>
        <p:spPr>
          <a:xfrm>
            <a:off x="4169803" y="4858035"/>
            <a:ext cx="1693981" cy="1097684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聲音</a:t>
            </a:r>
            <a:endParaRPr kumimoji="0" lang="en-US" altLang="zh-TW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生成</a:t>
            </a:r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AD1FADBB-36C3-34D6-9299-1A5816E8CBFE}"/>
              </a:ext>
            </a:extLst>
          </p:cNvPr>
          <p:cNvSpPr txBox="1"/>
          <p:nvPr/>
        </p:nvSpPr>
        <p:spPr>
          <a:xfrm>
            <a:off x="426720" y="5171975"/>
            <a:ext cx="27469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唱一首歌激勵我</a:t>
            </a:r>
          </a:p>
        </p:txBody>
      </p:sp>
      <p:cxnSp>
        <p:nvCxnSpPr>
          <p:cNvPr id="28" name="直線單箭頭接點 27">
            <a:extLst>
              <a:ext uri="{FF2B5EF4-FFF2-40B4-BE49-F238E27FC236}">
                <a16:creationId xmlns:a16="http://schemas.microsoft.com/office/drawing/2014/main" id="{71F88D85-F435-FB98-AB6C-D24E03E83571}"/>
              </a:ext>
            </a:extLst>
          </p:cNvPr>
          <p:cNvCxnSpPr>
            <a:cxnSpLocks/>
          </p:cNvCxnSpPr>
          <p:nvPr/>
        </p:nvCxnSpPr>
        <p:spPr>
          <a:xfrm>
            <a:off x="5961674" y="5417740"/>
            <a:ext cx="796423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單箭頭接點 28">
            <a:extLst>
              <a:ext uri="{FF2B5EF4-FFF2-40B4-BE49-F238E27FC236}">
                <a16:creationId xmlns:a16="http://schemas.microsoft.com/office/drawing/2014/main" id="{E0E72A1E-B35A-E09B-18EC-58246B59117C}"/>
              </a:ext>
            </a:extLst>
          </p:cNvPr>
          <p:cNvCxnSpPr>
            <a:cxnSpLocks/>
          </p:cNvCxnSpPr>
          <p:nvPr/>
        </p:nvCxnSpPr>
        <p:spPr>
          <a:xfrm>
            <a:off x="3240245" y="5417740"/>
            <a:ext cx="796423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字方塊 2">
            <a:extLst>
              <a:ext uri="{FF2B5EF4-FFF2-40B4-BE49-F238E27FC236}">
                <a16:creationId xmlns:a16="http://schemas.microsoft.com/office/drawing/2014/main" id="{F7243452-B87B-DAD0-B6DB-C9E18933A2C7}"/>
              </a:ext>
            </a:extLst>
          </p:cNvPr>
          <p:cNvSpPr txBox="1"/>
          <p:nvPr/>
        </p:nvSpPr>
        <p:spPr>
          <a:xfrm>
            <a:off x="10037463" y="2432753"/>
            <a:ext cx="169398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影片就是多張圖片</a:t>
            </a:r>
          </a:p>
        </p:txBody>
      </p:sp>
    </p:spTree>
    <p:extLst>
      <p:ext uri="{BB962C8B-B14F-4D97-AF65-F5344CB8AC3E}">
        <p14:creationId xmlns:p14="http://schemas.microsoft.com/office/powerpoint/2010/main" val="7035924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6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2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780"/>
                            </p:stCondLst>
                            <p:childTnLst>
                              <p:par>
                                <p:cTn id="27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40"/>
                            </p:stCondLst>
                            <p:childTnLst>
                              <p:par>
                                <p:cTn id="30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300"/>
                            </p:stCondLst>
                            <p:childTnLst>
                              <p:par>
                                <p:cTn id="33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560"/>
                            </p:stCondLst>
                            <p:childTnLst>
                              <p:par>
                                <p:cTn id="36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820"/>
                            </p:stCondLst>
                            <p:childTnLst>
                              <p:par>
                                <p:cTn id="39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080"/>
                            </p:stCondLst>
                            <p:childTnLst>
                              <p:par>
                                <p:cTn id="42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340"/>
                            </p:stCondLst>
                            <p:childTnLst>
                              <p:par>
                                <p:cTn id="45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600"/>
                            </p:stCondLst>
                            <p:childTnLst>
                              <p:par>
                                <p:cTn id="48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2860"/>
                            </p:stCondLst>
                            <p:childTnLst>
                              <p:par>
                                <p:cTn id="51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3120"/>
                            </p:stCondLst>
                            <p:childTnLst>
                              <p:par>
                                <p:cTn id="54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3380"/>
                            </p:stCondLst>
                            <p:childTnLst>
                              <p:par>
                                <p:cTn id="57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3640"/>
                            </p:stCondLst>
                            <p:childTnLst>
                              <p:par>
                                <p:cTn id="60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/>
      <p:bldP spid="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EBD5A97-7AB0-6974-4DE3-B0C8AD69F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機器怎麼畫圖或發出聲音？</a:t>
            </a:r>
            <a:endParaRPr lang="zh-TW" altLang="en-US" dirty="0"/>
          </a:p>
        </p:txBody>
      </p:sp>
      <p:pic>
        <p:nvPicPr>
          <p:cNvPr id="4" name="2x-no-mark-animated">
            <a:hlinkClick r:id="" action="ppaction://media"/>
            <a:extLst>
              <a:ext uri="{FF2B5EF4-FFF2-40B4-BE49-F238E27FC236}">
                <a16:creationId xmlns:a16="http://schemas.microsoft.com/office/drawing/2014/main" id="{8E3C30D8-1DC3-6DA4-B67F-A492D3AC079E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043054" y="1409622"/>
            <a:ext cx="3639174" cy="4837525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87797314-03F3-BFEF-2EDF-D308DD26CCC4}"/>
              </a:ext>
            </a:extLst>
          </p:cNvPr>
          <p:cNvSpPr txBox="1"/>
          <p:nvPr/>
        </p:nvSpPr>
        <p:spPr>
          <a:xfrm>
            <a:off x="2034186" y="6121971"/>
            <a:ext cx="56297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(2016 </a:t>
            </a:r>
            <a:r>
              <a: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年</a:t>
            </a: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《</a:t>
            </a:r>
            <a:r>
              <a: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機器學習</a:t>
            </a: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》</a:t>
            </a:r>
            <a:r>
              <a: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秋季班上課錄影</a:t>
            </a: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)</a:t>
            </a:r>
            <a:endParaRPr kumimoji="0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C7633356-1118-F05D-4F3E-981ACE8FE1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91145" y="1422021"/>
            <a:ext cx="5296639" cy="4544059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29A2CB01-5BE0-DCE1-EB9F-1E42BEFBAD09}"/>
              </a:ext>
            </a:extLst>
          </p:cNvPr>
          <p:cNvSpPr txBox="1"/>
          <p:nvPr/>
        </p:nvSpPr>
        <p:spPr>
          <a:xfrm>
            <a:off x="3974815" y="572653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https://youtu.be/YNUek8ioAJk?t=537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E3F1268C-7E68-0405-69CB-3F8AF4FEEC74}"/>
              </a:ext>
            </a:extLst>
          </p:cNvPr>
          <p:cNvSpPr txBox="1"/>
          <p:nvPr/>
        </p:nvSpPr>
        <p:spPr>
          <a:xfrm>
            <a:off x="7776978" y="6308209"/>
            <a:ext cx="39052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https://openai.com/blog/image-gpt/</a:t>
            </a:r>
          </a:p>
        </p:txBody>
      </p:sp>
    </p:spTree>
    <p:extLst>
      <p:ext uri="{BB962C8B-B14F-4D97-AF65-F5344CB8AC3E}">
        <p14:creationId xmlns:p14="http://schemas.microsoft.com/office/powerpoint/2010/main" val="42846910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8" dur="1460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9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D5DFFB2-FBB5-CF6E-80DE-DA2379742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機器怎麼畫圖或發出聲音？</a:t>
            </a:r>
            <a:endParaRPr lang="zh-TW" altLang="en-US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B1C4394B-47DC-BFF4-5B2F-F3C9055FDF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8914" y="1984751"/>
            <a:ext cx="8615286" cy="3960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C1F07373-A6F6-B4BD-21A4-6D6A81445163}"/>
              </a:ext>
            </a:extLst>
          </p:cNvPr>
          <p:cNvSpPr txBox="1"/>
          <p:nvPr/>
        </p:nvSpPr>
        <p:spPr>
          <a:xfrm>
            <a:off x="8172450" y="518142"/>
            <a:ext cx="3524250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800" dirty="0" err="1"/>
              <a:t>WaveNet</a:t>
            </a:r>
            <a:endParaRPr lang="en-US" altLang="zh-TW" sz="2800" dirty="0"/>
          </a:p>
          <a:p>
            <a:r>
              <a:rPr lang="zh-TW" altLang="en-US" dirty="0"/>
              <a:t>https://arxiv.org/abs/1609.03499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398A117F-18F9-6F4B-BBF5-F3C6A18285EE}"/>
              </a:ext>
            </a:extLst>
          </p:cNvPr>
          <p:cNvSpPr txBox="1"/>
          <p:nvPr/>
        </p:nvSpPr>
        <p:spPr>
          <a:xfrm>
            <a:off x="888912" y="6317087"/>
            <a:ext cx="10515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en-US" altLang="zh-TW" dirty="0">
                <a:solidFill>
                  <a:prstClr val="black"/>
                </a:solidFill>
              </a:rPr>
              <a:t>Source: https://deepmind.google/discover/blog/wavenet-a-generative-model-for-raw-audio/</a:t>
            </a:r>
            <a:endParaRPr kumimoji="0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C5A132DB-274A-AA20-0EAB-25F51755D4D4}"/>
              </a:ext>
            </a:extLst>
          </p:cNvPr>
          <p:cNvSpPr txBox="1"/>
          <p:nvPr/>
        </p:nvSpPr>
        <p:spPr>
          <a:xfrm>
            <a:off x="342900" y="2598003"/>
            <a:ext cx="1447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聲音中的取樣點</a:t>
            </a:r>
          </a:p>
        </p:txBody>
      </p:sp>
      <p:cxnSp>
        <p:nvCxnSpPr>
          <p:cNvPr id="8" name="直線單箭頭接點 7">
            <a:extLst>
              <a:ext uri="{FF2B5EF4-FFF2-40B4-BE49-F238E27FC236}">
                <a16:creationId xmlns:a16="http://schemas.microsoft.com/office/drawing/2014/main" id="{C39E869B-97B8-7E6F-471B-24B4219930FE}"/>
              </a:ext>
            </a:extLst>
          </p:cNvPr>
          <p:cNvCxnSpPr/>
          <p:nvPr/>
        </p:nvCxnSpPr>
        <p:spPr>
          <a:xfrm flipV="1">
            <a:off x="1428750" y="2133600"/>
            <a:ext cx="514350" cy="464403"/>
          </a:xfrm>
          <a:prstGeom prst="straightConnector1">
            <a:avLst/>
          </a:prstGeom>
          <a:ln w="5715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71911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圖片 13" descr="一張含有 文字, 紅色, 箱子, 靜止的 的圖片&#10;&#10;自動產生的描述">
            <a:extLst>
              <a:ext uri="{FF2B5EF4-FFF2-40B4-BE49-F238E27FC236}">
                <a16:creationId xmlns:a16="http://schemas.microsoft.com/office/drawing/2014/main" id="{3EFB61A7-B986-2CDE-3CD9-FC12179D1F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2212" y="2061541"/>
            <a:ext cx="2865588" cy="3596973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345D91D2-448E-C703-AFFC-5846A1C6B5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機器怎麼畫圖或發出聲音？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FA78263-C0A7-844F-A14A-87089F1B96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假設要生成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1024 x 1024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解析度的圖片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假設要生成取樣率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22K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的語音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分鐘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03771750-B323-C0A4-32C1-EE0653ECD5B1}"/>
              </a:ext>
            </a:extLst>
          </p:cNvPr>
          <p:cNvSpPr txBox="1"/>
          <p:nvPr/>
        </p:nvSpPr>
        <p:spPr>
          <a:xfrm>
            <a:off x="7742581" y="2061541"/>
            <a:ext cx="42937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要做約</a:t>
            </a:r>
            <a:r>
              <a:rPr kumimoji="0" lang="en-US" altLang="zh-TW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100</a:t>
            </a:r>
            <a:r>
              <a:rPr kumimoji="0" lang="zh-TW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萬次接龍</a:t>
            </a:r>
            <a:r>
              <a:rPr kumimoji="0" lang="en-US" altLang="zh-TW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!</a:t>
            </a:r>
            <a:endParaRPr kumimoji="0" lang="zh-TW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68EE2BC3-F2D1-6AE7-A7A2-B932A0C1FB49}"/>
              </a:ext>
            </a:extLst>
          </p:cNvPr>
          <p:cNvSpPr txBox="1"/>
          <p:nvPr/>
        </p:nvSpPr>
        <p:spPr>
          <a:xfrm>
            <a:off x="5232956" y="3648591"/>
            <a:ext cx="609268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8F9FA"/>
                </a:highlight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等於每生一張圖片都要寫一部紅樓夢</a:t>
            </a:r>
            <a:endParaRPr kumimoji="0" lang="zh-TW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8BB13A86-2AE3-8059-6E76-AE56F056B785}"/>
              </a:ext>
            </a:extLst>
          </p:cNvPr>
          <p:cNvSpPr txBox="1"/>
          <p:nvPr/>
        </p:nvSpPr>
        <p:spPr>
          <a:xfrm>
            <a:off x="5940286" y="416683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https://www.eslite.com/product/1001110932518887</a:t>
            </a:r>
            <a:endParaRPr kumimoji="0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9405A073-EA4E-7451-276B-3CA9D84385B6}"/>
              </a:ext>
            </a:extLst>
          </p:cNvPr>
          <p:cNvSpPr txBox="1"/>
          <p:nvPr/>
        </p:nvSpPr>
        <p:spPr>
          <a:xfrm>
            <a:off x="7875931" y="5860290"/>
            <a:ext cx="42937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要做約</a:t>
            </a:r>
            <a:r>
              <a:rPr kumimoji="0" lang="en-US" altLang="zh-TW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132</a:t>
            </a:r>
            <a:r>
              <a:rPr kumimoji="0" lang="zh-TW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萬次接龍</a:t>
            </a:r>
            <a:r>
              <a:rPr kumimoji="0" lang="en-US" altLang="zh-TW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!</a:t>
            </a:r>
            <a:endParaRPr kumimoji="0" lang="zh-TW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171725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/>
      <p:bldP spid="6" grpId="0"/>
      <p:bldP spid="16" grpId="0"/>
      <p:bldP spid="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190FD4-D747-CE31-DB26-200916C1F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機器怎麼畫圖或發出聲音？</a:t>
            </a:r>
            <a:endParaRPr lang="zh-TW" altLang="en-US" dirty="0"/>
          </a:p>
        </p:txBody>
      </p:sp>
      <p:pic>
        <p:nvPicPr>
          <p:cNvPr id="19" name="圖形 18" descr="語音 以實心填滿">
            <a:extLst>
              <a:ext uri="{FF2B5EF4-FFF2-40B4-BE49-F238E27FC236}">
                <a16:creationId xmlns:a16="http://schemas.microsoft.com/office/drawing/2014/main" id="{019B5535-77B3-DDA4-8A90-A6292C6A87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8149" y="4378835"/>
            <a:ext cx="1561059" cy="1561059"/>
          </a:xfrm>
          <a:prstGeom prst="rect">
            <a:avLst/>
          </a:prstGeom>
        </p:spPr>
      </p:pic>
      <p:pic>
        <p:nvPicPr>
          <p:cNvPr id="20" name="圖形 19" descr="語音 以實心填滿">
            <a:extLst>
              <a:ext uri="{FF2B5EF4-FFF2-40B4-BE49-F238E27FC236}">
                <a16:creationId xmlns:a16="http://schemas.microsoft.com/office/drawing/2014/main" id="{12914F07-FFED-F92D-909A-101E81E181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30615" y="4431475"/>
            <a:ext cx="1561059" cy="1561059"/>
          </a:xfrm>
          <a:prstGeom prst="rect">
            <a:avLst/>
          </a:prstGeom>
        </p:spPr>
      </p:pic>
      <p:pic>
        <p:nvPicPr>
          <p:cNvPr id="21" name="圖片 20" descr="一張含有 草, 哈士奇, 戶外, 寵物 的圖片&#10;&#10;自動產生的描述">
            <a:extLst>
              <a:ext uri="{FF2B5EF4-FFF2-40B4-BE49-F238E27FC236}">
                <a16:creationId xmlns:a16="http://schemas.microsoft.com/office/drawing/2014/main" id="{9D456B40-B3EB-58BC-D11F-A97AF3D2D35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690" y="1732685"/>
            <a:ext cx="1504008" cy="1504008"/>
          </a:xfrm>
          <a:prstGeom prst="rect">
            <a:avLst/>
          </a:prstGeom>
        </p:spPr>
      </p:pic>
      <p:sp>
        <p:nvSpPr>
          <p:cNvPr id="22" name="矩形: 圓角 21">
            <a:extLst>
              <a:ext uri="{FF2B5EF4-FFF2-40B4-BE49-F238E27FC236}">
                <a16:creationId xmlns:a16="http://schemas.microsoft.com/office/drawing/2014/main" id="{F20DFBD0-3667-3951-00CD-36BC1FF1A300}"/>
              </a:ext>
            </a:extLst>
          </p:cNvPr>
          <p:cNvSpPr/>
          <p:nvPr/>
        </p:nvSpPr>
        <p:spPr>
          <a:xfrm>
            <a:off x="2531065" y="1779355"/>
            <a:ext cx="1855460" cy="1399619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圖像</a:t>
            </a:r>
            <a:endParaRPr kumimoji="0" lang="en-US" altLang="zh-TW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Encoder</a:t>
            </a:r>
          </a:p>
        </p:txBody>
      </p:sp>
      <p:sp>
        <p:nvSpPr>
          <p:cNvPr id="23" name="矩形: 圓角 22">
            <a:extLst>
              <a:ext uri="{FF2B5EF4-FFF2-40B4-BE49-F238E27FC236}">
                <a16:creationId xmlns:a16="http://schemas.microsoft.com/office/drawing/2014/main" id="{BC39F543-723D-9CF6-4B7E-4EAE0E17F8F6}"/>
              </a:ext>
            </a:extLst>
          </p:cNvPr>
          <p:cNvSpPr/>
          <p:nvPr/>
        </p:nvSpPr>
        <p:spPr>
          <a:xfrm>
            <a:off x="7760090" y="1779355"/>
            <a:ext cx="1855460" cy="1399619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圖像</a:t>
            </a:r>
            <a:endParaRPr kumimoji="0" lang="en-US" altLang="zh-TW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Decoder</a:t>
            </a:r>
          </a:p>
        </p:txBody>
      </p:sp>
      <p:pic>
        <p:nvPicPr>
          <p:cNvPr id="31" name="圖片 30" descr="一張含有 草, 哈士奇, 戶外, 寵物 的圖片&#10;&#10;自動產生的描述">
            <a:extLst>
              <a:ext uri="{FF2B5EF4-FFF2-40B4-BE49-F238E27FC236}">
                <a16:creationId xmlns:a16="http://schemas.microsoft.com/office/drawing/2014/main" id="{94326F63-F954-F756-3781-927F567BBCB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1546" y="1751735"/>
            <a:ext cx="1504008" cy="1504008"/>
          </a:xfrm>
          <a:prstGeom prst="rect">
            <a:avLst/>
          </a:prstGeom>
        </p:spPr>
      </p:pic>
      <p:cxnSp>
        <p:nvCxnSpPr>
          <p:cNvPr id="33" name="直線單箭頭接點 32">
            <a:extLst>
              <a:ext uri="{FF2B5EF4-FFF2-40B4-BE49-F238E27FC236}">
                <a16:creationId xmlns:a16="http://schemas.microsoft.com/office/drawing/2014/main" id="{0938F29B-89B8-0614-9D66-75D3917910E7}"/>
              </a:ext>
            </a:extLst>
          </p:cNvPr>
          <p:cNvCxnSpPr>
            <a:cxnSpLocks/>
          </p:cNvCxnSpPr>
          <p:nvPr/>
        </p:nvCxnSpPr>
        <p:spPr>
          <a:xfrm>
            <a:off x="4471080" y="2490801"/>
            <a:ext cx="531395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單箭頭接點 33">
            <a:extLst>
              <a:ext uri="{FF2B5EF4-FFF2-40B4-BE49-F238E27FC236}">
                <a16:creationId xmlns:a16="http://schemas.microsoft.com/office/drawing/2014/main" id="{34BB4A3D-52FE-4000-9A75-87BC7CA43F28}"/>
              </a:ext>
            </a:extLst>
          </p:cNvPr>
          <p:cNvCxnSpPr>
            <a:cxnSpLocks/>
          </p:cNvCxnSpPr>
          <p:nvPr/>
        </p:nvCxnSpPr>
        <p:spPr>
          <a:xfrm>
            <a:off x="7144732" y="2484451"/>
            <a:ext cx="556203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4" name="圖形 43" descr="背包 以實心填滿">
            <a:extLst>
              <a:ext uri="{FF2B5EF4-FFF2-40B4-BE49-F238E27FC236}">
                <a16:creationId xmlns:a16="http://schemas.microsoft.com/office/drawing/2014/main" id="{F70F4B85-61AD-9E2C-7014-CDCA22CEAFF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57806" y="2249778"/>
            <a:ext cx="540000" cy="540000"/>
          </a:xfrm>
          <a:prstGeom prst="rect">
            <a:avLst/>
          </a:prstGeom>
        </p:spPr>
      </p:pic>
      <p:pic>
        <p:nvPicPr>
          <p:cNvPr id="45" name="圖形 44" descr="氣球 以實心填滿">
            <a:extLst>
              <a:ext uri="{FF2B5EF4-FFF2-40B4-BE49-F238E27FC236}">
                <a16:creationId xmlns:a16="http://schemas.microsoft.com/office/drawing/2014/main" id="{4E9C39B4-E8E6-F274-5E7A-5818AA99DA5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19172" y="2264292"/>
            <a:ext cx="540000" cy="540000"/>
          </a:xfrm>
          <a:prstGeom prst="rect">
            <a:avLst/>
          </a:prstGeom>
        </p:spPr>
      </p:pic>
      <p:pic>
        <p:nvPicPr>
          <p:cNvPr id="48" name="圖形 47" descr="橡實 以實心填滿">
            <a:extLst>
              <a:ext uri="{FF2B5EF4-FFF2-40B4-BE49-F238E27FC236}">
                <a16:creationId xmlns:a16="http://schemas.microsoft.com/office/drawing/2014/main" id="{E406115F-B625-0414-29FC-EF0721E8C69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031503" y="2220801"/>
            <a:ext cx="540000" cy="540000"/>
          </a:xfrm>
          <a:prstGeom prst="rect">
            <a:avLst/>
          </a:prstGeom>
        </p:spPr>
      </p:pic>
      <p:cxnSp>
        <p:nvCxnSpPr>
          <p:cNvPr id="49" name="直線單箭頭接點 48">
            <a:extLst>
              <a:ext uri="{FF2B5EF4-FFF2-40B4-BE49-F238E27FC236}">
                <a16:creationId xmlns:a16="http://schemas.microsoft.com/office/drawing/2014/main" id="{D204B116-2058-C4FC-D1DE-AEFEF4948AB0}"/>
              </a:ext>
            </a:extLst>
          </p:cNvPr>
          <p:cNvCxnSpPr>
            <a:cxnSpLocks/>
          </p:cNvCxnSpPr>
          <p:nvPr/>
        </p:nvCxnSpPr>
        <p:spPr>
          <a:xfrm>
            <a:off x="1935542" y="2479165"/>
            <a:ext cx="531395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單箭頭接點 49">
            <a:extLst>
              <a:ext uri="{FF2B5EF4-FFF2-40B4-BE49-F238E27FC236}">
                <a16:creationId xmlns:a16="http://schemas.microsoft.com/office/drawing/2014/main" id="{3F0DC805-F158-153B-D005-8087CAA55F0D}"/>
              </a:ext>
            </a:extLst>
          </p:cNvPr>
          <p:cNvCxnSpPr>
            <a:cxnSpLocks/>
          </p:cNvCxnSpPr>
          <p:nvPr/>
        </p:nvCxnSpPr>
        <p:spPr>
          <a:xfrm>
            <a:off x="9668435" y="2490801"/>
            <a:ext cx="531395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文字方塊 50">
            <a:extLst>
              <a:ext uri="{FF2B5EF4-FFF2-40B4-BE49-F238E27FC236}">
                <a16:creationId xmlns:a16="http://schemas.microsoft.com/office/drawing/2014/main" id="{6D97F8DB-D756-1E3B-99C5-4277EA90BE4C}"/>
              </a:ext>
            </a:extLst>
          </p:cNvPr>
          <p:cNvSpPr txBox="1"/>
          <p:nvPr/>
        </p:nvSpPr>
        <p:spPr>
          <a:xfrm>
            <a:off x="6659172" y="2159574"/>
            <a:ext cx="5145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…</a:t>
            </a:r>
            <a:endParaRPr kumimoji="0" lang="zh-TW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cxnSp>
        <p:nvCxnSpPr>
          <p:cNvPr id="53" name="直線接點 52">
            <a:extLst>
              <a:ext uri="{FF2B5EF4-FFF2-40B4-BE49-F238E27FC236}">
                <a16:creationId xmlns:a16="http://schemas.microsoft.com/office/drawing/2014/main" id="{8216FC45-B473-5954-4E83-9D1773A44741}"/>
              </a:ext>
            </a:extLst>
          </p:cNvPr>
          <p:cNvCxnSpPr>
            <a:cxnSpLocks/>
          </p:cNvCxnSpPr>
          <p:nvPr/>
        </p:nvCxnSpPr>
        <p:spPr>
          <a:xfrm>
            <a:off x="401690" y="2249778"/>
            <a:ext cx="1533852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接點 54">
            <a:extLst>
              <a:ext uri="{FF2B5EF4-FFF2-40B4-BE49-F238E27FC236}">
                <a16:creationId xmlns:a16="http://schemas.microsoft.com/office/drawing/2014/main" id="{FF7BE513-58DE-AD60-B8FB-6C13D7D91547}"/>
              </a:ext>
            </a:extLst>
          </p:cNvPr>
          <p:cNvCxnSpPr>
            <a:cxnSpLocks/>
          </p:cNvCxnSpPr>
          <p:nvPr/>
        </p:nvCxnSpPr>
        <p:spPr>
          <a:xfrm>
            <a:off x="371846" y="2682794"/>
            <a:ext cx="1533852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接點 55">
            <a:extLst>
              <a:ext uri="{FF2B5EF4-FFF2-40B4-BE49-F238E27FC236}">
                <a16:creationId xmlns:a16="http://schemas.microsoft.com/office/drawing/2014/main" id="{38E152F1-284A-5A9E-6FCC-90C08FE78766}"/>
              </a:ext>
            </a:extLst>
          </p:cNvPr>
          <p:cNvCxnSpPr>
            <a:cxnSpLocks/>
          </p:cNvCxnSpPr>
          <p:nvPr/>
        </p:nvCxnSpPr>
        <p:spPr>
          <a:xfrm rot="5400000">
            <a:off x="89203" y="2479164"/>
            <a:ext cx="1533852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接點 56">
            <a:extLst>
              <a:ext uri="{FF2B5EF4-FFF2-40B4-BE49-F238E27FC236}">
                <a16:creationId xmlns:a16="http://schemas.microsoft.com/office/drawing/2014/main" id="{6DA24178-3E66-23E5-67ED-E7AB12260D4F}"/>
              </a:ext>
            </a:extLst>
          </p:cNvPr>
          <p:cNvCxnSpPr>
            <a:cxnSpLocks/>
          </p:cNvCxnSpPr>
          <p:nvPr/>
        </p:nvCxnSpPr>
        <p:spPr>
          <a:xfrm rot="5400000">
            <a:off x="582262" y="2469871"/>
            <a:ext cx="1533852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文字方塊 57">
            <a:extLst>
              <a:ext uri="{FF2B5EF4-FFF2-40B4-BE49-F238E27FC236}">
                <a16:creationId xmlns:a16="http://schemas.microsoft.com/office/drawing/2014/main" id="{A90953D2-9129-40C0-370F-05946580329F}"/>
              </a:ext>
            </a:extLst>
          </p:cNvPr>
          <p:cNvSpPr txBox="1"/>
          <p:nvPr/>
        </p:nvSpPr>
        <p:spPr>
          <a:xfrm>
            <a:off x="6661848" y="4841668"/>
            <a:ext cx="5145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…</a:t>
            </a:r>
            <a:endParaRPr kumimoji="0" lang="zh-TW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pic>
        <p:nvPicPr>
          <p:cNvPr id="59" name="圖形 58" descr="蘋果 以實心填滿">
            <a:extLst>
              <a:ext uri="{FF2B5EF4-FFF2-40B4-BE49-F238E27FC236}">
                <a16:creationId xmlns:a16="http://schemas.microsoft.com/office/drawing/2014/main" id="{34EE0CC6-1D51-711E-2C41-FB51D11C808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162714" y="4841668"/>
            <a:ext cx="540000" cy="540000"/>
          </a:xfrm>
          <a:prstGeom prst="rect">
            <a:avLst/>
          </a:prstGeom>
        </p:spPr>
      </p:pic>
      <p:pic>
        <p:nvPicPr>
          <p:cNvPr id="60" name="圖形 59" descr="香蕉 以實心填滿">
            <a:extLst>
              <a:ext uri="{FF2B5EF4-FFF2-40B4-BE49-F238E27FC236}">
                <a16:creationId xmlns:a16="http://schemas.microsoft.com/office/drawing/2014/main" id="{F3245B0D-31ED-A64A-88EF-EFEC70A9E804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024856" y="4841668"/>
            <a:ext cx="540000" cy="540000"/>
          </a:xfrm>
          <a:prstGeom prst="rect">
            <a:avLst/>
          </a:prstGeom>
        </p:spPr>
      </p:pic>
      <p:pic>
        <p:nvPicPr>
          <p:cNvPr id="61" name="圖形 60" descr="籃球 以實心填滿">
            <a:extLst>
              <a:ext uri="{FF2B5EF4-FFF2-40B4-BE49-F238E27FC236}">
                <a16:creationId xmlns:a16="http://schemas.microsoft.com/office/drawing/2014/main" id="{C2311AE6-9CFB-E340-CD9C-75DA3B0D3917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597016" y="4841668"/>
            <a:ext cx="540000" cy="540000"/>
          </a:xfrm>
          <a:prstGeom prst="rect">
            <a:avLst/>
          </a:prstGeom>
        </p:spPr>
      </p:pic>
      <p:sp>
        <p:nvSpPr>
          <p:cNvPr id="62" name="矩形: 圓角 61">
            <a:extLst>
              <a:ext uri="{FF2B5EF4-FFF2-40B4-BE49-F238E27FC236}">
                <a16:creationId xmlns:a16="http://schemas.microsoft.com/office/drawing/2014/main" id="{271F09DB-DAD4-9A0E-08BE-1210088631D6}"/>
              </a:ext>
            </a:extLst>
          </p:cNvPr>
          <p:cNvSpPr/>
          <p:nvPr/>
        </p:nvSpPr>
        <p:spPr>
          <a:xfrm>
            <a:off x="7815690" y="4482219"/>
            <a:ext cx="1855460" cy="1399619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聲音</a:t>
            </a:r>
            <a:endParaRPr kumimoji="0" lang="en-US" altLang="zh-TW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Decoder</a:t>
            </a:r>
          </a:p>
        </p:txBody>
      </p:sp>
      <p:cxnSp>
        <p:nvCxnSpPr>
          <p:cNvPr id="63" name="直線單箭頭接點 62">
            <a:extLst>
              <a:ext uri="{FF2B5EF4-FFF2-40B4-BE49-F238E27FC236}">
                <a16:creationId xmlns:a16="http://schemas.microsoft.com/office/drawing/2014/main" id="{04FF3725-8626-9187-6F17-8F86A71C0E00}"/>
              </a:ext>
            </a:extLst>
          </p:cNvPr>
          <p:cNvCxnSpPr>
            <a:cxnSpLocks/>
          </p:cNvCxnSpPr>
          <p:nvPr/>
        </p:nvCxnSpPr>
        <p:spPr>
          <a:xfrm>
            <a:off x="7200332" y="5187315"/>
            <a:ext cx="556203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線單箭頭接點 63">
            <a:extLst>
              <a:ext uri="{FF2B5EF4-FFF2-40B4-BE49-F238E27FC236}">
                <a16:creationId xmlns:a16="http://schemas.microsoft.com/office/drawing/2014/main" id="{F98CC6FA-94AC-EF1B-E867-13825C08E7DA}"/>
              </a:ext>
            </a:extLst>
          </p:cNvPr>
          <p:cNvCxnSpPr>
            <a:cxnSpLocks/>
          </p:cNvCxnSpPr>
          <p:nvPr/>
        </p:nvCxnSpPr>
        <p:spPr>
          <a:xfrm>
            <a:off x="9724035" y="5193665"/>
            <a:ext cx="531395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矩形: 圓角 64">
            <a:extLst>
              <a:ext uri="{FF2B5EF4-FFF2-40B4-BE49-F238E27FC236}">
                <a16:creationId xmlns:a16="http://schemas.microsoft.com/office/drawing/2014/main" id="{0BCD7ADC-D724-4868-BCBE-55D0482FEDEE}"/>
              </a:ext>
            </a:extLst>
          </p:cNvPr>
          <p:cNvSpPr/>
          <p:nvPr/>
        </p:nvSpPr>
        <p:spPr>
          <a:xfrm>
            <a:off x="2511788" y="4487505"/>
            <a:ext cx="1855460" cy="1399619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聲音</a:t>
            </a:r>
            <a:endParaRPr kumimoji="0" lang="en-US" altLang="zh-TW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Encoder</a:t>
            </a:r>
          </a:p>
        </p:txBody>
      </p:sp>
      <p:cxnSp>
        <p:nvCxnSpPr>
          <p:cNvPr id="66" name="直線單箭頭接點 65">
            <a:extLst>
              <a:ext uri="{FF2B5EF4-FFF2-40B4-BE49-F238E27FC236}">
                <a16:creationId xmlns:a16="http://schemas.microsoft.com/office/drawing/2014/main" id="{48793AAB-BAF1-12F4-D4A3-7EDCDD8D92C9}"/>
              </a:ext>
            </a:extLst>
          </p:cNvPr>
          <p:cNvCxnSpPr>
            <a:cxnSpLocks/>
          </p:cNvCxnSpPr>
          <p:nvPr/>
        </p:nvCxnSpPr>
        <p:spPr>
          <a:xfrm>
            <a:off x="4451803" y="5198951"/>
            <a:ext cx="531395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線單箭頭接點 66">
            <a:extLst>
              <a:ext uri="{FF2B5EF4-FFF2-40B4-BE49-F238E27FC236}">
                <a16:creationId xmlns:a16="http://schemas.microsoft.com/office/drawing/2014/main" id="{E931A184-8793-A8B0-4DB8-B25104A5B2AE}"/>
              </a:ext>
            </a:extLst>
          </p:cNvPr>
          <p:cNvCxnSpPr>
            <a:cxnSpLocks/>
          </p:cNvCxnSpPr>
          <p:nvPr/>
        </p:nvCxnSpPr>
        <p:spPr>
          <a:xfrm>
            <a:off x="1916265" y="5187315"/>
            <a:ext cx="531395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文字方塊 67">
            <a:extLst>
              <a:ext uri="{FF2B5EF4-FFF2-40B4-BE49-F238E27FC236}">
                <a16:creationId xmlns:a16="http://schemas.microsoft.com/office/drawing/2014/main" id="{D80C095A-F0A4-8928-8C6E-053859EEB214}"/>
              </a:ext>
            </a:extLst>
          </p:cNvPr>
          <p:cNvSpPr txBox="1"/>
          <p:nvPr/>
        </p:nvSpPr>
        <p:spPr>
          <a:xfrm>
            <a:off x="4736777" y="3090565"/>
            <a:ext cx="11787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16 x 16</a:t>
            </a:r>
            <a:endParaRPr kumimoji="0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69" name="文字方塊 68">
            <a:extLst>
              <a:ext uri="{FF2B5EF4-FFF2-40B4-BE49-F238E27FC236}">
                <a16:creationId xmlns:a16="http://schemas.microsoft.com/office/drawing/2014/main" id="{4AA18A5C-CAF0-19F9-EABC-D975EC1E456F}"/>
              </a:ext>
            </a:extLst>
          </p:cNvPr>
          <p:cNvSpPr txBox="1"/>
          <p:nvPr/>
        </p:nvSpPr>
        <p:spPr>
          <a:xfrm>
            <a:off x="4904443" y="5810122"/>
            <a:ext cx="15144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0.02s</a:t>
            </a:r>
            <a:endParaRPr kumimoji="0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70" name="文字方塊 69">
            <a:extLst>
              <a:ext uri="{FF2B5EF4-FFF2-40B4-BE49-F238E27FC236}">
                <a16:creationId xmlns:a16="http://schemas.microsoft.com/office/drawing/2014/main" id="{A3BDD822-C6DD-B4D2-C9D1-9F51DC32BDCD}"/>
              </a:ext>
            </a:extLst>
          </p:cNvPr>
          <p:cNvSpPr txBox="1"/>
          <p:nvPr/>
        </p:nvSpPr>
        <p:spPr>
          <a:xfrm>
            <a:off x="5661663" y="6079459"/>
            <a:ext cx="57014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(/b/, </a:t>
            </a:r>
            <a:r>
              <a: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笑聲</a:t>
            </a: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, </a:t>
            </a:r>
            <a:r>
              <a: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狗叫</a:t>
            </a: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 … )</a:t>
            </a:r>
            <a:endParaRPr kumimoji="0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71" name="文字方塊 70">
            <a:extLst>
              <a:ext uri="{FF2B5EF4-FFF2-40B4-BE49-F238E27FC236}">
                <a16:creationId xmlns:a16="http://schemas.microsoft.com/office/drawing/2014/main" id="{94464E45-BB85-2AC0-6C2B-B1EEEDDE9F98}"/>
              </a:ext>
            </a:extLst>
          </p:cNvPr>
          <p:cNvSpPr txBox="1"/>
          <p:nvPr/>
        </p:nvSpPr>
        <p:spPr>
          <a:xfrm>
            <a:off x="5681461" y="3435701"/>
            <a:ext cx="57014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(</a:t>
            </a:r>
            <a:r>
              <a: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草地</a:t>
            </a: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, </a:t>
            </a:r>
            <a:r>
              <a: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眼睛</a:t>
            </a: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, </a:t>
            </a:r>
            <a:r>
              <a: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毛茸茸</a:t>
            </a: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 … )</a:t>
            </a:r>
            <a:endParaRPr kumimoji="0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cxnSp>
        <p:nvCxnSpPr>
          <p:cNvPr id="72" name="直線單箭頭接點 71">
            <a:extLst>
              <a:ext uri="{FF2B5EF4-FFF2-40B4-BE49-F238E27FC236}">
                <a16:creationId xmlns:a16="http://schemas.microsoft.com/office/drawing/2014/main" id="{2715F042-0D49-5C3A-FA54-96EDE3CA26C1}"/>
              </a:ext>
            </a:extLst>
          </p:cNvPr>
          <p:cNvCxnSpPr>
            <a:cxnSpLocks/>
          </p:cNvCxnSpPr>
          <p:nvPr/>
        </p:nvCxnSpPr>
        <p:spPr>
          <a:xfrm>
            <a:off x="5276725" y="2783871"/>
            <a:ext cx="0" cy="306694"/>
          </a:xfrm>
          <a:prstGeom prst="straightConnector1">
            <a:avLst/>
          </a:prstGeom>
          <a:ln w="57150">
            <a:solidFill>
              <a:schemeClr val="accent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線單箭頭接點 73">
            <a:extLst>
              <a:ext uri="{FF2B5EF4-FFF2-40B4-BE49-F238E27FC236}">
                <a16:creationId xmlns:a16="http://schemas.microsoft.com/office/drawing/2014/main" id="{CAEBE85D-BAE3-C92E-67CC-9A0A820DE410}"/>
              </a:ext>
            </a:extLst>
          </p:cNvPr>
          <p:cNvCxnSpPr>
            <a:cxnSpLocks/>
          </p:cNvCxnSpPr>
          <p:nvPr/>
        </p:nvCxnSpPr>
        <p:spPr>
          <a:xfrm>
            <a:off x="5326169" y="5478406"/>
            <a:ext cx="0" cy="306694"/>
          </a:xfrm>
          <a:prstGeom prst="straightConnector1">
            <a:avLst/>
          </a:prstGeom>
          <a:ln w="57150">
            <a:solidFill>
              <a:schemeClr val="accent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文字方塊 74">
            <a:extLst>
              <a:ext uri="{FF2B5EF4-FFF2-40B4-BE49-F238E27FC236}">
                <a16:creationId xmlns:a16="http://schemas.microsoft.com/office/drawing/2014/main" id="{541AE7F4-3C3B-D448-F84C-7B1C252CF3F9}"/>
              </a:ext>
            </a:extLst>
          </p:cNvPr>
          <p:cNvSpPr txBox="1"/>
          <p:nvPr/>
        </p:nvSpPr>
        <p:spPr>
          <a:xfrm>
            <a:off x="5155243" y="1629820"/>
            <a:ext cx="12774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Token</a:t>
            </a:r>
            <a:endParaRPr kumimoji="0" lang="zh-TW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76" name="文字方塊 75">
            <a:extLst>
              <a:ext uri="{FF2B5EF4-FFF2-40B4-BE49-F238E27FC236}">
                <a16:creationId xmlns:a16="http://schemas.microsoft.com/office/drawing/2014/main" id="{D6C2E0A4-ABE2-A4A6-A5E2-8BFE596D8398}"/>
              </a:ext>
            </a:extLst>
          </p:cNvPr>
          <p:cNvSpPr txBox="1"/>
          <p:nvPr/>
        </p:nvSpPr>
        <p:spPr>
          <a:xfrm>
            <a:off x="5259153" y="4274473"/>
            <a:ext cx="12774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Token</a:t>
            </a:r>
            <a:endParaRPr kumimoji="0" lang="zh-TW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295380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62" grpId="0" animBg="1"/>
      <p:bldP spid="68" grpId="0"/>
      <p:bldP spid="69" grpId="0"/>
      <p:bldP spid="70" grpId="0"/>
      <p:bldP spid="71" grpId="0"/>
      <p:bldP spid="75" grpId="0"/>
      <p:bldP spid="76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51DE02D-1E9A-FC81-2D38-F38B744056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機器怎麼畫圖或發出聲音？</a:t>
            </a:r>
            <a:endParaRPr lang="zh-TW" altLang="en-US" dirty="0"/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435DF30C-961B-AE50-C5B0-D195F58690C3}"/>
              </a:ext>
            </a:extLst>
          </p:cNvPr>
          <p:cNvSpPr/>
          <p:nvPr/>
        </p:nvSpPr>
        <p:spPr>
          <a:xfrm>
            <a:off x="6323070" y="4753399"/>
            <a:ext cx="1693981" cy="1097684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語言</a:t>
            </a:r>
            <a:endParaRPr kumimoji="0" lang="en-US" altLang="zh-TW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模型</a:t>
            </a:r>
          </a:p>
        </p:txBody>
      </p:sp>
      <p:cxnSp>
        <p:nvCxnSpPr>
          <p:cNvPr id="5" name="直線單箭頭接點 4">
            <a:extLst>
              <a:ext uri="{FF2B5EF4-FFF2-40B4-BE49-F238E27FC236}">
                <a16:creationId xmlns:a16="http://schemas.microsoft.com/office/drawing/2014/main" id="{0BECE3FC-EEA1-5FA4-6C73-2C679A7866C9}"/>
              </a:ext>
            </a:extLst>
          </p:cNvPr>
          <p:cNvCxnSpPr>
            <a:cxnSpLocks/>
          </p:cNvCxnSpPr>
          <p:nvPr/>
        </p:nvCxnSpPr>
        <p:spPr>
          <a:xfrm>
            <a:off x="5404730" y="5323296"/>
            <a:ext cx="824620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線單箭頭接點 5">
            <a:extLst>
              <a:ext uri="{FF2B5EF4-FFF2-40B4-BE49-F238E27FC236}">
                <a16:creationId xmlns:a16="http://schemas.microsoft.com/office/drawing/2014/main" id="{8542701A-61F9-E475-7BA6-D61A06CFD53B}"/>
              </a:ext>
            </a:extLst>
          </p:cNvPr>
          <p:cNvCxnSpPr>
            <a:cxnSpLocks/>
          </p:cNvCxnSpPr>
          <p:nvPr/>
        </p:nvCxnSpPr>
        <p:spPr>
          <a:xfrm>
            <a:off x="8115300" y="5272983"/>
            <a:ext cx="830580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圖形 6" descr="蘋果 以實心填滿">
            <a:extLst>
              <a:ext uri="{FF2B5EF4-FFF2-40B4-BE49-F238E27FC236}">
                <a16:creationId xmlns:a16="http://schemas.microsoft.com/office/drawing/2014/main" id="{8AFD57A5-10A2-6F52-301A-A2DBA9719D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26563" y="5029438"/>
            <a:ext cx="540000" cy="540000"/>
          </a:xfrm>
          <a:prstGeom prst="rect">
            <a:avLst/>
          </a:prstGeom>
        </p:spPr>
      </p:pic>
      <p:pic>
        <p:nvPicPr>
          <p:cNvPr id="8" name="圖形 7" descr="香蕉 以實心填滿">
            <a:extLst>
              <a:ext uri="{FF2B5EF4-FFF2-40B4-BE49-F238E27FC236}">
                <a16:creationId xmlns:a16="http://schemas.microsoft.com/office/drawing/2014/main" id="{345333C8-D445-5308-0979-6314BFB929D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88705" y="5029438"/>
            <a:ext cx="540000" cy="540000"/>
          </a:xfrm>
          <a:prstGeom prst="rect">
            <a:avLst/>
          </a:prstGeom>
        </p:spPr>
      </p:pic>
      <p:pic>
        <p:nvPicPr>
          <p:cNvPr id="9" name="圖形 8" descr="籃球 以實心填滿">
            <a:extLst>
              <a:ext uri="{FF2B5EF4-FFF2-40B4-BE49-F238E27FC236}">
                <a16:creationId xmlns:a16="http://schemas.microsoft.com/office/drawing/2014/main" id="{41F328DE-C9E2-56AC-510E-8905594D3F5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160865" y="5029438"/>
            <a:ext cx="540000" cy="540000"/>
          </a:xfrm>
          <a:prstGeom prst="rect">
            <a:avLst/>
          </a:prstGeom>
        </p:spPr>
      </p:pic>
      <p:pic>
        <p:nvPicPr>
          <p:cNvPr id="10" name="圖形 9" descr="蘋果 以實心填滿">
            <a:extLst>
              <a:ext uri="{FF2B5EF4-FFF2-40B4-BE49-F238E27FC236}">
                <a16:creationId xmlns:a16="http://schemas.microsoft.com/office/drawing/2014/main" id="{77822C9A-944A-72D0-19BA-1415A88F27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97759" y="5027697"/>
            <a:ext cx="540000" cy="540000"/>
          </a:xfrm>
          <a:prstGeom prst="rect">
            <a:avLst/>
          </a:prstGeom>
        </p:spPr>
      </p:pic>
      <p:pic>
        <p:nvPicPr>
          <p:cNvPr id="11" name="圖形 10" descr="香蕉 以實心填滿">
            <a:extLst>
              <a:ext uri="{FF2B5EF4-FFF2-40B4-BE49-F238E27FC236}">
                <a16:creationId xmlns:a16="http://schemas.microsoft.com/office/drawing/2014/main" id="{A5AE9295-06C9-1C40-3134-6CD4CD7471A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30921" y="5029438"/>
            <a:ext cx="540000" cy="540000"/>
          </a:xfrm>
          <a:prstGeom prst="rect">
            <a:avLst/>
          </a:prstGeom>
        </p:spPr>
      </p:pic>
      <p:pic>
        <p:nvPicPr>
          <p:cNvPr id="12" name="圖形 11" descr="籃球 以實心填滿">
            <a:extLst>
              <a:ext uri="{FF2B5EF4-FFF2-40B4-BE49-F238E27FC236}">
                <a16:creationId xmlns:a16="http://schemas.microsoft.com/office/drawing/2014/main" id="{72F7408A-3276-E8C6-21BE-7238B42D533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723496" y="5065516"/>
            <a:ext cx="540000" cy="540000"/>
          </a:xfrm>
          <a:prstGeom prst="rect">
            <a:avLst/>
          </a:prstGeom>
        </p:spPr>
      </p:pic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A1849504-999B-333E-AAA0-176AD055AF8A}"/>
              </a:ext>
            </a:extLst>
          </p:cNvPr>
          <p:cNvCxnSpPr>
            <a:cxnSpLocks/>
          </p:cNvCxnSpPr>
          <p:nvPr/>
        </p:nvCxnSpPr>
        <p:spPr>
          <a:xfrm>
            <a:off x="2456541" y="4622295"/>
            <a:ext cx="0" cy="325413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03B1557C-3784-F4AB-CD73-7FD4E245B263}"/>
              </a:ext>
            </a:extLst>
          </p:cNvPr>
          <p:cNvSpPr txBox="1"/>
          <p:nvPr/>
        </p:nvSpPr>
        <p:spPr>
          <a:xfrm>
            <a:off x="3412405" y="2790590"/>
            <a:ext cx="24416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240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辛普森</a:t>
            </a:r>
            <a:r>
              <a: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風格</a:t>
            </a:r>
          </a:p>
        </p:txBody>
      </p:sp>
      <p:pic>
        <p:nvPicPr>
          <p:cNvPr id="16" name="圖片 15">
            <a:extLst>
              <a:ext uri="{FF2B5EF4-FFF2-40B4-BE49-F238E27FC236}">
                <a16:creationId xmlns:a16="http://schemas.microsoft.com/office/drawing/2014/main" id="{AA0C0E95-66EC-0DCE-815F-7BDEA69C137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3883" y="1436343"/>
            <a:ext cx="1684712" cy="1685620"/>
          </a:xfrm>
          <a:prstGeom prst="rect">
            <a:avLst/>
          </a:prstGeom>
        </p:spPr>
      </p:pic>
      <p:sp>
        <p:nvSpPr>
          <p:cNvPr id="17" name="矩形: 圓角 16">
            <a:extLst>
              <a:ext uri="{FF2B5EF4-FFF2-40B4-BE49-F238E27FC236}">
                <a16:creationId xmlns:a16="http://schemas.microsoft.com/office/drawing/2014/main" id="{444C96A8-2D18-1F35-1EC0-BA9379806D5F}"/>
              </a:ext>
            </a:extLst>
          </p:cNvPr>
          <p:cNvSpPr/>
          <p:nvPr/>
        </p:nvSpPr>
        <p:spPr>
          <a:xfrm>
            <a:off x="9097758" y="3509190"/>
            <a:ext cx="1855460" cy="95308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zh-TW" altLang="en-US" sz="280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圖像</a:t>
            </a:r>
            <a:endParaRPr kumimoji="0" lang="en-US" altLang="zh-TW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Decoder</a:t>
            </a:r>
          </a:p>
        </p:txBody>
      </p:sp>
      <p:sp>
        <p:nvSpPr>
          <p:cNvPr id="18" name="矩形: 圓角 17">
            <a:extLst>
              <a:ext uri="{FF2B5EF4-FFF2-40B4-BE49-F238E27FC236}">
                <a16:creationId xmlns:a16="http://schemas.microsoft.com/office/drawing/2014/main" id="{2FEED516-B9E4-B9AC-E861-0CA8B2CEE9BB}"/>
              </a:ext>
            </a:extLst>
          </p:cNvPr>
          <p:cNvSpPr/>
          <p:nvPr/>
        </p:nvSpPr>
        <p:spPr>
          <a:xfrm>
            <a:off x="1503135" y="3591487"/>
            <a:ext cx="1855460" cy="95308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圖像</a:t>
            </a:r>
            <a:r>
              <a:rPr kumimoji="0" lang="en-US" altLang="zh-TW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Encoder</a:t>
            </a: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E55334D8-BD2B-3F90-F323-2146B757790E}"/>
              </a:ext>
            </a:extLst>
          </p:cNvPr>
          <p:cNvSpPr txBox="1"/>
          <p:nvPr/>
        </p:nvSpPr>
        <p:spPr>
          <a:xfrm>
            <a:off x="3394027" y="5104604"/>
            <a:ext cx="20678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zh-TW" altLang="en-US" sz="240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辛普森風格</a:t>
            </a: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8CB0A260-A7CF-22AF-5EE7-6D60B58BC958}"/>
              </a:ext>
            </a:extLst>
          </p:cNvPr>
          <p:cNvSpPr txBox="1"/>
          <p:nvPr/>
        </p:nvSpPr>
        <p:spPr>
          <a:xfrm>
            <a:off x="1701102" y="5639301"/>
            <a:ext cx="15489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某種語言</a:t>
            </a:r>
          </a:p>
        </p:txBody>
      </p:sp>
      <p:cxnSp>
        <p:nvCxnSpPr>
          <p:cNvPr id="21" name="直線單箭頭接點 20">
            <a:extLst>
              <a:ext uri="{FF2B5EF4-FFF2-40B4-BE49-F238E27FC236}">
                <a16:creationId xmlns:a16="http://schemas.microsoft.com/office/drawing/2014/main" id="{99FFCE0A-2193-F19A-D518-1789BD951828}"/>
              </a:ext>
            </a:extLst>
          </p:cNvPr>
          <p:cNvCxnSpPr>
            <a:cxnSpLocks/>
          </p:cNvCxnSpPr>
          <p:nvPr/>
        </p:nvCxnSpPr>
        <p:spPr>
          <a:xfrm>
            <a:off x="2436582" y="3121963"/>
            <a:ext cx="0" cy="452626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單箭頭接點 21">
            <a:extLst>
              <a:ext uri="{FF2B5EF4-FFF2-40B4-BE49-F238E27FC236}">
                <a16:creationId xmlns:a16="http://schemas.microsoft.com/office/drawing/2014/main" id="{6263551C-CEBF-4A9C-8EF7-0A9AA3EDDD73}"/>
              </a:ext>
            </a:extLst>
          </p:cNvPr>
          <p:cNvCxnSpPr>
            <a:cxnSpLocks/>
          </p:cNvCxnSpPr>
          <p:nvPr/>
        </p:nvCxnSpPr>
        <p:spPr>
          <a:xfrm flipV="1">
            <a:off x="9993496" y="4462275"/>
            <a:ext cx="0" cy="485433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單箭頭接點 22">
            <a:extLst>
              <a:ext uri="{FF2B5EF4-FFF2-40B4-BE49-F238E27FC236}">
                <a16:creationId xmlns:a16="http://schemas.microsoft.com/office/drawing/2014/main" id="{7E8265E3-D1B8-99D2-3363-0385835C5E2B}"/>
              </a:ext>
            </a:extLst>
          </p:cNvPr>
          <p:cNvCxnSpPr>
            <a:cxnSpLocks/>
          </p:cNvCxnSpPr>
          <p:nvPr/>
        </p:nvCxnSpPr>
        <p:spPr>
          <a:xfrm flipV="1">
            <a:off x="9993496" y="3136477"/>
            <a:ext cx="0" cy="325413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圖片 23" descr="一張含有 美工圖案, 卡通, 動畫卡通, 圖畫 的圖片&#10;&#10;AI 產生的內容可能不正確。">
            <a:extLst>
              <a:ext uri="{FF2B5EF4-FFF2-40B4-BE49-F238E27FC236}">
                <a16:creationId xmlns:a16="http://schemas.microsoft.com/office/drawing/2014/main" id="{FB4037D2-5C56-448C-717F-297D5AC6A52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7758" y="1388904"/>
            <a:ext cx="1643743" cy="1643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88589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4" grpId="0"/>
      <p:bldP spid="17" grpId="0" animBg="1"/>
      <p:bldP spid="18" grpId="0" animBg="1"/>
      <p:bldP spid="19" grpId="0"/>
      <p:bldP spid="20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835C080-1410-FF6E-190B-473383EEC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機器怎麼畫圖或發出聲音？</a:t>
            </a:r>
            <a:endParaRPr lang="zh-TW" altLang="en-US" dirty="0"/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4707652A-2597-DEC9-9C5C-0AC6FE166F90}"/>
              </a:ext>
            </a:extLst>
          </p:cNvPr>
          <p:cNvSpPr/>
          <p:nvPr/>
        </p:nvSpPr>
        <p:spPr>
          <a:xfrm>
            <a:off x="5510331" y="4936936"/>
            <a:ext cx="1693981" cy="1097684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語言</a:t>
            </a:r>
            <a:endParaRPr kumimoji="0" lang="en-US" altLang="zh-TW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模型</a:t>
            </a:r>
          </a:p>
        </p:txBody>
      </p:sp>
      <p:cxnSp>
        <p:nvCxnSpPr>
          <p:cNvPr id="5" name="直線單箭頭接點 4">
            <a:extLst>
              <a:ext uri="{FF2B5EF4-FFF2-40B4-BE49-F238E27FC236}">
                <a16:creationId xmlns:a16="http://schemas.microsoft.com/office/drawing/2014/main" id="{54674C84-076C-7163-B955-3DF6E08EDE2C}"/>
              </a:ext>
            </a:extLst>
          </p:cNvPr>
          <p:cNvCxnSpPr>
            <a:cxnSpLocks/>
          </p:cNvCxnSpPr>
          <p:nvPr/>
        </p:nvCxnSpPr>
        <p:spPr>
          <a:xfrm>
            <a:off x="4284682" y="5485778"/>
            <a:ext cx="1175675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線單箭頭接點 5">
            <a:extLst>
              <a:ext uri="{FF2B5EF4-FFF2-40B4-BE49-F238E27FC236}">
                <a16:creationId xmlns:a16="http://schemas.microsoft.com/office/drawing/2014/main" id="{AF30E1AC-5406-49F9-E9A0-F3C1CA65CA6F}"/>
              </a:ext>
            </a:extLst>
          </p:cNvPr>
          <p:cNvCxnSpPr>
            <a:cxnSpLocks/>
          </p:cNvCxnSpPr>
          <p:nvPr/>
        </p:nvCxnSpPr>
        <p:spPr>
          <a:xfrm>
            <a:off x="7303906" y="5459323"/>
            <a:ext cx="1148916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圖形 6" descr="語音 以實心填滿">
            <a:extLst>
              <a:ext uri="{FF2B5EF4-FFF2-40B4-BE49-F238E27FC236}">
                <a16:creationId xmlns:a16="http://schemas.microsoft.com/office/drawing/2014/main" id="{D8753E5D-1013-504E-AB8C-AF77B0B0A1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36780" y="1501360"/>
            <a:ext cx="1561059" cy="1561059"/>
          </a:xfrm>
          <a:prstGeom prst="rect">
            <a:avLst/>
          </a:prstGeom>
        </p:spPr>
      </p:pic>
      <p:pic>
        <p:nvPicPr>
          <p:cNvPr id="8" name="圖形 7" descr="語音 以實心填滿">
            <a:extLst>
              <a:ext uri="{FF2B5EF4-FFF2-40B4-BE49-F238E27FC236}">
                <a16:creationId xmlns:a16="http://schemas.microsoft.com/office/drawing/2014/main" id="{71580B08-4DCB-8271-B3E9-9124374EBF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98816" y="1381051"/>
            <a:ext cx="1561059" cy="1561059"/>
          </a:xfrm>
          <a:prstGeom prst="rect">
            <a:avLst/>
          </a:prstGeom>
        </p:spPr>
      </p:pic>
      <p:sp>
        <p:nvSpPr>
          <p:cNvPr id="9" name="矩形: 圓角 8">
            <a:extLst>
              <a:ext uri="{FF2B5EF4-FFF2-40B4-BE49-F238E27FC236}">
                <a16:creationId xmlns:a16="http://schemas.microsoft.com/office/drawing/2014/main" id="{24662F0B-1A1D-974D-6CBD-88DC645784B0}"/>
              </a:ext>
            </a:extLst>
          </p:cNvPr>
          <p:cNvSpPr/>
          <p:nvPr/>
        </p:nvSpPr>
        <p:spPr>
          <a:xfrm>
            <a:off x="8551615" y="3234552"/>
            <a:ext cx="1855460" cy="1162634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聲音</a:t>
            </a:r>
            <a:endParaRPr kumimoji="0" lang="en-US" altLang="zh-TW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Decoder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6289A98E-73A6-FBC9-981F-E9692DBF5A33}"/>
              </a:ext>
            </a:extLst>
          </p:cNvPr>
          <p:cNvSpPr/>
          <p:nvPr/>
        </p:nvSpPr>
        <p:spPr>
          <a:xfrm>
            <a:off x="2160551" y="3234552"/>
            <a:ext cx="1855460" cy="1162635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聲音</a:t>
            </a:r>
            <a:endParaRPr kumimoji="0" lang="en-US" altLang="zh-TW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Encoder</a:t>
            </a:r>
          </a:p>
        </p:txBody>
      </p:sp>
      <p:pic>
        <p:nvPicPr>
          <p:cNvPr id="11" name="圖形 10" descr="蘋果 以實心填滿">
            <a:extLst>
              <a:ext uri="{FF2B5EF4-FFF2-40B4-BE49-F238E27FC236}">
                <a16:creationId xmlns:a16="http://schemas.microsoft.com/office/drawing/2014/main" id="{DCEF2A68-8CEE-788F-BA9B-EA8ED305FB0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06058" y="5179700"/>
            <a:ext cx="540000" cy="540000"/>
          </a:xfrm>
          <a:prstGeom prst="rect">
            <a:avLst/>
          </a:prstGeom>
        </p:spPr>
      </p:pic>
      <p:pic>
        <p:nvPicPr>
          <p:cNvPr id="12" name="圖形 11" descr="香蕉 以實心填滿">
            <a:extLst>
              <a:ext uri="{FF2B5EF4-FFF2-40B4-BE49-F238E27FC236}">
                <a16:creationId xmlns:a16="http://schemas.microsoft.com/office/drawing/2014/main" id="{F540A323-DDA0-4905-AB37-65E34D988A5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268200" y="5179700"/>
            <a:ext cx="540000" cy="540000"/>
          </a:xfrm>
          <a:prstGeom prst="rect">
            <a:avLst/>
          </a:prstGeom>
        </p:spPr>
      </p:pic>
      <p:pic>
        <p:nvPicPr>
          <p:cNvPr id="13" name="圖形 12" descr="籃球 以實心填滿">
            <a:extLst>
              <a:ext uri="{FF2B5EF4-FFF2-40B4-BE49-F238E27FC236}">
                <a16:creationId xmlns:a16="http://schemas.microsoft.com/office/drawing/2014/main" id="{E0572B44-3B14-7121-8352-C722F9FCDD7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840360" y="5179700"/>
            <a:ext cx="540000" cy="540000"/>
          </a:xfrm>
          <a:prstGeom prst="rect">
            <a:avLst/>
          </a:prstGeom>
        </p:spPr>
      </p:pic>
      <p:pic>
        <p:nvPicPr>
          <p:cNvPr id="15" name="圖形 14" descr="蘋果 以實心填滿">
            <a:extLst>
              <a:ext uri="{FF2B5EF4-FFF2-40B4-BE49-F238E27FC236}">
                <a16:creationId xmlns:a16="http://schemas.microsoft.com/office/drawing/2014/main" id="{0A568C6E-A13F-1784-C013-2DA1A340264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604701" y="5214037"/>
            <a:ext cx="540000" cy="540000"/>
          </a:xfrm>
          <a:prstGeom prst="rect">
            <a:avLst/>
          </a:prstGeom>
        </p:spPr>
      </p:pic>
      <p:pic>
        <p:nvPicPr>
          <p:cNvPr id="16" name="圖形 15" descr="香蕉 以實心填滿">
            <a:extLst>
              <a:ext uri="{FF2B5EF4-FFF2-40B4-BE49-F238E27FC236}">
                <a16:creationId xmlns:a16="http://schemas.microsoft.com/office/drawing/2014/main" id="{872A37A1-FFFC-C5FE-D89E-E1AC80A8DD7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837863" y="5215778"/>
            <a:ext cx="540000" cy="540000"/>
          </a:xfrm>
          <a:prstGeom prst="rect">
            <a:avLst/>
          </a:prstGeom>
        </p:spPr>
      </p:pic>
      <p:pic>
        <p:nvPicPr>
          <p:cNvPr id="17" name="圖形 16" descr="籃球 以實心填滿">
            <a:extLst>
              <a:ext uri="{FF2B5EF4-FFF2-40B4-BE49-F238E27FC236}">
                <a16:creationId xmlns:a16="http://schemas.microsoft.com/office/drawing/2014/main" id="{D210E4A3-C8CB-DB7C-8481-A2977A71C22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230438" y="5251856"/>
            <a:ext cx="540000" cy="540000"/>
          </a:xfrm>
          <a:prstGeom prst="rect">
            <a:avLst/>
          </a:prstGeom>
        </p:spPr>
      </p:pic>
      <p:cxnSp>
        <p:nvCxnSpPr>
          <p:cNvPr id="19" name="直線單箭頭接點 18">
            <a:extLst>
              <a:ext uri="{FF2B5EF4-FFF2-40B4-BE49-F238E27FC236}">
                <a16:creationId xmlns:a16="http://schemas.microsoft.com/office/drawing/2014/main" id="{FACE94F9-5015-D745-0C13-EE1AA96A2598}"/>
              </a:ext>
            </a:extLst>
          </p:cNvPr>
          <p:cNvCxnSpPr>
            <a:cxnSpLocks/>
          </p:cNvCxnSpPr>
          <p:nvPr/>
        </p:nvCxnSpPr>
        <p:spPr>
          <a:xfrm>
            <a:off x="3071848" y="2614374"/>
            <a:ext cx="0" cy="574458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單箭頭接點 20">
            <a:extLst>
              <a:ext uri="{FF2B5EF4-FFF2-40B4-BE49-F238E27FC236}">
                <a16:creationId xmlns:a16="http://schemas.microsoft.com/office/drawing/2014/main" id="{48954B04-6FDC-B8ED-9930-171655959034}"/>
              </a:ext>
            </a:extLst>
          </p:cNvPr>
          <p:cNvCxnSpPr>
            <a:cxnSpLocks/>
          </p:cNvCxnSpPr>
          <p:nvPr/>
        </p:nvCxnSpPr>
        <p:spPr>
          <a:xfrm>
            <a:off x="3085834" y="4438550"/>
            <a:ext cx="0" cy="58547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單箭頭接點 24">
            <a:extLst>
              <a:ext uri="{FF2B5EF4-FFF2-40B4-BE49-F238E27FC236}">
                <a16:creationId xmlns:a16="http://schemas.microsoft.com/office/drawing/2014/main" id="{B5D87296-2C4D-CB9E-E585-918EC0E6EAC6}"/>
              </a:ext>
            </a:extLst>
          </p:cNvPr>
          <p:cNvCxnSpPr>
            <a:cxnSpLocks/>
          </p:cNvCxnSpPr>
          <p:nvPr/>
        </p:nvCxnSpPr>
        <p:spPr>
          <a:xfrm flipV="1">
            <a:off x="9456485" y="2605033"/>
            <a:ext cx="0" cy="574458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單箭頭接點 25">
            <a:extLst>
              <a:ext uri="{FF2B5EF4-FFF2-40B4-BE49-F238E27FC236}">
                <a16:creationId xmlns:a16="http://schemas.microsoft.com/office/drawing/2014/main" id="{2BEFC99E-B8ED-B1FC-45B9-FADE8293291F}"/>
              </a:ext>
            </a:extLst>
          </p:cNvPr>
          <p:cNvCxnSpPr>
            <a:cxnSpLocks/>
          </p:cNvCxnSpPr>
          <p:nvPr/>
        </p:nvCxnSpPr>
        <p:spPr>
          <a:xfrm flipV="1">
            <a:off x="9500438" y="4488626"/>
            <a:ext cx="0" cy="58547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35786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982286C-E5C9-ED5D-DE98-DAB5FAFC89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0A47924-A90C-7358-4060-CC15A23473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3C71FC2E-611B-57E3-8C1E-D53AD17EC5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6733" y="510205"/>
            <a:ext cx="10278533" cy="5666758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B4429AF4-C375-1D72-0AF9-64AB6F877FE4}"/>
              </a:ext>
            </a:extLst>
          </p:cNvPr>
          <p:cNvSpPr txBox="1"/>
          <p:nvPr/>
        </p:nvSpPr>
        <p:spPr>
          <a:xfrm>
            <a:off x="1761067" y="4178855"/>
            <a:ext cx="89408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新細明體" panose="02020500000000000000" pitchFamily="18" charset="-120"/>
                <a:cs typeface="+mn-cs"/>
              </a:rPr>
              <a:t>Those </a:t>
            </a:r>
            <a:r>
              <a:rPr kumimoji="0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Roboto" panose="02000000000000000000" pitchFamily="2" charset="0"/>
                <a:ea typeface="新細明體" panose="02020500000000000000" pitchFamily="18" charset="-120"/>
                <a:cs typeface="+mn-cs"/>
              </a:rPr>
              <a:t>tokens</a:t>
            </a: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新細明體" panose="02020500000000000000" pitchFamily="18" charset="-120"/>
                <a:cs typeface="+mn-cs"/>
              </a:rPr>
              <a:t> were </a:t>
            </a:r>
            <a:r>
              <a:rPr kumimoji="0" lang="en-US" altLang="zh-TW" sz="2400" b="1" i="0" u="sng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新細明體" panose="02020500000000000000" pitchFamily="18" charset="-120"/>
                <a:cs typeface="+mn-cs"/>
              </a:rPr>
              <a:t>words</a:t>
            </a: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新細明體" panose="02020500000000000000" pitchFamily="18" charset="-120"/>
                <a:cs typeface="+mn-cs"/>
              </a:rPr>
              <a:t>, some of the tokens of</a:t>
            </a:r>
            <a:r>
              <a: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新細明體" panose="02020500000000000000" pitchFamily="18" charset="-120"/>
                <a:cs typeface="+mn-cs"/>
              </a:rPr>
              <a:t> </a:t>
            </a:r>
            <a:b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</a:b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新細明體" panose="02020500000000000000" pitchFamily="18" charset="-120"/>
                <a:cs typeface="+mn-cs"/>
              </a:rPr>
              <a:t>course could now be </a:t>
            </a:r>
            <a:r>
              <a:rPr kumimoji="0" lang="en-US" altLang="zh-TW" sz="2400" b="1" i="0" u="sng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新細明體" panose="02020500000000000000" pitchFamily="18" charset="-120"/>
                <a:cs typeface="+mn-cs"/>
              </a:rPr>
              <a:t>images</a:t>
            </a: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新細明體" panose="02020500000000000000" pitchFamily="18" charset="-120"/>
                <a:cs typeface="+mn-cs"/>
              </a:rPr>
              <a:t>, or </a:t>
            </a:r>
            <a:r>
              <a:rPr kumimoji="0" lang="en-US" altLang="zh-TW" sz="2400" b="1" i="0" u="sng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新細明體" panose="02020500000000000000" pitchFamily="18" charset="-120"/>
                <a:cs typeface="+mn-cs"/>
              </a:rPr>
              <a:t>charts</a:t>
            </a: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新細明體" panose="02020500000000000000" pitchFamily="18" charset="-120"/>
                <a:cs typeface="+mn-cs"/>
              </a:rPr>
              <a:t>, or </a:t>
            </a:r>
            <a:r>
              <a:rPr kumimoji="0" lang="en-US" altLang="zh-TW" sz="2400" b="1" i="0" u="sng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新細明體" panose="02020500000000000000" pitchFamily="18" charset="-120"/>
                <a:cs typeface="+mn-cs"/>
              </a:rPr>
              <a:t>tables</a:t>
            </a: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新細明體" panose="02020500000000000000" pitchFamily="18" charset="-120"/>
                <a:cs typeface="+mn-cs"/>
              </a:rPr>
              <a:t>, </a:t>
            </a:r>
            <a:r>
              <a:rPr kumimoji="0" lang="en-US" altLang="zh-TW" sz="2400" b="1" i="0" u="sng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新細明體" panose="02020500000000000000" pitchFamily="18" charset="-120"/>
                <a:cs typeface="+mn-cs"/>
              </a:rPr>
              <a:t>songs</a:t>
            </a: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新細明體" panose="02020500000000000000" pitchFamily="18" charset="-120"/>
                <a:cs typeface="+mn-cs"/>
              </a:rPr>
              <a:t> … </a:t>
            </a:r>
            <a:r>
              <a:rPr kumimoji="0" lang="en-US" altLang="zh-TW" sz="2400" b="1" i="0" u="sng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新細明體" panose="02020500000000000000" pitchFamily="18" charset="-120"/>
                <a:cs typeface="+mn-cs"/>
              </a:rPr>
              <a:t>speech</a:t>
            </a: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新細明體" panose="02020500000000000000" pitchFamily="18" charset="-120"/>
                <a:cs typeface="+mn-cs"/>
              </a:rPr>
              <a:t>,</a:t>
            </a:r>
            <a:r>
              <a: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新細明體" panose="02020500000000000000" pitchFamily="18" charset="-120"/>
                <a:cs typeface="+mn-cs"/>
              </a:rPr>
              <a:t> </a:t>
            </a:r>
            <a:r>
              <a:rPr kumimoji="0" lang="en-US" altLang="zh-TW" sz="2400" b="1" i="0" u="sng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新細明體" panose="02020500000000000000" pitchFamily="18" charset="-120"/>
                <a:cs typeface="+mn-cs"/>
              </a:rPr>
              <a:t>videos</a:t>
            </a: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新細明體" panose="02020500000000000000" pitchFamily="18" charset="-120"/>
                <a:cs typeface="+mn-cs"/>
              </a:rPr>
              <a:t>. Those tokens could be anything. </a:t>
            </a:r>
            <a:endParaRPr kumimoji="0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662519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群組 25">
            <a:extLst>
              <a:ext uri="{FF2B5EF4-FFF2-40B4-BE49-F238E27FC236}">
                <a16:creationId xmlns:a16="http://schemas.microsoft.com/office/drawing/2014/main" id="{0E8C3BC4-B918-E727-C194-3872E055583D}"/>
              </a:ext>
            </a:extLst>
          </p:cNvPr>
          <p:cNvGrpSpPr/>
          <p:nvPr/>
        </p:nvGrpSpPr>
        <p:grpSpPr>
          <a:xfrm flipH="1">
            <a:off x="7653464" y="3758551"/>
            <a:ext cx="3058844" cy="830012"/>
            <a:chOff x="393073" y="5022255"/>
            <a:chExt cx="2117030" cy="878286"/>
          </a:xfrm>
        </p:grpSpPr>
        <p:pic>
          <p:nvPicPr>
            <p:cNvPr id="27" name="Google Shape;3429;p293" descr="https://lh3.googleusercontent.com/ErsprmYcrgXkAxt8GddRWWqvLg_rDp2yFTkxcS8T0t7xlWULZHifO-__ODwkQYArchxRaJCYFk8bS2rkx2dUceEB0bnIfswMqnR3V2ZMms8Or9J82k2r23hQnYEACGdvbHQmIFKU220">
              <a:extLst>
                <a:ext uri="{FF2B5EF4-FFF2-40B4-BE49-F238E27FC236}">
                  <a16:creationId xmlns:a16="http://schemas.microsoft.com/office/drawing/2014/main" id="{AC283264-F096-5F34-8906-C1A043A79B36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 l="39924" t="74586" r="38724" b="15732"/>
            <a:stretch/>
          </p:blipFill>
          <p:spPr>
            <a:xfrm>
              <a:off x="393073" y="5022255"/>
              <a:ext cx="1347649" cy="8090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" name="Google Shape;3430;p293" descr="https://lh3.googleusercontent.com/ErsprmYcrgXkAxt8GddRWWqvLg_rDp2yFTkxcS8T0t7xlWULZHifO-__ODwkQYArchxRaJCYFk8bS2rkx2dUceEB0bnIfswMqnR3V2ZMms8Or9J82k2r23hQnYEACGdvbHQmIFKU220">
              <a:extLst>
                <a:ext uri="{FF2B5EF4-FFF2-40B4-BE49-F238E27FC236}">
                  <a16:creationId xmlns:a16="http://schemas.microsoft.com/office/drawing/2014/main" id="{1508B966-00DE-DEB9-7AE5-3BFB2D31A479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 l="35083" t="84591" r="35071" b="1174"/>
            <a:stretch/>
          </p:blipFill>
          <p:spPr>
            <a:xfrm>
              <a:off x="1576011" y="5095308"/>
              <a:ext cx="934092" cy="80523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" name="標題 1">
            <a:extLst>
              <a:ext uri="{FF2B5EF4-FFF2-40B4-BE49-F238E27FC236}">
                <a16:creationId xmlns:a16="http://schemas.microsoft.com/office/drawing/2014/main" id="{9E7CEAD5-6201-486B-9791-61BD8DED4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生成式人工智慧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(Generative AI)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基本原理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DD81018-398C-FB0E-252A-6B4BEA770D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讓機器學會產生複雜而有結構的物件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307FD4FC-7582-7EEF-10B1-FC2B867F0B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6223" y="3473206"/>
            <a:ext cx="1091201" cy="1091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C424FCF-D8D8-F92E-24BD-292B52CB58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7565" y="3409206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6F5DAE94-4BA3-032D-95A8-3354A627B464}"/>
              </a:ext>
            </a:extLst>
          </p:cNvPr>
          <p:cNvSpPr txBox="1"/>
          <p:nvPr/>
        </p:nvSpPr>
        <p:spPr>
          <a:xfrm>
            <a:off x="2808593" y="2658218"/>
            <a:ext cx="14529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無窮可能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A3C304AC-8A00-7CF8-BB60-4545BF6C02F2}"/>
              </a:ext>
            </a:extLst>
          </p:cNvPr>
          <p:cNvSpPr txBox="1"/>
          <p:nvPr/>
        </p:nvSpPr>
        <p:spPr>
          <a:xfrm>
            <a:off x="4945792" y="2658218"/>
            <a:ext cx="54936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由有限的基本單位所構成</a:t>
            </a:r>
          </a:p>
        </p:txBody>
      </p:sp>
      <p:cxnSp>
        <p:nvCxnSpPr>
          <p:cNvPr id="11" name="直線接點 10">
            <a:extLst>
              <a:ext uri="{FF2B5EF4-FFF2-40B4-BE49-F238E27FC236}">
                <a16:creationId xmlns:a16="http://schemas.microsoft.com/office/drawing/2014/main" id="{01E5C908-52C6-472B-336B-2BCDE7CC9D2B}"/>
              </a:ext>
            </a:extLst>
          </p:cNvPr>
          <p:cNvCxnSpPr/>
          <p:nvPr/>
        </p:nvCxnSpPr>
        <p:spPr>
          <a:xfrm>
            <a:off x="3610916" y="2247900"/>
            <a:ext cx="676001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接點 11">
            <a:extLst>
              <a:ext uri="{FF2B5EF4-FFF2-40B4-BE49-F238E27FC236}">
                <a16:creationId xmlns:a16="http://schemas.microsoft.com/office/drawing/2014/main" id="{E5FB69E3-A10B-ACF0-8BA6-F90A801B122C}"/>
              </a:ext>
            </a:extLst>
          </p:cNvPr>
          <p:cNvCxnSpPr>
            <a:cxnSpLocks/>
          </p:cNvCxnSpPr>
          <p:nvPr/>
        </p:nvCxnSpPr>
        <p:spPr>
          <a:xfrm>
            <a:off x="4741216" y="2247900"/>
            <a:ext cx="995949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單箭頭接點 14">
            <a:extLst>
              <a:ext uri="{FF2B5EF4-FFF2-40B4-BE49-F238E27FC236}">
                <a16:creationId xmlns:a16="http://schemas.microsoft.com/office/drawing/2014/main" id="{79447C73-A82D-60DC-4389-702993B81F35}"/>
              </a:ext>
            </a:extLst>
          </p:cNvPr>
          <p:cNvCxnSpPr/>
          <p:nvPr/>
        </p:nvCxnSpPr>
        <p:spPr>
          <a:xfrm flipH="1">
            <a:off x="3610916" y="2247900"/>
            <a:ext cx="338000" cy="410318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24B8E066-3DA8-3BD8-CE06-4D30DF5B92D7}"/>
              </a:ext>
            </a:extLst>
          </p:cNvPr>
          <p:cNvCxnSpPr>
            <a:cxnSpLocks/>
          </p:cNvCxnSpPr>
          <p:nvPr/>
        </p:nvCxnSpPr>
        <p:spPr>
          <a:xfrm>
            <a:off x="5283792" y="2259858"/>
            <a:ext cx="681579" cy="410318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C811B47D-DBE0-DBFB-8503-A562BA4A8AA8}"/>
              </a:ext>
            </a:extLst>
          </p:cNvPr>
          <p:cNvSpPr txBox="1"/>
          <p:nvPr/>
        </p:nvSpPr>
        <p:spPr>
          <a:xfrm>
            <a:off x="8960242" y="2201917"/>
            <a:ext cx="216343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這些基本單位統稱為 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Token</a:t>
            </a:r>
            <a:endParaRPr lang="zh-TW" altLang="en-US" sz="2400" dirty="0"/>
          </a:p>
        </p:txBody>
      </p:sp>
      <p:pic>
        <p:nvPicPr>
          <p:cNvPr id="20" name="Picture 8">
            <a:extLst>
              <a:ext uri="{FF2B5EF4-FFF2-40B4-BE49-F238E27FC236}">
                <a16:creationId xmlns:a16="http://schemas.microsoft.com/office/drawing/2014/main" id="{7D8E6A2F-4898-E2C3-46B2-7E5D24B8D2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9423" y="3830298"/>
            <a:ext cx="999534" cy="999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8">
            <a:extLst>
              <a:ext uri="{FF2B5EF4-FFF2-40B4-BE49-F238E27FC236}">
                <a16:creationId xmlns:a16="http://schemas.microsoft.com/office/drawing/2014/main" id="{4C3551A5-F124-6E48-6915-E0730BE651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527" y="3758551"/>
            <a:ext cx="999534" cy="999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8">
            <a:extLst>
              <a:ext uri="{FF2B5EF4-FFF2-40B4-BE49-F238E27FC236}">
                <a16:creationId xmlns:a16="http://schemas.microsoft.com/office/drawing/2014/main" id="{A4CDD754-C0F0-815C-FB91-DB2DA30D78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38948" y="3758551"/>
            <a:ext cx="999534" cy="999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文字方塊 22">
            <a:extLst>
              <a:ext uri="{FF2B5EF4-FFF2-40B4-BE49-F238E27FC236}">
                <a16:creationId xmlns:a16="http://schemas.microsoft.com/office/drawing/2014/main" id="{4B1C0EBD-86FD-D4D4-9B28-715B5682F744}"/>
              </a:ext>
            </a:extLst>
          </p:cNvPr>
          <p:cNvSpPr txBox="1"/>
          <p:nvPr/>
        </p:nvSpPr>
        <p:spPr>
          <a:xfrm>
            <a:off x="1902726" y="5502897"/>
            <a:ext cx="20662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ea typeface="微軟正黑體" panose="020B0604030504040204" pitchFamily="34" charset="-120"/>
              </a:rPr>
              <a:t>“</a:t>
            </a:r>
            <a:r>
              <a:rPr lang="zh-TW" altLang="en-US" dirty="0">
                <a:ea typeface="微軟正黑體" panose="020B0604030504040204" pitchFamily="34" charset="-120"/>
              </a:rPr>
              <a:t>大</a:t>
            </a:r>
            <a:r>
              <a:rPr lang="en-US" altLang="zh-TW" dirty="0">
                <a:ea typeface="微軟正黑體" panose="020B0604030504040204" pitchFamily="34" charset="-120"/>
              </a:rPr>
              <a:t>”, “</a:t>
            </a:r>
            <a:r>
              <a:rPr lang="zh-TW" altLang="en-US" dirty="0">
                <a:ea typeface="微軟正黑體" panose="020B0604030504040204" pitchFamily="34" charset="-120"/>
              </a:rPr>
              <a:t>家</a:t>
            </a:r>
            <a:r>
              <a:rPr lang="en-US" altLang="zh-TW" dirty="0">
                <a:ea typeface="微軟正黑體" panose="020B0604030504040204" pitchFamily="34" charset="-120"/>
              </a:rPr>
              <a:t>”, “</a:t>
            </a:r>
            <a:r>
              <a:rPr lang="zh-TW" altLang="en-US" dirty="0">
                <a:ea typeface="微軟正黑體" panose="020B0604030504040204" pitchFamily="34" charset="-120"/>
              </a:rPr>
              <a:t>好</a:t>
            </a:r>
            <a:r>
              <a:rPr lang="en-US" altLang="zh-TW" dirty="0">
                <a:ea typeface="微軟正黑體" panose="020B0604030504040204" pitchFamily="34" charset="-120"/>
              </a:rPr>
              <a:t>”, ……</a:t>
            </a:r>
            <a:endParaRPr lang="zh-TW" altLang="en-US" dirty="0">
              <a:ea typeface="微軟正黑體" panose="020B0604030504040204" pitchFamily="34" charset="-120"/>
            </a:endParaRPr>
          </a:p>
        </p:txBody>
      </p:sp>
      <p:pic>
        <p:nvPicPr>
          <p:cNvPr id="25" name="圖片 24">
            <a:extLst>
              <a:ext uri="{FF2B5EF4-FFF2-40B4-BE49-F238E27FC236}">
                <a16:creationId xmlns:a16="http://schemas.microsoft.com/office/drawing/2014/main" id="{103AFF0F-2F47-1145-572C-4F58F16715B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85710" y="4702844"/>
            <a:ext cx="2506476" cy="1827972"/>
          </a:xfrm>
          <a:prstGeom prst="rect">
            <a:avLst/>
          </a:prstGeom>
        </p:spPr>
      </p:pic>
      <p:grpSp>
        <p:nvGrpSpPr>
          <p:cNvPr id="45" name="群組 44">
            <a:extLst>
              <a:ext uri="{FF2B5EF4-FFF2-40B4-BE49-F238E27FC236}">
                <a16:creationId xmlns:a16="http://schemas.microsoft.com/office/drawing/2014/main" id="{EC28A428-05E6-1A92-8A3D-6E51C7492161}"/>
              </a:ext>
            </a:extLst>
          </p:cNvPr>
          <p:cNvGrpSpPr/>
          <p:nvPr/>
        </p:nvGrpSpPr>
        <p:grpSpPr>
          <a:xfrm>
            <a:off x="5127565" y="4976279"/>
            <a:ext cx="1598327" cy="1422567"/>
            <a:chOff x="4984494" y="4995723"/>
            <a:chExt cx="1598327" cy="1422567"/>
          </a:xfrm>
        </p:grpSpPr>
        <p:sp>
          <p:nvSpPr>
            <p:cNvPr id="29" name="矩形: 圓角 28">
              <a:extLst>
                <a:ext uri="{FF2B5EF4-FFF2-40B4-BE49-F238E27FC236}">
                  <a16:creationId xmlns:a16="http://schemas.microsoft.com/office/drawing/2014/main" id="{F16B9D01-FD2C-97B6-FF03-4554A0B2127E}"/>
                </a:ext>
              </a:extLst>
            </p:cNvPr>
            <p:cNvSpPr/>
            <p:nvPr/>
          </p:nvSpPr>
          <p:spPr>
            <a:xfrm>
              <a:off x="4994343" y="4995723"/>
              <a:ext cx="528735" cy="466530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30" name="矩形: 圓角 29">
              <a:extLst>
                <a:ext uri="{FF2B5EF4-FFF2-40B4-BE49-F238E27FC236}">
                  <a16:creationId xmlns:a16="http://schemas.microsoft.com/office/drawing/2014/main" id="{479C29DD-47D8-6F1B-095C-38F7BE96EFA4}"/>
                </a:ext>
              </a:extLst>
            </p:cNvPr>
            <p:cNvSpPr/>
            <p:nvPr/>
          </p:nvSpPr>
          <p:spPr>
            <a:xfrm>
              <a:off x="5523078" y="4995723"/>
              <a:ext cx="528735" cy="466530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31" name="矩形: 圓角 30">
              <a:extLst>
                <a:ext uri="{FF2B5EF4-FFF2-40B4-BE49-F238E27FC236}">
                  <a16:creationId xmlns:a16="http://schemas.microsoft.com/office/drawing/2014/main" id="{CB78A74E-3DCF-A2E9-4037-F58EAF4EB8F5}"/>
                </a:ext>
              </a:extLst>
            </p:cNvPr>
            <p:cNvSpPr/>
            <p:nvPr/>
          </p:nvSpPr>
          <p:spPr>
            <a:xfrm>
              <a:off x="6051813" y="4995723"/>
              <a:ext cx="528735" cy="466530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33" name="矩形: 圓角 32">
              <a:extLst>
                <a:ext uri="{FF2B5EF4-FFF2-40B4-BE49-F238E27FC236}">
                  <a16:creationId xmlns:a16="http://schemas.microsoft.com/office/drawing/2014/main" id="{9EC50852-DB06-20AA-4EEA-CFF2DD7CFA8C}"/>
                </a:ext>
              </a:extLst>
            </p:cNvPr>
            <p:cNvSpPr/>
            <p:nvPr/>
          </p:nvSpPr>
          <p:spPr>
            <a:xfrm>
              <a:off x="4984494" y="5470315"/>
              <a:ext cx="528735" cy="466530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34" name="矩形: 圓角 33">
              <a:extLst>
                <a:ext uri="{FF2B5EF4-FFF2-40B4-BE49-F238E27FC236}">
                  <a16:creationId xmlns:a16="http://schemas.microsoft.com/office/drawing/2014/main" id="{93F394F5-A2C0-A88B-05F2-0E9B9046C3A9}"/>
                </a:ext>
              </a:extLst>
            </p:cNvPr>
            <p:cNvSpPr/>
            <p:nvPr/>
          </p:nvSpPr>
          <p:spPr>
            <a:xfrm>
              <a:off x="5513229" y="5470315"/>
              <a:ext cx="528735" cy="466530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35" name="矩形: 圓角 34">
              <a:extLst>
                <a:ext uri="{FF2B5EF4-FFF2-40B4-BE49-F238E27FC236}">
                  <a16:creationId xmlns:a16="http://schemas.microsoft.com/office/drawing/2014/main" id="{71608CA3-9B3B-866B-7361-4EBACB405863}"/>
                </a:ext>
              </a:extLst>
            </p:cNvPr>
            <p:cNvSpPr/>
            <p:nvPr/>
          </p:nvSpPr>
          <p:spPr>
            <a:xfrm>
              <a:off x="6054086" y="5466626"/>
              <a:ext cx="528735" cy="466530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37" name="矩形: 圓角 36">
              <a:extLst>
                <a:ext uri="{FF2B5EF4-FFF2-40B4-BE49-F238E27FC236}">
                  <a16:creationId xmlns:a16="http://schemas.microsoft.com/office/drawing/2014/main" id="{D01EA9B1-6729-B5C8-61A3-2873C7BD80EE}"/>
                </a:ext>
              </a:extLst>
            </p:cNvPr>
            <p:cNvSpPr/>
            <p:nvPr/>
          </p:nvSpPr>
          <p:spPr>
            <a:xfrm>
              <a:off x="4994343" y="5951760"/>
              <a:ext cx="528735" cy="466530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38" name="矩形: 圓角 37">
              <a:extLst>
                <a:ext uri="{FF2B5EF4-FFF2-40B4-BE49-F238E27FC236}">
                  <a16:creationId xmlns:a16="http://schemas.microsoft.com/office/drawing/2014/main" id="{62D0136F-05E9-28EE-DB59-CCC7D6D6DB4C}"/>
                </a:ext>
              </a:extLst>
            </p:cNvPr>
            <p:cNvSpPr/>
            <p:nvPr/>
          </p:nvSpPr>
          <p:spPr>
            <a:xfrm>
              <a:off x="5523775" y="5951760"/>
              <a:ext cx="528735" cy="466530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39" name="矩形: 圓角 38">
              <a:extLst>
                <a:ext uri="{FF2B5EF4-FFF2-40B4-BE49-F238E27FC236}">
                  <a16:creationId xmlns:a16="http://schemas.microsoft.com/office/drawing/2014/main" id="{0C869887-4E5D-2496-3FC9-4E9C47487AC4}"/>
                </a:ext>
              </a:extLst>
            </p:cNvPr>
            <p:cNvSpPr/>
            <p:nvPr/>
          </p:nvSpPr>
          <p:spPr>
            <a:xfrm>
              <a:off x="6053207" y="5951760"/>
              <a:ext cx="528735" cy="466530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284433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9" grpId="0"/>
      <p:bldP spid="23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549F2A-5B8E-78BA-DDCB-DC65B9DD0E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57005A-E2C6-1C19-7050-78C0160A0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生成式人工智慧 </a:t>
            </a:r>
            <a:r>
              <a:rPr lang="en-US" altLang="zh-TW" sz="4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(Generative AI) </a:t>
            </a:r>
            <a:r>
              <a:rPr lang="zh-TW" altLang="en-US" sz="4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基本原理</a:t>
            </a:r>
            <a:endParaRPr lang="zh-TW" altLang="en-US" dirty="0"/>
          </a:p>
        </p:txBody>
      </p:sp>
      <p:pic>
        <p:nvPicPr>
          <p:cNvPr id="31" name="Picture 2">
            <a:extLst>
              <a:ext uri="{FF2B5EF4-FFF2-40B4-BE49-F238E27FC236}">
                <a16:creationId xmlns:a16="http://schemas.microsoft.com/office/drawing/2014/main" id="{6BF27664-CC3E-6757-D978-84D8E2E7C1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6905" y="1703106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4">
            <a:extLst>
              <a:ext uri="{FF2B5EF4-FFF2-40B4-BE49-F238E27FC236}">
                <a16:creationId xmlns:a16="http://schemas.microsoft.com/office/drawing/2014/main" id="{56771E81-09A4-549C-E513-B4EFD631B2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2673" y="3004074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6">
            <a:extLst>
              <a:ext uri="{FF2B5EF4-FFF2-40B4-BE49-F238E27FC236}">
                <a16:creationId xmlns:a16="http://schemas.microsoft.com/office/drawing/2014/main" id="{243B0076-ED6B-26B5-81A3-48B9454860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0044" y="4059737"/>
            <a:ext cx="1452923" cy="14529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Picture 2">
            <a:extLst>
              <a:ext uri="{FF2B5EF4-FFF2-40B4-BE49-F238E27FC236}">
                <a16:creationId xmlns:a16="http://schemas.microsoft.com/office/drawing/2014/main" id="{DED19F3F-75B2-A153-ED0D-D3A16BAB12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2031" y="1703106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4">
            <a:extLst>
              <a:ext uri="{FF2B5EF4-FFF2-40B4-BE49-F238E27FC236}">
                <a16:creationId xmlns:a16="http://schemas.microsoft.com/office/drawing/2014/main" id="{63AFA2CB-262E-8ED7-264A-D9E55DD17F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7799" y="3004074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6">
            <a:extLst>
              <a:ext uri="{FF2B5EF4-FFF2-40B4-BE49-F238E27FC236}">
                <a16:creationId xmlns:a16="http://schemas.microsoft.com/office/drawing/2014/main" id="{52AC680D-3743-5C27-D5C7-CEC08E7766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5170" y="4059737"/>
            <a:ext cx="1452923" cy="14529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矩形: 圓角 36">
            <a:extLst>
              <a:ext uri="{FF2B5EF4-FFF2-40B4-BE49-F238E27FC236}">
                <a16:creationId xmlns:a16="http://schemas.microsoft.com/office/drawing/2014/main" id="{580833E9-8A9B-A8A3-4203-EC7BAA110DEC}"/>
              </a:ext>
            </a:extLst>
          </p:cNvPr>
          <p:cNvSpPr/>
          <p:nvPr/>
        </p:nvSpPr>
        <p:spPr>
          <a:xfrm>
            <a:off x="5052771" y="2907790"/>
            <a:ext cx="2086457" cy="1042419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人工智慧</a:t>
            </a:r>
          </a:p>
        </p:txBody>
      </p:sp>
      <p:cxnSp>
        <p:nvCxnSpPr>
          <p:cNvPr id="38" name="直線單箭頭接點 37">
            <a:extLst>
              <a:ext uri="{FF2B5EF4-FFF2-40B4-BE49-F238E27FC236}">
                <a16:creationId xmlns:a16="http://schemas.microsoft.com/office/drawing/2014/main" id="{504E853E-46CC-84C5-28E8-CE56B9AF57BA}"/>
              </a:ext>
            </a:extLst>
          </p:cNvPr>
          <p:cNvCxnSpPr>
            <a:cxnSpLocks/>
          </p:cNvCxnSpPr>
          <p:nvPr/>
        </p:nvCxnSpPr>
        <p:spPr>
          <a:xfrm>
            <a:off x="4425286" y="3428999"/>
            <a:ext cx="567629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直線單箭頭接點 38">
            <a:extLst>
              <a:ext uri="{FF2B5EF4-FFF2-40B4-BE49-F238E27FC236}">
                <a16:creationId xmlns:a16="http://schemas.microsoft.com/office/drawing/2014/main" id="{3D749981-89E9-A216-C43A-ECFB5009BEAD}"/>
              </a:ext>
            </a:extLst>
          </p:cNvPr>
          <p:cNvCxnSpPr>
            <a:cxnSpLocks/>
          </p:cNvCxnSpPr>
          <p:nvPr/>
        </p:nvCxnSpPr>
        <p:spPr>
          <a:xfrm>
            <a:off x="4425286" y="2312706"/>
            <a:ext cx="0" cy="2473494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直線單箭頭接點 39">
            <a:extLst>
              <a:ext uri="{FF2B5EF4-FFF2-40B4-BE49-F238E27FC236}">
                <a16:creationId xmlns:a16="http://schemas.microsoft.com/office/drawing/2014/main" id="{8349882F-F540-4803-B813-323BC06EA8B7}"/>
              </a:ext>
            </a:extLst>
          </p:cNvPr>
          <p:cNvCxnSpPr>
            <a:cxnSpLocks/>
          </p:cNvCxnSpPr>
          <p:nvPr/>
        </p:nvCxnSpPr>
        <p:spPr>
          <a:xfrm>
            <a:off x="3879064" y="2340080"/>
            <a:ext cx="567629" cy="0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直線單箭頭接點 40">
            <a:extLst>
              <a:ext uri="{FF2B5EF4-FFF2-40B4-BE49-F238E27FC236}">
                <a16:creationId xmlns:a16="http://schemas.microsoft.com/office/drawing/2014/main" id="{5F56EC05-8078-5092-7B08-22B039188319}"/>
              </a:ext>
            </a:extLst>
          </p:cNvPr>
          <p:cNvCxnSpPr>
            <a:cxnSpLocks/>
          </p:cNvCxnSpPr>
          <p:nvPr/>
        </p:nvCxnSpPr>
        <p:spPr>
          <a:xfrm>
            <a:off x="3857657" y="3428999"/>
            <a:ext cx="567629" cy="0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直線單箭頭接點 41">
            <a:extLst>
              <a:ext uri="{FF2B5EF4-FFF2-40B4-BE49-F238E27FC236}">
                <a16:creationId xmlns:a16="http://schemas.microsoft.com/office/drawing/2014/main" id="{789F9A12-BE1D-8AB2-297E-A989C0EEDAAF}"/>
              </a:ext>
            </a:extLst>
          </p:cNvPr>
          <p:cNvCxnSpPr>
            <a:cxnSpLocks/>
          </p:cNvCxnSpPr>
          <p:nvPr/>
        </p:nvCxnSpPr>
        <p:spPr>
          <a:xfrm>
            <a:off x="3857657" y="4786198"/>
            <a:ext cx="567629" cy="0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直線單箭頭接點 42">
            <a:extLst>
              <a:ext uri="{FF2B5EF4-FFF2-40B4-BE49-F238E27FC236}">
                <a16:creationId xmlns:a16="http://schemas.microsoft.com/office/drawing/2014/main" id="{786B1FED-1794-52E9-F3D0-9C15BD16BE11}"/>
              </a:ext>
            </a:extLst>
          </p:cNvPr>
          <p:cNvCxnSpPr>
            <a:cxnSpLocks/>
          </p:cNvCxnSpPr>
          <p:nvPr/>
        </p:nvCxnSpPr>
        <p:spPr>
          <a:xfrm>
            <a:off x="7666387" y="2312706"/>
            <a:ext cx="45000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直線單箭頭接點 43">
            <a:extLst>
              <a:ext uri="{FF2B5EF4-FFF2-40B4-BE49-F238E27FC236}">
                <a16:creationId xmlns:a16="http://schemas.microsoft.com/office/drawing/2014/main" id="{B0C5ED76-E66B-AA40-2CD6-24F9ABD24CA7}"/>
              </a:ext>
            </a:extLst>
          </p:cNvPr>
          <p:cNvCxnSpPr>
            <a:cxnSpLocks/>
          </p:cNvCxnSpPr>
          <p:nvPr/>
        </p:nvCxnSpPr>
        <p:spPr>
          <a:xfrm>
            <a:off x="7677173" y="3437538"/>
            <a:ext cx="45000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直線單箭頭接點 44">
            <a:extLst>
              <a:ext uri="{FF2B5EF4-FFF2-40B4-BE49-F238E27FC236}">
                <a16:creationId xmlns:a16="http://schemas.microsoft.com/office/drawing/2014/main" id="{4A29FACD-8B94-DCBB-7D4A-654DBFBE68B6}"/>
              </a:ext>
            </a:extLst>
          </p:cNvPr>
          <p:cNvCxnSpPr>
            <a:cxnSpLocks/>
          </p:cNvCxnSpPr>
          <p:nvPr/>
        </p:nvCxnSpPr>
        <p:spPr>
          <a:xfrm>
            <a:off x="7659129" y="4786198"/>
            <a:ext cx="45000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直線單箭頭接點 45">
            <a:extLst>
              <a:ext uri="{FF2B5EF4-FFF2-40B4-BE49-F238E27FC236}">
                <a16:creationId xmlns:a16="http://schemas.microsoft.com/office/drawing/2014/main" id="{F1952F1A-46D7-DD84-65E7-4B2AD71BFD4C}"/>
              </a:ext>
            </a:extLst>
          </p:cNvPr>
          <p:cNvCxnSpPr>
            <a:cxnSpLocks/>
          </p:cNvCxnSpPr>
          <p:nvPr/>
        </p:nvCxnSpPr>
        <p:spPr>
          <a:xfrm>
            <a:off x="7640200" y="2286285"/>
            <a:ext cx="0" cy="2473494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直線單箭頭接點 46">
            <a:extLst>
              <a:ext uri="{FF2B5EF4-FFF2-40B4-BE49-F238E27FC236}">
                <a16:creationId xmlns:a16="http://schemas.microsoft.com/office/drawing/2014/main" id="{0A747619-FB35-AAB7-6797-098FC604E8A3}"/>
              </a:ext>
            </a:extLst>
          </p:cNvPr>
          <p:cNvCxnSpPr>
            <a:cxnSpLocks/>
          </p:cNvCxnSpPr>
          <p:nvPr/>
        </p:nvCxnSpPr>
        <p:spPr>
          <a:xfrm>
            <a:off x="7210457" y="3436256"/>
            <a:ext cx="429743" cy="0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文字方塊 47">
                <a:extLst>
                  <a:ext uri="{FF2B5EF4-FFF2-40B4-BE49-F238E27FC236}">
                    <a16:creationId xmlns:a16="http://schemas.microsoft.com/office/drawing/2014/main" id="{9F3E1038-6F04-1557-534C-5512899441A6}"/>
                  </a:ext>
                </a:extLst>
              </p:cNvPr>
              <p:cNvSpPr txBox="1"/>
              <p:nvPr/>
            </p:nvSpPr>
            <p:spPr>
              <a:xfrm>
                <a:off x="8686297" y="5499288"/>
                <a:ext cx="275395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zh-TW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𝑦</m:t>
                      </m:r>
                    </m:oMath>
                  </m:oMathPara>
                </a14:m>
                <a:endParaRPr kumimoji="0" lang="zh-TW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新細明體" panose="02020500000000000000" pitchFamily="18" charset="-120"/>
                  <a:cs typeface="+mn-cs"/>
                </a:endParaRPr>
              </a:p>
            </p:txBody>
          </p:sp>
        </mc:Choice>
        <mc:Fallback xmlns="">
          <p:sp>
            <p:nvSpPr>
              <p:cNvPr id="48" name="文字方塊 47">
                <a:extLst>
                  <a:ext uri="{FF2B5EF4-FFF2-40B4-BE49-F238E27FC236}">
                    <a16:creationId xmlns:a16="http://schemas.microsoft.com/office/drawing/2014/main" id="{9F3E1038-6F04-1557-534C-5512899441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6297" y="5499288"/>
                <a:ext cx="275395" cy="430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文字方塊 48">
                <a:extLst>
                  <a:ext uri="{FF2B5EF4-FFF2-40B4-BE49-F238E27FC236}">
                    <a16:creationId xmlns:a16="http://schemas.microsoft.com/office/drawing/2014/main" id="{1F2F259E-841B-F6FC-719B-558A9987860E}"/>
                  </a:ext>
                </a:extLst>
              </p:cNvPr>
              <p:cNvSpPr txBox="1"/>
              <p:nvPr/>
            </p:nvSpPr>
            <p:spPr>
              <a:xfrm>
                <a:off x="3049522" y="5499289"/>
                <a:ext cx="275395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zh-TW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𝑥</m:t>
                      </m:r>
                    </m:oMath>
                  </m:oMathPara>
                </a14:m>
                <a:endParaRPr kumimoji="0" lang="zh-TW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新細明體" panose="02020500000000000000" pitchFamily="18" charset="-120"/>
                  <a:cs typeface="+mn-cs"/>
                </a:endParaRPr>
              </a:p>
            </p:txBody>
          </p:sp>
        </mc:Choice>
        <mc:Fallback xmlns="">
          <p:sp>
            <p:nvSpPr>
              <p:cNvPr id="49" name="文字方塊 48">
                <a:extLst>
                  <a:ext uri="{FF2B5EF4-FFF2-40B4-BE49-F238E27FC236}">
                    <a16:creationId xmlns:a16="http://schemas.microsoft.com/office/drawing/2014/main" id="{1F2F259E-841B-F6FC-719B-558A998786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9522" y="5499289"/>
                <a:ext cx="275395" cy="43088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0" name="直線單箭頭接點 49">
            <a:extLst>
              <a:ext uri="{FF2B5EF4-FFF2-40B4-BE49-F238E27FC236}">
                <a16:creationId xmlns:a16="http://schemas.microsoft.com/office/drawing/2014/main" id="{F9DC17A7-C294-89E2-A8AC-DDAF99D304F3}"/>
              </a:ext>
            </a:extLst>
          </p:cNvPr>
          <p:cNvCxnSpPr/>
          <p:nvPr/>
        </p:nvCxnSpPr>
        <p:spPr>
          <a:xfrm>
            <a:off x="4137025" y="5752039"/>
            <a:ext cx="391795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文字方塊 2">
            <a:extLst>
              <a:ext uri="{FF2B5EF4-FFF2-40B4-BE49-F238E27FC236}">
                <a16:creationId xmlns:a16="http://schemas.microsoft.com/office/drawing/2014/main" id="{0373ECC9-214A-7BE3-2176-68406BA1099A}"/>
              </a:ext>
            </a:extLst>
          </p:cNvPr>
          <p:cNvSpPr txBox="1"/>
          <p:nvPr/>
        </p:nvSpPr>
        <p:spPr>
          <a:xfrm>
            <a:off x="9593014" y="5126109"/>
            <a:ext cx="23128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8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無盡的可能</a:t>
            </a:r>
          </a:p>
        </p:txBody>
      </p:sp>
      <p:cxnSp>
        <p:nvCxnSpPr>
          <p:cNvPr id="5" name="直線單箭頭接點 4">
            <a:extLst>
              <a:ext uri="{FF2B5EF4-FFF2-40B4-BE49-F238E27FC236}">
                <a16:creationId xmlns:a16="http://schemas.microsoft.com/office/drawing/2014/main" id="{72A391A6-5C6F-5FF8-47C4-3C69904E3D30}"/>
              </a:ext>
            </a:extLst>
          </p:cNvPr>
          <p:cNvCxnSpPr>
            <a:cxnSpLocks/>
            <a:stCxn id="3" idx="1"/>
          </p:cNvCxnSpPr>
          <p:nvPr/>
        </p:nvCxnSpPr>
        <p:spPr>
          <a:xfrm flipH="1">
            <a:off x="9108141" y="5387719"/>
            <a:ext cx="484873" cy="441183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81378087-2A29-EF4A-0051-C021B0DC6432}"/>
                  </a:ext>
                </a:extLst>
              </p:cNvPr>
              <p:cNvSpPr txBox="1"/>
              <p:nvPr/>
            </p:nvSpPr>
            <p:spPr>
              <a:xfrm>
                <a:off x="7547042" y="5989239"/>
                <a:ext cx="255390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altLang="zh-TW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,…</m:t>
                          </m:r>
                        </m:e>
                      </m:d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81378087-2A29-EF4A-0051-C021B0DC64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7042" y="5989239"/>
                <a:ext cx="2553904" cy="43088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C64C2EBD-1D2E-0D4D-E2E5-F653605C2E88}"/>
                  </a:ext>
                </a:extLst>
              </p:cNvPr>
              <p:cNvSpPr txBox="1"/>
              <p:nvPr/>
            </p:nvSpPr>
            <p:spPr>
              <a:xfrm>
                <a:off x="1919553" y="5927953"/>
                <a:ext cx="2547299" cy="49539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altLang="zh-TW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,…</m:t>
                          </m:r>
                        </m:e>
                      </m:d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C64C2EBD-1D2E-0D4D-E2E5-F653605C2E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9553" y="5927953"/>
                <a:ext cx="2547299" cy="49539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906752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/>
      <p:bldP spid="49" grpId="0"/>
      <p:bldP spid="3" grpId="0"/>
      <p:bldP spid="6" grpId="0"/>
      <p:bldP spid="7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72BB64-4DD2-41B7-25ED-016ED37893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85EA2B9-11E8-34C1-0617-5A4CB91B5D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生成式人工智慧 </a:t>
            </a:r>
            <a:r>
              <a:rPr lang="en-US" altLang="zh-TW" sz="4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(Generative AI) </a:t>
            </a:r>
            <a:r>
              <a:rPr lang="zh-TW" altLang="en-US" sz="4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基本原理</a:t>
            </a:r>
            <a:endParaRPr lang="zh-TW" altLang="en-US" dirty="0"/>
          </a:p>
        </p:txBody>
      </p:sp>
      <p:pic>
        <p:nvPicPr>
          <p:cNvPr id="31" name="Picture 2">
            <a:extLst>
              <a:ext uri="{FF2B5EF4-FFF2-40B4-BE49-F238E27FC236}">
                <a16:creationId xmlns:a16="http://schemas.microsoft.com/office/drawing/2014/main" id="{D6CB9815-8F38-C69F-F329-CC56E4E45A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6905" y="1703106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4">
            <a:extLst>
              <a:ext uri="{FF2B5EF4-FFF2-40B4-BE49-F238E27FC236}">
                <a16:creationId xmlns:a16="http://schemas.microsoft.com/office/drawing/2014/main" id="{6CE3D633-56D9-BF38-DDE1-FB8B9A4999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2673" y="3004074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6">
            <a:extLst>
              <a:ext uri="{FF2B5EF4-FFF2-40B4-BE49-F238E27FC236}">
                <a16:creationId xmlns:a16="http://schemas.microsoft.com/office/drawing/2014/main" id="{03329F4C-488D-FE06-F3E7-E5C43897D2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0044" y="4059737"/>
            <a:ext cx="1452923" cy="14529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Picture 2">
            <a:extLst>
              <a:ext uri="{FF2B5EF4-FFF2-40B4-BE49-F238E27FC236}">
                <a16:creationId xmlns:a16="http://schemas.microsoft.com/office/drawing/2014/main" id="{0C324D1C-71F3-B335-3D32-A4AAAF957D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2031" y="1703106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4">
            <a:extLst>
              <a:ext uri="{FF2B5EF4-FFF2-40B4-BE49-F238E27FC236}">
                <a16:creationId xmlns:a16="http://schemas.microsoft.com/office/drawing/2014/main" id="{D6F5800F-A6F4-AE87-5FDA-D25E6521F5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7799" y="3004074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6">
            <a:extLst>
              <a:ext uri="{FF2B5EF4-FFF2-40B4-BE49-F238E27FC236}">
                <a16:creationId xmlns:a16="http://schemas.microsoft.com/office/drawing/2014/main" id="{BDC0A481-6189-9A1B-6546-DA5EF724B2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5170" y="4059737"/>
            <a:ext cx="1452923" cy="14529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矩形: 圓角 36">
            <a:extLst>
              <a:ext uri="{FF2B5EF4-FFF2-40B4-BE49-F238E27FC236}">
                <a16:creationId xmlns:a16="http://schemas.microsoft.com/office/drawing/2014/main" id="{C5B115D1-4091-F40B-200B-64978B57A056}"/>
              </a:ext>
            </a:extLst>
          </p:cNvPr>
          <p:cNvSpPr/>
          <p:nvPr/>
        </p:nvSpPr>
        <p:spPr>
          <a:xfrm>
            <a:off x="5052771" y="2907790"/>
            <a:ext cx="2086457" cy="1042419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人工智慧</a:t>
            </a:r>
          </a:p>
        </p:txBody>
      </p:sp>
      <p:cxnSp>
        <p:nvCxnSpPr>
          <p:cNvPr id="38" name="直線單箭頭接點 37">
            <a:extLst>
              <a:ext uri="{FF2B5EF4-FFF2-40B4-BE49-F238E27FC236}">
                <a16:creationId xmlns:a16="http://schemas.microsoft.com/office/drawing/2014/main" id="{3871FBCB-5939-CACD-16BC-1FA3D3FBADAC}"/>
              </a:ext>
            </a:extLst>
          </p:cNvPr>
          <p:cNvCxnSpPr>
            <a:cxnSpLocks/>
          </p:cNvCxnSpPr>
          <p:nvPr/>
        </p:nvCxnSpPr>
        <p:spPr>
          <a:xfrm>
            <a:off x="4425286" y="3428999"/>
            <a:ext cx="567629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直線單箭頭接點 38">
            <a:extLst>
              <a:ext uri="{FF2B5EF4-FFF2-40B4-BE49-F238E27FC236}">
                <a16:creationId xmlns:a16="http://schemas.microsoft.com/office/drawing/2014/main" id="{F1B5520E-E92D-1B0F-AB59-6BAE75278073}"/>
              </a:ext>
            </a:extLst>
          </p:cNvPr>
          <p:cNvCxnSpPr>
            <a:cxnSpLocks/>
          </p:cNvCxnSpPr>
          <p:nvPr/>
        </p:nvCxnSpPr>
        <p:spPr>
          <a:xfrm>
            <a:off x="4425286" y="2312706"/>
            <a:ext cx="0" cy="2473494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直線單箭頭接點 39">
            <a:extLst>
              <a:ext uri="{FF2B5EF4-FFF2-40B4-BE49-F238E27FC236}">
                <a16:creationId xmlns:a16="http://schemas.microsoft.com/office/drawing/2014/main" id="{65ADA935-533E-5654-E16F-B4199A8D679C}"/>
              </a:ext>
            </a:extLst>
          </p:cNvPr>
          <p:cNvCxnSpPr>
            <a:cxnSpLocks/>
          </p:cNvCxnSpPr>
          <p:nvPr/>
        </p:nvCxnSpPr>
        <p:spPr>
          <a:xfrm>
            <a:off x="3879064" y="2340080"/>
            <a:ext cx="567629" cy="0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直線單箭頭接點 40">
            <a:extLst>
              <a:ext uri="{FF2B5EF4-FFF2-40B4-BE49-F238E27FC236}">
                <a16:creationId xmlns:a16="http://schemas.microsoft.com/office/drawing/2014/main" id="{FE19E5C7-6074-E50B-895A-377807ED2DDE}"/>
              </a:ext>
            </a:extLst>
          </p:cNvPr>
          <p:cNvCxnSpPr>
            <a:cxnSpLocks/>
          </p:cNvCxnSpPr>
          <p:nvPr/>
        </p:nvCxnSpPr>
        <p:spPr>
          <a:xfrm>
            <a:off x="3857657" y="3428999"/>
            <a:ext cx="567629" cy="0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直線單箭頭接點 41">
            <a:extLst>
              <a:ext uri="{FF2B5EF4-FFF2-40B4-BE49-F238E27FC236}">
                <a16:creationId xmlns:a16="http://schemas.microsoft.com/office/drawing/2014/main" id="{D16EA00C-E968-4FDF-BC82-7BBBCE3FB7F7}"/>
              </a:ext>
            </a:extLst>
          </p:cNvPr>
          <p:cNvCxnSpPr>
            <a:cxnSpLocks/>
          </p:cNvCxnSpPr>
          <p:nvPr/>
        </p:nvCxnSpPr>
        <p:spPr>
          <a:xfrm>
            <a:off x="3857657" y="4786198"/>
            <a:ext cx="567629" cy="0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直線單箭頭接點 42">
            <a:extLst>
              <a:ext uri="{FF2B5EF4-FFF2-40B4-BE49-F238E27FC236}">
                <a16:creationId xmlns:a16="http://schemas.microsoft.com/office/drawing/2014/main" id="{8588B848-5BC9-8D11-C880-D900E7ACEB2E}"/>
              </a:ext>
            </a:extLst>
          </p:cNvPr>
          <p:cNvCxnSpPr>
            <a:cxnSpLocks/>
          </p:cNvCxnSpPr>
          <p:nvPr/>
        </p:nvCxnSpPr>
        <p:spPr>
          <a:xfrm>
            <a:off x="7666387" y="2312706"/>
            <a:ext cx="45000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直線單箭頭接點 43">
            <a:extLst>
              <a:ext uri="{FF2B5EF4-FFF2-40B4-BE49-F238E27FC236}">
                <a16:creationId xmlns:a16="http://schemas.microsoft.com/office/drawing/2014/main" id="{780F4895-874D-6737-9F1C-35BD7247DF1F}"/>
              </a:ext>
            </a:extLst>
          </p:cNvPr>
          <p:cNvCxnSpPr>
            <a:cxnSpLocks/>
          </p:cNvCxnSpPr>
          <p:nvPr/>
        </p:nvCxnSpPr>
        <p:spPr>
          <a:xfrm>
            <a:off x="7677173" y="3437538"/>
            <a:ext cx="45000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直線單箭頭接點 44">
            <a:extLst>
              <a:ext uri="{FF2B5EF4-FFF2-40B4-BE49-F238E27FC236}">
                <a16:creationId xmlns:a16="http://schemas.microsoft.com/office/drawing/2014/main" id="{0A270CA8-45D3-D73F-5DE2-AD1728B3B8EA}"/>
              </a:ext>
            </a:extLst>
          </p:cNvPr>
          <p:cNvCxnSpPr>
            <a:cxnSpLocks/>
          </p:cNvCxnSpPr>
          <p:nvPr/>
        </p:nvCxnSpPr>
        <p:spPr>
          <a:xfrm>
            <a:off x="7659129" y="4786198"/>
            <a:ext cx="45000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直線單箭頭接點 45">
            <a:extLst>
              <a:ext uri="{FF2B5EF4-FFF2-40B4-BE49-F238E27FC236}">
                <a16:creationId xmlns:a16="http://schemas.microsoft.com/office/drawing/2014/main" id="{6586A611-914C-AF34-BB48-AF7E68C620F8}"/>
              </a:ext>
            </a:extLst>
          </p:cNvPr>
          <p:cNvCxnSpPr>
            <a:cxnSpLocks/>
          </p:cNvCxnSpPr>
          <p:nvPr/>
        </p:nvCxnSpPr>
        <p:spPr>
          <a:xfrm>
            <a:off x="7640200" y="2286285"/>
            <a:ext cx="0" cy="2473494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直線單箭頭接點 46">
            <a:extLst>
              <a:ext uri="{FF2B5EF4-FFF2-40B4-BE49-F238E27FC236}">
                <a16:creationId xmlns:a16="http://schemas.microsoft.com/office/drawing/2014/main" id="{C8F4B9F0-BBA4-5FD2-9892-4D829C030A83}"/>
              </a:ext>
            </a:extLst>
          </p:cNvPr>
          <p:cNvCxnSpPr>
            <a:cxnSpLocks/>
          </p:cNvCxnSpPr>
          <p:nvPr/>
        </p:nvCxnSpPr>
        <p:spPr>
          <a:xfrm>
            <a:off x="7210457" y="3436256"/>
            <a:ext cx="429743" cy="0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文字方塊 47">
                <a:extLst>
                  <a:ext uri="{FF2B5EF4-FFF2-40B4-BE49-F238E27FC236}">
                    <a16:creationId xmlns:a16="http://schemas.microsoft.com/office/drawing/2014/main" id="{2762B1A0-FE1E-59D5-1142-D4BE97CD431F}"/>
                  </a:ext>
                </a:extLst>
              </p:cNvPr>
              <p:cNvSpPr txBox="1"/>
              <p:nvPr/>
            </p:nvSpPr>
            <p:spPr>
              <a:xfrm>
                <a:off x="8686297" y="5499288"/>
                <a:ext cx="275395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zh-TW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𝑦</m:t>
                      </m:r>
                    </m:oMath>
                  </m:oMathPara>
                </a14:m>
                <a:endParaRPr kumimoji="0" lang="zh-TW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新細明體" panose="02020500000000000000" pitchFamily="18" charset="-120"/>
                  <a:cs typeface="+mn-cs"/>
                </a:endParaRPr>
              </a:p>
            </p:txBody>
          </p:sp>
        </mc:Choice>
        <mc:Fallback xmlns="">
          <p:sp>
            <p:nvSpPr>
              <p:cNvPr id="48" name="文字方塊 47">
                <a:extLst>
                  <a:ext uri="{FF2B5EF4-FFF2-40B4-BE49-F238E27FC236}">
                    <a16:creationId xmlns:a16="http://schemas.microsoft.com/office/drawing/2014/main" id="{2762B1A0-FE1E-59D5-1142-D4BE97CD43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6297" y="5499288"/>
                <a:ext cx="275395" cy="430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文字方塊 48">
                <a:extLst>
                  <a:ext uri="{FF2B5EF4-FFF2-40B4-BE49-F238E27FC236}">
                    <a16:creationId xmlns:a16="http://schemas.microsoft.com/office/drawing/2014/main" id="{1E8F6C34-7ADA-1980-D02D-8384F958C4C1}"/>
                  </a:ext>
                </a:extLst>
              </p:cNvPr>
              <p:cNvSpPr txBox="1"/>
              <p:nvPr/>
            </p:nvSpPr>
            <p:spPr>
              <a:xfrm>
                <a:off x="3049522" y="5499289"/>
                <a:ext cx="275395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zh-TW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𝑥</m:t>
                      </m:r>
                    </m:oMath>
                  </m:oMathPara>
                </a14:m>
                <a:endParaRPr kumimoji="0" lang="zh-TW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新細明體" panose="02020500000000000000" pitchFamily="18" charset="-120"/>
                  <a:cs typeface="+mn-cs"/>
                </a:endParaRPr>
              </a:p>
            </p:txBody>
          </p:sp>
        </mc:Choice>
        <mc:Fallback xmlns="">
          <p:sp>
            <p:nvSpPr>
              <p:cNvPr id="49" name="文字方塊 48">
                <a:extLst>
                  <a:ext uri="{FF2B5EF4-FFF2-40B4-BE49-F238E27FC236}">
                    <a16:creationId xmlns:a16="http://schemas.microsoft.com/office/drawing/2014/main" id="{1E8F6C34-7ADA-1980-D02D-8384F958C4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9522" y="5499289"/>
                <a:ext cx="275395" cy="43088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0" name="直線單箭頭接點 49">
            <a:extLst>
              <a:ext uri="{FF2B5EF4-FFF2-40B4-BE49-F238E27FC236}">
                <a16:creationId xmlns:a16="http://schemas.microsoft.com/office/drawing/2014/main" id="{3669FBBF-0CDA-A659-863A-E883DFCF9606}"/>
              </a:ext>
            </a:extLst>
          </p:cNvPr>
          <p:cNvCxnSpPr/>
          <p:nvPr/>
        </p:nvCxnSpPr>
        <p:spPr>
          <a:xfrm>
            <a:off x="4137025" y="5752039"/>
            <a:ext cx="391795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文字方塊 50">
                <a:extLst>
                  <a:ext uri="{FF2B5EF4-FFF2-40B4-BE49-F238E27FC236}">
                    <a16:creationId xmlns:a16="http://schemas.microsoft.com/office/drawing/2014/main" id="{8A122069-924D-92CB-5697-3298C2A85D76}"/>
                  </a:ext>
                </a:extLst>
              </p:cNvPr>
              <p:cNvSpPr txBox="1"/>
              <p:nvPr/>
            </p:nvSpPr>
            <p:spPr>
              <a:xfrm>
                <a:off x="7547042" y="5989239"/>
                <a:ext cx="255390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altLang="zh-TW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,…</m:t>
                          </m:r>
                        </m:e>
                      </m:d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51" name="文字方塊 50">
                <a:extLst>
                  <a:ext uri="{FF2B5EF4-FFF2-40B4-BE49-F238E27FC236}">
                    <a16:creationId xmlns:a16="http://schemas.microsoft.com/office/drawing/2014/main" id="{8A122069-924D-92CB-5697-3298C2A85D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7042" y="5989239"/>
                <a:ext cx="2553904" cy="43088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文字方塊 51">
                <a:extLst>
                  <a:ext uri="{FF2B5EF4-FFF2-40B4-BE49-F238E27FC236}">
                    <a16:creationId xmlns:a16="http://schemas.microsoft.com/office/drawing/2014/main" id="{630F7DA7-1A0A-CBE9-43D6-9B933B2A26AA}"/>
                  </a:ext>
                </a:extLst>
              </p:cNvPr>
              <p:cNvSpPr txBox="1"/>
              <p:nvPr/>
            </p:nvSpPr>
            <p:spPr>
              <a:xfrm>
                <a:off x="1919553" y="5927953"/>
                <a:ext cx="2547299" cy="49539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altLang="zh-TW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,…</m:t>
                          </m:r>
                        </m:e>
                      </m:d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52" name="文字方塊 51">
                <a:extLst>
                  <a:ext uri="{FF2B5EF4-FFF2-40B4-BE49-F238E27FC236}">
                    <a16:creationId xmlns:a16="http://schemas.microsoft.com/office/drawing/2014/main" id="{630F7DA7-1A0A-CBE9-43D6-9B933B2A26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9553" y="5927953"/>
                <a:ext cx="2547299" cy="49539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660345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D89C9C-95FD-6674-F29D-7AAB44F2D6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450CDE8-D0B4-30F5-181A-5211425F5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生成式人工智慧 </a:t>
            </a:r>
            <a:r>
              <a:rPr lang="en-US" altLang="zh-TW" sz="4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(Generative AI) </a:t>
            </a:r>
            <a:r>
              <a:rPr lang="zh-TW" altLang="en-US" sz="4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基本原理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D8451D7D-0394-3B74-AC8F-AFEA059EC9FA}"/>
                  </a:ext>
                </a:extLst>
              </p:cNvPr>
              <p:cNvSpPr txBox="1"/>
              <p:nvPr/>
            </p:nvSpPr>
            <p:spPr>
              <a:xfrm>
                <a:off x="8733922" y="1495466"/>
                <a:ext cx="275395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zh-TW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𝑦</m:t>
                      </m:r>
                    </m:oMath>
                  </m:oMathPara>
                </a14:m>
                <a:endParaRPr kumimoji="0" lang="zh-TW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新細明體" panose="02020500000000000000" pitchFamily="18" charset="-120"/>
                  <a:cs typeface="+mn-cs"/>
                </a:endParaRPr>
              </a:p>
            </p:txBody>
          </p:sp>
        </mc:Choice>
        <mc:Fallback xmlns="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D8451D7D-0394-3B74-AC8F-AFEA059EC9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3922" y="1495466"/>
                <a:ext cx="275395" cy="43088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ACC769DB-6061-3E64-4EE4-17409F768CE1}"/>
                  </a:ext>
                </a:extLst>
              </p:cNvPr>
              <p:cNvSpPr txBox="1"/>
              <p:nvPr/>
            </p:nvSpPr>
            <p:spPr>
              <a:xfrm>
                <a:off x="3097147" y="1495467"/>
                <a:ext cx="275395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zh-TW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𝑥</m:t>
                      </m:r>
                    </m:oMath>
                  </m:oMathPara>
                </a14:m>
                <a:endParaRPr kumimoji="0" lang="zh-TW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新細明體" panose="02020500000000000000" pitchFamily="18" charset="-120"/>
                  <a:cs typeface="+mn-cs"/>
                </a:endParaRPr>
              </a:p>
            </p:txBody>
          </p:sp>
        </mc:Choice>
        <mc:Fallback xmlns="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ACC769DB-6061-3E64-4EE4-17409F768C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7147" y="1495467"/>
                <a:ext cx="275395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直線單箭頭接點 7">
            <a:extLst>
              <a:ext uri="{FF2B5EF4-FFF2-40B4-BE49-F238E27FC236}">
                <a16:creationId xmlns:a16="http://schemas.microsoft.com/office/drawing/2014/main" id="{1ECD8BFB-6080-06FA-A6EC-2AB4B3F88BAA}"/>
              </a:ext>
            </a:extLst>
          </p:cNvPr>
          <p:cNvCxnSpPr/>
          <p:nvPr/>
        </p:nvCxnSpPr>
        <p:spPr>
          <a:xfrm>
            <a:off x="4184650" y="1748217"/>
            <a:ext cx="391795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C62D2BA2-60F6-1556-EE93-93EC543A8C29}"/>
                  </a:ext>
                </a:extLst>
              </p:cNvPr>
              <p:cNvSpPr txBox="1"/>
              <p:nvPr/>
            </p:nvSpPr>
            <p:spPr>
              <a:xfrm>
                <a:off x="7594667" y="1985417"/>
                <a:ext cx="255390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altLang="zh-TW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,…</m:t>
                          </m:r>
                        </m:e>
                      </m:d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C62D2BA2-60F6-1556-EE93-93EC543A8C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94667" y="1985417"/>
                <a:ext cx="2553904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2E01CFC9-F4A3-B5DA-F063-D79868F2DBE3}"/>
                  </a:ext>
                </a:extLst>
              </p:cNvPr>
              <p:cNvSpPr txBox="1"/>
              <p:nvPr/>
            </p:nvSpPr>
            <p:spPr>
              <a:xfrm>
                <a:off x="1967178" y="1924131"/>
                <a:ext cx="2547299" cy="49539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altLang="zh-TW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,…</m:t>
                          </m:r>
                        </m:e>
                      </m:d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2E01CFC9-F4A3-B5DA-F063-D79868F2DB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7178" y="1924131"/>
                <a:ext cx="2547299" cy="49539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BE810B77-8EFD-B887-D87A-ED625E71DF5E}"/>
                  </a:ext>
                </a:extLst>
              </p:cNvPr>
              <p:cNvSpPr txBox="1"/>
              <p:nvPr/>
            </p:nvSpPr>
            <p:spPr>
              <a:xfrm>
                <a:off x="1146608" y="2674219"/>
                <a:ext cx="96449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TW" altLang="en-US" sz="2400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策略：根據固定的順序每次只產生一個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TW" altLang="en-US" sz="2400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 </a:t>
                </a:r>
              </a:p>
            </p:txBody>
          </p:sp>
        </mc:Choice>
        <mc:Fallback xmlns="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BE810B77-8EFD-B887-D87A-ED625E71DF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6608" y="2674219"/>
                <a:ext cx="9644960" cy="461665"/>
              </a:xfrm>
              <a:prstGeom prst="rect">
                <a:avLst/>
              </a:prstGeom>
              <a:blipFill>
                <a:blip r:embed="rId6"/>
                <a:stretch>
                  <a:fillRect l="-948" t="-9333" b="-32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AA5074DB-3D63-EF96-286E-C4A17486626D}"/>
                  </a:ext>
                </a:extLst>
              </p:cNvPr>
              <p:cNvSpPr txBox="1"/>
              <p:nvPr/>
            </p:nvSpPr>
            <p:spPr>
              <a:xfrm>
                <a:off x="1639818" y="3135884"/>
                <a:ext cx="3058722" cy="4655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sz="280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TW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TW" sz="2800" i="1">
                          <a:latin typeface="Cambria Math" panose="02040503050406030204" pitchFamily="18" charset="0"/>
                        </a:rPr>
                        <m:t>,…,</m:t>
                      </m:r>
                      <m:sSub>
                        <m:sSubPr>
                          <m:ctrlPr>
                            <a:rPr lang="en-US" altLang="zh-TW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altLang="zh-TW" sz="2800" i="1">
                          <a:latin typeface="Cambria Math" panose="02040503050406030204" pitchFamily="18" charset="0"/>
                        </a:rPr>
                        <m:t>,…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US" altLang="zh-TW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AA5074DB-3D63-EF96-286E-C4A1748662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9818" y="3135884"/>
                <a:ext cx="3058722" cy="46557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3EA529EB-0D64-9585-DBE7-2B16F8C5E775}"/>
                  </a:ext>
                </a:extLst>
              </p:cNvPr>
              <p:cNvSpPr txBox="1"/>
              <p:nvPr/>
            </p:nvSpPr>
            <p:spPr>
              <a:xfrm>
                <a:off x="1639818" y="3731972"/>
                <a:ext cx="3475182" cy="4655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sz="280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TW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TW" sz="2800" i="1">
                          <a:latin typeface="Cambria Math" panose="02040503050406030204" pitchFamily="18" charset="0"/>
                        </a:rPr>
                        <m:t>,…,</m:t>
                      </m:r>
                      <m:sSub>
                        <m:sSubPr>
                          <m:ctrlPr>
                            <a:rPr lang="en-US" altLang="zh-TW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altLang="zh-TW" sz="2800" i="1">
                          <a:latin typeface="Cambria Math" panose="02040503050406030204" pitchFamily="18" charset="0"/>
                        </a:rPr>
                        <m:t>,…</m:t>
                      </m:r>
                      <m:sSub>
                        <m:sSubPr>
                          <m:ctrlPr>
                            <a:rPr lang="en-US" altLang="zh-TW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US" altLang="zh-TW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3EA529EB-0D64-9585-DBE7-2B16F8C5E7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9818" y="3731972"/>
                <a:ext cx="3475182" cy="46557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498A4A68-F9CF-1DD7-891F-72FC257EB959}"/>
                  </a:ext>
                </a:extLst>
              </p:cNvPr>
              <p:cNvSpPr txBox="1"/>
              <p:nvPr/>
            </p:nvSpPr>
            <p:spPr>
              <a:xfrm>
                <a:off x="1639818" y="4328060"/>
                <a:ext cx="3910366" cy="4655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sz="280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TW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TW" sz="2800" i="1">
                          <a:latin typeface="Cambria Math" panose="02040503050406030204" pitchFamily="18" charset="0"/>
                        </a:rPr>
                        <m:t>,…,</m:t>
                      </m:r>
                      <m:sSub>
                        <m:sSubPr>
                          <m:ctrlPr>
                            <a:rPr lang="en-US" altLang="zh-TW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altLang="zh-TW" sz="2800" i="1">
                          <a:latin typeface="Cambria Math" panose="02040503050406030204" pitchFamily="18" charset="0"/>
                        </a:rPr>
                        <m:t>,…</m:t>
                      </m:r>
                      <m:sSub>
                        <m:sSubPr>
                          <m:ctrlPr>
                            <a:rPr lang="en-US" altLang="zh-TW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zh-TW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TW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US" altLang="zh-TW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498A4A68-F9CF-1DD7-891F-72FC257EB9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9818" y="4328060"/>
                <a:ext cx="3910366" cy="46557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49E47495-39A3-3894-E4F2-8F52C4759142}"/>
                  </a:ext>
                </a:extLst>
              </p:cNvPr>
              <p:cNvSpPr txBox="1"/>
              <p:nvPr/>
            </p:nvSpPr>
            <p:spPr>
              <a:xfrm>
                <a:off x="1639818" y="5934464"/>
                <a:ext cx="5089663" cy="4655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sz="280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TW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TW" sz="2800" i="1">
                          <a:latin typeface="Cambria Math" panose="02040503050406030204" pitchFamily="18" charset="0"/>
                        </a:rPr>
                        <m:t>,…,</m:t>
                      </m:r>
                      <m:sSub>
                        <m:sSubPr>
                          <m:ctrlPr>
                            <a:rPr lang="en-US" altLang="zh-TW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altLang="zh-TW" sz="2800" i="1">
                          <a:latin typeface="Cambria Math" panose="02040503050406030204" pitchFamily="18" charset="0"/>
                        </a:rPr>
                        <m:t>,…</m:t>
                      </m:r>
                      <m:sSub>
                        <m:sSubPr>
                          <m:ctrlPr>
                            <a:rPr lang="en-US" altLang="zh-TW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sz="2800" i="1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zh-TW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 … </m:t>
                      </m:r>
                      <m:sSub>
                        <m:sSubPr>
                          <m:ctrlPr>
                            <a:rPr lang="en-US" altLang="zh-TW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US" altLang="zh-TW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𝑒𝑛𝑑</m:t>
                      </m:r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49E47495-39A3-3894-E4F2-8F52C47591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9818" y="5934464"/>
                <a:ext cx="5089663" cy="46557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9ADE391F-DC8A-718E-AFD4-174622E5459C}"/>
                  </a:ext>
                </a:extLst>
              </p:cNvPr>
              <p:cNvSpPr txBox="1"/>
              <p:nvPr/>
            </p:nvSpPr>
            <p:spPr>
              <a:xfrm>
                <a:off x="1639818" y="5417097"/>
                <a:ext cx="5213543" cy="4655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sz="280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TW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TW" sz="2800" i="1">
                          <a:latin typeface="Cambria Math" panose="02040503050406030204" pitchFamily="18" charset="0"/>
                        </a:rPr>
                        <m:t>,…,</m:t>
                      </m:r>
                      <m:sSub>
                        <m:sSubPr>
                          <m:ctrlPr>
                            <a:rPr lang="en-US" altLang="zh-TW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altLang="zh-TW" sz="2800" i="1">
                          <a:latin typeface="Cambria Math" panose="02040503050406030204" pitchFamily="18" charset="0"/>
                        </a:rPr>
                        <m:t>,…</m:t>
                      </m:r>
                      <m:sSub>
                        <m:sSubPr>
                          <m:ctrlPr>
                            <a:rPr lang="en-US" altLang="zh-TW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sz="2800" i="1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zh-TW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 … </m:t>
                      </m:r>
                      <m:sSub>
                        <m:sSubPr>
                          <m:ctrlPr>
                            <a:rPr lang="en-US" altLang="zh-TW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altLang="zh-TW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US" altLang="zh-TW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9ADE391F-DC8A-718E-AFD4-174622E545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9818" y="5417097"/>
                <a:ext cx="5213543" cy="46557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文字方塊 17">
            <a:extLst>
              <a:ext uri="{FF2B5EF4-FFF2-40B4-BE49-F238E27FC236}">
                <a16:creationId xmlns:a16="http://schemas.microsoft.com/office/drawing/2014/main" id="{848D5888-14D9-7B41-A7F0-4749D42184D7}"/>
              </a:ext>
            </a:extLst>
          </p:cNvPr>
          <p:cNvSpPr txBox="1"/>
          <p:nvPr/>
        </p:nvSpPr>
        <p:spPr>
          <a:xfrm rot="5400000">
            <a:off x="2104114" y="4859591"/>
            <a:ext cx="560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b="1" dirty="0"/>
              <a:t>…</a:t>
            </a:r>
            <a:endParaRPr lang="zh-TW" altLang="en-US" sz="2800" b="1" dirty="0"/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425B2BD2-AF64-9E18-36BC-A58E4D632457}"/>
              </a:ext>
            </a:extLst>
          </p:cNvPr>
          <p:cNvSpPr txBox="1"/>
          <p:nvPr/>
        </p:nvSpPr>
        <p:spPr>
          <a:xfrm>
            <a:off x="7131996" y="3634704"/>
            <a:ext cx="41635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Autoregressive Generation</a:t>
            </a:r>
          </a:p>
          <a:p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「文字」接龍 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TW" altLang="en-US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7F66B103-B401-70E7-9F66-A1A7BCBCFA25}"/>
                  </a:ext>
                </a:extLst>
              </p:cNvPr>
              <p:cNvSpPr txBox="1"/>
              <p:nvPr/>
            </p:nvSpPr>
            <p:spPr>
              <a:xfrm>
                <a:off x="7131996" y="4744565"/>
                <a:ext cx="443040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TW" altLang="en-US" sz="2400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如果 </a:t>
                </a:r>
                <a:r>
                  <a:rPr lang="en-US" altLang="zh-TW" sz="2400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Token </a:t>
                </a:r>
                <a:r>
                  <a:rPr lang="zh-TW" altLang="en-US" sz="2400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是文字</a:t>
                </a:r>
                <a14:m>
                  <m:oMath xmlns:m="http://schemas.openxmlformats.org/officeDocument/2006/math">
                    <m:r>
                      <a:rPr lang="zh-TW" altLang="en-US" sz="2400" i="1" smtClean="0">
                        <a:latin typeface="Cambria Math" panose="02040503050406030204" pitchFamily="18" charset="0"/>
                        <a:ea typeface="微軟正黑體" panose="020B0604030504040204" pitchFamily="34" charset="-120"/>
                      </a:rPr>
                      <m:t>→</m:t>
                    </m:r>
                  </m:oMath>
                </a14:m>
                <a:r>
                  <a:rPr lang="zh-TW" altLang="en-US" sz="2400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語言模型</a:t>
                </a:r>
              </a:p>
            </p:txBody>
          </p:sp>
        </mc:Choice>
        <mc:Fallback xmlns="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7F66B103-B401-70E7-9F66-A1A7BCBCFA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1996" y="4744565"/>
                <a:ext cx="4430408" cy="461665"/>
              </a:xfrm>
              <a:prstGeom prst="rect">
                <a:avLst/>
              </a:prstGeom>
              <a:blipFill>
                <a:blip r:embed="rId12"/>
                <a:stretch>
                  <a:fillRect l="-2201" t="-9211" b="-3026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字方塊 3">
            <a:extLst>
              <a:ext uri="{FF2B5EF4-FFF2-40B4-BE49-F238E27FC236}">
                <a16:creationId xmlns:a16="http://schemas.microsoft.com/office/drawing/2014/main" id="{413E823D-1134-82D1-0B2B-905A9C70F915}"/>
              </a:ext>
            </a:extLst>
          </p:cNvPr>
          <p:cNvSpPr txBox="1"/>
          <p:nvPr/>
        </p:nvSpPr>
        <p:spPr>
          <a:xfrm>
            <a:off x="9068374" y="1482043"/>
            <a:ext cx="23128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8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無盡的可能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2B02F684-158C-71AC-555E-F21C71C00B50}"/>
              </a:ext>
            </a:extLst>
          </p:cNvPr>
          <p:cNvSpPr txBox="1"/>
          <p:nvPr/>
        </p:nvSpPr>
        <p:spPr>
          <a:xfrm>
            <a:off x="9635120" y="2569684"/>
            <a:ext cx="23128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800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有限選擇</a:t>
            </a:r>
          </a:p>
        </p:txBody>
      </p:sp>
      <p:cxnSp>
        <p:nvCxnSpPr>
          <p:cNvPr id="19" name="直線單箭頭接點 18">
            <a:extLst>
              <a:ext uri="{FF2B5EF4-FFF2-40B4-BE49-F238E27FC236}">
                <a16:creationId xmlns:a16="http://schemas.microsoft.com/office/drawing/2014/main" id="{6ABB6A7C-C3D8-68CE-9DF7-BB7F302B8B39}"/>
              </a:ext>
            </a:extLst>
          </p:cNvPr>
          <p:cNvCxnSpPr>
            <a:cxnSpLocks/>
          </p:cNvCxnSpPr>
          <p:nvPr/>
        </p:nvCxnSpPr>
        <p:spPr>
          <a:xfrm flipH="1" flipV="1">
            <a:off x="9347200" y="2543414"/>
            <a:ext cx="287920" cy="261610"/>
          </a:xfrm>
          <a:prstGeom prst="straightConnector1">
            <a:avLst/>
          </a:prstGeom>
          <a:ln w="5715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45137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  <p:bldP spid="14" grpId="0"/>
      <p:bldP spid="15" grpId="0"/>
      <p:bldP spid="16" grpId="0"/>
      <p:bldP spid="17" grpId="0"/>
      <p:bldP spid="18" grpId="0"/>
      <p:bldP spid="20" grpId="0"/>
      <p:bldP spid="3" grpId="0"/>
      <p:bldP spid="5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6EF9C4-C424-FE7E-1FA9-00292EE3BC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B99B09-8D6F-32ED-713F-B121C9C94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生成式人工智慧 </a:t>
            </a:r>
            <a:r>
              <a:rPr lang="en-US" altLang="zh-TW" sz="4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(Generative AI) </a:t>
            </a:r>
            <a:r>
              <a:rPr lang="zh-TW" altLang="en-US" sz="4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基本原理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1AAF45E1-AAA4-CC0B-841B-E20C6E0E71B9}"/>
                  </a:ext>
                </a:extLst>
              </p:cNvPr>
              <p:cNvSpPr txBox="1"/>
              <p:nvPr/>
            </p:nvSpPr>
            <p:spPr>
              <a:xfrm>
                <a:off x="8733922" y="1495466"/>
                <a:ext cx="275395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zh-TW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𝑦</m:t>
                      </m:r>
                    </m:oMath>
                  </m:oMathPara>
                </a14:m>
                <a:endParaRPr kumimoji="0" lang="zh-TW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新細明體" panose="02020500000000000000" pitchFamily="18" charset="-120"/>
                  <a:cs typeface="+mn-cs"/>
                </a:endParaRPr>
              </a:p>
            </p:txBody>
          </p:sp>
        </mc:Choice>
        <mc:Fallback xmlns="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D8451D7D-0394-3B74-AC8F-AFEA059EC9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3922" y="1495466"/>
                <a:ext cx="275395" cy="43088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A3E1ACB5-FF70-8AA8-4608-EFAF2564EF3E}"/>
                  </a:ext>
                </a:extLst>
              </p:cNvPr>
              <p:cNvSpPr txBox="1"/>
              <p:nvPr/>
            </p:nvSpPr>
            <p:spPr>
              <a:xfrm>
                <a:off x="3097147" y="1495467"/>
                <a:ext cx="275395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zh-TW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𝑥</m:t>
                      </m:r>
                    </m:oMath>
                  </m:oMathPara>
                </a14:m>
                <a:endParaRPr kumimoji="0" lang="zh-TW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新細明體" panose="02020500000000000000" pitchFamily="18" charset="-120"/>
                  <a:cs typeface="+mn-cs"/>
                </a:endParaRPr>
              </a:p>
            </p:txBody>
          </p:sp>
        </mc:Choice>
        <mc:Fallback xmlns="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ACC769DB-6061-3E64-4EE4-17409F768C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7147" y="1495467"/>
                <a:ext cx="275395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直線單箭頭接點 7">
            <a:extLst>
              <a:ext uri="{FF2B5EF4-FFF2-40B4-BE49-F238E27FC236}">
                <a16:creationId xmlns:a16="http://schemas.microsoft.com/office/drawing/2014/main" id="{63DD8121-0A7C-B782-AC1B-71B911D1983F}"/>
              </a:ext>
            </a:extLst>
          </p:cNvPr>
          <p:cNvCxnSpPr/>
          <p:nvPr/>
        </p:nvCxnSpPr>
        <p:spPr>
          <a:xfrm>
            <a:off x="4184650" y="1748217"/>
            <a:ext cx="391795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930BD2BC-2366-3D42-1C01-65F61704E276}"/>
                  </a:ext>
                </a:extLst>
              </p:cNvPr>
              <p:cNvSpPr txBox="1"/>
              <p:nvPr/>
            </p:nvSpPr>
            <p:spPr>
              <a:xfrm>
                <a:off x="7594667" y="1985417"/>
                <a:ext cx="255390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altLang="zh-TW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,…</m:t>
                          </m:r>
                        </m:e>
                      </m:d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C62D2BA2-60F6-1556-EE93-93EC543A8C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94667" y="1985417"/>
                <a:ext cx="2553904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876FB0F8-9289-95F2-9739-1BE24542FE50}"/>
                  </a:ext>
                </a:extLst>
              </p:cNvPr>
              <p:cNvSpPr txBox="1"/>
              <p:nvPr/>
            </p:nvSpPr>
            <p:spPr>
              <a:xfrm>
                <a:off x="1967178" y="1924131"/>
                <a:ext cx="2547299" cy="49539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altLang="zh-TW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,…</m:t>
                          </m:r>
                        </m:e>
                      </m:d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2E01CFC9-F4A3-B5DA-F063-D79868F2DB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7178" y="1924131"/>
                <a:ext cx="2547299" cy="49539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44A9CB62-8A99-A241-A1F1-DC33A442E4F4}"/>
                  </a:ext>
                </a:extLst>
              </p:cNvPr>
              <p:cNvSpPr txBox="1"/>
              <p:nvPr/>
            </p:nvSpPr>
            <p:spPr>
              <a:xfrm>
                <a:off x="1146608" y="2674219"/>
                <a:ext cx="96449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TW" altLang="en-US" sz="2400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策略：根據固定的順序每次只產生一個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TW" altLang="en-US" sz="2400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 </a:t>
                </a:r>
              </a:p>
            </p:txBody>
          </p:sp>
        </mc:Choice>
        <mc:Fallback xmlns="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44A9CB62-8A99-A241-A1F1-DC33A442E4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6608" y="2674219"/>
                <a:ext cx="9644960" cy="461665"/>
              </a:xfrm>
              <a:prstGeom prst="rect">
                <a:avLst/>
              </a:prstGeom>
              <a:blipFill>
                <a:blip r:embed="rId6"/>
                <a:stretch>
                  <a:fillRect l="-948" t="-9333" b="-32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EFDCF900-259A-D64B-09BC-4D69D8BD6812}"/>
                  </a:ext>
                </a:extLst>
              </p:cNvPr>
              <p:cNvSpPr txBox="1"/>
              <p:nvPr/>
            </p:nvSpPr>
            <p:spPr>
              <a:xfrm>
                <a:off x="1639818" y="3135884"/>
                <a:ext cx="3058722" cy="4655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sz="280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TW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TW" sz="2800" i="1">
                          <a:latin typeface="Cambria Math" panose="02040503050406030204" pitchFamily="18" charset="0"/>
                        </a:rPr>
                        <m:t>,…,</m:t>
                      </m:r>
                      <m:sSub>
                        <m:sSubPr>
                          <m:ctrlPr>
                            <a:rPr lang="en-US" altLang="zh-TW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altLang="zh-TW" sz="2800" i="1">
                          <a:latin typeface="Cambria Math" panose="02040503050406030204" pitchFamily="18" charset="0"/>
                        </a:rPr>
                        <m:t>,…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US" altLang="zh-TW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EFDCF900-259A-D64B-09BC-4D69D8BD68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9818" y="3135884"/>
                <a:ext cx="3058722" cy="46557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00A19891-0E4E-99E0-24E9-E5473F69EFE3}"/>
                  </a:ext>
                </a:extLst>
              </p:cNvPr>
              <p:cNvSpPr txBox="1"/>
              <p:nvPr/>
            </p:nvSpPr>
            <p:spPr>
              <a:xfrm>
                <a:off x="1639818" y="3731972"/>
                <a:ext cx="3475182" cy="4655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sz="280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TW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TW" sz="2800" i="1">
                          <a:latin typeface="Cambria Math" panose="02040503050406030204" pitchFamily="18" charset="0"/>
                        </a:rPr>
                        <m:t>,…,</m:t>
                      </m:r>
                      <m:sSub>
                        <m:sSubPr>
                          <m:ctrlPr>
                            <a:rPr lang="en-US" altLang="zh-TW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altLang="zh-TW" sz="2800" i="1">
                          <a:latin typeface="Cambria Math" panose="02040503050406030204" pitchFamily="18" charset="0"/>
                        </a:rPr>
                        <m:t>,…</m:t>
                      </m:r>
                      <m:sSub>
                        <m:sSubPr>
                          <m:ctrlPr>
                            <a:rPr lang="en-US" altLang="zh-TW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US" altLang="zh-TW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00A19891-0E4E-99E0-24E9-E5473F69EF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9818" y="3731972"/>
                <a:ext cx="3475182" cy="46557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59A6C0A4-3427-F65F-C8CA-BFFBFF26A944}"/>
                  </a:ext>
                </a:extLst>
              </p:cNvPr>
              <p:cNvSpPr txBox="1"/>
              <p:nvPr/>
            </p:nvSpPr>
            <p:spPr>
              <a:xfrm>
                <a:off x="1639818" y="4328060"/>
                <a:ext cx="3910366" cy="4655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sz="280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TW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TW" sz="2800" i="1">
                          <a:latin typeface="Cambria Math" panose="02040503050406030204" pitchFamily="18" charset="0"/>
                        </a:rPr>
                        <m:t>,…,</m:t>
                      </m:r>
                      <m:sSub>
                        <m:sSubPr>
                          <m:ctrlPr>
                            <a:rPr lang="en-US" altLang="zh-TW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altLang="zh-TW" sz="2800" i="1">
                          <a:latin typeface="Cambria Math" panose="02040503050406030204" pitchFamily="18" charset="0"/>
                        </a:rPr>
                        <m:t>,…</m:t>
                      </m:r>
                      <m:sSub>
                        <m:sSubPr>
                          <m:ctrlPr>
                            <a:rPr lang="en-US" altLang="zh-TW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zh-TW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TW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US" altLang="zh-TW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59A6C0A4-3427-F65F-C8CA-BFFBFF26A9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9818" y="4328060"/>
                <a:ext cx="3910366" cy="46557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8145A6A5-4796-BA56-87B4-6CDBC47A059D}"/>
                  </a:ext>
                </a:extLst>
              </p:cNvPr>
              <p:cNvSpPr txBox="1"/>
              <p:nvPr/>
            </p:nvSpPr>
            <p:spPr>
              <a:xfrm>
                <a:off x="1639818" y="5934464"/>
                <a:ext cx="5089663" cy="4655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sz="280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TW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TW" sz="2800" i="1">
                          <a:latin typeface="Cambria Math" panose="02040503050406030204" pitchFamily="18" charset="0"/>
                        </a:rPr>
                        <m:t>,…,</m:t>
                      </m:r>
                      <m:sSub>
                        <m:sSubPr>
                          <m:ctrlPr>
                            <a:rPr lang="en-US" altLang="zh-TW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altLang="zh-TW" sz="2800" i="1">
                          <a:latin typeface="Cambria Math" panose="02040503050406030204" pitchFamily="18" charset="0"/>
                        </a:rPr>
                        <m:t>,…</m:t>
                      </m:r>
                      <m:sSub>
                        <m:sSubPr>
                          <m:ctrlPr>
                            <a:rPr lang="en-US" altLang="zh-TW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sz="2800" i="1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zh-TW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 … </m:t>
                      </m:r>
                      <m:sSub>
                        <m:sSubPr>
                          <m:ctrlPr>
                            <a:rPr lang="en-US" altLang="zh-TW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US" altLang="zh-TW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𝑒𝑛𝑑</m:t>
                      </m:r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8145A6A5-4796-BA56-87B4-6CDBC47A05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9818" y="5934464"/>
                <a:ext cx="5089663" cy="46557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52B1F086-7EE1-A78E-AFE3-1DC0B379BA42}"/>
                  </a:ext>
                </a:extLst>
              </p:cNvPr>
              <p:cNvSpPr txBox="1"/>
              <p:nvPr/>
            </p:nvSpPr>
            <p:spPr>
              <a:xfrm>
                <a:off x="1639818" y="5417097"/>
                <a:ext cx="5213543" cy="4655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sz="280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TW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TW" sz="2800" i="1">
                          <a:latin typeface="Cambria Math" panose="02040503050406030204" pitchFamily="18" charset="0"/>
                        </a:rPr>
                        <m:t>,…,</m:t>
                      </m:r>
                      <m:sSub>
                        <m:sSubPr>
                          <m:ctrlPr>
                            <a:rPr lang="en-US" altLang="zh-TW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altLang="zh-TW" sz="2800" i="1">
                          <a:latin typeface="Cambria Math" panose="02040503050406030204" pitchFamily="18" charset="0"/>
                        </a:rPr>
                        <m:t>,…</m:t>
                      </m:r>
                      <m:sSub>
                        <m:sSubPr>
                          <m:ctrlPr>
                            <a:rPr lang="en-US" altLang="zh-TW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sz="2800" i="1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zh-TW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 … </m:t>
                      </m:r>
                      <m:sSub>
                        <m:sSubPr>
                          <m:ctrlPr>
                            <a:rPr lang="en-US" altLang="zh-TW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altLang="zh-TW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US" altLang="zh-TW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52B1F086-7EE1-A78E-AFE3-1DC0B379BA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9818" y="5417097"/>
                <a:ext cx="5213543" cy="46557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文字方塊 17">
            <a:extLst>
              <a:ext uri="{FF2B5EF4-FFF2-40B4-BE49-F238E27FC236}">
                <a16:creationId xmlns:a16="http://schemas.microsoft.com/office/drawing/2014/main" id="{BCD9E407-C84C-767A-6A2B-4092C3766665}"/>
              </a:ext>
            </a:extLst>
          </p:cNvPr>
          <p:cNvSpPr txBox="1"/>
          <p:nvPr/>
        </p:nvSpPr>
        <p:spPr>
          <a:xfrm rot="5400000">
            <a:off x="2104114" y="4859591"/>
            <a:ext cx="560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b="1" dirty="0"/>
              <a:t>…</a:t>
            </a:r>
            <a:endParaRPr lang="zh-TW" altLang="en-US" sz="2800" b="1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329D4980-5564-2A4F-23E1-5E6F327CC0BA}"/>
              </a:ext>
            </a:extLst>
          </p:cNvPr>
          <p:cNvSpPr txBox="1"/>
          <p:nvPr/>
        </p:nvSpPr>
        <p:spPr>
          <a:xfrm>
            <a:off x="9068374" y="1482043"/>
            <a:ext cx="23128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8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無盡的可能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8E483F5F-2892-56E2-4DCB-1E5EF2CCA692}"/>
              </a:ext>
            </a:extLst>
          </p:cNvPr>
          <p:cNvSpPr txBox="1"/>
          <p:nvPr/>
        </p:nvSpPr>
        <p:spPr>
          <a:xfrm>
            <a:off x="9635120" y="2569684"/>
            <a:ext cx="23128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800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有限選擇</a:t>
            </a:r>
          </a:p>
        </p:txBody>
      </p:sp>
      <p:cxnSp>
        <p:nvCxnSpPr>
          <p:cNvPr id="19" name="直線單箭頭接點 18">
            <a:extLst>
              <a:ext uri="{FF2B5EF4-FFF2-40B4-BE49-F238E27FC236}">
                <a16:creationId xmlns:a16="http://schemas.microsoft.com/office/drawing/2014/main" id="{2B8A7928-78E3-727D-3BC0-EE71E3F2DA99}"/>
              </a:ext>
            </a:extLst>
          </p:cNvPr>
          <p:cNvCxnSpPr>
            <a:cxnSpLocks/>
            <a:stCxn id="5" idx="1"/>
          </p:cNvCxnSpPr>
          <p:nvPr/>
        </p:nvCxnSpPr>
        <p:spPr>
          <a:xfrm flipH="1" flipV="1">
            <a:off x="9347200" y="2569684"/>
            <a:ext cx="287920" cy="261610"/>
          </a:xfrm>
          <a:prstGeom prst="straightConnector1">
            <a:avLst/>
          </a:prstGeom>
          <a:ln w="5715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DAC9C4C4-D447-820E-1ABB-85C8275D0D3C}"/>
                  </a:ext>
                </a:extLst>
              </p:cNvPr>
              <p:cNvSpPr txBox="1"/>
              <p:nvPr/>
            </p:nvSpPr>
            <p:spPr>
              <a:xfrm>
                <a:off x="7812521" y="4069064"/>
                <a:ext cx="3183628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e>
                      </m:d>
                      <m:r>
                        <a:rPr lang="en-US" altLang="zh-TW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US" altLang="zh-TW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DAC9C4C4-D447-820E-1ABB-85C8275D0D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2521" y="4069064"/>
                <a:ext cx="3183628" cy="43088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右大括弧 20">
            <a:extLst>
              <a:ext uri="{FF2B5EF4-FFF2-40B4-BE49-F238E27FC236}">
                <a16:creationId xmlns:a16="http://schemas.microsoft.com/office/drawing/2014/main" id="{0133D61A-E5EE-35C2-D866-3240BDC5AFFD}"/>
              </a:ext>
            </a:extLst>
          </p:cNvPr>
          <p:cNvSpPr/>
          <p:nvPr/>
        </p:nvSpPr>
        <p:spPr>
          <a:xfrm>
            <a:off x="6853360" y="3135884"/>
            <a:ext cx="640101" cy="3356991"/>
          </a:xfrm>
          <a:prstGeom prst="rightBrace">
            <a:avLst>
              <a:gd name="adj1" fmla="val 44374"/>
              <a:gd name="adj2" fmla="val 35045"/>
            </a:avLst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CCDB5647-A6C2-F1F4-C2B6-56373342041A}"/>
              </a:ext>
            </a:extLst>
          </p:cNvPr>
          <p:cNvSpPr txBox="1"/>
          <p:nvPr/>
        </p:nvSpPr>
        <p:spPr>
          <a:xfrm>
            <a:off x="7765818" y="3531864"/>
            <a:ext cx="24435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給一串 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token </a:t>
            </a:r>
            <a:endParaRPr lang="zh-TW" altLang="en-US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836CDF38-323C-95D8-7AAA-64EAF9F53186}"/>
              </a:ext>
            </a:extLst>
          </p:cNvPr>
          <p:cNvSpPr txBox="1"/>
          <p:nvPr/>
        </p:nvSpPr>
        <p:spPr>
          <a:xfrm>
            <a:off x="8791057" y="4710817"/>
            <a:ext cx="33203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預測下一個 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token</a:t>
            </a:r>
            <a:endParaRPr lang="zh-TW" altLang="en-US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76F850D9-25A2-7D96-04D7-8C63F88E536F}"/>
              </a:ext>
            </a:extLst>
          </p:cNvPr>
          <p:cNvSpPr txBox="1"/>
          <p:nvPr/>
        </p:nvSpPr>
        <p:spPr>
          <a:xfrm>
            <a:off x="9126645" y="5214501"/>
            <a:ext cx="23128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800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有限選擇</a:t>
            </a:r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3F5B4937-7AA0-1D53-1A44-CD69F42ABD98}"/>
              </a:ext>
            </a:extLst>
          </p:cNvPr>
          <p:cNvSpPr txBox="1"/>
          <p:nvPr/>
        </p:nvSpPr>
        <p:spPr>
          <a:xfrm>
            <a:off x="9126645" y="6081834"/>
            <a:ext cx="23128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800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分類問題</a:t>
            </a:r>
          </a:p>
        </p:txBody>
      </p:sp>
      <p:cxnSp>
        <p:nvCxnSpPr>
          <p:cNvPr id="27" name="直線單箭頭接點 26">
            <a:extLst>
              <a:ext uri="{FF2B5EF4-FFF2-40B4-BE49-F238E27FC236}">
                <a16:creationId xmlns:a16="http://schemas.microsoft.com/office/drawing/2014/main" id="{29AD3142-5845-4DA7-C287-29F69A37EAFB}"/>
              </a:ext>
            </a:extLst>
          </p:cNvPr>
          <p:cNvCxnSpPr/>
          <p:nvPr/>
        </p:nvCxnSpPr>
        <p:spPr>
          <a:xfrm>
            <a:off x="10283092" y="5653497"/>
            <a:ext cx="0" cy="458353"/>
          </a:xfrm>
          <a:prstGeom prst="straightConnector1">
            <a:avLst/>
          </a:prstGeom>
          <a:ln w="762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單箭頭接點 27">
            <a:extLst>
              <a:ext uri="{FF2B5EF4-FFF2-40B4-BE49-F238E27FC236}">
                <a16:creationId xmlns:a16="http://schemas.microsoft.com/office/drawing/2014/main" id="{F9FAE491-ECF7-1ED9-C0B1-FB9DE7270B4C}"/>
              </a:ext>
            </a:extLst>
          </p:cNvPr>
          <p:cNvCxnSpPr>
            <a:cxnSpLocks/>
          </p:cNvCxnSpPr>
          <p:nvPr/>
        </p:nvCxnSpPr>
        <p:spPr>
          <a:xfrm flipV="1">
            <a:off x="827296" y="3135884"/>
            <a:ext cx="493462" cy="465577"/>
          </a:xfrm>
          <a:prstGeom prst="straightConnector1">
            <a:avLst/>
          </a:prstGeom>
          <a:ln w="5715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ED7CC919-2F35-B154-47AE-4BAB31A4BF53}"/>
              </a:ext>
            </a:extLst>
          </p:cNvPr>
          <p:cNvSpPr txBox="1"/>
          <p:nvPr/>
        </p:nvSpPr>
        <p:spPr>
          <a:xfrm>
            <a:off x="113023" y="3756710"/>
            <a:ext cx="146485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800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有不同</a:t>
            </a:r>
            <a:endParaRPr lang="en-US" altLang="zh-TW" sz="2800" dirty="0">
              <a:solidFill>
                <a:srgbClr val="0000F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2800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的可能</a:t>
            </a:r>
          </a:p>
        </p:txBody>
      </p:sp>
    </p:spTree>
    <p:extLst>
      <p:ext uri="{BB962C8B-B14F-4D97-AF65-F5344CB8AC3E}">
        <p14:creationId xmlns:p14="http://schemas.microsoft.com/office/powerpoint/2010/main" val="33840807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21" grpId="0" animBg="1"/>
      <p:bldP spid="22" grpId="0"/>
      <p:bldP spid="23" grpId="0"/>
      <p:bldP spid="24" grpId="0"/>
      <p:bldP spid="25" grpId="0"/>
      <p:bldP spid="30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5BC39F-7791-4793-E2D2-9A98DC0656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1009255-5DBE-ECF3-CDB1-BF511979F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課程規劃</a:t>
            </a:r>
          </a:p>
        </p:txBody>
      </p:sp>
      <p:graphicFrame>
        <p:nvGraphicFramePr>
          <p:cNvPr id="4" name="內容版面配置區 3">
            <a:extLst>
              <a:ext uri="{FF2B5EF4-FFF2-40B4-BE49-F238E27FC236}">
                <a16:creationId xmlns:a16="http://schemas.microsoft.com/office/drawing/2014/main" id="{F8A0635D-B65B-5F8C-667E-96207E4B581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矩形: 圓角 4">
            <a:extLst>
              <a:ext uri="{FF2B5EF4-FFF2-40B4-BE49-F238E27FC236}">
                <a16:creationId xmlns:a16="http://schemas.microsoft.com/office/drawing/2014/main" id="{6AAE832F-2A5E-27B3-E0E0-F1B11D012B7F}"/>
              </a:ext>
            </a:extLst>
          </p:cNvPr>
          <p:cNvSpPr/>
          <p:nvPr/>
        </p:nvSpPr>
        <p:spPr>
          <a:xfrm>
            <a:off x="6413095" y="2585448"/>
            <a:ext cx="4913671" cy="2831691"/>
          </a:xfrm>
          <a:prstGeom prst="round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45D89857-EBCA-6FF3-6565-92BCFC40D4FB}"/>
              </a:ext>
            </a:extLst>
          </p:cNvPr>
          <p:cNvSpPr txBox="1"/>
          <p:nvPr/>
        </p:nvSpPr>
        <p:spPr>
          <a:xfrm>
            <a:off x="6707755" y="4417358"/>
            <a:ext cx="43243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28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教大家如何使用</a:t>
            </a:r>
            <a:r>
              <a:rPr lang="zh-TW" altLang="en-US" sz="28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開源模型</a:t>
            </a:r>
            <a:r>
              <a:rPr lang="en-US" altLang="zh-TW" sz="28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TW" altLang="en-US" sz="2800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0122477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EFAC73E-5554-C7A8-A47D-0294E2D542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 dirty="0"/>
          </a:p>
        </p:txBody>
      </p:sp>
      <p:grpSp>
        <p:nvGrpSpPr>
          <p:cNvPr id="4" name="群組 3">
            <a:extLst>
              <a:ext uri="{FF2B5EF4-FFF2-40B4-BE49-F238E27FC236}">
                <a16:creationId xmlns:a16="http://schemas.microsoft.com/office/drawing/2014/main" id="{8C130AEC-7D9D-FCB2-9410-FFFA6009DF23}"/>
              </a:ext>
            </a:extLst>
          </p:cNvPr>
          <p:cNvGrpSpPr/>
          <p:nvPr/>
        </p:nvGrpSpPr>
        <p:grpSpPr>
          <a:xfrm>
            <a:off x="7937630" y="4724572"/>
            <a:ext cx="2454758" cy="1903956"/>
            <a:chOff x="6680330" y="1509847"/>
            <a:chExt cx="2454758" cy="1903956"/>
          </a:xfrm>
        </p:grpSpPr>
        <p:pic>
          <p:nvPicPr>
            <p:cNvPr id="5" name="Picture 8" descr="Claude - Desktop App for Mac, Windows (PC) - WebCatalog">
              <a:extLst>
                <a:ext uri="{FF2B5EF4-FFF2-40B4-BE49-F238E27FC236}">
                  <a16:creationId xmlns:a16="http://schemas.microsoft.com/office/drawing/2014/main" id="{9F265708-FD88-38E2-B8E8-97DC2D75446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17783" y="1509847"/>
              <a:ext cx="1341751" cy="13417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文字方塊 5">
              <a:extLst>
                <a:ext uri="{FF2B5EF4-FFF2-40B4-BE49-F238E27FC236}">
                  <a16:creationId xmlns:a16="http://schemas.microsoft.com/office/drawing/2014/main" id="{1BB71A71-7C97-7FF1-76D2-7FAEFB652CF0}"/>
                </a:ext>
              </a:extLst>
            </p:cNvPr>
            <p:cNvSpPr txBox="1"/>
            <p:nvPr/>
          </p:nvSpPr>
          <p:spPr>
            <a:xfrm>
              <a:off x="6680330" y="2890583"/>
              <a:ext cx="245475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8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Claude</a:t>
              </a:r>
              <a:endPara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12" name="群組 11">
            <a:extLst>
              <a:ext uri="{FF2B5EF4-FFF2-40B4-BE49-F238E27FC236}">
                <a16:creationId xmlns:a16="http://schemas.microsoft.com/office/drawing/2014/main" id="{D24D208E-A1B0-AFCC-B122-366C71C7BAEE}"/>
              </a:ext>
            </a:extLst>
          </p:cNvPr>
          <p:cNvGrpSpPr/>
          <p:nvPr/>
        </p:nvGrpSpPr>
        <p:grpSpPr>
          <a:xfrm>
            <a:off x="7918580" y="2228817"/>
            <a:ext cx="2454758" cy="2192401"/>
            <a:chOff x="3113447" y="-76950"/>
            <a:chExt cx="2454758" cy="2192401"/>
          </a:xfrm>
        </p:grpSpPr>
        <p:pic>
          <p:nvPicPr>
            <p:cNvPr id="7" name="Picture 10" descr="ChatGPT, OpenAI Logo Icon 21495996 PNG">
              <a:extLst>
                <a:ext uri="{FF2B5EF4-FFF2-40B4-BE49-F238E27FC236}">
                  <a16:creationId xmlns:a16="http://schemas.microsoft.com/office/drawing/2014/main" id="{8F490613-DE05-1634-0A51-3EA3EC7A068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97216" y="-76950"/>
              <a:ext cx="1849120" cy="21032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文字方塊 7">
              <a:extLst>
                <a:ext uri="{FF2B5EF4-FFF2-40B4-BE49-F238E27FC236}">
                  <a16:creationId xmlns:a16="http://schemas.microsoft.com/office/drawing/2014/main" id="{F6F06F2E-B8F3-1478-E15A-234901635BE1}"/>
                </a:ext>
              </a:extLst>
            </p:cNvPr>
            <p:cNvSpPr txBox="1"/>
            <p:nvPr/>
          </p:nvSpPr>
          <p:spPr>
            <a:xfrm>
              <a:off x="3113447" y="1592231"/>
              <a:ext cx="245475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8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ChatGPT</a:t>
              </a:r>
              <a:endPara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11" name="群組 10">
            <a:extLst>
              <a:ext uri="{FF2B5EF4-FFF2-40B4-BE49-F238E27FC236}">
                <a16:creationId xmlns:a16="http://schemas.microsoft.com/office/drawing/2014/main" id="{BDBF11EF-7B0A-E52C-700B-DCA30EB3E4E9}"/>
              </a:ext>
            </a:extLst>
          </p:cNvPr>
          <p:cNvGrpSpPr/>
          <p:nvPr/>
        </p:nvGrpSpPr>
        <p:grpSpPr>
          <a:xfrm>
            <a:off x="7821845" y="0"/>
            <a:ext cx="2454758" cy="2305017"/>
            <a:chOff x="5787791" y="-55757"/>
            <a:chExt cx="2454758" cy="2305017"/>
          </a:xfrm>
        </p:grpSpPr>
        <p:pic>
          <p:nvPicPr>
            <p:cNvPr id="9" name="Picture 16" descr="Google Gemini - Mac、Windows (PC) 版傳統型應用程式- WebCatalog">
              <a:extLst>
                <a:ext uri="{FF2B5EF4-FFF2-40B4-BE49-F238E27FC236}">
                  <a16:creationId xmlns:a16="http://schemas.microsoft.com/office/drawing/2014/main" id="{138C06F9-FE47-F98D-DC9C-E9727659C27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12925" y="-55757"/>
              <a:ext cx="2004490" cy="200449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" name="文字方塊 9">
              <a:extLst>
                <a:ext uri="{FF2B5EF4-FFF2-40B4-BE49-F238E27FC236}">
                  <a16:creationId xmlns:a16="http://schemas.microsoft.com/office/drawing/2014/main" id="{39931F0C-024E-82F9-0E07-6C815C1F5CAA}"/>
                </a:ext>
              </a:extLst>
            </p:cNvPr>
            <p:cNvSpPr txBox="1"/>
            <p:nvPr/>
          </p:nvSpPr>
          <p:spPr>
            <a:xfrm>
              <a:off x="5787791" y="1726040"/>
              <a:ext cx="245475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8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Gemini</a:t>
              </a:r>
              <a:endPara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9BAAE91F-7221-3306-3240-0C86FCCFCCB5}"/>
              </a:ext>
            </a:extLst>
          </p:cNvPr>
          <p:cNvSpPr txBox="1"/>
          <p:nvPr/>
        </p:nvSpPr>
        <p:spPr>
          <a:xfrm>
            <a:off x="10373338" y="479025"/>
            <a:ext cx="15138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800" b="1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非開源</a:t>
            </a:r>
            <a:endParaRPr lang="en-US" altLang="zh-TW" sz="2800" b="1" u="sng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14" name="圖片 13">
            <a:extLst>
              <a:ext uri="{FF2B5EF4-FFF2-40B4-BE49-F238E27FC236}">
                <a16:creationId xmlns:a16="http://schemas.microsoft.com/office/drawing/2014/main" id="{378368CC-CB17-39F8-6994-BFFB0F0559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6069" y="1922955"/>
            <a:ext cx="5914364" cy="344808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cxnSp>
        <p:nvCxnSpPr>
          <p:cNvPr id="16" name="直線接點 15">
            <a:extLst>
              <a:ext uri="{FF2B5EF4-FFF2-40B4-BE49-F238E27FC236}">
                <a16:creationId xmlns:a16="http://schemas.microsoft.com/office/drawing/2014/main" id="{E6EDED6D-991E-82B0-488B-254AF1A8F169}"/>
              </a:ext>
            </a:extLst>
          </p:cNvPr>
          <p:cNvCxnSpPr/>
          <p:nvPr/>
        </p:nvCxnSpPr>
        <p:spPr>
          <a:xfrm>
            <a:off x="7602764" y="0"/>
            <a:ext cx="0" cy="752475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F68A32E0-62CD-B333-01A1-D584774247BA}"/>
              </a:ext>
            </a:extLst>
          </p:cNvPr>
          <p:cNvCxnSpPr>
            <a:cxnSpLocks/>
          </p:cNvCxnSpPr>
          <p:nvPr/>
        </p:nvCxnSpPr>
        <p:spPr>
          <a:xfrm>
            <a:off x="6096000" y="2043407"/>
            <a:ext cx="1950979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ED9ADAA8-CC15-252E-5303-9451F0903EE4}"/>
              </a:ext>
            </a:extLst>
          </p:cNvPr>
          <p:cNvCxnSpPr>
            <a:cxnSpLocks/>
          </p:cNvCxnSpPr>
          <p:nvPr/>
        </p:nvCxnSpPr>
        <p:spPr>
          <a:xfrm flipH="1">
            <a:off x="5704114" y="3762375"/>
            <a:ext cx="2342865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B39F5739-1E13-A36F-CAE3-2627F9966782}"/>
                  </a:ext>
                </a:extLst>
              </p:cNvPr>
              <p:cNvSpPr txBox="1"/>
              <p:nvPr/>
            </p:nvSpPr>
            <p:spPr>
              <a:xfrm>
                <a:off x="10161244" y="1306992"/>
                <a:ext cx="1849120" cy="86177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a:rPr kumimoji="0" lang="en-US" altLang="zh-TW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kumimoji="0" lang="zh-TW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 </a:t>
                </a:r>
                <a:r>
                  <a:rPr lang="zh-TW" altLang="en-US" sz="2800" dirty="0">
                    <a:solidFill>
                      <a:prstClr val="black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不知道長什麼樣子</a:t>
                </a:r>
                <a:endParaRPr kumimoji="0" lang="zh-TW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</mc:Choice>
        <mc:Fallback xmlns="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B39F5739-1E13-A36F-CAE3-2627F99667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1244" y="1306992"/>
                <a:ext cx="1849120" cy="861774"/>
              </a:xfrm>
              <a:prstGeom prst="rect">
                <a:avLst/>
              </a:prstGeom>
              <a:blipFill>
                <a:blip r:embed="rId6"/>
                <a:stretch>
                  <a:fillRect l="-11881" t="-11972" r="-4290" b="-2464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文字方塊 22">
            <a:extLst>
              <a:ext uri="{FF2B5EF4-FFF2-40B4-BE49-F238E27FC236}">
                <a16:creationId xmlns:a16="http://schemas.microsoft.com/office/drawing/2014/main" id="{041D0FDF-56B3-DAAE-40F8-17AD4239CE59}"/>
              </a:ext>
            </a:extLst>
          </p:cNvPr>
          <p:cNvSpPr txBox="1"/>
          <p:nvPr/>
        </p:nvSpPr>
        <p:spPr>
          <a:xfrm>
            <a:off x="6313645" y="2101221"/>
            <a:ext cx="12722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輸入</a:t>
            </a: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A9A025BB-715D-6021-E92E-32E0461B938E}"/>
              </a:ext>
            </a:extLst>
          </p:cNvPr>
          <p:cNvSpPr txBox="1"/>
          <p:nvPr/>
        </p:nvSpPr>
        <p:spPr>
          <a:xfrm>
            <a:off x="6296818" y="3870416"/>
            <a:ext cx="12722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輸出</a:t>
            </a:r>
          </a:p>
        </p:txBody>
      </p:sp>
    </p:spTree>
    <p:extLst>
      <p:ext uri="{BB962C8B-B14F-4D97-AF65-F5344CB8AC3E}">
        <p14:creationId xmlns:p14="http://schemas.microsoft.com/office/powerpoint/2010/main" val="25102202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24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D25D8A80-71B3-1CFC-FD2D-9A439E3D36B3}"/>
              </a:ext>
            </a:extLst>
          </p:cNvPr>
          <p:cNvSpPr txBox="1"/>
          <p:nvPr/>
        </p:nvSpPr>
        <p:spPr>
          <a:xfrm>
            <a:off x="740587" y="1945260"/>
            <a:ext cx="15138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800" b="1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開源</a:t>
            </a:r>
            <a:endParaRPr lang="en-US" altLang="zh-TW" sz="2800" b="1" u="sng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7" name="內容版面配置區 6" descr="一張含有 哺乳動物, 動物的鼻子, 大羊駝 的圖片&#10;&#10;自動產生的描述">
            <a:extLst>
              <a:ext uri="{FF2B5EF4-FFF2-40B4-BE49-F238E27FC236}">
                <a16:creationId xmlns:a16="http://schemas.microsoft.com/office/drawing/2014/main" id="{CF3C0FB0-1E40-DF32-7C66-D27ED13F04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0444" y="1211787"/>
            <a:ext cx="2896975" cy="1629122"/>
          </a:xfrm>
        </p:spPr>
      </p:pic>
      <p:pic>
        <p:nvPicPr>
          <p:cNvPr id="8" name="Picture 2" descr="mistral AI">
            <a:extLst>
              <a:ext uri="{FF2B5EF4-FFF2-40B4-BE49-F238E27FC236}">
                <a16:creationId xmlns:a16="http://schemas.microsoft.com/office/drawing/2014/main" id="{C6CF504B-FFD8-D593-74E3-ED40F8F3D4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9509" y="800761"/>
            <a:ext cx="2650851" cy="2650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Welcome Gemma - Google's new open LLM">
            <a:extLst>
              <a:ext uri="{FF2B5EF4-FFF2-40B4-BE49-F238E27FC236}">
                <a16:creationId xmlns:a16="http://schemas.microsoft.com/office/drawing/2014/main" id="{F84FF4F6-6BB6-61EF-6097-1F4DF30975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0029" y="1211787"/>
            <a:ext cx="2338582" cy="17960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54351B4D-4B6D-DEEF-CAA1-C97758C7CC35}"/>
              </a:ext>
            </a:extLst>
          </p:cNvPr>
          <p:cNvSpPr txBox="1"/>
          <p:nvPr/>
        </p:nvSpPr>
        <p:spPr>
          <a:xfrm>
            <a:off x="2650966" y="3007818"/>
            <a:ext cx="24547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LLaMA</a:t>
            </a:r>
            <a:endParaRPr lang="zh-TW" altLang="en-US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4A4E35C2-E5AE-5F1E-E2FB-F3C33CFA7D61}"/>
              </a:ext>
            </a:extLst>
          </p:cNvPr>
          <p:cNvSpPr txBox="1"/>
          <p:nvPr/>
        </p:nvSpPr>
        <p:spPr>
          <a:xfrm>
            <a:off x="8931941" y="3032002"/>
            <a:ext cx="24547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Gemma</a:t>
            </a:r>
            <a:endParaRPr lang="zh-TW" altLang="en-US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85C98B3D-E46D-0D6D-B4B4-5D844AC06EFF}"/>
              </a:ext>
            </a:extLst>
          </p:cNvPr>
          <p:cNvSpPr txBox="1"/>
          <p:nvPr/>
        </p:nvSpPr>
        <p:spPr>
          <a:xfrm>
            <a:off x="5798529" y="3051052"/>
            <a:ext cx="24547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Mistral</a:t>
            </a:r>
            <a:endParaRPr lang="zh-TW" altLang="en-US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AA11C705-802D-61C9-35D0-BA6B06F592DE}"/>
              </a:ext>
            </a:extLst>
          </p:cNvPr>
          <p:cNvSpPr/>
          <p:nvPr/>
        </p:nvSpPr>
        <p:spPr>
          <a:xfrm>
            <a:off x="4959810" y="4350962"/>
            <a:ext cx="1693981" cy="109768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語言</a:t>
            </a:r>
            <a:endParaRPr kumimoji="0" lang="en-US" altLang="zh-TW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模型</a:t>
            </a:r>
          </a:p>
        </p:txBody>
      </p:sp>
      <p:cxnSp>
        <p:nvCxnSpPr>
          <p:cNvPr id="4" name="直線單箭頭接點 3">
            <a:extLst>
              <a:ext uri="{FF2B5EF4-FFF2-40B4-BE49-F238E27FC236}">
                <a16:creationId xmlns:a16="http://schemas.microsoft.com/office/drawing/2014/main" id="{1EE040A5-4445-F501-6556-5A82073369AD}"/>
              </a:ext>
            </a:extLst>
          </p:cNvPr>
          <p:cNvCxnSpPr>
            <a:cxnSpLocks/>
          </p:cNvCxnSpPr>
          <p:nvPr/>
        </p:nvCxnSpPr>
        <p:spPr>
          <a:xfrm>
            <a:off x="4007310" y="4888038"/>
            <a:ext cx="794240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B5552DFC-28D8-00EF-0CFC-ADFDB2C25380}"/>
              </a:ext>
            </a:extLst>
          </p:cNvPr>
          <p:cNvCxnSpPr>
            <a:cxnSpLocks/>
          </p:cNvCxnSpPr>
          <p:nvPr/>
        </p:nvCxnSpPr>
        <p:spPr>
          <a:xfrm>
            <a:off x="6729991" y="4888037"/>
            <a:ext cx="794240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群組 13">
            <a:extLst>
              <a:ext uri="{FF2B5EF4-FFF2-40B4-BE49-F238E27FC236}">
                <a16:creationId xmlns:a16="http://schemas.microsoft.com/office/drawing/2014/main" id="{60C653EE-0560-D52F-517F-D3765779032D}"/>
              </a:ext>
            </a:extLst>
          </p:cNvPr>
          <p:cNvGrpSpPr/>
          <p:nvPr/>
        </p:nvGrpSpPr>
        <p:grpSpPr>
          <a:xfrm>
            <a:off x="7670465" y="4490467"/>
            <a:ext cx="1828800" cy="818674"/>
            <a:chOff x="12462249" y="1734743"/>
            <a:chExt cx="1828800" cy="818674"/>
          </a:xfrm>
        </p:grpSpPr>
        <p:grpSp>
          <p:nvGrpSpPr>
            <p:cNvPr id="15" name="群組 14">
              <a:extLst>
                <a:ext uri="{FF2B5EF4-FFF2-40B4-BE49-F238E27FC236}">
                  <a16:creationId xmlns:a16="http://schemas.microsoft.com/office/drawing/2014/main" id="{08F34414-6305-6BD0-C060-5E6F1BE9B87A}"/>
                </a:ext>
              </a:extLst>
            </p:cNvPr>
            <p:cNvGrpSpPr/>
            <p:nvPr/>
          </p:nvGrpSpPr>
          <p:grpSpPr>
            <a:xfrm>
              <a:off x="12594666" y="1734743"/>
              <a:ext cx="1489913" cy="818674"/>
              <a:chOff x="6264327" y="1967634"/>
              <a:chExt cx="1489913" cy="818674"/>
            </a:xfrm>
          </p:grpSpPr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76B76814-4BDA-3D09-CBD8-9EB6BE44A2EB}"/>
                  </a:ext>
                </a:extLst>
              </p:cNvPr>
              <p:cNvSpPr/>
              <p:nvPr/>
            </p:nvSpPr>
            <p:spPr>
              <a:xfrm>
                <a:off x="6264327" y="2641860"/>
                <a:ext cx="180000" cy="144448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47C1EF57-2BD8-92D8-AE9F-88AB16FEE8B0}"/>
                  </a:ext>
                </a:extLst>
              </p:cNvPr>
              <p:cNvSpPr/>
              <p:nvPr/>
            </p:nvSpPr>
            <p:spPr>
              <a:xfrm>
                <a:off x="6591805" y="2393617"/>
                <a:ext cx="180000" cy="392691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9A1DFAAB-84BF-58F3-1D7B-BF1AAD041587}"/>
                  </a:ext>
                </a:extLst>
              </p:cNvPr>
              <p:cNvSpPr/>
              <p:nvPr/>
            </p:nvSpPr>
            <p:spPr>
              <a:xfrm>
                <a:off x="6919283" y="2150599"/>
                <a:ext cx="180000" cy="635709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23" name="矩形 22">
                <a:extLst>
                  <a:ext uri="{FF2B5EF4-FFF2-40B4-BE49-F238E27FC236}">
                    <a16:creationId xmlns:a16="http://schemas.microsoft.com/office/drawing/2014/main" id="{536D4CAF-A27D-3F7A-F443-D3C2F6B6BE62}"/>
                  </a:ext>
                </a:extLst>
              </p:cNvPr>
              <p:cNvSpPr/>
              <p:nvPr/>
            </p:nvSpPr>
            <p:spPr>
              <a:xfrm>
                <a:off x="7246761" y="2418954"/>
                <a:ext cx="180000" cy="367354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24" name="矩形 23">
                <a:extLst>
                  <a:ext uri="{FF2B5EF4-FFF2-40B4-BE49-F238E27FC236}">
                    <a16:creationId xmlns:a16="http://schemas.microsoft.com/office/drawing/2014/main" id="{82F53047-26D9-A28E-C850-AD46C4E96DBE}"/>
                  </a:ext>
                </a:extLst>
              </p:cNvPr>
              <p:cNvSpPr/>
              <p:nvPr/>
            </p:nvSpPr>
            <p:spPr>
              <a:xfrm>
                <a:off x="7574240" y="1967634"/>
                <a:ext cx="180000" cy="818674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</p:grpSp>
        <p:cxnSp>
          <p:nvCxnSpPr>
            <p:cNvPr id="18" name="直線接點 17">
              <a:extLst>
                <a:ext uri="{FF2B5EF4-FFF2-40B4-BE49-F238E27FC236}">
                  <a16:creationId xmlns:a16="http://schemas.microsoft.com/office/drawing/2014/main" id="{9B0DD3CD-84C9-70EF-7EED-D2A7B77CA895}"/>
                </a:ext>
              </a:extLst>
            </p:cNvPr>
            <p:cNvCxnSpPr/>
            <p:nvPr/>
          </p:nvCxnSpPr>
          <p:spPr>
            <a:xfrm>
              <a:off x="12462249" y="2553417"/>
              <a:ext cx="18288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A6E33FA7-4306-FBDB-266E-2B53E9074D2D}"/>
              </a:ext>
            </a:extLst>
          </p:cNvPr>
          <p:cNvSpPr txBox="1"/>
          <p:nvPr/>
        </p:nvSpPr>
        <p:spPr>
          <a:xfrm>
            <a:off x="1497507" y="4651130"/>
            <a:ext cx="26615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未完成的句子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6FC8B641-4024-EBE9-1FA6-8EBB3E014261}"/>
                  </a:ext>
                </a:extLst>
              </p:cNvPr>
              <p:cNvSpPr txBox="1"/>
              <p:nvPr/>
            </p:nvSpPr>
            <p:spPr>
              <a:xfrm>
                <a:off x="2544296" y="5829585"/>
                <a:ext cx="6568499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TW" altLang="en-US" sz="2800" dirty="0">
                    <a:solidFill>
                      <a:schemeClr val="tx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完全知道 </a:t>
                </a:r>
                <a14:m>
                  <m:oMath xmlns:m="http://schemas.openxmlformats.org/officeDocument/2006/math">
                    <m:r>
                      <a:rPr lang="en-US" altLang="zh-TW" sz="2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zh-TW" altLang="en-US" sz="2800" dirty="0">
                    <a:solidFill>
                      <a:schemeClr val="tx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 長什麼樣子</a:t>
                </a:r>
              </a:p>
            </p:txBody>
          </p:sp>
        </mc:Choice>
        <mc:Fallback xmlns="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6FC8B641-4024-EBE9-1FA6-8EBB3E0142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4296" y="5829585"/>
                <a:ext cx="6568499" cy="523220"/>
              </a:xfrm>
              <a:prstGeom prst="rect">
                <a:avLst/>
              </a:prstGeom>
              <a:blipFill>
                <a:blip r:embed="rId6"/>
                <a:stretch>
                  <a:fillRect t="-10465" b="-3255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934592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62934AA9-17EA-BA94-59A1-128ABED733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586" y="1623319"/>
            <a:ext cx="10515601" cy="4571285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65CCD730-EE48-01C8-A335-2C5D6FD6BC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Hugging Face </a:t>
            </a:r>
            <a:endParaRPr lang="zh-TW" altLang="en-US" dirty="0"/>
          </a:p>
        </p:txBody>
      </p:sp>
      <p:pic>
        <p:nvPicPr>
          <p:cNvPr id="1026" name="Picture 2" descr="HuggingFace - YouTube">
            <a:extLst>
              <a:ext uri="{FF2B5EF4-FFF2-40B4-BE49-F238E27FC236}">
                <a16:creationId xmlns:a16="http://schemas.microsoft.com/office/drawing/2014/main" id="{085D8756-5DAD-27A0-7808-D68140C580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8825" y="220322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DFCC41C9-F86B-3B2D-878D-7297CC2A3232}"/>
              </a:ext>
            </a:extLst>
          </p:cNvPr>
          <p:cNvSpPr txBox="1"/>
          <p:nvPr/>
        </p:nvSpPr>
        <p:spPr>
          <a:xfrm>
            <a:off x="1254609" y="843240"/>
            <a:ext cx="60921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TW" altLang="en-US" dirty="0"/>
              <a:t>https://huggingface.co/models</a:t>
            </a:r>
          </a:p>
        </p:txBody>
      </p:sp>
    </p:spTree>
    <p:extLst>
      <p:ext uri="{BB962C8B-B14F-4D97-AF65-F5344CB8AC3E}">
        <p14:creationId xmlns:p14="http://schemas.microsoft.com/office/powerpoint/2010/main" val="10896447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D8F861B-A1B2-C124-E1EC-1F5F780A0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Colab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1D61D27-A8C2-B355-7CC9-62C775A05E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TW" dirty="0"/>
          </a:p>
          <a:p>
            <a:endParaRPr lang="en-US" altLang="zh-TW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5FE42DBA-C9F4-81BE-4BED-86D2CD9AFA2C}"/>
              </a:ext>
            </a:extLst>
          </p:cNvPr>
          <p:cNvSpPr txBox="1"/>
          <p:nvPr/>
        </p:nvSpPr>
        <p:spPr>
          <a:xfrm>
            <a:off x="838200" y="5921197"/>
            <a:ext cx="10801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dirty="0"/>
              <a:t>https://colab.research.google.com/drive/1EjiX46muxSMy0avtHPXiulVUhmu37Kyi?usp=sharing</a:t>
            </a:r>
          </a:p>
        </p:txBody>
      </p:sp>
      <p:pic>
        <p:nvPicPr>
          <p:cNvPr id="5124" name="Picture 4">
            <a:extLst>
              <a:ext uri="{FF2B5EF4-FFF2-40B4-BE49-F238E27FC236}">
                <a16:creationId xmlns:a16="http://schemas.microsoft.com/office/drawing/2014/main" id="{628FD649-D7DE-5449-B54D-9AA871A361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8638" y="1464637"/>
            <a:ext cx="4248765" cy="42487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Welcome To Colab - Colab">
            <a:extLst>
              <a:ext uri="{FF2B5EF4-FFF2-40B4-BE49-F238E27FC236}">
                <a16:creationId xmlns:a16="http://schemas.microsoft.com/office/drawing/2014/main" id="{8C20F5BE-893D-3502-8EDB-9DCA474EC6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4163" y="151974"/>
            <a:ext cx="1751863" cy="17518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806786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1411</TotalTime>
  <Words>2029</Words>
  <Application>Microsoft Office PowerPoint</Application>
  <PresentationFormat>寬螢幕</PresentationFormat>
  <Paragraphs>434</Paragraphs>
  <Slides>38</Slides>
  <Notes>15</Notes>
  <HiddenSlides>0</HiddenSlides>
  <MMClips>1</MMClips>
  <ScaleCrop>false</ScaleCrop>
  <HeadingPairs>
    <vt:vector size="6" baseType="variant">
      <vt:variant>
        <vt:lpstr>使用字型</vt:lpstr>
      </vt:variant>
      <vt:variant>
        <vt:i4>9</vt:i4>
      </vt:variant>
      <vt:variant>
        <vt:lpstr>佈景主題</vt:lpstr>
      </vt:variant>
      <vt:variant>
        <vt:i4>2</vt:i4>
      </vt:variant>
      <vt:variant>
        <vt:lpstr>投影片標題</vt:lpstr>
      </vt:variant>
      <vt:variant>
        <vt:i4>38</vt:i4>
      </vt:variant>
    </vt:vector>
  </HeadingPairs>
  <TitlesOfParts>
    <vt:vector size="49" baseType="lpstr">
      <vt:lpstr>微軟正黑體</vt:lpstr>
      <vt:lpstr>Aptos</vt:lpstr>
      <vt:lpstr>Aptos Display</vt:lpstr>
      <vt:lpstr>Arial</vt:lpstr>
      <vt:lpstr>Calibri</vt:lpstr>
      <vt:lpstr>Calibri Light</vt:lpstr>
      <vt:lpstr>Cambria Math</vt:lpstr>
      <vt:lpstr>Neue Haas Grotesk Text Pro</vt:lpstr>
      <vt:lpstr>Roboto</vt:lpstr>
      <vt:lpstr>Office 佈景主題</vt:lpstr>
      <vt:lpstr>1_Office 佈景主題</vt:lpstr>
      <vt:lpstr>一堂課搞懂 生成式人工智慧的原理</vt:lpstr>
      <vt:lpstr>課程目標</vt:lpstr>
      <vt:lpstr>PowerPoint 簡報</vt:lpstr>
      <vt:lpstr>課程規劃</vt:lpstr>
      <vt:lpstr>ChatGPT, Gemini, Claude … 是語言模型</vt:lpstr>
      <vt:lpstr>語言模型怎麼進行回應呢？</vt:lpstr>
      <vt:lpstr>語言模型背後的運作過程</vt:lpstr>
      <vt:lpstr>再看一次回答問題的過程</vt:lpstr>
      <vt:lpstr>這就是為什麼每次的答案都不同</vt:lpstr>
      <vt:lpstr>文字接龍不是一件容易的事情</vt:lpstr>
      <vt:lpstr>看一眼語言模型背後的運作過程</vt:lpstr>
      <vt:lpstr>如何學會正確地接龍呢？</vt:lpstr>
      <vt:lpstr>如何學會正確地接龍呢？</vt:lpstr>
      <vt:lpstr>語言模型為什麼會回答問題</vt:lpstr>
      <vt:lpstr>語言模型為什麼會回答問題</vt:lpstr>
      <vt:lpstr>怎麼做到多輪對話？</vt:lpstr>
      <vt:lpstr>PowerPoint 簡報</vt:lpstr>
      <vt:lpstr>語言模型真正做的事就是文字接龍 ……</vt:lpstr>
      <vt:lpstr>PowerPoint 簡報</vt:lpstr>
      <vt:lpstr>語言模型怎麼知道今天幾月幾號？</vt:lpstr>
      <vt:lpstr>機器怎麼畫圖或發出聲音？</vt:lpstr>
      <vt:lpstr>機器怎麼畫圖或發出聲音？</vt:lpstr>
      <vt:lpstr>機器怎麼畫圖或發出聲音？</vt:lpstr>
      <vt:lpstr>機器怎麼畫圖或發出聲音？</vt:lpstr>
      <vt:lpstr>機器怎麼畫圖或發出聲音？</vt:lpstr>
      <vt:lpstr>機器怎麼畫圖或發出聲音？</vt:lpstr>
      <vt:lpstr>機器怎麼畫圖或發出聲音？</vt:lpstr>
      <vt:lpstr>PowerPoint 簡報</vt:lpstr>
      <vt:lpstr>生成式人工智慧 (Generative AI) 基本原理</vt:lpstr>
      <vt:lpstr>生成式人工智慧 (Generative AI) 基本原理</vt:lpstr>
      <vt:lpstr>生成式人工智慧 (Generative AI) 基本原理</vt:lpstr>
      <vt:lpstr>生成式人工智慧 (Generative AI) 基本原理</vt:lpstr>
      <vt:lpstr>生成式人工智慧 (Generative AI) 基本原理</vt:lpstr>
      <vt:lpstr>課程規劃</vt:lpstr>
      <vt:lpstr>PowerPoint 簡報</vt:lpstr>
      <vt:lpstr>PowerPoint 簡報</vt:lpstr>
      <vt:lpstr>Hugging Face </vt:lpstr>
      <vt:lpstr>Colab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Hung-yi Lee</dc:creator>
  <cp:lastModifiedBy>Hung-yi Lee</cp:lastModifiedBy>
  <cp:revision>221</cp:revision>
  <dcterms:created xsi:type="dcterms:W3CDTF">2025-06-17T18:14:25Z</dcterms:created>
  <dcterms:modified xsi:type="dcterms:W3CDTF">2025-09-10T17:44:36Z</dcterms:modified>
</cp:coreProperties>
</file>