
<file path=[Content_Types].xml><?xml version="1.0" encoding="utf-8"?>
<Types xmlns="http://schemas.openxmlformats.org/package/2006/content-types">
  <Default Extension="gif" ContentType="image/gif"/>
  <Default Extension="jpeg" ContentType="image/jpeg"/>
  <Default Extension="jpg" ContentType="image/jpeg"/>
  <Default Extension="mp3" ContentType="audio/mpeg"/>
  <Default Extension="mp4" ContentType="video/mp4"/>
  <Default Extension="png" ContentType="image/png"/>
  <Default Extension="rels" ContentType="application/vnd.openxmlformats-package.relationships+xml"/>
  <Default Extension="svg" ContentType="image/svg+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133"/>
  </p:notesMasterIdLst>
  <p:sldIdLst>
    <p:sldId id="3181" r:id="rId5"/>
    <p:sldId id="5523" r:id="rId6"/>
    <p:sldId id="5553" r:id="rId7"/>
    <p:sldId id="5572" r:id="rId8"/>
    <p:sldId id="5555" r:id="rId9"/>
    <p:sldId id="5600" r:id="rId10"/>
    <p:sldId id="5565" r:id="rId11"/>
    <p:sldId id="5618" r:id="rId12"/>
    <p:sldId id="5619" r:id="rId13"/>
    <p:sldId id="5620" r:id="rId14"/>
    <p:sldId id="5621" r:id="rId15"/>
    <p:sldId id="5603" r:id="rId16"/>
    <p:sldId id="5622" r:id="rId17"/>
    <p:sldId id="5623" r:id="rId18"/>
    <p:sldId id="5524" r:id="rId19"/>
    <p:sldId id="340" r:id="rId20"/>
    <p:sldId id="342" r:id="rId21"/>
    <p:sldId id="5578" r:id="rId22"/>
    <p:sldId id="5601" r:id="rId23"/>
    <p:sldId id="5626" r:id="rId24"/>
    <p:sldId id="473" r:id="rId25"/>
    <p:sldId id="474" r:id="rId26"/>
    <p:sldId id="475" r:id="rId27"/>
    <p:sldId id="5584" r:id="rId28"/>
    <p:sldId id="5638" r:id="rId29"/>
    <p:sldId id="5585" r:id="rId30"/>
    <p:sldId id="1771" r:id="rId31"/>
    <p:sldId id="2383" r:id="rId32"/>
    <p:sldId id="2382" r:id="rId33"/>
    <p:sldId id="5566" r:id="rId34"/>
    <p:sldId id="5535" r:id="rId35"/>
    <p:sldId id="5586" r:id="rId36"/>
    <p:sldId id="5547" r:id="rId37"/>
    <p:sldId id="3182" r:id="rId38"/>
    <p:sldId id="5533" r:id="rId39"/>
    <p:sldId id="5534" r:id="rId40"/>
    <p:sldId id="5537" r:id="rId41"/>
    <p:sldId id="5538" r:id="rId42"/>
    <p:sldId id="5539" r:id="rId43"/>
    <p:sldId id="5540" r:id="rId44"/>
    <p:sldId id="5625" r:id="rId45"/>
    <p:sldId id="5624" r:id="rId46"/>
    <p:sldId id="5548" r:id="rId47"/>
    <p:sldId id="4785" r:id="rId48"/>
    <p:sldId id="5590" r:id="rId49"/>
    <p:sldId id="5589" r:id="rId50"/>
    <p:sldId id="5591" r:id="rId51"/>
    <p:sldId id="5592" r:id="rId52"/>
    <p:sldId id="5550" r:id="rId53"/>
    <p:sldId id="5521" r:id="rId54"/>
    <p:sldId id="5552" r:id="rId55"/>
    <p:sldId id="5525" r:id="rId56"/>
    <p:sldId id="5491" r:id="rId57"/>
    <p:sldId id="5468" r:id="rId58"/>
    <p:sldId id="4993" r:id="rId59"/>
    <p:sldId id="5011" r:id="rId60"/>
    <p:sldId id="5575" r:id="rId61"/>
    <p:sldId id="5576" r:id="rId62"/>
    <p:sldId id="5339" r:id="rId63"/>
    <p:sldId id="3151" r:id="rId64"/>
    <p:sldId id="2870" r:id="rId65"/>
    <p:sldId id="5518" r:id="rId66"/>
    <p:sldId id="5025" r:id="rId67"/>
    <p:sldId id="5557" r:id="rId68"/>
    <p:sldId id="5637" r:id="rId69"/>
    <p:sldId id="5527" r:id="rId70"/>
    <p:sldId id="5558" r:id="rId71"/>
    <p:sldId id="5028" r:id="rId72"/>
    <p:sldId id="4813" r:id="rId73"/>
    <p:sldId id="4814" r:id="rId74"/>
    <p:sldId id="5003" r:id="rId75"/>
    <p:sldId id="5595" r:id="rId76"/>
    <p:sldId id="5446" r:id="rId77"/>
    <p:sldId id="5598" r:id="rId78"/>
    <p:sldId id="5006" r:id="rId79"/>
    <p:sldId id="5474" r:id="rId80"/>
    <p:sldId id="5599" r:id="rId81"/>
    <p:sldId id="5629" r:id="rId82"/>
    <p:sldId id="5528" r:id="rId83"/>
    <p:sldId id="5332" r:id="rId84"/>
    <p:sldId id="5447" r:id="rId85"/>
    <p:sldId id="5449" r:id="rId86"/>
    <p:sldId id="5448" r:id="rId87"/>
    <p:sldId id="5388" r:id="rId88"/>
    <p:sldId id="5455" r:id="rId89"/>
    <p:sldId id="5456" r:id="rId90"/>
    <p:sldId id="5390" r:id="rId91"/>
    <p:sldId id="5392" r:id="rId92"/>
    <p:sldId id="5393" r:id="rId93"/>
    <p:sldId id="5394" r:id="rId94"/>
    <p:sldId id="5457" r:id="rId95"/>
    <p:sldId id="5450" r:id="rId96"/>
    <p:sldId id="5615" r:id="rId97"/>
    <p:sldId id="5616" r:id="rId98"/>
    <p:sldId id="5617" r:id="rId99"/>
    <p:sldId id="5606" r:id="rId100"/>
    <p:sldId id="5529" r:id="rId101"/>
    <p:sldId id="5569" r:id="rId102"/>
    <p:sldId id="5382" r:id="rId103"/>
    <p:sldId id="5631" r:id="rId104"/>
    <p:sldId id="5630" r:id="rId105"/>
    <p:sldId id="5096" r:id="rId106"/>
    <p:sldId id="5570" r:id="rId107"/>
    <p:sldId id="5607" r:id="rId108"/>
    <p:sldId id="5531" r:id="rId109"/>
    <p:sldId id="5632" r:id="rId110"/>
    <p:sldId id="5373" r:id="rId111"/>
    <p:sldId id="5374" r:id="rId112"/>
    <p:sldId id="5381" r:id="rId113"/>
    <p:sldId id="5372" r:id="rId114"/>
    <p:sldId id="5451" r:id="rId115"/>
    <p:sldId id="5452" r:id="rId116"/>
    <p:sldId id="5453" r:id="rId117"/>
    <p:sldId id="5384" r:id="rId118"/>
    <p:sldId id="5419" r:id="rId119"/>
    <p:sldId id="5375" r:id="rId120"/>
    <p:sldId id="5454" r:id="rId121"/>
    <p:sldId id="5380" r:id="rId122"/>
    <p:sldId id="5377" r:id="rId123"/>
    <p:sldId id="5430" r:id="rId124"/>
    <p:sldId id="5424" r:id="rId125"/>
    <p:sldId id="5379" r:id="rId126"/>
    <p:sldId id="5602" r:id="rId127"/>
    <p:sldId id="258" r:id="rId128"/>
    <p:sldId id="4831" r:id="rId129"/>
    <p:sldId id="5635" r:id="rId130"/>
    <p:sldId id="5634" r:id="rId131"/>
    <p:sldId id="5522" r:id="rId1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64" autoAdjust="0"/>
    <p:restoredTop sz="78140" autoAdjust="0"/>
  </p:normalViewPr>
  <p:slideViewPr>
    <p:cSldViewPr snapToGrid="0">
      <p:cViewPr varScale="1">
        <p:scale>
          <a:sx n="85" d="100"/>
          <a:sy n="85" d="100"/>
        </p:scale>
        <p:origin x="139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presProps" Target="pres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viewProps" Target="view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13F6E-AB55-4ABF-BACF-B71B85D0F375}" type="datetimeFigureOut">
              <a:rPr lang="zh-TW" altLang="en-US" smtClean="0"/>
              <a:t>2025/12/20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513B49-9ABA-4E71-8DA0-07ADD02A9FB1}" type="slidenum">
              <a:rPr lang="zh-TW" altLang="en-US" smtClean="0"/>
              <a:t>‹#›</a:t>
            </a:fld>
            <a:endParaRPr lang="zh-TW" altLang="en-US"/>
          </a:p>
        </p:txBody>
      </p:sp>
    </p:spTree>
    <p:extLst>
      <p:ext uri="{BB962C8B-B14F-4D97-AF65-F5344CB8AC3E}">
        <p14:creationId xmlns:p14="http://schemas.microsoft.com/office/powerpoint/2010/main" val="2491311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arxiv.org/abs/2306.05284?fbclid=IwZXh0bgNhZW0CMTAAAR1rR6orwPJLq-ADOmTrM3VCFcgqwI-LQI5qTBfFoIpGrY7sA9ZLjuVivFg_aem_NZet4McWm8MWAurE_03PYA"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arxiv.org/abs/2404.00685"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arxiv.org/abs/2511.08723" TargetMode="External"/><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arxiv.org/abs/2406.15718?fbclid=IwZXh0bgNhZW0CMTAAAR0DZ-gHrEx7xR23ikioMavsbbZKHfRJlKsIsf7EB4YU5MGCjyk-Hm2EF2I_aem_oo8Z7tsebyqTbVWyOBLiCQ" TargetMode="External"/><Relationship Id="rId2" Type="http://schemas.openxmlformats.org/officeDocument/2006/relationships/slide" Target="../slides/slide125.xml"/><Relationship Id="rId1" Type="http://schemas.openxmlformats.org/officeDocument/2006/relationships/notesMaster" Target="../notesMasters/notesMaster1.xml"/><Relationship Id="rId4" Type="http://schemas.openxmlformats.org/officeDocument/2006/relationships/hyperlink" Target="https://arxiv.org/abs/2405.13203?fbclid=IwZXh0bgNhZW0CMTAAAR14g8luUjY-I27d-tJuIEeUrdjHr-1dGy5IQjVcPr0Qt8Kn0Pnd5CIYk88_aem_p6TyRJSejrPci3RJ2LRbqA" TargetMode="Externa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進一步思考</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Tokenization , LLM, </a:t>
            </a:r>
            <a:r>
              <a:rPr lang="en-US" altLang="zh-TW" dirty="0" err="1"/>
              <a:t>detokern</a:t>
            </a:r>
            <a:r>
              <a:rPr lang="en-US" altLang="zh-TW" dirty="0"/>
              <a:t> </a:t>
            </a:r>
            <a:r>
              <a:rPr lang="zh-TW" altLang="en-US" dirty="0"/>
              <a:t>三者的分界</a:t>
            </a:r>
          </a:p>
          <a:p>
            <a:endParaRPr lang="en-US" altLang="zh-TW" dirty="0"/>
          </a:p>
          <a:p>
            <a:endParaRPr lang="en-US" altLang="zh-TW" dirty="0"/>
          </a:p>
          <a:p>
            <a:r>
              <a:rPr lang="zh-TW" altLang="en-US" dirty="0"/>
              <a:t>開頭 </a:t>
            </a:r>
            <a:r>
              <a:rPr lang="en-US" altLang="zh-TW" dirty="0"/>
              <a:t>- 7</a:t>
            </a:r>
            <a:r>
              <a:rPr lang="zh-TW" altLang="en-US" dirty="0"/>
              <a:t>段 </a:t>
            </a:r>
            <a:r>
              <a:rPr lang="en-US" altLang="zh-TW" dirty="0"/>
              <a:t>– </a:t>
            </a:r>
            <a:r>
              <a:rPr lang="zh-TW" altLang="en-US" dirty="0"/>
              <a:t>結尾</a:t>
            </a:r>
            <a:endParaRPr lang="en-US" altLang="zh-TW" dirty="0"/>
          </a:p>
          <a:p>
            <a:r>
              <a:rPr lang="zh-TW" altLang="en-US" dirty="0"/>
              <a:t>說有 </a:t>
            </a:r>
            <a:r>
              <a:rPr lang="en-US" altLang="zh-TW" dirty="0"/>
              <a:t>demo</a:t>
            </a:r>
          </a:p>
          <a:p>
            <a:r>
              <a:rPr lang="en-US" altLang="zh-TW" dirty="0"/>
              <a:t>Is it possible to demo </a:t>
            </a:r>
            <a:r>
              <a:rPr lang="en-US" altLang="zh-TW" dirty="0" err="1"/>
              <a:t>gemini</a:t>
            </a:r>
            <a:r>
              <a:rPr lang="en-US" altLang="zh-TW" dirty="0"/>
              <a:t> live???</a:t>
            </a:r>
          </a:p>
          <a:p>
            <a:r>
              <a:rPr lang="en-US" altLang="zh-TW" dirty="0"/>
              <a:t>Research about find boundary</a:t>
            </a:r>
          </a:p>
          <a:p>
            <a:endParaRPr lang="en-US" altLang="zh-TW" dirty="0"/>
          </a:p>
          <a:p>
            <a:endParaRPr lang="en-US" altLang="zh-TW" dirty="0"/>
          </a:p>
          <a:p>
            <a:endParaRPr lang="en-US" altLang="zh-TW" dirty="0"/>
          </a:p>
          <a:p>
            <a:r>
              <a:rPr lang="en-US" altLang="zh-TW" dirty="0"/>
              <a:t>======</a:t>
            </a:r>
          </a:p>
          <a:p>
            <a:r>
              <a:rPr lang="en-US" altLang="zh-TW" dirty="0"/>
              <a:t>Audio word2vec</a:t>
            </a:r>
          </a:p>
          <a:p>
            <a:r>
              <a:rPr lang="en-US" altLang="zh-TW" dirty="0"/>
              <a:t>Encoder, SUPERB</a:t>
            </a:r>
          </a:p>
          <a:p>
            <a:r>
              <a:rPr lang="en-US" altLang="zh-TW" dirty="0"/>
              <a:t>Speech LLM -&gt; LLM prompting </a:t>
            </a:r>
          </a:p>
          <a:p>
            <a:r>
              <a:rPr lang="en-US" altLang="zh-TW" dirty="0"/>
              <a:t>All decoding + Strating from text </a:t>
            </a:r>
          </a:p>
          <a:p>
            <a:r>
              <a:rPr lang="en-US" altLang="zh-TW" dirty="0"/>
              <a:t>TASTE-1</a:t>
            </a:r>
          </a:p>
          <a:p>
            <a:r>
              <a:rPr lang="en-US" altLang="zh-TW" dirty="0"/>
              <a:t>TASTE-2</a:t>
            </a:r>
            <a:r>
              <a:rPr lang="zh-TW" altLang="en-US" dirty="0"/>
              <a:t> </a:t>
            </a:r>
            <a:r>
              <a:rPr lang="en-US" altLang="zh-TW" dirty="0"/>
              <a:t>(survey)</a:t>
            </a:r>
          </a:p>
          <a:p>
            <a:r>
              <a:rPr lang="en-US" altLang="zh-TW" dirty="0"/>
              <a:t>Alignment (RL?)</a:t>
            </a:r>
          </a:p>
          <a:p>
            <a:r>
              <a:rPr lang="en-US" altLang="zh-TW" dirty="0"/>
              <a:t>Reasoning: STICH-1</a:t>
            </a:r>
          </a:p>
          <a:p>
            <a:r>
              <a:rPr lang="en-US" altLang="zh-TW" dirty="0"/>
              <a:t>Reasoning: STICH-2 (survey)</a:t>
            </a:r>
          </a:p>
          <a:p>
            <a:r>
              <a:rPr lang="en-US" altLang="zh-TW" dirty="0"/>
              <a:t>Full duplex (game-time, full-duplex)</a:t>
            </a:r>
            <a:endParaRPr lang="zh-TW" altLang="en-US" dirty="0"/>
          </a:p>
          <a:p>
            <a:endParaRPr lang="en-US" altLang="zh-TW" dirty="0"/>
          </a:p>
          <a:p>
            <a:r>
              <a:rPr lang="en-US" altLang="zh-TW" dirty="0"/>
              <a:t>=====</a:t>
            </a:r>
          </a:p>
          <a:p>
            <a:r>
              <a:rPr lang="en-US" altLang="zh-TW" dirty="0"/>
              <a:t>Q:</a:t>
            </a:r>
          </a:p>
          <a:p>
            <a:r>
              <a:rPr lang="en-US" altLang="zh-TW" dirty="0"/>
              <a:t>Why wav2vec 2 is so poor in the last layer?</a:t>
            </a:r>
          </a:p>
          <a:p>
            <a:endParaRPr lang="en-US" altLang="zh-TW" dirty="0"/>
          </a:p>
          <a:p>
            <a:r>
              <a:rPr lang="en-US" altLang="zh-TW" dirty="0"/>
              <a:t>Q:</a:t>
            </a:r>
            <a:r>
              <a:rPr lang="zh-TW" altLang="en-US" dirty="0"/>
              <a:t> </a:t>
            </a:r>
            <a:r>
              <a:rPr lang="en-US" altLang="zh-TW" dirty="0"/>
              <a:t>Does SSL</a:t>
            </a:r>
            <a:r>
              <a:rPr lang="zh-TW" altLang="en-US" dirty="0"/>
              <a:t> </a:t>
            </a:r>
            <a:r>
              <a:rPr lang="en-US" altLang="zh-TW" dirty="0"/>
              <a:t>achieve</a:t>
            </a:r>
            <a:r>
              <a:rPr lang="zh-TW" altLang="en-US" dirty="0"/>
              <a:t> </a:t>
            </a:r>
            <a:r>
              <a:rPr lang="en-US" altLang="zh-TW" dirty="0"/>
              <a:t>SOTA?</a:t>
            </a:r>
            <a:r>
              <a:rPr lang="zh-TW" altLang="en-US" dirty="0"/>
              <a:t> </a:t>
            </a:r>
            <a:r>
              <a:rPr lang="en-US" altLang="zh-TW" dirty="0"/>
              <a:t>How about whisper?</a:t>
            </a:r>
          </a:p>
          <a:p>
            <a:endParaRPr lang="en-US" altLang="zh-TW" dirty="0"/>
          </a:p>
          <a:p>
            <a:r>
              <a:rPr lang="en-US" altLang="zh-TW" dirty="0"/>
              <a:t>TODO: </a:t>
            </a:r>
          </a:p>
          <a:p>
            <a:r>
              <a:rPr lang="en-US" altLang="zh-TW" dirty="0"/>
              <a:t>-- What do we find from SUPERB?</a:t>
            </a:r>
          </a:p>
          <a:p>
            <a:r>
              <a:rPr lang="en-US" altLang="zh-TW" dirty="0"/>
              <a:t>-- a timeline for instruction fine-tuning</a:t>
            </a:r>
          </a:p>
          <a:p>
            <a:pPr marL="171450" indent="-171450">
              <a:buFont typeface="Wingdings" panose="05000000000000000000" pitchFamily="2" charset="2"/>
              <a:buChar char="n"/>
            </a:pPr>
            <a:r>
              <a:rPr lang="en-US" altLang="zh-TW" dirty="0"/>
              <a:t>All speech encoder + LLM approach</a:t>
            </a:r>
          </a:p>
          <a:p>
            <a:pPr marL="171450" indent="-171450">
              <a:buFont typeface="Wingdings" panose="05000000000000000000" pitchFamily="2" charset="2"/>
              <a:buChar char="n"/>
            </a:pPr>
            <a:r>
              <a:rPr lang="en-US" altLang="zh-TW" dirty="0"/>
              <a:t>Need a results for text-guided VC </a:t>
            </a:r>
          </a:p>
          <a:p>
            <a:pPr marL="171450" indent="-171450">
              <a:buFont typeface="Wingdings" panose="05000000000000000000" pitchFamily="2" charset="2"/>
              <a:buChar char="n"/>
            </a:pPr>
            <a:r>
              <a:rPr lang="en-US" altLang="zh-TW" dirty="0"/>
              <a:t>Many work for universal model</a:t>
            </a:r>
          </a:p>
          <a:p>
            <a:pPr marL="171450" indent="-171450">
              <a:buFont typeface="Wingdings" panose="05000000000000000000" pitchFamily="2" charset="2"/>
              <a:buChar char="n"/>
            </a:pPr>
            <a:r>
              <a:rPr lang="en-US" altLang="zh-TW" dirty="0"/>
              <a:t>Speech LM survey?</a:t>
            </a:r>
          </a:p>
          <a:p>
            <a:pPr marL="171450" indent="-171450">
              <a:buFont typeface="Wingdings" panose="05000000000000000000" pitchFamily="2" charset="2"/>
              <a:buChar char="n"/>
            </a:pPr>
            <a:r>
              <a:rPr lang="en-US" altLang="zh-TW" dirty="0"/>
              <a:t>Codec survey</a:t>
            </a:r>
          </a:p>
          <a:p>
            <a:pPr marL="171450" indent="-171450">
              <a:buFont typeface="Wingdings" panose="05000000000000000000" pitchFamily="2" charset="2"/>
              <a:buChar char="n"/>
            </a:pPr>
            <a:endParaRPr lang="en-US" altLang="zh-TW" dirty="0"/>
          </a:p>
          <a:p>
            <a:endParaRPr lang="en-US" altLang="zh-TW" dirty="0"/>
          </a:p>
          <a:p>
            <a:r>
              <a:rPr lang="en-US" altLang="zh-TW" dirty="0"/>
              <a:t>=====</a:t>
            </a:r>
          </a:p>
          <a:p>
            <a:r>
              <a:rPr lang="en-US" altLang="zh-TW" dirty="0"/>
              <a:t>Task specific head, some labelled data</a:t>
            </a:r>
          </a:p>
          <a:p>
            <a:r>
              <a:rPr lang="en-US" altLang="zh-TW" dirty="0"/>
              <a:t>Universal Model, some labelled data</a:t>
            </a:r>
          </a:p>
          <a:p>
            <a:r>
              <a:rPr lang="en-US" altLang="zh-TW" dirty="0"/>
              <a:t>Zero-shot Tasks?</a:t>
            </a: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p>
          <a:p>
            <a:r>
              <a:rPr lang="en-US" altLang="zh-TW" dirty="0"/>
              <a:t>TODO:</a:t>
            </a:r>
          </a:p>
          <a:p>
            <a:pPr marL="171450" indent="-171450">
              <a:buFont typeface="Wingdings" panose="05000000000000000000" pitchFamily="2" charset="2"/>
              <a:buChar char="n"/>
            </a:pPr>
            <a:r>
              <a:rPr lang="en-US" altLang="zh-TW" dirty="0"/>
              <a:t>Check SUPERB journal ???</a:t>
            </a:r>
          </a:p>
          <a:p>
            <a:pPr marL="171450" indent="-171450">
              <a:buFont typeface="Wingdings" panose="05000000000000000000" pitchFamily="2" charset="2"/>
              <a:buChar char="n"/>
            </a:pPr>
            <a:r>
              <a:rPr lang="en-US" altLang="zh-TW" dirty="0"/>
              <a:t>Where should we put </a:t>
            </a:r>
            <a:r>
              <a:rPr lang="en-US" altLang="zh-TW" dirty="0" err="1"/>
              <a:t>WavLM</a:t>
            </a:r>
            <a:r>
              <a:rPr lang="en-US" altLang="zh-TW" dirty="0"/>
              <a:t>?</a:t>
            </a:r>
          </a:p>
          <a:p>
            <a:pPr marL="171450" indent="-171450">
              <a:buFont typeface="Wingdings" panose="05000000000000000000" pitchFamily="2" charset="2"/>
              <a:buChar char="n"/>
            </a:pPr>
            <a:r>
              <a:rPr lang="en-US" altLang="zh-TW" dirty="0"/>
              <a:t>Should I introduce encode? And Speech LM</a:t>
            </a:r>
          </a:p>
          <a:p>
            <a:pPr marL="171450" indent="-171450">
              <a:buFont typeface="Wingdings" panose="05000000000000000000" pitchFamily="2" charset="2"/>
              <a:buChar char="n"/>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p>
          <a:p>
            <a:endParaRPr lang="en-US" altLang="zh-TW" dirty="0"/>
          </a:p>
          <a:p>
            <a:r>
              <a:rPr lang="en-US" altLang="zh-TW" dirty="0"/>
              <a:t>Question: Speech encoder + </a:t>
            </a:r>
            <a:r>
              <a:rPr lang="en-US" altLang="zh-TW" dirty="0" err="1"/>
              <a:t>LLaMA</a:t>
            </a:r>
            <a:r>
              <a:rPr lang="en-US" altLang="zh-TW" dirty="0"/>
              <a:t>  -&gt; Try different encoders like </a:t>
            </a:r>
            <a:r>
              <a:rPr lang="en-US" altLang="zh-TW" dirty="0" err="1"/>
              <a:t>WavLM</a:t>
            </a:r>
            <a:r>
              <a:rPr lang="en-US" altLang="zh-TW" dirty="0"/>
              <a:t>?</a:t>
            </a:r>
          </a:p>
          <a:p>
            <a:r>
              <a:rPr lang="en-US" altLang="zh-TW" dirty="0"/>
              <a:t>Question: Read the paper about whether things are right?</a:t>
            </a:r>
          </a:p>
          <a:p>
            <a:r>
              <a:rPr lang="en-US" altLang="zh-TW" dirty="0"/>
              <a:t>Question: I want to put some Any Liu’s results</a:t>
            </a:r>
          </a:p>
          <a:p>
            <a:r>
              <a:rPr lang="en-US" altLang="zh-TW" dirty="0"/>
              <a:t>Question: What do we learn from ML-SUPERB and AV-SUPERB?</a:t>
            </a:r>
          </a:p>
          <a:p>
            <a:r>
              <a:rPr lang="en-US" altLang="zh-TW" dirty="0"/>
              <a:t>======</a:t>
            </a:r>
          </a:p>
          <a:p>
            <a:r>
              <a:rPr lang="en-US" altLang="zh-TW" b="0" i="0" dirty="0">
                <a:solidFill>
                  <a:srgbClr val="374151"/>
                </a:solidFill>
                <a:effectLst/>
                <a:latin typeface="Söhne"/>
              </a:rPr>
              <a:t>On the Road to a Speech Version of ChatGPT</a:t>
            </a:r>
            <a:endParaRPr lang="en-US" altLang="zh-TW" dirty="0"/>
          </a:p>
          <a:p>
            <a:r>
              <a:rPr lang="en-US" altLang="zh-TW" dirty="0"/>
              <a:t>===</a:t>
            </a:r>
          </a:p>
          <a:p>
            <a:r>
              <a:rPr lang="en-US" altLang="zh-TW" dirty="0"/>
              <a:t>Q: what do we find from ML SUPERB? How about </a:t>
            </a:r>
            <a:r>
              <a:rPr lang="en-US" altLang="zh-TW" dirty="0" err="1"/>
              <a:t>google’s</a:t>
            </a:r>
            <a:r>
              <a:rPr lang="en-US" altLang="zh-TW" dirty="0"/>
              <a:t> USM?</a:t>
            </a:r>
          </a:p>
          <a:p>
            <a:r>
              <a:rPr lang="en-US" altLang="zh-TW" dirty="0"/>
              <a:t>Q:</a:t>
            </a:r>
            <a:r>
              <a:rPr lang="zh-TW" altLang="en-US" dirty="0"/>
              <a:t> </a:t>
            </a:r>
            <a:r>
              <a:rPr lang="en-US" altLang="zh-TW" dirty="0"/>
              <a:t>Speech has limited tasks?</a:t>
            </a:r>
          </a:p>
          <a:p>
            <a:r>
              <a:rPr lang="en-US" altLang="zh-TW"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p>
          <a:p>
            <a:r>
              <a:rPr lang="en-US" altLang="zh-TW" dirty="0"/>
              <a:t>I</a:t>
            </a:r>
            <a:r>
              <a:rPr lang="zh-TW" altLang="en-US" dirty="0"/>
              <a:t> </a:t>
            </a:r>
            <a:r>
              <a:rPr lang="en-US" altLang="zh-TW" dirty="0"/>
              <a:t>need to mention </a:t>
            </a:r>
            <a:r>
              <a:rPr lang="en-US" altLang="zh-TW" b="0" i="0" dirty="0">
                <a:solidFill>
                  <a:srgbClr val="050505"/>
                </a:solidFill>
                <a:effectLst/>
                <a:latin typeface="Segoe UI Historic" panose="020B0502040204020203" pitchFamily="34" charset="0"/>
              </a:rPr>
              <a:t>google </a:t>
            </a:r>
            <a:r>
              <a:rPr lang="en-US" altLang="zh-TW" b="0" i="0" dirty="0" err="1">
                <a:solidFill>
                  <a:srgbClr val="050505"/>
                </a:solidFill>
                <a:effectLst/>
                <a:latin typeface="Segoe UI Historic" panose="020B0502040204020203" pitchFamily="34" charset="0"/>
              </a:rPr>
              <a:t>usm</a:t>
            </a:r>
            <a:endParaRPr lang="en-US" altLang="zh-TW" dirty="0"/>
          </a:p>
          <a:p>
            <a:r>
              <a:rPr lang="en-US" altLang="zh-TW" dirty="0"/>
              <a:t>====</a:t>
            </a:r>
          </a:p>
          <a:p>
            <a:r>
              <a:rPr lang="zh-TW" altLang="en-US" dirty="0"/>
              <a:t>要不要講更多 </a:t>
            </a:r>
            <a:r>
              <a:rPr lang="en-US" altLang="zh-TW" dirty="0"/>
              <a:t>ICASSP</a:t>
            </a:r>
            <a:r>
              <a:rPr lang="zh-TW" altLang="en-US" dirty="0"/>
              <a:t> 的文章</a:t>
            </a:r>
            <a:r>
              <a:rPr lang="en-US" altLang="zh-TW" dirty="0"/>
              <a:t>:</a:t>
            </a:r>
          </a:p>
          <a:p>
            <a:r>
              <a:rPr lang="en-US" altLang="zh-TW" dirty="0"/>
              <a:t>-- Still missing: robust, </a:t>
            </a:r>
            <a:r>
              <a:rPr lang="en-US" altLang="zh-TW" dirty="0" err="1"/>
              <a:t>compressioni</a:t>
            </a:r>
            <a:r>
              <a:rPr lang="en-US" altLang="zh-TW" dirty="0"/>
              <a:t>, estimation </a:t>
            </a:r>
            <a:endParaRPr lang="zh-TW" altLang="en-US" dirty="0"/>
          </a:p>
          <a:p>
            <a:r>
              <a:rPr lang="en-US" altLang="zh-TW" b="0" i="0" dirty="0">
                <a:solidFill>
                  <a:srgbClr val="222222"/>
                </a:solidFill>
                <a:effectLst/>
                <a:latin typeface="Arial" panose="020B0604020202020204" pitchFamily="34" charset="0"/>
              </a:rPr>
              <a:t>--I cannot remember how we use </a:t>
            </a:r>
            <a:r>
              <a:rPr lang="en-US" altLang="zh-TW" b="0" i="0" dirty="0" err="1">
                <a:solidFill>
                  <a:srgbClr val="222222"/>
                </a:solidFill>
                <a:effectLst/>
                <a:latin typeface="Arial" panose="020B0604020202020204" pitchFamily="34" charset="0"/>
              </a:rPr>
              <a:t>wavform</a:t>
            </a:r>
            <a:r>
              <a:rPr lang="en-US" altLang="zh-TW" b="0" i="0" dirty="0">
                <a:solidFill>
                  <a:srgbClr val="222222"/>
                </a:solidFill>
                <a:effectLst/>
                <a:latin typeface="Arial" panose="020B0604020202020204" pitchFamily="34" charset="0"/>
              </a:rPr>
              <a:t> as prompt </a:t>
            </a:r>
          </a:p>
          <a:p>
            <a:endParaRPr lang="en-US" altLang="zh-TW" b="0" i="0" dirty="0">
              <a:solidFill>
                <a:srgbClr val="222222"/>
              </a:solidFill>
              <a:effectLst/>
              <a:latin typeface="Arial" panose="020B0604020202020204" pitchFamily="34" charset="0"/>
            </a:endParaRPr>
          </a:p>
          <a:p>
            <a:r>
              <a:rPr lang="en-US" altLang="zh-TW" b="0" i="0" dirty="0">
                <a:solidFill>
                  <a:srgbClr val="222222"/>
                </a:solidFill>
                <a:effectLst/>
                <a:latin typeface="Arial" panose="020B0604020202020204" pitchFamily="34" charset="0"/>
              </a:rPr>
              <a:t>Advancing Universal Speech Models Through Self-Supervised Learning: Progress, Challenges, and Future Directions</a:t>
            </a:r>
            <a:endParaRPr lang="en-US" altLang="zh-TW" dirty="0"/>
          </a:p>
          <a:p>
            <a:endParaRPr lang="en-US" altLang="zh-TW" dirty="0"/>
          </a:p>
          <a:p>
            <a:r>
              <a:rPr lang="en-US" altLang="zh-TW" dirty="0"/>
              <a:t>Motivation</a:t>
            </a:r>
          </a:p>
          <a:p>
            <a:r>
              <a:rPr lang="en-US" altLang="zh-TW" dirty="0"/>
              <a:t>Encoder</a:t>
            </a:r>
          </a:p>
          <a:p>
            <a:r>
              <a:rPr lang="en-US" altLang="zh-TW" dirty="0"/>
              <a:t>SQA: </a:t>
            </a:r>
            <a:r>
              <a:rPr lang="en-US" altLang="zh-TW" dirty="0" err="1"/>
              <a:t>movitvation</a:t>
            </a:r>
            <a:r>
              <a:rPr lang="en-US" altLang="zh-TW" dirty="0"/>
              <a:t> </a:t>
            </a:r>
          </a:p>
          <a:p>
            <a:r>
              <a:rPr lang="en-US" altLang="zh-TW" dirty="0"/>
              <a:t>SQA: results / method</a:t>
            </a:r>
          </a:p>
          <a:p>
            <a:r>
              <a:rPr lang="en-US" altLang="zh-TW" dirty="0"/>
              <a:t>What SQA is universal </a:t>
            </a:r>
          </a:p>
          <a:p>
            <a:r>
              <a:rPr lang="en-US" altLang="zh-TW" dirty="0"/>
              <a:t>Prompt: motivation</a:t>
            </a:r>
          </a:p>
          <a:p>
            <a:r>
              <a:rPr lang="en-US" altLang="zh-TW" dirty="0"/>
              <a:t>Prompt: Approach</a:t>
            </a:r>
          </a:p>
          <a:p>
            <a:r>
              <a:rPr lang="en-US" altLang="zh-TW" dirty="0"/>
              <a:t>Prompt: results</a:t>
            </a:r>
          </a:p>
          <a:p>
            <a:r>
              <a:rPr lang="en-US" altLang="zh-TW" dirty="0"/>
              <a:t>Prompt: future</a:t>
            </a:r>
          </a:p>
          <a:p>
            <a:r>
              <a:rPr lang="en-US" altLang="zh-TW" dirty="0"/>
              <a:t>Prompt: Conclusion </a:t>
            </a:r>
          </a:p>
          <a:p>
            <a:endParaRPr lang="en-US" altLang="zh-TW" dirty="0"/>
          </a:p>
          <a:p>
            <a:r>
              <a:rPr lang="en-US" altLang="zh-TW" dirty="0"/>
              <a:t>SUPERB? -&gt; bigger model?</a:t>
            </a:r>
          </a:p>
          <a:p>
            <a:r>
              <a:rPr lang="en-US" altLang="zh-TW" dirty="0"/>
              <a:t>Sampling ???</a:t>
            </a:r>
          </a:p>
          <a:p>
            <a:r>
              <a:rPr lang="en-US" altLang="zh-TW" dirty="0"/>
              <a:t>SQA</a:t>
            </a:r>
          </a:p>
          <a:p>
            <a:r>
              <a:rPr lang="en-US" altLang="zh-TW" dirty="0"/>
              <a:t>Prompt </a:t>
            </a:r>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66CBA6-B2A6-499E-9517-2C7BF4A6617C}"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98805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solidFill>
                  <a:schemeClr val="tx2"/>
                </a:solidFill>
                <a:latin typeface="微軟正黑體" panose="020B0604030504040204" pitchFamily="34" charset="-120"/>
                <a:ea typeface="微軟正黑體" panose="020B0604030504040204" pitchFamily="34" charset="-120"/>
              </a:rPr>
              <a:t>因此內容難免偏頗</a:t>
            </a:r>
            <a:endParaRPr lang="en-US" altLang="zh-TW"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2</a:t>
            </a:fld>
            <a:endParaRPr lang="zh-TW" altLang="en-US"/>
          </a:p>
        </p:txBody>
      </p:sp>
    </p:spTree>
    <p:extLst>
      <p:ext uri="{BB962C8B-B14F-4D97-AF65-F5344CB8AC3E}">
        <p14:creationId xmlns:p14="http://schemas.microsoft.com/office/powerpoint/2010/main" val="1756944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just to name a few</a:t>
            </a:r>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4</a:t>
            </a:fld>
            <a:endParaRPr lang="zh-TW" altLang="en-US"/>
          </a:p>
        </p:txBody>
      </p:sp>
    </p:spTree>
    <p:extLst>
      <p:ext uri="{BB962C8B-B14F-4D97-AF65-F5344CB8AC3E}">
        <p14:creationId xmlns:p14="http://schemas.microsoft.com/office/powerpoint/2010/main" val="3775178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一些其他的解法</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mn-ea"/>
                <a:cs typeface="+mn-cs"/>
              </a:rPr>
              <a:t>(information loss)</a:t>
            </a:r>
            <a:endParaRPr kumimoji="0" lang="zh-TW" altLang="en-US"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mn-ea"/>
                <a:cs typeface="+mn-cs"/>
              </a:rPr>
              <a:t>(latency)</a:t>
            </a:r>
            <a:endParaRPr kumimoji="0" lang="zh-TW" altLang="en-US"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513B49-9ABA-4E71-8DA0-07ADD02A9FB1}"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917563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10</a:t>
            </a:fld>
            <a:endParaRPr lang="zh-TW" altLang="en-US"/>
          </a:p>
        </p:txBody>
      </p:sp>
    </p:spTree>
    <p:extLst>
      <p:ext uri="{BB962C8B-B14F-4D97-AF65-F5344CB8AC3E}">
        <p14:creationId xmlns:p14="http://schemas.microsoft.com/office/powerpoint/2010/main" val="1925795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要畫張圖嗎</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13</a:t>
            </a:fld>
            <a:endParaRPr lang="zh-TW" altLang="en-US"/>
          </a:p>
        </p:txBody>
      </p:sp>
    </p:spTree>
    <p:extLst>
      <p:ext uri="{BB962C8B-B14F-4D97-AF65-F5344CB8AC3E}">
        <p14:creationId xmlns:p14="http://schemas.microsoft.com/office/powerpoint/2010/main" val="3785884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We</a:t>
            </a:r>
            <a:r>
              <a:rPr lang="en-US" altLang="zh-TW" baseline="0" dirty="0"/>
              <a:t> have to mention some evolutions here!!!!!!!!!!!!!!!!!!!!!!!!!!!!!!!!!!!!!!!!!!!!!!?????????????????????</a:t>
            </a:r>
            <a:endParaRPr lang="en-US" altLang="zh-TW" dirty="0"/>
          </a:p>
          <a:p>
            <a:endParaRPr lang="en-US" altLang="zh-TW" dirty="0"/>
          </a:p>
          <a:p>
            <a:r>
              <a:rPr lang="en-US" altLang="zh-TW" dirty="0"/>
              <a:t>Also known as unsupervised spoken term detection, zero-resource spoken content retrieval, etc.</a:t>
            </a:r>
          </a:p>
          <a:p>
            <a:r>
              <a:rPr lang="en-US" altLang="zh-TW" dirty="0"/>
              <a:t>Evaluation program</a:t>
            </a:r>
          </a:p>
          <a:p>
            <a:endParaRPr lang="zh-TW" altLang="en-US" dirty="0"/>
          </a:p>
        </p:txBody>
      </p:sp>
      <p:sp>
        <p:nvSpPr>
          <p:cNvPr id="4" name="投影片編號版面配置區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BAF6DD4-9545-4A49-91CA-058829C4258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065730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8863-1D1B-7B44-6180-F7BF51BE11F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7DCC4EB-8EEB-F8FF-6D1D-B92E5F67B39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0B4361D-0E03-AFE0-4D4F-11A770B874E9}"/>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5705B86-7494-F68F-392D-9B382A08CE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634731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13077-DC5B-31C7-412D-0608DF22E94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C1569ED-40E0-F341-7C2A-49D169F0916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F463A98-E6B8-B8C1-56D8-21EE9F686A5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8C75349-EFE4-840C-2BB2-C1BB03E542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156521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I</a:t>
            </a:r>
            <a:r>
              <a:rPr lang="zh-TW" altLang="en-US" dirty="0"/>
              <a:t> </a:t>
            </a:r>
            <a:r>
              <a:rPr lang="en-US" altLang="zh-TW" dirty="0"/>
              <a:t>don’t know why we can get speaker information </a:t>
            </a:r>
            <a:r>
              <a:rPr lang="en-US" altLang="zh-TW" dirty="0" err="1"/>
              <a:t>freq</a:t>
            </a:r>
            <a:r>
              <a:rPr lang="en-US" altLang="zh-TW" dirty="0"/>
              <a:t> masking.</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35B0A5-DEC7-4731-8C04-454DB50CFF28}"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748881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 = 3 - 5</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35B0A5-DEC7-4731-8C04-454DB50CFF28}"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630859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ACE75-0422-F6C7-EFD8-F50D4A57D78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E4D7D8-97F1-5EB1-E483-59335AF22E09}"/>
              </a:ext>
            </a:extLst>
          </p:cNvPr>
          <p:cNvSpPr>
            <a:spLocks noGrp="1" noRot="1" noChangeAspect="1"/>
          </p:cNvSpPr>
          <p:nvPr>
            <p:ph type="sldImg"/>
          </p:nvPr>
        </p:nvSpPr>
        <p:spPr>
          <a:xfrm>
            <a:off x="685800" y="1143000"/>
            <a:ext cx="5486400" cy="3086100"/>
          </a:xfrm>
        </p:spPr>
      </p:sp>
      <p:sp>
        <p:nvSpPr>
          <p:cNvPr id="3" name="備忘稿版面配置區 2">
            <a:extLst>
              <a:ext uri="{FF2B5EF4-FFF2-40B4-BE49-F238E27FC236}">
                <a16:creationId xmlns:a16="http://schemas.microsoft.com/office/drawing/2014/main" id="{1370BB51-D0B3-6118-1950-C328B7F7E1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kern="0" dirty="0">
                <a:solidFill>
                  <a:srgbClr val="000000"/>
                </a:solidFill>
                <a:latin typeface="Calibri" panose="020F0502020204030204" pitchFamily="34" charset="0"/>
                <a:cs typeface="Calibri" panose="020F0502020204030204" pitchFamily="34" charset="0"/>
                <a:sym typeface="Arial"/>
              </a:rPr>
              <a:t>--General-purpose knowledge for speech processing, from acoustic signals to semantics</a:t>
            </a:r>
            <a:endParaRPr lang="zh-TW" altLang="en-US" kern="0" dirty="0">
              <a:solidFill>
                <a:srgbClr val="000000"/>
              </a:solidFill>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kern="0" dirty="0">
                <a:solidFill>
                  <a:srgbClr val="000000"/>
                </a:solidFill>
                <a:latin typeface="Calibri" panose="020F0502020204030204" pitchFamily="34" charset="0"/>
                <a:cs typeface="Calibri" panose="020F0502020204030204" pitchFamily="34" charset="0"/>
                <a:sym typeface="Arial"/>
              </a:rPr>
              <a:t>--Easy to add new tasks</a:t>
            </a:r>
            <a:endParaRPr lang="zh-TW" altLang="en-US" kern="0" dirty="0">
              <a:solidFill>
                <a:srgbClr val="000000"/>
              </a:solidFill>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kern="0" dirty="0">
                <a:solidFill>
                  <a:srgbClr val="000000"/>
                </a:solidFill>
                <a:latin typeface="Calibri" panose="020F0502020204030204" pitchFamily="34" charset="0"/>
                <a:cs typeface="Calibri" panose="020F0502020204030204" pitchFamily="34" charset="0"/>
                <a:sym typeface="Arial"/>
              </a:rPr>
              <a:t>--Storage saving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050505"/>
                </a:solidFill>
                <a:effectLst/>
                <a:latin typeface="Segoe UI Historic" panose="020B0502040204020203" pitchFamily="34" charset="0"/>
              </a:rPr>
              <a:t>但 </a:t>
            </a:r>
            <a:r>
              <a:rPr lang="en-US" altLang="zh-TW" b="0" i="0" dirty="0">
                <a:solidFill>
                  <a:srgbClr val="050505"/>
                </a:solidFill>
                <a:effectLst/>
                <a:latin typeface="Segoe UI Historic" panose="020B0502040204020203" pitchFamily="34" charset="0"/>
              </a:rPr>
              <a:t>SSL </a:t>
            </a:r>
            <a:r>
              <a:rPr lang="zh-TW" altLang="en-US" b="0" i="0" dirty="0">
                <a:solidFill>
                  <a:srgbClr val="050505"/>
                </a:solidFill>
                <a:effectLst/>
                <a:latin typeface="Segoe UI Historic" panose="020B0502040204020203" pitchFamily="34" charset="0"/>
              </a:rPr>
              <a:t>的 </a:t>
            </a:r>
            <a:r>
              <a:rPr lang="en-US" altLang="zh-TW" b="0" i="0" dirty="0">
                <a:solidFill>
                  <a:srgbClr val="050505"/>
                </a:solidFill>
                <a:effectLst/>
                <a:latin typeface="Segoe UI Historic" panose="020B0502040204020203" pitchFamily="34" charset="0"/>
              </a:rPr>
              <a:t>generalizability </a:t>
            </a:r>
            <a:r>
              <a:rPr lang="zh-TW" altLang="en-US" b="0" i="0" dirty="0">
                <a:solidFill>
                  <a:srgbClr val="050505"/>
                </a:solidFill>
                <a:effectLst/>
                <a:latin typeface="Segoe UI Historic" panose="020B0502040204020203" pitchFamily="34" charset="0"/>
              </a:rPr>
              <a:t>使其更易於對所有 </a:t>
            </a:r>
            <a:r>
              <a:rPr lang="en-US" altLang="zh-TW" b="0" i="0" dirty="0">
                <a:solidFill>
                  <a:srgbClr val="050505"/>
                </a:solidFill>
                <a:effectLst/>
                <a:latin typeface="Segoe UI Historic" panose="020B0502040204020203" pitchFamily="34" charset="0"/>
              </a:rPr>
              <a:t>task </a:t>
            </a:r>
            <a:r>
              <a:rPr lang="zh-TW" altLang="en-US" b="0" i="0" dirty="0">
                <a:solidFill>
                  <a:srgbClr val="050505"/>
                </a:solidFill>
                <a:effectLst/>
                <a:latin typeface="Segoe UI Historic" panose="020B0502040204020203" pitchFamily="34" charset="0"/>
              </a:rPr>
              <a:t>都有幫助，甚至是 </a:t>
            </a:r>
            <a:r>
              <a:rPr lang="en-US" altLang="zh-TW" b="0" i="0" dirty="0">
                <a:solidFill>
                  <a:srgbClr val="050505"/>
                </a:solidFill>
                <a:effectLst/>
                <a:latin typeface="Segoe UI Historic" panose="020B0502040204020203" pitchFamily="34" charset="0"/>
              </a:rPr>
              <a:t>unseen task</a:t>
            </a:r>
            <a:r>
              <a:rPr lang="zh-TW" altLang="en-US" b="0" i="0" dirty="0">
                <a:solidFill>
                  <a:srgbClr val="050505"/>
                </a:solidFill>
                <a:effectLst/>
                <a:latin typeface="Segoe UI Historic" panose="020B0502040204020203" pitchFamily="34" charset="0"/>
              </a:rPr>
              <a:t>。然後就更強調 </a:t>
            </a:r>
            <a:r>
              <a:rPr lang="en-US" altLang="zh-TW" b="0" i="0" dirty="0">
                <a:solidFill>
                  <a:srgbClr val="050505"/>
                </a:solidFill>
                <a:effectLst/>
                <a:latin typeface="Segoe UI Historic" panose="020B0502040204020203" pitchFamily="34" charset="0"/>
              </a:rPr>
              <a:t>SSL </a:t>
            </a:r>
            <a:r>
              <a:rPr lang="zh-TW" altLang="en-US" b="0" i="0" dirty="0">
                <a:solidFill>
                  <a:srgbClr val="050505"/>
                </a:solidFill>
                <a:effectLst/>
                <a:latin typeface="Segoe UI Historic" panose="020B0502040204020203" pitchFamily="34" charset="0"/>
              </a:rPr>
              <a:t>之所以重要是因為他能 </a:t>
            </a:r>
            <a:r>
              <a:rPr lang="en-US" altLang="zh-TW" b="0" i="0" dirty="0">
                <a:solidFill>
                  <a:srgbClr val="050505"/>
                </a:solidFill>
                <a:effectLst/>
                <a:latin typeface="Segoe UI Historic" panose="020B0502040204020203" pitchFamily="34" charset="0"/>
              </a:rPr>
              <a:t>generalize for new task</a:t>
            </a:r>
            <a:r>
              <a:rPr lang="zh-TW" altLang="en-US" b="0" i="0" dirty="0">
                <a:solidFill>
                  <a:srgbClr val="050505"/>
                </a:solidFill>
                <a:effectLst/>
                <a:latin typeface="Segoe UI Historic" panose="020B0502040204020203" pitchFamily="34" charset="0"/>
              </a:rPr>
              <a:t>。反之若 </a:t>
            </a:r>
            <a:r>
              <a:rPr lang="en-US" altLang="zh-TW" b="0" i="0" dirty="0">
                <a:solidFill>
                  <a:srgbClr val="050505"/>
                </a:solidFill>
                <a:effectLst/>
                <a:latin typeface="Segoe UI Historic" panose="020B0502040204020203" pitchFamily="34" charset="0"/>
              </a:rPr>
              <a:t>SSL </a:t>
            </a:r>
            <a:r>
              <a:rPr lang="zh-TW" altLang="en-US" b="0" i="0" dirty="0">
                <a:solidFill>
                  <a:srgbClr val="050505"/>
                </a:solidFill>
                <a:effectLst/>
                <a:latin typeface="Segoe UI Historic" panose="020B0502040204020203" pitchFamily="34" charset="0"/>
              </a:rPr>
              <a:t>不能輕易 </a:t>
            </a:r>
            <a:r>
              <a:rPr lang="en-US" altLang="zh-TW" b="0" i="0" dirty="0">
                <a:solidFill>
                  <a:srgbClr val="050505"/>
                </a:solidFill>
                <a:effectLst/>
                <a:latin typeface="Segoe UI Historic" panose="020B0502040204020203" pitchFamily="34" charset="0"/>
              </a:rPr>
              <a:t>generalize for many tasks </a:t>
            </a:r>
            <a:r>
              <a:rPr lang="zh-TW" altLang="en-US" b="0" i="0" dirty="0">
                <a:solidFill>
                  <a:srgbClr val="050505"/>
                </a:solidFill>
                <a:effectLst/>
                <a:latin typeface="Segoe UI Historic" panose="020B0502040204020203" pitchFamily="34" charset="0"/>
              </a:rPr>
              <a:t>那可能還不如就每個 </a:t>
            </a:r>
            <a:r>
              <a:rPr lang="en-US" altLang="zh-TW" b="0" i="0" dirty="0">
                <a:solidFill>
                  <a:srgbClr val="050505"/>
                </a:solidFill>
                <a:effectLst/>
                <a:latin typeface="Segoe UI Historic" panose="020B0502040204020203" pitchFamily="34" charset="0"/>
              </a:rPr>
              <a:t>task </a:t>
            </a:r>
            <a:r>
              <a:rPr lang="zh-TW" altLang="en-US" b="0" i="0" dirty="0">
                <a:solidFill>
                  <a:srgbClr val="050505"/>
                </a:solidFill>
                <a:effectLst/>
                <a:latin typeface="Segoe UI Historic" panose="020B0502040204020203" pitchFamily="34" charset="0"/>
              </a:rPr>
              <a:t>都做 </a:t>
            </a:r>
            <a:r>
              <a:rPr lang="en-US" altLang="zh-TW" b="0" i="0" dirty="0">
                <a:solidFill>
                  <a:srgbClr val="050505"/>
                </a:solidFill>
                <a:effectLst/>
                <a:latin typeface="Segoe UI Historic" panose="020B0502040204020203" pitchFamily="34" charset="0"/>
              </a:rPr>
              <a:t>dedicated self-training</a:t>
            </a:r>
            <a:r>
              <a:rPr lang="zh-TW" altLang="en-US" b="0" i="0" dirty="0">
                <a:solidFill>
                  <a:srgbClr val="050505"/>
                </a:solidFill>
                <a:effectLst/>
                <a:latin typeface="Segoe UI Historic" panose="020B0502040204020203" pitchFamily="34" charset="0"/>
              </a:rPr>
              <a:t>，反正每個 </a:t>
            </a:r>
            <a:r>
              <a:rPr lang="en-US" altLang="zh-TW" b="0" i="0" dirty="0">
                <a:solidFill>
                  <a:srgbClr val="050505"/>
                </a:solidFill>
                <a:effectLst/>
                <a:latin typeface="Segoe UI Historic" panose="020B0502040204020203" pitchFamily="34" charset="0"/>
              </a:rPr>
              <a:t>task </a:t>
            </a:r>
            <a:r>
              <a:rPr lang="zh-TW" altLang="en-US" b="0" i="0" dirty="0">
                <a:solidFill>
                  <a:srgbClr val="050505"/>
                </a:solidFill>
                <a:effectLst/>
                <a:latin typeface="Segoe UI Historic" panose="020B0502040204020203" pitchFamily="34" charset="0"/>
              </a:rPr>
              <a:t>都要花一堆資源。</a:t>
            </a:r>
            <a:r>
              <a:rPr lang="en-US" altLang="zh-TW" b="0" i="0" dirty="0">
                <a:solidFill>
                  <a:srgbClr val="050505"/>
                </a:solidFill>
                <a:effectLst/>
                <a:latin typeface="Segoe UI Historic" panose="020B0502040204020203" pitchFamily="34" charset="0"/>
              </a:rPr>
              <a:t>SSL for many task </a:t>
            </a:r>
            <a:r>
              <a:rPr lang="zh-TW" altLang="en-US" b="0" i="0" dirty="0">
                <a:solidFill>
                  <a:srgbClr val="050505"/>
                </a:solidFill>
                <a:effectLst/>
                <a:latin typeface="Segoe UI Historic" panose="020B0502040204020203" pitchFamily="34" charset="0"/>
              </a:rPr>
              <a:t>的重要性出來後，</a:t>
            </a:r>
            <a:r>
              <a:rPr lang="en-US" altLang="zh-TW" b="0" i="0" dirty="0" err="1">
                <a:solidFill>
                  <a:srgbClr val="050505"/>
                </a:solidFill>
                <a:effectLst/>
                <a:latin typeface="Segoe UI Historic" panose="020B0502040204020203" pitchFamily="34" charset="0"/>
              </a:rPr>
              <a:t>GLUE-like</a:t>
            </a:r>
            <a:r>
              <a:rPr lang="en-US" altLang="zh-TW" b="0" i="0" dirty="0">
                <a:solidFill>
                  <a:srgbClr val="050505"/>
                </a:solidFill>
                <a:effectLst/>
                <a:latin typeface="Segoe UI Historic" panose="020B0502040204020203" pitchFamily="34" charset="0"/>
              </a:rPr>
              <a:t> benchmark </a:t>
            </a:r>
            <a:r>
              <a:rPr lang="zh-TW" altLang="en-US" b="0" i="0" dirty="0">
                <a:solidFill>
                  <a:srgbClr val="050505"/>
                </a:solidFill>
                <a:effectLst/>
                <a:latin typeface="Segoe UI Historic" panose="020B0502040204020203" pitchFamily="34" charset="0"/>
              </a:rPr>
              <a:t>就也很重要了</a:t>
            </a: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kern="0" dirty="0">
              <a:solidFill>
                <a:srgbClr val="000000"/>
              </a:solidFill>
              <a:latin typeface="Calibri" panose="020F0502020204030204" pitchFamily="34" charset="0"/>
              <a:cs typeface="Calibri" panose="020F0502020204030204" pitchFamily="34" charset="0"/>
              <a:sym typeface="Arial"/>
            </a:endParaRPr>
          </a:p>
          <a:p>
            <a:endParaRPr lang="en-US" altLang="zh-TW" dirty="0"/>
          </a:p>
          <a:p>
            <a:r>
              <a:rPr lang="en-US" altLang="zh-TW" dirty="0"/>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b="0" i="0" dirty="0">
                <a:solidFill>
                  <a:srgbClr val="050505"/>
                </a:solidFill>
                <a:effectLst/>
                <a:latin typeface="Segoe UI Historic" panose="020B0502040204020203" pitchFamily="34" charset="0"/>
              </a:rPr>
              <a:t>computation of upstream model is heavy,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b="0" i="0" dirty="0">
                <a:solidFill>
                  <a:srgbClr val="050505"/>
                </a:solidFill>
                <a:effectLst/>
                <a:latin typeface="Segoe UI Historic" panose="020B0502040204020203" pitchFamily="34" charset="0"/>
              </a:rPr>
              <a:t>use cases (tasks) and model proliferation (hard to maintain, not scalable, etc.),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b="0" i="0" dirty="0">
                <a:solidFill>
                  <a:srgbClr val="050505"/>
                </a:solidFill>
                <a:effectLst/>
                <a:latin typeface="Segoe UI Historic" panose="020B0502040204020203" pitchFamily="34" charset="0"/>
              </a:rPr>
              <a:t>need computation sharing, simple/common/handy architecture with ok performance is more desirable than complicated/specialized architecture with slightly better accuracy</a:t>
            </a:r>
            <a:r>
              <a:rPr lang="zh-TW" altLang="en-US" b="0" i="0" dirty="0">
                <a:solidFill>
                  <a:srgbClr val="050505"/>
                </a:solidFill>
                <a:effectLst/>
                <a:latin typeface="Segoe UI Historic" panose="020B0502040204020203" pitchFamily="34" charset="0"/>
              </a:rPr>
              <a:t>。</a:t>
            </a:r>
            <a:endParaRPr lang="en-US" altLang="zh-TW" b="0" i="0" dirty="0">
              <a:solidFill>
                <a:srgbClr val="050505"/>
              </a:solidFill>
              <a:effectLst/>
              <a:latin typeface="Segoe UI Historic"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altLang="zh-TW" b="0" i="0" dirty="0">
              <a:solidFill>
                <a:srgbClr val="050505"/>
              </a:solidFill>
              <a:effectLst/>
              <a:latin typeface="Segoe UI Historic" panose="020B0502040204020203"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b="0" i="0" dirty="0">
                <a:solidFill>
                  <a:srgbClr val="050505"/>
                </a:solidFill>
                <a:effectLst/>
                <a:latin typeface="Segoe UI Historic" panose="020B0502040204020203" pitchFamily="34" charset="0"/>
              </a:rPr>
              <a:t>這個</a:t>
            </a:r>
            <a:r>
              <a:rPr lang="en-US" altLang="zh-TW" b="0" i="0" dirty="0">
                <a:solidFill>
                  <a:srgbClr val="050505"/>
                </a:solidFill>
                <a:effectLst/>
                <a:latin typeface="Segoe UI Historic" panose="020B0502040204020203" pitchFamily="34" charset="0"/>
              </a:rPr>
              <a:t>motivation </a:t>
            </a:r>
            <a:r>
              <a:rPr lang="zh-TW" altLang="en-US" b="0" i="0" dirty="0">
                <a:solidFill>
                  <a:srgbClr val="050505"/>
                </a:solidFill>
                <a:effectLst/>
                <a:latin typeface="Segoe UI Historic" panose="020B0502040204020203" pitchFamily="34" charset="0"/>
              </a:rPr>
              <a:t>或許是在介紹</a:t>
            </a:r>
            <a:r>
              <a:rPr lang="en-US" altLang="zh-TW" b="0" i="0" dirty="0">
                <a:solidFill>
                  <a:srgbClr val="050505"/>
                </a:solidFill>
                <a:effectLst/>
                <a:latin typeface="Segoe UI Historic" panose="020B0502040204020203" pitchFamily="34" charset="0"/>
              </a:rPr>
              <a:t>SUPERB</a:t>
            </a:r>
            <a:r>
              <a:rPr lang="zh-TW" altLang="en-US" b="0" i="0" dirty="0">
                <a:solidFill>
                  <a:srgbClr val="050505"/>
                </a:solidFill>
                <a:effectLst/>
                <a:latin typeface="Segoe UI Historic" panose="020B0502040204020203" pitchFamily="34" charset="0"/>
              </a:rPr>
              <a:t>這個</a:t>
            </a:r>
            <a:r>
              <a:rPr lang="en-US" altLang="zh-TW" b="0" i="0" dirty="0">
                <a:solidFill>
                  <a:srgbClr val="050505"/>
                </a:solidFill>
                <a:effectLst/>
                <a:latin typeface="Segoe UI Historic" panose="020B0502040204020203" pitchFamily="34" charset="0"/>
              </a:rPr>
              <a:t>challenge </a:t>
            </a:r>
            <a:r>
              <a:rPr lang="zh-TW" altLang="en-US" b="0" i="0" dirty="0">
                <a:solidFill>
                  <a:srgbClr val="050505"/>
                </a:solidFill>
                <a:effectLst/>
                <a:latin typeface="Segoe UI Historic" panose="020B0502040204020203" pitchFamily="34" charset="0"/>
              </a:rPr>
              <a:t>的時候可以提到 </a:t>
            </a:r>
            <a:r>
              <a:rPr lang="en-US" altLang="zh-TW" b="0" i="0" dirty="0">
                <a:solidFill>
                  <a:srgbClr val="050505"/>
                </a:solidFill>
                <a:effectLst/>
                <a:latin typeface="Segoe UI Historic" panose="020B0502040204020203" pitchFamily="34" charset="0"/>
              </a:rPr>
              <a:t>(i.e., motivated both why Decathlon and why simple/upstream fixed)</a:t>
            </a:r>
            <a:endParaRPr kumimoji="0" lang="en-US" altLang="zh-TW" sz="1100" b="0" i="1"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zh-TW" sz="1100" b="0" i="1"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zh-TW" sz="1100" b="0" i="1"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zh-TW" sz="1100" b="0" i="1"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100" b="0" i="1" u="none" strike="noStrike" kern="0" cap="none" spc="0" normalizeH="0" baseline="0" noProof="0" dirty="0">
                <a:ln>
                  <a:noFill/>
                </a:ln>
                <a:solidFill>
                  <a:srgbClr val="000000"/>
                </a:solidFill>
                <a:effectLst/>
                <a:uLnTx/>
                <a:uFillTx/>
                <a:latin typeface="Arial"/>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100" b="0" i="1" u="none" strike="noStrike" kern="0" cap="none" spc="0" normalizeH="0" baseline="0" noProof="0" dirty="0">
                <a:ln>
                  <a:noFill/>
                </a:ln>
                <a:solidFill>
                  <a:srgbClr val="000000"/>
                </a:solidFill>
                <a:effectLst/>
                <a:uLnTx/>
                <a:uFillTx/>
                <a:latin typeface="Arial"/>
                <a:cs typeface="Arial"/>
                <a:sym typeface="Arial"/>
              </a:rPr>
              <a:t>(</a:t>
            </a:r>
            <a:r>
              <a:rPr kumimoji="0" lang="en-US" altLang="zh-TW" sz="1100" b="0" i="1" u="none" strike="noStrike" kern="0" cap="none" spc="0" normalizeH="0" baseline="0" noProof="0" dirty="0" err="1">
                <a:ln>
                  <a:noFill/>
                </a:ln>
                <a:solidFill>
                  <a:srgbClr val="000000"/>
                </a:solidFill>
                <a:effectLst/>
                <a:uLnTx/>
                <a:uFillTx/>
                <a:latin typeface="Arial"/>
                <a:cs typeface="Arial"/>
                <a:sym typeface="Arial"/>
              </a:rPr>
              <a:t>apc</a:t>
            </a:r>
            <a:r>
              <a:rPr kumimoji="0" lang="en-US" altLang="zh-TW" sz="1100" b="0" i="1" u="none" strike="noStrike" kern="0" cap="none" spc="0" normalizeH="0" baseline="0" noProof="0" dirty="0">
                <a:ln>
                  <a:noFill/>
                </a:ln>
                <a:solidFill>
                  <a:srgbClr val="000000"/>
                </a:solidFill>
                <a:effectLst/>
                <a:uLnTx/>
                <a:uFillTx/>
                <a:latin typeface="Arial"/>
                <a:cs typeface="Arial"/>
                <a:sym typeface="Arial"/>
              </a:rPr>
              <a:t>, </a:t>
            </a:r>
            <a:r>
              <a:rPr kumimoji="0" lang="en-US" altLang="zh-TW" sz="1100" b="0" i="1" u="none" strike="noStrike" kern="0" cap="none" spc="0" normalizeH="0" baseline="0" noProof="0" dirty="0" err="1">
                <a:ln>
                  <a:noFill/>
                </a:ln>
                <a:solidFill>
                  <a:srgbClr val="000000"/>
                </a:solidFill>
                <a:effectLst/>
                <a:uLnTx/>
                <a:uFillTx/>
                <a:latin typeface="Arial"/>
                <a:cs typeface="Arial"/>
                <a:sym typeface="Arial"/>
              </a:rPr>
              <a:t>mockingjay</a:t>
            </a:r>
            <a:r>
              <a:rPr kumimoji="0" lang="en-US" altLang="zh-TW" sz="1100" b="0" i="1" u="none" strike="noStrike" kern="0" cap="none" spc="0" normalizeH="0" baseline="0" noProof="0" dirty="0">
                <a:ln>
                  <a:noFill/>
                </a:ln>
                <a:solidFill>
                  <a:srgbClr val="000000"/>
                </a:solidFill>
                <a:effectLst/>
                <a:uLnTx/>
                <a:uFillTx/>
                <a:latin typeface="Arial"/>
                <a:cs typeface="Arial"/>
                <a:sym typeface="Arial"/>
              </a:rPr>
              <a:t>, </a:t>
            </a:r>
            <a:r>
              <a:rPr kumimoji="0" lang="en-US" altLang="zh-TW" sz="1100" b="0" i="1" u="none" strike="noStrike" kern="0" cap="none" spc="0" normalizeH="0" baseline="0" noProof="0" dirty="0" err="1">
                <a:ln>
                  <a:noFill/>
                </a:ln>
                <a:solidFill>
                  <a:srgbClr val="000000"/>
                </a:solidFill>
                <a:effectLst/>
                <a:uLnTx/>
                <a:uFillTx/>
                <a:latin typeface="Arial"/>
                <a:cs typeface="Arial"/>
                <a:sym typeface="Arial"/>
              </a:rPr>
              <a:t>pase</a:t>
            </a:r>
            <a:r>
              <a:rPr kumimoji="0" lang="en-US" altLang="zh-TW" sz="1100" b="0" i="1" u="none" strike="noStrike" kern="0" cap="none" spc="0" normalizeH="0" baseline="0" noProof="0" dirty="0">
                <a:ln>
                  <a:noFill/>
                </a:ln>
                <a:solidFill>
                  <a:srgbClr val="000000"/>
                </a:solidFill>
                <a:effectLst/>
                <a:uLnTx/>
                <a:uFillTx/>
                <a:latin typeface="Arial"/>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100" b="0" i="1" u="none" strike="noStrike" kern="0" cap="none" spc="0" normalizeH="0" baseline="0" noProof="0" dirty="0">
                <a:ln>
                  <a:noFill/>
                </a:ln>
                <a:solidFill>
                  <a:srgbClr val="000000"/>
                </a:solidFill>
                <a:effectLst/>
                <a:uLnTx/>
                <a:uFillTx/>
                <a:latin typeface="Arial"/>
                <a:cs typeface="Arial"/>
                <a:sym typeface="Arial"/>
              </a:rPr>
              <a:t>Tera, wav2vec series, </a:t>
            </a:r>
            <a:r>
              <a:rPr kumimoji="0" lang="en-US" altLang="zh-TW" sz="1100" b="0" i="1" u="none" strike="noStrike" kern="0" cap="none" spc="0" normalizeH="0" baseline="0" noProof="0" dirty="0" err="1">
                <a:ln>
                  <a:noFill/>
                </a:ln>
                <a:solidFill>
                  <a:srgbClr val="000000"/>
                </a:solidFill>
                <a:effectLst/>
                <a:uLnTx/>
                <a:uFillTx/>
                <a:latin typeface="Arial"/>
                <a:cs typeface="Arial"/>
                <a:sym typeface="Arial"/>
              </a:rPr>
              <a:t>hubert</a:t>
            </a:r>
            <a:r>
              <a:rPr kumimoji="0" lang="en-US" altLang="zh-TW" sz="1100" b="0" i="1" u="none" strike="noStrike" kern="0" cap="none" spc="0" normalizeH="0" baseline="0" noProof="0" dirty="0">
                <a:ln>
                  <a:noFill/>
                </a:ln>
                <a:solidFill>
                  <a:srgbClr val="000000"/>
                </a:solidFill>
                <a:effectLst/>
                <a:uLnTx/>
                <a:uFillTx/>
                <a:latin typeface="Arial"/>
                <a:cs typeface="Arial"/>
                <a:sym typeface="Arial"/>
              </a:rPr>
              <a:t>)</a:t>
            </a:r>
          </a:p>
          <a:p>
            <a:r>
              <a:rPr lang="en-US" altLang="zh-TW" dirty="0"/>
              <a:t>All datasets are open</a:t>
            </a:r>
          </a:p>
          <a:p>
            <a:r>
              <a:rPr lang="en-US" altLang="zh-TW" dirty="0"/>
              <a:t>Fixed the upstream model</a:t>
            </a:r>
          </a:p>
          <a:p>
            <a:r>
              <a:rPr lang="en-US" altLang="zh-TW" dirty="0"/>
              <a:t>Keep the downstream as simple as possible </a:t>
            </a:r>
          </a:p>
          <a:p>
            <a:endParaRPr lang="en-US" altLang="zh-TW" dirty="0"/>
          </a:p>
          <a:p>
            <a:r>
              <a:rPr lang="en-US" altLang="zh-TW" dirty="0"/>
              <a:t>We have a toolkit</a:t>
            </a:r>
          </a:p>
          <a:p>
            <a:r>
              <a:rPr lang="en-US" altLang="zh-TW" dirty="0"/>
              <a:t>A leaderboard can submit now</a:t>
            </a:r>
            <a:endParaRPr lang="zh-TW" alt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zh-TW" sz="1100" b="0" i="0" u="none" strike="noStrike" kern="0" cap="none" spc="0" normalizeH="0" baseline="0" noProof="0" dirty="0">
              <a:ln>
                <a:noFill/>
              </a:ln>
              <a:solidFill>
                <a:srgbClr val="FF0000"/>
              </a:solidFill>
              <a:effectLst/>
              <a:uLnTx/>
              <a:uFillTx/>
              <a:latin typeface="Lato"/>
              <a:ea typeface="Lato"/>
              <a:cs typeface="Lato"/>
              <a:sym typeface="Lato"/>
            </a:endParaRPr>
          </a:p>
          <a:p>
            <a:pPr algn="l"/>
            <a:endParaRPr lang="zh-TW" altLang="en-US" dirty="0"/>
          </a:p>
          <a:p>
            <a:endParaRPr lang="zh-TW" altLang="en-US" dirty="0"/>
          </a:p>
          <a:p>
            <a:endParaRPr lang="zh-TW" altLang="en-US" dirty="0"/>
          </a:p>
        </p:txBody>
      </p:sp>
      <p:sp>
        <p:nvSpPr>
          <p:cNvPr id="4" name="投影片編號版面配置區 3">
            <a:extLst>
              <a:ext uri="{FF2B5EF4-FFF2-40B4-BE49-F238E27FC236}">
                <a16:creationId xmlns:a16="http://schemas.microsoft.com/office/drawing/2014/main" id="{B016B6BD-836F-592F-F964-F17D28F0EFF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D90E665-572D-4620-A1FA-7590BE7B4B9B}"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396656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B2CB5-D6A3-BBE4-DE4A-BB66BD1A6D9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42939B9-2A25-71C8-D9B2-648F229D05D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2BE9E85-29AA-B196-FA2B-96590A52C5B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0C2CBF6-21E4-8B5D-21B5-B1B43EACF0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201291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62674-E69A-EB56-4A7E-15B4EAC12AF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9FA4EEB-9FBA-B74F-71BA-43E21A6CA1A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C0585BD-2A09-3B66-43ED-CCDD4969C2D7}"/>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CC2B02C-C05C-5F27-F328-D321FC2178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218351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C172C-D1D8-2871-F199-D9434BDA60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C71244C-FF56-B044-B31C-EB154126DAC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4EF4166-9D41-9E92-ECE9-C34831B88168}"/>
              </a:ext>
            </a:extLst>
          </p:cNvPr>
          <p:cNvSpPr>
            <a:spLocks noGrp="1"/>
          </p:cNvSpPr>
          <p:nvPr>
            <p:ph type="body" idx="1"/>
          </p:nvPr>
        </p:nvSpPr>
        <p:spPr/>
        <p:txBody>
          <a:bodyPr/>
          <a:lstStyle/>
          <a:p>
            <a:r>
              <a:rPr lang="en-US" altLang="zh-TW" dirty="0" err="1"/>
              <a:t>Pixio</a:t>
            </a:r>
            <a:endParaRPr lang="en-US" altLang="zh-TW" b="0" i="0" dirty="0">
              <a:solidFill>
                <a:srgbClr val="1D1C1D"/>
              </a:solidFill>
              <a:effectLst/>
              <a:latin typeface="Slack-Lato"/>
            </a:endParaRPr>
          </a:p>
          <a:p>
            <a:endParaRPr lang="en-US" altLang="zh-TW" b="0" i="0" dirty="0">
              <a:solidFill>
                <a:srgbClr val="1D1C1D"/>
              </a:solidFill>
              <a:effectLst/>
              <a:latin typeface="Slack-Lato"/>
            </a:endParaRPr>
          </a:p>
          <a:p>
            <a:r>
              <a:rPr lang="en-US" altLang="zh-TW" b="0" i="0" dirty="0">
                <a:solidFill>
                  <a:srgbClr val="1D1C1D"/>
                </a:solidFill>
                <a:effectLst/>
                <a:latin typeface="Slack-Lato"/>
              </a:rPr>
              <a:t>thanks Hung-yi for putting this together. It looks great to me. One thing we could mention is the next step of SUPERB. I think you have mentioned greener model (perhaps on-device as well). We can also mention that we </a:t>
            </a:r>
            <a:r>
              <a:rPr lang="en-US" altLang="zh-TW" b="1" i="0" dirty="0">
                <a:solidFill>
                  <a:srgbClr val="1D1C1D"/>
                </a:solidFill>
                <a:effectLst/>
                <a:latin typeface="Slack-Lato"/>
              </a:rPr>
              <a:t>plan</a:t>
            </a:r>
            <a:r>
              <a:rPr lang="en-US" altLang="zh-TW" b="0" i="0" dirty="0">
                <a:solidFill>
                  <a:srgbClr val="1D1C1D"/>
                </a:solidFill>
                <a:effectLst/>
                <a:latin typeface="Slack-Lato"/>
              </a:rPr>
              <a:t> to organize challenge in SLT (and talk about the goal of challenge is not ranking but analyzing self-supervised learning models in various scenarios)  and will share more info with the community in April</a:t>
            </a:r>
            <a:endParaRPr lang="zh-TW" altLang="en-US" dirty="0"/>
          </a:p>
        </p:txBody>
      </p:sp>
      <p:sp>
        <p:nvSpPr>
          <p:cNvPr id="4" name="投影片編號版面配置區 3">
            <a:extLst>
              <a:ext uri="{FF2B5EF4-FFF2-40B4-BE49-F238E27FC236}">
                <a16:creationId xmlns:a16="http://schemas.microsoft.com/office/drawing/2014/main" id="{131329CE-D2FF-70D8-5488-EC031E9665E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D90E665-572D-4620-A1FA-7590BE7B4B9B}"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958880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E4F9B-894F-1DE5-160A-14983011D53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1164EED-4B9C-A2B3-9E78-DADA5372A41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1B0862E-1CBE-1E5A-4949-31396C695178}"/>
              </a:ext>
            </a:extLst>
          </p:cNvPr>
          <p:cNvSpPr>
            <a:spLocks noGrp="1"/>
          </p:cNvSpPr>
          <p:nvPr>
            <p:ph type="body" idx="1"/>
          </p:nvPr>
        </p:nvSpPr>
        <p:spPr/>
        <p:txBody>
          <a:bodyPr/>
          <a:lstStyle/>
          <a:p>
            <a:r>
              <a:rPr lang="en-US" altLang="zh-TW" b="0" i="0" dirty="0">
                <a:solidFill>
                  <a:srgbClr val="1D1C1D"/>
                </a:solidFill>
                <a:effectLst/>
                <a:latin typeface="Slack-Lato"/>
              </a:rPr>
              <a:t>thanks Hung-yi for putting this together. It looks great to me. One thing we could mention is the next step of SUPERB. I think you have mentioned greener model (perhaps on-device as well). We can also mention that we </a:t>
            </a:r>
            <a:r>
              <a:rPr lang="en-US" altLang="zh-TW" b="1" i="0" dirty="0">
                <a:solidFill>
                  <a:srgbClr val="1D1C1D"/>
                </a:solidFill>
                <a:effectLst/>
                <a:latin typeface="Slack-Lato"/>
              </a:rPr>
              <a:t>plan</a:t>
            </a:r>
            <a:r>
              <a:rPr lang="en-US" altLang="zh-TW" b="0" i="0" dirty="0">
                <a:solidFill>
                  <a:srgbClr val="1D1C1D"/>
                </a:solidFill>
                <a:effectLst/>
                <a:latin typeface="Slack-Lato"/>
              </a:rPr>
              <a:t> to organize challenge in SLT (and talk about the goal of challenge is not ranking but analyzing self-supervised learning models in various scenarios)  and will share more info with the community in April</a:t>
            </a:r>
            <a:endParaRPr lang="zh-TW" altLang="en-US" dirty="0"/>
          </a:p>
        </p:txBody>
      </p:sp>
      <p:sp>
        <p:nvSpPr>
          <p:cNvPr id="4" name="投影片編號版面配置區 3">
            <a:extLst>
              <a:ext uri="{FF2B5EF4-FFF2-40B4-BE49-F238E27FC236}">
                <a16:creationId xmlns:a16="http://schemas.microsoft.com/office/drawing/2014/main" id="{21C19AB8-A051-1C40-F557-4B30481C148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D90E665-572D-4620-A1FA-7590BE7B4B9B}"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0285580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11421-BF9D-00C6-B8E4-09992E59668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1730CDB-A7EB-74CA-4DDA-A2B5D6DE546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DACCE5D-D50E-7029-8C99-7A7FFEB7E0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Start from the first layer …….???</a:t>
            </a:r>
            <a:endParaRPr lang="zh-TW" altLang="en-US" dirty="0"/>
          </a:p>
          <a:p>
            <a:endParaRPr lang="zh-TW" altLang="en-US" dirty="0"/>
          </a:p>
        </p:txBody>
      </p:sp>
      <p:sp>
        <p:nvSpPr>
          <p:cNvPr id="4" name="投影片編號版面配置區 3">
            <a:extLst>
              <a:ext uri="{FF2B5EF4-FFF2-40B4-BE49-F238E27FC236}">
                <a16:creationId xmlns:a16="http://schemas.microsoft.com/office/drawing/2014/main" id="{B4D2E449-6308-2288-238C-5080C83C0E6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26B3D21-9483-45E4-9893-3227E68B4580}"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716652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8D425-6112-7532-0C70-32CD43E64CE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1E171F-15E5-3BC8-4DE5-A933B142039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1C3BC1C-0A51-2FF2-DFAA-B2994FA0BD08}"/>
              </a:ext>
            </a:extLst>
          </p:cNvPr>
          <p:cNvSpPr>
            <a:spLocks noGrp="1"/>
          </p:cNvSpPr>
          <p:nvPr>
            <p:ph type="body" idx="1"/>
          </p:nvPr>
        </p:nvSpPr>
        <p:spPr/>
        <p:txBody>
          <a:bodyPr/>
          <a:lstStyle/>
          <a:p>
            <a:r>
              <a:rPr lang="en-US" altLang="zh-TW" dirty="0"/>
              <a:t>Larger the better</a:t>
            </a:r>
            <a:endParaRPr lang="zh-TW" altLang="en-US" dirty="0"/>
          </a:p>
        </p:txBody>
      </p:sp>
      <p:sp>
        <p:nvSpPr>
          <p:cNvPr id="4" name="投影片編號版面配置區 3">
            <a:extLst>
              <a:ext uri="{FF2B5EF4-FFF2-40B4-BE49-F238E27FC236}">
                <a16:creationId xmlns:a16="http://schemas.microsoft.com/office/drawing/2014/main" id="{C9A60DB4-3887-67F1-B566-691AF9564C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85149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18C4F-F26D-37A0-70FC-98EA3ABB84F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80725D8-C55C-ACB2-6600-BBABA4FD3E3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D51CC9A-00D5-7A3A-39DE-D765CDD921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Start from the first layer …….???</a:t>
            </a:r>
            <a:endParaRPr lang="zh-TW" altLang="en-US" dirty="0"/>
          </a:p>
          <a:p>
            <a:endParaRPr lang="zh-TW" altLang="en-US" dirty="0"/>
          </a:p>
        </p:txBody>
      </p:sp>
      <p:sp>
        <p:nvSpPr>
          <p:cNvPr id="4" name="投影片編號版面配置區 3">
            <a:extLst>
              <a:ext uri="{FF2B5EF4-FFF2-40B4-BE49-F238E27FC236}">
                <a16:creationId xmlns:a16="http://schemas.microsoft.com/office/drawing/2014/main" id="{419E8A3A-020F-FE15-3AC5-B00C6A97B13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26B3D21-9483-45E4-9893-3227E68B4580}"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0224721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20528-76CA-7A10-72A5-4059DDA7975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141F31C-44D9-1C58-28F8-3E6C087D069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AA382BE-2458-D703-27B6-31B14B6EA469}"/>
              </a:ext>
            </a:extLst>
          </p:cNvPr>
          <p:cNvSpPr>
            <a:spLocks noGrp="1"/>
          </p:cNvSpPr>
          <p:nvPr>
            <p:ph type="body" idx="1"/>
          </p:nvPr>
        </p:nvSpPr>
        <p:spPr/>
        <p:txBody>
          <a:bodyPr/>
          <a:lstStyle/>
          <a:p>
            <a:r>
              <a:rPr lang="en-US" altLang="zh-TW" b="0" i="0" dirty="0">
                <a:solidFill>
                  <a:srgbClr val="374151"/>
                </a:solidFill>
                <a:effectLst/>
                <a:latin typeface="Söhne"/>
              </a:rPr>
              <a:t>The darker, the better</a:t>
            </a:r>
            <a:endParaRPr lang="zh-TW" altLang="en-US" dirty="0"/>
          </a:p>
        </p:txBody>
      </p:sp>
      <p:sp>
        <p:nvSpPr>
          <p:cNvPr id="4" name="投影片編號版面配置區 3">
            <a:extLst>
              <a:ext uri="{FF2B5EF4-FFF2-40B4-BE49-F238E27FC236}">
                <a16:creationId xmlns:a16="http://schemas.microsoft.com/office/drawing/2014/main" id="{3E1AC6A5-D76B-3297-2D63-9F91C38C68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5618217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643A2-B5A1-7DD8-E76D-5E41C5ACE07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CA56745-657A-1A60-FC61-86E71F344B5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F048688-59FE-ABF3-20D5-A609BCB8F3AD}"/>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1567BEC-8AC9-3CC1-04E2-A3F3818F78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519384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FB034-BBA0-8F3B-221A-EA443707ABA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D3C07FA-CFE4-3D3D-11A9-DCC90D4E66E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EA50E8E-10D3-7099-2D58-CD9DABDA49A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E324D64-7134-3ABD-5D3D-4762D4E7AC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453580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要不要講 </a:t>
            </a:r>
            <a:r>
              <a:rPr lang="en-US" altLang="zh-TW" dirty="0"/>
              <a:t>continuous </a:t>
            </a:r>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52</a:t>
            </a:fld>
            <a:endParaRPr lang="zh-TW" altLang="en-US"/>
          </a:p>
        </p:txBody>
      </p:sp>
    </p:spTree>
    <p:extLst>
      <p:ext uri="{BB962C8B-B14F-4D97-AF65-F5344CB8AC3E}">
        <p14:creationId xmlns:p14="http://schemas.microsoft.com/office/powerpoint/2010/main" val="20075553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1F85D-0F1F-840B-764D-73582D84EB5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D5315E7-9EAC-6E14-6E92-BE35EE5D0C2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C401D3B-237B-5A2B-BBD0-91D8FB62D758}"/>
              </a:ext>
            </a:extLst>
          </p:cNvPr>
          <p:cNvSpPr>
            <a:spLocks noGrp="1"/>
          </p:cNvSpPr>
          <p:nvPr>
            <p:ph type="body" idx="1"/>
          </p:nvPr>
        </p:nvSpPr>
        <p:spPr/>
        <p:txBody>
          <a:bodyPr/>
          <a:lstStyle/>
          <a:p>
            <a:r>
              <a:rPr lang="en-US" altLang="zh-TW" dirty="0"/>
              <a:t>LLM generates one text token each time in an auto-regressive way </a:t>
            </a:r>
            <a:endParaRPr lang="zh-TW" altLang="en-US" dirty="0"/>
          </a:p>
        </p:txBody>
      </p:sp>
      <p:sp>
        <p:nvSpPr>
          <p:cNvPr id="4" name="投影片編號版面配置區 3">
            <a:extLst>
              <a:ext uri="{FF2B5EF4-FFF2-40B4-BE49-F238E27FC236}">
                <a16:creationId xmlns:a16="http://schemas.microsoft.com/office/drawing/2014/main" id="{E1D3D2B0-574C-95A2-351B-43164CDB04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1052666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BC86-A46B-055C-996D-4A760609747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B096B77-181E-6B4B-0860-90238E1C134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35BD7FB-A7B0-0C3A-C57C-D6EB15B4584B}"/>
              </a:ext>
            </a:extLst>
          </p:cNvPr>
          <p:cNvSpPr>
            <a:spLocks noGrp="1"/>
          </p:cNvSpPr>
          <p:nvPr>
            <p:ph type="body" idx="1"/>
          </p:nvPr>
        </p:nvSpPr>
        <p:spPr/>
        <p:txBody>
          <a:bodyPr/>
          <a:lstStyle/>
          <a:p>
            <a:r>
              <a:rPr lang="en-US" altLang="zh-TW" dirty="0"/>
              <a:t>What is a “token” in the context of speech?</a:t>
            </a:r>
            <a:endParaRPr lang="zh-TW" altLang="en-US" dirty="0"/>
          </a:p>
        </p:txBody>
      </p:sp>
      <p:sp>
        <p:nvSpPr>
          <p:cNvPr id="4" name="投影片編號版面配置區 3">
            <a:extLst>
              <a:ext uri="{FF2B5EF4-FFF2-40B4-BE49-F238E27FC236}">
                <a16:creationId xmlns:a16="http://schemas.microsoft.com/office/drawing/2014/main" id="{679E8E60-6228-276C-F96A-A398E9DF84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0293488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Need a vocoder? </a:t>
            </a:r>
          </a:p>
          <a:p>
            <a:endParaRPr lang="en-US" altLang="zh-TW" dirty="0"/>
          </a:p>
          <a:p>
            <a:r>
              <a:rPr lang="en-US" altLang="zh-TW" dirty="0"/>
              <a:t>Many types of vocoder???</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438459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D8268-637E-7E19-D4E3-52264E9AF20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F0E305E-B029-8C6E-4186-243A6255EA2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AF16D9A-CC64-FED0-6B31-7AB8169C07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Discrete features are sometimes categorized into ``semantic'' and ``acoustic'' tokens~\</a:t>
            </a:r>
            <a:r>
              <a:rPr lang="en-US" altLang="zh-TW" dirty="0" err="1"/>
              <a:t>citep</a:t>
            </a:r>
            <a:r>
              <a:rPr lang="en-US" altLang="zh-TW" dirty="0"/>
              <a:t>{</a:t>
            </a:r>
            <a:r>
              <a:rPr lang="en-US" altLang="zh-TW" dirty="0" err="1"/>
              <a:t>audiolm</a:t>
            </a:r>
            <a:r>
              <a:rPr lang="en-US" altLang="zh-TW" dirty="0"/>
              <a:t>}. Semantic tokens are usually derived from SSL or supervised pre-trained speech encoders; they are assumed to capture the linguistic content and are often used as a replacement for text tokens, particularly in ``textless'' scenarios. On the other hand, acoustic tokens are derived from neural audio codec models and %usually consist of multiple streams due to RVQ. They capture finer-grained acoustic information such as speaker style and acoustic environment, which is crucial for high-fidelity speech synthesis.\footnote{Note that the term "semantic" here differs from the linguistic notion of semantics and that the distinction between semantic and acoustic tokens can be vague. Semantic tokens also contain certain acoustic information that might affect the synthesized speech~\</a:t>
            </a:r>
            <a:r>
              <a:rPr lang="en-US" altLang="zh-TW" dirty="0" err="1"/>
              <a:t>citep</a:t>
            </a:r>
            <a:r>
              <a:rPr lang="en-US" altLang="zh-TW" dirty="0"/>
              <a:t>{Peng2024AnES}, while acoustic tokens also contain linguistic information since they are designed for audio compression~\</a:t>
            </a:r>
            <a:r>
              <a:rPr lang="en-US" altLang="zh-TW" dirty="0" err="1"/>
              <a:t>citep</a:t>
            </a:r>
            <a:r>
              <a:rPr lang="en-US" altLang="zh-TW" dirty="0"/>
              <a:t>{</a:t>
            </a:r>
            <a:r>
              <a:rPr lang="en-US" altLang="zh-TW" dirty="0" err="1"/>
              <a:t>soundstream</a:t>
            </a:r>
            <a:r>
              <a:rPr lang="en-US" altLang="zh-TW" dirty="0"/>
              <a:t>, </a:t>
            </a:r>
            <a:r>
              <a:rPr lang="en-US" altLang="zh-TW" dirty="0" err="1"/>
              <a:t>encodec</a:t>
            </a:r>
            <a:r>
              <a:rPr lang="en-US" altLang="zh-TW" dirty="0"/>
              <a:t>}. Some recent work has tried to unify the two types of speech tokens~\</a:t>
            </a:r>
            <a:r>
              <a:rPr lang="en-US" altLang="zh-TW" dirty="0" err="1"/>
              <a:t>citep</a:t>
            </a:r>
            <a:r>
              <a:rPr lang="en-US" altLang="zh-TW" dirty="0"/>
              <a:t>{</a:t>
            </a:r>
            <a:r>
              <a:rPr lang="en-US" altLang="zh-TW" dirty="0" err="1"/>
              <a:t>speechtokenizer</a:t>
            </a:r>
            <a:r>
              <a:rPr lang="en-US" altLang="zh-TW" dirty="0"/>
              <a:t>}. In addition to semantic and acoustic tokens, some spoken language models, such as </a:t>
            </a:r>
            <a:r>
              <a:rPr lang="en-US" altLang="zh-TW" dirty="0" err="1"/>
              <a:t>pGSLM</a:t>
            </a:r>
            <a:r>
              <a:rPr lang="en-US" altLang="zh-TW" dirty="0"/>
              <a:t> and </a:t>
            </a:r>
            <a:r>
              <a:rPr lang="en-US" altLang="zh-TW" dirty="0" err="1"/>
              <a:t>dGSLM</a:t>
            </a:r>
            <a:r>
              <a:rPr lang="en-US" altLang="zh-TW" dirty="0"/>
              <a:t>, also incorporate discretized speech features (e.g., fundamental frequency and token duration) into language modeling.}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Streaming is another issue?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r>
              <a:rPr lang="en-US" altLang="zh-TW" dirty="0"/>
              <a:t>Decoding strategies</a:t>
            </a:r>
          </a:p>
          <a:p>
            <a:pPr lvl="1"/>
            <a:r>
              <a:rPr lang="en-US" altLang="zh-TW" dirty="0"/>
              <a:t>Multiple stages</a:t>
            </a:r>
          </a:p>
          <a:p>
            <a:pPr lvl="1"/>
            <a:r>
              <a:rPr lang="en-US" altLang="zh-TW" dirty="0"/>
              <a:t>Spirit LM</a:t>
            </a:r>
          </a:p>
          <a:p>
            <a:pPr lvl="1"/>
            <a:r>
              <a:rPr lang="en-US" altLang="zh-TW" dirty="0"/>
              <a:t>Or other decoding strategies -&gt; </a:t>
            </a:r>
            <a:r>
              <a:rPr lang="zh-TW" altLang="en-US" dirty="0"/>
              <a:t>哪一篇 問一下凱為</a:t>
            </a:r>
            <a:endParaRPr lang="en-US" altLang="zh-TW" dirty="0"/>
          </a:p>
          <a:p>
            <a:pPr lvl="2"/>
            <a:r>
              <a:rPr lang="en-US" altLang="zh-TW" b="0" i="0" u="sng" dirty="0">
                <a:solidFill>
                  <a:srgbClr val="1C1E21"/>
                </a:solidFill>
                <a:effectLst/>
                <a:highlight>
                  <a:srgbClr val="FFFFFF"/>
                </a:highlight>
                <a:latin typeface="inherit"/>
                <a:hlinkClick r:id="rId3"/>
              </a:rPr>
              <a:t>https://arxiv.org/abs/2306.05284</a:t>
            </a:r>
            <a:endParaRPr lang="en-US" altLang="zh-TW" b="0" i="0" dirty="0">
              <a:solidFill>
                <a:srgbClr val="1C1E21"/>
              </a:solidFill>
              <a:effectLst/>
              <a:highlight>
                <a:srgbClr val="FFFFFF"/>
              </a:highlight>
              <a:latin typeface="inheri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endParaRPr lang="zh-TW" altLang="en-US" dirty="0"/>
          </a:p>
        </p:txBody>
      </p:sp>
      <p:sp>
        <p:nvSpPr>
          <p:cNvPr id="4" name="投影片編號版面配置區 3">
            <a:extLst>
              <a:ext uri="{FF2B5EF4-FFF2-40B4-BE49-F238E27FC236}">
                <a16:creationId xmlns:a16="http://schemas.microsoft.com/office/drawing/2014/main" id="{0B1DE850-79DD-D2C7-3049-B359BE7127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4412299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A261F-F92D-8E4C-7B5D-DC7213DA688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A9D6DBC-FAD5-2687-E054-004DAAC1551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B3D4489-3403-710D-C41B-BC9CF89B59D3}"/>
              </a:ext>
            </a:extLst>
          </p:cNvPr>
          <p:cNvSpPr>
            <a:spLocks noGrp="1"/>
          </p:cNvSpPr>
          <p:nvPr>
            <p:ph type="body" idx="1"/>
          </p:nvPr>
        </p:nvSpPr>
        <p:spPr/>
        <p:txBody>
          <a:bodyPr/>
          <a:lstStyle/>
          <a:p>
            <a:r>
              <a:rPr lang="en-US" altLang="zh-TW" dirty="0"/>
              <a:t>It is challenging to generate semantically coherent sentences.</a:t>
            </a:r>
            <a:endParaRPr lang="zh-TW" altLang="en-US" dirty="0"/>
          </a:p>
        </p:txBody>
      </p:sp>
      <p:sp>
        <p:nvSpPr>
          <p:cNvPr id="4" name="投影片編號版面配置區 3">
            <a:extLst>
              <a:ext uri="{FF2B5EF4-FFF2-40B4-BE49-F238E27FC236}">
                <a16:creationId xmlns:a16="http://schemas.microsoft.com/office/drawing/2014/main" id="{E7BF0CF1-7370-B951-07AD-1712BCF5D1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6856603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https://ga642381.github.io/SpeechPrompt/speechgen.html</a:t>
            </a:r>
          </a:p>
          <a:p>
            <a:r>
              <a:rPr lang="en-US" altLang="zh-TW" b="0" i="0" u="none" strike="noStrike" dirty="0">
                <a:effectLst/>
                <a:latin typeface="Lucida Grande"/>
              </a:rPr>
              <a:t>Kai-Wei Chang</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2000300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93B7A-1A64-EE57-B4C5-A8A23CC6DBB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FC7D984-7AAF-8085-A3A1-5E290B3E78F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36F4B14-36F1-324E-FC0B-DE743483D0A2}"/>
              </a:ext>
            </a:extLst>
          </p:cNvPr>
          <p:cNvSpPr>
            <a:spLocks noGrp="1"/>
          </p:cNvSpPr>
          <p:nvPr>
            <p:ph type="body" idx="1"/>
          </p:nvPr>
        </p:nvSpPr>
        <p:spPr/>
        <p:txBody>
          <a:bodyPr/>
          <a:lstStyle/>
          <a:p>
            <a:r>
              <a:rPr lang="en-US" altLang="zh-TW" b="0" i="0" dirty="0">
                <a:solidFill>
                  <a:srgbClr val="202122"/>
                </a:solidFill>
                <a:effectLst/>
                <a:highlight>
                  <a:srgbClr val="FFFFFF"/>
                </a:highlight>
                <a:latin typeface="Arial" panose="020B0604020202020204" pitchFamily="34" charset="0"/>
              </a:rPr>
              <a:t>10</a:t>
            </a:r>
            <a:r>
              <a:rPr lang="en-US" altLang="zh-TW" b="0" i="0" baseline="30000" dirty="0">
                <a:solidFill>
                  <a:srgbClr val="202122"/>
                </a:solidFill>
                <a:effectLst/>
                <a:highlight>
                  <a:srgbClr val="FFFFFF"/>
                </a:highlight>
                <a:latin typeface="Arial" panose="020B0604020202020204" pitchFamily="34" charset="0"/>
              </a:rPr>
              <a:t>12 -&gt; </a:t>
            </a:r>
          </a:p>
          <a:p>
            <a:endParaRPr lang="en-US" altLang="zh-TW" b="0" i="0" baseline="30000" dirty="0">
              <a:solidFill>
                <a:srgbClr val="202122"/>
              </a:solidFill>
              <a:effectLst/>
              <a:highlight>
                <a:srgbClr val="FFFFFF"/>
              </a:highlight>
              <a:latin typeface="Arial" panose="020B0604020202020204" pitchFamily="34" charset="0"/>
            </a:endParaRPr>
          </a:p>
          <a:p>
            <a:r>
              <a:rPr lang="en-US" altLang="zh-TW" b="0" i="0" baseline="30000" dirty="0">
                <a:solidFill>
                  <a:srgbClr val="202122"/>
                </a:solidFill>
                <a:effectLst/>
                <a:highlight>
                  <a:srgbClr val="FFFFFF"/>
                </a:highlight>
                <a:latin typeface="Arial" panose="020B0604020202020204" pitchFamily="34" charset="0"/>
              </a:rPr>
              <a:t>10^10 min -&gt; 166,666,666.7 hours -&gt; 2,500,000,000</a:t>
            </a:r>
          </a:p>
        </p:txBody>
      </p:sp>
      <p:sp>
        <p:nvSpPr>
          <p:cNvPr id="4" name="投影片編號版面配置區 3">
            <a:extLst>
              <a:ext uri="{FF2B5EF4-FFF2-40B4-BE49-F238E27FC236}">
                <a16:creationId xmlns:a16="http://schemas.microsoft.com/office/drawing/2014/main" id="{F45DD230-36C7-69F7-874B-B7F1CC94E0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7045182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i="0" dirty="0">
                <a:solidFill>
                  <a:srgbClr val="000000"/>
                </a:solidFill>
                <a:effectLst/>
                <a:latin typeface="Lucida Grande"/>
              </a:rPr>
              <a:t>Scaling Properties of Speech Language Models</a:t>
            </a:r>
          </a:p>
          <a:p>
            <a:r>
              <a:rPr lang="en-US" altLang="zh-TW" dirty="0">
                <a:hlinkClick r:id="rId3"/>
              </a:rPr>
              <a:t>https://arxiv.org/abs/2404.00685</a:t>
            </a:r>
            <a:endParaRPr lang="en-US" altLang="zh-TW" dirty="0"/>
          </a:p>
          <a:p>
            <a:r>
              <a:rPr lang="en-US" altLang="zh-TW" b="0" i="0" dirty="0">
                <a:solidFill>
                  <a:srgbClr val="000000"/>
                </a:solidFill>
                <a:effectLst/>
                <a:latin typeface="Lucida Grande"/>
              </a:rPr>
              <a:t>We show that the linguistic performance of SLMs scales up to three orders of magnitude more slowly than that of text-based LLMs.</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829751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OpenAI Spring Update – streamed live on Monday, May 13, 2024. </a:t>
            </a:r>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64</a:t>
            </a:fld>
            <a:endParaRPr lang="zh-TW" altLang="en-US"/>
          </a:p>
        </p:txBody>
      </p:sp>
    </p:spTree>
    <p:extLst>
      <p:ext uri="{BB962C8B-B14F-4D97-AF65-F5344CB8AC3E}">
        <p14:creationId xmlns:p14="http://schemas.microsoft.com/office/powerpoint/2010/main" val="34236625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7 </a:t>
            </a:r>
            <a:r>
              <a:rPr lang="zh-TW" altLang="en-US" dirty="0"/>
              <a:t>月</a:t>
            </a:r>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65</a:t>
            </a:fld>
            <a:endParaRPr lang="zh-TW" altLang="en-US"/>
          </a:p>
        </p:txBody>
      </p:sp>
    </p:spTree>
    <p:extLst>
      <p:ext uri="{BB962C8B-B14F-4D97-AF65-F5344CB8AC3E}">
        <p14:creationId xmlns:p14="http://schemas.microsoft.com/office/powerpoint/2010/main" val="9686370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Video of audio-4o-audio</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67</a:t>
            </a:fld>
            <a:endParaRPr lang="zh-TW" altLang="en-US"/>
          </a:p>
        </p:txBody>
      </p:sp>
    </p:spTree>
    <p:extLst>
      <p:ext uri="{BB962C8B-B14F-4D97-AF65-F5344CB8AC3E}">
        <p14:creationId xmlns:p14="http://schemas.microsoft.com/office/powerpoint/2010/main" val="32465573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https://arxiv.org/pdf/2504.02398</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71</a:t>
            </a:fld>
            <a:endParaRPr lang="zh-TW" altLang="en-US"/>
          </a:p>
        </p:txBody>
      </p:sp>
    </p:spTree>
    <p:extLst>
      <p:ext uri="{BB962C8B-B14F-4D97-AF65-F5344CB8AC3E}">
        <p14:creationId xmlns:p14="http://schemas.microsoft.com/office/powerpoint/2010/main" val="31483341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5FC16-C84D-BF43-0E2E-AAE5B7B8C6F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3076F7E-98D2-6875-5DE8-4B51337158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9A6A2D5-B658-F031-CE45-88A5C1A327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panose="020F0502020204030204"/>
                <a:ea typeface="+mn-ea"/>
                <a:cs typeface="+mn-cs"/>
              </a:rPr>
              <a:t>This is similar to an inner monologue, allowing the model to consider what it wants to say in text before actually expressing it in speech.</a:t>
            </a:r>
            <a:endParaRPr kumimoji="0" lang="zh-TW" alt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altLang="zh-TW" dirty="0"/>
          </a:p>
          <a:p>
            <a:endParaRPr lang="en-US" altLang="zh-TW" dirty="0"/>
          </a:p>
          <a:p>
            <a:r>
              <a:rPr lang="en-US" altLang="zh-TW" dirty="0"/>
              <a:t>Hybrid decoding </a:t>
            </a:r>
          </a:p>
          <a:p>
            <a:r>
              <a:rPr lang="en-US" altLang="zh-TW" dirty="0"/>
              <a:t>ASR in mind (</a:t>
            </a:r>
            <a:r>
              <a:rPr lang="en-US" altLang="zh-TW" dirty="0" err="1"/>
              <a:t>Spenctron</a:t>
            </a:r>
            <a:r>
              <a:rPr lang="en-US" altLang="zh-TW" dirty="0"/>
              <a:t>)</a:t>
            </a:r>
            <a:endParaRPr lang="zh-TW" altLang="en-US" dirty="0"/>
          </a:p>
          <a:p>
            <a:br>
              <a:rPr lang="en-US" altLang="zh-TW" dirty="0">
                <a:effectLst/>
              </a:rPr>
            </a:br>
            <a:r>
              <a:rPr lang="en-US" altLang="zh-TW" dirty="0">
                <a:effectLst/>
              </a:rPr>
              <a:t>Spectron</a:t>
            </a:r>
            <a:endParaRPr lang="zh-TW" altLang="en-US" dirty="0"/>
          </a:p>
        </p:txBody>
      </p:sp>
      <p:sp>
        <p:nvSpPr>
          <p:cNvPr id="4" name="投影片編號版面配置區 3">
            <a:extLst>
              <a:ext uri="{FF2B5EF4-FFF2-40B4-BE49-F238E27FC236}">
                <a16:creationId xmlns:a16="http://schemas.microsoft.com/office/drawing/2014/main" id="{F34FDDDC-A3A6-9668-5FCC-42F002C6D5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6030678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C851-B481-1498-0063-D7A15FD7D86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A43BD49-F22B-7BA7-2BD1-6E4FD71192B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A300F82-F41F-74BD-89A9-0FFF03F39638}"/>
              </a:ext>
            </a:extLst>
          </p:cNvPr>
          <p:cNvSpPr>
            <a:spLocks noGrp="1"/>
          </p:cNvSpPr>
          <p:nvPr>
            <p:ph type="body" idx="1"/>
          </p:nvPr>
        </p:nvSpPr>
        <p:spPr/>
        <p:txBody>
          <a:bodyPr/>
          <a:lstStyle/>
          <a:p>
            <a:r>
              <a:rPr lang="en-US" altLang="zh-TW" dirty="0"/>
              <a:t>Hybrid decoding </a:t>
            </a:r>
          </a:p>
          <a:p>
            <a:r>
              <a:rPr lang="en-US" altLang="zh-TW" dirty="0"/>
              <a:t>ASR in mind (</a:t>
            </a:r>
            <a:r>
              <a:rPr lang="en-US" altLang="zh-TW" dirty="0" err="1"/>
              <a:t>Spenctron</a:t>
            </a:r>
            <a:r>
              <a:rPr lang="en-US" altLang="zh-TW" dirty="0"/>
              <a:t>)</a:t>
            </a:r>
            <a:endParaRPr lang="zh-TW" altLang="en-US" dirty="0"/>
          </a:p>
          <a:p>
            <a:br>
              <a:rPr lang="en-US" altLang="zh-TW" dirty="0">
                <a:effectLst/>
              </a:rPr>
            </a:br>
            <a:r>
              <a:rPr lang="en-US" altLang="zh-TW" dirty="0">
                <a:effectLst/>
              </a:rPr>
              <a:t>Spectron</a:t>
            </a:r>
            <a:endParaRPr lang="zh-TW" altLang="en-US" dirty="0"/>
          </a:p>
        </p:txBody>
      </p:sp>
      <p:sp>
        <p:nvSpPr>
          <p:cNvPr id="4" name="投影片編號版面配置區 3">
            <a:extLst>
              <a:ext uri="{FF2B5EF4-FFF2-40B4-BE49-F238E27FC236}">
                <a16:creationId xmlns:a16="http://schemas.microsoft.com/office/drawing/2014/main" id="{2E00FA82-AF1B-3062-A37C-DB69DFBF79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41934116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t>
            </a:r>
            <a:r>
              <a:rPr lang="zh-TW" altLang="en-US" dirty="0"/>
              <a:t>與群聯合作的成果</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77</a:t>
            </a:fld>
            <a:endParaRPr lang="zh-TW" altLang="en-US"/>
          </a:p>
        </p:txBody>
      </p:sp>
    </p:spTree>
    <p:extLst>
      <p:ext uri="{BB962C8B-B14F-4D97-AF65-F5344CB8AC3E}">
        <p14:creationId xmlns:p14="http://schemas.microsoft.com/office/powerpoint/2010/main" val="32699501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Liang-Hsuan Tseng∗23 Yi-Chang Chen∗</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C5A3B1-482D-47E2-96D0-5A0D52A4F1FF}"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7529495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Calibri" panose="020F0502020204030204"/>
                <a:ea typeface="+mn-ea"/>
                <a:cs typeface="+mn-cs"/>
              </a:rPr>
              <a:t>https://arxiv.org/abs/2504.07053</a:t>
            </a:r>
          </a:p>
          <a:p>
            <a:r>
              <a:rPr lang="en-US" altLang="zh-TW" dirty="0"/>
              <a:t>Just one text token and one speech token </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3149738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Speech tokens focus on information that cannot be expressed by text. to include content information. </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2471732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C5A3B1-482D-47E2-96D0-5A0D52A4F1FF}"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42910453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3504925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BA70E-4084-EDA7-90C2-33D1BD32A4B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D7DB6C9-8ABB-817B-72F0-DE3702AA45F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6EB33B0-21A6-36E4-D87E-665520B8CBE1}"/>
              </a:ext>
            </a:extLst>
          </p:cNvPr>
          <p:cNvSpPr>
            <a:spLocks noGrp="1"/>
          </p:cNvSpPr>
          <p:nvPr>
            <p:ph type="body" idx="1"/>
          </p:nvPr>
        </p:nvSpPr>
        <p:spPr/>
        <p:txBody>
          <a:bodyPr/>
          <a:lstStyle/>
          <a:p>
            <a:r>
              <a:rPr lang="en-US" altLang="zh-TW" dirty="0"/>
              <a:t>https://chatgpt.com/c/689853b3-2b64-8333-9742-3d410716db9d</a:t>
            </a:r>
            <a:endParaRPr lang="zh-TW" altLang="en-US" dirty="0"/>
          </a:p>
        </p:txBody>
      </p:sp>
      <p:sp>
        <p:nvSpPr>
          <p:cNvPr id="4" name="投影片編號版面配置區 3">
            <a:extLst>
              <a:ext uri="{FF2B5EF4-FFF2-40B4-BE49-F238E27FC236}">
                <a16:creationId xmlns:a16="http://schemas.microsoft.com/office/drawing/2014/main" id="{203E254D-3248-4023-C100-A90FA51596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9356093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effectLst/>
                <a:latin typeface="+mn-lt"/>
                <a:ea typeface="+mn-ea"/>
                <a:cs typeface="+mn-cs"/>
              </a:rPr>
              <a:t>啊難啊難 那你現在回家 那是什麼 喝酒嗎 喝酒嗎對對對對</a:t>
            </a:r>
          </a:p>
          <a:p>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95</a:t>
            </a:fld>
            <a:endParaRPr lang="zh-TW" altLang="en-US"/>
          </a:p>
        </p:txBody>
      </p:sp>
    </p:spTree>
    <p:extLst>
      <p:ext uri="{BB962C8B-B14F-4D97-AF65-F5344CB8AC3E}">
        <p14:creationId xmlns:p14="http://schemas.microsoft.com/office/powerpoint/2010/main" val="15271528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Variable-rate hierarchical CPC [20] introduced reinforcement learning to discover acoustic units with dynamic boundaries. Recent innovations like and </a:t>
            </a:r>
            <a:r>
              <a:rPr lang="en-US" altLang="zh-TW" dirty="0" err="1"/>
              <a:t>SyllableLM</a:t>
            </a:r>
            <a:r>
              <a:rPr lang="en-US" altLang="zh-TW" dirty="0"/>
              <a:t> [21] and </a:t>
            </a:r>
            <a:r>
              <a:rPr lang="en-US" altLang="zh-TW" dirty="0" err="1"/>
              <a:t>Sylber</a:t>
            </a:r>
            <a:r>
              <a:rPr lang="en-US" altLang="zh-TW" dirty="0"/>
              <a:t> [22] leverage syllable-aligned SSL representations to achieve ultra-low frame rates (≈5 Hz)</a:t>
            </a:r>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513B49-9ABA-4E71-8DA0-07ADD02A9FB1}"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8623454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For S2S models, GOAT-SLM [6] is the only model emphasizing paralinguistic-aware dialogue with a multi-stage SFT pipeline. These works rely on SFT with carefully curated, high-quality data, whereas we explore RL to reduce this reliance.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W. Yu, S. Wang, X. Yang, X. Chen, X. Tian, J. Zhang, G. Sun, L. Lu, Y. Wang, and C. Zhang, “</a:t>
            </a:r>
            <a:r>
              <a:rPr lang="en-US" altLang="zh-TW" dirty="0" err="1"/>
              <a:t>Salmonn</a:t>
            </a:r>
            <a:r>
              <a:rPr lang="en-US" altLang="zh-TW" dirty="0"/>
              <a:t>-omni: A codec-free LLM for full-duplex speech understanding and generation,” </a:t>
            </a:r>
            <a:r>
              <a:rPr lang="en-US" altLang="zh-TW" dirty="0" err="1"/>
              <a:t>arXiv</a:t>
            </a:r>
            <a:r>
              <a:rPr lang="en-US" altLang="zh-TW" dirty="0"/>
              <a:t> Preprint, 2024.</a:t>
            </a: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97</a:t>
            </a:fld>
            <a:endParaRPr lang="zh-TW" altLang="en-US"/>
          </a:p>
        </p:txBody>
      </p:sp>
    </p:spTree>
    <p:extLst>
      <p:ext uri="{BB962C8B-B14F-4D97-AF65-F5344CB8AC3E}">
        <p14:creationId xmlns:p14="http://schemas.microsoft.com/office/powerpoint/2010/main" val="67983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0706B-8D47-B407-6E83-0E18ACB27EE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A667E84-A8E8-4F95-6C2C-AE0DD27CCF2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DBB3AFE-DD17-6025-B66F-14B97EB1181B}"/>
              </a:ext>
            </a:extLst>
          </p:cNvPr>
          <p:cNvSpPr>
            <a:spLocks noGrp="1"/>
          </p:cNvSpPr>
          <p:nvPr>
            <p:ph type="body" idx="1"/>
          </p:nvPr>
        </p:nvSpPr>
        <p:spPr/>
        <p:txBody>
          <a:bodyPr/>
          <a:lstStyle/>
          <a:p>
            <a:r>
              <a:rPr lang="en-US" altLang="zh-TW" dirty="0"/>
              <a:t>It is challenging to generate semantically coherent sentences.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t>(Used in </a:t>
            </a:r>
            <a:r>
              <a:rPr lang="zh-TW" altLang="en-US" sz="1200" dirty="0"/>
              <a:t>SpeechGPT-2.0-preview</a:t>
            </a:r>
            <a:r>
              <a:rPr lang="en-US" altLang="zh-TW" sz="1200" dirty="0"/>
              <a:t>)</a:t>
            </a:r>
            <a:endParaRPr lang="zh-TW" altLang="en-US" sz="1200" dirty="0"/>
          </a:p>
          <a:p>
            <a:endParaRPr lang="zh-TW" altLang="en-US" dirty="0"/>
          </a:p>
        </p:txBody>
      </p:sp>
      <p:sp>
        <p:nvSpPr>
          <p:cNvPr id="4" name="投影片編號版面配置區 3">
            <a:extLst>
              <a:ext uri="{FF2B5EF4-FFF2-40B4-BE49-F238E27FC236}">
                <a16:creationId xmlns:a16="http://schemas.microsoft.com/office/drawing/2014/main" id="{BBB43948-F0D4-9F78-A80D-BB632CDA0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8429817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7727E-BAC0-3175-B31E-393AF94773F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191895A-BB89-ACE8-0D7F-EC18064F70F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9133A9E-8E32-CAE8-8DF5-ACEADADD04AE}"/>
              </a:ext>
            </a:extLst>
          </p:cNvPr>
          <p:cNvSpPr>
            <a:spLocks noGrp="1"/>
          </p:cNvSpPr>
          <p:nvPr>
            <p:ph type="body" idx="1"/>
          </p:nvPr>
        </p:nvSpPr>
        <p:spPr/>
        <p:txBody>
          <a:bodyPr/>
          <a:lstStyle/>
          <a:p>
            <a:r>
              <a:rPr lang="en-US" altLang="zh-TW" dirty="0"/>
              <a:t>It is challenging to generate semantically coherent sentences.</a:t>
            </a:r>
            <a:endParaRPr lang="zh-TW" altLang="en-US" dirty="0"/>
          </a:p>
        </p:txBody>
      </p:sp>
      <p:sp>
        <p:nvSpPr>
          <p:cNvPr id="4" name="投影片編號版面配置區 3">
            <a:extLst>
              <a:ext uri="{FF2B5EF4-FFF2-40B4-BE49-F238E27FC236}">
                <a16:creationId xmlns:a16="http://schemas.microsoft.com/office/drawing/2014/main" id="{8248321E-1D49-6119-22DA-99A5F893F5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6993724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291E8-5487-E6B2-A968-15F4AD9D64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307432D-7101-AB36-4777-EFBC2E4026B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B2AC8EB-0888-22D6-29CF-7BF81292B4F1}"/>
              </a:ext>
            </a:extLst>
          </p:cNvPr>
          <p:cNvSpPr>
            <a:spLocks noGrp="1"/>
          </p:cNvSpPr>
          <p:nvPr>
            <p:ph type="body" idx="1"/>
          </p:nvPr>
        </p:nvSpPr>
        <p:spPr/>
        <p:txBody>
          <a:bodyPr/>
          <a:lstStyle/>
          <a:p>
            <a:r>
              <a:rPr lang="en-US" altLang="zh-TW" dirty="0" err="1"/>
              <a:t>Checkt</a:t>
            </a:r>
            <a:r>
              <a:rPr lang="en-US" altLang="zh-TW" dirty="0"/>
              <a:t> more 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highlight>
                  <a:srgbClr val="FFFFFF"/>
                </a:highlight>
                <a:latin typeface="Lucida Grande"/>
              </a:rPr>
              <a:t>Robust Zero-Shot Text-to-Speech Synthesis with Reverse Inference Optimization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highlight>
                  <a:srgbClr val="FFFFFF"/>
                </a:highlight>
                <a:latin typeface="Lucida Grande"/>
              </a:rPr>
              <a:t>Tango 2: Aligning Diffusion-based Text-to-Audio Generations through Direct Preference Optimization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highlight>
                  <a:srgbClr val="FFFFFF"/>
                </a:highlight>
                <a:latin typeface="Lucida Grande"/>
              </a:rPr>
              <a:t>BATON: Aligning Text-to-Audio Model with Human Preference Feedback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1" i="0" dirty="0">
              <a:solidFill>
                <a:srgbClr val="000000"/>
              </a:solidFill>
              <a:effectLst/>
              <a:highlight>
                <a:srgbClr val="FFFFFF"/>
              </a:highlight>
              <a:latin typeface="Lucida Grande"/>
            </a:endParaRPr>
          </a:p>
          <a:p>
            <a:r>
              <a:rPr lang="en-US" altLang="zh-TW" dirty="0"/>
              <a:t> </a:t>
            </a:r>
            <a:endParaRPr lang="zh-TW" altLang="en-US" dirty="0"/>
          </a:p>
        </p:txBody>
      </p:sp>
      <p:sp>
        <p:nvSpPr>
          <p:cNvPr id="4" name="投影片編號版面配置區 3">
            <a:extLst>
              <a:ext uri="{FF2B5EF4-FFF2-40B4-BE49-F238E27FC236}">
                <a16:creationId xmlns:a16="http://schemas.microsoft.com/office/drawing/2014/main" id="{19CD8066-A0CA-2529-370A-F05AF15501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730536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04DFA-2D74-9B68-399F-F2CECC6883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87E95C9-806E-D86D-A90B-AC95EF19E1A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C85743C-8EC4-B6A1-7AE8-CB37E5F97C3D}"/>
              </a:ext>
            </a:extLst>
          </p:cNvPr>
          <p:cNvSpPr>
            <a:spLocks noGrp="1"/>
          </p:cNvSpPr>
          <p:nvPr>
            <p:ph type="body" idx="1"/>
          </p:nvPr>
        </p:nvSpPr>
        <p:spPr/>
        <p:txBody>
          <a:bodyPr/>
          <a:lstStyle/>
          <a:p>
            <a:r>
              <a:rPr lang="en-US" altLang="zh-TW" dirty="0" err="1"/>
              <a:t>Checkt</a:t>
            </a:r>
            <a:r>
              <a:rPr lang="en-US" altLang="zh-TW" dirty="0"/>
              <a:t> more 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highlight>
                  <a:srgbClr val="FFFFFF"/>
                </a:highlight>
                <a:latin typeface="Lucida Grande"/>
              </a:rPr>
              <a:t>Robust Zero-Shot Text-to-Speech Synthesis with Reverse Inference Optimization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highlight>
                  <a:srgbClr val="FFFFFF"/>
                </a:highlight>
                <a:latin typeface="Lucida Grande"/>
              </a:rPr>
              <a:t>Tango 2: Aligning Diffusion-based Text-to-Audio Generations through Direct Preference Optimization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highlight>
                  <a:srgbClr val="FFFFFF"/>
                </a:highlight>
                <a:latin typeface="Lucida Grande"/>
              </a:rPr>
              <a:t>BATON: Aligning Text-to-Audio Model with Human Preference Feedback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1" i="0" dirty="0">
              <a:solidFill>
                <a:srgbClr val="000000"/>
              </a:solidFill>
              <a:effectLst/>
              <a:highlight>
                <a:srgbClr val="FFFFFF"/>
              </a:highlight>
              <a:latin typeface="Lucida Grande"/>
            </a:endParaRPr>
          </a:p>
          <a:p>
            <a:r>
              <a:rPr lang="en-US" altLang="zh-TW" dirty="0"/>
              <a:t> </a:t>
            </a:r>
            <a:endParaRPr lang="zh-TW" altLang="en-US" dirty="0"/>
          </a:p>
        </p:txBody>
      </p:sp>
      <p:sp>
        <p:nvSpPr>
          <p:cNvPr id="4" name="投影片編號版面配置區 3">
            <a:extLst>
              <a:ext uri="{FF2B5EF4-FFF2-40B4-BE49-F238E27FC236}">
                <a16:creationId xmlns:a16="http://schemas.microsoft.com/office/drawing/2014/main" id="{7A33E092-7A76-0A69-1E35-E45B6EC098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8730137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BBF44-9AC9-85BF-1B71-0A0EB24915E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28EC540-B7EA-92D3-6397-A3F7B009F35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6FA4A52-E143-DFFD-A7A4-A6F2E2A22BE4}"/>
              </a:ext>
            </a:extLst>
          </p:cNvPr>
          <p:cNvSpPr>
            <a:spLocks noGrp="1"/>
          </p:cNvSpPr>
          <p:nvPr>
            <p:ph type="body" idx="1"/>
          </p:nvPr>
        </p:nvSpPr>
        <p:spPr/>
        <p:txBody>
          <a:bodyPr/>
          <a:lstStyle/>
          <a:p>
            <a:r>
              <a:rPr lang="en-US" altLang="zh-TW" dirty="0" err="1"/>
              <a:t>Checkt</a:t>
            </a:r>
            <a:r>
              <a:rPr lang="en-US" altLang="zh-TW" dirty="0"/>
              <a:t> more 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highlight>
                  <a:srgbClr val="FFFFFF"/>
                </a:highlight>
                <a:latin typeface="Lucida Grande"/>
              </a:rPr>
              <a:t>Robust Zero-Shot Text-to-Speech Synthesis with Reverse Inference Optimization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highlight>
                  <a:srgbClr val="FFFFFF"/>
                </a:highlight>
                <a:latin typeface="Lucida Grande"/>
              </a:rPr>
              <a:t>Tango 2: Aligning Diffusion-based Text-to-Audio Generations through Direct Preference Optimization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highlight>
                  <a:srgbClr val="FFFFFF"/>
                </a:highlight>
                <a:latin typeface="Lucida Grande"/>
              </a:rPr>
              <a:t>BATON: Aligning Text-to-Audio Model with Human Preference Feedback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1" i="0" dirty="0">
              <a:solidFill>
                <a:srgbClr val="000000"/>
              </a:solidFill>
              <a:effectLst/>
              <a:highlight>
                <a:srgbClr val="FFFFFF"/>
              </a:highlight>
              <a:latin typeface="Lucida Grande"/>
            </a:endParaRPr>
          </a:p>
          <a:p>
            <a:r>
              <a:rPr lang="en-US" altLang="zh-TW" dirty="0"/>
              <a:t> </a:t>
            </a:r>
            <a:endParaRPr lang="zh-TW" altLang="en-US" dirty="0"/>
          </a:p>
        </p:txBody>
      </p:sp>
      <p:sp>
        <p:nvSpPr>
          <p:cNvPr id="4" name="投影片編號版面配置區 3">
            <a:extLst>
              <a:ext uri="{FF2B5EF4-FFF2-40B4-BE49-F238E27FC236}">
                <a16:creationId xmlns:a16="http://schemas.microsoft.com/office/drawing/2014/main" id="{CDBA3062-BBBE-2C94-05BF-B8215864C9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D5DC4F-1B7B-4661-9938-198BFE5FA7BA}"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6631500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hlinkClick r:id="rId3"/>
              </a:rPr>
              <a:t>ParaS2S: Benchmarking and Aligning Spoken Language Models for Paralinguistic-aware Speech-to-Speech Interaction</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103</a:t>
            </a:fld>
            <a:endParaRPr lang="zh-TW" altLang="en-US"/>
          </a:p>
        </p:txBody>
      </p:sp>
    </p:spTree>
    <p:extLst>
      <p:ext uri="{BB962C8B-B14F-4D97-AF65-F5344CB8AC3E}">
        <p14:creationId xmlns:p14="http://schemas.microsoft.com/office/powerpoint/2010/main" val="27120274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Qwen2.5 Omni [55] uses WER as a preference signal to ground speech generation. Step-Audio [25] and Step-Audio-AQAA [24] rely on human feedback, which is annotation-heavy.</a:t>
            </a:r>
            <a:endParaRPr lang="zh-TW" altLang="en-US" dirty="0"/>
          </a:p>
          <a:p>
            <a:r>
              <a:rPr lang="en-US" altLang="zh-TW" dirty="0"/>
              <a:t>Although some recent work has adopted </a:t>
            </a:r>
            <a:r>
              <a:rPr lang="en-US" altLang="zh-TW" dirty="0" err="1"/>
              <a:t>CoT</a:t>
            </a:r>
            <a:r>
              <a:rPr lang="en-US" altLang="zh-TW" dirty="0"/>
              <a:t> in the speech domain, they focus primarily on applications such as speech translation Hu et al. (2025); Du et al. (2025); </a:t>
            </a:r>
            <a:r>
              <a:rPr lang="en-US" altLang="zh-TW" dirty="0" err="1"/>
              <a:t>Gállego</a:t>
            </a:r>
            <a:r>
              <a:rPr lang="en-US" altLang="zh-TW" dirty="0"/>
              <a:t> et al. (2025), dialogue Arora et al. (2025), or other detection tasks Mai et al. (2025); Park et al. (2025). The integration of </a:t>
            </a:r>
            <a:r>
              <a:rPr lang="en-US" altLang="zh-TW" dirty="0" err="1"/>
              <a:t>CoT</a:t>
            </a:r>
            <a:r>
              <a:rPr lang="en-US" altLang="zh-TW" dirty="0"/>
              <a:t> in speech LLMs requires answering two research questions: (</a:t>
            </a:r>
            <a:r>
              <a:rPr lang="en-US" altLang="zh-TW" dirty="0" err="1"/>
              <a:t>i</a:t>
            </a:r>
            <a:r>
              <a:rPr lang="en-US" altLang="zh-TW" dirty="0"/>
              <a:t>) should models reason using text or speech, and (ii) how do we maintain the responsiveness required for spoken interactions? To answer the first question, we investigate both alternatives, showing that text-based </a:t>
            </a:r>
            <a:r>
              <a:rPr lang="en-US" altLang="zh-TW" dirty="0" err="1"/>
              <a:t>CoT</a:t>
            </a:r>
            <a:r>
              <a:rPr lang="en-US" altLang="zh-TW" dirty="0"/>
              <a:t> is as performant as speech-based </a:t>
            </a:r>
            <a:r>
              <a:rPr lang="en-US" altLang="zh-TW" dirty="0" err="1"/>
              <a:t>CoT</a:t>
            </a:r>
            <a:r>
              <a:rPr lang="en-US" altLang="zh-TW" dirty="0"/>
              <a:t> for improving reasoning in speech LLMs, while being 2x more token-efficient.</a:t>
            </a:r>
          </a:p>
          <a:p>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105</a:t>
            </a:fld>
            <a:endParaRPr lang="zh-TW" altLang="en-US"/>
          </a:p>
        </p:txBody>
      </p:sp>
    </p:spTree>
    <p:extLst>
      <p:ext uri="{BB962C8B-B14F-4D97-AF65-F5344CB8AC3E}">
        <p14:creationId xmlns:p14="http://schemas.microsoft.com/office/powerpoint/2010/main" val="23962578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9513B49-9ABA-4E71-8DA0-07ADD02A9FB1}" type="slidenum">
              <a:rPr lang="zh-TW" altLang="en-US" smtClean="0"/>
              <a:t>106</a:t>
            </a:fld>
            <a:endParaRPr lang="zh-TW" altLang="en-US"/>
          </a:p>
        </p:txBody>
      </p:sp>
    </p:spTree>
    <p:extLst>
      <p:ext uri="{BB962C8B-B14F-4D97-AF65-F5344CB8AC3E}">
        <p14:creationId xmlns:p14="http://schemas.microsoft.com/office/powerpoint/2010/main" val="55953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E728-8993-B54E-2630-6527AB0164A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5CEDC36-654F-5BDE-2B2E-F9AE184E33F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FAB9B75-B5C5-8DA8-A2E5-B592EF6944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t>Deep Seek R series, ChatGPT o series …… </a:t>
            </a:r>
            <a:endParaRPr lang="zh-TW" altLang="en-US" sz="1200" dirty="0"/>
          </a:p>
          <a:p>
            <a:endParaRPr lang="zh-TW" altLang="en-US" dirty="0"/>
          </a:p>
        </p:txBody>
      </p:sp>
      <p:sp>
        <p:nvSpPr>
          <p:cNvPr id="4" name="投影片編號版面配置區 3">
            <a:extLst>
              <a:ext uri="{FF2B5EF4-FFF2-40B4-BE49-F238E27FC236}">
                <a16:creationId xmlns:a16="http://schemas.microsoft.com/office/drawing/2014/main" id="{950AA8A5-284F-C36E-F55E-5F48436748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46821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8DE5B-9D4D-DECD-4E62-9A1C5373B03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B072F16-3584-6F0F-D777-24ACFF000B0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CAC0D9B-E859-2E1D-3E5B-3781B368C3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panose="020F0502020204030204"/>
                <a:ea typeface="+mn-ea"/>
                <a:cs typeface="+mn-cs"/>
              </a:rPr>
              <a:t>Previous work has shown that reasoning is helpful for speech LLM.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050" b="0" i="0" u="none" strike="noStrike" kern="1200" cap="none" spc="0" normalizeH="0" baseline="0" noProof="0" dirty="0">
                <a:ln>
                  <a:noFill/>
                </a:ln>
                <a:solidFill>
                  <a:prstClr val="black"/>
                </a:solidFill>
                <a:effectLst/>
                <a:uLnTx/>
                <a:uFillTx/>
                <a:latin typeface="Calibri" panose="020F0502020204030204"/>
                <a:ea typeface="+mn-ea"/>
                <a:cs typeface="+mn-cs"/>
              </a:rPr>
              <a:t>https://arxiv.org/abs/2503.02318</a:t>
            </a:r>
          </a:p>
          <a:p>
            <a:endParaRPr lang="zh-TW" altLang="en-US" dirty="0"/>
          </a:p>
        </p:txBody>
      </p:sp>
      <p:sp>
        <p:nvSpPr>
          <p:cNvPr id="4" name="投影片編號版面配置區 3">
            <a:extLst>
              <a:ext uri="{FF2B5EF4-FFF2-40B4-BE49-F238E27FC236}">
                <a16:creationId xmlns:a16="http://schemas.microsoft.com/office/drawing/2014/main" id="{6B20820B-1D82-45F4-A8F4-CEADF2E59D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6597512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363636"/>
                </a:solidFill>
                <a:effectLst/>
                <a:latin typeface="Google Sans"/>
              </a:rPr>
              <a:t>STITCH: Simultaneous Thinking and Talking with Chunked Reasoning for Spoken Language Models</a:t>
            </a:r>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90731822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a:t>Based on empirical studies, we set b = 0.8 for GLM-4-Voice, which implies that at least 10 speech tokens are required to generate the initial speech output.</a:t>
            </a:r>
            <a:endParaRPr lang="zh-TW" altLang="en-US"/>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5355711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 latency cause by reasoning </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8627419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https://chatgpt.com/c/68985a1e-1c1c-832b-9299-d4f2162f7755</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9267222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Train long test short</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6313882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如果沒有 </a:t>
            </a:r>
            <a:r>
              <a:rPr lang="en-US" altLang="zh-TW" dirty="0"/>
              <a:t>reasoning </a:t>
            </a:r>
            <a:r>
              <a:rPr lang="zh-TW" altLang="en-US" dirty="0"/>
              <a:t>的話會整個壞掉嗎</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92CBB-20B8-405D-BC93-55C3ABE22FF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6730604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aae00436a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aae00436a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solidFill>
                  <a:srgbClr val="0000FF"/>
                </a:solidFill>
                <a:highlight>
                  <a:srgbClr val="FFFFFF"/>
                </a:highlight>
                <a:latin typeface="Lucida Grande"/>
              </a:rPr>
              <a:t>[Nguyen, et al., TACL’23][Zhang, et al., arXiv’24][</a:t>
            </a:r>
            <a:r>
              <a:rPr lang="en-US" altLang="zh-TW" sz="1200" dirty="0" err="1">
                <a:solidFill>
                  <a:srgbClr val="0000FF"/>
                </a:solidFill>
                <a:highlight>
                  <a:srgbClr val="FFFFFF"/>
                </a:highlight>
                <a:latin typeface="Lucida Grande"/>
              </a:rPr>
              <a:t>Tanzer</a:t>
            </a:r>
            <a:r>
              <a:rPr lang="en-US" altLang="zh-TW" sz="1200" dirty="0">
                <a:solidFill>
                  <a:srgbClr val="0000FF"/>
                </a:solidFill>
                <a:highlight>
                  <a:srgbClr val="FFFFFF"/>
                </a:highlight>
                <a:latin typeface="Lucida Grande"/>
              </a:rPr>
              <a:t>, et al., arXiv’24][Wang, et al., arXiv’24] </a:t>
            </a:r>
          </a:p>
          <a:p>
            <a:endParaRPr lang="en-US" altLang="zh-TW" dirty="0"/>
          </a:p>
          <a:p>
            <a:endParaRPr lang="en-US" altLang="zh-TW" dirty="0"/>
          </a:p>
          <a:p>
            <a:r>
              <a:rPr lang="en-US" altLang="zh-TW" dirty="0" err="1"/>
              <a:t>Dgslm</a:t>
            </a:r>
            <a:endParaRPr lang="en-US" altLang="zh-TW" dirty="0"/>
          </a:p>
          <a:p>
            <a:r>
              <a:rPr lang="en-US" altLang="zh-TW" b="0" i="0" u="sng" dirty="0">
                <a:effectLst/>
                <a:highlight>
                  <a:srgbClr val="0084FF"/>
                </a:highlight>
                <a:latin typeface="Segoe UI Historic" panose="020B0502040204020203" pitchFamily="34" charset="0"/>
                <a:hlinkClick r:id="rId3"/>
              </a:rPr>
              <a:t>https://arxiv.org/abs/2406.15718</a:t>
            </a:r>
            <a:endParaRPr lang="en-US" altLang="zh-TW" b="0" i="0" u="sng" dirty="0">
              <a:effectLst/>
              <a:highlight>
                <a:srgbClr val="0084FF"/>
              </a:highlight>
              <a:latin typeface="Segoe UI Historic" panose="020B0502040204020203" pitchFamily="34" charset="0"/>
            </a:endParaRPr>
          </a:p>
          <a:p>
            <a:r>
              <a:rPr lang="en-US" altLang="zh-TW" b="0" i="0" u="sng" dirty="0">
                <a:effectLst/>
                <a:highlight>
                  <a:srgbClr val="0084FF"/>
                </a:highlight>
                <a:latin typeface="Segoe UI Historic" panose="020B0502040204020203" pitchFamily="34" charset="0"/>
                <a:hlinkClick r:id="rId4"/>
              </a:rPr>
              <a:t>https://arxiv.org/abs/2405.13203</a:t>
            </a:r>
            <a:endParaRPr lang="en-US" altLang="zh-TW" b="0" i="0" u="sng" dirty="0">
              <a:effectLst/>
              <a:highlight>
                <a:srgbClr val="0084FF"/>
              </a:highlight>
              <a:latin typeface="Segoe UI Historic" panose="020B0502040204020203" pitchFamily="34" charset="0"/>
            </a:endParaRPr>
          </a:p>
          <a:p>
            <a:r>
              <a:rPr lang="en-US" altLang="zh-TW" dirty="0"/>
              <a:t>https://arxiv.org/pdf/2405.19487</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5B2E61-D327-41AB-BAD4-03C6FA632F25}"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7989297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99E8-2034-2285-930F-AC71B136C59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5127DA7-3EF5-15A7-3362-24BB31A0432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0BE1544-F572-08DE-95FD-D438C3EEAFA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latin typeface="Lucida Grande"/>
              </a:rPr>
              <a:t>On The Landscape of Spoken Language Models: A Comprehensive Survey</a:t>
            </a:r>
          </a:p>
          <a:p>
            <a:endParaRPr lang="zh-TW" altLang="en-US" dirty="0"/>
          </a:p>
        </p:txBody>
      </p:sp>
      <p:sp>
        <p:nvSpPr>
          <p:cNvPr id="4" name="投影片編號版面配置區 3">
            <a:extLst>
              <a:ext uri="{FF2B5EF4-FFF2-40B4-BE49-F238E27FC236}">
                <a16:creationId xmlns:a16="http://schemas.microsoft.com/office/drawing/2014/main" id="{DB64CF7B-2252-C1BC-2E7F-3B3F9423E2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C5A3B1-482D-47E2-96D0-5A0D52A4F1FF}"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005842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F5F3F1-3ED9-0EFC-1B32-AFC2DB41694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1B5B88B-4BB0-D725-5D4E-B2E6C1AE0D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A0BBE1F-8D6D-3149-9701-55D19778CF01}"/>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695B8257-48CF-EDA6-690B-E3ECF6AC22C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959B572-3351-E579-060D-A6D457BDDE2C}"/>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3808355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0B084F-F744-2548-1EFD-0770BB12931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D1BA56F-9455-C9CC-0BA5-87945CC69239}"/>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C9BA15E-2D85-EB8F-08A3-DE7B23985959}"/>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82B2658C-4590-E80C-94FD-D123C2A704A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1654C20-1DDC-D174-47A5-EFDC99787B3D}"/>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307747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4A6D03-FCCA-F263-4BAA-FD9CF0472BD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296FB3E-5F25-AA60-2F85-8243B7A404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475DF9B4-8412-749B-D25A-CA7E73033892}"/>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8FDB401E-EACB-8801-006C-ADACFA80A44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D136379-A980-3A59-D26C-676947832F31}"/>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750472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104AD3-6AEA-0CBB-F77A-522B482FB4B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9389540-84C3-F4F8-EAF1-C40826752EF8}"/>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D36AD23-B9B4-684A-73CF-03CF3CDC0307}"/>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9B125A2-EA54-B95D-10CF-828B3D607927}"/>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6" name="頁尾版面配置區 5">
            <a:extLst>
              <a:ext uri="{FF2B5EF4-FFF2-40B4-BE49-F238E27FC236}">
                <a16:creationId xmlns:a16="http://schemas.microsoft.com/office/drawing/2014/main" id="{5ED32D46-324A-C20E-A69A-06A57B03D99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321E434-11CC-A821-7CC0-3582BEB4F349}"/>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2932667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3B9A0D-4B17-7CD1-D5E9-6993A1E441A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D69D403-A14C-C1D7-0196-A60DE39795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5B9B399B-025C-1183-31C5-1B200C1032B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6C24B68B-E391-A035-4C37-5725AD9A49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3598736-8231-62A8-EA74-AFB61BBCC727}"/>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A969D55-7E26-A3E6-F6A8-ACC68821F360}"/>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8" name="頁尾版面配置區 7">
            <a:extLst>
              <a:ext uri="{FF2B5EF4-FFF2-40B4-BE49-F238E27FC236}">
                <a16:creationId xmlns:a16="http://schemas.microsoft.com/office/drawing/2014/main" id="{78CCF820-9A8B-93E9-9327-85E8F35A767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B6F4835-A9D9-8F44-1E70-22D01E8BDC12}"/>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2948874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838D87-8CF8-27B0-A5E6-EA1CE9B20C78}"/>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1F1B563-9C34-6771-39A2-1EBF418B6401}"/>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4" name="頁尾版面配置區 3">
            <a:extLst>
              <a:ext uri="{FF2B5EF4-FFF2-40B4-BE49-F238E27FC236}">
                <a16:creationId xmlns:a16="http://schemas.microsoft.com/office/drawing/2014/main" id="{E18D5D35-6983-C8F7-FE1C-E1FF8BB269E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4FCFBB6-4982-6591-CC75-76FDA8A714A1}"/>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196474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9F9B50E-61E7-053B-ECD4-4474EE6E7816}"/>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3" name="頁尾版面配置區 2">
            <a:extLst>
              <a:ext uri="{FF2B5EF4-FFF2-40B4-BE49-F238E27FC236}">
                <a16:creationId xmlns:a16="http://schemas.microsoft.com/office/drawing/2014/main" id="{43AC4FDF-1C34-2FC6-2062-D76FF2ABB8F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53FE903-EB38-B81C-B092-485800C50F8A}"/>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739796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496B27-B2B8-0F92-9CEC-82DA8772967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BA5EDDA-0A56-BC93-F199-654D2BFED0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E917BA5-AC3F-08C1-5C06-655E9F9BAC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8A7F79C-D9C8-3F5C-A277-4BCBE509B308}"/>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6" name="頁尾版面配置區 5">
            <a:extLst>
              <a:ext uri="{FF2B5EF4-FFF2-40B4-BE49-F238E27FC236}">
                <a16:creationId xmlns:a16="http://schemas.microsoft.com/office/drawing/2014/main" id="{036DFCFF-89FE-EE29-0CC5-747C2B58A38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134FD3-E92D-60E2-CF47-12DE1B5CC45D}"/>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791893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29E87D-55E1-BC11-9061-EABE86758E2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C2DD46-7E06-DE14-9C84-E7E11760D5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5BAA0A8-26F4-1F7F-3459-89E0DD8E9E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074F721-C116-0CA6-C7AD-EF8C38046281}"/>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6" name="頁尾版面配置區 5">
            <a:extLst>
              <a:ext uri="{FF2B5EF4-FFF2-40B4-BE49-F238E27FC236}">
                <a16:creationId xmlns:a16="http://schemas.microsoft.com/office/drawing/2014/main" id="{3A9D5E59-B421-1969-FAA6-4F4931288EF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E6F0FED-4BB4-713E-6039-C2FE01103636}"/>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2734072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FFDE47-D380-A502-7219-4E41E8C4FD6F}"/>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F393E1E9-6B0F-27A4-DD4F-18AD1BF55D65}"/>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BE274E3-9E8F-4065-C805-2F8CCB74BCE3}"/>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DFD5E5AA-F268-0670-2959-0D7BEE01BD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9A37765-8CCE-7A2E-E871-8069E085FB87}"/>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258144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3552AFD-400C-E1DA-EED9-ABB1ED5D10D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2E1C9C3-4C8A-6F19-C6CE-5017069E9E63}"/>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F2D95A3-25B4-16F7-132D-4C0F39CBAB5F}"/>
              </a:ext>
            </a:extLst>
          </p:cNvPr>
          <p:cNvSpPr>
            <a:spLocks noGrp="1"/>
          </p:cNvSpPr>
          <p:nvPr>
            <p:ph type="dt" sz="half" idx="10"/>
          </p:nvPr>
        </p:nvSpPr>
        <p:spPr/>
        <p:txBody>
          <a:bodyPr/>
          <a:lstStyle/>
          <a:p>
            <a:fld id="{E2C79118-607A-4394-97B4-62589EE86CFE}"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359447CF-8604-3D64-891C-0E16D4D25BA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955533E-B238-D7C8-8C9F-DD746978A9C0}"/>
              </a:ext>
            </a:extLst>
          </p:cNvPr>
          <p:cNvSpPr>
            <a:spLocks noGrp="1"/>
          </p:cNvSpPr>
          <p:nvPr>
            <p:ph type="sldNum" sz="quarter" idx="12"/>
          </p:nvPr>
        </p:nvSpPr>
        <p:spPr/>
        <p:txBody>
          <a:body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39374351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880A0A-4638-29E7-B1CC-B68033EF22B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2BB91FFC-ED46-5BF9-AB39-29DAB653A8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C95B52A-DCD5-8EF0-96EA-7A58CAA5602D}"/>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28F76D88-2EB3-D578-BD72-2AF65045A0A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AA9F6A6-6F2C-1378-9031-53650B4D27C3}"/>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2718157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529D2B-C6B3-FBF5-345A-45A5A45330C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6DF120F-57E4-AF84-2F2D-E520CF209415}"/>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19E8B2E-6A23-7E08-F5AB-9E9F67DB74CA}"/>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39007D0C-85D3-31C3-E00A-DAE5527FB5B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4CC7D96-3C46-1496-9F7A-99B89E435CD1}"/>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25136173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4916948-892D-EDFA-5C53-C7A58920D84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EA20219-71FD-9873-B85A-E296DC0980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290585A-4F96-93B8-D79E-AA73271152E2}"/>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2B89C96A-FB8A-1CA9-C446-D9D97273B1F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5408C4B-0FA1-0AED-1586-15BC73EDBAFB}"/>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1692454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B6846B-CD4D-062A-D22B-FE498F37AB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4570DC9-981C-593E-D85D-6A9EC59BFA0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B0DD4F01-13A4-6D70-FAF7-A120D36810CD}"/>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7AD2426-5145-3647-FD00-E7A99EEC8650}"/>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6" name="頁尾版面配置區 5">
            <a:extLst>
              <a:ext uri="{FF2B5EF4-FFF2-40B4-BE49-F238E27FC236}">
                <a16:creationId xmlns:a16="http://schemas.microsoft.com/office/drawing/2014/main" id="{6DF99E50-C1A0-8E26-F039-25BB7775CF5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4533F01-2861-665E-C634-E26063C20F71}"/>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40060131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E04B03-4CA7-925B-A5AA-779577834EF6}"/>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F5D898B-E09F-BB0C-D50A-8D86396AAE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56D502C-AFFF-413D-27E5-B59F5B7C7751}"/>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E8FD5B5-31FF-D6E8-6F27-E1FFC45F62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5530CCF-8342-5144-B7A4-2D61C9968CC8}"/>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4D19DB3-D356-AF07-2B08-F675DF7FA81B}"/>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8" name="頁尾版面配置區 7">
            <a:extLst>
              <a:ext uri="{FF2B5EF4-FFF2-40B4-BE49-F238E27FC236}">
                <a16:creationId xmlns:a16="http://schemas.microsoft.com/office/drawing/2014/main" id="{2C667CA9-C27E-313E-70B8-E743D00B398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990ECAB-B3AF-6F54-007C-19DB2D300DDC}"/>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26663854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9E6DB6-E585-4BF3-7638-1ADD64C9CBF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8185672-62A4-CBC9-BC87-1DE576B03A90}"/>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4" name="頁尾版面配置區 3">
            <a:extLst>
              <a:ext uri="{FF2B5EF4-FFF2-40B4-BE49-F238E27FC236}">
                <a16:creationId xmlns:a16="http://schemas.microsoft.com/office/drawing/2014/main" id="{6F33C22C-49A2-DD59-95EA-121D7D27D28C}"/>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CDF2F0B8-EC63-1CF2-F465-D5D00195D2C7}"/>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17023559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55D51C0-559A-C62B-3A79-373930A4EAE7}"/>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3" name="頁尾版面配置區 2">
            <a:extLst>
              <a:ext uri="{FF2B5EF4-FFF2-40B4-BE49-F238E27FC236}">
                <a16:creationId xmlns:a16="http://schemas.microsoft.com/office/drawing/2014/main" id="{AADCFC60-05A5-360C-42C5-95F8EB1FBD5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3D433464-FDE4-41C7-3F7B-4C59583360C5}"/>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35644150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4A5F41-8E2D-8688-5E46-1F9FB2767F5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2430C9A-8303-24B4-EF97-C81066FFA7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F9C06CEB-913A-0C48-7FD6-BC0A5B37FC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B2B693A-AF71-9310-DEE6-02EA47DAF290}"/>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6" name="頁尾版面配置區 5">
            <a:extLst>
              <a:ext uri="{FF2B5EF4-FFF2-40B4-BE49-F238E27FC236}">
                <a16:creationId xmlns:a16="http://schemas.microsoft.com/office/drawing/2014/main" id="{9A2D7467-A894-A37E-658B-4F0545557C1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F8115FB-2325-D595-5C24-B702019AFFB2}"/>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1921298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8A2B04-C223-B15C-7A29-72F4FD532A5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5F1DA952-19F2-87F0-893B-3B60884ED0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FDFA6DF-D3E0-DE56-572C-0DAEC395FC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2160D61-455E-CFD3-4162-FB444B1AE5C4}"/>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6" name="頁尾版面配置區 5">
            <a:extLst>
              <a:ext uri="{FF2B5EF4-FFF2-40B4-BE49-F238E27FC236}">
                <a16:creationId xmlns:a16="http://schemas.microsoft.com/office/drawing/2014/main" id="{214FBFB5-F75C-3946-707F-FBF9A476F64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C0FCA31-E122-D404-F995-B2C69697D76D}"/>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4193000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930D4D-692E-40C5-FFA9-171DC527D20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60D63C5-E1AE-B3BA-5469-720ECBD4082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4B32507-20D8-2352-C6C5-156FF72C0CDD}"/>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7650892C-7FA1-A0B7-C46F-21EC89B36A7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8CBFC00-F75D-FE2D-9AEB-53AC10360DF1}"/>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7560078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6EA1556-256E-6C2D-C4D3-D5211823E99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0DF5A81-0A03-613E-A5FB-1318C3AE63E7}"/>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C246BA5-2B5F-4D32-D5A8-2D6F17FD93C2}"/>
              </a:ext>
            </a:extLst>
          </p:cNvPr>
          <p:cNvSpPr>
            <a:spLocks noGrp="1"/>
          </p:cNvSpPr>
          <p:nvPr>
            <p:ph type="dt" sz="half" idx="10"/>
          </p:nvPr>
        </p:nvSpPr>
        <p:spPr/>
        <p:txBody>
          <a:bodyPr/>
          <a:lstStyle/>
          <a:p>
            <a:fld id="{7FA56725-BFE4-443A-A134-C8D85E483220}"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7CB001BC-E9C3-42AB-A0ED-5DECA1BC243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C6EF38E-4B90-81BD-A0C1-068C2AE6BA9C}"/>
              </a:ext>
            </a:extLst>
          </p:cNvPr>
          <p:cNvSpPr>
            <a:spLocks noGrp="1"/>
          </p:cNvSpPr>
          <p:nvPr>
            <p:ph type="sldNum" sz="quarter" idx="12"/>
          </p:nvPr>
        </p:nvSpPr>
        <p:spPr/>
        <p:txBody>
          <a:body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23362808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213227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37564372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8442869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22381923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40026583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22318260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32536205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34025532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33327503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18995053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78F477-10EE-496D-83CC-39457AE0EF5B}"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12423586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1316013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27532731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38602866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32070437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3235192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21640494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6612375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18386193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39168718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40236174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3751D96-F331-491C-A7A1-C9B90CCFC1AE}" type="datetimeFigureOut">
              <a:rPr lang="zh-TW" altLang="en-US" smtClean="0"/>
              <a:t>2025/12/20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533669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D606A55-CB08-AA89-CB82-99510FE71C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751C4F6-D95D-A880-9AF1-BBA38C0941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4FCCE3C-4576-5DCD-2498-7189505DA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C79118-607A-4394-97B4-62589EE86CFE}"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174E4853-14DE-EB5D-AF8E-68C04B7305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B1F801B-035C-73FD-D778-76360E5E85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522E0D-0FB0-4A15-9C50-CCA4E11B313A}" type="slidenum">
              <a:rPr lang="zh-TW" altLang="en-US" smtClean="0"/>
              <a:t>‹#›</a:t>
            </a:fld>
            <a:endParaRPr lang="zh-TW" altLang="en-US"/>
          </a:p>
        </p:txBody>
      </p:sp>
    </p:spTree>
    <p:extLst>
      <p:ext uri="{BB962C8B-B14F-4D97-AF65-F5344CB8AC3E}">
        <p14:creationId xmlns:p14="http://schemas.microsoft.com/office/powerpoint/2010/main" val="2846171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91D88B-6069-4614-C82E-94B656BFF5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1A459A8-C227-443B-8BFA-5BE771E744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F0C72F2-608E-2F79-201D-E2B232443D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A56725-BFE4-443A-A134-C8D85E483220}" type="datetimeFigureOut">
              <a:rPr lang="zh-TW" altLang="en-US" smtClean="0"/>
              <a:t>2025/12/20</a:t>
            </a:fld>
            <a:endParaRPr lang="zh-TW" altLang="en-US"/>
          </a:p>
        </p:txBody>
      </p:sp>
      <p:sp>
        <p:nvSpPr>
          <p:cNvPr id="5" name="頁尾版面配置區 4">
            <a:extLst>
              <a:ext uri="{FF2B5EF4-FFF2-40B4-BE49-F238E27FC236}">
                <a16:creationId xmlns:a16="http://schemas.microsoft.com/office/drawing/2014/main" id="{AF4B15DB-5DEA-D5D2-A459-B10359632E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69B10FCC-0CE1-0AFA-08DF-7C600C640D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A752CE-36F8-4F1A-B1A5-01608B64EBA9}" type="slidenum">
              <a:rPr lang="zh-TW" altLang="en-US" smtClean="0"/>
              <a:t>‹#›</a:t>
            </a:fld>
            <a:endParaRPr lang="zh-TW" altLang="en-US"/>
          </a:p>
        </p:txBody>
      </p:sp>
    </p:spTree>
    <p:extLst>
      <p:ext uri="{BB962C8B-B14F-4D97-AF65-F5344CB8AC3E}">
        <p14:creationId xmlns:p14="http://schemas.microsoft.com/office/powerpoint/2010/main" val="9367709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8F477-10EE-496D-83CC-39457AE0EF5B}" type="datetimeFigureOut">
              <a:rPr lang="zh-TW" altLang="en-US" smtClean="0"/>
              <a:t>2025/12/20</a:t>
            </a:fld>
            <a:endParaRPr lang="zh-TW"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B561C7-9422-4FDC-9341-D906175BD407}" type="slidenum">
              <a:rPr lang="zh-TW" altLang="en-US" smtClean="0"/>
              <a:t>‹#›</a:t>
            </a:fld>
            <a:endParaRPr lang="zh-TW" altLang="en-US"/>
          </a:p>
        </p:txBody>
      </p:sp>
    </p:spTree>
    <p:extLst>
      <p:ext uri="{BB962C8B-B14F-4D97-AF65-F5344CB8AC3E}">
        <p14:creationId xmlns:p14="http://schemas.microsoft.com/office/powerpoint/2010/main" val="7884148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751D96-F331-491C-A7A1-C9B90CCFC1AE}" type="datetimeFigureOut">
              <a:rPr lang="zh-TW" altLang="en-US" smtClean="0"/>
              <a:t>2025/12/20</a:t>
            </a:fld>
            <a:endParaRPr lang="zh-TW"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7017D-D8EB-4697-902B-7ECC8E567CFF}" type="slidenum">
              <a:rPr lang="zh-TW" altLang="en-US" smtClean="0"/>
              <a:t>‹#›</a:t>
            </a:fld>
            <a:endParaRPr lang="zh-TW" altLang="en-US"/>
          </a:p>
        </p:txBody>
      </p:sp>
    </p:spTree>
    <p:extLst>
      <p:ext uri="{BB962C8B-B14F-4D97-AF65-F5344CB8AC3E}">
        <p14:creationId xmlns:p14="http://schemas.microsoft.com/office/powerpoint/2010/main" val="288430520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5.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slideLayout" Target="../slideLayouts/slideLayout24.xml"/><Relationship Id="rId5" Type="http://schemas.openxmlformats.org/officeDocument/2006/relationships/image" Target="../media/image34.jpg"/><Relationship Id="rId4" Type="http://schemas.openxmlformats.org/officeDocument/2006/relationships/image" Target="../media/image33.jpe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35.png"/><Relationship Id="rId7" Type="http://schemas.openxmlformats.org/officeDocument/2006/relationships/image" Target="../media/image251.png"/><Relationship Id="rId2" Type="http://schemas.openxmlformats.org/officeDocument/2006/relationships/notesSlide" Target="../notesSlides/notesSlide11.xml"/><Relationship Id="rId1" Type="http://schemas.openxmlformats.org/officeDocument/2006/relationships/slideLayout" Target="../slideLayouts/slideLayout24.xml"/><Relationship Id="rId6" Type="http://schemas.openxmlformats.org/officeDocument/2006/relationships/image" Target="../media/image241.png"/><Relationship Id="rId5" Type="http://schemas.openxmlformats.org/officeDocument/2006/relationships/image" Target="../media/image230.png"/><Relationship Id="rId4" Type="http://schemas.openxmlformats.org/officeDocument/2006/relationships/image" Target="../media/image6.png"/><Relationship Id="rId9" Type="http://schemas.openxmlformats.org/officeDocument/2006/relationships/image" Target="../media/image200.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1.png"/><Relationship Id="rId1" Type="http://schemas.openxmlformats.org/officeDocument/2006/relationships/slideLayout" Target="../slideLayouts/slideLayout24.xml"/><Relationship Id="rId6" Type="http://schemas.openxmlformats.org/officeDocument/2006/relationships/image" Target="../media/image6.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jpg"/><Relationship Id="rId9"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38.png"/><Relationship Id="rId7" Type="http://schemas.openxmlformats.org/officeDocument/2006/relationships/image" Target="../media/image270.png"/><Relationship Id="rId2" Type="http://schemas.openxmlformats.org/officeDocument/2006/relationships/notesSlide" Target="../notesSlides/notesSlide19.xml"/><Relationship Id="rId1" Type="http://schemas.openxmlformats.org/officeDocument/2006/relationships/slideLayout" Target="../slideLayouts/slideLayout24.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0.png"/><Relationship Id="rId9" Type="http://schemas.openxmlformats.org/officeDocument/2006/relationships/image" Target="../media/image290.pn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4.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audio" Target="../media/media1.wav"/><Relationship Id="rId1" Type="http://schemas.microsoft.com/office/2007/relationships/media" Target="../media/media1.wav"/><Relationship Id="rId4" Type="http://schemas.openxmlformats.org/officeDocument/2006/relationships/image" Target="../media/image61.png"/></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67.png"/><Relationship Id="rId5" Type="http://schemas.openxmlformats.org/officeDocument/2006/relationships/image" Target="../media/image45.jpg"/><Relationship Id="rId4" Type="http://schemas.openxmlformats.org/officeDocument/2006/relationships/image" Target="../media/image34.jp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43.png"/><Relationship Id="rId4" Type="http://schemas.openxmlformats.org/officeDocument/2006/relationships/image" Target="../media/image68.png"/></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8" Type="http://schemas.openxmlformats.org/officeDocument/2006/relationships/image" Target="../media/image61.png"/><Relationship Id="rId3" Type="http://schemas.microsoft.com/office/2007/relationships/media" Target="../media/media3.wav"/><Relationship Id="rId7" Type="http://schemas.openxmlformats.org/officeDocument/2006/relationships/image" Target="../media/image6.png"/><Relationship Id="rId2" Type="http://schemas.openxmlformats.org/officeDocument/2006/relationships/audio" Target="../media/media2.wav"/><Relationship Id="rId1" Type="http://schemas.microsoft.com/office/2007/relationships/media" Target="../media/media2.wav"/><Relationship Id="rId6" Type="http://schemas.openxmlformats.org/officeDocument/2006/relationships/notesSlide" Target="../notesSlides/notesSlide28.xml"/><Relationship Id="rId5" Type="http://schemas.openxmlformats.org/officeDocument/2006/relationships/slideLayout" Target="../slideLayouts/slideLayout13.xml"/><Relationship Id="rId4" Type="http://schemas.openxmlformats.org/officeDocument/2006/relationships/audio" Target="../media/media3.wav"/><Relationship Id="rId9" Type="http://schemas.openxmlformats.org/officeDocument/2006/relationships/image" Target="../media/image72.png"/></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74.gif"/><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75.jpg"/></Relationships>
</file>

<file path=ppt/slides/_rels/slide6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77.png"/></Relationships>
</file>

<file path=ppt/slides/_rels/slide6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8" Type="http://schemas.openxmlformats.org/officeDocument/2006/relationships/image" Target="../media/image400.png"/><Relationship Id="rId13" Type="http://schemas.openxmlformats.org/officeDocument/2006/relationships/image" Target="../media/image450.png"/><Relationship Id="rId18" Type="http://schemas.openxmlformats.org/officeDocument/2006/relationships/image" Target="../media/image500.png"/><Relationship Id="rId3" Type="http://schemas.openxmlformats.org/officeDocument/2006/relationships/image" Target="../media/image320.png"/><Relationship Id="rId7" Type="http://schemas.openxmlformats.org/officeDocument/2006/relationships/image" Target="../media/image390.png"/><Relationship Id="rId12" Type="http://schemas.openxmlformats.org/officeDocument/2006/relationships/image" Target="../media/image440.png"/><Relationship Id="rId17" Type="http://schemas.openxmlformats.org/officeDocument/2006/relationships/image" Target="../media/image490.png"/><Relationship Id="rId2" Type="http://schemas.openxmlformats.org/officeDocument/2006/relationships/image" Target="../media/image310.png"/><Relationship Id="rId16" Type="http://schemas.openxmlformats.org/officeDocument/2006/relationships/image" Target="../media/image480.png"/><Relationship Id="rId20" Type="http://schemas.openxmlformats.org/officeDocument/2006/relationships/image" Target="../media/image520.png"/><Relationship Id="rId1" Type="http://schemas.openxmlformats.org/officeDocument/2006/relationships/slideLayout" Target="../slideLayouts/slideLayout13.xml"/><Relationship Id="rId6" Type="http://schemas.openxmlformats.org/officeDocument/2006/relationships/image" Target="../media/image350.png"/><Relationship Id="rId11" Type="http://schemas.openxmlformats.org/officeDocument/2006/relationships/image" Target="../media/image430.png"/><Relationship Id="rId5" Type="http://schemas.openxmlformats.org/officeDocument/2006/relationships/image" Target="../media/image340.png"/><Relationship Id="rId15" Type="http://schemas.openxmlformats.org/officeDocument/2006/relationships/image" Target="../media/image470.png"/><Relationship Id="rId10" Type="http://schemas.openxmlformats.org/officeDocument/2006/relationships/image" Target="../media/image420.png"/><Relationship Id="rId19" Type="http://schemas.openxmlformats.org/officeDocument/2006/relationships/image" Target="../media/image510.png"/><Relationship Id="rId4" Type="http://schemas.openxmlformats.org/officeDocument/2006/relationships/image" Target="../media/image330.png"/><Relationship Id="rId9" Type="http://schemas.openxmlformats.org/officeDocument/2006/relationships/image" Target="../media/image410.png"/><Relationship Id="rId14" Type="http://schemas.openxmlformats.org/officeDocument/2006/relationships/image" Target="../media/image460.png"/></Relationships>
</file>

<file path=ppt/slides/_rels/slide77.xml.rels><?xml version="1.0" encoding="UTF-8" standalone="yes"?>
<Relationships xmlns="http://schemas.openxmlformats.org/package/2006/relationships"><Relationship Id="rId8" Type="http://schemas.openxmlformats.org/officeDocument/2006/relationships/image" Target="../media/image84.png"/><Relationship Id="rId3" Type="http://schemas.microsoft.com/office/2007/relationships/media" Target="../media/media5.wav"/><Relationship Id="rId7" Type="http://schemas.openxmlformats.org/officeDocument/2006/relationships/image" Target="../media/image61.png"/><Relationship Id="rId2" Type="http://schemas.openxmlformats.org/officeDocument/2006/relationships/audio" Target="../media/media4.wav"/><Relationship Id="rId1" Type="http://schemas.microsoft.com/office/2007/relationships/media" Target="../media/media4.wav"/><Relationship Id="rId6" Type="http://schemas.openxmlformats.org/officeDocument/2006/relationships/notesSlide" Target="../notesSlides/notesSlide38.xml"/><Relationship Id="rId5" Type="http://schemas.openxmlformats.org/officeDocument/2006/relationships/slideLayout" Target="../slideLayouts/slideLayout13.xml"/><Relationship Id="rId4" Type="http://schemas.openxmlformats.org/officeDocument/2006/relationships/audio" Target="../media/media5.wav"/><Relationship Id="rId9" Type="http://schemas.openxmlformats.org/officeDocument/2006/relationships/image" Target="../media/image8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89.jpeg"/><Relationship Id="rId5" Type="http://schemas.openxmlformats.org/officeDocument/2006/relationships/image" Target="../media/image88.jpg"/><Relationship Id="rId4" Type="http://schemas.openxmlformats.org/officeDocument/2006/relationships/image" Target="../media/image87.jpeg"/></Relationships>
</file>

<file path=ppt/slides/_rels/slide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microsoft.com/office/2007/relationships/media" Target="../media/media7.wav"/><Relationship Id="rId7" Type="http://schemas.openxmlformats.org/officeDocument/2006/relationships/image" Target="../media/image61.png"/><Relationship Id="rId2" Type="http://schemas.openxmlformats.org/officeDocument/2006/relationships/audio" Target="../media/media6.wav"/><Relationship Id="rId1" Type="http://schemas.microsoft.com/office/2007/relationships/media" Target="../media/media6.wav"/><Relationship Id="rId6" Type="http://schemas.openxmlformats.org/officeDocument/2006/relationships/image" Target="../media/image6.png"/><Relationship Id="rId5" Type="http://schemas.openxmlformats.org/officeDocument/2006/relationships/slideLayout" Target="../slideLayouts/slideLayout13.xml"/><Relationship Id="rId4" Type="http://schemas.openxmlformats.org/officeDocument/2006/relationships/audio" Target="../media/media7.wav"/></Relationships>
</file>

<file path=ppt/slides/_rels/slide89.xml.rels><?xml version="1.0" encoding="UTF-8" standalone="yes"?>
<Relationships xmlns="http://schemas.openxmlformats.org/package/2006/relationships"><Relationship Id="rId8" Type="http://schemas.openxmlformats.org/officeDocument/2006/relationships/audio" Target="../media/media9.wav"/><Relationship Id="rId3" Type="http://schemas.microsoft.com/office/2007/relationships/media" Target="../media/media7.wav"/><Relationship Id="rId7" Type="http://schemas.microsoft.com/office/2007/relationships/media" Target="../media/media9.wav"/><Relationship Id="rId2" Type="http://schemas.openxmlformats.org/officeDocument/2006/relationships/audio" Target="../media/media6.wav"/><Relationship Id="rId1" Type="http://schemas.microsoft.com/office/2007/relationships/media" Target="../media/media6.wav"/><Relationship Id="rId6" Type="http://schemas.openxmlformats.org/officeDocument/2006/relationships/audio" Target="../media/media8.wav"/><Relationship Id="rId11" Type="http://schemas.openxmlformats.org/officeDocument/2006/relationships/image" Target="../media/image61.png"/><Relationship Id="rId5" Type="http://schemas.microsoft.com/office/2007/relationships/media" Target="../media/media8.wav"/><Relationship Id="rId10" Type="http://schemas.openxmlformats.org/officeDocument/2006/relationships/image" Target="../media/image6.png"/><Relationship Id="rId4" Type="http://schemas.openxmlformats.org/officeDocument/2006/relationships/audio" Target="../media/media7.wav"/><Relationship Id="rId9"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8" Type="http://schemas.openxmlformats.org/officeDocument/2006/relationships/audio" Target="../media/media13.mp3"/><Relationship Id="rId13" Type="http://schemas.microsoft.com/office/2007/relationships/media" Target="../media/media16.wav"/><Relationship Id="rId18" Type="http://schemas.openxmlformats.org/officeDocument/2006/relationships/audio" Target="../media/media18.wav"/><Relationship Id="rId3" Type="http://schemas.microsoft.com/office/2007/relationships/media" Target="../media/media11.mp3"/><Relationship Id="rId21" Type="http://schemas.openxmlformats.org/officeDocument/2006/relationships/slideLayout" Target="../slideLayouts/slideLayout13.xml"/><Relationship Id="rId7" Type="http://schemas.microsoft.com/office/2007/relationships/media" Target="../media/media13.mp3"/><Relationship Id="rId12" Type="http://schemas.openxmlformats.org/officeDocument/2006/relationships/audio" Target="../media/media15.mp3"/><Relationship Id="rId17" Type="http://schemas.microsoft.com/office/2007/relationships/media" Target="../media/media18.wav"/><Relationship Id="rId2" Type="http://schemas.openxmlformats.org/officeDocument/2006/relationships/audio" Target="../media/media10.wav"/><Relationship Id="rId16" Type="http://schemas.openxmlformats.org/officeDocument/2006/relationships/audio" Target="../media/media17.mp3"/><Relationship Id="rId20" Type="http://schemas.openxmlformats.org/officeDocument/2006/relationships/audio" Target="../media/media19.mp3"/><Relationship Id="rId1" Type="http://schemas.microsoft.com/office/2007/relationships/media" Target="../media/media10.wav"/><Relationship Id="rId6" Type="http://schemas.openxmlformats.org/officeDocument/2006/relationships/audio" Target="../media/media12.wav"/><Relationship Id="rId11" Type="http://schemas.microsoft.com/office/2007/relationships/media" Target="../media/media15.mp3"/><Relationship Id="rId5" Type="http://schemas.microsoft.com/office/2007/relationships/media" Target="../media/media12.wav"/><Relationship Id="rId15" Type="http://schemas.microsoft.com/office/2007/relationships/media" Target="../media/media17.mp3"/><Relationship Id="rId10" Type="http://schemas.openxmlformats.org/officeDocument/2006/relationships/audio" Target="../media/media14.wav"/><Relationship Id="rId19" Type="http://schemas.microsoft.com/office/2007/relationships/media" Target="../media/media19.mp3"/><Relationship Id="rId4" Type="http://schemas.openxmlformats.org/officeDocument/2006/relationships/audio" Target="../media/media11.mp3"/><Relationship Id="rId9" Type="http://schemas.microsoft.com/office/2007/relationships/media" Target="../media/media14.wav"/><Relationship Id="rId14" Type="http://schemas.openxmlformats.org/officeDocument/2006/relationships/audio" Target="../media/media16.wav"/><Relationship Id="rId22" Type="http://schemas.openxmlformats.org/officeDocument/2006/relationships/image" Target="../media/image61.png"/></Relationships>
</file>

<file path=ppt/slides/_rels/slide95.xml.rels><?xml version="1.0" encoding="UTF-8" standalone="yes"?>
<Relationships xmlns="http://schemas.openxmlformats.org/package/2006/relationships"><Relationship Id="rId8" Type="http://schemas.openxmlformats.org/officeDocument/2006/relationships/audio" Target="../media/media23.wav"/><Relationship Id="rId13" Type="http://schemas.microsoft.com/office/2007/relationships/media" Target="../media/media26.mp3"/><Relationship Id="rId18" Type="http://schemas.openxmlformats.org/officeDocument/2006/relationships/audio" Target="../media/media28.mp3"/><Relationship Id="rId3" Type="http://schemas.microsoft.com/office/2007/relationships/media" Target="../media/media21.wav"/><Relationship Id="rId21" Type="http://schemas.openxmlformats.org/officeDocument/2006/relationships/slideLayout" Target="../slideLayouts/slideLayout13.xml"/><Relationship Id="rId7" Type="http://schemas.microsoft.com/office/2007/relationships/media" Target="../media/media23.wav"/><Relationship Id="rId12" Type="http://schemas.openxmlformats.org/officeDocument/2006/relationships/audio" Target="../media/media25.wav"/><Relationship Id="rId17" Type="http://schemas.microsoft.com/office/2007/relationships/media" Target="../media/media28.mp3"/><Relationship Id="rId2" Type="http://schemas.openxmlformats.org/officeDocument/2006/relationships/audio" Target="../media/media20.wav"/><Relationship Id="rId16" Type="http://schemas.openxmlformats.org/officeDocument/2006/relationships/audio" Target="../media/media27.wav"/><Relationship Id="rId20" Type="http://schemas.openxmlformats.org/officeDocument/2006/relationships/audio" Target="../media/media29.mp3"/><Relationship Id="rId1" Type="http://schemas.microsoft.com/office/2007/relationships/media" Target="../media/media20.wav"/><Relationship Id="rId6" Type="http://schemas.openxmlformats.org/officeDocument/2006/relationships/audio" Target="../media/media22.mp3"/><Relationship Id="rId11" Type="http://schemas.microsoft.com/office/2007/relationships/media" Target="../media/media25.wav"/><Relationship Id="rId5" Type="http://schemas.microsoft.com/office/2007/relationships/media" Target="../media/media22.mp3"/><Relationship Id="rId15" Type="http://schemas.microsoft.com/office/2007/relationships/media" Target="../media/media27.wav"/><Relationship Id="rId23" Type="http://schemas.openxmlformats.org/officeDocument/2006/relationships/image" Target="../media/image61.png"/><Relationship Id="rId10" Type="http://schemas.openxmlformats.org/officeDocument/2006/relationships/audio" Target="../media/media24.mp3"/><Relationship Id="rId19" Type="http://schemas.microsoft.com/office/2007/relationships/media" Target="../media/media29.mp3"/><Relationship Id="rId4" Type="http://schemas.openxmlformats.org/officeDocument/2006/relationships/audio" Target="../media/media21.wav"/><Relationship Id="rId9" Type="http://schemas.microsoft.com/office/2007/relationships/media" Target="../media/media24.mp3"/><Relationship Id="rId14" Type="http://schemas.openxmlformats.org/officeDocument/2006/relationships/audio" Target="../media/media26.mp3"/><Relationship Id="rId22" Type="http://schemas.openxmlformats.org/officeDocument/2006/relationships/notesSlide" Target="../notesSlides/notesSlide4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0.mp4"/><Relationship Id="rId1" Type="http://schemas.microsoft.com/office/2007/relationships/media" Target="../media/media30.mp4"/><Relationship Id="rId5" Type="http://schemas.openxmlformats.org/officeDocument/2006/relationships/image" Target="../media/image92.png"/><Relationship Id="rId4" Type="http://schemas.openxmlformats.org/officeDocument/2006/relationships/notesSlide" Target="../notesSlides/notesSlide47.xml"/></Relationships>
</file>

<file path=ppt/slides/_rels/slide9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93.png"/></Relationships>
</file>

<file path=ppt/slides/_rels/slide9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image" Target="../media/image93.png"/><Relationship Id="rId5" Type="http://schemas.openxmlformats.org/officeDocument/2006/relationships/image" Target="../media/image95.png"/><Relationship Id="rId4" Type="http://schemas.openxmlformats.org/officeDocument/2006/relationships/image" Target="../media/image94.png"/></Relationships>
</file>

<file path=ppt/slides/_rels/slide1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10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13.xml"/><Relationship Id="rId6" Type="http://schemas.openxmlformats.org/officeDocument/2006/relationships/image" Target="../media/image97.png"/><Relationship Id="rId5" Type="http://schemas.openxmlformats.org/officeDocument/2006/relationships/image" Target="../media/image98.png"/><Relationship Id="rId4" Type="http://schemas.openxmlformats.org/officeDocument/2006/relationships/image" Target="../media/image96.png"/></Relationships>
</file>

<file path=ppt/slides/_rels/slide10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100.jpg"/></Relationships>
</file>

<file path=ppt/slides/_rels/slide103.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45.jpg"/><Relationship Id="rId7" Type="http://schemas.openxmlformats.org/officeDocument/2006/relationships/image" Target="../media/image103.png"/><Relationship Id="rId2" Type="http://schemas.openxmlformats.org/officeDocument/2006/relationships/notesSlide" Target="../notesSlides/notesSlide53.xml"/><Relationship Id="rId1" Type="http://schemas.openxmlformats.org/officeDocument/2006/relationships/slideLayout" Target="../slideLayouts/slideLayout13.xml"/><Relationship Id="rId6" Type="http://schemas.openxmlformats.org/officeDocument/2006/relationships/image" Target="../media/image102.png"/><Relationship Id="rId11" Type="http://schemas.openxmlformats.org/officeDocument/2006/relationships/image" Target="../media/image98.png"/><Relationship Id="rId5" Type="http://schemas.openxmlformats.org/officeDocument/2006/relationships/image" Target="../media/image6.png"/><Relationship Id="rId10" Type="http://schemas.openxmlformats.org/officeDocument/2006/relationships/image" Target="../media/image106.png"/><Relationship Id="rId4" Type="http://schemas.openxmlformats.org/officeDocument/2006/relationships/image" Target="../media/image101.png"/><Relationship Id="rId9" Type="http://schemas.openxmlformats.org/officeDocument/2006/relationships/image" Target="../media/image10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image" Target="../media/image113.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115.png"/></Relationships>
</file>

<file path=ppt/slides/_rels/slide11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31.mp4"/><Relationship Id="rId1" Type="http://schemas.microsoft.com/office/2007/relationships/media" Target="../media/media31.mp4"/><Relationship Id="rId4" Type="http://schemas.openxmlformats.org/officeDocument/2006/relationships/image" Target="../media/image12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121.jpg"/><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1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3.xml"/><Relationship Id="rId5" Type="http://schemas.openxmlformats.org/officeDocument/2006/relationships/image" Target="../media/image100.jpg"/><Relationship Id="rId4" Type="http://schemas.openxmlformats.org/officeDocument/2006/relationships/image" Target="../media/image124.png"/></Relationships>
</file>

<file path=ppt/slides/_rels/slide127.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3" Type="http://schemas.openxmlformats.org/officeDocument/2006/relationships/image" Target="../media/image126.jp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128.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758048B4-3F65-4EB9-ABA8-099353BE8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1AE2FDE4-8ECB-4D0B-B871-D4EE5260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4" descr="Multi-coloured dialogue boxes">
            <a:extLst>
              <a:ext uri="{FF2B5EF4-FFF2-40B4-BE49-F238E27FC236}">
                <a16:creationId xmlns:a16="http://schemas.microsoft.com/office/drawing/2014/main" id="{1F195859-7E46-1983-72B0-9EC7B9B8EF1B}"/>
              </a:ext>
            </a:extLst>
          </p:cNvPr>
          <p:cNvPicPr>
            <a:picLocks noChangeAspect="1"/>
          </p:cNvPicPr>
          <p:nvPr/>
        </p:nvPicPr>
        <p:blipFill rotWithShape="1">
          <a:blip r:embed="rId3">
            <a:duotone>
              <a:prstClr val="black"/>
              <a:schemeClr val="bg1">
                <a:tint val="45000"/>
                <a:satMod val="400000"/>
              </a:schemeClr>
            </a:duotone>
            <a:alphaModFix amt="10000"/>
          </a:blip>
          <a:srcRect t="21357" b="6062"/>
          <a:stretch>
            <a:fillRect/>
          </a:stretch>
        </p:blipFill>
        <p:spPr>
          <a:xfrm>
            <a:off x="20" y="-1"/>
            <a:ext cx="12191980" cy="6858000"/>
          </a:xfrm>
          <a:prstGeom prst="rect">
            <a:avLst/>
          </a:prstGeom>
        </p:spPr>
      </p:pic>
      <p:sp>
        <p:nvSpPr>
          <p:cNvPr id="2" name="標題 1">
            <a:extLst>
              <a:ext uri="{FF2B5EF4-FFF2-40B4-BE49-F238E27FC236}">
                <a16:creationId xmlns:a16="http://schemas.microsoft.com/office/drawing/2014/main" id="{2E42D63E-A8B0-1B3F-7FB5-F58A4845AD81}"/>
              </a:ext>
            </a:extLst>
          </p:cNvPr>
          <p:cNvSpPr>
            <a:spLocks noGrp="1"/>
          </p:cNvSpPr>
          <p:nvPr>
            <p:ph type="ctrTitle"/>
          </p:nvPr>
        </p:nvSpPr>
        <p:spPr>
          <a:xfrm>
            <a:off x="732568" y="1169982"/>
            <a:ext cx="10530318" cy="2736390"/>
          </a:xfrm>
        </p:spPr>
        <p:txBody>
          <a:bodyPr anchor="b">
            <a:normAutofit/>
          </a:bodyPr>
          <a:lstStyle/>
          <a:p>
            <a:pPr algn="l"/>
            <a:r>
              <a:rPr lang="zh-TW" altLang="en-US" sz="8000">
                <a:solidFill>
                  <a:schemeClr val="tx2"/>
                </a:solidFill>
                <a:latin typeface="微軟正黑體" panose="020B0604030504040204" pitchFamily="34" charset="-120"/>
                <a:ea typeface="微軟正黑體" panose="020B0604030504040204" pitchFamily="34" charset="-120"/>
              </a:rPr>
              <a:t>語音語言模型的發展史</a:t>
            </a:r>
          </a:p>
        </p:txBody>
      </p:sp>
      <p:sp>
        <p:nvSpPr>
          <p:cNvPr id="3" name="副標題 2">
            <a:extLst>
              <a:ext uri="{FF2B5EF4-FFF2-40B4-BE49-F238E27FC236}">
                <a16:creationId xmlns:a16="http://schemas.microsoft.com/office/drawing/2014/main" id="{1A491171-B867-5E24-713A-CBF07C67D285}"/>
              </a:ext>
            </a:extLst>
          </p:cNvPr>
          <p:cNvSpPr>
            <a:spLocks noGrp="1"/>
          </p:cNvSpPr>
          <p:nvPr>
            <p:ph type="subTitle" idx="1"/>
          </p:nvPr>
        </p:nvSpPr>
        <p:spPr>
          <a:xfrm>
            <a:off x="732567" y="4067745"/>
            <a:ext cx="10530318" cy="1949813"/>
          </a:xfrm>
        </p:spPr>
        <p:txBody>
          <a:bodyPr anchor="t">
            <a:normAutofit/>
          </a:bodyPr>
          <a:lstStyle/>
          <a:p>
            <a:pPr algn="l"/>
            <a:r>
              <a:rPr lang="en-US" altLang="zh-TW" sz="4400" b="1" dirty="0">
                <a:solidFill>
                  <a:schemeClr val="tx2"/>
                </a:solidFill>
              </a:rPr>
              <a:t>Speaker: </a:t>
            </a:r>
          </a:p>
          <a:p>
            <a:pPr algn="l"/>
            <a:r>
              <a:rPr lang="en-US" altLang="zh-TW" sz="4400" b="1" dirty="0">
                <a:solidFill>
                  <a:schemeClr val="tx2"/>
                </a:solidFill>
              </a:rPr>
              <a:t>Hung-yi Lee </a:t>
            </a:r>
            <a:r>
              <a:rPr lang="zh-TW" altLang="en-US" sz="4400" b="1" dirty="0">
                <a:solidFill>
                  <a:schemeClr val="tx2"/>
                </a:solidFill>
                <a:latin typeface="微軟正黑體" panose="020B0604030504040204" pitchFamily="34" charset="-120"/>
                <a:ea typeface="微軟正黑體" panose="020B0604030504040204" pitchFamily="34" charset="-120"/>
              </a:rPr>
              <a:t>李宏毅</a:t>
            </a:r>
          </a:p>
        </p:txBody>
      </p:sp>
      <p:cxnSp>
        <p:nvCxnSpPr>
          <p:cNvPr id="57" name="Straight Connector 56">
            <a:extLst>
              <a:ext uri="{FF2B5EF4-FFF2-40B4-BE49-F238E27FC236}">
                <a16:creationId xmlns:a16="http://schemas.microsoft.com/office/drawing/2014/main" id="{3C86DB23-FEFE-4C3A-88FA-8E855AB1EE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BB22FAF-4B4F-40B1-97FF-67CD036C89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18488D89-E3BB-4E60-BF44-5F0BE92E3F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62" name="Straight Connector 61">
              <a:extLst>
                <a:ext uri="{FF2B5EF4-FFF2-40B4-BE49-F238E27FC236}">
                  <a16:creationId xmlns:a16="http://schemas.microsoft.com/office/drawing/2014/main" id="{98FA7B87-C151-46CF-9E07-DD4FD97175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99EB480-500C-4A3E-BED3-513B88DB01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265700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04C9E24-F67B-49D0-8336-BF12B36394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135FB8-81BC-449C-B26D-29BE2D6C2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22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314885F7-4E55-9503-4AF9-4687CC53B2E8}"/>
              </a:ext>
            </a:extLst>
          </p:cNvPr>
          <p:cNvSpPr>
            <a:spLocks noGrp="1"/>
          </p:cNvSpPr>
          <p:nvPr>
            <p:ph type="ctrTitle"/>
          </p:nvPr>
        </p:nvSpPr>
        <p:spPr>
          <a:xfrm>
            <a:off x="732568" y="1229196"/>
            <a:ext cx="10273850" cy="2677175"/>
          </a:xfrm>
        </p:spPr>
        <p:txBody>
          <a:bodyPr anchor="b">
            <a:normAutofit/>
          </a:bodyPr>
          <a:lstStyle/>
          <a:p>
            <a:pPr algn="l"/>
            <a:r>
              <a:rPr lang="zh-TW" altLang="en-US" sz="8000" dirty="0">
                <a:solidFill>
                  <a:schemeClr val="tx2"/>
                </a:solidFill>
                <a:latin typeface="微軟正黑體" panose="020B0604030504040204" pitchFamily="34" charset="-120"/>
                <a:ea typeface="微軟正黑體" panose="020B0604030504040204" pitchFamily="34" charset="-120"/>
              </a:rPr>
              <a:t>免責聲明</a:t>
            </a:r>
          </a:p>
        </p:txBody>
      </p:sp>
      <p:sp>
        <p:nvSpPr>
          <p:cNvPr id="3" name="副標題 2">
            <a:extLst>
              <a:ext uri="{FF2B5EF4-FFF2-40B4-BE49-F238E27FC236}">
                <a16:creationId xmlns:a16="http://schemas.microsoft.com/office/drawing/2014/main" id="{ED074BDF-0052-3C7F-F26C-B1C4F5B00EB5}"/>
              </a:ext>
            </a:extLst>
          </p:cNvPr>
          <p:cNvSpPr>
            <a:spLocks noGrp="1"/>
          </p:cNvSpPr>
          <p:nvPr>
            <p:ph type="subTitle" idx="1"/>
          </p:nvPr>
        </p:nvSpPr>
        <p:spPr>
          <a:xfrm>
            <a:off x="732567" y="4067745"/>
            <a:ext cx="10273851" cy="1949813"/>
          </a:xfrm>
        </p:spPr>
        <p:txBody>
          <a:bodyPr anchor="t">
            <a:normAutofit/>
          </a:bodyPr>
          <a:lstStyle/>
          <a:p>
            <a:pPr algn="l"/>
            <a:r>
              <a:rPr lang="zh-TW" altLang="en-US" sz="2800" dirty="0">
                <a:solidFill>
                  <a:schemeClr val="tx2"/>
                </a:solidFill>
                <a:latin typeface="微軟正黑體" panose="020B0604030504040204" pitchFamily="34" charset="-120"/>
                <a:ea typeface="微軟正黑體" panose="020B0604030504040204" pitchFamily="34" charset="-120"/>
              </a:rPr>
              <a:t>本課程並非完整介紹語音語言模型，而是以講者經驗講述語音語言模型的發展</a:t>
            </a:r>
            <a:endParaRPr lang="en-US" altLang="zh-TW" sz="2800" dirty="0">
              <a:solidFill>
                <a:schemeClr val="tx2"/>
              </a:solidFill>
              <a:latin typeface="微軟正黑體" panose="020B0604030504040204" pitchFamily="34" charset="-120"/>
              <a:ea typeface="微軟正黑體" panose="020B0604030504040204" pitchFamily="34" charset="-120"/>
            </a:endParaRPr>
          </a:p>
          <a:p>
            <a:pPr algn="l"/>
            <a:endParaRPr lang="zh-TW" altLang="en-US" sz="2800" dirty="0">
              <a:solidFill>
                <a:schemeClr val="tx2"/>
              </a:solidFill>
              <a:latin typeface="微軟正黑體" panose="020B0604030504040204" pitchFamily="34" charset="-120"/>
              <a:ea typeface="微軟正黑體" panose="020B0604030504040204" pitchFamily="34" charset="-120"/>
            </a:endParaRPr>
          </a:p>
        </p:txBody>
      </p:sp>
      <p:cxnSp>
        <p:nvCxnSpPr>
          <p:cNvPr id="14" name="Straight Connector 13">
            <a:extLst>
              <a:ext uri="{FF2B5EF4-FFF2-40B4-BE49-F238E27FC236}">
                <a16:creationId xmlns:a16="http://schemas.microsoft.com/office/drawing/2014/main" id="{81AD776D-FBA4-4C44-9778-05D5F0CCD7A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34BE9E8-A53B-4090-9C17-EB62E1FEC3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C4E0722C-3D21-4088-883B-5FD8091BC3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19" name="Straight Connector 18">
              <a:extLst>
                <a:ext uri="{FF2B5EF4-FFF2-40B4-BE49-F238E27FC236}">
                  <a16:creationId xmlns:a16="http://schemas.microsoft.com/office/drawing/2014/main" id="{71110841-BFDD-476D-9A44-3AC7C0E018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5493FDB-F2C3-4517-9FC6-6668C21742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956363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CDC132-5AE9-3B6A-3548-F038E26662BB}"/>
              </a:ext>
            </a:extLst>
          </p:cNvPr>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cs typeface="Times New Roman" panose="02020603050405020304" pitchFamily="18" charset="0"/>
              </a:rPr>
              <a:t>語音語言模型 </a:t>
            </a:r>
            <a:r>
              <a:rPr lang="en-US" altLang="zh-TW" dirty="0">
                <a:latin typeface="微軟正黑體" panose="020B0604030504040204" pitchFamily="34" charset="-120"/>
                <a:ea typeface="微軟正黑體" panose="020B0604030504040204" pitchFamily="34" charset="-120"/>
                <a:cs typeface="Times New Roman" panose="02020603050405020304" pitchFamily="18" charset="0"/>
              </a:rPr>
              <a:t>(Speech Language Model)</a:t>
            </a:r>
            <a:endParaRPr lang="zh-TW" altLang="en-US"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7" name="矩形: 圓角 6">
            <a:extLst>
              <a:ext uri="{FF2B5EF4-FFF2-40B4-BE49-F238E27FC236}">
                <a16:creationId xmlns:a16="http://schemas.microsoft.com/office/drawing/2014/main" id="{9B32D1A4-A4C0-9EA8-91FD-1C49800F6C64}"/>
              </a:ext>
            </a:extLst>
          </p:cNvPr>
          <p:cNvSpPr/>
          <p:nvPr/>
        </p:nvSpPr>
        <p:spPr>
          <a:xfrm>
            <a:off x="5328198" y="2192670"/>
            <a:ext cx="1907809" cy="1236330"/>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 name="直線單箭頭接點 7">
            <a:extLst>
              <a:ext uri="{FF2B5EF4-FFF2-40B4-BE49-F238E27FC236}">
                <a16:creationId xmlns:a16="http://schemas.microsoft.com/office/drawing/2014/main" id="{CE7ECC97-2B1D-16F6-1DA7-7CC8D34D6D26}"/>
              </a:ext>
            </a:extLst>
          </p:cNvPr>
          <p:cNvCxnSpPr>
            <a:cxnSpLocks/>
          </p:cNvCxnSpPr>
          <p:nvPr/>
        </p:nvCxnSpPr>
        <p:spPr>
          <a:xfrm>
            <a:off x="7331257" y="2785038"/>
            <a:ext cx="817728" cy="0"/>
          </a:xfrm>
          <a:prstGeom prst="straightConnector1">
            <a:avLst/>
          </a:prstGeom>
          <a:noFill/>
          <a:ln w="57150" cap="flat" cmpd="sng" algn="ctr">
            <a:solidFill>
              <a:sysClr val="windowText" lastClr="000000"/>
            </a:solidFill>
            <a:prstDash val="solid"/>
            <a:miter lim="800000"/>
            <a:tailEnd type="triangle"/>
          </a:ln>
          <a:effectLst/>
        </p:spPr>
      </p:cxnSp>
      <p:cxnSp>
        <p:nvCxnSpPr>
          <p:cNvPr id="9" name="直線單箭頭接點 8">
            <a:extLst>
              <a:ext uri="{FF2B5EF4-FFF2-40B4-BE49-F238E27FC236}">
                <a16:creationId xmlns:a16="http://schemas.microsoft.com/office/drawing/2014/main" id="{2A754F4E-86B3-507C-B13F-B1FE86BC5642}"/>
              </a:ext>
            </a:extLst>
          </p:cNvPr>
          <p:cNvCxnSpPr>
            <a:cxnSpLocks/>
          </p:cNvCxnSpPr>
          <p:nvPr/>
        </p:nvCxnSpPr>
        <p:spPr>
          <a:xfrm>
            <a:off x="4397557" y="2785038"/>
            <a:ext cx="817728" cy="0"/>
          </a:xfrm>
          <a:prstGeom prst="straightConnector1">
            <a:avLst/>
          </a:prstGeom>
          <a:noFill/>
          <a:ln w="57150" cap="flat" cmpd="sng" algn="ctr">
            <a:solidFill>
              <a:sysClr val="windowText" lastClr="000000"/>
            </a:solidFill>
            <a:prstDash val="solid"/>
            <a:miter lim="800000"/>
            <a:tailEnd type="triangle"/>
          </a:ln>
          <a:effectLst/>
        </p:spPr>
      </p:cxnSp>
      <p:sp>
        <p:nvSpPr>
          <p:cNvPr id="10" name="矩形: 圓角 9">
            <a:extLst>
              <a:ext uri="{FF2B5EF4-FFF2-40B4-BE49-F238E27FC236}">
                <a16:creationId xmlns:a16="http://schemas.microsoft.com/office/drawing/2014/main" id="{31EACBB7-0845-E1AC-8B40-2C2B59780458}"/>
              </a:ext>
            </a:extLst>
          </p:cNvPr>
          <p:cNvSpPr/>
          <p:nvPr/>
        </p:nvSpPr>
        <p:spPr>
          <a:xfrm>
            <a:off x="5328198" y="4646013"/>
            <a:ext cx="1907809"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1" name="直線單箭頭接點 10">
            <a:extLst>
              <a:ext uri="{FF2B5EF4-FFF2-40B4-BE49-F238E27FC236}">
                <a16:creationId xmlns:a16="http://schemas.microsoft.com/office/drawing/2014/main" id="{4359E407-F194-26DE-E511-F40239001B98}"/>
              </a:ext>
            </a:extLst>
          </p:cNvPr>
          <p:cNvCxnSpPr>
            <a:cxnSpLocks/>
          </p:cNvCxnSpPr>
          <p:nvPr/>
        </p:nvCxnSpPr>
        <p:spPr>
          <a:xfrm>
            <a:off x="4408428" y="5275297"/>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194C6C14-297C-DB14-364C-FBC2D56F8F98}"/>
              </a:ext>
            </a:extLst>
          </p:cNvPr>
          <p:cNvCxnSpPr>
            <a:cxnSpLocks/>
          </p:cNvCxnSpPr>
          <p:nvPr/>
        </p:nvCxnSpPr>
        <p:spPr>
          <a:xfrm>
            <a:off x="7331257" y="5275297"/>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2">
            <a:extLst>
              <a:ext uri="{FF2B5EF4-FFF2-40B4-BE49-F238E27FC236}">
                <a16:creationId xmlns:a16="http://schemas.microsoft.com/office/drawing/2014/main" id="{8FFC7D98-78F9-4E4D-9D2F-9B8F32FF6C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756" y="4189890"/>
            <a:ext cx="2170814" cy="217081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E571F18D-9AED-AB4D-D3F1-130C87960967}"/>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8244235" y="4189890"/>
            <a:ext cx="2170814" cy="217081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F3251CFC-5358-03FD-82B4-B33997C03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0042" y="205851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a:extLst>
              <a:ext uri="{FF2B5EF4-FFF2-40B4-BE49-F238E27FC236}">
                <a16:creationId xmlns:a16="http://schemas.microsoft.com/office/drawing/2014/main" id="{EC13C49E-6230-993B-8C50-EE084B54027B}"/>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501563" y="2058510"/>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60973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49B87B-10EA-673F-E7B7-56DBF26157E9}"/>
              </a:ext>
            </a:extLst>
          </p:cNvPr>
          <p:cNvSpPr>
            <a:spLocks noGrp="1"/>
          </p:cNvSpPr>
          <p:nvPr>
            <p:ph type="title"/>
          </p:nvPr>
        </p:nvSpPr>
        <p:spPr/>
        <p:txBody>
          <a:bodyPr/>
          <a:lstStyle/>
          <a:p>
            <a:endParaRPr lang="zh-TW" altLang="en-US" dirty="0"/>
          </a:p>
        </p:txBody>
      </p:sp>
      <p:sp>
        <p:nvSpPr>
          <p:cNvPr id="4" name="內容版面配置區 2">
            <a:extLst>
              <a:ext uri="{FF2B5EF4-FFF2-40B4-BE49-F238E27FC236}">
                <a16:creationId xmlns:a16="http://schemas.microsoft.com/office/drawing/2014/main" id="{5C7800EE-55E9-640D-4D0B-8EF9B2E116C5}"/>
              </a:ext>
            </a:extLst>
          </p:cNvPr>
          <p:cNvSpPr txBox="1">
            <a:spLocks/>
          </p:cNvSpPr>
          <p:nvPr/>
        </p:nvSpPr>
        <p:spPr>
          <a:xfrm>
            <a:off x="6782599" y="247398"/>
            <a:ext cx="5079904" cy="636320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600" dirty="0">
                <a:solidFill>
                  <a:srgbClr val="000000"/>
                </a:solidFill>
              </a:rPr>
              <a:t>Moshi</a:t>
            </a:r>
          </a:p>
          <a:p>
            <a:pPr lvl="1"/>
            <a:r>
              <a:rPr lang="en-US" altLang="zh-TW" sz="1900" dirty="0">
                <a:solidFill>
                  <a:srgbClr val="000000"/>
                </a:solidFill>
              </a:rPr>
              <a:t>https://arxiv.org/abs/2410.00037</a:t>
            </a:r>
          </a:p>
          <a:p>
            <a:r>
              <a:rPr lang="en-US" altLang="zh-TW" dirty="0">
                <a:latin typeface="season"/>
              </a:rPr>
              <a:t>Sesame</a:t>
            </a:r>
            <a:endParaRPr lang="zh-TW" altLang="en-US" dirty="0"/>
          </a:p>
          <a:p>
            <a:pPr lvl="1"/>
            <a:r>
              <a:rPr lang="zh-TW" altLang="en-US" sz="1900" dirty="0">
                <a:solidFill>
                  <a:srgbClr val="000000"/>
                </a:solidFill>
              </a:rPr>
              <a:t>https://www.sesame.com/research/crossing_the_uncanny_valley_of_voice</a:t>
            </a:r>
          </a:p>
          <a:p>
            <a:r>
              <a:rPr lang="en-US" altLang="zh-TW" sz="2600" dirty="0">
                <a:solidFill>
                  <a:srgbClr val="000000"/>
                </a:solidFill>
              </a:rPr>
              <a:t>GLM-4-Voice</a:t>
            </a:r>
          </a:p>
          <a:p>
            <a:pPr lvl="1"/>
            <a:r>
              <a:rPr lang="en-US" altLang="zh-TW" sz="1900" dirty="0">
                <a:solidFill>
                  <a:srgbClr val="000000"/>
                </a:solidFill>
              </a:rPr>
              <a:t>https://arxiv.org/abs/2412.02612</a:t>
            </a:r>
          </a:p>
          <a:p>
            <a:r>
              <a:rPr lang="en-US" altLang="zh-TW" sz="2600" dirty="0">
                <a:solidFill>
                  <a:srgbClr val="000000"/>
                </a:solidFill>
              </a:rPr>
              <a:t>Step-Audio</a:t>
            </a:r>
          </a:p>
          <a:p>
            <a:pPr lvl="1"/>
            <a:r>
              <a:rPr lang="en-US" altLang="zh-TW" sz="1900" dirty="0">
                <a:solidFill>
                  <a:srgbClr val="000000"/>
                </a:solidFill>
              </a:rPr>
              <a:t>https://arxiv.org/abs/2502.11946</a:t>
            </a:r>
          </a:p>
          <a:p>
            <a:r>
              <a:rPr lang="en-US" altLang="zh-TW" sz="2600" dirty="0">
                <a:solidFill>
                  <a:srgbClr val="000000"/>
                </a:solidFill>
              </a:rPr>
              <a:t>Qwen2.5-Omni </a:t>
            </a:r>
          </a:p>
          <a:p>
            <a:pPr lvl="1"/>
            <a:r>
              <a:rPr lang="en-US" altLang="zh-TW" sz="1900" dirty="0">
                <a:solidFill>
                  <a:srgbClr val="000000"/>
                </a:solidFill>
              </a:rPr>
              <a:t>https://arxiv.org/abs/2503.20215</a:t>
            </a:r>
          </a:p>
          <a:p>
            <a:r>
              <a:rPr lang="en-US" altLang="zh-TW" sz="2600" dirty="0">
                <a:solidFill>
                  <a:srgbClr val="000000"/>
                </a:solidFill>
              </a:rPr>
              <a:t>Kimi-Audio </a:t>
            </a:r>
          </a:p>
          <a:p>
            <a:pPr lvl="1"/>
            <a:r>
              <a:rPr lang="en-US" altLang="zh-TW" sz="1900" dirty="0">
                <a:solidFill>
                  <a:srgbClr val="000000"/>
                </a:solidFill>
              </a:rPr>
              <a:t>https://arxiv.org/abs/2504.18425</a:t>
            </a:r>
          </a:p>
          <a:p>
            <a:r>
              <a:rPr lang="zh-TW" altLang="en-US" sz="2600" dirty="0"/>
              <a:t>SpeechGPT</a:t>
            </a:r>
            <a:endParaRPr lang="en-US" altLang="zh-TW" sz="2600" dirty="0"/>
          </a:p>
          <a:p>
            <a:pPr lvl="1"/>
            <a:r>
              <a:rPr lang="zh-TW" altLang="en-US" sz="1900" dirty="0">
                <a:solidFill>
                  <a:srgbClr val="000000"/>
                </a:solidFill>
              </a:rPr>
              <a:t>https://github.com/OpenMOSS/SpeechGPT-2.0-preview</a:t>
            </a:r>
          </a:p>
          <a:p>
            <a:r>
              <a:rPr lang="en-US" altLang="zh-TW" sz="2600" dirty="0" err="1"/>
              <a:t>Doubao</a:t>
            </a:r>
            <a:r>
              <a:rPr lang="en-US" altLang="zh-TW" sz="2600" dirty="0"/>
              <a:t> Realtime Voice Model</a:t>
            </a:r>
          </a:p>
          <a:p>
            <a:pPr lvl="1"/>
            <a:r>
              <a:rPr lang="en-US" altLang="zh-TW" sz="1900" dirty="0">
                <a:solidFill>
                  <a:srgbClr val="000000"/>
                </a:solidFill>
              </a:rPr>
              <a:t>https://seed.bytedance.com/en/realtime_voice</a:t>
            </a:r>
          </a:p>
        </p:txBody>
      </p:sp>
      <p:pic>
        <p:nvPicPr>
          <p:cNvPr id="5" name="內容版面配置區 6" descr="一張含有 螢幕擷取畫面, 文字, 設計 的圖片&#10;&#10;AI 產生的內容可能不正確。">
            <a:extLst>
              <a:ext uri="{FF2B5EF4-FFF2-40B4-BE49-F238E27FC236}">
                <a16:creationId xmlns:a16="http://schemas.microsoft.com/office/drawing/2014/main" id="{CD0A4F3F-3E4C-62CA-9AA2-EF84A904E93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365125"/>
            <a:ext cx="2584272" cy="56025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圖片 5" descr="一張含有 文字, 螢幕擷取畫面, 行動電話, 多媒體 的圖片&#10;&#10;AI 產生的內容可能不正確。">
            <a:extLst>
              <a:ext uri="{FF2B5EF4-FFF2-40B4-BE49-F238E27FC236}">
                <a16:creationId xmlns:a16="http://schemas.microsoft.com/office/drawing/2014/main" id="{594A3C7D-1430-B967-22BE-7BE1E60EA3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3634" y="365125"/>
            <a:ext cx="2584272" cy="5602545"/>
          </a:xfrm>
          <a:prstGeom prst="rect">
            <a:avLst/>
          </a:prstGeom>
        </p:spPr>
      </p:pic>
      <p:sp>
        <p:nvSpPr>
          <p:cNvPr id="7" name="文字方塊 6">
            <a:extLst>
              <a:ext uri="{FF2B5EF4-FFF2-40B4-BE49-F238E27FC236}">
                <a16:creationId xmlns:a16="http://schemas.microsoft.com/office/drawing/2014/main" id="{308BAAD1-F2CC-D861-21A7-E7521EF48C4C}"/>
              </a:ext>
            </a:extLst>
          </p:cNvPr>
          <p:cNvSpPr txBox="1"/>
          <p:nvPr/>
        </p:nvSpPr>
        <p:spPr>
          <a:xfrm>
            <a:off x="774965" y="6009418"/>
            <a:ext cx="2710741" cy="830997"/>
          </a:xfrm>
          <a:prstGeom prst="rect">
            <a:avLst/>
          </a:prstGeom>
          <a:noFill/>
        </p:spPr>
        <p:txBody>
          <a:bodyPr wrap="square" rtlCol="0">
            <a:spAutoFit/>
          </a:bodyPr>
          <a:lstStyle/>
          <a:p>
            <a:pPr algn="ctr"/>
            <a:r>
              <a:rPr lang="en-US" altLang="zh-TW" sz="2400" dirty="0"/>
              <a:t>ChatGPT</a:t>
            </a:r>
          </a:p>
          <a:p>
            <a:pPr algn="ctr"/>
            <a:r>
              <a:rPr lang="en-US" altLang="zh-TW" sz="2400" dirty="0"/>
              <a:t>voice mode</a:t>
            </a:r>
            <a:endParaRPr lang="zh-TW" altLang="en-US" sz="2400" dirty="0"/>
          </a:p>
        </p:txBody>
      </p:sp>
      <p:sp>
        <p:nvSpPr>
          <p:cNvPr id="8" name="文字方塊 7">
            <a:extLst>
              <a:ext uri="{FF2B5EF4-FFF2-40B4-BE49-F238E27FC236}">
                <a16:creationId xmlns:a16="http://schemas.microsoft.com/office/drawing/2014/main" id="{D2835995-180B-77AD-084E-14F178D4DDDE}"/>
              </a:ext>
            </a:extLst>
          </p:cNvPr>
          <p:cNvSpPr txBox="1"/>
          <p:nvPr/>
        </p:nvSpPr>
        <p:spPr>
          <a:xfrm>
            <a:off x="3747165" y="5967670"/>
            <a:ext cx="2710741" cy="830997"/>
          </a:xfrm>
          <a:prstGeom prst="rect">
            <a:avLst/>
          </a:prstGeom>
          <a:noFill/>
        </p:spPr>
        <p:txBody>
          <a:bodyPr wrap="square" rtlCol="0">
            <a:spAutoFit/>
          </a:bodyPr>
          <a:lstStyle/>
          <a:p>
            <a:pPr algn="ctr"/>
            <a:r>
              <a:rPr lang="en-US" altLang="zh-TW" sz="2400" dirty="0"/>
              <a:t>Gemini</a:t>
            </a:r>
          </a:p>
          <a:p>
            <a:pPr algn="ctr"/>
            <a:r>
              <a:rPr lang="en-US" altLang="zh-TW" sz="2400" dirty="0"/>
              <a:t>Live</a:t>
            </a:r>
            <a:endParaRPr lang="zh-TW" altLang="en-US" sz="2400" dirty="0"/>
          </a:p>
        </p:txBody>
      </p:sp>
      <p:sp>
        <p:nvSpPr>
          <p:cNvPr id="10" name="文字方塊 9">
            <a:extLst>
              <a:ext uri="{FF2B5EF4-FFF2-40B4-BE49-F238E27FC236}">
                <a16:creationId xmlns:a16="http://schemas.microsoft.com/office/drawing/2014/main" id="{DECF9A5C-443D-9F00-6C88-B045AB805D04}"/>
              </a:ext>
            </a:extLst>
          </p:cNvPr>
          <p:cNvSpPr txBox="1"/>
          <p:nvPr/>
        </p:nvSpPr>
        <p:spPr>
          <a:xfrm>
            <a:off x="9430105" y="6308209"/>
            <a:ext cx="6093068" cy="369332"/>
          </a:xfrm>
          <a:prstGeom prst="rect">
            <a:avLst/>
          </a:prstGeom>
          <a:noFill/>
        </p:spPr>
        <p:txBody>
          <a:bodyPr wrap="square">
            <a:spAutoFit/>
          </a:bodyPr>
          <a:lstStyle/>
          <a:p>
            <a:r>
              <a:rPr lang="zh-TW" altLang="en-US" dirty="0"/>
              <a:t> </a:t>
            </a:r>
            <a:r>
              <a:rPr lang="en-US" altLang="zh-TW" dirty="0"/>
              <a:t>…… just to name a few</a:t>
            </a:r>
            <a:endParaRPr lang="zh-TW" altLang="en-US" dirty="0"/>
          </a:p>
        </p:txBody>
      </p:sp>
    </p:spTree>
    <p:extLst>
      <p:ext uri="{BB962C8B-B14F-4D97-AF65-F5344CB8AC3E}">
        <p14:creationId xmlns:p14="http://schemas.microsoft.com/office/powerpoint/2010/main" val="9221630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8E73E1-F3F5-0CF8-46E7-8454EC55C9F2}"/>
              </a:ext>
            </a:extLst>
          </p:cNvPr>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cs typeface="Times New Roman" panose="02020603050405020304" pitchFamily="18" charset="0"/>
              </a:rPr>
              <a:t>語音語言模型 </a:t>
            </a:r>
            <a:r>
              <a:rPr lang="en-US" altLang="zh-TW" dirty="0">
                <a:latin typeface="微軟正黑體" panose="020B0604030504040204" pitchFamily="34" charset="-120"/>
                <a:ea typeface="微軟正黑體" panose="020B0604030504040204" pitchFamily="34" charset="-120"/>
                <a:cs typeface="Times New Roman" panose="02020603050405020304" pitchFamily="18" charset="0"/>
              </a:rPr>
              <a:t>(Speech Language Model)</a:t>
            </a:r>
            <a:endParaRPr lang="zh-TW" altLang="en-US" dirty="0"/>
          </a:p>
        </p:txBody>
      </p:sp>
      <p:cxnSp>
        <p:nvCxnSpPr>
          <p:cNvPr id="11" name="直線單箭頭接點 10">
            <a:extLst>
              <a:ext uri="{FF2B5EF4-FFF2-40B4-BE49-F238E27FC236}">
                <a16:creationId xmlns:a16="http://schemas.microsoft.com/office/drawing/2014/main" id="{2C8EA64E-E77A-5EF6-222F-8238E3AB5FFE}"/>
              </a:ext>
            </a:extLst>
          </p:cNvPr>
          <p:cNvCxnSpPr/>
          <p:nvPr/>
        </p:nvCxnSpPr>
        <p:spPr>
          <a:xfrm>
            <a:off x="5760075" y="2896315"/>
            <a:ext cx="725214" cy="0"/>
          </a:xfrm>
          <a:prstGeom prst="straightConnector1">
            <a:avLst/>
          </a:prstGeom>
          <a:noFill/>
          <a:ln w="57150" cap="flat" cmpd="sng" algn="ctr">
            <a:solidFill>
              <a:sysClr val="windowText" lastClr="000000"/>
            </a:solidFill>
            <a:prstDash val="solid"/>
            <a:miter lim="800000"/>
            <a:tailEnd type="triangle"/>
          </a:ln>
          <a:effectLst/>
        </p:spPr>
      </p:cxnSp>
      <p:cxnSp>
        <p:nvCxnSpPr>
          <p:cNvPr id="12" name="直線單箭頭接點 11">
            <a:extLst>
              <a:ext uri="{FF2B5EF4-FFF2-40B4-BE49-F238E27FC236}">
                <a16:creationId xmlns:a16="http://schemas.microsoft.com/office/drawing/2014/main" id="{F702DAAB-914F-13F9-6785-59AADAEBFDC2}"/>
              </a:ext>
            </a:extLst>
          </p:cNvPr>
          <p:cNvCxnSpPr/>
          <p:nvPr/>
        </p:nvCxnSpPr>
        <p:spPr>
          <a:xfrm>
            <a:off x="8408864" y="2896315"/>
            <a:ext cx="725214" cy="0"/>
          </a:xfrm>
          <a:prstGeom prst="straightConnector1">
            <a:avLst/>
          </a:prstGeom>
          <a:noFill/>
          <a:ln w="57150" cap="flat" cmpd="sng" algn="ctr">
            <a:solidFill>
              <a:sysClr val="windowText" lastClr="000000"/>
            </a:solidFill>
            <a:prstDash val="solid"/>
            <a:miter lim="800000"/>
            <a:tailEnd type="triangle"/>
          </a:ln>
          <a:effectLst/>
        </p:spPr>
      </p:cxnSp>
      <p:grpSp>
        <p:nvGrpSpPr>
          <p:cNvPr id="13" name="群組 12">
            <a:extLst>
              <a:ext uri="{FF2B5EF4-FFF2-40B4-BE49-F238E27FC236}">
                <a16:creationId xmlns:a16="http://schemas.microsoft.com/office/drawing/2014/main" id="{7B814510-D64A-3C59-D306-5B81CC5C4724}"/>
              </a:ext>
            </a:extLst>
          </p:cNvPr>
          <p:cNvGrpSpPr/>
          <p:nvPr/>
        </p:nvGrpSpPr>
        <p:grpSpPr>
          <a:xfrm>
            <a:off x="9230270" y="2461972"/>
            <a:ext cx="2281792" cy="800588"/>
            <a:chOff x="393073" y="5022255"/>
            <a:chExt cx="2117030" cy="878286"/>
          </a:xfrm>
        </p:grpSpPr>
        <p:pic>
          <p:nvPicPr>
            <p:cNvPr id="14"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D94FF775-49BB-1007-FD37-C8BDE4F0E513}"/>
                </a:ext>
              </a:extLst>
            </p:cNvPr>
            <p:cNvPicPr preferRelativeResize="0"/>
            <p:nvPr/>
          </p:nvPicPr>
          <p:blipFill rotWithShape="1">
            <a:blip r:embed="rId2">
              <a:alphaModFix/>
              <a:duotone>
                <a:srgbClr val="70AD47">
                  <a:shade val="45000"/>
                  <a:satMod val="135000"/>
                </a:srgbClr>
                <a:prstClr val="white"/>
              </a:duotone>
            </a:blip>
            <a:srcRect l="39924" t="74586" r="38724" b="15732"/>
            <a:stretch/>
          </p:blipFill>
          <p:spPr>
            <a:xfrm>
              <a:off x="393073" y="5022255"/>
              <a:ext cx="1347649" cy="809022"/>
            </a:xfrm>
            <a:prstGeom prst="rect">
              <a:avLst/>
            </a:prstGeom>
            <a:noFill/>
            <a:ln>
              <a:noFill/>
            </a:ln>
          </p:spPr>
        </p:pic>
        <p:pic>
          <p:nvPicPr>
            <p:cNvPr id="15"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E2F40DD9-07E4-D90E-C63D-227DCBE1A020}"/>
                </a:ext>
              </a:extLst>
            </p:cNvPr>
            <p:cNvPicPr preferRelativeResize="0"/>
            <p:nvPr/>
          </p:nvPicPr>
          <p:blipFill rotWithShape="1">
            <a:blip r:embed="rId2">
              <a:alphaModFix/>
              <a:duotone>
                <a:srgbClr val="70AD47">
                  <a:shade val="45000"/>
                  <a:satMod val="135000"/>
                </a:srgbClr>
                <a:prstClr val="white"/>
              </a:duotone>
            </a:blip>
            <a:srcRect l="35083" t="84591" r="35071" b="1174"/>
            <a:stretch/>
          </p:blipFill>
          <p:spPr>
            <a:xfrm>
              <a:off x="1576011" y="5095308"/>
              <a:ext cx="934092" cy="805233"/>
            </a:xfrm>
            <a:prstGeom prst="rect">
              <a:avLst/>
            </a:prstGeom>
            <a:noFill/>
            <a:ln>
              <a:noFill/>
            </a:ln>
          </p:spPr>
        </p:pic>
      </p:grpSp>
      <p:grpSp>
        <p:nvGrpSpPr>
          <p:cNvPr id="16" name="群組 15">
            <a:extLst>
              <a:ext uri="{FF2B5EF4-FFF2-40B4-BE49-F238E27FC236}">
                <a16:creationId xmlns:a16="http://schemas.microsoft.com/office/drawing/2014/main" id="{64F6CD2E-1687-7A5E-D425-9C39671EE8C7}"/>
              </a:ext>
            </a:extLst>
          </p:cNvPr>
          <p:cNvGrpSpPr/>
          <p:nvPr/>
        </p:nvGrpSpPr>
        <p:grpSpPr>
          <a:xfrm>
            <a:off x="3478969" y="2514489"/>
            <a:ext cx="2183765" cy="734878"/>
            <a:chOff x="393073" y="5022255"/>
            <a:chExt cx="2117030" cy="878286"/>
          </a:xfrm>
        </p:grpSpPr>
        <p:pic>
          <p:nvPicPr>
            <p:cNvPr id="17"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140A70B7-83AB-D36E-C6D4-3091A2A99B27}"/>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18"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F4F06F5-EB64-EB6C-0E9F-EE4923D1CB3A}"/>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sp>
        <p:nvSpPr>
          <p:cNvPr id="19" name="文字方塊 18">
            <a:extLst>
              <a:ext uri="{FF2B5EF4-FFF2-40B4-BE49-F238E27FC236}">
                <a16:creationId xmlns:a16="http://schemas.microsoft.com/office/drawing/2014/main" id="{E8281C1A-5ABA-2E90-CC41-A33D9637C26D}"/>
              </a:ext>
            </a:extLst>
          </p:cNvPr>
          <p:cNvSpPr txBox="1"/>
          <p:nvPr/>
        </p:nvSpPr>
        <p:spPr>
          <a:xfrm>
            <a:off x="3711115" y="3162322"/>
            <a:ext cx="1759453" cy="369332"/>
          </a:xfrm>
          <a:prstGeom prst="rect">
            <a:avLst/>
          </a:prstGeom>
          <a:noFill/>
        </p:spPr>
        <p:txBody>
          <a:bodyPr wrap="square" rtlCol="0">
            <a:spAutoFit/>
          </a:bodyPr>
          <a:lstStyle/>
          <a:p>
            <a:pPr algn="ctr"/>
            <a:r>
              <a:rPr lang="en-US" altLang="zh-TW" dirty="0"/>
              <a:t>How are you?</a:t>
            </a:r>
            <a:endParaRPr lang="zh-TW" altLang="en-US" dirty="0"/>
          </a:p>
        </p:txBody>
      </p:sp>
      <p:sp>
        <p:nvSpPr>
          <p:cNvPr id="20" name="文字方塊 19">
            <a:extLst>
              <a:ext uri="{FF2B5EF4-FFF2-40B4-BE49-F238E27FC236}">
                <a16:creationId xmlns:a16="http://schemas.microsoft.com/office/drawing/2014/main" id="{F6F772A6-2373-02D3-5A72-9DF74D8FA2B1}"/>
              </a:ext>
            </a:extLst>
          </p:cNvPr>
          <p:cNvSpPr txBox="1"/>
          <p:nvPr/>
        </p:nvSpPr>
        <p:spPr>
          <a:xfrm>
            <a:off x="9683866" y="3191413"/>
            <a:ext cx="1362636" cy="369332"/>
          </a:xfrm>
          <a:prstGeom prst="rect">
            <a:avLst/>
          </a:prstGeom>
          <a:noFill/>
        </p:spPr>
        <p:txBody>
          <a:bodyPr wrap="square" rtlCol="0">
            <a:spAutoFit/>
          </a:bodyPr>
          <a:lstStyle/>
          <a:p>
            <a:pPr algn="ctr"/>
            <a:r>
              <a:rPr lang="en-US" altLang="zh-TW" dirty="0"/>
              <a:t>I</a:t>
            </a:r>
            <a:r>
              <a:rPr lang="zh-TW" altLang="en-US" dirty="0"/>
              <a:t> </a:t>
            </a:r>
            <a:r>
              <a:rPr lang="en-US" altLang="zh-TW" dirty="0"/>
              <a:t>am good.</a:t>
            </a:r>
            <a:endParaRPr lang="zh-TW" altLang="en-US" dirty="0"/>
          </a:p>
        </p:txBody>
      </p:sp>
      <p:sp>
        <p:nvSpPr>
          <p:cNvPr id="21" name="矩形: 圓角 20">
            <a:extLst>
              <a:ext uri="{FF2B5EF4-FFF2-40B4-BE49-F238E27FC236}">
                <a16:creationId xmlns:a16="http://schemas.microsoft.com/office/drawing/2014/main" id="{D8A06000-3399-E58F-D6B5-5FE5454494C9}"/>
              </a:ext>
            </a:extLst>
          </p:cNvPr>
          <p:cNvSpPr/>
          <p:nvPr/>
        </p:nvSpPr>
        <p:spPr>
          <a:xfrm>
            <a:off x="6603141" y="2277396"/>
            <a:ext cx="1686722"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2" name="直線單箭頭接點 21">
            <a:extLst>
              <a:ext uri="{FF2B5EF4-FFF2-40B4-BE49-F238E27FC236}">
                <a16:creationId xmlns:a16="http://schemas.microsoft.com/office/drawing/2014/main" id="{496F2912-9097-0834-93C3-C9312578FFC1}"/>
              </a:ext>
            </a:extLst>
          </p:cNvPr>
          <p:cNvCxnSpPr/>
          <p:nvPr/>
        </p:nvCxnSpPr>
        <p:spPr>
          <a:xfrm>
            <a:off x="5760075" y="5110097"/>
            <a:ext cx="725214" cy="0"/>
          </a:xfrm>
          <a:prstGeom prst="straightConnector1">
            <a:avLst/>
          </a:prstGeom>
          <a:noFill/>
          <a:ln w="57150" cap="flat" cmpd="sng" algn="ctr">
            <a:solidFill>
              <a:sysClr val="windowText" lastClr="000000"/>
            </a:solidFill>
            <a:prstDash val="solid"/>
            <a:miter lim="800000"/>
            <a:tailEnd type="triangle"/>
          </a:ln>
          <a:effectLst/>
        </p:spPr>
      </p:cxnSp>
      <p:cxnSp>
        <p:nvCxnSpPr>
          <p:cNvPr id="23" name="直線單箭頭接點 22">
            <a:extLst>
              <a:ext uri="{FF2B5EF4-FFF2-40B4-BE49-F238E27FC236}">
                <a16:creationId xmlns:a16="http://schemas.microsoft.com/office/drawing/2014/main" id="{95F73A55-6516-A122-0309-4506516DB53B}"/>
              </a:ext>
            </a:extLst>
          </p:cNvPr>
          <p:cNvCxnSpPr/>
          <p:nvPr/>
        </p:nvCxnSpPr>
        <p:spPr>
          <a:xfrm>
            <a:off x="8408864" y="5110097"/>
            <a:ext cx="725214" cy="0"/>
          </a:xfrm>
          <a:prstGeom prst="straightConnector1">
            <a:avLst/>
          </a:prstGeom>
          <a:noFill/>
          <a:ln w="57150" cap="flat" cmpd="sng" algn="ctr">
            <a:solidFill>
              <a:sysClr val="windowText" lastClr="000000"/>
            </a:solidFill>
            <a:prstDash val="solid"/>
            <a:miter lim="800000"/>
            <a:tailEnd type="triangle"/>
          </a:ln>
          <a:effectLst/>
        </p:spPr>
      </p:cxnSp>
      <p:grpSp>
        <p:nvGrpSpPr>
          <p:cNvPr id="27" name="群組 26">
            <a:extLst>
              <a:ext uri="{FF2B5EF4-FFF2-40B4-BE49-F238E27FC236}">
                <a16:creationId xmlns:a16="http://schemas.microsoft.com/office/drawing/2014/main" id="{D99AF0A5-8186-3A6D-BA5E-772E2A7DA840}"/>
              </a:ext>
            </a:extLst>
          </p:cNvPr>
          <p:cNvGrpSpPr/>
          <p:nvPr/>
        </p:nvGrpSpPr>
        <p:grpSpPr>
          <a:xfrm>
            <a:off x="3478969" y="4728271"/>
            <a:ext cx="2183765" cy="734878"/>
            <a:chOff x="393073" y="5022255"/>
            <a:chExt cx="2117030" cy="878286"/>
          </a:xfrm>
        </p:grpSpPr>
        <p:pic>
          <p:nvPicPr>
            <p:cNvPr id="28"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62869AD-FF60-F602-CF6E-1E7EA52D3D45}"/>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29"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BB906B3-587C-D577-A48D-E617CA4C0096}"/>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sp>
        <p:nvSpPr>
          <p:cNvPr id="30" name="文字方塊 29">
            <a:extLst>
              <a:ext uri="{FF2B5EF4-FFF2-40B4-BE49-F238E27FC236}">
                <a16:creationId xmlns:a16="http://schemas.microsoft.com/office/drawing/2014/main" id="{375F4A1D-2E30-7225-5C43-C1BC4C3AA948}"/>
              </a:ext>
            </a:extLst>
          </p:cNvPr>
          <p:cNvSpPr txBox="1"/>
          <p:nvPr/>
        </p:nvSpPr>
        <p:spPr>
          <a:xfrm>
            <a:off x="3711115" y="5376104"/>
            <a:ext cx="1759453" cy="369332"/>
          </a:xfrm>
          <a:prstGeom prst="rect">
            <a:avLst/>
          </a:prstGeom>
          <a:noFill/>
        </p:spPr>
        <p:txBody>
          <a:bodyPr wrap="square" rtlCol="0">
            <a:spAutoFit/>
          </a:bodyPr>
          <a:lstStyle/>
          <a:p>
            <a:pPr algn="ctr"/>
            <a:r>
              <a:rPr lang="en-US" altLang="zh-TW" dirty="0"/>
              <a:t>How are you?</a:t>
            </a:r>
            <a:endParaRPr lang="zh-TW" altLang="en-US" dirty="0"/>
          </a:p>
        </p:txBody>
      </p:sp>
      <p:sp>
        <p:nvSpPr>
          <p:cNvPr id="31" name="文字方塊 30">
            <a:extLst>
              <a:ext uri="{FF2B5EF4-FFF2-40B4-BE49-F238E27FC236}">
                <a16:creationId xmlns:a16="http://schemas.microsoft.com/office/drawing/2014/main" id="{97FA5E37-D4FE-E47F-0B45-A82568A0595E}"/>
              </a:ext>
            </a:extLst>
          </p:cNvPr>
          <p:cNvSpPr txBox="1"/>
          <p:nvPr/>
        </p:nvSpPr>
        <p:spPr>
          <a:xfrm>
            <a:off x="9002548" y="4728271"/>
            <a:ext cx="1362636" cy="369332"/>
          </a:xfrm>
          <a:prstGeom prst="rect">
            <a:avLst/>
          </a:prstGeom>
          <a:noFill/>
        </p:spPr>
        <p:txBody>
          <a:bodyPr wrap="square" rtlCol="0">
            <a:spAutoFit/>
          </a:bodyPr>
          <a:lstStyle/>
          <a:p>
            <a:pPr algn="ctr"/>
            <a:r>
              <a:rPr lang="en-US" altLang="zh-TW" dirty="0"/>
              <a:t>Happy</a:t>
            </a:r>
            <a:endParaRPr lang="zh-TW" altLang="en-US" dirty="0"/>
          </a:p>
        </p:txBody>
      </p:sp>
      <p:sp>
        <p:nvSpPr>
          <p:cNvPr id="32" name="矩形: 圓角 31">
            <a:extLst>
              <a:ext uri="{FF2B5EF4-FFF2-40B4-BE49-F238E27FC236}">
                <a16:creationId xmlns:a16="http://schemas.microsoft.com/office/drawing/2014/main" id="{DF21DCF7-9460-E14C-1C76-4DFC42226B95}"/>
              </a:ext>
            </a:extLst>
          </p:cNvPr>
          <p:cNvSpPr/>
          <p:nvPr/>
        </p:nvSpPr>
        <p:spPr>
          <a:xfrm>
            <a:off x="6603141" y="4491178"/>
            <a:ext cx="1686722"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矩形: 圓角 32">
            <a:extLst>
              <a:ext uri="{FF2B5EF4-FFF2-40B4-BE49-F238E27FC236}">
                <a16:creationId xmlns:a16="http://schemas.microsoft.com/office/drawing/2014/main" id="{8136BC21-D6D9-F7B8-52D2-188050427FE5}"/>
              </a:ext>
            </a:extLst>
          </p:cNvPr>
          <p:cNvSpPr/>
          <p:nvPr/>
        </p:nvSpPr>
        <p:spPr>
          <a:xfrm>
            <a:off x="1176203" y="4923781"/>
            <a:ext cx="2183765" cy="40498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Instruction</a:t>
            </a:r>
            <a:endParaRPr lang="zh-TW" altLang="en-US" sz="2400" dirty="0"/>
          </a:p>
        </p:txBody>
      </p:sp>
      <p:sp>
        <p:nvSpPr>
          <p:cNvPr id="35" name="文字方塊 34">
            <a:extLst>
              <a:ext uri="{FF2B5EF4-FFF2-40B4-BE49-F238E27FC236}">
                <a16:creationId xmlns:a16="http://schemas.microsoft.com/office/drawing/2014/main" id="{E709786D-4F04-AD70-1A4B-C9299EBF430D}"/>
              </a:ext>
            </a:extLst>
          </p:cNvPr>
          <p:cNvSpPr txBox="1"/>
          <p:nvPr/>
        </p:nvSpPr>
        <p:spPr>
          <a:xfrm>
            <a:off x="1141957" y="5405195"/>
            <a:ext cx="2337012" cy="369332"/>
          </a:xfrm>
          <a:prstGeom prst="rect">
            <a:avLst/>
          </a:prstGeom>
          <a:noFill/>
        </p:spPr>
        <p:txBody>
          <a:bodyPr wrap="square">
            <a:spAutoFit/>
          </a:bodyPr>
          <a:lstStyle/>
          <a:p>
            <a:pPr algn="ctr"/>
            <a:r>
              <a:rPr lang="en-US" altLang="zh-TW" sz="1800" dirty="0"/>
              <a:t>Identify the emotion</a:t>
            </a:r>
            <a:endParaRPr lang="zh-TW" altLang="en-US" sz="1800" dirty="0"/>
          </a:p>
        </p:txBody>
      </p:sp>
      <p:sp>
        <p:nvSpPr>
          <p:cNvPr id="37" name="文字方塊 36">
            <a:extLst>
              <a:ext uri="{FF2B5EF4-FFF2-40B4-BE49-F238E27FC236}">
                <a16:creationId xmlns:a16="http://schemas.microsoft.com/office/drawing/2014/main" id="{A0C7B200-1AA4-1459-4491-A7E19D740DC4}"/>
              </a:ext>
            </a:extLst>
          </p:cNvPr>
          <p:cNvSpPr txBox="1"/>
          <p:nvPr/>
        </p:nvSpPr>
        <p:spPr>
          <a:xfrm>
            <a:off x="838200" y="4034668"/>
            <a:ext cx="6093068" cy="523220"/>
          </a:xfrm>
          <a:prstGeom prst="rect">
            <a:avLst/>
          </a:prstGeom>
          <a:noFill/>
        </p:spPr>
        <p:txBody>
          <a:bodyPr wrap="square">
            <a:spAutoFit/>
          </a:bodyPr>
          <a:lstStyle/>
          <a:p>
            <a:r>
              <a:rPr lang="en-US" altLang="zh-TW" sz="2800" b="1" u="sng" dirty="0"/>
              <a:t>Command Mode</a:t>
            </a:r>
          </a:p>
        </p:txBody>
      </p:sp>
      <p:sp>
        <p:nvSpPr>
          <p:cNvPr id="38" name="文字方塊 37">
            <a:extLst>
              <a:ext uri="{FF2B5EF4-FFF2-40B4-BE49-F238E27FC236}">
                <a16:creationId xmlns:a16="http://schemas.microsoft.com/office/drawing/2014/main" id="{2879C723-76E8-38F3-2EAA-592B3688AA99}"/>
              </a:ext>
            </a:extLst>
          </p:cNvPr>
          <p:cNvSpPr txBox="1"/>
          <p:nvPr/>
        </p:nvSpPr>
        <p:spPr>
          <a:xfrm>
            <a:off x="838200" y="1899950"/>
            <a:ext cx="6093068" cy="523220"/>
          </a:xfrm>
          <a:prstGeom prst="rect">
            <a:avLst/>
          </a:prstGeom>
          <a:noFill/>
        </p:spPr>
        <p:txBody>
          <a:bodyPr wrap="square">
            <a:spAutoFit/>
          </a:bodyPr>
          <a:lstStyle/>
          <a:p>
            <a:r>
              <a:rPr lang="en-US" altLang="zh-TW" sz="2800" b="1" u="sng" dirty="0"/>
              <a:t>Dialogue Mode</a:t>
            </a:r>
          </a:p>
        </p:txBody>
      </p:sp>
      <p:sp>
        <p:nvSpPr>
          <p:cNvPr id="39" name="文字方塊 38">
            <a:extLst>
              <a:ext uri="{FF2B5EF4-FFF2-40B4-BE49-F238E27FC236}">
                <a16:creationId xmlns:a16="http://schemas.microsoft.com/office/drawing/2014/main" id="{672ACBC2-C3C8-A15B-132F-C7C3F8988C2F}"/>
              </a:ext>
            </a:extLst>
          </p:cNvPr>
          <p:cNvSpPr txBox="1"/>
          <p:nvPr/>
        </p:nvSpPr>
        <p:spPr>
          <a:xfrm>
            <a:off x="6490864" y="5895343"/>
            <a:ext cx="5286427" cy="461665"/>
          </a:xfrm>
          <a:prstGeom prst="rect">
            <a:avLst/>
          </a:prstGeom>
          <a:noFill/>
        </p:spPr>
        <p:txBody>
          <a:bodyPr wrap="square" rtlCol="0">
            <a:spAutoFit/>
          </a:bodyPr>
          <a:lstStyle/>
          <a:p>
            <a:r>
              <a:rPr lang="en-US" altLang="zh-TW" sz="2400" b="1" dirty="0"/>
              <a:t>Speech-aware language model</a:t>
            </a:r>
            <a:endParaRPr lang="zh-TW" altLang="en-US" sz="2400" b="1" dirty="0"/>
          </a:p>
        </p:txBody>
      </p:sp>
      <p:sp>
        <p:nvSpPr>
          <p:cNvPr id="40" name="矩形: 圓角 39">
            <a:extLst>
              <a:ext uri="{FF2B5EF4-FFF2-40B4-BE49-F238E27FC236}">
                <a16:creationId xmlns:a16="http://schemas.microsoft.com/office/drawing/2014/main" id="{3B43C32B-E5B6-8059-D4C2-AABF1ECE2BA8}"/>
              </a:ext>
            </a:extLst>
          </p:cNvPr>
          <p:cNvSpPr/>
          <p:nvPr/>
        </p:nvSpPr>
        <p:spPr>
          <a:xfrm>
            <a:off x="838199" y="1899949"/>
            <a:ext cx="10939091" cy="1903211"/>
          </a:xfrm>
          <a:prstGeom prst="roundRect">
            <a:avLst>
              <a:gd name="adj" fmla="val 11239"/>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文字方塊 41">
            <a:extLst>
              <a:ext uri="{FF2B5EF4-FFF2-40B4-BE49-F238E27FC236}">
                <a16:creationId xmlns:a16="http://schemas.microsoft.com/office/drawing/2014/main" id="{4A14513F-0EC9-BD1E-4042-94162133DD83}"/>
              </a:ext>
            </a:extLst>
          </p:cNvPr>
          <p:cNvSpPr txBox="1"/>
          <p:nvPr/>
        </p:nvSpPr>
        <p:spPr>
          <a:xfrm>
            <a:off x="9222488" y="3828036"/>
            <a:ext cx="2822974" cy="461665"/>
          </a:xfrm>
          <a:prstGeom prst="rect">
            <a:avLst/>
          </a:prstGeom>
          <a:noFill/>
        </p:spPr>
        <p:txBody>
          <a:bodyPr wrap="square">
            <a:spAutoFit/>
          </a:bodyPr>
          <a:lstStyle/>
          <a:p>
            <a:r>
              <a:rPr lang="en-US" altLang="zh-TW" sz="2400" dirty="0"/>
              <a:t>the focus of today</a:t>
            </a:r>
            <a:endParaRPr lang="zh-TW" altLang="en-US" sz="2400" dirty="0"/>
          </a:p>
        </p:txBody>
      </p:sp>
      <p:sp>
        <p:nvSpPr>
          <p:cNvPr id="43" name="文字方塊 42">
            <a:extLst>
              <a:ext uri="{FF2B5EF4-FFF2-40B4-BE49-F238E27FC236}">
                <a16:creationId xmlns:a16="http://schemas.microsoft.com/office/drawing/2014/main" id="{8AC37406-A389-7E34-605F-B32FB8677C7F}"/>
              </a:ext>
            </a:extLst>
          </p:cNvPr>
          <p:cNvSpPr txBox="1"/>
          <p:nvPr/>
        </p:nvSpPr>
        <p:spPr>
          <a:xfrm>
            <a:off x="1099579" y="5774527"/>
            <a:ext cx="2337012" cy="369332"/>
          </a:xfrm>
          <a:prstGeom prst="rect">
            <a:avLst/>
          </a:prstGeom>
          <a:noFill/>
        </p:spPr>
        <p:txBody>
          <a:bodyPr wrap="square">
            <a:spAutoFit/>
          </a:bodyPr>
          <a:lstStyle/>
          <a:p>
            <a:pPr algn="ctr"/>
            <a:r>
              <a:rPr lang="en-US" altLang="zh-TW" sz="1800" dirty="0"/>
              <a:t>translate the input</a:t>
            </a:r>
            <a:endParaRPr lang="zh-TW" altLang="en-US" sz="1800" dirty="0"/>
          </a:p>
        </p:txBody>
      </p:sp>
      <p:sp>
        <p:nvSpPr>
          <p:cNvPr id="44" name="文字方塊 43">
            <a:extLst>
              <a:ext uri="{FF2B5EF4-FFF2-40B4-BE49-F238E27FC236}">
                <a16:creationId xmlns:a16="http://schemas.microsoft.com/office/drawing/2014/main" id="{E2696CB5-0F1B-3DA8-D884-4D192BC6E963}"/>
              </a:ext>
            </a:extLst>
          </p:cNvPr>
          <p:cNvSpPr txBox="1"/>
          <p:nvPr/>
        </p:nvSpPr>
        <p:spPr>
          <a:xfrm>
            <a:off x="9002548" y="5214812"/>
            <a:ext cx="1362636" cy="369332"/>
          </a:xfrm>
          <a:prstGeom prst="rect">
            <a:avLst/>
          </a:prstGeom>
          <a:noFill/>
        </p:spPr>
        <p:txBody>
          <a:bodyPr wrap="square" rtlCol="0">
            <a:spAutoFit/>
          </a:bodyPr>
          <a:lstStyle/>
          <a:p>
            <a:pPr algn="ctr"/>
            <a:r>
              <a:rPr lang="zh-TW" altLang="en-US" dirty="0"/>
              <a:t>你好</a:t>
            </a:r>
          </a:p>
        </p:txBody>
      </p:sp>
    </p:spTree>
    <p:extLst>
      <p:ext uri="{BB962C8B-B14F-4D97-AF65-F5344CB8AC3E}">
        <p14:creationId xmlns:p14="http://schemas.microsoft.com/office/powerpoint/2010/main" val="3507476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animBg="1"/>
      <p:bldP spid="30" grpId="0"/>
      <p:bldP spid="31" grpId="0"/>
      <p:bldP spid="32" grpId="0" animBg="1"/>
      <p:bldP spid="33" grpId="0" animBg="1"/>
      <p:bldP spid="35" grpId="0"/>
      <p:bldP spid="39" grpId="0"/>
      <p:bldP spid="40" grpId="0" animBg="1"/>
      <p:bldP spid="42" grpId="0"/>
      <p:bldP spid="43" grpId="0"/>
      <p:bldP spid="4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8182-6CCF-56E6-3951-1B4879A25C5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EFB7D16-BEBA-526F-4A4A-D5A4D8F00B0E}"/>
              </a:ext>
            </a:extLst>
          </p:cNvPr>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cs typeface="Times New Roman" panose="02020603050405020304" pitchFamily="18" charset="0"/>
              </a:rPr>
              <a:t>語音語言模型 </a:t>
            </a:r>
            <a:r>
              <a:rPr lang="en-US" altLang="zh-TW" dirty="0">
                <a:latin typeface="微軟正黑體" panose="020B0604030504040204" pitchFamily="34" charset="-120"/>
                <a:ea typeface="微軟正黑體" panose="020B0604030504040204" pitchFamily="34" charset="-120"/>
                <a:cs typeface="Times New Roman" panose="02020603050405020304" pitchFamily="18" charset="0"/>
              </a:rPr>
              <a:t>(Speech Language Model)</a:t>
            </a:r>
            <a:endParaRPr lang="zh-TW" altLang="en-US" dirty="0"/>
          </a:p>
        </p:txBody>
      </p:sp>
      <p:cxnSp>
        <p:nvCxnSpPr>
          <p:cNvPr id="11" name="直線單箭頭接點 10">
            <a:extLst>
              <a:ext uri="{FF2B5EF4-FFF2-40B4-BE49-F238E27FC236}">
                <a16:creationId xmlns:a16="http://schemas.microsoft.com/office/drawing/2014/main" id="{5C86775E-8B50-9D51-AAB5-CD16375795AE}"/>
              </a:ext>
            </a:extLst>
          </p:cNvPr>
          <p:cNvCxnSpPr/>
          <p:nvPr/>
        </p:nvCxnSpPr>
        <p:spPr>
          <a:xfrm>
            <a:off x="5760075" y="2896315"/>
            <a:ext cx="725214" cy="0"/>
          </a:xfrm>
          <a:prstGeom prst="straightConnector1">
            <a:avLst/>
          </a:prstGeom>
          <a:noFill/>
          <a:ln w="57150" cap="flat" cmpd="sng" algn="ctr">
            <a:solidFill>
              <a:sysClr val="windowText" lastClr="000000"/>
            </a:solidFill>
            <a:prstDash val="solid"/>
            <a:miter lim="800000"/>
            <a:tailEnd type="triangle"/>
          </a:ln>
          <a:effectLst/>
        </p:spPr>
      </p:cxnSp>
      <p:cxnSp>
        <p:nvCxnSpPr>
          <p:cNvPr id="12" name="直線單箭頭接點 11">
            <a:extLst>
              <a:ext uri="{FF2B5EF4-FFF2-40B4-BE49-F238E27FC236}">
                <a16:creationId xmlns:a16="http://schemas.microsoft.com/office/drawing/2014/main" id="{D4376B56-20DD-A8CC-BB30-C5E8FEFB7B21}"/>
              </a:ext>
            </a:extLst>
          </p:cNvPr>
          <p:cNvCxnSpPr/>
          <p:nvPr/>
        </p:nvCxnSpPr>
        <p:spPr>
          <a:xfrm>
            <a:off x="8408864" y="2896315"/>
            <a:ext cx="725214" cy="0"/>
          </a:xfrm>
          <a:prstGeom prst="straightConnector1">
            <a:avLst/>
          </a:prstGeom>
          <a:noFill/>
          <a:ln w="57150" cap="flat" cmpd="sng" algn="ctr">
            <a:solidFill>
              <a:sysClr val="windowText" lastClr="000000"/>
            </a:solidFill>
            <a:prstDash val="solid"/>
            <a:miter lim="800000"/>
            <a:tailEnd type="triangle"/>
          </a:ln>
          <a:effectLst/>
        </p:spPr>
      </p:cxnSp>
      <p:grpSp>
        <p:nvGrpSpPr>
          <p:cNvPr id="13" name="群組 12">
            <a:extLst>
              <a:ext uri="{FF2B5EF4-FFF2-40B4-BE49-F238E27FC236}">
                <a16:creationId xmlns:a16="http://schemas.microsoft.com/office/drawing/2014/main" id="{C0C62070-2212-97C2-A555-0551C1E22980}"/>
              </a:ext>
            </a:extLst>
          </p:cNvPr>
          <p:cNvGrpSpPr/>
          <p:nvPr/>
        </p:nvGrpSpPr>
        <p:grpSpPr>
          <a:xfrm>
            <a:off x="9230270" y="2461972"/>
            <a:ext cx="2281792" cy="800588"/>
            <a:chOff x="393073" y="5022255"/>
            <a:chExt cx="2117030" cy="878286"/>
          </a:xfrm>
        </p:grpSpPr>
        <p:pic>
          <p:nvPicPr>
            <p:cNvPr id="14"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992502DB-A370-E66B-7CBA-800D0B7C1460}"/>
                </a:ext>
              </a:extLst>
            </p:cNvPr>
            <p:cNvPicPr preferRelativeResize="0"/>
            <p:nvPr/>
          </p:nvPicPr>
          <p:blipFill rotWithShape="1">
            <a:blip r:embed="rId2">
              <a:alphaModFix/>
              <a:duotone>
                <a:srgbClr val="70AD47">
                  <a:shade val="45000"/>
                  <a:satMod val="135000"/>
                </a:srgbClr>
                <a:prstClr val="white"/>
              </a:duotone>
            </a:blip>
            <a:srcRect l="39924" t="74586" r="38724" b="15732"/>
            <a:stretch/>
          </p:blipFill>
          <p:spPr>
            <a:xfrm>
              <a:off x="393073" y="5022255"/>
              <a:ext cx="1347649" cy="809022"/>
            </a:xfrm>
            <a:prstGeom prst="rect">
              <a:avLst/>
            </a:prstGeom>
            <a:noFill/>
            <a:ln>
              <a:noFill/>
            </a:ln>
          </p:spPr>
        </p:pic>
        <p:pic>
          <p:nvPicPr>
            <p:cNvPr id="15"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A0C08385-6F89-FB7C-14C8-F492CFCD8548}"/>
                </a:ext>
              </a:extLst>
            </p:cNvPr>
            <p:cNvPicPr preferRelativeResize="0"/>
            <p:nvPr/>
          </p:nvPicPr>
          <p:blipFill rotWithShape="1">
            <a:blip r:embed="rId2">
              <a:alphaModFix/>
              <a:duotone>
                <a:srgbClr val="70AD47">
                  <a:shade val="45000"/>
                  <a:satMod val="135000"/>
                </a:srgbClr>
                <a:prstClr val="white"/>
              </a:duotone>
            </a:blip>
            <a:srcRect l="35083" t="84591" r="35071" b="1174"/>
            <a:stretch/>
          </p:blipFill>
          <p:spPr>
            <a:xfrm>
              <a:off x="1576011" y="5095308"/>
              <a:ext cx="934092" cy="805233"/>
            </a:xfrm>
            <a:prstGeom prst="rect">
              <a:avLst/>
            </a:prstGeom>
            <a:noFill/>
            <a:ln>
              <a:noFill/>
            </a:ln>
          </p:spPr>
        </p:pic>
      </p:grpSp>
      <p:grpSp>
        <p:nvGrpSpPr>
          <p:cNvPr id="16" name="群組 15">
            <a:extLst>
              <a:ext uri="{FF2B5EF4-FFF2-40B4-BE49-F238E27FC236}">
                <a16:creationId xmlns:a16="http://schemas.microsoft.com/office/drawing/2014/main" id="{962395DF-412C-471B-7E71-7BF6EA642086}"/>
              </a:ext>
            </a:extLst>
          </p:cNvPr>
          <p:cNvGrpSpPr/>
          <p:nvPr/>
        </p:nvGrpSpPr>
        <p:grpSpPr>
          <a:xfrm>
            <a:off x="3478969" y="2514489"/>
            <a:ext cx="2183765" cy="734878"/>
            <a:chOff x="393073" y="5022255"/>
            <a:chExt cx="2117030" cy="878286"/>
          </a:xfrm>
        </p:grpSpPr>
        <p:pic>
          <p:nvPicPr>
            <p:cNvPr id="17"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B1AF6F0-B6FC-93CE-D911-98025C1E8C70}"/>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18"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E23301E-5806-D1EE-48A8-6882D6DE3740}"/>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sp>
        <p:nvSpPr>
          <p:cNvPr id="19" name="文字方塊 18">
            <a:extLst>
              <a:ext uri="{FF2B5EF4-FFF2-40B4-BE49-F238E27FC236}">
                <a16:creationId xmlns:a16="http://schemas.microsoft.com/office/drawing/2014/main" id="{BCA87793-12F9-A4DA-6EF9-AAA793FE99E4}"/>
              </a:ext>
            </a:extLst>
          </p:cNvPr>
          <p:cNvSpPr txBox="1"/>
          <p:nvPr/>
        </p:nvSpPr>
        <p:spPr>
          <a:xfrm>
            <a:off x="3711115" y="3162322"/>
            <a:ext cx="1759453" cy="369332"/>
          </a:xfrm>
          <a:prstGeom prst="rect">
            <a:avLst/>
          </a:prstGeom>
          <a:noFill/>
        </p:spPr>
        <p:txBody>
          <a:bodyPr wrap="square" rtlCol="0">
            <a:spAutoFit/>
          </a:bodyPr>
          <a:lstStyle/>
          <a:p>
            <a:pPr algn="ctr"/>
            <a:r>
              <a:rPr lang="en-US" altLang="zh-TW" dirty="0"/>
              <a:t>How are you?</a:t>
            </a:r>
            <a:endParaRPr lang="zh-TW" altLang="en-US" dirty="0"/>
          </a:p>
        </p:txBody>
      </p:sp>
      <p:sp>
        <p:nvSpPr>
          <p:cNvPr id="20" name="文字方塊 19">
            <a:extLst>
              <a:ext uri="{FF2B5EF4-FFF2-40B4-BE49-F238E27FC236}">
                <a16:creationId xmlns:a16="http://schemas.microsoft.com/office/drawing/2014/main" id="{CDC55334-7E3C-C00B-AF9F-8753D1E58B9C}"/>
              </a:ext>
            </a:extLst>
          </p:cNvPr>
          <p:cNvSpPr txBox="1"/>
          <p:nvPr/>
        </p:nvSpPr>
        <p:spPr>
          <a:xfrm>
            <a:off x="9683866" y="3191413"/>
            <a:ext cx="1362636" cy="369332"/>
          </a:xfrm>
          <a:prstGeom prst="rect">
            <a:avLst/>
          </a:prstGeom>
          <a:noFill/>
        </p:spPr>
        <p:txBody>
          <a:bodyPr wrap="square" rtlCol="0">
            <a:spAutoFit/>
          </a:bodyPr>
          <a:lstStyle/>
          <a:p>
            <a:pPr algn="ctr"/>
            <a:r>
              <a:rPr lang="en-US" altLang="zh-TW" dirty="0"/>
              <a:t>I</a:t>
            </a:r>
            <a:r>
              <a:rPr lang="zh-TW" altLang="en-US" dirty="0"/>
              <a:t> </a:t>
            </a:r>
            <a:r>
              <a:rPr lang="en-US" altLang="zh-TW" dirty="0"/>
              <a:t>am good.</a:t>
            </a:r>
            <a:endParaRPr lang="zh-TW" altLang="en-US" dirty="0"/>
          </a:p>
        </p:txBody>
      </p:sp>
      <p:sp>
        <p:nvSpPr>
          <p:cNvPr id="21" name="矩形: 圓角 20">
            <a:extLst>
              <a:ext uri="{FF2B5EF4-FFF2-40B4-BE49-F238E27FC236}">
                <a16:creationId xmlns:a16="http://schemas.microsoft.com/office/drawing/2014/main" id="{8EF14342-238E-F00C-5762-63FE3DC0802A}"/>
              </a:ext>
            </a:extLst>
          </p:cNvPr>
          <p:cNvSpPr/>
          <p:nvPr/>
        </p:nvSpPr>
        <p:spPr>
          <a:xfrm>
            <a:off x="6603141" y="2277396"/>
            <a:ext cx="1686722"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文字方塊 37">
            <a:extLst>
              <a:ext uri="{FF2B5EF4-FFF2-40B4-BE49-F238E27FC236}">
                <a16:creationId xmlns:a16="http://schemas.microsoft.com/office/drawing/2014/main" id="{9917A5F2-45C0-D8BD-65EE-C7D43FC89302}"/>
              </a:ext>
            </a:extLst>
          </p:cNvPr>
          <p:cNvSpPr txBox="1"/>
          <p:nvPr/>
        </p:nvSpPr>
        <p:spPr>
          <a:xfrm>
            <a:off x="838200" y="1899950"/>
            <a:ext cx="6093068" cy="523220"/>
          </a:xfrm>
          <a:prstGeom prst="rect">
            <a:avLst/>
          </a:prstGeom>
          <a:noFill/>
        </p:spPr>
        <p:txBody>
          <a:bodyPr wrap="square">
            <a:spAutoFit/>
          </a:bodyPr>
          <a:lstStyle/>
          <a:p>
            <a:r>
              <a:rPr lang="en-US" altLang="zh-TW" sz="2800" b="1" u="sng" dirty="0"/>
              <a:t>Dialogue Mode</a:t>
            </a:r>
          </a:p>
        </p:txBody>
      </p:sp>
      <p:sp>
        <p:nvSpPr>
          <p:cNvPr id="40" name="矩形: 圓角 39">
            <a:extLst>
              <a:ext uri="{FF2B5EF4-FFF2-40B4-BE49-F238E27FC236}">
                <a16:creationId xmlns:a16="http://schemas.microsoft.com/office/drawing/2014/main" id="{E2A20BDB-F8DC-A27F-0308-D865FCBFB043}"/>
              </a:ext>
            </a:extLst>
          </p:cNvPr>
          <p:cNvSpPr/>
          <p:nvPr/>
        </p:nvSpPr>
        <p:spPr>
          <a:xfrm>
            <a:off x="838199" y="1899949"/>
            <a:ext cx="10939091" cy="1903211"/>
          </a:xfrm>
          <a:prstGeom prst="roundRect">
            <a:avLst>
              <a:gd name="adj" fmla="val 11239"/>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文字方塊 41">
            <a:extLst>
              <a:ext uri="{FF2B5EF4-FFF2-40B4-BE49-F238E27FC236}">
                <a16:creationId xmlns:a16="http://schemas.microsoft.com/office/drawing/2014/main" id="{1E4F440C-8816-6B71-03F5-35666C462D61}"/>
              </a:ext>
            </a:extLst>
          </p:cNvPr>
          <p:cNvSpPr txBox="1"/>
          <p:nvPr/>
        </p:nvSpPr>
        <p:spPr>
          <a:xfrm>
            <a:off x="9222488" y="3828036"/>
            <a:ext cx="2822974" cy="461665"/>
          </a:xfrm>
          <a:prstGeom prst="rect">
            <a:avLst/>
          </a:prstGeom>
          <a:noFill/>
        </p:spPr>
        <p:txBody>
          <a:bodyPr wrap="square">
            <a:spAutoFit/>
          </a:bodyPr>
          <a:lstStyle/>
          <a:p>
            <a:r>
              <a:rPr lang="en-US" altLang="zh-TW" sz="2400" dirty="0"/>
              <a:t>the focus of today</a:t>
            </a:r>
            <a:endParaRPr lang="zh-TW" altLang="en-US" sz="2400" dirty="0"/>
          </a:p>
        </p:txBody>
      </p:sp>
      <p:sp>
        <p:nvSpPr>
          <p:cNvPr id="4" name="文字方塊 3">
            <a:extLst>
              <a:ext uri="{FF2B5EF4-FFF2-40B4-BE49-F238E27FC236}">
                <a16:creationId xmlns:a16="http://schemas.microsoft.com/office/drawing/2014/main" id="{46EC49E2-A0CC-B258-8A8B-C8700EAA51DB}"/>
              </a:ext>
            </a:extLst>
          </p:cNvPr>
          <p:cNvSpPr txBox="1"/>
          <p:nvPr/>
        </p:nvSpPr>
        <p:spPr>
          <a:xfrm>
            <a:off x="1295399" y="4289649"/>
            <a:ext cx="1509132" cy="523220"/>
          </a:xfrm>
          <a:prstGeom prst="rect">
            <a:avLst/>
          </a:prstGeom>
          <a:noFill/>
        </p:spPr>
        <p:txBody>
          <a:bodyPr wrap="square" rtlCol="0">
            <a:spAutoFit/>
          </a:bodyPr>
          <a:lstStyle/>
          <a:p>
            <a:r>
              <a:rPr lang="en-US" altLang="zh-TW" sz="2800" b="1" dirty="0">
                <a:solidFill>
                  <a:srgbClr val="FF0000"/>
                </a:solidFill>
              </a:rPr>
              <a:t>Not TTS</a:t>
            </a:r>
            <a:endParaRPr lang="zh-TW" altLang="en-US" sz="2800" b="1" dirty="0">
              <a:solidFill>
                <a:srgbClr val="FF0000"/>
              </a:solidFill>
            </a:endParaRPr>
          </a:p>
        </p:txBody>
      </p:sp>
      <p:cxnSp>
        <p:nvCxnSpPr>
          <p:cNvPr id="6" name="直線單箭頭接點 5">
            <a:extLst>
              <a:ext uri="{FF2B5EF4-FFF2-40B4-BE49-F238E27FC236}">
                <a16:creationId xmlns:a16="http://schemas.microsoft.com/office/drawing/2014/main" id="{CA3A5759-FFF5-5E7D-D311-08A9CA1AA25B}"/>
              </a:ext>
            </a:extLst>
          </p:cNvPr>
          <p:cNvCxnSpPr>
            <a:cxnSpLocks/>
          </p:cNvCxnSpPr>
          <p:nvPr/>
        </p:nvCxnSpPr>
        <p:spPr>
          <a:xfrm>
            <a:off x="5453315" y="5228213"/>
            <a:ext cx="1068324"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矩形: 圓角 24">
            <a:extLst>
              <a:ext uri="{FF2B5EF4-FFF2-40B4-BE49-F238E27FC236}">
                <a16:creationId xmlns:a16="http://schemas.microsoft.com/office/drawing/2014/main" id="{C7F80439-2E89-0962-5323-62FD19E5BF76}"/>
              </a:ext>
            </a:extLst>
          </p:cNvPr>
          <p:cNvSpPr/>
          <p:nvPr/>
        </p:nvSpPr>
        <p:spPr>
          <a:xfrm>
            <a:off x="6603141" y="4610048"/>
            <a:ext cx="1686722" cy="1236330"/>
          </a:xfrm>
          <a:prstGeom prst="roundRect">
            <a:avLst/>
          </a:prstGeom>
          <a:solidFill>
            <a:schemeClr val="tx2">
              <a:lumMod val="10000"/>
              <a:lumOff val="9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TTS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5" name="直線單箭頭接點 44">
            <a:extLst>
              <a:ext uri="{FF2B5EF4-FFF2-40B4-BE49-F238E27FC236}">
                <a16:creationId xmlns:a16="http://schemas.microsoft.com/office/drawing/2014/main" id="{1F5E5977-AF92-49BF-14FA-0156090C639C}"/>
              </a:ext>
            </a:extLst>
          </p:cNvPr>
          <p:cNvCxnSpPr/>
          <p:nvPr/>
        </p:nvCxnSpPr>
        <p:spPr>
          <a:xfrm>
            <a:off x="8391611" y="5228213"/>
            <a:ext cx="725214" cy="0"/>
          </a:xfrm>
          <a:prstGeom prst="straightConnector1">
            <a:avLst/>
          </a:prstGeom>
          <a:noFill/>
          <a:ln w="57150" cap="flat" cmpd="sng" algn="ctr">
            <a:solidFill>
              <a:sysClr val="windowText" lastClr="000000"/>
            </a:solidFill>
            <a:prstDash val="solid"/>
            <a:miter lim="800000"/>
            <a:tailEnd type="triangle"/>
          </a:ln>
          <a:effectLst/>
        </p:spPr>
      </p:cxnSp>
      <p:grpSp>
        <p:nvGrpSpPr>
          <p:cNvPr id="46" name="群組 45">
            <a:extLst>
              <a:ext uri="{FF2B5EF4-FFF2-40B4-BE49-F238E27FC236}">
                <a16:creationId xmlns:a16="http://schemas.microsoft.com/office/drawing/2014/main" id="{746AF037-16B0-6277-6E91-B083961E2A46}"/>
              </a:ext>
            </a:extLst>
          </p:cNvPr>
          <p:cNvGrpSpPr/>
          <p:nvPr/>
        </p:nvGrpSpPr>
        <p:grpSpPr>
          <a:xfrm>
            <a:off x="9347123" y="4766091"/>
            <a:ext cx="2281792" cy="800588"/>
            <a:chOff x="393073" y="5022255"/>
            <a:chExt cx="2117030" cy="878286"/>
          </a:xfrm>
        </p:grpSpPr>
        <p:pic>
          <p:nvPicPr>
            <p:cNvPr id="47"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2F91D63B-ECA4-89CF-48F5-4F2708BDEE64}"/>
                </a:ext>
              </a:extLst>
            </p:cNvPr>
            <p:cNvPicPr preferRelativeResize="0"/>
            <p:nvPr/>
          </p:nvPicPr>
          <p:blipFill rotWithShape="1">
            <a:blip r:embed="rId2">
              <a:alphaModFix/>
              <a:duotone>
                <a:srgbClr val="70AD47">
                  <a:shade val="45000"/>
                  <a:satMod val="135000"/>
                </a:srgbClr>
                <a:prstClr val="white"/>
              </a:duotone>
            </a:blip>
            <a:srcRect l="39924" t="74586" r="38724" b="15732"/>
            <a:stretch/>
          </p:blipFill>
          <p:spPr>
            <a:xfrm>
              <a:off x="393073" y="5022255"/>
              <a:ext cx="1347649" cy="809022"/>
            </a:xfrm>
            <a:prstGeom prst="rect">
              <a:avLst/>
            </a:prstGeom>
            <a:noFill/>
            <a:ln>
              <a:noFill/>
            </a:ln>
          </p:spPr>
        </p:pic>
        <p:pic>
          <p:nvPicPr>
            <p:cNvPr id="48"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4D563FF-946D-EE19-8114-2164D6189A9C}"/>
                </a:ext>
              </a:extLst>
            </p:cNvPr>
            <p:cNvPicPr preferRelativeResize="0"/>
            <p:nvPr/>
          </p:nvPicPr>
          <p:blipFill rotWithShape="1">
            <a:blip r:embed="rId2">
              <a:alphaModFix/>
              <a:duotone>
                <a:srgbClr val="70AD47">
                  <a:shade val="45000"/>
                  <a:satMod val="135000"/>
                </a:srgbClr>
                <a:prstClr val="white"/>
              </a:duotone>
            </a:blip>
            <a:srcRect l="35083" t="84591" r="35071" b="1174"/>
            <a:stretch/>
          </p:blipFill>
          <p:spPr>
            <a:xfrm>
              <a:off x="1576011" y="5095308"/>
              <a:ext cx="934092" cy="805233"/>
            </a:xfrm>
            <a:prstGeom prst="rect">
              <a:avLst/>
            </a:prstGeom>
            <a:noFill/>
            <a:ln>
              <a:noFill/>
            </a:ln>
          </p:spPr>
        </p:pic>
      </p:grpSp>
      <p:sp>
        <p:nvSpPr>
          <p:cNvPr id="49" name="文字方塊 48">
            <a:extLst>
              <a:ext uri="{FF2B5EF4-FFF2-40B4-BE49-F238E27FC236}">
                <a16:creationId xmlns:a16="http://schemas.microsoft.com/office/drawing/2014/main" id="{8A4F3CF4-0FB7-77FF-FD6D-FCD292CD05BD}"/>
              </a:ext>
            </a:extLst>
          </p:cNvPr>
          <p:cNvSpPr txBox="1"/>
          <p:nvPr/>
        </p:nvSpPr>
        <p:spPr>
          <a:xfrm>
            <a:off x="9583915" y="5503542"/>
            <a:ext cx="1686722" cy="369332"/>
          </a:xfrm>
          <a:prstGeom prst="rect">
            <a:avLst/>
          </a:prstGeom>
          <a:noFill/>
        </p:spPr>
        <p:txBody>
          <a:bodyPr wrap="square" rtlCol="0">
            <a:spAutoFit/>
          </a:bodyPr>
          <a:lstStyle/>
          <a:p>
            <a:pPr algn="ctr"/>
            <a:r>
              <a:rPr lang="en-US" altLang="zh-TW" dirty="0"/>
              <a:t>How are you?</a:t>
            </a:r>
            <a:endParaRPr lang="zh-TW" altLang="en-US" dirty="0"/>
          </a:p>
        </p:txBody>
      </p:sp>
      <p:sp>
        <p:nvSpPr>
          <p:cNvPr id="50" name="文字方塊 49">
            <a:extLst>
              <a:ext uri="{FF2B5EF4-FFF2-40B4-BE49-F238E27FC236}">
                <a16:creationId xmlns:a16="http://schemas.microsoft.com/office/drawing/2014/main" id="{9CFD099F-D2B6-C412-A48C-6C9EFB9B21A8}"/>
              </a:ext>
            </a:extLst>
          </p:cNvPr>
          <p:cNvSpPr txBox="1"/>
          <p:nvPr/>
        </p:nvSpPr>
        <p:spPr>
          <a:xfrm>
            <a:off x="3715719" y="5043547"/>
            <a:ext cx="1686722" cy="369332"/>
          </a:xfrm>
          <a:prstGeom prst="rect">
            <a:avLst/>
          </a:prstGeom>
          <a:noFill/>
        </p:spPr>
        <p:txBody>
          <a:bodyPr wrap="square" rtlCol="0">
            <a:spAutoFit/>
          </a:bodyPr>
          <a:lstStyle/>
          <a:p>
            <a:pPr algn="ctr"/>
            <a:r>
              <a:rPr lang="en-US" altLang="zh-TW" dirty="0"/>
              <a:t>How are you?</a:t>
            </a:r>
            <a:endParaRPr lang="zh-TW" altLang="en-US" dirty="0"/>
          </a:p>
        </p:txBody>
      </p:sp>
      <p:sp>
        <p:nvSpPr>
          <p:cNvPr id="5" name="文字方塊 4">
            <a:extLst>
              <a:ext uri="{FF2B5EF4-FFF2-40B4-BE49-F238E27FC236}">
                <a16:creationId xmlns:a16="http://schemas.microsoft.com/office/drawing/2014/main" id="{FBB25109-4F41-D25B-8921-47D38800F2A8}"/>
              </a:ext>
            </a:extLst>
          </p:cNvPr>
          <p:cNvSpPr txBox="1"/>
          <p:nvPr/>
        </p:nvSpPr>
        <p:spPr>
          <a:xfrm>
            <a:off x="3311386" y="6109659"/>
            <a:ext cx="8377792" cy="461665"/>
          </a:xfrm>
          <a:prstGeom prst="rect">
            <a:avLst/>
          </a:prstGeom>
          <a:noFill/>
        </p:spPr>
        <p:txBody>
          <a:bodyPr wrap="square">
            <a:spAutoFit/>
          </a:bodyPr>
          <a:lstStyle/>
          <a:p>
            <a:pPr algn="ctr"/>
            <a:r>
              <a:rPr lang="en-US" altLang="zh-TW" sz="2400" dirty="0"/>
              <a:t>Some TTS models also claim themselves to be speech LMs.</a:t>
            </a:r>
            <a:endParaRPr lang="zh-TW" altLang="en-US" sz="2400" dirty="0"/>
          </a:p>
        </p:txBody>
      </p:sp>
    </p:spTree>
    <p:extLst>
      <p:ext uri="{BB962C8B-B14F-4D97-AF65-F5344CB8AC3E}">
        <p14:creationId xmlns:p14="http://schemas.microsoft.com/office/powerpoint/2010/main" val="33162160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圓角 3">
            <a:extLst>
              <a:ext uri="{FF2B5EF4-FFF2-40B4-BE49-F238E27FC236}">
                <a16:creationId xmlns:a16="http://schemas.microsoft.com/office/drawing/2014/main" id="{AB0DABAD-B314-5B6A-43E9-AB2B489A29F5}"/>
              </a:ext>
            </a:extLst>
          </p:cNvPr>
          <p:cNvSpPr/>
          <p:nvPr/>
        </p:nvSpPr>
        <p:spPr>
          <a:xfrm>
            <a:off x="6563457" y="665918"/>
            <a:ext cx="1907809"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5" name="直線單箭頭接點 4">
            <a:extLst>
              <a:ext uri="{FF2B5EF4-FFF2-40B4-BE49-F238E27FC236}">
                <a16:creationId xmlns:a16="http://schemas.microsoft.com/office/drawing/2014/main" id="{5C821BB9-D5F4-0A7C-3D72-BD78847D8900}"/>
              </a:ext>
            </a:extLst>
          </p:cNvPr>
          <p:cNvCxnSpPr>
            <a:cxnSpLocks/>
          </p:cNvCxnSpPr>
          <p:nvPr/>
        </p:nvCxnSpPr>
        <p:spPr>
          <a:xfrm>
            <a:off x="5643687" y="1295202"/>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a:extLst>
              <a:ext uri="{FF2B5EF4-FFF2-40B4-BE49-F238E27FC236}">
                <a16:creationId xmlns:a16="http://schemas.microsoft.com/office/drawing/2014/main" id="{71488291-2636-2792-9BD6-81066FAAC010}"/>
              </a:ext>
            </a:extLst>
          </p:cNvPr>
          <p:cNvCxnSpPr>
            <a:cxnSpLocks/>
          </p:cNvCxnSpPr>
          <p:nvPr/>
        </p:nvCxnSpPr>
        <p:spPr>
          <a:xfrm>
            <a:off x="8566516" y="1295202"/>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2">
            <a:extLst>
              <a:ext uri="{FF2B5EF4-FFF2-40B4-BE49-F238E27FC236}">
                <a16:creationId xmlns:a16="http://schemas.microsoft.com/office/drawing/2014/main" id="{0BD3EEC5-FFFB-8304-B9FA-DAB5E043D1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1015" y="209795"/>
            <a:ext cx="2170814" cy="217081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DD54972A-7366-2328-96C4-5A9E7CA8A3E3}"/>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9479494" y="209795"/>
            <a:ext cx="2170814" cy="2170814"/>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E4B87282-4CA7-68D1-1A66-677B866ACA86}"/>
              </a:ext>
            </a:extLst>
          </p:cNvPr>
          <p:cNvSpPr txBox="1"/>
          <p:nvPr/>
        </p:nvSpPr>
        <p:spPr>
          <a:xfrm>
            <a:off x="356089" y="-13805"/>
            <a:ext cx="5173298" cy="584775"/>
          </a:xfrm>
          <a:prstGeom prst="rect">
            <a:avLst/>
          </a:prstGeom>
          <a:noFill/>
        </p:spPr>
        <p:txBody>
          <a:bodyPr wrap="square">
            <a:spAutoFit/>
          </a:bodyPr>
          <a:lstStyle/>
          <a:p>
            <a:pPr lvl="0">
              <a:defRPr/>
            </a:pPr>
            <a:r>
              <a:rPr lang="en-US" altLang="zh-TW" sz="3200" b="1" u="sng" dirty="0"/>
              <a:t>Non end-to-end solution</a:t>
            </a:r>
            <a:endParaRPr kumimoji="0" lang="zh-TW" altLang="en-US" sz="3200" b="1" i="0" u="sng"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endParaRPr>
          </a:p>
        </p:txBody>
      </p:sp>
      <p:sp>
        <p:nvSpPr>
          <p:cNvPr id="11" name="矩形: 圓角 10">
            <a:extLst>
              <a:ext uri="{FF2B5EF4-FFF2-40B4-BE49-F238E27FC236}">
                <a16:creationId xmlns:a16="http://schemas.microsoft.com/office/drawing/2014/main" id="{5A8FA085-0265-2FE3-DC50-12B1B28869F7}"/>
              </a:ext>
            </a:extLst>
          </p:cNvPr>
          <p:cNvSpPr/>
          <p:nvPr/>
        </p:nvSpPr>
        <p:spPr>
          <a:xfrm>
            <a:off x="6349472" y="2635054"/>
            <a:ext cx="1496099" cy="1236330"/>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A34AF57F-3FF7-6AB2-A7F8-9F52D3490F1B}"/>
              </a:ext>
            </a:extLst>
          </p:cNvPr>
          <p:cNvSpPr/>
          <p:nvPr/>
        </p:nvSpPr>
        <p:spPr>
          <a:xfrm>
            <a:off x="3516923" y="2635959"/>
            <a:ext cx="1496099" cy="1236330"/>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ASR</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D3E68BBD-4DB5-B8D8-2587-01DCB0747344}"/>
              </a:ext>
            </a:extLst>
          </p:cNvPr>
          <p:cNvSpPr/>
          <p:nvPr/>
        </p:nvSpPr>
        <p:spPr>
          <a:xfrm>
            <a:off x="9182022" y="2635213"/>
            <a:ext cx="1496099" cy="1236330"/>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TTS</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4" name="直線單箭頭接點 13">
            <a:extLst>
              <a:ext uri="{FF2B5EF4-FFF2-40B4-BE49-F238E27FC236}">
                <a16:creationId xmlns:a16="http://schemas.microsoft.com/office/drawing/2014/main" id="{F2496720-9330-6A1E-063A-608AFEFEDE33}"/>
              </a:ext>
            </a:extLst>
          </p:cNvPr>
          <p:cNvCxnSpPr>
            <a:cxnSpLocks/>
          </p:cNvCxnSpPr>
          <p:nvPr/>
        </p:nvCxnSpPr>
        <p:spPr>
          <a:xfrm>
            <a:off x="5256088" y="3250727"/>
            <a:ext cx="9124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B33D47DB-58ED-F810-9095-2533C8BA551B}"/>
              </a:ext>
            </a:extLst>
          </p:cNvPr>
          <p:cNvCxnSpPr>
            <a:cxnSpLocks/>
          </p:cNvCxnSpPr>
          <p:nvPr/>
        </p:nvCxnSpPr>
        <p:spPr>
          <a:xfrm>
            <a:off x="8063765" y="3250727"/>
            <a:ext cx="9124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17FE330E-FCF7-AF1E-D6FA-9BCB96DA034F}"/>
              </a:ext>
            </a:extLst>
          </p:cNvPr>
          <p:cNvSpPr txBox="1"/>
          <p:nvPr/>
        </p:nvSpPr>
        <p:spPr>
          <a:xfrm>
            <a:off x="669042" y="2169185"/>
            <a:ext cx="164318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Cascade</a:t>
            </a:r>
            <a:endParaRPr kumimoji="0" lang="zh-TW" altLang="en-US" sz="2800" b="1"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p:txBody>
      </p:sp>
      <p:pic>
        <p:nvPicPr>
          <p:cNvPr id="18" name="Picture 2">
            <a:extLst>
              <a:ext uri="{FF2B5EF4-FFF2-40B4-BE49-F238E27FC236}">
                <a16:creationId xmlns:a16="http://schemas.microsoft.com/office/drawing/2014/main" id="{2CE28F09-FD53-6A80-131C-BD61B5A109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4725" y="3482812"/>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81F8F236-A130-4224-7DF6-CD02B1D919FD}"/>
              </a:ext>
            </a:extLst>
          </p:cNvPr>
          <p:cNvPicPr>
            <a:picLocks noChangeAspect="1" noChangeArrowheads="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37893" y="3437283"/>
            <a:ext cx="700658" cy="700658"/>
          </a:xfrm>
          <a:prstGeom prst="rect">
            <a:avLst/>
          </a:prstGeom>
          <a:noFill/>
          <a:extLst>
            <a:ext uri="{909E8E84-426E-40DD-AFC4-6F175D3DCCD1}">
              <a14:hiddenFill xmlns:a14="http://schemas.microsoft.com/office/drawing/2010/main">
                <a:solidFill>
                  <a:srgbClr val="FFFFFF"/>
                </a:solidFill>
              </a14:hiddenFill>
            </a:ext>
          </a:extLst>
        </p:spPr>
      </p:pic>
      <p:sp>
        <p:nvSpPr>
          <p:cNvPr id="21" name="右大括弧 20">
            <a:extLst>
              <a:ext uri="{FF2B5EF4-FFF2-40B4-BE49-F238E27FC236}">
                <a16:creationId xmlns:a16="http://schemas.microsoft.com/office/drawing/2014/main" id="{774026CE-F345-0A37-B5A2-8A13D860102B}"/>
              </a:ext>
            </a:extLst>
          </p:cNvPr>
          <p:cNvSpPr/>
          <p:nvPr/>
        </p:nvSpPr>
        <p:spPr>
          <a:xfrm rot="16200000">
            <a:off x="6800856" y="-1475344"/>
            <a:ext cx="641558" cy="7579237"/>
          </a:xfrm>
          <a:prstGeom prst="rightBrace">
            <a:avLst>
              <a:gd name="adj1" fmla="val 112488"/>
              <a:gd name="adj2" fmla="val 55800"/>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
        <p:nvSpPr>
          <p:cNvPr id="22" name="文字方塊 21">
            <a:extLst>
              <a:ext uri="{FF2B5EF4-FFF2-40B4-BE49-F238E27FC236}">
                <a16:creationId xmlns:a16="http://schemas.microsoft.com/office/drawing/2014/main" id="{97EF4266-BE55-F63F-E295-53A79A78D7F3}"/>
              </a:ext>
            </a:extLst>
          </p:cNvPr>
          <p:cNvSpPr txBox="1"/>
          <p:nvPr/>
        </p:nvSpPr>
        <p:spPr>
          <a:xfrm>
            <a:off x="648612" y="4475541"/>
            <a:ext cx="1643187"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Agentic Solution </a:t>
            </a:r>
            <a:endParaRPr kumimoji="0" lang="zh-TW" altLang="en-US" sz="2800" b="1"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p:txBody>
      </p:sp>
      <p:grpSp>
        <p:nvGrpSpPr>
          <p:cNvPr id="34" name="群組 33">
            <a:extLst>
              <a:ext uri="{FF2B5EF4-FFF2-40B4-BE49-F238E27FC236}">
                <a16:creationId xmlns:a16="http://schemas.microsoft.com/office/drawing/2014/main" id="{77229337-22F0-648D-43C8-A0E73AC7E705}"/>
              </a:ext>
            </a:extLst>
          </p:cNvPr>
          <p:cNvGrpSpPr/>
          <p:nvPr/>
        </p:nvGrpSpPr>
        <p:grpSpPr>
          <a:xfrm>
            <a:off x="7013592" y="4259534"/>
            <a:ext cx="3664529" cy="2341776"/>
            <a:chOff x="8845009" y="3903188"/>
            <a:chExt cx="3664529" cy="2341776"/>
          </a:xfrm>
        </p:grpSpPr>
        <p:sp>
          <p:nvSpPr>
            <p:cNvPr id="35" name="矩形: 圓角 34">
              <a:extLst>
                <a:ext uri="{FF2B5EF4-FFF2-40B4-BE49-F238E27FC236}">
                  <a16:creationId xmlns:a16="http://schemas.microsoft.com/office/drawing/2014/main" id="{D1684D54-9D67-9463-BD31-6338B585E990}"/>
                </a:ext>
              </a:extLst>
            </p:cNvPr>
            <p:cNvSpPr/>
            <p:nvPr/>
          </p:nvSpPr>
          <p:spPr>
            <a:xfrm>
              <a:off x="10709538" y="3903188"/>
              <a:ext cx="1800000" cy="720000"/>
            </a:xfrm>
            <a:prstGeom prst="roundRect">
              <a:avLst/>
            </a:prstGeom>
            <a:solidFill>
              <a:srgbClr val="70AD47">
                <a:lumMod val="20000"/>
                <a:lumOff val="80000"/>
              </a:srgbClr>
            </a:solid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Recognition</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矩形: 圓角 35">
              <a:extLst>
                <a:ext uri="{FF2B5EF4-FFF2-40B4-BE49-F238E27FC236}">
                  <a16:creationId xmlns:a16="http://schemas.microsoft.com/office/drawing/2014/main" id="{19D66471-86C6-0F16-E38F-8CFDEC3E774C}"/>
                </a:ext>
              </a:extLst>
            </p:cNvPr>
            <p:cNvSpPr/>
            <p:nvPr/>
          </p:nvSpPr>
          <p:spPr>
            <a:xfrm>
              <a:off x="8845009" y="3910894"/>
              <a:ext cx="1800000" cy="720000"/>
            </a:xfrm>
            <a:prstGeom prst="roundRect">
              <a:avLst/>
            </a:prstGeom>
            <a:solidFill>
              <a:srgbClr val="FFC000">
                <a:lumMod val="20000"/>
                <a:lumOff val="80000"/>
              </a:srgbClr>
            </a:solid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Synthesis</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矩形: 圓角 36">
              <a:extLst>
                <a:ext uri="{FF2B5EF4-FFF2-40B4-BE49-F238E27FC236}">
                  <a16:creationId xmlns:a16="http://schemas.microsoft.com/office/drawing/2014/main" id="{4740650B-C739-C73C-CA08-4D1B7DA0E12E}"/>
                </a:ext>
              </a:extLst>
            </p:cNvPr>
            <p:cNvSpPr/>
            <p:nvPr/>
          </p:nvSpPr>
          <p:spPr>
            <a:xfrm>
              <a:off x="8845009" y="4709144"/>
              <a:ext cx="1800000" cy="720000"/>
            </a:xfrm>
            <a:prstGeom prst="roundRect">
              <a:avLst/>
            </a:prstGeom>
            <a:solidFill>
              <a:srgbClr val="5B9BD5">
                <a:lumMod val="20000"/>
                <a:lumOff val="80000"/>
              </a:srgbClr>
            </a:solid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Enhancement</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矩形: 圓角 37">
              <a:extLst>
                <a:ext uri="{FF2B5EF4-FFF2-40B4-BE49-F238E27FC236}">
                  <a16:creationId xmlns:a16="http://schemas.microsoft.com/office/drawing/2014/main" id="{26078DE3-839F-E9C3-5FBD-00521E26A4A9}"/>
                </a:ext>
              </a:extLst>
            </p:cNvPr>
            <p:cNvSpPr/>
            <p:nvPr/>
          </p:nvSpPr>
          <p:spPr>
            <a:xfrm>
              <a:off x="10709538" y="4730701"/>
              <a:ext cx="1800000" cy="720000"/>
            </a:xfrm>
            <a:prstGeom prst="roundRect">
              <a:avLst/>
            </a:prstGeom>
            <a:solidFill>
              <a:srgbClr val="ED7D31">
                <a:lumMod val="20000"/>
                <a:lumOff val="80000"/>
              </a:srgbClr>
            </a:solid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Separation</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矩形: 圓角 38">
              <a:extLst>
                <a:ext uri="{FF2B5EF4-FFF2-40B4-BE49-F238E27FC236}">
                  <a16:creationId xmlns:a16="http://schemas.microsoft.com/office/drawing/2014/main" id="{5CC8F098-071B-3BE6-F86D-541BD63753AA}"/>
                </a:ext>
              </a:extLst>
            </p:cNvPr>
            <p:cNvSpPr/>
            <p:nvPr/>
          </p:nvSpPr>
          <p:spPr>
            <a:xfrm>
              <a:off x="8845009" y="5507395"/>
              <a:ext cx="1800000" cy="720000"/>
            </a:xfrm>
            <a:prstGeom prst="roundRect">
              <a:avLst/>
            </a:prstGeom>
            <a:solidFill>
              <a:sysClr val="window" lastClr="FFFFFF">
                <a:lumMod val="85000"/>
              </a:sysClr>
            </a:solid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Sound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Detection</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矩形: 圓角 39">
              <a:extLst>
                <a:ext uri="{FF2B5EF4-FFF2-40B4-BE49-F238E27FC236}">
                  <a16:creationId xmlns:a16="http://schemas.microsoft.com/office/drawing/2014/main" id="{61C520DF-389E-A1F6-6FCD-D77C4BBCA762}"/>
                </a:ext>
              </a:extLst>
            </p:cNvPr>
            <p:cNvSpPr/>
            <p:nvPr/>
          </p:nvSpPr>
          <p:spPr>
            <a:xfrm>
              <a:off x="10709538" y="5524964"/>
              <a:ext cx="1800000" cy="720000"/>
            </a:xfrm>
            <a:prstGeom prst="roundRect">
              <a:avLst/>
            </a:prstGeom>
            <a:solidFill>
              <a:srgbClr val="5B9BD5">
                <a:lumMod val="20000"/>
                <a:lumOff val="80000"/>
              </a:srgbClr>
            </a:solid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Style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Transfer</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41" name="矩形: 圓角 40">
            <a:extLst>
              <a:ext uri="{FF2B5EF4-FFF2-40B4-BE49-F238E27FC236}">
                <a16:creationId xmlns:a16="http://schemas.microsoft.com/office/drawing/2014/main" id="{48DB6897-9D4C-1679-66DE-051BE7334204}"/>
              </a:ext>
            </a:extLst>
          </p:cNvPr>
          <p:cNvSpPr/>
          <p:nvPr/>
        </p:nvSpPr>
        <p:spPr>
          <a:xfrm>
            <a:off x="3837493" y="4885483"/>
            <a:ext cx="1715062" cy="971215"/>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LM</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42" name="Picture 4">
            <a:extLst>
              <a:ext uri="{FF2B5EF4-FFF2-40B4-BE49-F238E27FC236}">
                <a16:creationId xmlns:a16="http://schemas.microsoft.com/office/drawing/2014/main" id="{7DE04844-7DFE-F1BA-C0AE-B9D78CCFBB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4467" y="4802251"/>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a:extLst>
              <a:ext uri="{FF2B5EF4-FFF2-40B4-BE49-F238E27FC236}">
                <a16:creationId xmlns:a16="http://schemas.microsoft.com/office/drawing/2014/main" id="{7A034669-3D00-7113-DEFD-F5F70370A5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49052" y="5669397"/>
            <a:ext cx="737424" cy="737424"/>
          </a:xfrm>
          <a:prstGeom prst="rect">
            <a:avLst/>
          </a:prstGeom>
          <a:noFill/>
          <a:extLst>
            <a:ext uri="{909E8E84-426E-40DD-AFC4-6F175D3DCCD1}">
              <a14:hiddenFill xmlns:a14="http://schemas.microsoft.com/office/drawing/2010/main">
                <a:solidFill>
                  <a:srgbClr val="FFFFFF"/>
                </a:solidFill>
              </a14:hiddenFill>
            </a:ext>
          </a:extLst>
        </p:spPr>
      </p:pic>
      <p:sp>
        <p:nvSpPr>
          <p:cNvPr id="44" name="文字方塊 43">
            <a:extLst>
              <a:ext uri="{FF2B5EF4-FFF2-40B4-BE49-F238E27FC236}">
                <a16:creationId xmlns:a16="http://schemas.microsoft.com/office/drawing/2014/main" id="{F2B62803-66D1-C893-8BDE-B8279BAC43E4}"/>
              </a:ext>
            </a:extLst>
          </p:cNvPr>
          <p:cNvSpPr txBox="1"/>
          <p:nvPr/>
        </p:nvSpPr>
        <p:spPr>
          <a:xfrm>
            <a:off x="1115605" y="6055459"/>
            <a:ext cx="678943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err="1">
                <a:ln>
                  <a:noFill/>
                </a:ln>
                <a:solidFill>
                  <a:prstClr val="black"/>
                </a:solidFill>
                <a:effectLst/>
                <a:uLnTx/>
                <a:uFillTx/>
                <a:latin typeface="Aptos" panose="02110004020202020204"/>
                <a:ea typeface="新細明體" panose="02020500000000000000" pitchFamily="18" charset="-120"/>
                <a:cs typeface="+mn-cs"/>
              </a:rPr>
              <a:t>AudioGPT</a:t>
            </a:r>
            <a:r>
              <a:rPr kumimoji="0" lang="en-US" altLang="zh-TW" sz="1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a:t>
            </a:r>
            <a:r>
              <a:rPr kumimoji="0" lang="zh-TW" altLang="en-US" sz="1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https://arxiv.org/abs/2304.12995</a:t>
            </a:r>
            <a:endParaRPr kumimoji="0" lang="en-US" altLang="zh-TW" sz="1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Speech-Copilot:</a:t>
            </a:r>
            <a:r>
              <a:rPr kumimoji="0" lang="zh-TW" altLang="en-US" sz="1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https://arxiv.org/abs/2407.09886 </a:t>
            </a:r>
          </a:p>
        </p:txBody>
      </p:sp>
      <p:sp>
        <p:nvSpPr>
          <p:cNvPr id="3" name="文字方塊 2">
            <a:extLst>
              <a:ext uri="{FF2B5EF4-FFF2-40B4-BE49-F238E27FC236}">
                <a16:creationId xmlns:a16="http://schemas.microsoft.com/office/drawing/2014/main" id="{AFBAED3F-CAC7-C40B-0D90-E9B95EC17DA9}"/>
              </a:ext>
            </a:extLst>
          </p:cNvPr>
          <p:cNvSpPr txBox="1"/>
          <p:nvPr/>
        </p:nvSpPr>
        <p:spPr>
          <a:xfrm>
            <a:off x="669043" y="2679432"/>
            <a:ext cx="2450184"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Most speech-to-speech systems use this solution.</a:t>
            </a:r>
            <a:endParaRPr kumimoji="0" lang="zh-TW" altLang="en-US" sz="24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9095070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7" grpId="0"/>
      <p:bldP spid="21" grpId="0" animBg="1"/>
      <p:bldP spid="22" grpId="0"/>
      <p:bldP spid="41" grpId="0" animBg="1"/>
      <p:bldP spid="44"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圓角 3">
            <a:extLst>
              <a:ext uri="{FF2B5EF4-FFF2-40B4-BE49-F238E27FC236}">
                <a16:creationId xmlns:a16="http://schemas.microsoft.com/office/drawing/2014/main" id="{161F3626-ED6B-7474-67EF-FF50C8240394}"/>
              </a:ext>
            </a:extLst>
          </p:cNvPr>
          <p:cNvSpPr/>
          <p:nvPr/>
        </p:nvSpPr>
        <p:spPr>
          <a:xfrm>
            <a:off x="5437504" y="622223"/>
            <a:ext cx="1496099" cy="1236330"/>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矩形: 圓角 4">
            <a:extLst>
              <a:ext uri="{FF2B5EF4-FFF2-40B4-BE49-F238E27FC236}">
                <a16:creationId xmlns:a16="http://schemas.microsoft.com/office/drawing/2014/main" id="{95B455B9-2B95-2F0D-1EBB-120AC35F1199}"/>
              </a:ext>
            </a:extLst>
          </p:cNvPr>
          <p:cNvSpPr/>
          <p:nvPr/>
        </p:nvSpPr>
        <p:spPr>
          <a:xfrm>
            <a:off x="2604955" y="623128"/>
            <a:ext cx="1496099" cy="1236330"/>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ASR</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矩形: 圓角 5">
            <a:extLst>
              <a:ext uri="{FF2B5EF4-FFF2-40B4-BE49-F238E27FC236}">
                <a16:creationId xmlns:a16="http://schemas.microsoft.com/office/drawing/2014/main" id="{5BE28BAB-9600-F876-4C1B-700874EBA39E}"/>
              </a:ext>
            </a:extLst>
          </p:cNvPr>
          <p:cNvSpPr/>
          <p:nvPr/>
        </p:nvSpPr>
        <p:spPr>
          <a:xfrm>
            <a:off x="8270054" y="622382"/>
            <a:ext cx="1496099" cy="1236330"/>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TTS</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7" name="直線單箭頭接點 6">
            <a:extLst>
              <a:ext uri="{FF2B5EF4-FFF2-40B4-BE49-F238E27FC236}">
                <a16:creationId xmlns:a16="http://schemas.microsoft.com/office/drawing/2014/main" id="{3E04577C-6036-A9F2-923E-1EA100D97531}"/>
              </a:ext>
            </a:extLst>
          </p:cNvPr>
          <p:cNvCxnSpPr>
            <a:cxnSpLocks/>
          </p:cNvCxnSpPr>
          <p:nvPr/>
        </p:nvCxnSpPr>
        <p:spPr>
          <a:xfrm>
            <a:off x="4344120" y="1237896"/>
            <a:ext cx="9124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B6B148EC-4CF5-DD5D-68BB-7EB0D4704CCC}"/>
              </a:ext>
            </a:extLst>
          </p:cNvPr>
          <p:cNvCxnSpPr>
            <a:cxnSpLocks/>
          </p:cNvCxnSpPr>
          <p:nvPr/>
        </p:nvCxnSpPr>
        <p:spPr>
          <a:xfrm>
            <a:off x="7151797" y="1237896"/>
            <a:ext cx="9124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2">
            <a:extLst>
              <a:ext uri="{FF2B5EF4-FFF2-40B4-BE49-F238E27FC236}">
                <a16:creationId xmlns:a16="http://schemas.microsoft.com/office/drawing/2014/main" id="{0C20A99A-6A17-567B-8F5C-003A179551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2757" y="1469981"/>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DD5BEE2C-BE1D-2F2E-7D11-DE26DD229487}"/>
              </a:ext>
            </a:extLst>
          </p:cNvPr>
          <p:cNvPicPr>
            <a:picLocks noChangeAspect="1" noChangeArrowheads="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425925" y="1424452"/>
            <a:ext cx="700658" cy="7006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0F0BA0ED-69E2-1838-44A5-3928C8F691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150" y="489846"/>
            <a:ext cx="1496099" cy="149609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23A60117-B7B5-8930-023A-DA658ABFD35F}"/>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0550858" y="508159"/>
            <a:ext cx="1496099" cy="1496099"/>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直線單箭頭接點 12">
            <a:extLst>
              <a:ext uri="{FF2B5EF4-FFF2-40B4-BE49-F238E27FC236}">
                <a16:creationId xmlns:a16="http://schemas.microsoft.com/office/drawing/2014/main" id="{AF79C2CC-F43C-41A9-8707-32789F10CB89}"/>
              </a:ext>
            </a:extLst>
          </p:cNvPr>
          <p:cNvCxnSpPr>
            <a:cxnSpLocks/>
          </p:cNvCxnSpPr>
          <p:nvPr/>
        </p:nvCxnSpPr>
        <p:spPr>
          <a:xfrm>
            <a:off x="1839704" y="1217696"/>
            <a:ext cx="60517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081B0330-2B5F-C058-C205-755B4C419234}"/>
              </a:ext>
            </a:extLst>
          </p:cNvPr>
          <p:cNvCxnSpPr>
            <a:cxnSpLocks/>
          </p:cNvCxnSpPr>
          <p:nvPr/>
        </p:nvCxnSpPr>
        <p:spPr>
          <a:xfrm>
            <a:off x="9824518" y="1256208"/>
            <a:ext cx="60517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圓角 16">
            <a:extLst>
              <a:ext uri="{FF2B5EF4-FFF2-40B4-BE49-F238E27FC236}">
                <a16:creationId xmlns:a16="http://schemas.microsoft.com/office/drawing/2014/main" id="{B20AC043-A773-E6C0-D43E-59DBEEDD8533}"/>
              </a:ext>
            </a:extLst>
          </p:cNvPr>
          <p:cNvSpPr/>
          <p:nvPr/>
        </p:nvSpPr>
        <p:spPr>
          <a:xfrm>
            <a:off x="2585500" y="3760126"/>
            <a:ext cx="7219563" cy="1064793"/>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18" name="Picture 2">
            <a:extLst>
              <a:ext uri="{FF2B5EF4-FFF2-40B4-BE49-F238E27FC236}">
                <a16:creationId xmlns:a16="http://schemas.microsoft.com/office/drawing/2014/main" id="{8D7BBD9C-2D7D-EE23-3617-86A377BD15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150" y="3511923"/>
            <a:ext cx="1496099" cy="1496099"/>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直線單箭頭接點 18">
            <a:extLst>
              <a:ext uri="{FF2B5EF4-FFF2-40B4-BE49-F238E27FC236}">
                <a16:creationId xmlns:a16="http://schemas.microsoft.com/office/drawing/2014/main" id="{B7EE082D-2D1A-55C9-3C9E-59081392DE99}"/>
              </a:ext>
            </a:extLst>
          </p:cNvPr>
          <p:cNvCxnSpPr>
            <a:cxnSpLocks/>
          </p:cNvCxnSpPr>
          <p:nvPr/>
        </p:nvCxnSpPr>
        <p:spPr>
          <a:xfrm>
            <a:off x="1839704" y="4239773"/>
            <a:ext cx="60517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2">
            <a:extLst>
              <a:ext uri="{FF2B5EF4-FFF2-40B4-BE49-F238E27FC236}">
                <a16:creationId xmlns:a16="http://schemas.microsoft.com/office/drawing/2014/main" id="{BF941076-E3D3-C032-8904-DF7DA4D1E3FE}"/>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0570314" y="3525881"/>
            <a:ext cx="1496099" cy="1496099"/>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直線單箭頭接點 20">
            <a:extLst>
              <a:ext uri="{FF2B5EF4-FFF2-40B4-BE49-F238E27FC236}">
                <a16:creationId xmlns:a16="http://schemas.microsoft.com/office/drawing/2014/main" id="{D1989A90-5286-9BCB-B3D3-3E785CCA7EA3}"/>
              </a:ext>
            </a:extLst>
          </p:cNvPr>
          <p:cNvCxnSpPr>
            <a:cxnSpLocks/>
          </p:cNvCxnSpPr>
          <p:nvPr/>
        </p:nvCxnSpPr>
        <p:spPr>
          <a:xfrm>
            <a:off x="9843974" y="4273930"/>
            <a:ext cx="60517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636852EB-0259-5B8B-B099-AC52B0F7ECF5}"/>
              </a:ext>
            </a:extLst>
          </p:cNvPr>
          <p:cNvSpPr txBox="1"/>
          <p:nvPr/>
        </p:nvSpPr>
        <p:spPr>
          <a:xfrm>
            <a:off x="324150" y="2180551"/>
            <a:ext cx="6099242" cy="461665"/>
          </a:xfrm>
          <a:prstGeom prst="rect">
            <a:avLst/>
          </a:prstGeom>
          <a:noFill/>
        </p:spPr>
        <p:txBody>
          <a:bodyPr wrap="square">
            <a:spAutoFit/>
          </a:bodyPr>
          <a:lstStyle/>
          <a:p>
            <a:r>
              <a:rPr lang="en-US" altLang="zh-TW" sz="2400" dirty="0"/>
              <a:t>Strength: Easy to construct</a:t>
            </a:r>
            <a:endParaRPr lang="zh-TW" altLang="en-US" sz="2400" dirty="0"/>
          </a:p>
        </p:txBody>
      </p:sp>
      <p:sp>
        <p:nvSpPr>
          <p:cNvPr id="26" name="文字方塊 25">
            <a:extLst>
              <a:ext uri="{FF2B5EF4-FFF2-40B4-BE49-F238E27FC236}">
                <a16:creationId xmlns:a16="http://schemas.microsoft.com/office/drawing/2014/main" id="{FE4953AD-EBDA-5B5F-B6ED-5F178195091C}"/>
              </a:ext>
            </a:extLst>
          </p:cNvPr>
          <p:cNvSpPr txBox="1"/>
          <p:nvPr/>
        </p:nvSpPr>
        <p:spPr>
          <a:xfrm>
            <a:off x="324150" y="2667773"/>
            <a:ext cx="8448473" cy="461665"/>
          </a:xfrm>
          <a:prstGeom prst="rect">
            <a:avLst/>
          </a:prstGeom>
          <a:noFill/>
        </p:spPr>
        <p:txBody>
          <a:bodyPr wrap="square">
            <a:spAutoFit/>
          </a:bodyPr>
          <a:lstStyle/>
          <a:p>
            <a:r>
              <a:rPr lang="en-US" altLang="zh-TW" sz="2400" dirty="0"/>
              <a:t>Weakness: Information loss (e.g., emotion), latency</a:t>
            </a:r>
            <a:endParaRPr lang="zh-TW" altLang="en-US" sz="2400" dirty="0"/>
          </a:p>
        </p:txBody>
      </p:sp>
      <p:sp>
        <p:nvSpPr>
          <p:cNvPr id="27" name="文字方塊 26">
            <a:extLst>
              <a:ext uri="{FF2B5EF4-FFF2-40B4-BE49-F238E27FC236}">
                <a16:creationId xmlns:a16="http://schemas.microsoft.com/office/drawing/2014/main" id="{66480705-267A-9A0D-962C-774621062E02}"/>
              </a:ext>
            </a:extLst>
          </p:cNvPr>
          <p:cNvSpPr txBox="1"/>
          <p:nvPr/>
        </p:nvSpPr>
        <p:spPr>
          <a:xfrm>
            <a:off x="324149" y="5216315"/>
            <a:ext cx="11722807" cy="461665"/>
          </a:xfrm>
          <a:prstGeom prst="rect">
            <a:avLst/>
          </a:prstGeom>
          <a:noFill/>
        </p:spPr>
        <p:txBody>
          <a:bodyPr wrap="square">
            <a:spAutoFit/>
          </a:bodyPr>
          <a:lstStyle/>
          <a:p>
            <a:r>
              <a:rPr lang="en-US" altLang="zh-TW" sz="2400" dirty="0"/>
              <a:t>Strength:</a:t>
            </a:r>
            <a:r>
              <a:rPr lang="zh-TW" altLang="en-US" sz="2400" dirty="0"/>
              <a:t> </a:t>
            </a:r>
            <a:r>
              <a:rPr lang="en-US" altLang="zh-TW" sz="2400" dirty="0"/>
              <a:t>Capture all speech information, probably low latency</a:t>
            </a:r>
            <a:endParaRPr lang="zh-TW" altLang="en-US" sz="2400" dirty="0"/>
          </a:p>
        </p:txBody>
      </p:sp>
      <p:sp>
        <p:nvSpPr>
          <p:cNvPr id="28" name="文字方塊 27">
            <a:extLst>
              <a:ext uri="{FF2B5EF4-FFF2-40B4-BE49-F238E27FC236}">
                <a16:creationId xmlns:a16="http://schemas.microsoft.com/office/drawing/2014/main" id="{A56B1DBB-1E64-AE03-9284-15E19582133A}"/>
              </a:ext>
            </a:extLst>
          </p:cNvPr>
          <p:cNvSpPr txBox="1"/>
          <p:nvPr/>
        </p:nvSpPr>
        <p:spPr>
          <a:xfrm>
            <a:off x="324150" y="5703537"/>
            <a:ext cx="8448473" cy="461665"/>
          </a:xfrm>
          <a:prstGeom prst="rect">
            <a:avLst/>
          </a:prstGeom>
          <a:noFill/>
        </p:spPr>
        <p:txBody>
          <a:bodyPr wrap="square">
            <a:spAutoFit/>
          </a:bodyPr>
          <a:lstStyle/>
          <a:p>
            <a:r>
              <a:rPr lang="en-US" altLang="zh-TW" sz="2400" dirty="0"/>
              <a:t>Weakness: Still under investigation</a:t>
            </a:r>
            <a:endParaRPr lang="zh-TW" altLang="en-US" sz="2400" dirty="0"/>
          </a:p>
        </p:txBody>
      </p:sp>
      <p:sp>
        <p:nvSpPr>
          <p:cNvPr id="29" name="文字方塊 28">
            <a:extLst>
              <a:ext uri="{FF2B5EF4-FFF2-40B4-BE49-F238E27FC236}">
                <a16:creationId xmlns:a16="http://schemas.microsoft.com/office/drawing/2014/main" id="{757A88BF-5462-0323-DE99-5F41F755EE80}"/>
              </a:ext>
            </a:extLst>
          </p:cNvPr>
          <p:cNvSpPr txBox="1"/>
          <p:nvPr/>
        </p:nvSpPr>
        <p:spPr>
          <a:xfrm>
            <a:off x="8772623" y="2160015"/>
            <a:ext cx="2830131" cy="954107"/>
          </a:xfrm>
          <a:prstGeom prst="rect">
            <a:avLst/>
          </a:prstGeom>
          <a:noFill/>
        </p:spPr>
        <p:txBody>
          <a:bodyPr wrap="square" rtlCol="0">
            <a:spAutoFit/>
          </a:bodyPr>
          <a:lstStyle/>
          <a:p>
            <a:r>
              <a:rPr lang="zh-TW" altLang="en-US" sz="2800" dirty="0">
                <a:latin typeface="微軟正黑體" panose="020B0604030504040204" pitchFamily="34" charset="-120"/>
                <a:ea typeface="微軟正黑體" panose="020B0604030504040204" pitchFamily="34" charset="-120"/>
              </a:rPr>
              <a:t>在 </a:t>
            </a:r>
            <a:r>
              <a:rPr lang="en-US" altLang="zh-TW" sz="2800" dirty="0">
                <a:latin typeface="微軟正黑體" panose="020B0604030504040204" pitchFamily="34" charset="-120"/>
                <a:ea typeface="微軟正黑體" panose="020B0604030504040204" pitchFamily="34" charset="-120"/>
              </a:rPr>
              <a:t>2025 </a:t>
            </a:r>
            <a:r>
              <a:rPr lang="zh-TW" altLang="en-US" sz="2800" dirty="0">
                <a:latin typeface="微軟正黑體" panose="020B0604030504040204" pitchFamily="34" charset="-120"/>
                <a:ea typeface="微軟正黑體" panose="020B0604030504040204" pitchFamily="34" charset="-120"/>
              </a:rPr>
              <a:t>年會有比較好的結果</a:t>
            </a:r>
          </a:p>
        </p:txBody>
      </p:sp>
      <p:sp>
        <p:nvSpPr>
          <p:cNvPr id="30" name="文字方塊 29">
            <a:extLst>
              <a:ext uri="{FF2B5EF4-FFF2-40B4-BE49-F238E27FC236}">
                <a16:creationId xmlns:a16="http://schemas.microsoft.com/office/drawing/2014/main" id="{9CA447AF-914E-C60F-54C1-DFF288931C8A}"/>
              </a:ext>
            </a:extLst>
          </p:cNvPr>
          <p:cNvSpPr txBox="1"/>
          <p:nvPr/>
        </p:nvSpPr>
        <p:spPr>
          <a:xfrm>
            <a:off x="9338553" y="5369047"/>
            <a:ext cx="1979810" cy="954107"/>
          </a:xfrm>
          <a:prstGeom prst="rect">
            <a:avLst/>
          </a:prstGeom>
          <a:noFill/>
        </p:spPr>
        <p:txBody>
          <a:bodyPr wrap="square" rtlCol="0">
            <a:spAutoFit/>
          </a:bodyPr>
          <a:lstStyle/>
          <a:p>
            <a:pPr algn="r"/>
            <a:r>
              <a:rPr lang="zh-TW" altLang="en-US" sz="2800" dirty="0">
                <a:latin typeface="微軟正黑體" panose="020B0604030504040204" pitchFamily="34" charset="-120"/>
                <a:ea typeface="微軟正黑體" panose="020B0604030504040204" pitchFamily="34" charset="-120"/>
              </a:rPr>
              <a:t>較高的能力上限</a:t>
            </a:r>
          </a:p>
        </p:txBody>
      </p:sp>
    </p:spTree>
    <p:extLst>
      <p:ext uri="{BB962C8B-B14F-4D97-AF65-F5344CB8AC3E}">
        <p14:creationId xmlns:p14="http://schemas.microsoft.com/office/powerpoint/2010/main" val="260334581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p:bldP spid="27" grpId="0"/>
      <p:bldP spid="28" grpId="0"/>
      <p:bldP spid="29" grpId="0"/>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形 5">
            <a:extLst>
              <a:ext uri="{FF2B5EF4-FFF2-40B4-BE49-F238E27FC236}">
                <a16:creationId xmlns:a16="http://schemas.microsoft.com/office/drawing/2014/main" id="{985F285A-0A24-3A2B-5460-AA9D91D42D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46869" y="1004583"/>
            <a:ext cx="7078717" cy="5702300"/>
          </a:xfrm>
          <a:prstGeom prst="rect">
            <a:avLst/>
          </a:prstGeom>
        </p:spPr>
      </p:pic>
      <p:sp>
        <p:nvSpPr>
          <p:cNvPr id="2" name="標題 1">
            <a:extLst>
              <a:ext uri="{FF2B5EF4-FFF2-40B4-BE49-F238E27FC236}">
                <a16:creationId xmlns:a16="http://schemas.microsoft.com/office/drawing/2014/main" id="{092C5003-A9F8-C8B7-7A4B-5D8EDA941F5A}"/>
              </a:ext>
            </a:extLst>
          </p:cNvPr>
          <p:cNvSpPr>
            <a:spLocks noGrp="1"/>
          </p:cNvSpPr>
          <p:nvPr>
            <p:ph type="title"/>
          </p:nvPr>
        </p:nvSpPr>
        <p:spPr/>
        <p:txBody>
          <a:bodyPr/>
          <a:lstStyle/>
          <a:p>
            <a:r>
              <a:rPr lang="en-US" altLang="zh-TW" dirty="0"/>
              <a:t>History of Automatic Speech Recognition … </a:t>
            </a:r>
            <a:endParaRPr lang="zh-TW" altLang="en-US" dirty="0">
              <a:latin typeface="微軟正黑體" panose="020B0604030504040204" pitchFamily="34" charset="-120"/>
              <a:ea typeface="微軟正黑體" panose="020B0604030504040204" pitchFamily="34" charset="-120"/>
            </a:endParaRPr>
          </a:p>
        </p:txBody>
      </p:sp>
      <p:sp>
        <p:nvSpPr>
          <p:cNvPr id="4" name="AutoShape 2" descr="ASR 模型架構概要">
            <a:extLst>
              <a:ext uri="{FF2B5EF4-FFF2-40B4-BE49-F238E27FC236}">
                <a16:creationId xmlns:a16="http://schemas.microsoft.com/office/drawing/2014/main" id="{F2AD7A69-F68E-6D47-2B1F-25D27868DC4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7" name="文字方塊 6">
            <a:extLst>
              <a:ext uri="{FF2B5EF4-FFF2-40B4-BE49-F238E27FC236}">
                <a16:creationId xmlns:a16="http://schemas.microsoft.com/office/drawing/2014/main" id="{346B884C-4C6E-F6FD-42D5-DCE35546E5FF}"/>
              </a:ext>
            </a:extLst>
          </p:cNvPr>
          <p:cNvSpPr txBox="1"/>
          <p:nvPr/>
        </p:nvSpPr>
        <p:spPr>
          <a:xfrm>
            <a:off x="2470825" y="1690688"/>
            <a:ext cx="1789890" cy="830997"/>
          </a:xfrm>
          <a:prstGeom prst="rect">
            <a:avLst/>
          </a:prstGeom>
          <a:noFill/>
        </p:spPr>
        <p:txBody>
          <a:bodyPr wrap="square" rtlCol="0">
            <a:spAutoFit/>
          </a:bodyPr>
          <a:lstStyle/>
          <a:p>
            <a:pPr algn="r"/>
            <a:r>
              <a:rPr lang="en-US" altLang="zh-TW" sz="2400" dirty="0"/>
              <a:t>Whisper (End-to-end)</a:t>
            </a:r>
            <a:endParaRPr lang="zh-TW" altLang="en-US" sz="2400" dirty="0"/>
          </a:p>
        </p:txBody>
      </p:sp>
      <p:grpSp>
        <p:nvGrpSpPr>
          <p:cNvPr id="14" name="群組 13">
            <a:extLst>
              <a:ext uri="{FF2B5EF4-FFF2-40B4-BE49-F238E27FC236}">
                <a16:creationId xmlns:a16="http://schemas.microsoft.com/office/drawing/2014/main" id="{F23EDEC3-3FD7-E215-0D8C-9BB3B071E4C9}"/>
              </a:ext>
            </a:extLst>
          </p:cNvPr>
          <p:cNvGrpSpPr/>
          <p:nvPr/>
        </p:nvGrpSpPr>
        <p:grpSpPr>
          <a:xfrm>
            <a:off x="162127" y="2872253"/>
            <a:ext cx="11867745" cy="3712284"/>
            <a:chOff x="162127" y="2872253"/>
            <a:chExt cx="11867745" cy="3712284"/>
          </a:xfrm>
        </p:grpSpPr>
        <p:sp>
          <p:nvSpPr>
            <p:cNvPr id="10" name="文字方塊 9">
              <a:extLst>
                <a:ext uri="{FF2B5EF4-FFF2-40B4-BE49-F238E27FC236}">
                  <a16:creationId xmlns:a16="http://schemas.microsoft.com/office/drawing/2014/main" id="{239DBCFD-E245-9BD7-CFA2-1C8C7FACC981}"/>
                </a:ext>
              </a:extLst>
            </p:cNvPr>
            <p:cNvSpPr txBox="1"/>
            <p:nvPr/>
          </p:nvSpPr>
          <p:spPr>
            <a:xfrm>
              <a:off x="315412" y="2872253"/>
              <a:ext cx="1789890" cy="461665"/>
            </a:xfrm>
            <a:prstGeom prst="rect">
              <a:avLst/>
            </a:prstGeom>
            <a:noFill/>
          </p:spPr>
          <p:txBody>
            <a:bodyPr wrap="square" rtlCol="0">
              <a:spAutoFit/>
            </a:bodyPr>
            <a:lstStyle/>
            <a:p>
              <a:r>
                <a:rPr lang="en-US" altLang="zh-TW" sz="2400" dirty="0"/>
                <a:t>Cascade</a:t>
              </a:r>
              <a:endParaRPr lang="zh-TW" altLang="en-US" sz="2400" dirty="0"/>
            </a:p>
          </p:txBody>
        </p:sp>
        <p:pic>
          <p:nvPicPr>
            <p:cNvPr id="12" name="圖片 11" descr="一張含有 文字, 字型, 螢幕擷取畫面, 圖表 的圖片&#10;&#10;AI 產生的內容可能不正確。">
              <a:extLst>
                <a:ext uri="{FF2B5EF4-FFF2-40B4-BE49-F238E27FC236}">
                  <a16:creationId xmlns:a16="http://schemas.microsoft.com/office/drawing/2014/main" id="{584C1908-98AC-246F-9FBF-A12D95523F25}"/>
                </a:ext>
              </a:extLst>
            </p:cNvPr>
            <p:cNvPicPr>
              <a:picLocks noChangeAspect="1"/>
            </p:cNvPicPr>
            <p:nvPr/>
          </p:nvPicPr>
          <p:blipFill>
            <a:blip r:embed="rId4"/>
            <a:stretch>
              <a:fillRect/>
            </a:stretch>
          </p:blipFill>
          <p:spPr>
            <a:xfrm>
              <a:off x="162127" y="3947260"/>
              <a:ext cx="11867745" cy="2637277"/>
            </a:xfrm>
            <a:prstGeom prst="rect">
              <a:avLst/>
            </a:prstGeom>
          </p:spPr>
        </p:pic>
        <p:sp>
          <p:nvSpPr>
            <p:cNvPr id="13" name="文字方塊 12">
              <a:extLst>
                <a:ext uri="{FF2B5EF4-FFF2-40B4-BE49-F238E27FC236}">
                  <a16:creationId xmlns:a16="http://schemas.microsoft.com/office/drawing/2014/main" id="{D6EF4C3C-C6F2-EF1A-A077-FFF0D5E79A3F}"/>
                </a:ext>
              </a:extLst>
            </p:cNvPr>
            <p:cNvSpPr txBox="1"/>
            <p:nvPr/>
          </p:nvSpPr>
          <p:spPr>
            <a:xfrm>
              <a:off x="315412" y="3300929"/>
              <a:ext cx="2976664" cy="646331"/>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圖片來源：李琳山教授</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數位語音處理</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51196865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9B410C-F408-1054-AFF2-C71A189D520E}"/>
              </a:ext>
            </a:extLst>
          </p:cNvPr>
          <p:cNvSpPr>
            <a:spLocks noGrp="1"/>
          </p:cNvSpPr>
          <p:nvPr>
            <p:ph type="title"/>
          </p:nvPr>
        </p:nvSpPr>
        <p:spPr/>
        <p:txBody>
          <a:bodyPr/>
          <a:lstStyle/>
          <a:p>
            <a:r>
              <a:rPr lang="en-US" altLang="zh-TW" dirty="0"/>
              <a:t>History of Automatic Speech Recognition … </a:t>
            </a:r>
            <a:endParaRPr lang="zh-TW" altLang="en-US" dirty="0"/>
          </a:p>
        </p:txBody>
      </p:sp>
      <p:pic>
        <p:nvPicPr>
          <p:cNvPr id="6" name="圖片 5">
            <a:extLst>
              <a:ext uri="{FF2B5EF4-FFF2-40B4-BE49-F238E27FC236}">
                <a16:creationId xmlns:a16="http://schemas.microsoft.com/office/drawing/2014/main" id="{4C9C9B7E-ADD0-EAE2-7FCE-56F30BF0CD0A}"/>
              </a:ext>
            </a:extLst>
          </p:cNvPr>
          <p:cNvPicPr>
            <a:picLocks noChangeAspect="1"/>
          </p:cNvPicPr>
          <p:nvPr/>
        </p:nvPicPr>
        <p:blipFill>
          <a:blip r:embed="rId3"/>
          <a:stretch>
            <a:fillRect/>
          </a:stretch>
        </p:blipFill>
        <p:spPr>
          <a:xfrm>
            <a:off x="4053191" y="1640207"/>
            <a:ext cx="7376805" cy="4693274"/>
          </a:xfrm>
          <a:prstGeom prst="rect">
            <a:avLst/>
          </a:prstGeom>
        </p:spPr>
      </p:pic>
      <p:sp>
        <p:nvSpPr>
          <p:cNvPr id="8" name="文字方塊 7">
            <a:extLst>
              <a:ext uri="{FF2B5EF4-FFF2-40B4-BE49-F238E27FC236}">
                <a16:creationId xmlns:a16="http://schemas.microsoft.com/office/drawing/2014/main" id="{F4910CE7-4C56-9110-9E7D-0AE8A55BBDAA}"/>
              </a:ext>
            </a:extLst>
          </p:cNvPr>
          <p:cNvSpPr txBox="1"/>
          <p:nvPr/>
        </p:nvSpPr>
        <p:spPr>
          <a:xfrm>
            <a:off x="762004" y="2584409"/>
            <a:ext cx="3214991" cy="923330"/>
          </a:xfrm>
          <a:prstGeom prst="rect">
            <a:avLst/>
          </a:prstGeom>
          <a:noFill/>
        </p:spPr>
        <p:txBody>
          <a:bodyPr wrap="square">
            <a:spAutoFit/>
          </a:bodyPr>
          <a:lstStyle/>
          <a:p>
            <a:r>
              <a:rPr lang="zh-TW" altLang="en-US" dirty="0"/>
              <a:t>https://www.isca-archive.org/interspeech_2015/lu15e_interspeech.html</a:t>
            </a:r>
          </a:p>
        </p:txBody>
      </p:sp>
      <p:sp>
        <p:nvSpPr>
          <p:cNvPr id="9" name="矩形 8">
            <a:extLst>
              <a:ext uri="{FF2B5EF4-FFF2-40B4-BE49-F238E27FC236}">
                <a16:creationId xmlns:a16="http://schemas.microsoft.com/office/drawing/2014/main" id="{F683BF06-C33A-8A7B-0079-5F1669E38EB4}"/>
              </a:ext>
            </a:extLst>
          </p:cNvPr>
          <p:cNvSpPr/>
          <p:nvPr/>
        </p:nvSpPr>
        <p:spPr>
          <a:xfrm>
            <a:off x="762004" y="4948487"/>
            <a:ext cx="2271135" cy="461665"/>
          </a:xfrm>
          <a:prstGeom prst="rect">
            <a:avLst/>
          </a:prstGeom>
        </p:spPr>
        <p:txBody>
          <a:bodyPr wrap="none">
            <a:spAutoFit/>
          </a:bodyPr>
          <a:lstStyle/>
          <a:p>
            <a:r>
              <a:rPr lang="en-US" altLang="zh-TW" sz="2400" dirty="0"/>
              <a:t>10.4% on SWB …</a:t>
            </a:r>
            <a:endParaRPr lang="zh-TW" altLang="en-US" sz="2400" dirty="0"/>
          </a:p>
        </p:txBody>
      </p:sp>
      <p:sp>
        <p:nvSpPr>
          <p:cNvPr id="13" name="文字方塊 12">
            <a:extLst>
              <a:ext uri="{FF2B5EF4-FFF2-40B4-BE49-F238E27FC236}">
                <a16:creationId xmlns:a16="http://schemas.microsoft.com/office/drawing/2014/main" id="{24F69CB1-4CF5-6BBE-3240-A479C72D17AB}"/>
              </a:ext>
            </a:extLst>
          </p:cNvPr>
          <p:cNvSpPr txBox="1"/>
          <p:nvPr/>
        </p:nvSpPr>
        <p:spPr>
          <a:xfrm>
            <a:off x="762004" y="5410151"/>
            <a:ext cx="3214991" cy="923330"/>
          </a:xfrm>
          <a:prstGeom prst="rect">
            <a:avLst/>
          </a:prstGeom>
          <a:noFill/>
        </p:spPr>
        <p:txBody>
          <a:bodyPr wrap="square">
            <a:spAutoFit/>
          </a:bodyPr>
          <a:lstStyle/>
          <a:p>
            <a:r>
              <a:rPr lang="zh-TW" altLang="en-US" dirty="0"/>
              <a:t>https://ieeexplore.ieee.org/abstract/document/6854669 </a:t>
            </a:r>
            <a:r>
              <a:rPr lang="en-US" altLang="zh-TW" dirty="0"/>
              <a:t>(ICASSP’14)</a:t>
            </a:r>
            <a:endParaRPr lang="zh-TW" altLang="en-US" dirty="0"/>
          </a:p>
        </p:txBody>
      </p:sp>
    </p:spTree>
    <p:extLst>
      <p:ext uri="{BB962C8B-B14F-4D97-AF65-F5344CB8AC3E}">
        <p14:creationId xmlns:p14="http://schemas.microsoft.com/office/powerpoint/2010/main" val="37348837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0D73EC-1814-9697-8D29-0D4B77F5AF96}"/>
              </a:ext>
            </a:extLst>
          </p:cNvPr>
          <p:cNvSpPr>
            <a:spLocks noGrp="1"/>
          </p:cNvSpPr>
          <p:nvPr>
            <p:ph type="title"/>
          </p:nvPr>
        </p:nvSpPr>
        <p:spPr/>
        <p:txBody>
          <a:bodyPr/>
          <a:lstStyle/>
          <a:p>
            <a:r>
              <a:rPr lang="en-US" altLang="zh-TW" dirty="0"/>
              <a:t>History of Automatic Speech Recognition … </a:t>
            </a:r>
            <a:endParaRPr lang="zh-TW" altLang="en-US" dirty="0"/>
          </a:p>
        </p:txBody>
      </p:sp>
      <p:pic>
        <p:nvPicPr>
          <p:cNvPr id="7" name="圖片 6" descr="一張含有 文字, 字型, 螢幕擷取畫面, 代數 的圖片&#10;&#10;AI 產生的內容可能不正確。">
            <a:extLst>
              <a:ext uri="{FF2B5EF4-FFF2-40B4-BE49-F238E27FC236}">
                <a16:creationId xmlns:a16="http://schemas.microsoft.com/office/drawing/2014/main" id="{F8D01BAA-E11E-730C-0F12-9313CE79C613}"/>
              </a:ext>
            </a:extLst>
          </p:cNvPr>
          <p:cNvPicPr>
            <a:picLocks noChangeAspect="1"/>
          </p:cNvPicPr>
          <p:nvPr/>
        </p:nvPicPr>
        <p:blipFill>
          <a:blip r:embed="rId2"/>
          <a:stretch>
            <a:fillRect/>
          </a:stretch>
        </p:blipFill>
        <p:spPr>
          <a:xfrm>
            <a:off x="643546" y="1690688"/>
            <a:ext cx="10029116" cy="2005823"/>
          </a:xfrm>
          <a:prstGeom prst="rect">
            <a:avLst/>
          </a:prstGeom>
        </p:spPr>
      </p:pic>
      <p:sp>
        <p:nvSpPr>
          <p:cNvPr id="9" name="文字方塊 8">
            <a:extLst>
              <a:ext uri="{FF2B5EF4-FFF2-40B4-BE49-F238E27FC236}">
                <a16:creationId xmlns:a16="http://schemas.microsoft.com/office/drawing/2014/main" id="{12A477DE-044B-F5CB-BCC5-E75DE0913963}"/>
              </a:ext>
            </a:extLst>
          </p:cNvPr>
          <p:cNvSpPr txBox="1"/>
          <p:nvPr/>
        </p:nvSpPr>
        <p:spPr>
          <a:xfrm>
            <a:off x="838200" y="3696511"/>
            <a:ext cx="8325255" cy="369332"/>
          </a:xfrm>
          <a:prstGeom prst="rect">
            <a:avLst/>
          </a:prstGeom>
          <a:noFill/>
        </p:spPr>
        <p:txBody>
          <a:bodyPr wrap="square">
            <a:spAutoFit/>
          </a:bodyPr>
          <a:lstStyle/>
          <a:p>
            <a:r>
              <a:rPr lang="zh-TW" altLang="en-US" dirty="0"/>
              <a:t>https://ieeexplore.ieee.org/abstract/document/5495651 </a:t>
            </a:r>
            <a:r>
              <a:rPr lang="en-US" altLang="zh-TW" dirty="0"/>
              <a:t>(ICASSP 2010)</a:t>
            </a:r>
            <a:endParaRPr lang="zh-TW" altLang="en-US" dirty="0"/>
          </a:p>
        </p:txBody>
      </p:sp>
      <p:pic>
        <p:nvPicPr>
          <p:cNvPr id="11" name="圖片 10" descr="一張含有 文字, 字型, 螢幕擷取畫面, 數字 的圖片&#10;&#10;AI 產生的內容可能不正確。">
            <a:extLst>
              <a:ext uri="{FF2B5EF4-FFF2-40B4-BE49-F238E27FC236}">
                <a16:creationId xmlns:a16="http://schemas.microsoft.com/office/drawing/2014/main" id="{E650DA10-93AD-6091-C5CE-FBCC5DEBEAFC}"/>
              </a:ext>
            </a:extLst>
          </p:cNvPr>
          <p:cNvPicPr>
            <a:picLocks noChangeAspect="1"/>
          </p:cNvPicPr>
          <p:nvPr/>
        </p:nvPicPr>
        <p:blipFill>
          <a:blip r:embed="rId3"/>
          <a:stretch>
            <a:fillRect/>
          </a:stretch>
        </p:blipFill>
        <p:spPr>
          <a:xfrm>
            <a:off x="4457074" y="2328474"/>
            <a:ext cx="7091380" cy="4164401"/>
          </a:xfrm>
          <a:prstGeom prst="rect">
            <a:avLst/>
          </a:prstGeom>
        </p:spPr>
      </p:pic>
    </p:spTree>
    <p:extLst>
      <p:ext uri="{BB962C8B-B14F-4D97-AF65-F5344CB8AC3E}">
        <p14:creationId xmlns:p14="http://schemas.microsoft.com/office/powerpoint/2010/main" val="166980674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3613C257-F6D2-EF21-C90A-31E549CAF141}"/>
              </a:ext>
            </a:extLst>
          </p:cNvPr>
          <p:cNvSpPr/>
          <p:nvPr/>
        </p:nvSpPr>
        <p:spPr>
          <a:xfrm>
            <a:off x="6060332" y="2665380"/>
            <a:ext cx="1175425" cy="32052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B113DCE3-98C5-3C16-92C0-4B8588587A67}"/>
              </a:ext>
            </a:extLst>
          </p:cNvPr>
          <p:cNvSpPr/>
          <p:nvPr/>
        </p:nvSpPr>
        <p:spPr>
          <a:xfrm>
            <a:off x="3891064" y="3813243"/>
            <a:ext cx="1175425" cy="19844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ACBB71BE-90DE-69FD-CF91-EF85299970DD}"/>
              </a:ext>
            </a:extLst>
          </p:cNvPr>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一般人想像中的技術發展</a:t>
            </a:r>
          </a:p>
        </p:txBody>
      </p:sp>
      <p:cxnSp>
        <p:nvCxnSpPr>
          <p:cNvPr id="5" name="直線單箭頭接點 4">
            <a:extLst>
              <a:ext uri="{FF2B5EF4-FFF2-40B4-BE49-F238E27FC236}">
                <a16:creationId xmlns:a16="http://schemas.microsoft.com/office/drawing/2014/main" id="{B5BE81C6-EAC3-B1BC-3CDC-EE6E4D9E506A}"/>
              </a:ext>
            </a:extLst>
          </p:cNvPr>
          <p:cNvCxnSpPr>
            <a:cxnSpLocks/>
          </p:cNvCxnSpPr>
          <p:nvPr/>
        </p:nvCxnSpPr>
        <p:spPr>
          <a:xfrm flipV="1">
            <a:off x="1692611" y="1825625"/>
            <a:ext cx="0" cy="420552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單箭頭接點 5">
            <a:extLst>
              <a:ext uri="{FF2B5EF4-FFF2-40B4-BE49-F238E27FC236}">
                <a16:creationId xmlns:a16="http://schemas.microsoft.com/office/drawing/2014/main" id="{0977F8BA-D1F8-C2A1-6904-F8175793EE84}"/>
              </a:ext>
            </a:extLst>
          </p:cNvPr>
          <p:cNvCxnSpPr>
            <a:cxnSpLocks/>
          </p:cNvCxnSpPr>
          <p:nvPr/>
        </p:nvCxnSpPr>
        <p:spPr>
          <a:xfrm>
            <a:off x="1692612" y="6031149"/>
            <a:ext cx="8806775"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文字方塊 12">
            <a:extLst>
              <a:ext uri="{FF2B5EF4-FFF2-40B4-BE49-F238E27FC236}">
                <a16:creationId xmlns:a16="http://schemas.microsoft.com/office/drawing/2014/main" id="{363A0F07-99CF-6BC7-895B-A28BD051731A}"/>
              </a:ext>
            </a:extLst>
          </p:cNvPr>
          <p:cNvSpPr txBox="1"/>
          <p:nvPr/>
        </p:nvSpPr>
        <p:spPr>
          <a:xfrm>
            <a:off x="9727660" y="6176963"/>
            <a:ext cx="1626140" cy="461665"/>
          </a:xfrm>
          <a:prstGeom prst="rect">
            <a:avLst/>
          </a:prstGeom>
          <a:noFill/>
        </p:spPr>
        <p:txBody>
          <a:bodyPr wrap="square" rtlCol="0">
            <a:spAutoFit/>
          </a:bodyPr>
          <a:lstStyle/>
          <a:p>
            <a:r>
              <a:rPr lang="en-US" altLang="zh-TW" sz="2400" dirty="0"/>
              <a:t>time</a:t>
            </a:r>
            <a:endParaRPr lang="zh-TW" altLang="en-US" sz="2400" dirty="0"/>
          </a:p>
        </p:txBody>
      </p:sp>
      <p:sp>
        <p:nvSpPr>
          <p:cNvPr id="14" name="文字方塊 13">
            <a:extLst>
              <a:ext uri="{FF2B5EF4-FFF2-40B4-BE49-F238E27FC236}">
                <a16:creationId xmlns:a16="http://schemas.microsoft.com/office/drawing/2014/main" id="{94795BCA-CA04-F14D-3A8C-00FCC40AE256}"/>
              </a:ext>
            </a:extLst>
          </p:cNvPr>
          <p:cNvSpPr txBox="1"/>
          <p:nvPr/>
        </p:nvSpPr>
        <p:spPr>
          <a:xfrm rot="16200000">
            <a:off x="272574" y="2521134"/>
            <a:ext cx="1989306" cy="461664"/>
          </a:xfrm>
          <a:prstGeom prst="rect">
            <a:avLst/>
          </a:prstGeom>
          <a:noFill/>
        </p:spPr>
        <p:txBody>
          <a:bodyPr wrap="square" rtlCol="0">
            <a:spAutoFit/>
          </a:bodyPr>
          <a:lstStyle/>
          <a:p>
            <a:r>
              <a:rPr lang="en-US" altLang="zh-TW" sz="2400" dirty="0"/>
              <a:t>performance</a:t>
            </a:r>
            <a:endParaRPr lang="zh-TW" altLang="en-US" sz="2400" dirty="0"/>
          </a:p>
        </p:txBody>
      </p:sp>
      <p:sp>
        <p:nvSpPr>
          <p:cNvPr id="15" name="文字方塊 14">
            <a:extLst>
              <a:ext uri="{FF2B5EF4-FFF2-40B4-BE49-F238E27FC236}">
                <a16:creationId xmlns:a16="http://schemas.microsoft.com/office/drawing/2014/main" id="{D3BF3F0F-BB80-E36C-A5AD-368D63613497}"/>
              </a:ext>
            </a:extLst>
          </p:cNvPr>
          <p:cNvSpPr txBox="1"/>
          <p:nvPr/>
        </p:nvSpPr>
        <p:spPr>
          <a:xfrm>
            <a:off x="2344366" y="4044076"/>
            <a:ext cx="1264595" cy="461665"/>
          </a:xfrm>
          <a:prstGeom prst="rect">
            <a:avLst/>
          </a:prstGeom>
          <a:noFill/>
        </p:spPr>
        <p:txBody>
          <a:bodyPr wrap="square" rtlCol="0">
            <a:spAutoFit/>
          </a:bodyPr>
          <a:lstStyle/>
          <a:p>
            <a:r>
              <a:rPr lang="en-US" altLang="zh-TW" sz="2400" dirty="0"/>
              <a:t>HMM</a:t>
            </a:r>
            <a:endParaRPr lang="zh-TW" altLang="en-US" sz="2400" dirty="0"/>
          </a:p>
        </p:txBody>
      </p:sp>
      <p:sp>
        <p:nvSpPr>
          <p:cNvPr id="16" name="文字方塊 15">
            <a:extLst>
              <a:ext uri="{FF2B5EF4-FFF2-40B4-BE49-F238E27FC236}">
                <a16:creationId xmlns:a16="http://schemas.microsoft.com/office/drawing/2014/main" id="{38FE1532-0F5A-0EB1-3EF3-B2874CC3937F}"/>
              </a:ext>
            </a:extLst>
          </p:cNvPr>
          <p:cNvSpPr txBox="1"/>
          <p:nvPr/>
        </p:nvSpPr>
        <p:spPr>
          <a:xfrm>
            <a:off x="4199107" y="2423054"/>
            <a:ext cx="1264595" cy="830997"/>
          </a:xfrm>
          <a:prstGeom prst="rect">
            <a:avLst/>
          </a:prstGeom>
          <a:noFill/>
        </p:spPr>
        <p:txBody>
          <a:bodyPr wrap="square" rtlCol="0">
            <a:spAutoFit/>
          </a:bodyPr>
          <a:lstStyle/>
          <a:p>
            <a:r>
              <a:rPr lang="en-US" altLang="zh-TW" sz="2400" dirty="0"/>
              <a:t>Deep learning</a:t>
            </a:r>
            <a:endParaRPr lang="zh-TW" altLang="en-US" sz="2400" dirty="0"/>
          </a:p>
        </p:txBody>
      </p:sp>
      <p:sp>
        <p:nvSpPr>
          <p:cNvPr id="17" name="文字方塊 16">
            <a:extLst>
              <a:ext uri="{FF2B5EF4-FFF2-40B4-BE49-F238E27FC236}">
                <a16:creationId xmlns:a16="http://schemas.microsoft.com/office/drawing/2014/main" id="{67DD6BED-CD70-8C4B-DAF9-16CCC998C51B}"/>
              </a:ext>
            </a:extLst>
          </p:cNvPr>
          <p:cNvSpPr txBox="1"/>
          <p:nvPr/>
        </p:nvSpPr>
        <p:spPr>
          <a:xfrm>
            <a:off x="6060332" y="1493168"/>
            <a:ext cx="1838529" cy="461665"/>
          </a:xfrm>
          <a:prstGeom prst="rect">
            <a:avLst/>
          </a:prstGeom>
          <a:noFill/>
        </p:spPr>
        <p:txBody>
          <a:bodyPr wrap="square" rtlCol="0">
            <a:spAutoFit/>
          </a:bodyPr>
          <a:lstStyle/>
          <a:p>
            <a:r>
              <a:rPr lang="en-US" altLang="zh-TW" sz="2400" dirty="0"/>
              <a:t>End-to-end</a:t>
            </a:r>
            <a:endParaRPr lang="zh-TW" altLang="en-US" sz="2400" dirty="0"/>
          </a:p>
        </p:txBody>
      </p:sp>
      <p:cxnSp>
        <p:nvCxnSpPr>
          <p:cNvPr id="22" name="直線單箭頭接點 21">
            <a:extLst>
              <a:ext uri="{FF2B5EF4-FFF2-40B4-BE49-F238E27FC236}">
                <a16:creationId xmlns:a16="http://schemas.microsoft.com/office/drawing/2014/main" id="{83DD2026-F3E7-3481-AD27-5C6B16A9A8F7}"/>
              </a:ext>
            </a:extLst>
          </p:cNvPr>
          <p:cNvCxnSpPr/>
          <p:nvPr/>
        </p:nvCxnSpPr>
        <p:spPr>
          <a:xfrm>
            <a:off x="3489490" y="3259375"/>
            <a:ext cx="1206230" cy="559192"/>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4" name="文字方塊 23">
            <a:extLst>
              <a:ext uri="{FF2B5EF4-FFF2-40B4-BE49-F238E27FC236}">
                <a16:creationId xmlns:a16="http://schemas.microsoft.com/office/drawing/2014/main" id="{63E44D16-C072-DA74-2DFC-41BE19CCE219}"/>
              </a:ext>
            </a:extLst>
          </p:cNvPr>
          <p:cNvSpPr txBox="1"/>
          <p:nvPr/>
        </p:nvSpPr>
        <p:spPr>
          <a:xfrm>
            <a:off x="1834589" y="2807745"/>
            <a:ext cx="1739632" cy="461665"/>
          </a:xfrm>
          <a:prstGeom prst="rect">
            <a:avLst/>
          </a:prstGeom>
          <a:noFill/>
        </p:spPr>
        <p:txBody>
          <a:bodyPr wrap="square" rtlCol="0">
            <a:spAutoFit/>
          </a:bodyPr>
          <a:lstStyle/>
          <a:p>
            <a:pPr algn="r"/>
            <a:r>
              <a:rPr lang="zh-TW" altLang="en-US" sz="2400" dirty="0">
                <a:solidFill>
                  <a:srgbClr val="0070C0"/>
                </a:solidFill>
                <a:latin typeface="微軟正黑體" panose="020B0604030504040204" pitchFamily="34" charset="-120"/>
                <a:ea typeface="微軟正黑體" panose="020B0604030504040204" pitchFamily="34" charset="-120"/>
              </a:rPr>
              <a:t>開始吹捧</a:t>
            </a:r>
          </a:p>
        </p:txBody>
      </p:sp>
      <p:sp>
        <p:nvSpPr>
          <p:cNvPr id="25" name="文字方塊 24">
            <a:extLst>
              <a:ext uri="{FF2B5EF4-FFF2-40B4-BE49-F238E27FC236}">
                <a16:creationId xmlns:a16="http://schemas.microsoft.com/office/drawing/2014/main" id="{B658D95C-18DF-26ED-54E5-471E9D5B5453}"/>
              </a:ext>
            </a:extLst>
          </p:cNvPr>
          <p:cNvSpPr txBox="1"/>
          <p:nvPr/>
        </p:nvSpPr>
        <p:spPr>
          <a:xfrm>
            <a:off x="4046705" y="1739451"/>
            <a:ext cx="1739632" cy="461665"/>
          </a:xfrm>
          <a:prstGeom prst="rect">
            <a:avLst/>
          </a:prstGeom>
          <a:noFill/>
        </p:spPr>
        <p:txBody>
          <a:bodyPr wrap="square" rtlCol="0">
            <a:spAutoFit/>
          </a:bodyPr>
          <a:lstStyle/>
          <a:p>
            <a:pPr algn="r"/>
            <a:r>
              <a:rPr lang="zh-TW" altLang="en-US" sz="2400" dirty="0">
                <a:solidFill>
                  <a:srgbClr val="0070C0"/>
                </a:solidFill>
                <a:latin typeface="微軟正黑體" panose="020B0604030504040204" pitchFamily="34" charset="-120"/>
                <a:ea typeface="微軟正黑體" panose="020B0604030504040204" pitchFamily="34" charset="-120"/>
              </a:rPr>
              <a:t>開始吹捧</a:t>
            </a:r>
          </a:p>
        </p:txBody>
      </p:sp>
      <p:grpSp>
        <p:nvGrpSpPr>
          <p:cNvPr id="38" name="群組 37">
            <a:extLst>
              <a:ext uri="{FF2B5EF4-FFF2-40B4-BE49-F238E27FC236}">
                <a16:creationId xmlns:a16="http://schemas.microsoft.com/office/drawing/2014/main" id="{ADC9EFA2-7A58-28EE-6B9B-CEFE57EB78B7}"/>
              </a:ext>
            </a:extLst>
          </p:cNvPr>
          <p:cNvGrpSpPr/>
          <p:nvPr/>
        </p:nvGrpSpPr>
        <p:grpSpPr>
          <a:xfrm>
            <a:off x="4283606" y="1225685"/>
            <a:ext cx="5696972" cy="4765344"/>
            <a:chOff x="4283606" y="1225685"/>
            <a:chExt cx="5696972" cy="4765344"/>
          </a:xfrm>
        </p:grpSpPr>
        <p:sp>
          <p:nvSpPr>
            <p:cNvPr id="32" name="手繪多邊形: 圖案 31">
              <a:extLst>
                <a:ext uri="{FF2B5EF4-FFF2-40B4-BE49-F238E27FC236}">
                  <a16:creationId xmlns:a16="http://schemas.microsoft.com/office/drawing/2014/main" id="{CF73D6E4-BBE5-53E2-4847-74A8F77BF31B}"/>
                </a:ext>
              </a:extLst>
            </p:cNvPr>
            <p:cNvSpPr/>
            <p:nvPr/>
          </p:nvSpPr>
          <p:spPr>
            <a:xfrm>
              <a:off x="4451255" y="1225685"/>
              <a:ext cx="5529323" cy="4692438"/>
            </a:xfrm>
            <a:custGeom>
              <a:avLst/>
              <a:gdLst>
                <a:gd name="csX0" fmla="*/ 0 w 4143983"/>
                <a:gd name="csY0" fmla="*/ 4474724 h 4474724"/>
                <a:gd name="csX1" fmla="*/ 817123 w 4143983"/>
                <a:gd name="csY1" fmla="*/ 1206230 h 4474724"/>
                <a:gd name="csX2" fmla="*/ 4143983 w 4143983"/>
                <a:gd name="csY2" fmla="*/ 0 h 4474724"/>
                <a:gd name="csX0" fmla="*/ 0 w 5774687"/>
                <a:gd name="csY0" fmla="*/ 4677924 h 4677924"/>
                <a:gd name="csX1" fmla="*/ 2447827 w 5774687"/>
                <a:gd name="csY1" fmla="*/ 1206230 h 4677924"/>
                <a:gd name="csX2" fmla="*/ 5774687 w 5774687"/>
                <a:gd name="csY2" fmla="*/ 0 h 4677924"/>
                <a:gd name="csX0" fmla="*/ 0 w 5774687"/>
                <a:gd name="csY0" fmla="*/ 4677924 h 4677924"/>
                <a:gd name="csX1" fmla="*/ 2447827 w 5774687"/>
                <a:gd name="csY1" fmla="*/ 1206230 h 4677924"/>
                <a:gd name="csX2" fmla="*/ 5774687 w 5774687"/>
                <a:gd name="csY2" fmla="*/ 0 h 4677924"/>
                <a:gd name="csX0" fmla="*/ 0 w 6437161"/>
                <a:gd name="csY0" fmla="*/ 4677924 h 4677924"/>
                <a:gd name="csX1" fmla="*/ 3110301 w 6437161"/>
                <a:gd name="csY1" fmla="*/ 1206230 h 4677924"/>
                <a:gd name="csX2" fmla="*/ 6437161 w 6437161"/>
                <a:gd name="csY2" fmla="*/ 0 h 4677924"/>
                <a:gd name="csX0" fmla="*/ 0 w 6437161"/>
                <a:gd name="csY0" fmla="*/ 4677924 h 4677924"/>
                <a:gd name="csX1" fmla="*/ 3110301 w 6437161"/>
                <a:gd name="csY1" fmla="*/ 1206230 h 4677924"/>
                <a:gd name="csX2" fmla="*/ 6437161 w 6437161"/>
                <a:gd name="csY2" fmla="*/ 0 h 4677924"/>
                <a:gd name="csX0" fmla="*/ 0 w 6471133"/>
                <a:gd name="csY0" fmla="*/ 4692438 h 4692438"/>
                <a:gd name="csX1" fmla="*/ 3144273 w 6471133"/>
                <a:gd name="csY1" fmla="*/ 1206230 h 4692438"/>
                <a:gd name="csX2" fmla="*/ 6471133 w 6471133"/>
                <a:gd name="csY2" fmla="*/ 0 h 4692438"/>
                <a:gd name="csX0" fmla="*/ 0 w 6471133"/>
                <a:gd name="csY0" fmla="*/ 4692438 h 4692438"/>
                <a:gd name="csX1" fmla="*/ 3280165 w 6471133"/>
                <a:gd name="csY1" fmla="*/ 1206230 h 4692438"/>
                <a:gd name="csX2" fmla="*/ 6471133 w 6471133"/>
                <a:gd name="csY2" fmla="*/ 0 h 4692438"/>
              </a:gdLst>
              <a:ahLst/>
              <a:cxnLst>
                <a:cxn ang="0">
                  <a:pos x="csX0" y="csY0"/>
                </a:cxn>
                <a:cxn ang="0">
                  <a:pos x="csX1" y="csY1"/>
                </a:cxn>
                <a:cxn ang="0">
                  <a:pos x="csX2" y="csY2"/>
                </a:cxn>
              </a:cxnLst>
              <a:rect l="l" t="t" r="r" b="b"/>
              <a:pathLst>
                <a:path w="6471133" h="4692438">
                  <a:moveTo>
                    <a:pt x="0" y="4692438"/>
                  </a:moveTo>
                  <a:cubicBezTo>
                    <a:pt x="3375598" y="4069713"/>
                    <a:pt x="2589501" y="1952017"/>
                    <a:pt x="3280165" y="1206230"/>
                  </a:cubicBezTo>
                  <a:cubicBezTo>
                    <a:pt x="3970829" y="460443"/>
                    <a:pt x="5153035" y="230221"/>
                    <a:pt x="6471133" y="0"/>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85642F89-168C-79AD-A183-8FD2AB93D087}"/>
                </a:ext>
              </a:extLst>
            </p:cNvPr>
            <p:cNvSpPr/>
            <p:nvPr/>
          </p:nvSpPr>
          <p:spPr>
            <a:xfrm>
              <a:off x="6824764" y="2504372"/>
              <a:ext cx="2377293" cy="33918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DA3D3AFD-AC49-0B71-0B19-49B3E4F1163F}"/>
                </a:ext>
              </a:extLst>
            </p:cNvPr>
            <p:cNvSpPr/>
            <p:nvPr/>
          </p:nvSpPr>
          <p:spPr>
            <a:xfrm>
              <a:off x="6126789" y="3528324"/>
              <a:ext cx="1598528" cy="2351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87CC74BE-6CAB-AF8B-C6E6-A64ACF62633D}"/>
                </a:ext>
              </a:extLst>
            </p:cNvPr>
            <p:cNvSpPr/>
            <p:nvPr/>
          </p:nvSpPr>
          <p:spPr>
            <a:xfrm>
              <a:off x="4283606" y="4655654"/>
              <a:ext cx="2391960" cy="13353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3" name="群組 42">
            <a:extLst>
              <a:ext uri="{FF2B5EF4-FFF2-40B4-BE49-F238E27FC236}">
                <a16:creationId xmlns:a16="http://schemas.microsoft.com/office/drawing/2014/main" id="{D3F1DE1D-B131-AF0B-278C-448E35C62CEF}"/>
              </a:ext>
            </a:extLst>
          </p:cNvPr>
          <p:cNvGrpSpPr/>
          <p:nvPr/>
        </p:nvGrpSpPr>
        <p:grpSpPr>
          <a:xfrm>
            <a:off x="2620485" y="2665379"/>
            <a:ext cx="7554646" cy="3289197"/>
            <a:chOff x="2620485" y="2665379"/>
            <a:chExt cx="7554646" cy="3289197"/>
          </a:xfrm>
        </p:grpSpPr>
        <p:sp>
          <p:nvSpPr>
            <p:cNvPr id="33" name="手繪多邊形: 圖案 32">
              <a:extLst>
                <a:ext uri="{FF2B5EF4-FFF2-40B4-BE49-F238E27FC236}">
                  <a16:creationId xmlns:a16="http://schemas.microsoft.com/office/drawing/2014/main" id="{7AEBC793-5C1B-85BB-C8CE-70CB790226E2}"/>
                </a:ext>
              </a:extLst>
            </p:cNvPr>
            <p:cNvSpPr/>
            <p:nvPr/>
          </p:nvSpPr>
          <p:spPr>
            <a:xfrm>
              <a:off x="2697187" y="2665379"/>
              <a:ext cx="7477944" cy="3233288"/>
            </a:xfrm>
            <a:custGeom>
              <a:avLst/>
              <a:gdLst>
                <a:gd name="csX0" fmla="*/ 0 w 6342434"/>
                <a:gd name="csY0" fmla="*/ 3015574 h 3015574"/>
                <a:gd name="csX1" fmla="*/ 1381328 w 6342434"/>
                <a:gd name="csY1" fmla="*/ 583659 h 3015574"/>
                <a:gd name="csX2" fmla="*/ 6342434 w 6342434"/>
                <a:gd name="csY2" fmla="*/ 0 h 3015574"/>
                <a:gd name="csX0" fmla="*/ 0 w 7237203"/>
                <a:gd name="csY0" fmla="*/ 3218774 h 3218774"/>
                <a:gd name="csX1" fmla="*/ 2276097 w 7237203"/>
                <a:gd name="csY1" fmla="*/ 583659 h 3218774"/>
                <a:gd name="csX2" fmla="*/ 7237203 w 7237203"/>
                <a:gd name="csY2" fmla="*/ 0 h 3218774"/>
                <a:gd name="csX0" fmla="*/ 0 w 7237203"/>
                <a:gd name="csY0" fmla="*/ 3218774 h 3218774"/>
                <a:gd name="csX1" fmla="*/ 2276097 w 7237203"/>
                <a:gd name="csY1" fmla="*/ 583659 h 3218774"/>
                <a:gd name="csX2" fmla="*/ 7237203 w 7237203"/>
                <a:gd name="csY2" fmla="*/ 0 h 3218774"/>
                <a:gd name="csX0" fmla="*/ 0 w 7813494"/>
                <a:gd name="csY0" fmla="*/ 3233288 h 3233288"/>
                <a:gd name="csX1" fmla="*/ 2852388 w 7813494"/>
                <a:gd name="csY1" fmla="*/ 583659 h 3233288"/>
                <a:gd name="csX2" fmla="*/ 7813494 w 7813494"/>
                <a:gd name="csY2" fmla="*/ 0 h 3233288"/>
                <a:gd name="csX0" fmla="*/ 0 w 7813494"/>
                <a:gd name="csY0" fmla="*/ 3233288 h 3233288"/>
                <a:gd name="csX1" fmla="*/ 2852388 w 7813494"/>
                <a:gd name="csY1" fmla="*/ 583659 h 3233288"/>
                <a:gd name="csX2" fmla="*/ 7813494 w 7813494"/>
                <a:gd name="csY2" fmla="*/ 0 h 3233288"/>
              </a:gdLst>
              <a:ahLst/>
              <a:cxnLst>
                <a:cxn ang="0">
                  <a:pos x="csX0" y="csY0"/>
                </a:cxn>
                <a:cxn ang="0">
                  <a:pos x="csX1" y="csY1"/>
                </a:cxn>
                <a:cxn ang="0">
                  <a:pos x="csX2" y="csY2"/>
                </a:cxn>
              </a:cxnLst>
              <a:rect l="l" t="t" r="r" b="b"/>
              <a:pathLst>
                <a:path w="7813494" h="3233288">
                  <a:moveTo>
                    <a:pt x="0" y="3233288"/>
                  </a:moveTo>
                  <a:cubicBezTo>
                    <a:pt x="2118486" y="3095942"/>
                    <a:pt x="1795316" y="1086255"/>
                    <a:pt x="2852388" y="583659"/>
                  </a:cubicBezTo>
                  <a:cubicBezTo>
                    <a:pt x="3909460" y="81063"/>
                    <a:pt x="5861477" y="40531"/>
                    <a:pt x="7813494" y="0"/>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 name="矩形 38">
              <a:extLst>
                <a:ext uri="{FF2B5EF4-FFF2-40B4-BE49-F238E27FC236}">
                  <a16:creationId xmlns:a16="http://schemas.microsoft.com/office/drawing/2014/main" id="{CD61DF28-6CA9-2EA6-C3D5-92038AE1E940}"/>
                </a:ext>
              </a:extLst>
            </p:cNvPr>
            <p:cNvSpPr/>
            <p:nvPr/>
          </p:nvSpPr>
          <p:spPr>
            <a:xfrm>
              <a:off x="2620485" y="5172342"/>
              <a:ext cx="2391960" cy="782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a:extLst>
                <a:ext uri="{FF2B5EF4-FFF2-40B4-BE49-F238E27FC236}">
                  <a16:creationId xmlns:a16="http://schemas.microsoft.com/office/drawing/2014/main" id="{D1CBCF04-4C0E-DC00-3251-1783893CCF08}"/>
                </a:ext>
              </a:extLst>
            </p:cNvPr>
            <p:cNvSpPr/>
            <p:nvPr/>
          </p:nvSpPr>
          <p:spPr>
            <a:xfrm>
              <a:off x="4008338" y="3833323"/>
              <a:ext cx="2391960" cy="16045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 name="手繪多邊形: 圖案 7">
            <a:extLst>
              <a:ext uri="{FF2B5EF4-FFF2-40B4-BE49-F238E27FC236}">
                <a16:creationId xmlns:a16="http://schemas.microsoft.com/office/drawing/2014/main" id="{223ABEE5-C0EB-4E08-9CCA-C21D8628CDA3}"/>
              </a:ext>
            </a:extLst>
          </p:cNvPr>
          <p:cNvSpPr/>
          <p:nvPr/>
        </p:nvSpPr>
        <p:spPr>
          <a:xfrm>
            <a:off x="1848255" y="3813244"/>
            <a:ext cx="8424154" cy="1984441"/>
          </a:xfrm>
          <a:custGeom>
            <a:avLst/>
            <a:gdLst>
              <a:gd name="csX0" fmla="*/ 0 w 8424154"/>
              <a:gd name="csY0" fmla="*/ 2213031 h 2213031"/>
              <a:gd name="csX1" fmla="*/ 2529192 w 8424154"/>
              <a:gd name="csY1" fmla="*/ 325865 h 2213031"/>
              <a:gd name="csX2" fmla="*/ 8424154 w 8424154"/>
              <a:gd name="csY2" fmla="*/ 14580 h 2213031"/>
            </a:gdLst>
            <a:ahLst/>
            <a:cxnLst>
              <a:cxn ang="0">
                <a:pos x="csX0" y="csY0"/>
              </a:cxn>
              <a:cxn ang="0">
                <a:pos x="csX1" y="csY1"/>
              </a:cxn>
              <a:cxn ang="0">
                <a:pos x="csX2" y="csY2"/>
              </a:cxn>
            </a:cxnLst>
            <a:rect l="l" t="t" r="r" b="b"/>
            <a:pathLst>
              <a:path w="8424154" h="2213031">
                <a:moveTo>
                  <a:pt x="0" y="2213031"/>
                </a:moveTo>
                <a:cubicBezTo>
                  <a:pt x="562583" y="1452652"/>
                  <a:pt x="1125166" y="692273"/>
                  <a:pt x="2529192" y="325865"/>
                </a:cubicBezTo>
                <a:cubicBezTo>
                  <a:pt x="3933218" y="-40544"/>
                  <a:pt x="6178686" y="-12982"/>
                  <a:pt x="8424154" y="14580"/>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3" name="直線單箭頭接點 22">
            <a:extLst>
              <a:ext uri="{FF2B5EF4-FFF2-40B4-BE49-F238E27FC236}">
                <a16:creationId xmlns:a16="http://schemas.microsoft.com/office/drawing/2014/main" id="{3901B5BC-E1FC-70FD-CFBC-650AE9161E3D}"/>
              </a:ext>
            </a:extLst>
          </p:cNvPr>
          <p:cNvCxnSpPr>
            <a:cxnSpLocks/>
          </p:cNvCxnSpPr>
          <p:nvPr/>
        </p:nvCxnSpPr>
        <p:spPr>
          <a:xfrm>
            <a:off x="5646907" y="2121638"/>
            <a:ext cx="1472118" cy="411259"/>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4" name="矩形 33">
            <a:extLst>
              <a:ext uri="{FF2B5EF4-FFF2-40B4-BE49-F238E27FC236}">
                <a16:creationId xmlns:a16="http://schemas.microsoft.com/office/drawing/2014/main" id="{28834C08-A111-8ED9-C618-2218444E7760}"/>
              </a:ext>
            </a:extLst>
          </p:cNvPr>
          <p:cNvSpPr/>
          <p:nvPr/>
        </p:nvSpPr>
        <p:spPr>
          <a:xfrm>
            <a:off x="8517377" y="2371890"/>
            <a:ext cx="4914088" cy="10767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F03F66A0-B952-1010-32C2-5CA7967E7690}"/>
              </a:ext>
            </a:extLst>
          </p:cNvPr>
          <p:cNvSpPr/>
          <p:nvPr/>
        </p:nvSpPr>
        <p:spPr>
          <a:xfrm>
            <a:off x="7037769" y="3429000"/>
            <a:ext cx="4914088" cy="10767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6586153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4" grpId="0"/>
      <p:bldP spid="25" grpId="0"/>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F26A-1047-4E79-24B5-ACEF695E0373}"/>
            </a:ext>
          </a:extLst>
        </p:cNvPr>
        <p:cNvGrpSpPr/>
        <p:nvPr/>
      </p:nvGrpSpPr>
      <p:grpSpPr>
        <a:xfrm>
          <a:off x="0" y="0"/>
          <a:ext cx="0" cy="0"/>
          <a:chOff x="0" y="0"/>
          <a:chExt cx="0" cy="0"/>
        </a:xfrm>
      </p:grpSpPr>
      <p:sp>
        <p:nvSpPr>
          <p:cNvPr id="10" name="手繪多邊形: 圖案 9">
            <a:extLst>
              <a:ext uri="{FF2B5EF4-FFF2-40B4-BE49-F238E27FC236}">
                <a16:creationId xmlns:a16="http://schemas.microsoft.com/office/drawing/2014/main" id="{30A401CD-98E6-ADEC-D590-448EDD1005CF}"/>
              </a:ext>
            </a:extLst>
          </p:cNvPr>
          <p:cNvSpPr/>
          <p:nvPr/>
        </p:nvSpPr>
        <p:spPr>
          <a:xfrm>
            <a:off x="4451255" y="1225685"/>
            <a:ext cx="5529323" cy="4692438"/>
          </a:xfrm>
          <a:custGeom>
            <a:avLst/>
            <a:gdLst>
              <a:gd name="csX0" fmla="*/ 0 w 4143983"/>
              <a:gd name="csY0" fmla="*/ 4474724 h 4474724"/>
              <a:gd name="csX1" fmla="*/ 817123 w 4143983"/>
              <a:gd name="csY1" fmla="*/ 1206230 h 4474724"/>
              <a:gd name="csX2" fmla="*/ 4143983 w 4143983"/>
              <a:gd name="csY2" fmla="*/ 0 h 4474724"/>
              <a:gd name="csX0" fmla="*/ 0 w 5774687"/>
              <a:gd name="csY0" fmla="*/ 4677924 h 4677924"/>
              <a:gd name="csX1" fmla="*/ 2447827 w 5774687"/>
              <a:gd name="csY1" fmla="*/ 1206230 h 4677924"/>
              <a:gd name="csX2" fmla="*/ 5774687 w 5774687"/>
              <a:gd name="csY2" fmla="*/ 0 h 4677924"/>
              <a:gd name="csX0" fmla="*/ 0 w 5774687"/>
              <a:gd name="csY0" fmla="*/ 4677924 h 4677924"/>
              <a:gd name="csX1" fmla="*/ 2447827 w 5774687"/>
              <a:gd name="csY1" fmla="*/ 1206230 h 4677924"/>
              <a:gd name="csX2" fmla="*/ 5774687 w 5774687"/>
              <a:gd name="csY2" fmla="*/ 0 h 4677924"/>
              <a:gd name="csX0" fmla="*/ 0 w 6437161"/>
              <a:gd name="csY0" fmla="*/ 4677924 h 4677924"/>
              <a:gd name="csX1" fmla="*/ 3110301 w 6437161"/>
              <a:gd name="csY1" fmla="*/ 1206230 h 4677924"/>
              <a:gd name="csX2" fmla="*/ 6437161 w 6437161"/>
              <a:gd name="csY2" fmla="*/ 0 h 4677924"/>
              <a:gd name="csX0" fmla="*/ 0 w 6437161"/>
              <a:gd name="csY0" fmla="*/ 4677924 h 4677924"/>
              <a:gd name="csX1" fmla="*/ 3110301 w 6437161"/>
              <a:gd name="csY1" fmla="*/ 1206230 h 4677924"/>
              <a:gd name="csX2" fmla="*/ 6437161 w 6437161"/>
              <a:gd name="csY2" fmla="*/ 0 h 4677924"/>
              <a:gd name="csX0" fmla="*/ 0 w 6471133"/>
              <a:gd name="csY0" fmla="*/ 4692438 h 4692438"/>
              <a:gd name="csX1" fmla="*/ 3144273 w 6471133"/>
              <a:gd name="csY1" fmla="*/ 1206230 h 4692438"/>
              <a:gd name="csX2" fmla="*/ 6471133 w 6471133"/>
              <a:gd name="csY2" fmla="*/ 0 h 4692438"/>
              <a:gd name="csX0" fmla="*/ 0 w 6471133"/>
              <a:gd name="csY0" fmla="*/ 4692438 h 4692438"/>
              <a:gd name="csX1" fmla="*/ 3280165 w 6471133"/>
              <a:gd name="csY1" fmla="*/ 1206230 h 4692438"/>
              <a:gd name="csX2" fmla="*/ 6471133 w 6471133"/>
              <a:gd name="csY2" fmla="*/ 0 h 4692438"/>
            </a:gdLst>
            <a:ahLst/>
            <a:cxnLst>
              <a:cxn ang="0">
                <a:pos x="csX0" y="csY0"/>
              </a:cxn>
              <a:cxn ang="0">
                <a:pos x="csX1" y="csY1"/>
              </a:cxn>
              <a:cxn ang="0">
                <a:pos x="csX2" y="csY2"/>
              </a:cxn>
            </a:cxnLst>
            <a:rect l="l" t="t" r="r" b="b"/>
            <a:pathLst>
              <a:path w="6471133" h="4692438">
                <a:moveTo>
                  <a:pt x="0" y="4692438"/>
                </a:moveTo>
                <a:cubicBezTo>
                  <a:pt x="3375598" y="4069713"/>
                  <a:pt x="2589501" y="1952017"/>
                  <a:pt x="3280165" y="1206230"/>
                </a:cubicBezTo>
                <a:cubicBezTo>
                  <a:pt x="3970829" y="460443"/>
                  <a:pt x="5153035" y="230221"/>
                  <a:pt x="6471133" y="0"/>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手繪多邊形: 圖案 8">
            <a:extLst>
              <a:ext uri="{FF2B5EF4-FFF2-40B4-BE49-F238E27FC236}">
                <a16:creationId xmlns:a16="http://schemas.microsoft.com/office/drawing/2014/main" id="{7EFCB4A5-EB57-CEE1-BC43-2A88C506F5A5}"/>
              </a:ext>
            </a:extLst>
          </p:cNvPr>
          <p:cNvSpPr/>
          <p:nvPr/>
        </p:nvSpPr>
        <p:spPr>
          <a:xfrm>
            <a:off x="2697187" y="2665379"/>
            <a:ext cx="7477944" cy="3233288"/>
          </a:xfrm>
          <a:custGeom>
            <a:avLst/>
            <a:gdLst>
              <a:gd name="csX0" fmla="*/ 0 w 6342434"/>
              <a:gd name="csY0" fmla="*/ 3015574 h 3015574"/>
              <a:gd name="csX1" fmla="*/ 1381328 w 6342434"/>
              <a:gd name="csY1" fmla="*/ 583659 h 3015574"/>
              <a:gd name="csX2" fmla="*/ 6342434 w 6342434"/>
              <a:gd name="csY2" fmla="*/ 0 h 3015574"/>
              <a:gd name="csX0" fmla="*/ 0 w 7237203"/>
              <a:gd name="csY0" fmla="*/ 3218774 h 3218774"/>
              <a:gd name="csX1" fmla="*/ 2276097 w 7237203"/>
              <a:gd name="csY1" fmla="*/ 583659 h 3218774"/>
              <a:gd name="csX2" fmla="*/ 7237203 w 7237203"/>
              <a:gd name="csY2" fmla="*/ 0 h 3218774"/>
              <a:gd name="csX0" fmla="*/ 0 w 7237203"/>
              <a:gd name="csY0" fmla="*/ 3218774 h 3218774"/>
              <a:gd name="csX1" fmla="*/ 2276097 w 7237203"/>
              <a:gd name="csY1" fmla="*/ 583659 h 3218774"/>
              <a:gd name="csX2" fmla="*/ 7237203 w 7237203"/>
              <a:gd name="csY2" fmla="*/ 0 h 3218774"/>
              <a:gd name="csX0" fmla="*/ 0 w 7813494"/>
              <a:gd name="csY0" fmla="*/ 3233288 h 3233288"/>
              <a:gd name="csX1" fmla="*/ 2852388 w 7813494"/>
              <a:gd name="csY1" fmla="*/ 583659 h 3233288"/>
              <a:gd name="csX2" fmla="*/ 7813494 w 7813494"/>
              <a:gd name="csY2" fmla="*/ 0 h 3233288"/>
              <a:gd name="csX0" fmla="*/ 0 w 7813494"/>
              <a:gd name="csY0" fmla="*/ 3233288 h 3233288"/>
              <a:gd name="csX1" fmla="*/ 2852388 w 7813494"/>
              <a:gd name="csY1" fmla="*/ 583659 h 3233288"/>
              <a:gd name="csX2" fmla="*/ 7813494 w 7813494"/>
              <a:gd name="csY2" fmla="*/ 0 h 3233288"/>
            </a:gdLst>
            <a:ahLst/>
            <a:cxnLst>
              <a:cxn ang="0">
                <a:pos x="csX0" y="csY0"/>
              </a:cxn>
              <a:cxn ang="0">
                <a:pos x="csX1" y="csY1"/>
              </a:cxn>
              <a:cxn ang="0">
                <a:pos x="csX2" y="csY2"/>
              </a:cxn>
            </a:cxnLst>
            <a:rect l="l" t="t" r="r" b="b"/>
            <a:pathLst>
              <a:path w="7813494" h="3233288">
                <a:moveTo>
                  <a:pt x="0" y="3233288"/>
                </a:moveTo>
                <a:cubicBezTo>
                  <a:pt x="2118486" y="3095942"/>
                  <a:pt x="1795316" y="1086255"/>
                  <a:pt x="2852388" y="583659"/>
                </a:cubicBezTo>
                <a:cubicBezTo>
                  <a:pt x="3909460" y="81063"/>
                  <a:pt x="5861477" y="40531"/>
                  <a:pt x="7813494" y="0"/>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 name="標題 1">
            <a:extLst>
              <a:ext uri="{FF2B5EF4-FFF2-40B4-BE49-F238E27FC236}">
                <a16:creationId xmlns:a16="http://schemas.microsoft.com/office/drawing/2014/main" id="{5510EC9B-1AE8-75EF-E260-22E9E45754D7}"/>
              </a:ext>
            </a:extLst>
          </p:cNvPr>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實際上可能是這樣 </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cxnSp>
        <p:nvCxnSpPr>
          <p:cNvPr id="5" name="直線單箭頭接點 4">
            <a:extLst>
              <a:ext uri="{FF2B5EF4-FFF2-40B4-BE49-F238E27FC236}">
                <a16:creationId xmlns:a16="http://schemas.microsoft.com/office/drawing/2014/main" id="{F60DA36D-AAC8-0339-98FE-744107D79C93}"/>
              </a:ext>
            </a:extLst>
          </p:cNvPr>
          <p:cNvCxnSpPr>
            <a:cxnSpLocks/>
          </p:cNvCxnSpPr>
          <p:nvPr/>
        </p:nvCxnSpPr>
        <p:spPr>
          <a:xfrm flipV="1">
            <a:off x="1692611" y="1825625"/>
            <a:ext cx="0" cy="420552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單箭頭接點 5">
            <a:extLst>
              <a:ext uri="{FF2B5EF4-FFF2-40B4-BE49-F238E27FC236}">
                <a16:creationId xmlns:a16="http://schemas.microsoft.com/office/drawing/2014/main" id="{6255FBA1-2C04-01B2-91E1-8FF89AC98D96}"/>
              </a:ext>
            </a:extLst>
          </p:cNvPr>
          <p:cNvCxnSpPr>
            <a:cxnSpLocks/>
          </p:cNvCxnSpPr>
          <p:nvPr/>
        </p:nvCxnSpPr>
        <p:spPr>
          <a:xfrm>
            <a:off x="1692612" y="6031149"/>
            <a:ext cx="8806775"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手繪多邊形: 圖案 7">
            <a:extLst>
              <a:ext uri="{FF2B5EF4-FFF2-40B4-BE49-F238E27FC236}">
                <a16:creationId xmlns:a16="http://schemas.microsoft.com/office/drawing/2014/main" id="{6BFE1C5D-29BD-CBF3-A209-645B7D5B56F3}"/>
              </a:ext>
            </a:extLst>
          </p:cNvPr>
          <p:cNvSpPr/>
          <p:nvPr/>
        </p:nvSpPr>
        <p:spPr>
          <a:xfrm>
            <a:off x="1848255" y="3813244"/>
            <a:ext cx="8424154" cy="1984441"/>
          </a:xfrm>
          <a:custGeom>
            <a:avLst/>
            <a:gdLst>
              <a:gd name="csX0" fmla="*/ 0 w 8424154"/>
              <a:gd name="csY0" fmla="*/ 2213031 h 2213031"/>
              <a:gd name="csX1" fmla="*/ 2529192 w 8424154"/>
              <a:gd name="csY1" fmla="*/ 325865 h 2213031"/>
              <a:gd name="csX2" fmla="*/ 8424154 w 8424154"/>
              <a:gd name="csY2" fmla="*/ 14580 h 2213031"/>
            </a:gdLst>
            <a:ahLst/>
            <a:cxnLst>
              <a:cxn ang="0">
                <a:pos x="csX0" y="csY0"/>
              </a:cxn>
              <a:cxn ang="0">
                <a:pos x="csX1" y="csY1"/>
              </a:cxn>
              <a:cxn ang="0">
                <a:pos x="csX2" y="csY2"/>
              </a:cxn>
            </a:cxnLst>
            <a:rect l="l" t="t" r="r" b="b"/>
            <a:pathLst>
              <a:path w="8424154" h="2213031">
                <a:moveTo>
                  <a:pt x="0" y="2213031"/>
                </a:moveTo>
                <a:cubicBezTo>
                  <a:pt x="562583" y="1452652"/>
                  <a:pt x="1125166" y="692273"/>
                  <a:pt x="2529192" y="325865"/>
                </a:cubicBezTo>
                <a:cubicBezTo>
                  <a:pt x="3933218" y="-40544"/>
                  <a:pt x="6178686" y="-12982"/>
                  <a:pt x="8424154" y="14580"/>
                </a:cubicBezTo>
              </a:path>
            </a:pathLst>
          </a:cu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7BB1EF10-B85A-04C3-27B1-C8C92BF5848B}"/>
              </a:ext>
            </a:extLst>
          </p:cNvPr>
          <p:cNvSpPr txBox="1"/>
          <p:nvPr/>
        </p:nvSpPr>
        <p:spPr>
          <a:xfrm>
            <a:off x="9727660" y="6176963"/>
            <a:ext cx="1626140" cy="461665"/>
          </a:xfrm>
          <a:prstGeom prst="rect">
            <a:avLst/>
          </a:prstGeom>
          <a:noFill/>
        </p:spPr>
        <p:txBody>
          <a:bodyPr wrap="square" rtlCol="0">
            <a:spAutoFit/>
          </a:bodyPr>
          <a:lstStyle/>
          <a:p>
            <a:r>
              <a:rPr lang="en-US" altLang="zh-TW" sz="2400" dirty="0"/>
              <a:t>time</a:t>
            </a:r>
            <a:endParaRPr lang="zh-TW" altLang="en-US" sz="2400" dirty="0"/>
          </a:p>
        </p:txBody>
      </p:sp>
      <p:sp>
        <p:nvSpPr>
          <p:cNvPr id="14" name="文字方塊 13">
            <a:extLst>
              <a:ext uri="{FF2B5EF4-FFF2-40B4-BE49-F238E27FC236}">
                <a16:creationId xmlns:a16="http://schemas.microsoft.com/office/drawing/2014/main" id="{CCCA212A-021F-A8F2-D7AC-A726F9B1154D}"/>
              </a:ext>
            </a:extLst>
          </p:cNvPr>
          <p:cNvSpPr txBox="1"/>
          <p:nvPr/>
        </p:nvSpPr>
        <p:spPr>
          <a:xfrm rot="16200000">
            <a:off x="272574" y="2521134"/>
            <a:ext cx="1989306" cy="461664"/>
          </a:xfrm>
          <a:prstGeom prst="rect">
            <a:avLst/>
          </a:prstGeom>
          <a:noFill/>
        </p:spPr>
        <p:txBody>
          <a:bodyPr wrap="square" rtlCol="0">
            <a:spAutoFit/>
          </a:bodyPr>
          <a:lstStyle/>
          <a:p>
            <a:r>
              <a:rPr lang="en-US" altLang="zh-TW" sz="2400" dirty="0"/>
              <a:t>performance</a:t>
            </a:r>
            <a:endParaRPr lang="zh-TW" altLang="en-US" sz="2400" dirty="0"/>
          </a:p>
        </p:txBody>
      </p:sp>
      <p:sp>
        <p:nvSpPr>
          <p:cNvPr id="15" name="文字方塊 14">
            <a:extLst>
              <a:ext uri="{FF2B5EF4-FFF2-40B4-BE49-F238E27FC236}">
                <a16:creationId xmlns:a16="http://schemas.microsoft.com/office/drawing/2014/main" id="{02F12A7A-57E9-CEF2-FB09-3A207D1239EB}"/>
              </a:ext>
            </a:extLst>
          </p:cNvPr>
          <p:cNvSpPr txBox="1"/>
          <p:nvPr/>
        </p:nvSpPr>
        <p:spPr>
          <a:xfrm>
            <a:off x="2344366" y="4044076"/>
            <a:ext cx="1264595" cy="461665"/>
          </a:xfrm>
          <a:prstGeom prst="rect">
            <a:avLst/>
          </a:prstGeom>
          <a:noFill/>
        </p:spPr>
        <p:txBody>
          <a:bodyPr wrap="square" rtlCol="0">
            <a:spAutoFit/>
          </a:bodyPr>
          <a:lstStyle/>
          <a:p>
            <a:r>
              <a:rPr lang="en-US" altLang="zh-TW" sz="2400" dirty="0"/>
              <a:t>HMM</a:t>
            </a:r>
            <a:endParaRPr lang="zh-TW" altLang="en-US" sz="2400" dirty="0"/>
          </a:p>
        </p:txBody>
      </p:sp>
      <p:sp>
        <p:nvSpPr>
          <p:cNvPr id="16" name="文字方塊 15">
            <a:extLst>
              <a:ext uri="{FF2B5EF4-FFF2-40B4-BE49-F238E27FC236}">
                <a16:creationId xmlns:a16="http://schemas.microsoft.com/office/drawing/2014/main" id="{287F742F-89B9-66BE-7C44-E9C6430B7F65}"/>
              </a:ext>
            </a:extLst>
          </p:cNvPr>
          <p:cNvSpPr txBox="1"/>
          <p:nvPr/>
        </p:nvSpPr>
        <p:spPr>
          <a:xfrm>
            <a:off x="4199107" y="2423054"/>
            <a:ext cx="1264595" cy="830997"/>
          </a:xfrm>
          <a:prstGeom prst="rect">
            <a:avLst/>
          </a:prstGeom>
          <a:noFill/>
        </p:spPr>
        <p:txBody>
          <a:bodyPr wrap="square" rtlCol="0">
            <a:spAutoFit/>
          </a:bodyPr>
          <a:lstStyle/>
          <a:p>
            <a:r>
              <a:rPr lang="en-US" altLang="zh-TW" sz="2400" dirty="0"/>
              <a:t>Deep learning</a:t>
            </a:r>
            <a:endParaRPr lang="zh-TW" altLang="en-US" sz="2400" dirty="0"/>
          </a:p>
        </p:txBody>
      </p:sp>
      <p:sp>
        <p:nvSpPr>
          <p:cNvPr id="17" name="文字方塊 16">
            <a:extLst>
              <a:ext uri="{FF2B5EF4-FFF2-40B4-BE49-F238E27FC236}">
                <a16:creationId xmlns:a16="http://schemas.microsoft.com/office/drawing/2014/main" id="{5496835B-2404-8A7A-BEA5-411CAD6E1FFF}"/>
              </a:ext>
            </a:extLst>
          </p:cNvPr>
          <p:cNvSpPr txBox="1"/>
          <p:nvPr/>
        </p:nvSpPr>
        <p:spPr>
          <a:xfrm>
            <a:off x="6060332" y="1493168"/>
            <a:ext cx="1838529" cy="461665"/>
          </a:xfrm>
          <a:prstGeom prst="rect">
            <a:avLst/>
          </a:prstGeom>
          <a:noFill/>
        </p:spPr>
        <p:txBody>
          <a:bodyPr wrap="square" rtlCol="0">
            <a:spAutoFit/>
          </a:bodyPr>
          <a:lstStyle/>
          <a:p>
            <a:r>
              <a:rPr lang="en-US" altLang="zh-TW" sz="2400" dirty="0"/>
              <a:t>End-to-end</a:t>
            </a:r>
            <a:endParaRPr lang="zh-TW" altLang="en-US" sz="2400" dirty="0"/>
          </a:p>
        </p:txBody>
      </p:sp>
      <p:sp>
        <p:nvSpPr>
          <p:cNvPr id="3" name="矩形 2">
            <a:extLst>
              <a:ext uri="{FF2B5EF4-FFF2-40B4-BE49-F238E27FC236}">
                <a16:creationId xmlns:a16="http://schemas.microsoft.com/office/drawing/2014/main" id="{15F6EA00-3CE9-203A-0A5E-133E21AEEC84}"/>
              </a:ext>
            </a:extLst>
          </p:cNvPr>
          <p:cNvSpPr/>
          <p:nvPr/>
        </p:nvSpPr>
        <p:spPr>
          <a:xfrm>
            <a:off x="7037769" y="3429000"/>
            <a:ext cx="4914088" cy="10767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a:extLst>
              <a:ext uri="{FF2B5EF4-FFF2-40B4-BE49-F238E27FC236}">
                <a16:creationId xmlns:a16="http://schemas.microsoft.com/office/drawing/2014/main" id="{915E4F70-2E12-B5FB-7EA9-3BD37C563720}"/>
              </a:ext>
            </a:extLst>
          </p:cNvPr>
          <p:cNvSpPr/>
          <p:nvPr/>
        </p:nvSpPr>
        <p:spPr>
          <a:xfrm>
            <a:off x="8042343" y="2535357"/>
            <a:ext cx="4914088" cy="10767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5977B79F-C258-1EA2-B946-B5C60BE2C88D}"/>
              </a:ext>
            </a:extLst>
          </p:cNvPr>
          <p:cNvSpPr txBox="1"/>
          <p:nvPr/>
        </p:nvSpPr>
        <p:spPr>
          <a:xfrm>
            <a:off x="1816639" y="2868662"/>
            <a:ext cx="1739632" cy="461665"/>
          </a:xfrm>
          <a:prstGeom prst="rect">
            <a:avLst/>
          </a:prstGeom>
          <a:noFill/>
        </p:spPr>
        <p:txBody>
          <a:bodyPr wrap="square" rtlCol="0">
            <a:spAutoFit/>
          </a:bodyPr>
          <a:lstStyle/>
          <a:p>
            <a:pPr algn="r"/>
            <a:r>
              <a:rPr lang="zh-TW" altLang="en-US" sz="2400" dirty="0">
                <a:solidFill>
                  <a:srgbClr val="0070C0"/>
                </a:solidFill>
                <a:latin typeface="微軟正黑體" panose="020B0604030504040204" pitchFamily="34" charset="-120"/>
                <a:ea typeface="微軟正黑體" panose="020B0604030504040204" pitchFamily="34" charset="-120"/>
              </a:rPr>
              <a:t>開始吹捧</a:t>
            </a:r>
          </a:p>
        </p:txBody>
      </p:sp>
      <p:sp>
        <p:nvSpPr>
          <p:cNvPr id="21" name="文字方塊 20">
            <a:extLst>
              <a:ext uri="{FF2B5EF4-FFF2-40B4-BE49-F238E27FC236}">
                <a16:creationId xmlns:a16="http://schemas.microsoft.com/office/drawing/2014/main" id="{1DA85000-30A2-329C-2441-0A42CC959583}"/>
              </a:ext>
            </a:extLst>
          </p:cNvPr>
          <p:cNvSpPr txBox="1"/>
          <p:nvPr/>
        </p:nvSpPr>
        <p:spPr>
          <a:xfrm>
            <a:off x="4046705" y="1739451"/>
            <a:ext cx="1739632" cy="461665"/>
          </a:xfrm>
          <a:prstGeom prst="rect">
            <a:avLst/>
          </a:prstGeom>
          <a:noFill/>
        </p:spPr>
        <p:txBody>
          <a:bodyPr wrap="square" rtlCol="0">
            <a:spAutoFit/>
          </a:bodyPr>
          <a:lstStyle/>
          <a:p>
            <a:pPr algn="r"/>
            <a:r>
              <a:rPr lang="zh-TW" altLang="en-US" sz="2400" dirty="0">
                <a:solidFill>
                  <a:srgbClr val="0070C0"/>
                </a:solidFill>
                <a:latin typeface="微軟正黑體" panose="020B0604030504040204" pitchFamily="34" charset="-120"/>
                <a:ea typeface="微軟正黑體" panose="020B0604030504040204" pitchFamily="34" charset="-120"/>
              </a:rPr>
              <a:t>開始吹捧</a:t>
            </a:r>
          </a:p>
        </p:txBody>
      </p:sp>
      <p:cxnSp>
        <p:nvCxnSpPr>
          <p:cNvPr id="22" name="直線單箭頭接點 21">
            <a:extLst>
              <a:ext uri="{FF2B5EF4-FFF2-40B4-BE49-F238E27FC236}">
                <a16:creationId xmlns:a16="http://schemas.microsoft.com/office/drawing/2014/main" id="{7FD1742B-7BDE-1A46-55B9-9AA474B7D626}"/>
              </a:ext>
            </a:extLst>
          </p:cNvPr>
          <p:cNvCxnSpPr/>
          <p:nvPr/>
        </p:nvCxnSpPr>
        <p:spPr>
          <a:xfrm>
            <a:off x="3489490" y="3259375"/>
            <a:ext cx="1206230" cy="559192"/>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直線單箭頭接點 22">
            <a:extLst>
              <a:ext uri="{FF2B5EF4-FFF2-40B4-BE49-F238E27FC236}">
                <a16:creationId xmlns:a16="http://schemas.microsoft.com/office/drawing/2014/main" id="{585CC736-EA77-4E65-07FD-0693C3701CCD}"/>
              </a:ext>
            </a:extLst>
          </p:cNvPr>
          <p:cNvCxnSpPr>
            <a:cxnSpLocks/>
          </p:cNvCxnSpPr>
          <p:nvPr/>
        </p:nvCxnSpPr>
        <p:spPr>
          <a:xfrm>
            <a:off x="5646907" y="2121638"/>
            <a:ext cx="1472118" cy="411259"/>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05083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FF1A4F-254F-2705-C8ED-3FEA1C54F79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4855D12-45C1-9699-5383-14431D8448D7}"/>
              </a:ext>
            </a:extLst>
          </p:cNvPr>
          <p:cNvSpPr>
            <a:spLocks noGrp="1"/>
          </p:cNvSpPr>
          <p:nvPr>
            <p:ph idx="1"/>
          </p:nvPr>
        </p:nvSpPr>
        <p:spPr/>
        <p:txBody>
          <a:bodyPr/>
          <a:lstStyle/>
          <a:p>
            <a:endParaRPr lang="zh-TW" altLang="en-US"/>
          </a:p>
        </p:txBody>
      </p:sp>
      <p:pic>
        <p:nvPicPr>
          <p:cNvPr id="27" name="圖片 26" descr="一張含有 文字, 恐龍, 服裝, 人員 的圖片&#10;&#10;AI 產生的內容可能不正確。">
            <a:extLst>
              <a:ext uri="{FF2B5EF4-FFF2-40B4-BE49-F238E27FC236}">
                <a16:creationId xmlns:a16="http://schemas.microsoft.com/office/drawing/2014/main" id="{1C7AB72C-6B17-C269-4803-CFF7012E21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418"/>
            <a:ext cx="12192000" cy="6650182"/>
          </a:xfrm>
          <a:prstGeom prst="rect">
            <a:avLst/>
          </a:prstGeom>
        </p:spPr>
      </p:pic>
    </p:spTree>
    <p:extLst>
      <p:ext uri="{BB962C8B-B14F-4D97-AF65-F5344CB8AC3E}">
        <p14:creationId xmlns:p14="http://schemas.microsoft.com/office/powerpoint/2010/main" val="21152959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標題 1">
            <a:extLst>
              <a:ext uri="{FF2B5EF4-FFF2-40B4-BE49-F238E27FC236}">
                <a16:creationId xmlns:a16="http://schemas.microsoft.com/office/drawing/2014/main" id="{B50F618C-029F-BAE4-CB09-763D2E323CE3}"/>
              </a:ext>
            </a:extLst>
          </p:cNvPr>
          <p:cNvSpPr>
            <a:spLocks noGrp="1"/>
          </p:cNvSpPr>
          <p:nvPr>
            <p:ph type="ctrTitle"/>
          </p:nvPr>
        </p:nvSpPr>
        <p:spPr>
          <a:xfrm>
            <a:off x="3880430" y="583345"/>
            <a:ext cx="7160357" cy="4164820"/>
          </a:xfrm>
        </p:spPr>
        <p:txBody>
          <a:bodyPr anchor="t">
            <a:normAutofit/>
          </a:bodyPr>
          <a:lstStyle/>
          <a:p>
            <a:pPr algn="r"/>
            <a:r>
              <a:rPr lang="en-US" altLang="zh-TW" sz="8000" dirty="0">
                <a:solidFill>
                  <a:srgbClr val="FFFFFF"/>
                </a:solidFill>
                <a:latin typeface="微軟正黑體" panose="020B0604030504040204" pitchFamily="34" charset="-120"/>
                <a:ea typeface="微軟正黑體" panose="020B0604030504040204" pitchFamily="34" charset="-120"/>
              </a:rPr>
              <a:t>1. </a:t>
            </a:r>
            <a:r>
              <a:rPr lang="zh-TW" altLang="en-US" sz="8000" dirty="0">
                <a:solidFill>
                  <a:srgbClr val="FFFFFF"/>
                </a:solidFill>
                <a:latin typeface="微軟正黑體" panose="020B0604030504040204" pitchFamily="34" charset="-120"/>
                <a:ea typeface="微軟正黑體" panose="020B0604030504040204" pitchFamily="34" charset="-120"/>
              </a:rPr>
              <a:t>序章</a:t>
            </a:r>
          </a:p>
        </p:txBody>
      </p:sp>
      <p:sp>
        <p:nvSpPr>
          <p:cNvPr id="3" name="副標題 2">
            <a:extLst>
              <a:ext uri="{FF2B5EF4-FFF2-40B4-BE49-F238E27FC236}">
                <a16:creationId xmlns:a16="http://schemas.microsoft.com/office/drawing/2014/main" id="{A94EF9E4-C337-2F27-DDAA-581F06F6A1E3}"/>
              </a:ext>
            </a:extLst>
          </p:cNvPr>
          <p:cNvSpPr>
            <a:spLocks noGrp="1"/>
          </p:cNvSpPr>
          <p:nvPr>
            <p:ph type="subTitle" idx="1"/>
          </p:nvPr>
        </p:nvSpPr>
        <p:spPr>
          <a:xfrm>
            <a:off x="1208228" y="5972174"/>
            <a:ext cx="8578699" cy="504825"/>
          </a:xfrm>
        </p:spPr>
        <p:txBody>
          <a:bodyPr>
            <a:normAutofit/>
          </a:bodyPr>
          <a:lstStyle/>
          <a:p>
            <a:pPr algn="l"/>
            <a:endParaRPr lang="zh-TW" altLang="en-US" sz="2000">
              <a:solidFill>
                <a:srgbClr val="FFFFFF"/>
              </a:solidFill>
            </a:endParaRP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3927192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Spoken Content Retrieval</a:t>
            </a:r>
            <a:endParaRPr lang="zh-TW" altLang="en-US" dirty="0"/>
          </a:p>
        </p:txBody>
      </p:sp>
      <p:pic>
        <p:nvPicPr>
          <p:cNvPr id="4" name="圖片 3"/>
          <p:cNvPicPr>
            <a:picLocks noChangeAspect="1"/>
          </p:cNvPicPr>
          <p:nvPr/>
        </p:nvPicPr>
        <p:blipFill>
          <a:blip r:embed="rId3"/>
          <a:stretch>
            <a:fillRect/>
          </a:stretch>
        </p:blipFill>
        <p:spPr>
          <a:xfrm>
            <a:off x="8322213" y="2316968"/>
            <a:ext cx="629617" cy="1264495"/>
          </a:xfrm>
          <a:prstGeom prst="rect">
            <a:avLst/>
          </a:prstGeom>
        </p:spPr>
      </p:pic>
      <p:pic>
        <p:nvPicPr>
          <p:cNvPr id="5" name="Picture 4"/>
          <p:cNvPicPr>
            <a:picLocks noChangeAspect="1" noChangeArrowheads="1"/>
          </p:cNvPicPr>
          <p:nvPr/>
        </p:nvPicPr>
        <p:blipFill>
          <a:blip r:embed="rId4">
            <a:biLevel thresh="75000"/>
            <a:extLst>
              <a:ext uri="{28A0092B-C50C-407E-A947-70E740481C1C}">
                <a14:useLocalDpi xmlns:a14="http://schemas.microsoft.com/office/drawing/2010/main" val="0"/>
              </a:ext>
            </a:extLst>
          </a:blip>
          <a:srcRect/>
          <a:stretch>
            <a:fillRect/>
          </a:stretch>
        </p:blipFill>
        <p:spPr bwMode="auto">
          <a:xfrm>
            <a:off x="2514521" y="4152119"/>
            <a:ext cx="1614487"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群組 10"/>
          <p:cNvGrpSpPr>
            <a:grpSpLocks/>
          </p:cNvGrpSpPr>
          <p:nvPr/>
        </p:nvGrpSpPr>
        <p:grpSpPr bwMode="auto">
          <a:xfrm>
            <a:off x="3871832" y="4080681"/>
            <a:ext cx="2286000" cy="942975"/>
            <a:chOff x="2942753" y="2643182"/>
            <a:chExt cx="3923215" cy="1572003"/>
          </a:xfrm>
        </p:grpSpPr>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222761" y="2667372"/>
              <a:ext cx="2643207"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2942753" y="2643182"/>
              <a:ext cx="1285884"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75207" y="4087030"/>
            <a:ext cx="74930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4">
            <a:biLevel thresh="75000"/>
            <a:extLst>
              <a:ext uri="{28A0092B-C50C-407E-A947-70E740481C1C}">
                <a14:useLocalDpi xmlns:a14="http://schemas.microsoft.com/office/drawing/2010/main" val="0"/>
              </a:ext>
            </a:extLst>
          </a:blip>
          <a:srcRect/>
          <a:stretch>
            <a:fillRect/>
          </a:stretch>
        </p:blipFill>
        <p:spPr bwMode="auto">
          <a:xfrm>
            <a:off x="7445296" y="4187044"/>
            <a:ext cx="1614487"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039145" y="4094969"/>
            <a:ext cx="677862"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80057" y="4104494"/>
            <a:ext cx="74930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03957" y="4104494"/>
            <a:ext cx="74930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字方塊 61"/>
          <p:cNvSpPr txBox="1">
            <a:spLocks noChangeArrowheads="1"/>
          </p:cNvSpPr>
          <p:nvPr/>
        </p:nvSpPr>
        <p:spPr bwMode="auto">
          <a:xfrm>
            <a:off x="8967493" y="3197597"/>
            <a:ext cx="66198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微軟正黑體" panose="020B0604030504040204" pitchFamily="34" charset="-12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微軟正黑體" panose="020B0604030504040204" pitchFamily="34" charset="-12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微軟正黑體" panose="020B0604030504040204" pitchFamily="34" charset="-12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微軟正黑體" panose="020B0604030504040204" pitchFamily="34" charset="-12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微軟正黑體" panose="020B0604030504040204" pitchFamily="34" charset="-12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微軟正黑體" panose="020B0604030504040204" pitchFamily="34" charset="-12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微軟正黑體" panose="020B0604030504040204" pitchFamily="34" charset="-12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微軟正黑體" panose="020B0604030504040204" pitchFamily="34" charset="-12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微軟正黑體" panose="020B0604030504040204" pitchFamily="34" charset="-120"/>
              </a:defRPr>
            </a:lvl9pPr>
          </a:lstStyle>
          <a:p>
            <a:pPr defTabSz="457200">
              <a:spcBef>
                <a:spcPct val="0"/>
              </a:spcBef>
              <a:buClrTx/>
              <a:buSzTx/>
              <a:buNone/>
              <a:defRPr/>
            </a:pPr>
            <a:r>
              <a:rPr lang="en-US" altLang="zh-TW" sz="1800">
                <a:solidFill>
                  <a:prstClr val="black"/>
                </a:solidFill>
                <a:latin typeface="Times New Roman" panose="02020603050405020304" pitchFamily="18" charset="0"/>
                <a:ea typeface="新細明體" panose="02020500000000000000" pitchFamily="18" charset="-120"/>
                <a:cs typeface="Times New Roman" panose="02020603050405020304" pitchFamily="18" charset="0"/>
              </a:rPr>
              <a:t>user</a:t>
            </a:r>
            <a:endParaRPr lang="zh-TW" altLang="en-US" sz="1800">
              <a:solidFill>
                <a:prstClr val="black"/>
              </a:solidFill>
              <a:latin typeface="Times New Roman" panose="02020603050405020304" pitchFamily="18" charset="0"/>
              <a:ea typeface="新細明體" panose="02020500000000000000" pitchFamily="18" charset="-120"/>
              <a:cs typeface="Times New Roman" panose="02020603050405020304" pitchFamily="18" charset="0"/>
            </a:endParaRPr>
          </a:p>
        </p:txBody>
      </p:sp>
      <p:pic>
        <p:nvPicPr>
          <p:cNvPr id="15" name="圖片 6"/>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078618" y="2330823"/>
            <a:ext cx="43973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群組 2"/>
          <p:cNvGrpSpPr>
            <a:grpSpLocks/>
          </p:cNvGrpSpPr>
          <p:nvPr/>
        </p:nvGrpSpPr>
        <p:grpSpPr bwMode="auto">
          <a:xfrm>
            <a:off x="4751613" y="2003822"/>
            <a:ext cx="2196488" cy="1098388"/>
            <a:chOff x="3981216" y="3332450"/>
            <a:chExt cx="2196489" cy="1097641"/>
          </a:xfrm>
        </p:grpSpPr>
        <p:sp>
          <p:nvSpPr>
            <p:cNvPr id="17" name="圓角矩形圖說文字 16"/>
            <p:cNvSpPr/>
            <p:nvPr/>
          </p:nvSpPr>
          <p:spPr bwMode="auto">
            <a:xfrm>
              <a:off x="3981216" y="3335177"/>
              <a:ext cx="2196489" cy="1094914"/>
            </a:xfrm>
            <a:prstGeom prst="wedgeRoundRectCallout">
              <a:avLst>
                <a:gd name="adj1" fmla="val 125068"/>
                <a:gd name="adj2" fmla="val 28713"/>
                <a:gd name="adj3" fmla="val 16667"/>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endParaRPr lang="zh-TW" altLang="en-US" sz="2400" dirty="0">
                <a:solidFill>
                  <a:prstClr val="black"/>
                </a:solidFill>
                <a:latin typeface="Times New Roman" panose="02020603050405020304" pitchFamily="18" charset="0"/>
                <a:ea typeface="新細明體" panose="02020500000000000000" pitchFamily="18" charset="-120"/>
                <a:cs typeface="Times New Roman" panose="02020603050405020304" pitchFamily="18" charset="0"/>
              </a:endParaRPr>
            </a:p>
          </p:txBody>
        </p:sp>
        <p:pic>
          <p:nvPicPr>
            <p:cNvPr id="1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6180" y="3524949"/>
              <a:ext cx="1614488"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
            <p:cNvSpPr>
              <a:spLocks noChangeArrowheads="1"/>
            </p:cNvSpPr>
            <p:nvPr/>
          </p:nvSpPr>
          <p:spPr bwMode="auto">
            <a:xfrm>
              <a:off x="4501516" y="3332450"/>
              <a:ext cx="1282724" cy="39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defTabSz="457200">
                <a:defRPr/>
              </a:pPr>
              <a:r>
                <a:rPr lang="en-US" altLang="zh-TW" sz="2000" dirty="0">
                  <a:solidFill>
                    <a:prstClr val="black"/>
                  </a:solidFill>
                  <a:latin typeface="Times New Roman" panose="02020603050405020304" pitchFamily="18" charset="0"/>
                  <a:cs typeface="Times New Roman" panose="02020603050405020304" pitchFamily="18" charset="0"/>
                </a:rPr>
                <a:t>“ICASSP”</a:t>
              </a:r>
              <a:endParaRPr lang="zh-TW" altLang="en-US" sz="2000" dirty="0">
                <a:solidFill>
                  <a:prstClr val="black"/>
                </a:solidFill>
                <a:latin typeface="Times New Roman" panose="02020603050405020304" pitchFamily="18" charset="0"/>
                <a:cs typeface="Times New Roman" panose="02020603050405020304" pitchFamily="18" charset="0"/>
              </a:endParaRPr>
            </a:p>
          </p:txBody>
        </p:sp>
      </p:grpSp>
      <p:sp>
        <p:nvSpPr>
          <p:cNvPr id="22" name="矩形 21"/>
          <p:cNvSpPr/>
          <p:nvPr/>
        </p:nvSpPr>
        <p:spPr>
          <a:xfrm>
            <a:off x="2686503" y="2099121"/>
            <a:ext cx="1923583" cy="830997"/>
          </a:xfrm>
          <a:prstGeom prst="rect">
            <a:avLst/>
          </a:prstGeom>
        </p:spPr>
        <p:txBody>
          <a:bodyPr wrap="square">
            <a:spAutoFit/>
          </a:bodyPr>
          <a:lstStyle/>
          <a:p>
            <a:pPr lvl="1" algn="r" defTabSz="457200">
              <a:defRPr/>
            </a:pPr>
            <a:r>
              <a:rPr lang="en-US" altLang="zh-TW" sz="2400" dirty="0">
                <a:solidFill>
                  <a:prstClr val="black"/>
                </a:solidFill>
                <a:latin typeface="Times New Roman" panose="02020603050405020304" pitchFamily="18" charset="0"/>
                <a:ea typeface="新細明體" panose="02020500000000000000" pitchFamily="18" charset="-120"/>
                <a:cs typeface="Times New Roman" panose="02020603050405020304" pitchFamily="18" charset="0"/>
              </a:rPr>
              <a:t>spoken query</a:t>
            </a:r>
          </a:p>
        </p:txBody>
      </p:sp>
      <p:sp>
        <p:nvSpPr>
          <p:cNvPr id="23" name="矩形 22"/>
          <p:cNvSpPr/>
          <p:nvPr/>
        </p:nvSpPr>
        <p:spPr>
          <a:xfrm>
            <a:off x="2767226" y="5658782"/>
            <a:ext cx="7145199" cy="830997"/>
          </a:xfrm>
          <a:prstGeom prst="rect">
            <a:avLst/>
          </a:prstGeom>
        </p:spPr>
        <p:txBody>
          <a:bodyPr wrap="square">
            <a:spAutoFit/>
          </a:bodyPr>
          <a:lstStyle/>
          <a:p>
            <a:pPr defTabSz="457200">
              <a:defRPr/>
            </a:pPr>
            <a:r>
              <a:rPr lang="en-US" altLang="zh-TW" sz="2400" dirty="0">
                <a:solidFill>
                  <a:prstClr val="black"/>
                </a:solidFill>
                <a:latin typeface="Times New Roman" panose="02020603050405020304" pitchFamily="18" charset="0"/>
                <a:ea typeface="新細明體" panose="02020500000000000000" pitchFamily="18" charset="-120"/>
                <a:cs typeface="Times New Roman" panose="02020603050405020304" pitchFamily="18" charset="0"/>
              </a:rPr>
              <a:t>Compute similarity between spoken queries and audio files on acoustic level, and find the query term</a:t>
            </a:r>
          </a:p>
        </p:txBody>
      </p:sp>
      <p:sp>
        <p:nvSpPr>
          <p:cNvPr id="24" name="文字方塊 1"/>
          <p:cNvSpPr txBox="1">
            <a:spLocks noChangeArrowheads="1"/>
          </p:cNvSpPr>
          <p:nvPr/>
        </p:nvSpPr>
        <p:spPr bwMode="auto">
          <a:xfrm>
            <a:off x="4717507" y="4891169"/>
            <a:ext cx="24939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defTabSz="457200">
              <a:defRPr/>
            </a:pPr>
            <a:r>
              <a:rPr lang="en-US" altLang="zh-TW" sz="2400" dirty="0">
                <a:solidFill>
                  <a:prstClr val="black"/>
                </a:solidFill>
                <a:latin typeface="Times New Roman" panose="02020603050405020304" pitchFamily="18" charset="0"/>
                <a:cs typeface="Times New Roman" panose="02020603050405020304" pitchFamily="18" charset="0"/>
              </a:rPr>
              <a:t>Spoken Content </a:t>
            </a:r>
            <a:endParaRPr lang="zh-TW" altLang="en-US" sz="2400" dirty="0">
              <a:solidFill>
                <a:prstClr val="black"/>
              </a:solidFill>
              <a:latin typeface="Times New Roman" panose="02020603050405020304" pitchFamily="18" charset="0"/>
              <a:cs typeface="Times New Roman" panose="02020603050405020304" pitchFamily="18" charset="0"/>
            </a:endParaRPr>
          </a:p>
        </p:txBody>
      </p:sp>
      <p:pic>
        <p:nvPicPr>
          <p:cNvPr id="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8889" y="4198850"/>
            <a:ext cx="1614487"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2320" y="4173514"/>
            <a:ext cx="1614487"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直線單箭頭接點 20"/>
          <p:cNvCxnSpPr/>
          <p:nvPr/>
        </p:nvCxnSpPr>
        <p:spPr>
          <a:xfrm>
            <a:off x="6517299" y="2773190"/>
            <a:ext cx="1765363" cy="1729454"/>
          </a:xfrm>
          <a:prstGeom prst="straightConnector1">
            <a:avLst/>
          </a:prstGeom>
          <a:ln w="38100">
            <a:solidFill>
              <a:srgbClr val="0000FF"/>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H="1">
            <a:off x="3301977" y="2821406"/>
            <a:ext cx="1942174" cy="1729969"/>
          </a:xfrm>
          <a:prstGeom prst="straightConnector1">
            <a:avLst/>
          </a:prstGeom>
          <a:ln w="38100">
            <a:solidFill>
              <a:srgbClr val="0000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矩形 1"/>
          <p:cNvSpPr>
            <a:spLocks noChangeArrowheads="1"/>
          </p:cNvSpPr>
          <p:nvPr/>
        </p:nvSpPr>
        <p:spPr bwMode="auto">
          <a:xfrm>
            <a:off x="2247466" y="3827642"/>
            <a:ext cx="12827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defTabSz="457200">
              <a:defRPr/>
            </a:pPr>
            <a:r>
              <a:rPr lang="en-US" altLang="zh-TW" sz="2000" dirty="0">
                <a:solidFill>
                  <a:prstClr val="black"/>
                </a:solidFill>
                <a:latin typeface="Times New Roman" panose="02020603050405020304" pitchFamily="18" charset="0"/>
                <a:cs typeface="Times New Roman" panose="02020603050405020304" pitchFamily="18" charset="0"/>
              </a:rPr>
              <a:t>“ICASSP”</a:t>
            </a:r>
            <a:endParaRPr lang="zh-TW" altLang="en-US" sz="2000" dirty="0">
              <a:solidFill>
                <a:prstClr val="black"/>
              </a:solidFill>
              <a:latin typeface="Times New Roman" panose="02020603050405020304" pitchFamily="18" charset="0"/>
              <a:cs typeface="Times New Roman" panose="02020603050405020304" pitchFamily="18" charset="0"/>
            </a:endParaRPr>
          </a:p>
        </p:txBody>
      </p:sp>
      <p:sp>
        <p:nvSpPr>
          <p:cNvPr id="27" name="矩形 1"/>
          <p:cNvSpPr>
            <a:spLocks noChangeArrowheads="1"/>
          </p:cNvSpPr>
          <p:nvPr/>
        </p:nvSpPr>
        <p:spPr bwMode="auto">
          <a:xfrm>
            <a:off x="8124328" y="3877999"/>
            <a:ext cx="12827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defTabSz="457200">
              <a:defRPr/>
            </a:pPr>
            <a:r>
              <a:rPr lang="en-US" altLang="zh-TW" sz="2000" dirty="0">
                <a:solidFill>
                  <a:prstClr val="black"/>
                </a:solidFill>
                <a:latin typeface="Times New Roman" panose="02020603050405020304" pitchFamily="18" charset="0"/>
                <a:cs typeface="Times New Roman" panose="02020603050405020304" pitchFamily="18" charset="0"/>
              </a:rPr>
              <a:t>“ICASSP”</a:t>
            </a:r>
            <a:endParaRPr lang="zh-TW" altLang="en-US" sz="20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93679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23" grpId="0"/>
      <p:bldP spid="26"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730468" y="3252299"/>
            <a:ext cx="9071956" cy="2761418"/>
          </a:xfrm>
          <a:prstGeom prst="rect">
            <a:avLst/>
          </a:prstGeom>
          <a:solidFill>
            <a:schemeClr val="accent1">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zh-TW" altLang="en-US">
              <a:solidFill>
                <a:prstClr val="white"/>
              </a:solidFill>
              <a:latin typeface="Calibri" panose="020F0502020204030204"/>
              <a:ea typeface="新細明體" panose="02020500000000000000" pitchFamily="18" charset="-120"/>
            </a:endParaRPr>
          </a:p>
        </p:txBody>
      </p:sp>
      <p:sp>
        <p:nvSpPr>
          <p:cNvPr id="29" name="矩形 28"/>
          <p:cNvSpPr/>
          <p:nvPr/>
        </p:nvSpPr>
        <p:spPr>
          <a:xfrm>
            <a:off x="1730468" y="641709"/>
            <a:ext cx="9071956" cy="2664296"/>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zh-TW" altLang="en-US">
              <a:solidFill>
                <a:prstClr val="white"/>
              </a:solidFill>
              <a:latin typeface="Calibri" panose="020F0502020204030204"/>
              <a:ea typeface="新細明體" panose="02020500000000000000" pitchFamily="18" charset="-120"/>
            </a:endParaRPr>
          </a:p>
        </p:txBody>
      </p:sp>
      <p:pic>
        <p:nvPicPr>
          <p:cNvPr id="4" name="圖片 3"/>
          <p:cNvPicPr>
            <a:picLocks noChangeAspect="1"/>
          </p:cNvPicPr>
          <p:nvPr/>
        </p:nvPicPr>
        <p:blipFill>
          <a:blip r:embed="rId2"/>
          <a:stretch>
            <a:fillRect/>
          </a:stretch>
        </p:blipFill>
        <p:spPr>
          <a:xfrm>
            <a:off x="2497178" y="1685292"/>
            <a:ext cx="2333625" cy="1371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文字方塊 4"/>
          <p:cNvSpPr txBox="1"/>
          <p:nvPr/>
        </p:nvSpPr>
        <p:spPr>
          <a:xfrm>
            <a:off x="2338347" y="749189"/>
            <a:ext cx="5012542" cy="830997"/>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Audio archive divided into variable-length audio segments</a:t>
            </a:r>
            <a:endParaRPr lang="zh-TW" altLang="en-US" sz="2400" dirty="0">
              <a:solidFill>
                <a:prstClr val="black"/>
              </a:solidFill>
              <a:latin typeface="Calibri" panose="020F0502020204030204"/>
              <a:ea typeface="新細明體" panose="02020500000000000000" pitchFamily="18" charset="-120"/>
            </a:endParaRPr>
          </a:p>
        </p:txBody>
      </p:sp>
      <p:sp>
        <p:nvSpPr>
          <p:cNvPr id="6" name="文字方塊 5"/>
          <p:cNvSpPr txBox="1"/>
          <p:nvPr/>
        </p:nvSpPr>
        <p:spPr>
          <a:xfrm>
            <a:off x="5594455" y="1990460"/>
            <a:ext cx="1772182" cy="83099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Audio Word to Vector</a:t>
            </a:r>
            <a:endParaRPr lang="zh-TW" altLang="en-US" sz="2400" dirty="0">
              <a:solidFill>
                <a:prstClr val="black"/>
              </a:solidFill>
              <a:latin typeface="Calibri" panose="020F0502020204030204"/>
              <a:ea typeface="新細明體" panose="02020500000000000000" pitchFamily="18" charset="-120"/>
            </a:endParaRPr>
          </a:p>
        </p:txBody>
      </p:sp>
      <p:sp>
        <p:nvSpPr>
          <p:cNvPr id="7" name="文字方塊 6"/>
          <p:cNvSpPr txBox="1"/>
          <p:nvPr/>
        </p:nvSpPr>
        <p:spPr>
          <a:xfrm>
            <a:off x="4419753" y="3941773"/>
            <a:ext cx="1772182" cy="83099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Audio Word to Vector</a:t>
            </a:r>
            <a:endParaRPr lang="zh-TW" altLang="en-US" sz="2400" dirty="0">
              <a:solidFill>
                <a:prstClr val="black"/>
              </a:solidFill>
              <a:latin typeface="Calibri" panose="020F0502020204030204"/>
              <a:ea typeface="新細明體" panose="02020500000000000000" pitchFamily="18" charset="-120"/>
            </a:endParaRPr>
          </a:p>
        </p:txBody>
      </p:sp>
      <p:pic>
        <p:nvPicPr>
          <p:cNvPr id="8" name="圖片 7"/>
          <p:cNvPicPr>
            <a:picLocks noChangeAspect="1"/>
          </p:cNvPicPr>
          <p:nvPr/>
        </p:nvPicPr>
        <p:blipFill>
          <a:blip r:embed="rId3"/>
          <a:stretch>
            <a:fillRect/>
          </a:stretch>
        </p:blipFill>
        <p:spPr>
          <a:xfrm>
            <a:off x="8130291" y="1612711"/>
            <a:ext cx="1628775" cy="1552575"/>
          </a:xfrm>
          <a:prstGeom prst="rect">
            <a:avLst/>
          </a:prstGeom>
        </p:spPr>
      </p:pic>
      <p:pic>
        <p:nvPicPr>
          <p:cNvPr id="10" name="圖片 9"/>
          <p:cNvPicPr>
            <a:picLocks noChangeAspect="1"/>
          </p:cNvPicPr>
          <p:nvPr/>
        </p:nvPicPr>
        <p:blipFill>
          <a:blip r:embed="rId4"/>
          <a:stretch>
            <a:fillRect/>
          </a:stretch>
        </p:blipFill>
        <p:spPr>
          <a:xfrm>
            <a:off x="7042495" y="3613924"/>
            <a:ext cx="304800" cy="1504950"/>
          </a:xfrm>
          <a:prstGeom prst="rect">
            <a:avLst/>
          </a:prstGeom>
        </p:spPr>
      </p:pic>
      <p:sp>
        <p:nvSpPr>
          <p:cNvPr id="11" name="文字方塊 10"/>
          <p:cNvSpPr txBox="1"/>
          <p:nvPr/>
        </p:nvSpPr>
        <p:spPr>
          <a:xfrm>
            <a:off x="8229097" y="4131869"/>
            <a:ext cx="1431161"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Similarity</a:t>
            </a:r>
            <a:endParaRPr lang="zh-TW" altLang="en-US" sz="2400" dirty="0">
              <a:solidFill>
                <a:prstClr val="black"/>
              </a:solidFill>
              <a:latin typeface="Calibri" panose="020F0502020204030204"/>
              <a:ea typeface="新細明體" panose="02020500000000000000" pitchFamily="18" charset="-120"/>
            </a:endParaRPr>
          </a:p>
        </p:txBody>
      </p:sp>
      <p:sp>
        <p:nvSpPr>
          <p:cNvPr id="12" name="文字方塊 11"/>
          <p:cNvSpPr txBox="1"/>
          <p:nvPr/>
        </p:nvSpPr>
        <p:spPr>
          <a:xfrm>
            <a:off x="8004067" y="5202767"/>
            <a:ext cx="1872208"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Search Result</a:t>
            </a:r>
            <a:endParaRPr lang="zh-TW" altLang="en-US" sz="2400" dirty="0">
              <a:solidFill>
                <a:prstClr val="black"/>
              </a:solidFill>
              <a:latin typeface="Calibri" panose="020F0502020204030204"/>
              <a:ea typeface="新細明體" panose="02020500000000000000" pitchFamily="18" charset="-120"/>
            </a:endParaRPr>
          </a:p>
        </p:txBody>
      </p:sp>
      <p:grpSp>
        <p:nvGrpSpPr>
          <p:cNvPr id="14" name="群組 13"/>
          <p:cNvGrpSpPr/>
          <p:nvPr/>
        </p:nvGrpSpPr>
        <p:grpSpPr>
          <a:xfrm>
            <a:off x="2321893" y="3773759"/>
            <a:ext cx="1343621" cy="1659841"/>
            <a:chOff x="595105" y="4581362"/>
            <a:chExt cx="1343621" cy="1659841"/>
          </a:xfrm>
        </p:grpSpPr>
        <p:pic>
          <p:nvPicPr>
            <p:cNvPr id="9" name="圖片 8"/>
            <p:cNvPicPr>
              <a:picLocks noChangeAspect="1"/>
            </p:cNvPicPr>
            <p:nvPr/>
          </p:nvPicPr>
          <p:blipFill>
            <a:blip r:embed="rId5"/>
            <a:stretch>
              <a:fillRect/>
            </a:stretch>
          </p:blipFill>
          <p:spPr>
            <a:xfrm>
              <a:off x="777286" y="4581362"/>
              <a:ext cx="1033879" cy="942975"/>
            </a:xfrm>
            <a:prstGeom prst="rect">
              <a:avLst/>
            </a:prstGeom>
          </p:spPr>
        </p:pic>
        <p:sp>
          <p:nvSpPr>
            <p:cNvPr id="13" name="文字方塊 12"/>
            <p:cNvSpPr txBox="1"/>
            <p:nvPr/>
          </p:nvSpPr>
          <p:spPr>
            <a:xfrm>
              <a:off x="595105" y="5410206"/>
              <a:ext cx="1343621" cy="830997"/>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Spoken Query</a:t>
              </a:r>
              <a:endParaRPr lang="zh-TW" altLang="en-US" sz="2400" dirty="0">
                <a:solidFill>
                  <a:prstClr val="black"/>
                </a:solidFill>
                <a:latin typeface="Calibri" panose="020F0502020204030204"/>
                <a:ea typeface="新細明體" panose="02020500000000000000" pitchFamily="18" charset="-120"/>
              </a:endParaRPr>
            </a:p>
          </p:txBody>
        </p:sp>
      </p:grpSp>
      <p:cxnSp>
        <p:nvCxnSpPr>
          <p:cNvPr id="16" name="直線接點 15"/>
          <p:cNvCxnSpPr/>
          <p:nvPr/>
        </p:nvCxnSpPr>
        <p:spPr>
          <a:xfrm>
            <a:off x="4991444" y="2403511"/>
            <a:ext cx="548239" cy="0"/>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直線接點 16"/>
          <p:cNvCxnSpPr/>
          <p:nvPr/>
        </p:nvCxnSpPr>
        <p:spPr>
          <a:xfrm>
            <a:off x="7451478" y="2403512"/>
            <a:ext cx="678967" cy="1"/>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649756" y="4366400"/>
            <a:ext cx="678967" cy="1"/>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6316911" y="4373924"/>
            <a:ext cx="678967" cy="1"/>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a:off x="7397722" y="4362701"/>
            <a:ext cx="732568" cy="0"/>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8931161" y="3206462"/>
            <a:ext cx="9011" cy="884228"/>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8928636" y="4648398"/>
            <a:ext cx="0" cy="525341"/>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8787265" y="759219"/>
            <a:ext cx="1745985" cy="523220"/>
          </a:xfrm>
          <a:prstGeom prst="rect">
            <a:avLst/>
          </a:prstGeom>
          <a:noFill/>
        </p:spPr>
        <p:txBody>
          <a:bodyPr wrap="square" rtlCol="0">
            <a:spAutoFit/>
          </a:bodyPr>
          <a:lstStyle/>
          <a:p>
            <a:pPr algn="ctr" defTabSz="457200">
              <a:defRPr/>
            </a:pPr>
            <a:r>
              <a:rPr lang="en-US" altLang="zh-TW" sz="2800" b="1" i="1" u="sng" dirty="0">
                <a:solidFill>
                  <a:prstClr val="black"/>
                </a:solidFill>
                <a:latin typeface="Calibri" panose="020F0502020204030204"/>
                <a:ea typeface="新細明體" panose="02020500000000000000" pitchFamily="18" charset="-120"/>
              </a:rPr>
              <a:t>Off-line</a:t>
            </a:r>
            <a:endParaRPr lang="zh-TW" altLang="en-US" sz="2800" b="1" i="1" u="sng" dirty="0">
              <a:solidFill>
                <a:prstClr val="black"/>
              </a:solidFill>
              <a:latin typeface="Calibri" panose="020F0502020204030204"/>
              <a:ea typeface="新細明體" panose="02020500000000000000" pitchFamily="18" charset="-120"/>
            </a:endParaRPr>
          </a:p>
        </p:txBody>
      </p:sp>
      <p:sp>
        <p:nvSpPr>
          <p:cNvPr id="33" name="文字方塊 32"/>
          <p:cNvSpPr txBox="1"/>
          <p:nvPr/>
        </p:nvSpPr>
        <p:spPr>
          <a:xfrm>
            <a:off x="3678098" y="5165184"/>
            <a:ext cx="1745985" cy="523220"/>
          </a:xfrm>
          <a:prstGeom prst="rect">
            <a:avLst/>
          </a:prstGeom>
          <a:noFill/>
        </p:spPr>
        <p:txBody>
          <a:bodyPr wrap="square" rtlCol="0">
            <a:spAutoFit/>
          </a:bodyPr>
          <a:lstStyle/>
          <a:p>
            <a:pPr algn="ctr" defTabSz="457200">
              <a:defRPr/>
            </a:pPr>
            <a:r>
              <a:rPr lang="en-US" altLang="zh-TW" sz="2800" b="1" i="1" u="sng" dirty="0">
                <a:solidFill>
                  <a:prstClr val="black"/>
                </a:solidFill>
                <a:latin typeface="Calibri" panose="020F0502020204030204"/>
                <a:ea typeface="新細明體" panose="02020500000000000000" pitchFamily="18" charset="-120"/>
              </a:rPr>
              <a:t>On-line</a:t>
            </a:r>
            <a:endParaRPr lang="zh-TW" altLang="en-US" sz="2800" b="1" i="1" u="sng" dirty="0">
              <a:solidFill>
                <a:prstClr val="black"/>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37123802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Google Shape;1389;p118">
            <a:extLst>
              <a:ext uri="{FF2B5EF4-FFF2-40B4-BE49-F238E27FC236}">
                <a16:creationId xmlns:a16="http://schemas.microsoft.com/office/drawing/2014/main" id="{700906E9-DB8C-4673-50E9-8DA17AB3F960}"/>
              </a:ext>
            </a:extLst>
          </p:cNvPr>
          <p:cNvPicPr preferRelativeResize="0"/>
          <p:nvPr/>
        </p:nvPicPr>
        <p:blipFill rotWithShape="1">
          <a:blip r:embed="rId2">
            <a:alphaModFix/>
          </a:blip>
          <a:srcRect/>
          <a:stretch/>
        </p:blipFill>
        <p:spPr>
          <a:xfrm flipH="1">
            <a:off x="5372728" y="1780597"/>
            <a:ext cx="2395360" cy="658100"/>
          </a:xfrm>
          <a:prstGeom prst="rect">
            <a:avLst/>
          </a:prstGeom>
          <a:noFill/>
          <a:ln>
            <a:noFill/>
          </a:ln>
        </p:spPr>
      </p:pic>
      <p:sp>
        <p:nvSpPr>
          <p:cNvPr id="2" name="標題 1">
            <a:extLst>
              <a:ext uri="{FF2B5EF4-FFF2-40B4-BE49-F238E27FC236}">
                <a16:creationId xmlns:a16="http://schemas.microsoft.com/office/drawing/2014/main" id="{15A713DB-9F60-0BF8-8CED-E536EA41D18C}"/>
              </a:ext>
            </a:extLst>
          </p:cNvPr>
          <p:cNvSpPr>
            <a:spLocks noGrp="1"/>
          </p:cNvSpPr>
          <p:nvPr>
            <p:ph type="title"/>
          </p:nvPr>
        </p:nvSpPr>
        <p:spPr/>
        <p:txBody>
          <a:bodyPr/>
          <a:lstStyle/>
          <a:p>
            <a:r>
              <a:rPr lang="en-US" altLang="zh-TW" dirty="0"/>
              <a:t>Audio Word2Vector </a:t>
            </a:r>
            <a:endParaRPr lang="zh-TW" altLang="en-US" dirty="0"/>
          </a:p>
        </p:txBody>
      </p:sp>
      <p:sp>
        <p:nvSpPr>
          <p:cNvPr id="5" name="文字方塊 4">
            <a:extLst>
              <a:ext uri="{FF2B5EF4-FFF2-40B4-BE49-F238E27FC236}">
                <a16:creationId xmlns:a16="http://schemas.microsoft.com/office/drawing/2014/main" id="{EC24F233-9F6F-362A-8C51-50F0D645FAA3}"/>
              </a:ext>
            </a:extLst>
          </p:cNvPr>
          <p:cNvSpPr txBox="1"/>
          <p:nvPr/>
        </p:nvSpPr>
        <p:spPr>
          <a:xfrm>
            <a:off x="838200" y="1321356"/>
            <a:ext cx="3522785" cy="369332"/>
          </a:xfrm>
          <a:prstGeom prst="rect">
            <a:avLst/>
          </a:prstGeom>
          <a:noFill/>
        </p:spPr>
        <p:txBody>
          <a:bodyPr wrap="square">
            <a:spAutoFit/>
          </a:bodyPr>
          <a:lstStyle/>
          <a:p>
            <a:r>
              <a:rPr lang="zh-TW" altLang="en-US" dirty="0"/>
              <a:t>https://arxiv.org/abs/1603.00982</a:t>
            </a:r>
          </a:p>
        </p:txBody>
      </p:sp>
      <p:sp>
        <p:nvSpPr>
          <p:cNvPr id="6" name="文字方塊 5">
            <a:extLst>
              <a:ext uri="{FF2B5EF4-FFF2-40B4-BE49-F238E27FC236}">
                <a16:creationId xmlns:a16="http://schemas.microsoft.com/office/drawing/2014/main" id="{944AB593-4ADF-F062-D2F9-76238DC59006}"/>
              </a:ext>
            </a:extLst>
          </p:cNvPr>
          <p:cNvSpPr txBox="1"/>
          <p:nvPr/>
        </p:nvSpPr>
        <p:spPr>
          <a:xfrm>
            <a:off x="8669215" y="681037"/>
            <a:ext cx="3006970" cy="369332"/>
          </a:xfrm>
          <a:prstGeom prst="rect">
            <a:avLst/>
          </a:prstGeom>
          <a:noFill/>
        </p:spPr>
        <p:txBody>
          <a:bodyPr wrap="square" rtlCol="0">
            <a:spAutoFit/>
          </a:bodyPr>
          <a:lstStyle/>
          <a:p>
            <a:r>
              <a:rPr lang="en-US" altLang="zh-TW" dirty="0"/>
              <a:t>This work is done by</a:t>
            </a:r>
            <a:r>
              <a:rPr lang="zh-TW" altLang="en-US" dirty="0"/>
              <a:t> 鍾毓安</a:t>
            </a:r>
            <a:r>
              <a:rPr lang="en-US" altLang="zh-TW" dirty="0"/>
              <a:t>.</a:t>
            </a:r>
            <a:endParaRPr lang="zh-TW" altLang="en-US" dirty="0"/>
          </a:p>
        </p:txBody>
      </p:sp>
      <p:pic>
        <p:nvPicPr>
          <p:cNvPr id="7" name="Google Shape;1389;p118">
            <a:extLst>
              <a:ext uri="{FF2B5EF4-FFF2-40B4-BE49-F238E27FC236}">
                <a16:creationId xmlns:a16="http://schemas.microsoft.com/office/drawing/2014/main" id="{0DA52A4A-52E3-7B14-4DE1-071AC458FE87}"/>
              </a:ext>
            </a:extLst>
          </p:cNvPr>
          <p:cNvPicPr preferRelativeResize="0"/>
          <p:nvPr/>
        </p:nvPicPr>
        <p:blipFill rotWithShape="1">
          <a:blip r:embed="rId2">
            <a:alphaModFix/>
          </a:blip>
          <a:srcRect/>
          <a:stretch/>
        </p:blipFill>
        <p:spPr>
          <a:xfrm>
            <a:off x="1663319" y="5707190"/>
            <a:ext cx="2395360" cy="658100"/>
          </a:xfrm>
          <a:prstGeom prst="rect">
            <a:avLst/>
          </a:prstGeom>
          <a:noFill/>
          <a:ln>
            <a:noFill/>
          </a:ln>
        </p:spPr>
      </p:pic>
      <p:sp>
        <p:nvSpPr>
          <p:cNvPr id="10" name="文字方塊 9">
            <a:extLst>
              <a:ext uri="{FF2B5EF4-FFF2-40B4-BE49-F238E27FC236}">
                <a16:creationId xmlns:a16="http://schemas.microsoft.com/office/drawing/2014/main" id="{C760A737-5352-2651-3612-E96C4E547FC7}"/>
              </a:ext>
            </a:extLst>
          </p:cNvPr>
          <p:cNvSpPr txBox="1"/>
          <p:nvPr/>
        </p:nvSpPr>
        <p:spPr>
          <a:xfrm>
            <a:off x="1885052" y="6186986"/>
            <a:ext cx="1951893" cy="369332"/>
          </a:xfrm>
          <a:prstGeom prst="rect">
            <a:avLst/>
          </a:prstGeom>
          <a:noFill/>
        </p:spPr>
        <p:txBody>
          <a:bodyPr wrap="square" rtlCol="0">
            <a:spAutoFit/>
          </a:bodyPr>
          <a:lstStyle/>
          <a:p>
            <a:pPr algn="ctr"/>
            <a:r>
              <a:rPr lang="en-US" altLang="zh-TW" dirty="0"/>
              <a:t>how</a:t>
            </a:r>
            <a:endParaRPr lang="zh-TW" altLang="en-US" dirty="0"/>
          </a:p>
        </p:txBody>
      </p:sp>
      <p:sp>
        <p:nvSpPr>
          <p:cNvPr id="15" name="Google Shape;3236;p288">
            <a:extLst>
              <a:ext uri="{FF2B5EF4-FFF2-40B4-BE49-F238E27FC236}">
                <a16:creationId xmlns:a16="http://schemas.microsoft.com/office/drawing/2014/main" id="{4986EF48-91AD-DEF5-8B70-AC5AA02EEB44}"/>
              </a:ext>
            </a:extLst>
          </p:cNvPr>
          <p:cNvSpPr/>
          <p:nvPr/>
        </p:nvSpPr>
        <p:spPr>
          <a:xfrm>
            <a:off x="1688226" y="2732800"/>
            <a:ext cx="2275205" cy="658100"/>
          </a:xfrm>
          <a:prstGeom prst="roundRect">
            <a:avLst>
              <a:gd name="adj" fmla="val 16667"/>
            </a:avLst>
          </a:prstGeom>
          <a:solidFill>
            <a:schemeClr val="accent6">
              <a:lumMod val="20000"/>
              <a:lumOff val="80000"/>
            </a:scheme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LSTM</a:t>
            </a:r>
          </a:p>
        </p:txBody>
      </p:sp>
      <p:pic>
        <p:nvPicPr>
          <p:cNvPr id="17" name="Google Shape;1389;p118">
            <a:extLst>
              <a:ext uri="{FF2B5EF4-FFF2-40B4-BE49-F238E27FC236}">
                <a16:creationId xmlns:a16="http://schemas.microsoft.com/office/drawing/2014/main" id="{45D37053-7B7A-85E3-2541-4A0F841EAB89}"/>
              </a:ext>
            </a:extLst>
          </p:cNvPr>
          <p:cNvPicPr preferRelativeResize="0"/>
          <p:nvPr/>
        </p:nvPicPr>
        <p:blipFill rotWithShape="1">
          <a:blip r:embed="rId2">
            <a:alphaModFix/>
          </a:blip>
          <a:srcRect/>
          <a:stretch/>
        </p:blipFill>
        <p:spPr>
          <a:xfrm>
            <a:off x="1663319" y="1787812"/>
            <a:ext cx="2395360" cy="658100"/>
          </a:xfrm>
          <a:prstGeom prst="rect">
            <a:avLst/>
          </a:prstGeom>
          <a:noFill/>
          <a:ln>
            <a:noFill/>
          </a:ln>
        </p:spPr>
      </p:pic>
      <p:cxnSp>
        <p:nvCxnSpPr>
          <p:cNvPr id="19" name="直線單箭頭接點 18">
            <a:extLst>
              <a:ext uri="{FF2B5EF4-FFF2-40B4-BE49-F238E27FC236}">
                <a16:creationId xmlns:a16="http://schemas.microsoft.com/office/drawing/2014/main" id="{B99344C2-2EE9-354A-A012-30296B7B5AFF}"/>
              </a:ext>
            </a:extLst>
          </p:cNvPr>
          <p:cNvCxnSpPr/>
          <p:nvPr/>
        </p:nvCxnSpPr>
        <p:spPr>
          <a:xfrm>
            <a:off x="939800" y="2116862"/>
            <a:ext cx="622300" cy="0"/>
          </a:xfrm>
          <a:prstGeom prst="straightConnector1">
            <a:avLst/>
          </a:prstGeom>
          <a:ln w="381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0" name="直線單箭頭接點 19">
            <a:extLst>
              <a:ext uri="{FF2B5EF4-FFF2-40B4-BE49-F238E27FC236}">
                <a16:creationId xmlns:a16="http://schemas.microsoft.com/office/drawing/2014/main" id="{1234D729-8437-2BA3-0AC4-1B3ECD0E2851}"/>
              </a:ext>
            </a:extLst>
          </p:cNvPr>
          <p:cNvCxnSpPr/>
          <p:nvPr/>
        </p:nvCxnSpPr>
        <p:spPr>
          <a:xfrm>
            <a:off x="939800" y="6033730"/>
            <a:ext cx="622300" cy="0"/>
          </a:xfrm>
          <a:prstGeom prst="straightConnector1">
            <a:avLst/>
          </a:prstGeom>
          <a:ln w="381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直線單箭頭接點 22">
            <a:extLst>
              <a:ext uri="{FF2B5EF4-FFF2-40B4-BE49-F238E27FC236}">
                <a16:creationId xmlns:a16="http://schemas.microsoft.com/office/drawing/2014/main" id="{E8D29161-EFE8-0E47-8CAB-D083F8E16F24}"/>
              </a:ext>
            </a:extLst>
          </p:cNvPr>
          <p:cNvCxnSpPr>
            <a:cxnSpLocks/>
          </p:cNvCxnSpPr>
          <p:nvPr/>
        </p:nvCxnSpPr>
        <p:spPr>
          <a:xfrm>
            <a:off x="933450" y="2116862"/>
            <a:ext cx="0" cy="3916868"/>
          </a:xfrm>
          <a:prstGeom prst="straightConnector1">
            <a:avLst/>
          </a:prstGeom>
          <a:ln w="38100">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6" name="Google Shape;1392;p118">
            <a:extLst>
              <a:ext uri="{FF2B5EF4-FFF2-40B4-BE49-F238E27FC236}">
                <a16:creationId xmlns:a16="http://schemas.microsoft.com/office/drawing/2014/main" id="{C796672D-28C0-BFAE-A3F2-E5C61432306F}"/>
              </a:ext>
            </a:extLst>
          </p:cNvPr>
          <p:cNvCxnSpPr/>
          <p:nvPr/>
        </p:nvCxnSpPr>
        <p:spPr>
          <a:xfrm rot="10800000">
            <a:off x="3815479" y="4234130"/>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27" name="Google Shape;1392;p118">
            <a:extLst>
              <a:ext uri="{FF2B5EF4-FFF2-40B4-BE49-F238E27FC236}">
                <a16:creationId xmlns:a16="http://schemas.microsoft.com/office/drawing/2014/main" id="{874772A3-062F-B1B9-E507-711BD0061D4C}"/>
              </a:ext>
            </a:extLst>
          </p:cNvPr>
          <p:cNvCxnSpPr/>
          <p:nvPr/>
        </p:nvCxnSpPr>
        <p:spPr>
          <a:xfrm rot="10800000">
            <a:off x="3815478" y="3429000"/>
            <a:ext cx="0" cy="431200"/>
          </a:xfrm>
          <a:prstGeom prst="straightConnector1">
            <a:avLst/>
          </a:prstGeom>
          <a:noFill/>
          <a:ln w="28575" cap="flat" cmpd="sng">
            <a:solidFill>
              <a:srgbClr val="002060"/>
            </a:solidFill>
            <a:prstDash val="solid"/>
            <a:miter lim="800000"/>
            <a:headEnd type="none" w="sm" len="sm"/>
            <a:tailEnd type="triangle" w="med" len="med"/>
          </a:ln>
        </p:spPr>
      </p:cxnSp>
      <p:sp>
        <p:nvSpPr>
          <p:cNvPr id="16" name="Google Shape;153;p16">
            <a:extLst>
              <a:ext uri="{FF2B5EF4-FFF2-40B4-BE49-F238E27FC236}">
                <a16:creationId xmlns:a16="http://schemas.microsoft.com/office/drawing/2014/main" id="{027B3C0E-7BB1-F14C-828E-E670FB2E5E53}"/>
              </a:ext>
            </a:extLst>
          </p:cNvPr>
          <p:cNvSpPr/>
          <p:nvPr/>
        </p:nvSpPr>
        <p:spPr>
          <a:xfrm>
            <a:off x="3667545" y="3703626"/>
            <a:ext cx="270486" cy="505104"/>
          </a:xfrm>
          <a:prstGeom prst="roundRect">
            <a:avLst>
              <a:gd name="adj" fmla="val 16667"/>
            </a:avLst>
          </a:prstGeom>
          <a:solidFill>
            <a:srgbClr val="FFD966"/>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 name="Google Shape;3236;p288">
            <a:extLst>
              <a:ext uri="{FF2B5EF4-FFF2-40B4-BE49-F238E27FC236}">
                <a16:creationId xmlns:a16="http://schemas.microsoft.com/office/drawing/2014/main" id="{446C1BA1-848C-ECAC-F7AC-CE356FB64955}"/>
              </a:ext>
            </a:extLst>
          </p:cNvPr>
          <p:cNvSpPr/>
          <p:nvPr/>
        </p:nvSpPr>
        <p:spPr>
          <a:xfrm>
            <a:off x="1688226" y="4561809"/>
            <a:ext cx="2275205" cy="658100"/>
          </a:xfrm>
          <a:prstGeom prst="roundRect">
            <a:avLst>
              <a:gd name="adj" fmla="val 16667"/>
            </a:avLst>
          </a:prstGeom>
          <a:solidFill>
            <a:srgbClr val="4472C4">
              <a:lumMod val="20000"/>
              <a:lumOff val="80000"/>
            </a:srgb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LSTM</a:t>
            </a:r>
          </a:p>
        </p:txBody>
      </p:sp>
      <p:cxnSp>
        <p:nvCxnSpPr>
          <p:cNvPr id="28" name="Google Shape;1392;p118">
            <a:extLst>
              <a:ext uri="{FF2B5EF4-FFF2-40B4-BE49-F238E27FC236}">
                <a16:creationId xmlns:a16="http://schemas.microsoft.com/office/drawing/2014/main" id="{B00B77E5-AC40-3A27-BC4C-209B10EE7170}"/>
              </a:ext>
            </a:extLst>
          </p:cNvPr>
          <p:cNvCxnSpPr>
            <a:cxnSpLocks/>
          </p:cNvCxnSpPr>
          <p:nvPr/>
        </p:nvCxnSpPr>
        <p:spPr>
          <a:xfrm rot="10800000">
            <a:off x="2850264"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29" name="Google Shape;1392;p118">
            <a:extLst>
              <a:ext uri="{FF2B5EF4-FFF2-40B4-BE49-F238E27FC236}">
                <a16:creationId xmlns:a16="http://schemas.microsoft.com/office/drawing/2014/main" id="{7550CC0B-A647-E2C9-B9B3-1B0181D71D9A}"/>
              </a:ext>
            </a:extLst>
          </p:cNvPr>
          <p:cNvCxnSpPr>
            <a:cxnSpLocks/>
          </p:cNvCxnSpPr>
          <p:nvPr/>
        </p:nvCxnSpPr>
        <p:spPr>
          <a:xfrm rot="10800000">
            <a:off x="2367658"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30" name="Google Shape;1392;p118">
            <a:extLst>
              <a:ext uri="{FF2B5EF4-FFF2-40B4-BE49-F238E27FC236}">
                <a16:creationId xmlns:a16="http://schemas.microsoft.com/office/drawing/2014/main" id="{31DE7072-0089-4CC2-4364-E997A6AB09A1}"/>
              </a:ext>
            </a:extLst>
          </p:cNvPr>
          <p:cNvCxnSpPr>
            <a:cxnSpLocks/>
          </p:cNvCxnSpPr>
          <p:nvPr/>
        </p:nvCxnSpPr>
        <p:spPr>
          <a:xfrm rot="10800000">
            <a:off x="1885052"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31" name="Google Shape;1392;p118">
            <a:extLst>
              <a:ext uri="{FF2B5EF4-FFF2-40B4-BE49-F238E27FC236}">
                <a16:creationId xmlns:a16="http://schemas.microsoft.com/office/drawing/2014/main" id="{49484337-FE55-A68D-8E76-8625626AD2A9}"/>
              </a:ext>
            </a:extLst>
          </p:cNvPr>
          <p:cNvCxnSpPr>
            <a:cxnSpLocks/>
          </p:cNvCxnSpPr>
          <p:nvPr/>
        </p:nvCxnSpPr>
        <p:spPr>
          <a:xfrm rot="10800000">
            <a:off x="3332870"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32" name="Google Shape;1392;p118">
            <a:extLst>
              <a:ext uri="{FF2B5EF4-FFF2-40B4-BE49-F238E27FC236}">
                <a16:creationId xmlns:a16="http://schemas.microsoft.com/office/drawing/2014/main" id="{C8B73D3D-F19C-DE47-BA71-8FB2A49373C8}"/>
              </a:ext>
            </a:extLst>
          </p:cNvPr>
          <p:cNvCxnSpPr>
            <a:cxnSpLocks/>
          </p:cNvCxnSpPr>
          <p:nvPr/>
        </p:nvCxnSpPr>
        <p:spPr>
          <a:xfrm rot="10800000">
            <a:off x="3815477"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33" name="Google Shape;1392;p118">
            <a:extLst>
              <a:ext uri="{FF2B5EF4-FFF2-40B4-BE49-F238E27FC236}">
                <a16:creationId xmlns:a16="http://schemas.microsoft.com/office/drawing/2014/main" id="{6DAD89C4-11ED-AAA2-69DB-CDB6D7346967}"/>
              </a:ext>
            </a:extLst>
          </p:cNvPr>
          <p:cNvCxnSpPr>
            <a:cxnSpLocks/>
          </p:cNvCxnSpPr>
          <p:nvPr/>
        </p:nvCxnSpPr>
        <p:spPr>
          <a:xfrm rot="10800000">
            <a:off x="2850263"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34" name="Google Shape;1392;p118">
            <a:extLst>
              <a:ext uri="{FF2B5EF4-FFF2-40B4-BE49-F238E27FC236}">
                <a16:creationId xmlns:a16="http://schemas.microsoft.com/office/drawing/2014/main" id="{CA5185DD-D835-5C3A-8939-005707A23001}"/>
              </a:ext>
            </a:extLst>
          </p:cNvPr>
          <p:cNvCxnSpPr>
            <a:cxnSpLocks/>
          </p:cNvCxnSpPr>
          <p:nvPr/>
        </p:nvCxnSpPr>
        <p:spPr>
          <a:xfrm rot="10800000">
            <a:off x="2367657"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35" name="Google Shape;1392;p118">
            <a:extLst>
              <a:ext uri="{FF2B5EF4-FFF2-40B4-BE49-F238E27FC236}">
                <a16:creationId xmlns:a16="http://schemas.microsoft.com/office/drawing/2014/main" id="{E34F57BC-6CCB-A56C-ABD3-C8727FD36E19}"/>
              </a:ext>
            </a:extLst>
          </p:cNvPr>
          <p:cNvCxnSpPr>
            <a:cxnSpLocks/>
          </p:cNvCxnSpPr>
          <p:nvPr/>
        </p:nvCxnSpPr>
        <p:spPr>
          <a:xfrm rot="10800000">
            <a:off x="1885051"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36" name="Google Shape;1392;p118">
            <a:extLst>
              <a:ext uri="{FF2B5EF4-FFF2-40B4-BE49-F238E27FC236}">
                <a16:creationId xmlns:a16="http://schemas.microsoft.com/office/drawing/2014/main" id="{E94494DF-0983-C404-CD7C-C6A98158DB90}"/>
              </a:ext>
            </a:extLst>
          </p:cNvPr>
          <p:cNvCxnSpPr>
            <a:cxnSpLocks/>
          </p:cNvCxnSpPr>
          <p:nvPr/>
        </p:nvCxnSpPr>
        <p:spPr>
          <a:xfrm rot="10800000">
            <a:off x="3332869"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37" name="Google Shape;1392;p118">
            <a:extLst>
              <a:ext uri="{FF2B5EF4-FFF2-40B4-BE49-F238E27FC236}">
                <a16:creationId xmlns:a16="http://schemas.microsoft.com/office/drawing/2014/main" id="{E9AE4831-9656-9775-98A5-430A10ABF7E2}"/>
              </a:ext>
            </a:extLst>
          </p:cNvPr>
          <p:cNvCxnSpPr>
            <a:cxnSpLocks/>
          </p:cNvCxnSpPr>
          <p:nvPr/>
        </p:nvCxnSpPr>
        <p:spPr>
          <a:xfrm rot="10800000">
            <a:off x="3815476" y="2293721"/>
            <a:ext cx="0" cy="431200"/>
          </a:xfrm>
          <a:prstGeom prst="straightConnector1">
            <a:avLst/>
          </a:prstGeom>
          <a:noFill/>
          <a:ln w="28575" cap="flat" cmpd="sng">
            <a:solidFill>
              <a:srgbClr val="002060"/>
            </a:solidFill>
            <a:prstDash val="solid"/>
            <a:miter lim="800000"/>
            <a:headEnd type="none" w="sm" len="sm"/>
            <a:tailEnd type="triangle" w="med" len="med"/>
          </a:ln>
        </p:spPr>
      </p:cxnSp>
      <p:pic>
        <p:nvPicPr>
          <p:cNvPr id="38" name="Google Shape;1389;p118">
            <a:extLst>
              <a:ext uri="{FF2B5EF4-FFF2-40B4-BE49-F238E27FC236}">
                <a16:creationId xmlns:a16="http://schemas.microsoft.com/office/drawing/2014/main" id="{661B2E5A-C75C-BAD1-A93A-F63E4894F65A}"/>
              </a:ext>
            </a:extLst>
          </p:cNvPr>
          <p:cNvPicPr preferRelativeResize="0"/>
          <p:nvPr/>
        </p:nvPicPr>
        <p:blipFill rotWithShape="1">
          <a:blip r:embed="rId2">
            <a:alphaModFix/>
          </a:blip>
          <a:srcRect/>
          <a:stretch/>
        </p:blipFill>
        <p:spPr>
          <a:xfrm flipH="1">
            <a:off x="5372729" y="5707190"/>
            <a:ext cx="2395360" cy="658100"/>
          </a:xfrm>
          <a:prstGeom prst="rect">
            <a:avLst/>
          </a:prstGeom>
          <a:noFill/>
          <a:ln>
            <a:noFill/>
          </a:ln>
        </p:spPr>
      </p:pic>
      <p:sp>
        <p:nvSpPr>
          <p:cNvPr id="39" name="文字方塊 38">
            <a:extLst>
              <a:ext uri="{FF2B5EF4-FFF2-40B4-BE49-F238E27FC236}">
                <a16:creationId xmlns:a16="http://schemas.microsoft.com/office/drawing/2014/main" id="{F03BD71C-C0D8-9A8B-6AAD-FBBA50309CBA}"/>
              </a:ext>
            </a:extLst>
          </p:cNvPr>
          <p:cNvSpPr txBox="1"/>
          <p:nvPr/>
        </p:nvSpPr>
        <p:spPr>
          <a:xfrm>
            <a:off x="5594462" y="6186986"/>
            <a:ext cx="1951893" cy="369332"/>
          </a:xfrm>
          <a:prstGeom prst="rect">
            <a:avLst/>
          </a:prstGeom>
          <a:noFill/>
        </p:spPr>
        <p:txBody>
          <a:bodyPr wrap="square" rtlCol="0">
            <a:spAutoFit/>
          </a:bodyPr>
          <a:lstStyle/>
          <a:p>
            <a:pPr algn="ctr"/>
            <a:r>
              <a:rPr lang="en-US" altLang="zh-TW" dirty="0"/>
              <a:t>are</a:t>
            </a:r>
            <a:endParaRPr lang="zh-TW" altLang="en-US" dirty="0"/>
          </a:p>
        </p:txBody>
      </p:sp>
      <p:sp>
        <p:nvSpPr>
          <p:cNvPr id="40" name="Google Shape;3236;p288">
            <a:extLst>
              <a:ext uri="{FF2B5EF4-FFF2-40B4-BE49-F238E27FC236}">
                <a16:creationId xmlns:a16="http://schemas.microsoft.com/office/drawing/2014/main" id="{3ED12CDF-AEA5-E95C-8C02-F595696A0564}"/>
              </a:ext>
            </a:extLst>
          </p:cNvPr>
          <p:cNvSpPr/>
          <p:nvPr/>
        </p:nvSpPr>
        <p:spPr>
          <a:xfrm>
            <a:off x="5397636" y="2732800"/>
            <a:ext cx="2275205" cy="658100"/>
          </a:xfrm>
          <a:prstGeom prst="roundRect">
            <a:avLst>
              <a:gd name="adj" fmla="val 16667"/>
            </a:avLst>
          </a:prstGeom>
          <a:solidFill>
            <a:schemeClr val="accent6">
              <a:lumMod val="20000"/>
              <a:lumOff val="80000"/>
            </a:scheme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LSTM</a:t>
            </a:r>
          </a:p>
        </p:txBody>
      </p:sp>
      <p:cxnSp>
        <p:nvCxnSpPr>
          <p:cNvPr id="42" name="直線單箭頭接點 41">
            <a:extLst>
              <a:ext uri="{FF2B5EF4-FFF2-40B4-BE49-F238E27FC236}">
                <a16:creationId xmlns:a16="http://schemas.microsoft.com/office/drawing/2014/main" id="{B1734689-482A-B536-E514-4AEDCE8BDF67}"/>
              </a:ext>
            </a:extLst>
          </p:cNvPr>
          <p:cNvCxnSpPr/>
          <p:nvPr/>
        </p:nvCxnSpPr>
        <p:spPr>
          <a:xfrm>
            <a:off x="4649210" y="2116862"/>
            <a:ext cx="622300" cy="0"/>
          </a:xfrm>
          <a:prstGeom prst="straightConnector1">
            <a:avLst/>
          </a:prstGeom>
          <a:ln w="381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3" name="直線單箭頭接點 42">
            <a:extLst>
              <a:ext uri="{FF2B5EF4-FFF2-40B4-BE49-F238E27FC236}">
                <a16:creationId xmlns:a16="http://schemas.microsoft.com/office/drawing/2014/main" id="{7B3EFC78-0D40-C8DD-CE99-0B41E55B74D1}"/>
              </a:ext>
            </a:extLst>
          </p:cNvPr>
          <p:cNvCxnSpPr/>
          <p:nvPr/>
        </p:nvCxnSpPr>
        <p:spPr>
          <a:xfrm>
            <a:off x="4649210" y="6033730"/>
            <a:ext cx="622300" cy="0"/>
          </a:xfrm>
          <a:prstGeom prst="straightConnector1">
            <a:avLst/>
          </a:prstGeom>
          <a:ln w="381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4" name="直線單箭頭接點 43">
            <a:extLst>
              <a:ext uri="{FF2B5EF4-FFF2-40B4-BE49-F238E27FC236}">
                <a16:creationId xmlns:a16="http://schemas.microsoft.com/office/drawing/2014/main" id="{FBC6E178-67F8-9002-8BE0-256EDBFAF045}"/>
              </a:ext>
            </a:extLst>
          </p:cNvPr>
          <p:cNvCxnSpPr>
            <a:cxnSpLocks/>
          </p:cNvCxnSpPr>
          <p:nvPr/>
        </p:nvCxnSpPr>
        <p:spPr>
          <a:xfrm>
            <a:off x="4642860" y="2116862"/>
            <a:ext cx="0" cy="3916868"/>
          </a:xfrm>
          <a:prstGeom prst="straightConnector1">
            <a:avLst/>
          </a:prstGeom>
          <a:ln w="38100">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5" name="Google Shape;1392;p118">
            <a:extLst>
              <a:ext uri="{FF2B5EF4-FFF2-40B4-BE49-F238E27FC236}">
                <a16:creationId xmlns:a16="http://schemas.microsoft.com/office/drawing/2014/main" id="{E9471844-428A-9D39-01EB-0F9C4FA18EE8}"/>
              </a:ext>
            </a:extLst>
          </p:cNvPr>
          <p:cNvCxnSpPr/>
          <p:nvPr/>
        </p:nvCxnSpPr>
        <p:spPr>
          <a:xfrm rot="10800000">
            <a:off x="7524889" y="4234130"/>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46" name="Google Shape;1392;p118">
            <a:extLst>
              <a:ext uri="{FF2B5EF4-FFF2-40B4-BE49-F238E27FC236}">
                <a16:creationId xmlns:a16="http://schemas.microsoft.com/office/drawing/2014/main" id="{EB8BDCFF-D8FD-A364-8208-A2A3876666CE}"/>
              </a:ext>
            </a:extLst>
          </p:cNvPr>
          <p:cNvCxnSpPr/>
          <p:nvPr/>
        </p:nvCxnSpPr>
        <p:spPr>
          <a:xfrm rot="10800000">
            <a:off x="7524888" y="3429000"/>
            <a:ext cx="0" cy="431200"/>
          </a:xfrm>
          <a:prstGeom prst="straightConnector1">
            <a:avLst/>
          </a:prstGeom>
          <a:noFill/>
          <a:ln w="28575" cap="flat" cmpd="sng">
            <a:solidFill>
              <a:srgbClr val="002060"/>
            </a:solidFill>
            <a:prstDash val="solid"/>
            <a:miter lim="800000"/>
            <a:headEnd type="none" w="sm" len="sm"/>
            <a:tailEnd type="triangle" w="med" len="med"/>
          </a:ln>
        </p:spPr>
      </p:cxnSp>
      <p:sp>
        <p:nvSpPr>
          <p:cNvPr id="47" name="Google Shape;153;p16">
            <a:extLst>
              <a:ext uri="{FF2B5EF4-FFF2-40B4-BE49-F238E27FC236}">
                <a16:creationId xmlns:a16="http://schemas.microsoft.com/office/drawing/2014/main" id="{B3C231A1-48B3-FACD-9952-9C2147E02616}"/>
              </a:ext>
            </a:extLst>
          </p:cNvPr>
          <p:cNvSpPr/>
          <p:nvPr/>
        </p:nvSpPr>
        <p:spPr>
          <a:xfrm>
            <a:off x="7376955" y="3703626"/>
            <a:ext cx="270486" cy="505104"/>
          </a:xfrm>
          <a:prstGeom prst="roundRect">
            <a:avLst>
              <a:gd name="adj" fmla="val 16667"/>
            </a:avLst>
          </a:prstGeom>
          <a:solidFill>
            <a:schemeClr val="accent2">
              <a:lumMod val="20000"/>
              <a:lumOff val="80000"/>
            </a:schemeClr>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Google Shape;3236;p288">
            <a:extLst>
              <a:ext uri="{FF2B5EF4-FFF2-40B4-BE49-F238E27FC236}">
                <a16:creationId xmlns:a16="http://schemas.microsoft.com/office/drawing/2014/main" id="{7B92DCB6-D4F2-4FC9-B71F-A2E84686E8B8}"/>
              </a:ext>
            </a:extLst>
          </p:cNvPr>
          <p:cNvSpPr/>
          <p:nvPr/>
        </p:nvSpPr>
        <p:spPr>
          <a:xfrm>
            <a:off x="5397636" y="4561809"/>
            <a:ext cx="2275205" cy="658100"/>
          </a:xfrm>
          <a:prstGeom prst="roundRect">
            <a:avLst>
              <a:gd name="adj" fmla="val 16667"/>
            </a:avLst>
          </a:prstGeom>
          <a:solidFill>
            <a:srgbClr val="4472C4">
              <a:lumMod val="20000"/>
              <a:lumOff val="80000"/>
            </a:srgb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LSTM</a:t>
            </a:r>
          </a:p>
        </p:txBody>
      </p:sp>
      <p:cxnSp>
        <p:nvCxnSpPr>
          <p:cNvPr id="49" name="Google Shape;1392;p118">
            <a:extLst>
              <a:ext uri="{FF2B5EF4-FFF2-40B4-BE49-F238E27FC236}">
                <a16:creationId xmlns:a16="http://schemas.microsoft.com/office/drawing/2014/main" id="{4E26F6DB-B073-2B8D-E7F3-35F6FED311DF}"/>
              </a:ext>
            </a:extLst>
          </p:cNvPr>
          <p:cNvCxnSpPr>
            <a:cxnSpLocks/>
          </p:cNvCxnSpPr>
          <p:nvPr/>
        </p:nvCxnSpPr>
        <p:spPr>
          <a:xfrm rot="10800000">
            <a:off x="6559674"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50" name="Google Shape;1392;p118">
            <a:extLst>
              <a:ext uri="{FF2B5EF4-FFF2-40B4-BE49-F238E27FC236}">
                <a16:creationId xmlns:a16="http://schemas.microsoft.com/office/drawing/2014/main" id="{40179ACD-E4A9-18FB-A268-FFAF91958830}"/>
              </a:ext>
            </a:extLst>
          </p:cNvPr>
          <p:cNvCxnSpPr>
            <a:cxnSpLocks/>
          </p:cNvCxnSpPr>
          <p:nvPr/>
        </p:nvCxnSpPr>
        <p:spPr>
          <a:xfrm rot="10800000">
            <a:off x="6077068"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51" name="Google Shape;1392;p118">
            <a:extLst>
              <a:ext uri="{FF2B5EF4-FFF2-40B4-BE49-F238E27FC236}">
                <a16:creationId xmlns:a16="http://schemas.microsoft.com/office/drawing/2014/main" id="{A4257343-2031-F605-B026-5E60A8D463EE}"/>
              </a:ext>
            </a:extLst>
          </p:cNvPr>
          <p:cNvCxnSpPr>
            <a:cxnSpLocks/>
          </p:cNvCxnSpPr>
          <p:nvPr/>
        </p:nvCxnSpPr>
        <p:spPr>
          <a:xfrm rot="10800000">
            <a:off x="5594462"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52" name="Google Shape;1392;p118">
            <a:extLst>
              <a:ext uri="{FF2B5EF4-FFF2-40B4-BE49-F238E27FC236}">
                <a16:creationId xmlns:a16="http://schemas.microsoft.com/office/drawing/2014/main" id="{78630140-5D7F-7FFE-EF92-65E1BF39FCD4}"/>
              </a:ext>
            </a:extLst>
          </p:cNvPr>
          <p:cNvCxnSpPr>
            <a:cxnSpLocks/>
          </p:cNvCxnSpPr>
          <p:nvPr/>
        </p:nvCxnSpPr>
        <p:spPr>
          <a:xfrm rot="10800000">
            <a:off x="7042280"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53" name="Google Shape;1392;p118">
            <a:extLst>
              <a:ext uri="{FF2B5EF4-FFF2-40B4-BE49-F238E27FC236}">
                <a16:creationId xmlns:a16="http://schemas.microsoft.com/office/drawing/2014/main" id="{7E355F7E-6ECA-F841-3D29-A2D12EC74A96}"/>
              </a:ext>
            </a:extLst>
          </p:cNvPr>
          <p:cNvCxnSpPr>
            <a:cxnSpLocks/>
          </p:cNvCxnSpPr>
          <p:nvPr/>
        </p:nvCxnSpPr>
        <p:spPr>
          <a:xfrm rot="10800000">
            <a:off x="7524887"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54" name="Google Shape;1392;p118">
            <a:extLst>
              <a:ext uri="{FF2B5EF4-FFF2-40B4-BE49-F238E27FC236}">
                <a16:creationId xmlns:a16="http://schemas.microsoft.com/office/drawing/2014/main" id="{4BE4A668-B587-1B0F-CE2F-843345341B35}"/>
              </a:ext>
            </a:extLst>
          </p:cNvPr>
          <p:cNvCxnSpPr>
            <a:cxnSpLocks/>
          </p:cNvCxnSpPr>
          <p:nvPr/>
        </p:nvCxnSpPr>
        <p:spPr>
          <a:xfrm rot="10800000">
            <a:off x="6559673"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55" name="Google Shape;1392;p118">
            <a:extLst>
              <a:ext uri="{FF2B5EF4-FFF2-40B4-BE49-F238E27FC236}">
                <a16:creationId xmlns:a16="http://schemas.microsoft.com/office/drawing/2014/main" id="{33B7D878-B481-7F93-CB63-ACFCBCC0B7EB}"/>
              </a:ext>
            </a:extLst>
          </p:cNvPr>
          <p:cNvCxnSpPr>
            <a:cxnSpLocks/>
          </p:cNvCxnSpPr>
          <p:nvPr/>
        </p:nvCxnSpPr>
        <p:spPr>
          <a:xfrm rot="10800000">
            <a:off x="6077067"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56" name="Google Shape;1392;p118">
            <a:extLst>
              <a:ext uri="{FF2B5EF4-FFF2-40B4-BE49-F238E27FC236}">
                <a16:creationId xmlns:a16="http://schemas.microsoft.com/office/drawing/2014/main" id="{E36355B5-BC1D-7C1E-B947-EFEBA03A1AE6}"/>
              </a:ext>
            </a:extLst>
          </p:cNvPr>
          <p:cNvCxnSpPr>
            <a:cxnSpLocks/>
          </p:cNvCxnSpPr>
          <p:nvPr/>
        </p:nvCxnSpPr>
        <p:spPr>
          <a:xfrm rot="10800000">
            <a:off x="5594461"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57" name="Google Shape;1392;p118">
            <a:extLst>
              <a:ext uri="{FF2B5EF4-FFF2-40B4-BE49-F238E27FC236}">
                <a16:creationId xmlns:a16="http://schemas.microsoft.com/office/drawing/2014/main" id="{4F9DDAFF-4C8F-8214-3A78-4B01FF0552E7}"/>
              </a:ext>
            </a:extLst>
          </p:cNvPr>
          <p:cNvCxnSpPr>
            <a:cxnSpLocks/>
          </p:cNvCxnSpPr>
          <p:nvPr/>
        </p:nvCxnSpPr>
        <p:spPr>
          <a:xfrm rot="10800000">
            <a:off x="7042279"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58" name="Google Shape;1392;p118">
            <a:extLst>
              <a:ext uri="{FF2B5EF4-FFF2-40B4-BE49-F238E27FC236}">
                <a16:creationId xmlns:a16="http://schemas.microsoft.com/office/drawing/2014/main" id="{D36D5D6C-F4C1-8C48-D598-B37724962E96}"/>
              </a:ext>
            </a:extLst>
          </p:cNvPr>
          <p:cNvCxnSpPr>
            <a:cxnSpLocks/>
          </p:cNvCxnSpPr>
          <p:nvPr/>
        </p:nvCxnSpPr>
        <p:spPr>
          <a:xfrm rot="10800000">
            <a:off x="7524886" y="2293721"/>
            <a:ext cx="0" cy="431200"/>
          </a:xfrm>
          <a:prstGeom prst="straightConnector1">
            <a:avLst/>
          </a:prstGeom>
          <a:noFill/>
          <a:ln w="28575" cap="flat" cmpd="sng">
            <a:solidFill>
              <a:srgbClr val="002060"/>
            </a:solidFill>
            <a:prstDash val="solid"/>
            <a:miter lim="800000"/>
            <a:headEnd type="none" w="sm" len="sm"/>
            <a:tailEnd type="triangle" w="med" len="med"/>
          </a:ln>
        </p:spPr>
      </p:cxnSp>
      <p:pic>
        <p:nvPicPr>
          <p:cNvPr id="59" name="Google Shape;1389;p118">
            <a:extLst>
              <a:ext uri="{FF2B5EF4-FFF2-40B4-BE49-F238E27FC236}">
                <a16:creationId xmlns:a16="http://schemas.microsoft.com/office/drawing/2014/main" id="{33844943-2256-5C25-9A75-C1EF486E57F0}"/>
              </a:ext>
            </a:extLst>
          </p:cNvPr>
          <p:cNvPicPr preferRelativeResize="0"/>
          <p:nvPr/>
        </p:nvPicPr>
        <p:blipFill rotWithShape="1">
          <a:blip r:embed="rId2">
            <a:alphaModFix/>
          </a:blip>
          <a:srcRect/>
          <a:stretch/>
        </p:blipFill>
        <p:spPr>
          <a:xfrm>
            <a:off x="9007495" y="5707190"/>
            <a:ext cx="2395360" cy="658100"/>
          </a:xfrm>
          <a:prstGeom prst="rect">
            <a:avLst/>
          </a:prstGeom>
          <a:noFill/>
          <a:ln>
            <a:noFill/>
          </a:ln>
        </p:spPr>
      </p:pic>
      <p:sp>
        <p:nvSpPr>
          <p:cNvPr id="60" name="文字方塊 59">
            <a:extLst>
              <a:ext uri="{FF2B5EF4-FFF2-40B4-BE49-F238E27FC236}">
                <a16:creationId xmlns:a16="http://schemas.microsoft.com/office/drawing/2014/main" id="{82841712-AC4E-B4A2-C1D6-428CBDE0DDCA}"/>
              </a:ext>
            </a:extLst>
          </p:cNvPr>
          <p:cNvSpPr txBox="1"/>
          <p:nvPr/>
        </p:nvSpPr>
        <p:spPr>
          <a:xfrm>
            <a:off x="9229228" y="6186986"/>
            <a:ext cx="1951893" cy="369332"/>
          </a:xfrm>
          <a:prstGeom prst="rect">
            <a:avLst/>
          </a:prstGeom>
          <a:noFill/>
        </p:spPr>
        <p:txBody>
          <a:bodyPr wrap="square" rtlCol="0">
            <a:spAutoFit/>
          </a:bodyPr>
          <a:lstStyle/>
          <a:p>
            <a:pPr algn="ctr"/>
            <a:r>
              <a:rPr lang="en-US" altLang="zh-TW" dirty="0"/>
              <a:t>you</a:t>
            </a:r>
            <a:endParaRPr lang="zh-TW" altLang="en-US" dirty="0"/>
          </a:p>
        </p:txBody>
      </p:sp>
      <p:sp>
        <p:nvSpPr>
          <p:cNvPr id="61" name="Google Shape;3236;p288">
            <a:extLst>
              <a:ext uri="{FF2B5EF4-FFF2-40B4-BE49-F238E27FC236}">
                <a16:creationId xmlns:a16="http://schemas.microsoft.com/office/drawing/2014/main" id="{58586E12-1122-B2CF-B97F-948E485528F8}"/>
              </a:ext>
            </a:extLst>
          </p:cNvPr>
          <p:cNvSpPr/>
          <p:nvPr/>
        </p:nvSpPr>
        <p:spPr>
          <a:xfrm>
            <a:off x="9032402" y="2732800"/>
            <a:ext cx="2275205" cy="658100"/>
          </a:xfrm>
          <a:prstGeom prst="roundRect">
            <a:avLst>
              <a:gd name="adj" fmla="val 16667"/>
            </a:avLst>
          </a:prstGeom>
          <a:solidFill>
            <a:schemeClr val="accent6">
              <a:lumMod val="20000"/>
              <a:lumOff val="80000"/>
            </a:scheme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LSTM</a:t>
            </a:r>
          </a:p>
        </p:txBody>
      </p:sp>
      <p:pic>
        <p:nvPicPr>
          <p:cNvPr id="62" name="Google Shape;1389;p118">
            <a:extLst>
              <a:ext uri="{FF2B5EF4-FFF2-40B4-BE49-F238E27FC236}">
                <a16:creationId xmlns:a16="http://schemas.microsoft.com/office/drawing/2014/main" id="{F97118E9-17C6-1A79-C79A-5FD0DE4D75A2}"/>
              </a:ext>
            </a:extLst>
          </p:cNvPr>
          <p:cNvPicPr preferRelativeResize="0"/>
          <p:nvPr/>
        </p:nvPicPr>
        <p:blipFill rotWithShape="1">
          <a:blip r:embed="rId2">
            <a:alphaModFix/>
          </a:blip>
          <a:srcRect/>
          <a:stretch/>
        </p:blipFill>
        <p:spPr>
          <a:xfrm>
            <a:off x="9007495" y="1787812"/>
            <a:ext cx="2395360" cy="658100"/>
          </a:xfrm>
          <a:prstGeom prst="rect">
            <a:avLst/>
          </a:prstGeom>
          <a:noFill/>
          <a:ln>
            <a:noFill/>
          </a:ln>
        </p:spPr>
      </p:pic>
      <p:cxnSp>
        <p:nvCxnSpPr>
          <p:cNvPr id="63" name="直線單箭頭接點 62">
            <a:extLst>
              <a:ext uri="{FF2B5EF4-FFF2-40B4-BE49-F238E27FC236}">
                <a16:creationId xmlns:a16="http://schemas.microsoft.com/office/drawing/2014/main" id="{1B1120F7-7DFC-DFE4-8CAC-966BB7550224}"/>
              </a:ext>
            </a:extLst>
          </p:cNvPr>
          <p:cNvCxnSpPr/>
          <p:nvPr/>
        </p:nvCxnSpPr>
        <p:spPr>
          <a:xfrm>
            <a:off x="8283976" y="2116862"/>
            <a:ext cx="622300" cy="0"/>
          </a:xfrm>
          <a:prstGeom prst="straightConnector1">
            <a:avLst/>
          </a:prstGeom>
          <a:ln w="381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4" name="直線單箭頭接點 63">
            <a:extLst>
              <a:ext uri="{FF2B5EF4-FFF2-40B4-BE49-F238E27FC236}">
                <a16:creationId xmlns:a16="http://schemas.microsoft.com/office/drawing/2014/main" id="{B08D827A-AF3B-A539-794A-6F372901ACBC}"/>
              </a:ext>
            </a:extLst>
          </p:cNvPr>
          <p:cNvCxnSpPr/>
          <p:nvPr/>
        </p:nvCxnSpPr>
        <p:spPr>
          <a:xfrm>
            <a:off x="8283976" y="6033730"/>
            <a:ext cx="622300" cy="0"/>
          </a:xfrm>
          <a:prstGeom prst="straightConnector1">
            <a:avLst/>
          </a:prstGeom>
          <a:ln w="381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5" name="直線單箭頭接點 64">
            <a:extLst>
              <a:ext uri="{FF2B5EF4-FFF2-40B4-BE49-F238E27FC236}">
                <a16:creationId xmlns:a16="http://schemas.microsoft.com/office/drawing/2014/main" id="{F8F0ADE4-1A6E-DD15-C8C9-3DB5A255A6ED}"/>
              </a:ext>
            </a:extLst>
          </p:cNvPr>
          <p:cNvCxnSpPr>
            <a:cxnSpLocks/>
          </p:cNvCxnSpPr>
          <p:nvPr/>
        </p:nvCxnSpPr>
        <p:spPr>
          <a:xfrm>
            <a:off x="8277626" y="2116862"/>
            <a:ext cx="0" cy="3916868"/>
          </a:xfrm>
          <a:prstGeom prst="straightConnector1">
            <a:avLst/>
          </a:prstGeom>
          <a:ln w="38100">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6" name="Google Shape;1392;p118">
            <a:extLst>
              <a:ext uri="{FF2B5EF4-FFF2-40B4-BE49-F238E27FC236}">
                <a16:creationId xmlns:a16="http://schemas.microsoft.com/office/drawing/2014/main" id="{5917285F-1DE6-9984-D35B-22CA24CDA99E}"/>
              </a:ext>
            </a:extLst>
          </p:cNvPr>
          <p:cNvCxnSpPr/>
          <p:nvPr/>
        </p:nvCxnSpPr>
        <p:spPr>
          <a:xfrm rot="10800000">
            <a:off x="11159655" y="4234130"/>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67" name="Google Shape;1392;p118">
            <a:extLst>
              <a:ext uri="{FF2B5EF4-FFF2-40B4-BE49-F238E27FC236}">
                <a16:creationId xmlns:a16="http://schemas.microsoft.com/office/drawing/2014/main" id="{24B64155-B6EE-721F-2896-5A3E886139C1}"/>
              </a:ext>
            </a:extLst>
          </p:cNvPr>
          <p:cNvCxnSpPr/>
          <p:nvPr/>
        </p:nvCxnSpPr>
        <p:spPr>
          <a:xfrm rot="10800000">
            <a:off x="11159654" y="3429000"/>
            <a:ext cx="0" cy="431200"/>
          </a:xfrm>
          <a:prstGeom prst="straightConnector1">
            <a:avLst/>
          </a:prstGeom>
          <a:noFill/>
          <a:ln w="28575" cap="flat" cmpd="sng">
            <a:solidFill>
              <a:srgbClr val="002060"/>
            </a:solidFill>
            <a:prstDash val="solid"/>
            <a:miter lim="800000"/>
            <a:headEnd type="none" w="sm" len="sm"/>
            <a:tailEnd type="triangle" w="med" len="med"/>
          </a:ln>
        </p:spPr>
      </p:cxnSp>
      <p:sp>
        <p:nvSpPr>
          <p:cNvPr id="68" name="Google Shape;153;p16">
            <a:extLst>
              <a:ext uri="{FF2B5EF4-FFF2-40B4-BE49-F238E27FC236}">
                <a16:creationId xmlns:a16="http://schemas.microsoft.com/office/drawing/2014/main" id="{7B657091-3FBC-A48A-3540-6415E317ECE4}"/>
              </a:ext>
            </a:extLst>
          </p:cNvPr>
          <p:cNvSpPr/>
          <p:nvPr/>
        </p:nvSpPr>
        <p:spPr>
          <a:xfrm>
            <a:off x="11011721" y="3703626"/>
            <a:ext cx="270486" cy="505104"/>
          </a:xfrm>
          <a:prstGeom prst="roundRect">
            <a:avLst>
              <a:gd name="adj" fmla="val 16667"/>
            </a:avLst>
          </a:prstGeom>
          <a:solidFill>
            <a:schemeClr val="accent5">
              <a:lumMod val="20000"/>
              <a:lumOff val="80000"/>
            </a:schemeClr>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9" name="Google Shape;3236;p288">
            <a:extLst>
              <a:ext uri="{FF2B5EF4-FFF2-40B4-BE49-F238E27FC236}">
                <a16:creationId xmlns:a16="http://schemas.microsoft.com/office/drawing/2014/main" id="{EBC04967-6698-F1EE-5776-017804929250}"/>
              </a:ext>
            </a:extLst>
          </p:cNvPr>
          <p:cNvSpPr/>
          <p:nvPr/>
        </p:nvSpPr>
        <p:spPr>
          <a:xfrm>
            <a:off x="9032402" y="4561809"/>
            <a:ext cx="2275205" cy="658100"/>
          </a:xfrm>
          <a:prstGeom prst="roundRect">
            <a:avLst>
              <a:gd name="adj" fmla="val 16667"/>
            </a:avLst>
          </a:prstGeom>
          <a:solidFill>
            <a:srgbClr val="4472C4">
              <a:lumMod val="20000"/>
              <a:lumOff val="80000"/>
            </a:srgb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LSTM</a:t>
            </a:r>
          </a:p>
        </p:txBody>
      </p:sp>
      <p:cxnSp>
        <p:nvCxnSpPr>
          <p:cNvPr id="70" name="Google Shape;1392;p118">
            <a:extLst>
              <a:ext uri="{FF2B5EF4-FFF2-40B4-BE49-F238E27FC236}">
                <a16:creationId xmlns:a16="http://schemas.microsoft.com/office/drawing/2014/main" id="{7453808B-D49A-83BE-9DA8-DEC4C95A4FD7}"/>
              </a:ext>
            </a:extLst>
          </p:cNvPr>
          <p:cNvCxnSpPr>
            <a:cxnSpLocks/>
          </p:cNvCxnSpPr>
          <p:nvPr/>
        </p:nvCxnSpPr>
        <p:spPr>
          <a:xfrm rot="10800000">
            <a:off x="10194440"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71" name="Google Shape;1392;p118">
            <a:extLst>
              <a:ext uri="{FF2B5EF4-FFF2-40B4-BE49-F238E27FC236}">
                <a16:creationId xmlns:a16="http://schemas.microsoft.com/office/drawing/2014/main" id="{F20C1EF5-C835-4517-4F9A-87489CE224CA}"/>
              </a:ext>
            </a:extLst>
          </p:cNvPr>
          <p:cNvCxnSpPr>
            <a:cxnSpLocks/>
          </p:cNvCxnSpPr>
          <p:nvPr/>
        </p:nvCxnSpPr>
        <p:spPr>
          <a:xfrm rot="10800000">
            <a:off x="9711834"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72" name="Google Shape;1392;p118">
            <a:extLst>
              <a:ext uri="{FF2B5EF4-FFF2-40B4-BE49-F238E27FC236}">
                <a16:creationId xmlns:a16="http://schemas.microsoft.com/office/drawing/2014/main" id="{86F2C6D6-347A-14AC-0A09-0242B0A52CE0}"/>
              </a:ext>
            </a:extLst>
          </p:cNvPr>
          <p:cNvCxnSpPr>
            <a:cxnSpLocks/>
          </p:cNvCxnSpPr>
          <p:nvPr/>
        </p:nvCxnSpPr>
        <p:spPr>
          <a:xfrm rot="10800000">
            <a:off x="9229228"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73" name="Google Shape;1392;p118">
            <a:extLst>
              <a:ext uri="{FF2B5EF4-FFF2-40B4-BE49-F238E27FC236}">
                <a16:creationId xmlns:a16="http://schemas.microsoft.com/office/drawing/2014/main" id="{28F79B31-80F9-3077-DB4C-4A0445CA1EF4}"/>
              </a:ext>
            </a:extLst>
          </p:cNvPr>
          <p:cNvCxnSpPr>
            <a:cxnSpLocks/>
          </p:cNvCxnSpPr>
          <p:nvPr/>
        </p:nvCxnSpPr>
        <p:spPr>
          <a:xfrm rot="10800000">
            <a:off x="10677046"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74" name="Google Shape;1392;p118">
            <a:extLst>
              <a:ext uri="{FF2B5EF4-FFF2-40B4-BE49-F238E27FC236}">
                <a16:creationId xmlns:a16="http://schemas.microsoft.com/office/drawing/2014/main" id="{B2CB5BF2-7A57-2CB6-50BB-A25EC7615EDA}"/>
              </a:ext>
            </a:extLst>
          </p:cNvPr>
          <p:cNvCxnSpPr>
            <a:cxnSpLocks/>
          </p:cNvCxnSpPr>
          <p:nvPr/>
        </p:nvCxnSpPr>
        <p:spPr>
          <a:xfrm rot="10800000">
            <a:off x="11159653" y="5219909"/>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75" name="Google Shape;1392;p118">
            <a:extLst>
              <a:ext uri="{FF2B5EF4-FFF2-40B4-BE49-F238E27FC236}">
                <a16:creationId xmlns:a16="http://schemas.microsoft.com/office/drawing/2014/main" id="{3FECF19B-7280-2895-9D11-B1DC834D45B9}"/>
              </a:ext>
            </a:extLst>
          </p:cNvPr>
          <p:cNvCxnSpPr>
            <a:cxnSpLocks/>
          </p:cNvCxnSpPr>
          <p:nvPr/>
        </p:nvCxnSpPr>
        <p:spPr>
          <a:xfrm rot="10800000">
            <a:off x="10194439"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76" name="Google Shape;1392;p118">
            <a:extLst>
              <a:ext uri="{FF2B5EF4-FFF2-40B4-BE49-F238E27FC236}">
                <a16:creationId xmlns:a16="http://schemas.microsoft.com/office/drawing/2014/main" id="{0DE32778-C569-6FF7-E6A7-87B84C972A7E}"/>
              </a:ext>
            </a:extLst>
          </p:cNvPr>
          <p:cNvCxnSpPr>
            <a:cxnSpLocks/>
          </p:cNvCxnSpPr>
          <p:nvPr/>
        </p:nvCxnSpPr>
        <p:spPr>
          <a:xfrm rot="10800000">
            <a:off x="9711833"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77" name="Google Shape;1392;p118">
            <a:extLst>
              <a:ext uri="{FF2B5EF4-FFF2-40B4-BE49-F238E27FC236}">
                <a16:creationId xmlns:a16="http://schemas.microsoft.com/office/drawing/2014/main" id="{CE72B53D-F3C0-B7A3-70CD-3BC309B7C901}"/>
              </a:ext>
            </a:extLst>
          </p:cNvPr>
          <p:cNvCxnSpPr>
            <a:cxnSpLocks/>
          </p:cNvCxnSpPr>
          <p:nvPr/>
        </p:nvCxnSpPr>
        <p:spPr>
          <a:xfrm rot="10800000">
            <a:off x="9229227"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78" name="Google Shape;1392;p118">
            <a:extLst>
              <a:ext uri="{FF2B5EF4-FFF2-40B4-BE49-F238E27FC236}">
                <a16:creationId xmlns:a16="http://schemas.microsoft.com/office/drawing/2014/main" id="{3E098941-72CA-7010-23F9-455BC3AAD333}"/>
              </a:ext>
            </a:extLst>
          </p:cNvPr>
          <p:cNvCxnSpPr>
            <a:cxnSpLocks/>
          </p:cNvCxnSpPr>
          <p:nvPr/>
        </p:nvCxnSpPr>
        <p:spPr>
          <a:xfrm rot="10800000">
            <a:off x="10677045" y="2293721"/>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79" name="Google Shape;1392;p118">
            <a:extLst>
              <a:ext uri="{FF2B5EF4-FFF2-40B4-BE49-F238E27FC236}">
                <a16:creationId xmlns:a16="http://schemas.microsoft.com/office/drawing/2014/main" id="{6E92BFA4-CEC6-7DAF-D38E-8BF682C5D77D}"/>
              </a:ext>
            </a:extLst>
          </p:cNvPr>
          <p:cNvCxnSpPr>
            <a:cxnSpLocks/>
          </p:cNvCxnSpPr>
          <p:nvPr/>
        </p:nvCxnSpPr>
        <p:spPr>
          <a:xfrm rot="10800000">
            <a:off x="11159652" y="2293721"/>
            <a:ext cx="0" cy="431200"/>
          </a:xfrm>
          <a:prstGeom prst="straightConnector1">
            <a:avLst/>
          </a:prstGeom>
          <a:noFill/>
          <a:ln w="28575" cap="flat" cmpd="sng">
            <a:solidFill>
              <a:srgbClr val="002060"/>
            </a:solidFill>
            <a:prstDash val="solid"/>
            <a:miter lim="800000"/>
            <a:headEnd type="none" w="sm" len="sm"/>
            <a:tailEnd type="triangle" w="med" len="med"/>
          </a:ln>
        </p:spPr>
      </p:cxnSp>
    </p:spTree>
    <p:extLst>
      <p:ext uri="{BB962C8B-B14F-4D97-AF65-F5344CB8AC3E}">
        <p14:creationId xmlns:p14="http://schemas.microsoft.com/office/powerpoint/2010/main" val="19312386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6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7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71"/>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72"/>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73"/>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74"/>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75"/>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76"/>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77"/>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78"/>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79"/>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63"/>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5"/>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4" grpId="0" animBg="1"/>
      <p:bldP spid="40" grpId="0" animBg="1"/>
      <p:bldP spid="47" grpId="0" animBg="1"/>
      <p:bldP spid="48" grpId="0" animBg="1"/>
      <p:bldP spid="61" grpId="0" animBg="1"/>
      <p:bldP spid="68" grpId="0" animBg="1"/>
      <p:bldP spid="6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descr="一張含有 圖表, 行, 文字, 方案 的圖片&#10;&#10;AI 產生的內容可能不正確。">
            <a:extLst>
              <a:ext uri="{FF2B5EF4-FFF2-40B4-BE49-F238E27FC236}">
                <a16:creationId xmlns:a16="http://schemas.microsoft.com/office/drawing/2014/main" id="{6C3ABD41-1CEC-DA99-DD9A-598738E64880}"/>
              </a:ext>
            </a:extLst>
          </p:cNvPr>
          <p:cNvPicPr>
            <a:picLocks noChangeAspect="1"/>
          </p:cNvPicPr>
          <p:nvPr/>
        </p:nvPicPr>
        <p:blipFill>
          <a:blip r:embed="rId2"/>
          <a:stretch>
            <a:fillRect/>
          </a:stretch>
        </p:blipFill>
        <p:spPr>
          <a:xfrm>
            <a:off x="1002957" y="1950156"/>
            <a:ext cx="8503508" cy="4338055"/>
          </a:xfrm>
          <a:prstGeom prst="rect">
            <a:avLst/>
          </a:prstGeom>
        </p:spPr>
      </p:pic>
      <p:sp>
        <p:nvSpPr>
          <p:cNvPr id="2" name="標題 1">
            <a:extLst>
              <a:ext uri="{FF2B5EF4-FFF2-40B4-BE49-F238E27FC236}">
                <a16:creationId xmlns:a16="http://schemas.microsoft.com/office/drawing/2014/main" id="{47ED384D-8C4A-662B-6324-CB69E6AD10B6}"/>
              </a:ext>
            </a:extLst>
          </p:cNvPr>
          <p:cNvSpPr>
            <a:spLocks noGrp="1"/>
          </p:cNvSpPr>
          <p:nvPr>
            <p:ph type="title"/>
          </p:nvPr>
        </p:nvSpPr>
        <p:spPr/>
        <p:txBody>
          <a:bodyPr/>
          <a:lstStyle/>
          <a:p>
            <a:r>
              <a:rPr lang="en-US" altLang="zh-TW" dirty="0"/>
              <a:t>How can we automatically find certain types of boundaries in speech?</a:t>
            </a:r>
            <a:endParaRPr lang="zh-TW" altLang="en-US" dirty="0"/>
          </a:p>
        </p:txBody>
      </p:sp>
      <p:grpSp>
        <p:nvGrpSpPr>
          <p:cNvPr id="8" name="群組 7">
            <a:extLst>
              <a:ext uri="{FF2B5EF4-FFF2-40B4-BE49-F238E27FC236}">
                <a16:creationId xmlns:a16="http://schemas.microsoft.com/office/drawing/2014/main" id="{A8F8577D-AA45-15BE-03CA-DB6E275660AA}"/>
              </a:ext>
            </a:extLst>
          </p:cNvPr>
          <p:cNvGrpSpPr/>
          <p:nvPr/>
        </p:nvGrpSpPr>
        <p:grpSpPr>
          <a:xfrm>
            <a:off x="8047974" y="5573236"/>
            <a:ext cx="3874237" cy="738664"/>
            <a:chOff x="8047974" y="5573236"/>
            <a:chExt cx="3874237" cy="738664"/>
          </a:xfrm>
        </p:grpSpPr>
        <p:sp>
          <p:nvSpPr>
            <p:cNvPr id="5" name="文字方塊 4">
              <a:extLst>
                <a:ext uri="{FF2B5EF4-FFF2-40B4-BE49-F238E27FC236}">
                  <a16:creationId xmlns:a16="http://schemas.microsoft.com/office/drawing/2014/main" id="{A9F536F1-93EC-1E40-3979-D2F8E06270A3}"/>
                </a:ext>
              </a:extLst>
            </p:cNvPr>
            <p:cNvSpPr txBox="1"/>
            <p:nvPr/>
          </p:nvSpPr>
          <p:spPr>
            <a:xfrm>
              <a:off x="8307860" y="5942568"/>
              <a:ext cx="3614351" cy="369332"/>
            </a:xfrm>
            <a:prstGeom prst="rect">
              <a:avLst/>
            </a:prstGeom>
            <a:noFill/>
          </p:spPr>
          <p:txBody>
            <a:bodyPr wrap="square">
              <a:spAutoFit/>
            </a:bodyPr>
            <a:lstStyle/>
            <a:p>
              <a:r>
                <a:rPr lang="zh-TW" altLang="en-US" dirty="0"/>
                <a:t>https://arxiv.org/abs/1703.07588</a:t>
              </a:r>
            </a:p>
          </p:txBody>
        </p:sp>
        <p:sp>
          <p:nvSpPr>
            <p:cNvPr id="7" name="文字方塊 6">
              <a:extLst>
                <a:ext uri="{FF2B5EF4-FFF2-40B4-BE49-F238E27FC236}">
                  <a16:creationId xmlns:a16="http://schemas.microsoft.com/office/drawing/2014/main" id="{72556C8D-D1D2-6C68-78E6-8B10D5DF6282}"/>
                </a:ext>
              </a:extLst>
            </p:cNvPr>
            <p:cNvSpPr txBox="1"/>
            <p:nvPr/>
          </p:nvSpPr>
          <p:spPr>
            <a:xfrm>
              <a:off x="8047974" y="5573236"/>
              <a:ext cx="3614351" cy="369332"/>
            </a:xfrm>
            <a:prstGeom prst="rect">
              <a:avLst/>
            </a:prstGeom>
            <a:noFill/>
          </p:spPr>
          <p:txBody>
            <a:bodyPr wrap="square">
              <a:spAutoFit/>
            </a:bodyPr>
            <a:lstStyle/>
            <a:p>
              <a:pPr algn="r"/>
              <a:r>
                <a:rPr lang="en-US" altLang="zh-TW" dirty="0"/>
                <a:t>This work is done by </a:t>
              </a:r>
              <a:r>
                <a:rPr lang="zh-TW" altLang="en-US" dirty="0"/>
                <a:t>王育軒</a:t>
              </a:r>
            </a:p>
          </p:txBody>
        </p:sp>
      </p:grpSp>
    </p:spTree>
    <p:extLst>
      <p:ext uri="{BB962C8B-B14F-4D97-AF65-F5344CB8AC3E}">
        <p14:creationId xmlns:p14="http://schemas.microsoft.com/office/powerpoint/2010/main" val="405251950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45911E-C076-2ED7-CE67-5CA6D2E6B13E}"/>
              </a:ext>
            </a:extLst>
          </p:cNvPr>
          <p:cNvSpPr>
            <a:spLocks noGrp="1"/>
          </p:cNvSpPr>
          <p:nvPr>
            <p:ph type="title"/>
          </p:nvPr>
        </p:nvSpPr>
        <p:spPr/>
        <p:txBody>
          <a:bodyPr/>
          <a:lstStyle/>
          <a:p>
            <a:r>
              <a:rPr lang="en-US" altLang="zh-TW" dirty="0"/>
              <a:t>Segmental Audio Word2Vector</a:t>
            </a:r>
            <a:endParaRPr lang="zh-TW" altLang="en-US" dirty="0"/>
          </a:p>
        </p:txBody>
      </p:sp>
      <p:sp>
        <p:nvSpPr>
          <p:cNvPr id="5" name="文字方塊 4">
            <a:extLst>
              <a:ext uri="{FF2B5EF4-FFF2-40B4-BE49-F238E27FC236}">
                <a16:creationId xmlns:a16="http://schemas.microsoft.com/office/drawing/2014/main" id="{40099155-0A7A-D15A-10EE-58512B5DEA37}"/>
              </a:ext>
            </a:extLst>
          </p:cNvPr>
          <p:cNvSpPr txBox="1"/>
          <p:nvPr/>
        </p:nvSpPr>
        <p:spPr>
          <a:xfrm>
            <a:off x="285750" y="4564922"/>
            <a:ext cx="11620500" cy="584775"/>
          </a:xfrm>
          <a:prstGeom prst="rect">
            <a:avLst/>
          </a:prstGeom>
          <a:noFill/>
        </p:spPr>
        <p:txBody>
          <a:bodyPr wrap="square">
            <a:spAutoFit/>
          </a:bodyPr>
          <a:lstStyle/>
          <a:p>
            <a:pPr algn="ctr"/>
            <a:r>
              <a:rPr lang="en-US" altLang="zh-TW" sz="3200" dirty="0"/>
              <a:t>3  1  4  1  5  9  2  7  1  8  3  1  4  1  5  9  2  7  1  8  3  1  4  1  5  9</a:t>
            </a:r>
            <a:endParaRPr lang="zh-TW" altLang="en-US" sz="2900" dirty="0"/>
          </a:p>
        </p:txBody>
      </p:sp>
      <p:cxnSp>
        <p:nvCxnSpPr>
          <p:cNvPr id="7" name="直線接點 6">
            <a:extLst>
              <a:ext uri="{FF2B5EF4-FFF2-40B4-BE49-F238E27FC236}">
                <a16:creationId xmlns:a16="http://schemas.microsoft.com/office/drawing/2014/main" id="{F728560A-EB28-1FF5-8247-78308BE4048F}"/>
              </a:ext>
            </a:extLst>
          </p:cNvPr>
          <p:cNvCxnSpPr>
            <a:cxnSpLocks/>
          </p:cNvCxnSpPr>
          <p:nvPr/>
        </p:nvCxnSpPr>
        <p:spPr>
          <a:xfrm>
            <a:off x="3466382" y="4367550"/>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0" name="直線接點 9">
            <a:extLst>
              <a:ext uri="{FF2B5EF4-FFF2-40B4-BE49-F238E27FC236}">
                <a16:creationId xmlns:a16="http://schemas.microsoft.com/office/drawing/2014/main" id="{8BB99834-C74F-ACE1-CFA0-DC91474DD111}"/>
              </a:ext>
            </a:extLst>
          </p:cNvPr>
          <p:cNvCxnSpPr>
            <a:cxnSpLocks/>
          </p:cNvCxnSpPr>
          <p:nvPr/>
        </p:nvCxnSpPr>
        <p:spPr>
          <a:xfrm>
            <a:off x="4979397" y="4391272"/>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1" name="直線接點 10">
            <a:extLst>
              <a:ext uri="{FF2B5EF4-FFF2-40B4-BE49-F238E27FC236}">
                <a16:creationId xmlns:a16="http://schemas.microsoft.com/office/drawing/2014/main" id="{EAB8BE81-85BD-9F6B-AEBB-8A100ACA0902}"/>
              </a:ext>
            </a:extLst>
          </p:cNvPr>
          <p:cNvCxnSpPr>
            <a:cxnSpLocks/>
          </p:cNvCxnSpPr>
          <p:nvPr/>
        </p:nvCxnSpPr>
        <p:spPr>
          <a:xfrm>
            <a:off x="7166314" y="4413371"/>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2" name="直線接點 11">
            <a:extLst>
              <a:ext uri="{FF2B5EF4-FFF2-40B4-BE49-F238E27FC236}">
                <a16:creationId xmlns:a16="http://schemas.microsoft.com/office/drawing/2014/main" id="{905D01D2-990D-5E81-8909-36FB5852CCCB}"/>
              </a:ext>
            </a:extLst>
          </p:cNvPr>
          <p:cNvCxnSpPr>
            <a:cxnSpLocks/>
          </p:cNvCxnSpPr>
          <p:nvPr/>
        </p:nvCxnSpPr>
        <p:spPr>
          <a:xfrm>
            <a:off x="8723226" y="4406459"/>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3" name="橢圓 12">
            <a:extLst>
              <a:ext uri="{FF2B5EF4-FFF2-40B4-BE49-F238E27FC236}">
                <a16:creationId xmlns:a16="http://schemas.microsoft.com/office/drawing/2014/main" id="{2C36A81B-C7FE-A39F-DD02-8E89F4013B78}"/>
              </a:ext>
            </a:extLst>
          </p:cNvPr>
          <p:cNvSpPr/>
          <p:nvPr/>
        </p:nvSpPr>
        <p:spPr>
          <a:xfrm>
            <a:off x="1975937" y="5324606"/>
            <a:ext cx="584775" cy="584775"/>
          </a:xfrm>
          <a:prstGeom prst="ellipse">
            <a:avLst/>
          </a:prstGeom>
          <a:solidFill>
            <a:srgbClr val="00B05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2400" dirty="0"/>
              <a:t>A</a:t>
            </a:r>
            <a:endParaRPr lang="zh-TW" altLang="en-US" sz="2400" dirty="0"/>
          </a:p>
        </p:txBody>
      </p:sp>
      <p:sp>
        <p:nvSpPr>
          <p:cNvPr id="14" name="橢圓 13">
            <a:extLst>
              <a:ext uri="{FF2B5EF4-FFF2-40B4-BE49-F238E27FC236}">
                <a16:creationId xmlns:a16="http://schemas.microsoft.com/office/drawing/2014/main" id="{261D2A67-9978-F824-1D64-C72576A03BBB}"/>
              </a:ext>
            </a:extLst>
          </p:cNvPr>
          <p:cNvSpPr/>
          <p:nvPr/>
        </p:nvSpPr>
        <p:spPr>
          <a:xfrm>
            <a:off x="5803084" y="5308159"/>
            <a:ext cx="584775" cy="584775"/>
          </a:xfrm>
          <a:prstGeom prst="ellipse">
            <a:avLst/>
          </a:prstGeom>
          <a:solidFill>
            <a:srgbClr val="00B05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2400" dirty="0"/>
              <a:t>A</a:t>
            </a:r>
            <a:endParaRPr lang="zh-TW" altLang="en-US" sz="2400" dirty="0"/>
          </a:p>
        </p:txBody>
      </p:sp>
      <p:sp>
        <p:nvSpPr>
          <p:cNvPr id="15" name="橢圓 14">
            <a:extLst>
              <a:ext uri="{FF2B5EF4-FFF2-40B4-BE49-F238E27FC236}">
                <a16:creationId xmlns:a16="http://schemas.microsoft.com/office/drawing/2014/main" id="{80061B95-9DD6-3DBF-54A9-286FDB766FB0}"/>
              </a:ext>
            </a:extLst>
          </p:cNvPr>
          <p:cNvSpPr/>
          <p:nvPr/>
        </p:nvSpPr>
        <p:spPr>
          <a:xfrm>
            <a:off x="9695223" y="5281063"/>
            <a:ext cx="584775" cy="584775"/>
          </a:xfrm>
          <a:prstGeom prst="ellipse">
            <a:avLst/>
          </a:prstGeom>
          <a:solidFill>
            <a:srgbClr val="00B05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2400" dirty="0"/>
              <a:t>A</a:t>
            </a:r>
            <a:endParaRPr lang="zh-TW" altLang="en-US" sz="2400" dirty="0"/>
          </a:p>
        </p:txBody>
      </p:sp>
      <p:sp>
        <p:nvSpPr>
          <p:cNvPr id="16" name="橢圓 15">
            <a:extLst>
              <a:ext uri="{FF2B5EF4-FFF2-40B4-BE49-F238E27FC236}">
                <a16:creationId xmlns:a16="http://schemas.microsoft.com/office/drawing/2014/main" id="{7BA36C89-7EB4-42DD-0FD7-B1A658E3329F}"/>
              </a:ext>
            </a:extLst>
          </p:cNvPr>
          <p:cNvSpPr/>
          <p:nvPr/>
        </p:nvSpPr>
        <p:spPr>
          <a:xfrm>
            <a:off x="3882622" y="5292972"/>
            <a:ext cx="584775" cy="584775"/>
          </a:xfrm>
          <a:prstGeom prst="ellipse">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2400" dirty="0"/>
              <a:t>B</a:t>
            </a:r>
            <a:endParaRPr lang="zh-TW" altLang="en-US" sz="2400" dirty="0"/>
          </a:p>
        </p:txBody>
      </p:sp>
      <p:sp>
        <p:nvSpPr>
          <p:cNvPr id="18" name="橢圓 17">
            <a:extLst>
              <a:ext uri="{FF2B5EF4-FFF2-40B4-BE49-F238E27FC236}">
                <a16:creationId xmlns:a16="http://schemas.microsoft.com/office/drawing/2014/main" id="{1C1857D7-8C1A-5526-554D-5AD445133F19}"/>
              </a:ext>
            </a:extLst>
          </p:cNvPr>
          <p:cNvSpPr/>
          <p:nvPr/>
        </p:nvSpPr>
        <p:spPr>
          <a:xfrm>
            <a:off x="7773704" y="5315070"/>
            <a:ext cx="584775" cy="584775"/>
          </a:xfrm>
          <a:prstGeom prst="ellipse">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2400" dirty="0"/>
              <a:t>B</a:t>
            </a:r>
            <a:endParaRPr lang="zh-TW" altLang="en-US" sz="2400" dirty="0"/>
          </a:p>
        </p:txBody>
      </p:sp>
      <p:sp>
        <p:nvSpPr>
          <p:cNvPr id="35" name="文字方塊 34">
            <a:extLst>
              <a:ext uri="{FF2B5EF4-FFF2-40B4-BE49-F238E27FC236}">
                <a16:creationId xmlns:a16="http://schemas.microsoft.com/office/drawing/2014/main" id="{FF724030-F36E-2E07-E0EE-5144C40EB538}"/>
              </a:ext>
            </a:extLst>
          </p:cNvPr>
          <p:cNvSpPr txBox="1"/>
          <p:nvPr/>
        </p:nvSpPr>
        <p:spPr>
          <a:xfrm>
            <a:off x="285750" y="2250642"/>
            <a:ext cx="11620500" cy="584775"/>
          </a:xfrm>
          <a:prstGeom prst="rect">
            <a:avLst/>
          </a:prstGeom>
          <a:noFill/>
        </p:spPr>
        <p:txBody>
          <a:bodyPr wrap="square">
            <a:spAutoFit/>
          </a:bodyPr>
          <a:lstStyle/>
          <a:p>
            <a:pPr algn="ctr"/>
            <a:r>
              <a:rPr lang="en-US" altLang="zh-TW" sz="3200" dirty="0"/>
              <a:t>3  1  4  1  5  9  2  7  1  8  3  1  4  1  5  9  2  7  1  8  3  1  4  1  5  9</a:t>
            </a:r>
            <a:endParaRPr lang="zh-TW" altLang="en-US" sz="2900" dirty="0"/>
          </a:p>
        </p:txBody>
      </p:sp>
      <p:cxnSp>
        <p:nvCxnSpPr>
          <p:cNvPr id="36" name="直線接點 35">
            <a:extLst>
              <a:ext uri="{FF2B5EF4-FFF2-40B4-BE49-F238E27FC236}">
                <a16:creationId xmlns:a16="http://schemas.microsoft.com/office/drawing/2014/main" id="{A575B1F5-3B25-9203-BB16-C1DB417595B6}"/>
              </a:ext>
            </a:extLst>
          </p:cNvPr>
          <p:cNvCxnSpPr>
            <a:cxnSpLocks/>
          </p:cNvCxnSpPr>
          <p:nvPr/>
        </p:nvCxnSpPr>
        <p:spPr>
          <a:xfrm>
            <a:off x="2290725" y="2076992"/>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7" name="直線接點 36">
            <a:extLst>
              <a:ext uri="{FF2B5EF4-FFF2-40B4-BE49-F238E27FC236}">
                <a16:creationId xmlns:a16="http://schemas.microsoft.com/office/drawing/2014/main" id="{A4683E20-AE66-8427-1D53-D0B9A5847EA4}"/>
              </a:ext>
            </a:extLst>
          </p:cNvPr>
          <p:cNvCxnSpPr>
            <a:cxnSpLocks/>
          </p:cNvCxnSpPr>
          <p:nvPr/>
        </p:nvCxnSpPr>
        <p:spPr>
          <a:xfrm>
            <a:off x="3409322" y="2076992"/>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8" name="直線接點 37">
            <a:extLst>
              <a:ext uri="{FF2B5EF4-FFF2-40B4-BE49-F238E27FC236}">
                <a16:creationId xmlns:a16="http://schemas.microsoft.com/office/drawing/2014/main" id="{58E2B023-40E0-4DFC-8873-BDE522F60BA0}"/>
              </a:ext>
            </a:extLst>
          </p:cNvPr>
          <p:cNvCxnSpPr>
            <a:cxnSpLocks/>
          </p:cNvCxnSpPr>
          <p:nvPr/>
        </p:nvCxnSpPr>
        <p:spPr>
          <a:xfrm>
            <a:off x="4597285" y="2076992"/>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9" name="直線接點 38">
            <a:extLst>
              <a:ext uri="{FF2B5EF4-FFF2-40B4-BE49-F238E27FC236}">
                <a16:creationId xmlns:a16="http://schemas.microsoft.com/office/drawing/2014/main" id="{046F107E-4629-6ACD-C1D3-09ED7422E1C7}"/>
              </a:ext>
            </a:extLst>
          </p:cNvPr>
          <p:cNvCxnSpPr>
            <a:cxnSpLocks/>
          </p:cNvCxnSpPr>
          <p:nvPr/>
        </p:nvCxnSpPr>
        <p:spPr>
          <a:xfrm>
            <a:off x="5701626" y="2076992"/>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5" name="直線接點 44">
            <a:extLst>
              <a:ext uri="{FF2B5EF4-FFF2-40B4-BE49-F238E27FC236}">
                <a16:creationId xmlns:a16="http://schemas.microsoft.com/office/drawing/2014/main" id="{E931CB75-EDCD-8DB6-EE83-F5D85C486BB5}"/>
              </a:ext>
            </a:extLst>
          </p:cNvPr>
          <p:cNvCxnSpPr>
            <a:cxnSpLocks/>
          </p:cNvCxnSpPr>
          <p:nvPr/>
        </p:nvCxnSpPr>
        <p:spPr>
          <a:xfrm>
            <a:off x="6876029" y="2076992"/>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直線接點 45">
            <a:extLst>
              <a:ext uri="{FF2B5EF4-FFF2-40B4-BE49-F238E27FC236}">
                <a16:creationId xmlns:a16="http://schemas.microsoft.com/office/drawing/2014/main" id="{BB1E84AF-81E2-D0AE-EA5A-9A19FFC08180}"/>
              </a:ext>
            </a:extLst>
          </p:cNvPr>
          <p:cNvCxnSpPr>
            <a:cxnSpLocks/>
          </p:cNvCxnSpPr>
          <p:nvPr/>
        </p:nvCxnSpPr>
        <p:spPr>
          <a:xfrm>
            <a:off x="7986372" y="2076992"/>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7" name="直線接點 46">
            <a:extLst>
              <a:ext uri="{FF2B5EF4-FFF2-40B4-BE49-F238E27FC236}">
                <a16:creationId xmlns:a16="http://schemas.microsoft.com/office/drawing/2014/main" id="{A78C6C6E-740F-731E-FDFD-37FD68C0AAC0}"/>
              </a:ext>
            </a:extLst>
          </p:cNvPr>
          <p:cNvCxnSpPr>
            <a:cxnSpLocks/>
          </p:cNvCxnSpPr>
          <p:nvPr/>
        </p:nvCxnSpPr>
        <p:spPr>
          <a:xfrm>
            <a:off x="9169287" y="2076992"/>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8" name="直線接點 47">
            <a:extLst>
              <a:ext uri="{FF2B5EF4-FFF2-40B4-BE49-F238E27FC236}">
                <a16:creationId xmlns:a16="http://schemas.microsoft.com/office/drawing/2014/main" id="{3EA1DEE0-ED98-FC31-240E-2EE2B42D7EDE}"/>
              </a:ext>
            </a:extLst>
          </p:cNvPr>
          <p:cNvCxnSpPr>
            <a:cxnSpLocks/>
          </p:cNvCxnSpPr>
          <p:nvPr/>
        </p:nvCxnSpPr>
        <p:spPr>
          <a:xfrm>
            <a:off x="10279998" y="2076992"/>
            <a:ext cx="0" cy="901700"/>
          </a:xfrm>
          <a:prstGeom prst="line">
            <a:avLst/>
          </a:prstGeom>
          <a:ln w="38100">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40419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500"/>
                                        <p:tgtEl>
                                          <p:spTgt spid="39"/>
                                        </p:tgtEl>
                                      </p:cBhvr>
                                    </p:animEffect>
                                  </p:childTnLst>
                                </p:cTn>
                              </p:par>
                              <p:par>
                                <p:cTn id="24" presetID="10" presetClass="entr" presetSubtype="0" fill="hold" nodeType="with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fade">
                                      <p:cBhvr>
                                        <p:cTn id="26" dur="500"/>
                                        <p:tgtEl>
                                          <p:spTgt spid="45"/>
                                        </p:tgtEl>
                                      </p:cBhvr>
                                    </p:animEffect>
                                  </p:childTnLst>
                                </p:cTn>
                              </p:par>
                              <p:par>
                                <p:cTn id="27" presetID="10"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nodeType="with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500"/>
                                        <p:tgtEl>
                                          <p:spTgt spid="47"/>
                                        </p:tgtEl>
                                      </p:cBhvr>
                                    </p:animEffect>
                                  </p:childTnLst>
                                </p:cTn>
                              </p:par>
                              <p:par>
                                <p:cTn id="33" presetID="10"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500"/>
                                        <p:tgtEl>
                                          <p:spTgt spid="48"/>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animBg="1"/>
      <p:bldP spid="14" grpId="0" animBg="1"/>
      <p:bldP spid="15" grpId="0" animBg="1"/>
      <p:bldP spid="16" grpId="0" animBg="1"/>
      <p:bldP spid="18" grpId="0" animBg="1"/>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2071F3-5CA8-4374-B1AA-1CBF4B956B84}"/>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33BE8DA8-5D31-4FC6-9035-593ED44339DC}"/>
              </a:ext>
            </a:extLst>
          </p:cNvPr>
          <p:cNvSpPr>
            <a:spLocks noGrp="1"/>
          </p:cNvSpPr>
          <p:nvPr>
            <p:ph idx="1"/>
          </p:nvPr>
        </p:nvSpPr>
        <p:spPr>
          <a:xfrm>
            <a:off x="2169213" y="1208815"/>
            <a:ext cx="7886700" cy="4351338"/>
          </a:xfrm>
        </p:spPr>
        <p:txBody>
          <a:bodyPr>
            <a:normAutofit/>
          </a:bodyPr>
          <a:lstStyle/>
          <a:p>
            <a:r>
              <a:rPr lang="en-US" altLang="zh-TW" sz="2400" dirty="0"/>
              <a:t>At each time step, LSTM encoder determines whether it is right before a boundary.</a:t>
            </a:r>
          </a:p>
          <a:p>
            <a:r>
              <a:rPr lang="en-US" altLang="zh-TW" sz="2400" dirty="0"/>
              <a:t>If it is determined as right before a boundary, a vector (an embedding for an audio segment) is outputted.</a:t>
            </a:r>
          </a:p>
          <a:p>
            <a:endParaRPr lang="en-US" altLang="zh-TW" sz="2400" dirty="0"/>
          </a:p>
          <a:p>
            <a:endParaRPr lang="zh-TW" altLang="en-US" sz="2400" dirty="0"/>
          </a:p>
        </p:txBody>
      </p:sp>
      <p:grpSp>
        <p:nvGrpSpPr>
          <p:cNvPr id="4" name="群組 3">
            <a:extLst>
              <a:ext uri="{FF2B5EF4-FFF2-40B4-BE49-F238E27FC236}">
                <a16:creationId xmlns:a16="http://schemas.microsoft.com/office/drawing/2014/main" id="{845BCDD6-71D8-40EC-9124-F6EFEF1E0A34}"/>
              </a:ext>
            </a:extLst>
          </p:cNvPr>
          <p:cNvGrpSpPr/>
          <p:nvPr/>
        </p:nvGrpSpPr>
        <p:grpSpPr>
          <a:xfrm>
            <a:off x="6301747" y="5600218"/>
            <a:ext cx="4178291" cy="680810"/>
            <a:chOff x="3904092" y="5533027"/>
            <a:chExt cx="1858838" cy="929291"/>
          </a:xfrm>
        </p:grpSpPr>
        <p:pic>
          <p:nvPicPr>
            <p:cNvPr id="5" name="Picture 2">
              <a:extLst>
                <a:ext uri="{FF2B5EF4-FFF2-40B4-BE49-F238E27FC236}">
                  <a16:creationId xmlns:a16="http://schemas.microsoft.com/office/drawing/2014/main" id="{3D5AF53E-6A0D-4CCE-8DD3-44196EDD0A4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904092" y="5533027"/>
              <a:ext cx="779376"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a:extLst>
                <a:ext uri="{FF2B5EF4-FFF2-40B4-BE49-F238E27FC236}">
                  <a16:creationId xmlns:a16="http://schemas.microsoft.com/office/drawing/2014/main" id="{C02F7626-E07F-425F-9174-6F35BF9E1C4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13630" y="5533631"/>
              <a:ext cx="74930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a:extLst>
                <a:ext uri="{FF2B5EF4-FFF2-40B4-BE49-F238E27FC236}">
                  <a16:creationId xmlns:a16="http://schemas.microsoft.com/office/drawing/2014/main" id="{92AEEDB9-3C90-4C1E-85E8-31C5DE41DE4C}"/>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4277558" y="5533251"/>
              <a:ext cx="749266" cy="92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群組 7">
            <a:extLst>
              <a:ext uri="{FF2B5EF4-FFF2-40B4-BE49-F238E27FC236}">
                <a16:creationId xmlns:a16="http://schemas.microsoft.com/office/drawing/2014/main" id="{3443D569-783B-490A-8C2F-84158353C2EF}"/>
              </a:ext>
            </a:extLst>
          </p:cNvPr>
          <p:cNvGrpSpPr/>
          <p:nvPr/>
        </p:nvGrpSpPr>
        <p:grpSpPr>
          <a:xfrm flipV="1">
            <a:off x="3145017" y="5624203"/>
            <a:ext cx="3279729" cy="680810"/>
            <a:chOff x="4005606" y="5533027"/>
            <a:chExt cx="1757324" cy="929291"/>
          </a:xfrm>
        </p:grpSpPr>
        <p:pic>
          <p:nvPicPr>
            <p:cNvPr id="9" name="Picture 2">
              <a:extLst>
                <a:ext uri="{FF2B5EF4-FFF2-40B4-BE49-F238E27FC236}">
                  <a16:creationId xmlns:a16="http://schemas.microsoft.com/office/drawing/2014/main" id="{78CCE876-3DFA-4C4D-8257-A978EC83251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05606" y="5533027"/>
              <a:ext cx="677862"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a:extLst>
                <a:ext uri="{FF2B5EF4-FFF2-40B4-BE49-F238E27FC236}">
                  <a16:creationId xmlns:a16="http://schemas.microsoft.com/office/drawing/2014/main" id="{E6D3A878-9627-4EA8-A4B0-53F47628A32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13630" y="5533631"/>
              <a:ext cx="74930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a:extLst>
                <a:ext uri="{FF2B5EF4-FFF2-40B4-BE49-F238E27FC236}">
                  <a16:creationId xmlns:a16="http://schemas.microsoft.com/office/drawing/2014/main" id="{AC5A8DC7-5F68-4C48-8E07-01696F32EC4A}"/>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4560422" y="5533251"/>
              <a:ext cx="749266" cy="92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3" name="直線單箭頭接點 22">
            <a:extLst>
              <a:ext uri="{FF2B5EF4-FFF2-40B4-BE49-F238E27FC236}">
                <a16:creationId xmlns:a16="http://schemas.microsoft.com/office/drawing/2014/main" id="{9AD2669F-A744-4312-BC86-080A1174C480}"/>
              </a:ext>
            </a:extLst>
          </p:cNvPr>
          <p:cNvCxnSpPr/>
          <p:nvPr/>
        </p:nvCxnSpPr>
        <p:spPr>
          <a:xfrm flipV="1">
            <a:off x="8678648"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7E72BF7B-D11B-43FD-B4A3-BD920309B690}"/>
              </a:ext>
            </a:extLst>
          </p:cNvPr>
          <p:cNvCxnSpPr/>
          <p:nvPr/>
        </p:nvCxnSpPr>
        <p:spPr>
          <a:xfrm flipV="1">
            <a:off x="10198271"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E6C98F7C-52E1-4FD7-9F51-26F33E6FC8B7}"/>
              </a:ext>
            </a:extLst>
          </p:cNvPr>
          <p:cNvCxnSpPr/>
          <p:nvPr/>
        </p:nvCxnSpPr>
        <p:spPr>
          <a:xfrm flipV="1">
            <a:off x="7159022"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69C8EABE-E34A-48C5-8D85-AC86D2F37877}"/>
              </a:ext>
            </a:extLst>
          </p:cNvPr>
          <p:cNvCxnSpPr/>
          <p:nvPr/>
        </p:nvCxnSpPr>
        <p:spPr>
          <a:xfrm flipV="1">
            <a:off x="6399209"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1AE00013-CB97-4D14-92C4-218CDA8BBD17}"/>
              </a:ext>
            </a:extLst>
          </p:cNvPr>
          <p:cNvCxnSpPr/>
          <p:nvPr/>
        </p:nvCxnSpPr>
        <p:spPr>
          <a:xfrm flipV="1">
            <a:off x="5639396"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0B21BC38-CC4A-45FF-8B2A-81529E050ECD}"/>
              </a:ext>
            </a:extLst>
          </p:cNvPr>
          <p:cNvCxnSpPr/>
          <p:nvPr/>
        </p:nvCxnSpPr>
        <p:spPr>
          <a:xfrm flipV="1">
            <a:off x="4879583"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A9D9C925-15E9-4C94-8945-0B537F316598}"/>
              </a:ext>
            </a:extLst>
          </p:cNvPr>
          <p:cNvCxnSpPr/>
          <p:nvPr/>
        </p:nvCxnSpPr>
        <p:spPr>
          <a:xfrm flipV="1">
            <a:off x="4119770"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D99BF88F-7368-4096-8C3A-CED1C2169702}"/>
              </a:ext>
            </a:extLst>
          </p:cNvPr>
          <p:cNvCxnSpPr/>
          <p:nvPr/>
        </p:nvCxnSpPr>
        <p:spPr>
          <a:xfrm flipV="1">
            <a:off x="3359957"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A3A2CFC5-08A3-4BD1-A7A9-DEF9C00F1397}"/>
              </a:ext>
            </a:extLst>
          </p:cNvPr>
          <p:cNvCxnSpPr/>
          <p:nvPr/>
        </p:nvCxnSpPr>
        <p:spPr>
          <a:xfrm flipV="1">
            <a:off x="7918835"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1" name="群組 40">
            <a:extLst>
              <a:ext uri="{FF2B5EF4-FFF2-40B4-BE49-F238E27FC236}">
                <a16:creationId xmlns:a16="http://schemas.microsoft.com/office/drawing/2014/main" id="{72DE2195-C678-4AEB-9FF1-2D0C5D3B3106}"/>
              </a:ext>
            </a:extLst>
          </p:cNvPr>
          <p:cNvGrpSpPr/>
          <p:nvPr/>
        </p:nvGrpSpPr>
        <p:grpSpPr>
          <a:xfrm>
            <a:off x="3113878" y="5462884"/>
            <a:ext cx="7334525" cy="432000"/>
            <a:chOff x="895254" y="5301962"/>
            <a:chExt cx="7334525" cy="432000"/>
          </a:xfrm>
        </p:grpSpPr>
        <p:sp>
          <p:nvSpPr>
            <p:cNvPr id="14" name="文字方塊 13">
              <a:extLst>
                <a:ext uri="{FF2B5EF4-FFF2-40B4-BE49-F238E27FC236}">
                  <a16:creationId xmlns:a16="http://schemas.microsoft.com/office/drawing/2014/main" id="{406AA0BA-AC69-4FAC-A537-B5F12FB464ED}"/>
                </a:ext>
              </a:extLst>
            </p:cNvPr>
            <p:cNvSpPr txBox="1"/>
            <p:nvPr/>
          </p:nvSpPr>
          <p:spPr>
            <a:xfrm rot="5400000">
              <a:off x="910087"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5" name="文字方塊 14">
              <a:extLst>
                <a:ext uri="{FF2B5EF4-FFF2-40B4-BE49-F238E27FC236}">
                  <a16:creationId xmlns:a16="http://schemas.microsoft.com/office/drawing/2014/main" id="{DD6514CD-7858-4D49-9EB4-7D4A29AC9A52}"/>
                </a:ext>
              </a:extLst>
            </p:cNvPr>
            <p:cNvSpPr txBox="1"/>
            <p:nvPr/>
          </p:nvSpPr>
          <p:spPr>
            <a:xfrm rot="5400000">
              <a:off x="1673738"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6" name="文字方塊 15">
              <a:extLst>
                <a:ext uri="{FF2B5EF4-FFF2-40B4-BE49-F238E27FC236}">
                  <a16:creationId xmlns:a16="http://schemas.microsoft.com/office/drawing/2014/main" id="{4C18FE61-A8ED-439F-AB08-A177EE1779AA}"/>
                </a:ext>
              </a:extLst>
            </p:cNvPr>
            <p:cNvSpPr txBox="1"/>
            <p:nvPr/>
          </p:nvSpPr>
          <p:spPr>
            <a:xfrm rot="5400000">
              <a:off x="2437389"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7" name="文字方塊 16">
              <a:extLst>
                <a:ext uri="{FF2B5EF4-FFF2-40B4-BE49-F238E27FC236}">
                  <a16:creationId xmlns:a16="http://schemas.microsoft.com/office/drawing/2014/main" id="{780C9C18-D78A-4E67-87F4-F0E0FF26A438}"/>
                </a:ext>
              </a:extLst>
            </p:cNvPr>
            <p:cNvSpPr txBox="1"/>
            <p:nvPr/>
          </p:nvSpPr>
          <p:spPr>
            <a:xfrm rot="5400000">
              <a:off x="3201040"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8" name="文字方塊 17">
              <a:extLst>
                <a:ext uri="{FF2B5EF4-FFF2-40B4-BE49-F238E27FC236}">
                  <a16:creationId xmlns:a16="http://schemas.microsoft.com/office/drawing/2014/main" id="{3D5345DA-9E9E-412D-B910-77B5D4392974}"/>
                </a:ext>
              </a:extLst>
            </p:cNvPr>
            <p:cNvSpPr txBox="1"/>
            <p:nvPr/>
          </p:nvSpPr>
          <p:spPr>
            <a:xfrm rot="5400000">
              <a:off x="3964691"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9" name="文字方塊 18">
              <a:extLst>
                <a:ext uri="{FF2B5EF4-FFF2-40B4-BE49-F238E27FC236}">
                  <a16:creationId xmlns:a16="http://schemas.microsoft.com/office/drawing/2014/main" id="{02D12DD3-AD0A-43E4-A106-A063C7C7B602}"/>
                </a:ext>
              </a:extLst>
            </p:cNvPr>
            <p:cNvSpPr txBox="1"/>
            <p:nvPr/>
          </p:nvSpPr>
          <p:spPr>
            <a:xfrm rot="5400000">
              <a:off x="4728342"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20" name="文字方塊 19">
              <a:extLst>
                <a:ext uri="{FF2B5EF4-FFF2-40B4-BE49-F238E27FC236}">
                  <a16:creationId xmlns:a16="http://schemas.microsoft.com/office/drawing/2014/main" id="{937F040D-5CC4-4BE3-99B7-10D791190BA4}"/>
                </a:ext>
              </a:extLst>
            </p:cNvPr>
            <p:cNvSpPr txBox="1"/>
            <p:nvPr/>
          </p:nvSpPr>
          <p:spPr>
            <a:xfrm rot="5400000">
              <a:off x="5491993"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21" name="文字方塊 20">
              <a:extLst>
                <a:ext uri="{FF2B5EF4-FFF2-40B4-BE49-F238E27FC236}">
                  <a16:creationId xmlns:a16="http://schemas.microsoft.com/office/drawing/2014/main" id="{AF0B06DD-7265-46E6-B899-C557ABA314CE}"/>
                </a:ext>
              </a:extLst>
            </p:cNvPr>
            <p:cNvSpPr txBox="1"/>
            <p:nvPr/>
          </p:nvSpPr>
          <p:spPr>
            <a:xfrm rot="5400000">
              <a:off x="6255644"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22" name="文字方塊 21">
              <a:extLst>
                <a:ext uri="{FF2B5EF4-FFF2-40B4-BE49-F238E27FC236}">
                  <a16:creationId xmlns:a16="http://schemas.microsoft.com/office/drawing/2014/main" id="{E32E5CA6-B639-4C34-89D4-DD5FD05BD340}"/>
                </a:ext>
              </a:extLst>
            </p:cNvPr>
            <p:cNvSpPr txBox="1"/>
            <p:nvPr/>
          </p:nvSpPr>
          <p:spPr>
            <a:xfrm rot="5400000">
              <a:off x="7019295"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39" name="文字方塊 38">
              <a:extLst>
                <a:ext uri="{FF2B5EF4-FFF2-40B4-BE49-F238E27FC236}">
                  <a16:creationId xmlns:a16="http://schemas.microsoft.com/office/drawing/2014/main" id="{FC37A6A2-1A69-4145-97FC-AB37689E2BC5}"/>
                </a:ext>
              </a:extLst>
            </p:cNvPr>
            <p:cNvSpPr txBox="1"/>
            <p:nvPr/>
          </p:nvSpPr>
          <p:spPr>
            <a:xfrm rot="5400000">
              <a:off x="7782947"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grpSp>
      <p:cxnSp>
        <p:nvCxnSpPr>
          <p:cNvPr id="42" name="直線單箭頭接點 41">
            <a:extLst>
              <a:ext uri="{FF2B5EF4-FFF2-40B4-BE49-F238E27FC236}">
                <a16:creationId xmlns:a16="http://schemas.microsoft.com/office/drawing/2014/main" id="{D6E5F88E-76D6-405E-8A53-DE8E8E3CD3A6}"/>
              </a:ext>
            </a:extLst>
          </p:cNvPr>
          <p:cNvCxnSpPr/>
          <p:nvPr/>
        </p:nvCxnSpPr>
        <p:spPr>
          <a:xfrm flipV="1">
            <a:off x="9438461"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字方塊 43">
            <a:extLst>
              <a:ext uri="{FF2B5EF4-FFF2-40B4-BE49-F238E27FC236}">
                <a16:creationId xmlns:a16="http://schemas.microsoft.com/office/drawing/2014/main" id="{3BBB669B-E2CE-4458-9C7E-794FB2B29C27}"/>
              </a:ext>
            </a:extLst>
          </p:cNvPr>
          <p:cNvSpPr txBox="1"/>
          <p:nvPr/>
        </p:nvSpPr>
        <p:spPr>
          <a:xfrm rot="5400000">
            <a:off x="3055724"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5" name="文字方塊 44">
            <a:extLst>
              <a:ext uri="{FF2B5EF4-FFF2-40B4-BE49-F238E27FC236}">
                <a16:creationId xmlns:a16="http://schemas.microsoft.com/office/drawing/2014/main" id="{6302370C-D8DB-420A-8CEC-F6DF8BD0D1A6}"/>
              </a:ext>
            </a:extLst>
          </p:cNvPr>
          <p:cNvSpPr txBox="1"/>
          <p:nvPr/>
        </p:nvSpPr>
        <p:spPr>
          <a:xfrm rot="5400000">
            <a:off x="3819374"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6" name="文字方塊 45">
            <a:extLst>
              <a:ext uri="{FF2B5EF4-FFF2-40B4-BE49-F238E27FC236}">
                <a16:creationId xmlns:a16="http://schemas.microsoft.com/office/drawing/2014/main" id="{6D12569B-ADC8-4D77-A9D9-ED44D11F1920}"/>
              </a:ext>
            </a:extLst>
          </p:cNvPr>
          <p:cNvSpPr txBox="1"/>
          <p:nvPr/>
        </p:nvSpPr>
        <p:spPr>
          <a:xfrm rot="5400000">
            <a:off x="4583025"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7" name="文字方塊 46">
            <a:extLst>
              <a:ext uri="{FF2B5EF4-FFF2-40B4-BE49-F238E27FC236}">
                <a16:creationId xmlns:a16="http://schemas.microsoft.com/office/drawing/2014/main" id="{315AF605-4CE8-42AD-8E06-393C8C1C5548}"/>
              </a:ext>
            </a:extLst>
          </p:cNvPr>
          <p:cNvSpPr txBox="1"/>
          <p:nvPr/>
        </p:nvSpPr>
        <p:spPr>
          <a:xfrm rot="5400000">
            <a:off x="5346676"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8" name="文字方塊 47">
            <a:extLst>
              <a:ext uri="{FF2B5EF4-FFF2-40B4-BE49-F238E27FC236}">
                <a16:creationId xmlns:a16="http://schemas.microsoft.com/office/drawing/2014/main" id="{7E1E6D03-B57A-4657-BAD6-3FABB11E77C0}"/>
              </a:ext>
            </a:extLst>
          </p:cNvPr>
          <p:cNvSpPr txBox="1"/>
          <p:nvPr/>
        </p:nvSpPr>
        <p:spPr>
          <a:xfrm rot="5400000">
            <a:off x="6110327"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9" name="文字方塊 48">
            <a:extLst>
              <a:ext uri="{FF2B5EF4-FFF2-40B4-BE49-F238E27FC236}">
                <a16:creationId xmlns:a16="http://schemas.microsoft.com/office/drawing/2014/main" id="{B114E605-DF4D-426C-B684-1779D094CEAF}"/>
              </a:ext>
            </a:extLst>
          </p:cNvPr>
          <p:cNvSpPr txBox="1"/>
          <p:nvPr/>
        </p:nvSpPr>
        <p:spPr>
          <a:xfrm rot="5400000">
            <a:off x="6873978"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50" name="文字方塊 49">
            <a:extLst>
              <a:ext uri="{FF2B5EF4-FFF2-40B4-BE49-F238E27FC236}">
                <a16:creationId xmlns:a16="http://schemas.microsoft.com/office/drawing/2014/main" id="{61023658-BF9F-46F4-8F8C-3332B38637D6}"/>
              </a:ext>
            </a:extLst>
          </p:cNvPr>
          <p:cNvSpPr txBox="1"/>
          <p:nvPr/>
        </p:nvSpPr>
        <p:spPr>
          <a:xfrm rot="5400000">
            <a:off x="7637629"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51" name="文字方塊 50">
            <a:extLst>
              <a:ext uri="{FF2B5EF4-FFF2-40B4-BE49-F238E27FC236}">
                <a16:creationId xmlns:a16="http://schemas.microsoft.com/office/drawing/2014/main" id="{317CD886-4249-444F-845C-E4035DB14D97}"/>
              </a:ext>
            </a:extLst>
          </p:cNvPr>
          <p:cNvSpPr txBox="1"/>
          <p:nvPr/>
        </p:nvSpPr>
        <p:spPr>
          <a:xfrm rot="5400000">
            <a:off x="8401280"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52" name="文字方塊 51">
            <a:extLst>
              <a:ext uri="{FF2B5EF4-FFF2-40B4-BE49-F238E27FC236}">
                <a16:creationId xmlns:a16="http://schemas.microsoft.com/office/drawing/2014/main" id="{8687313D-7479-4135-A4DC-606B34BC281C}"/>
              </a:ext>
            </a:extLst>
          </p:cNvPr>
          <p:cNvSpPr txBox="1"/>
          <p:nvPr/>
        </p:nvSpPr>
        <p:spPr>
          <a:xfrm rot="5400000">
            <a:off x="9164931"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53" name="文字方塊 52">
            <a:extLst>
              <a:ext uri="{FF2B5EF4-FFF2-40B4-BE49-F238E27FC236}">
                <a16:creationId xmlns:a16="http://schemas.microsoft.com/office/drawing/2014/main" id="{359972E0-3A85-4D7F-B783-16587B4D421D}"/>
              </a:ext>
            </a:extLst>
          </p:cNvPr>
          <p:cNvSpPr txBox="1"/>
          <p:nvPr/>
        </p:nvSpPr>
        <p:spPr>
          <a:xfrm rot="5400000">
            <a:off x="9928583" y="4571998"/>
            <a:ext cx="57797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9" name="文字方塊 98">
            <a:extLst>
              <a:ext uri="{FF2B5EF4-FFF2-40B4-BE49-F238E27FC236}">
                <a16:creationId xmlns:a16="http://schemas.microsoft.com/office/drawing/2014/main" id="{15D68446-4588-4167-8003-BDCF95CE5CFD}"/>
              </a:ext>
            </a:extLst>
          </p:cNvPr>
          <p:cNvSpPr txBox="1"/>
          <p:nvPr/>
        </p:nvSpPr>
        <p:spPr>
          <a:xfrm>
            <a:off x="1817183" y="4441350"/>
            <a:ext cx="1209627" cy="830997"/>
          </a:xfrm>
          <a:prstGeom prst="rect">
            <a:avLst/>
          </a:prstGeom>
          <a:noFill/>
        </p:spPr>
        <p:txBody>
          <a:bodyPr wrap="none" rtlCol="0">
            <a:spAutoFit/>
          </a:bodyPr>
          <a:lstStyle/>
          <a:p>
            <a:pPr algn="ctr" defTabSz="457200"/>
            <a:r>
              <a:rPr lang="en-US" altLang="zh-TW" sz="2400" dirty="0"/>
              <a:t>LSTM</a:t>
            </a:r>
            <a:r>
              <a:rPr lang="en-US" altLang="zh-TW" sz="2400" dirty="0">
                <a:solidFill>
                  <a:prstClr val="black"/>
                </a:solidFill>
                <a:latin typeface="Calibri" panose="020F0502020204030204"/>
                <a:ea typeface="新細明體" panose="02020500000000000000" pitchFamily="18" charset="-120"/>
              </a:rPr>
              <a:t> </a:t>
            </a:r>
          </a:p>
          <a:p>
            <a:pPr algn="ctr" defTabSz="457200"/>
            <a:r>
              <a:rPr lang="en-US" altLang="zh-TW" sz="2400" dirty="0">
                <a:solidFill>
                  <a:prstClr val="black"/>
                </a:solidFill>
                <a:latin typeface="Calibri" panose="020F0502020204030204"/>
                <a:ea typeface="新細明體" panose="02020500000000000000" pitchFamily="18" charset="-120"/>
              </a:rPr>
              <a:t>Encoder</a:t>
            </a:r>
            <a:endParaRPr lang="zh-TW" altLang="en-US" sz="2400" dirty="0">
              <a:solidFill>
                <a:prstClr val="black"/>
              </a:solidFill>
              <a:latin typeface="Calibri" panose="020F0502020204030204"/>
              <a:ea typeface="新細明體" panose="02020500000000000000" pitchFamily="18" charset="-120"/>
            </a:endParaRPr>
          </a:p>
        </p:txBody>
      </p:sp>
      <p:cxnSp>
        <p:nvCxnSpPr>
          <p:cNvPr id="101" name="直線單箭頭接點 100">
            <a:extLst>
              <a:ext uri="{FF2B5EF4-FFF2-40B4-BE49-F238E27FC236}">
                <a16:creationId xmlns:a16="http://schemas.microsoft.com/office/drawing/2014/main" id="{7E88880E-7E5D-414E-BC6D-8221476A3D7C}"/>
              </a:ext>
            </a:extLst>
          </p:cNvPr>
          <p:cNvCxnSpPr>
            <a:cxnSpLocks/>
          </p:cNvCxnSpPr>
          <p:nvPr/>
        </p:nvCxnSpPr>
        <p:spPr>
          <a:xfrm>
            <a:off x="3511297" y="480283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a:extLst>
              <a:ext uri="{FF2B5EF4-FFF2-40B4-BE49-F238E27FC236}">
                <a16:creationId xmlns:a16="http://schemas.microsoft.com/office/drawing/2014/main" id="{52F6B18F-1A73-4E06-8CB0-D77F9A5B54FC}"/>
              </a:ext>
            </a:extLst>
          </p:cNvPr>
          <p:cNvCxnSpPr>
            <a:cxnSpLocks/>
          </p:cNvCxnSpPr>
          <p:nvPr/>
        </p:nvCxnSpPr>
        <p:spPr>
          <a:xfrm>
            <a:off x="4262248" y="480283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a:extLst>
              <a:ext uri="{FF2B5EF4-FFF2-40B4-BE49-F238E27FC236}">
                <a16:creationId xmlns:a16="http://schemas.microsoft.com/office/drawing/2014/main" id="{5BA42A1B-FA02-4E33-A593-4B0B9BFF62A3}"/>
              </a:ext>
            </a:extLst>
          </p:cNvPr>
          <p:cNvCxnSpPr>
            <a:cxnSpLocks/>
          </p:cNvCxnSpPr>
          <p:nvPr/>
        </p:nvCxnSpPr>
        <p:spPr>
          <a:xfrm>
            <a:off x="5038599" y="480283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單箭頭接點 104">
            <a:extLst>
              <a:ext uri="{FF2B5EF4-FFF2-40B4-BE49-F238E27FC236}">
                <a16:creationId xmlns:a16="http://schemas.microsoft.com/office/drawing/2014/main" id="{34B5569B-C5C3-4FEE-A265-57FBFC7EA3E2}"/>
              </a:ext>
            </a:extLst>
          </p:cNvPr>
          <p:cNvCxnSpPr>
            <a:cxnSpLocks/>
          </p:cNvCxnSpPr>
          <p:nvPr/>
        </p:nvCxnSpPr>
        <p:spPr>
          <a:xfrm>
            <a:off x="5802250" y="480283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a:extLst>
              <a:ext uri="{FF2B5EF4-FFF2-40B4-BE49-F238E27FC236}">
                <a16:creationId xmlns:a16="http://schemas.microsoft.com/office/drawing/2014/main" id="{68987114-A0DC-47A5-B262-6D90453B622A}"/>
              </a:ext>
            </a:extLst>
          </p:cNvPr>
          <p:cNvCxnSpPr>
            <a:cxnSpLocks/>
          </p:cNvCxnSpPr>
          <p:nvPr/>
        </p:nvCxnSpPr>
        <p:spPr>
          <a:xfrm>
            <a:off x="6565901" y="4812355"/>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AF00B33C-3784-45E7-858D-81546577CF9B}"/>
              </a:ext>
            </a:extLst>
          </p:cNvPr>
          <p:cNvCxnSpPr>
            <a:cxnSpLocks/>
          </p:cNvCxnSpPr>
          <p:nvPr/>
        </p:nvCxnSpPr>
        <p:spPr>
          <a:xfrm>
            <a:off x="7317016" y="4812355"/>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B351A111-19F2-4177-96B3-485211C7D362}"/>
              </a:ext>
            </a:extLst>
          </p:cNvPr>
          <p:cNvCxnSpPr>
            <a:cxnSpLocks/>
          </p:cNvCxnSpPr>
          <p:nvPr/>
        </p:nvCxnSpPr>
        <p:spPr>
          <a:xfrm>
            <a:off x="8093203" y="482411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a:extLst>
              <a:ext uri="{FF2B5EF4-FFF2-40B4-BE49-F238E27FC236}">
                <a16:creationId xmlns:a16="http://schemas.microsoft.com/office/drawing/2014/main" id="{10256AC0-F450-4C95-A3F8-26215ADDD0FA}"/>
              </a:ext>
            </a:extLst>
          </p:cNvPr>
          <p:cNvCxnSpPr>
            <a:cxnSpLocks/>
          </p:cNvCxnSpPr>
          <p:nvPr/>
        </p:nvCxnSpPr>
        <p:spPr>
          <a:xfrm>
            <a:off x="8844154" y="482411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a:extLst>
              <a:ext uri="{FF2B5EF4-FFF2-40B4-BE49-F238E27FC236}">
                <a16:creationId xmlns:a16="http://schemas.microsoft.com/office/drawing/2014/main" id="{484FA3DE-CB4E-40B1-88AE-DF2CFDD52EA7}"/>
              </a:ext>
            </a:extLst>
          </p:cNvPr>
          <p:cNvCxnSpPr>
            <a:cxnSpLocks/>
          </p:cNvCxnSpPr>
          <p:nvPr/>
        </p:nvCxnSpPr>
        <p:spPr>
          <a:xfrm>
            <a:off x="9620506" y="482411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6E22EBB1-7A56-480A-8595-936EEC6E8CB1}"/>
              </a:ext>
            </a:extLst>
          </p:cNvPr>
          <p:cNvSpPr/>
          <p:nvPr/>
        </p:nvSpPr>
        <p:spPr>
          <a:xfrm>
            <a:off x="1661695" y="47086"/>
            <a:ext cx="5599671" cy="1077218"/>
          </a:xfrm>
          <a:prstGeom prst="rect">
            <a:avLst/>
          </a:prstGeom>
        </p:spPr>
        <p:txBody>
          <a:bodyPr wrap="square">
            <a:spAutoFit/>
          </a:bodyPr>
          <a:lstStyle/>
          <a:p>
            <a:pPr defTabSz="457200"/>
            <a:r>
              <a:rPr lang="en-US" altLang="zh-TW" sz="3200" b="1" i="1" u="sng" dirty="0">
                <a:solidFill>
                  <a:prstClr val="black"/>
                </a:solidFill>
                <a:latin typeface="Calibri" panose="020F0502020204030204"/>
                <a:ea typeface="新細明體" panose="02020500000000000000" pitchFamily="18" charset="-120"/>
              </a:rPr>
              <a:t>Joint Learning of Segmentation </a:t>
            </a:r>
          </a:p>
          <a:p>
            <a:pPr defTabSz="457200"/>
            <a:r>
              <a:rPr lang="en-US" altLang="zh-TW" sz="3200" b="1" i="1" u="sng" dirty="0">
                <a:solidFill>
                  <a:prstClr val="black"/>
                </a:solidFill>
                <a:latin typeface="Calibri" panose="020F0502020204030204"/>
                <a:ea typeface="新細明體" panose="02020500000000000000" pitchFamily="18" charset="-120"/>
              </a:rPr>
              <a:t>and Seq2seq Auto-encoder</a:t>
            </a:r>
            <a:endParaRPr lang="zh-TW" altLang="en-US" sz="3200" b="1" i="1" u="sng" dirty="0">
              <a:solidFill>
                <a:prstClr val="black"/>
              </a:solidFill>
              <a:latin typeface="Calibri" panose="020F0502020204030204"/>
              <a:ea typeface="新細明體" panose="02020500000000000000" pitchFamily="18" charset="-120"/>
            </a:endParaRPr>
          </a:p>
        </p:txBody>
      </p:sp>
      <p:cxnSp>
        <p:nvCxnSpPr>
          <p:cNvPr id="55" name="直線單箭頭接點 54">
            <a:extLst>
              <a:ext uri="{FF2B5EF4-FFF2-40B4-BE49-F238E27FC236}">
                <a16:creationId xmlns:a16="http://schemas.microsoft.com/office/drawing/2014/main" id="{A475FCE7-3ABD-4A93-B8D5-E9DC9C75A209}"/>
              </a:ext>
            </a:extLst>
          </p:cNvPr>
          <p:cNvCxnSpPr/>
          <p:nvPr/>
        </p:nvCxnSpPr>
        <p:spPr>
          <a:xfrm flipV="1">
            <a:off x="6398508" y="4143127"/>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矩形 55">
            <a:extLst>
              <a:ext uri="{FF2B5EF4-FFF2-40B4-BE49-F238E27FC236}">
                <a16:creationId xmlns:a16="http://schemas.microsoft.com/office/drawing/2014/main" id="{0E977CE6-1EB3-46F9-B2B0-5164820B17EE}"/>
              </a:ext>
            </a:extLst>
          </p:cNvPr>
          <p:cNvSpPr/>
          <p:nvPr/>
        </p:nvSpPr>
        <p:spPr>
          <a:xfrm rot="5400000">
            <a:off x="6107549" y="3738770"/>
            <a:ext cx="558032" cy="19614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defTabSz="457200"/>
            <a:endParaRPr lang="zh-TW" altLang="en-US" sz="1350">
              <a:solidFill>
                <a:prstClr val="black"/>
              </a:solidFill>
              <a:latin typeface="Calibri" panose="020F0502020204030204"/>
              <a:ea typeface="新細明體" panose="02020500000000000000" pitchFamily="18" charset="-120"/>
            </a:endParaRPr>
          </a:p>
        </p:txBody>
      </p:sp>
      <p:cxnSp>
        <p:nvCxnSpPr>
          <p:cNvPr id="57" name="直線單箭頭接點 56">
            <a:extLst>
              <a:ext uri="{FF2B5EF4-FFF2-40B4-BE49-F238E27FC236}">
                <a16:creationId xmlns:a16="http://schemas.microsoft.com/office/drawing/2014/main" id="{A9831E71-9ED5-41FA-A03C-F4CF8EE5F1CB}"/>
              </a:ext>
            </a:extLst>
          </p:cNvPr>
          <p:cNvCxnSpPr/>
          <p:nvPr/>
        </p:nvCxnSpPr>
        <p:spPr>
          <a:xfrm flipV="1">
            <a:off x="10210213" y="4162876"/>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77162E57-94AE-4EF9-A658-B8036EDD47F7}"/>
              </a:ext>
            </a:extLst>
          </p:cNvPr>
          <p:cNvSpPr/>
          <p:nvPr/>
        </p:nvSpPr>
        <p:spPr>
          <a:xfrm rot="5400000">
            <a:off x="9919254" y="3758519"/>
            <a:ext cx="558032" cy="19614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defTabSz="457200"/>
            <a:endParaRPr lang="zh-TW" altLang="en-US" sz="1350">
              <a:solidFill>
                <a:prstClr val="black"/>
              </a:solidFill>
              <a:latin typeface="Calibri" panose="020F0502020204030204"/>
              <a:ea typeface="新細明體" panose="02020500000000000000" pitchFamily="18" charset="-120"/>
            </a:endParaRPr>
          </a:p>
        </p:txBody>
      </p:sp>
      <p:cxnSp>
        <p:nvCxnSpPr>
          <p:cNvPr id="59" name="直線單箭頭接點 58">
            <a:extLst>
              <a:ext uri="{FF2B5EF4-FFF2-40B4-BE49-F238E27FC236}">
                <a16:creationId xmlns:a16="http://schemas.microsoft.com/office/drawing/2014/main" id="{10D95995-370C-44BA-AD7C-A7F977227E15}"/>
              </a:ext>
            </a:extLst>
          </p:cNvPr>
          <p:cNvCxnSpPr/>
          <p:nvPr/>
        </p:nvCxnSpPr>
        <p:spPr>
          <a:xfrm flipV="1">
            <a:off x="7930777" y="4143128"/>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3F12C37F-F235-4B49-B739-A0C89212F172}"/>
              </a:ext>
            </a:extLst>
          </p:cNvPr>
          <p:cNvSpPr/>
          <p:nvPr/>
        </p:nvSpPr>
        <p:spPr>
          <a:xfrm rot="5400000">
            <a:off x="7639818" y="3738771"/>
            <a:ext cx="558032" cy="19614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defTabSz="457200"/>
            <a:endParaRPr lang="zh-TW" altLang="en-US" sz="1350">
              <a:solidFill>
                <a:prstClr val="black"/>
              </a:solidFill>
              <a:latin typeface="Calibri" panose="020F0502020204030204"/>
              <a:ea typeface="新細明體" panose="02020500000000000000" pitchFamily="18" charset="-120"/>
            </a:endParaRPr>
          </a:p>
        </p:txBody>
      </p:sp>
      <p:sp>
        <p:nvSpPr>
          <p:cNvPr id="13" name="文字方塊 12">
            <a:extLst>
              <a:ext uri="{FF2B5EF4-FFF2-40B4-BE49-F238E27FC236}">
                <a16:creationId xmlns:a16="http://schemas.microsoft.com/office/drawing/2014/main" id="{AEC42725-F72B-46CB-8CFF-3A58554B1192}"/>
              </a:ext>
            </a:extLst>
          </p:cNvPr>
          <p:cNvSpPr txBox="1"/>
          <p:nvPr/>
        </p:nvSpPr>
        <p:spPr>
          <a:xfrm>
            <a:off x="3320307" y="6206835"/>
            <a:ext cx="3062515"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audio segment x</a:t>
            </a:r>
            <a:endParaRPr lang="zh-TW" altLang="en-US" sz="2400" dirty="0">
              <a:solidFill>
                <a:prstClr val="black"/>
              </a:solidFill>
              <a:latin typeface="Calibri" panose="020F0502020204030204"/>
              <a:ea typeface="新細明體" panose="02020500000000000000" pitchFamily="18" charset="-120"/>
            </a:endParaRPr>
          </a:p>
        </p:txBody>
      </p:sp>
      <p:sp>
        <p:nvSpPr>
          <p:cNvPr id="25" name="右大括弧 24">
            <a:extLst>
              <a:ext uri="{FF2B5EF4-FFF2-40B4-BE49-F238E27FC236}">
                <a16:creationId xmlns:a16="http://schemas.microsoft.com/office/drawing/2014/main" id="{F35E43A4-B0A8-4586-A40D-84691F2B16EE}"/>
              </a:ext>
            </a:extLst>
          </p:cNvPr>
          <p:cNvSpPr/>
          <p:nvPr/>
        </p:nvSpPr>
        <p:spPr>
          <a:xfrm rot="5400000">
            <a:off x="4752286" y="4277939"/>
            <a:ext cx="198556" cy="3518010"/>
          </a:xfrm>
          <a:prstGeom prst="rightBrace">
            <a:avLst>
              <a:gd name="adj1" fmla="val 47403"/>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zh-TW" altLang="en-US">
              <a:solidFill>
                <a:prstClr val="black"/>
              </a:solidFill>
              <a:latin typeface="Calibri" panose="020F0502020204030204"/>
              <a:ea typeface="新細明體" panose="02020500000000000000" pitchFamily="18" charset="-120"/>
            </a:endParaRPr>
          </a:p>
        </p:txBody>
      </p:sp>
      <p:sp>
        <p:nvSpPr>
          <p:cNvPr id="63" name="文字方塊 62">
            <a:extLst>
              <a:ext uri="{FF2B5EF4-FFF2-40B4-BE49-F238E27FC236}">
                <a16:creationId xmlns:a16="http://schemas.microsoft.com/office/drawing/2014/main" id="{BF27665E-A6E5-4C03-8B21-4180FD351C15}"/>
              </a:ext>
            </a:extLst>
          </p:cNvPr>
          <p:cNvSpPr txBox="1"/>
          <p:nvPr/>
        </p:nvSpPr>
        <p:spPr>
          <a:xfrm>
            <a:off x="3606111" y="3577577"/>
            <a:ext cx="3062515"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embedding for x</a:t>
            </a:r>
            <a:endParaRPr lang="zh-TW" altLang="en-US" sz="2400" dirty="0">
              <a:solidFill>
                <a:prstClr val="black"/>
              </a:solidFill>
              <a:latin typeface="Calibri" panose="020F0502020204030204"/>
              <a:ea typeface="新細明體" panose="02020500000000000000" pitchFamily="18" charset="-120"/>
            </a:endParaRPr>
          </a:p>
        </p:txBody>
      </p:sp>
      <p:sp>
        <p:nvSpPr>
          <p:cNvPr id="34" name="文字方塊 33">
            <a:extLst>
              <a:ext uri="{FF2B5EF4-FFF2-40B4-BE49-F238E27FC236}">
                <a16:creationId xmlns:a16="http://schemas.microsoft.com/office/drawing/2014/main" id="{E533CE7F-D016-4054-A084-94414BAC16D5}"/>
              </a:ext>
            </a:extLst>
          </p:cNvPr>
          <p:cNvSpPr txBox="1"/>
          <p:nvPr/>
        </p:nvSpPr>
        <p:spPr>
          <a:xfrm>
            <a:off x="2133765" y="2745442"/>
            <a:ext cx="6691503" cy="461665"/>
          </a:xfrm>
          <a:prstGeom prst="rect">
            <a:avLst/>
          </a:prstGeom>
          <a:noFill/>
        </p:spPr>
        <p:txBody>
          <a:bodyPr wrap="square" rtlCol="0">
            <a:spAutoFit/>
          </a:bodyPr>
          <a:lstStyle/>
          <a:p>
            <a:pPr defTabSz="457200"/>
            <a:r>
              <a:rPr lang="en-US" altLang="zh-TW" sz="2400" dirty="0">
                <a:solidFill>
                  <a:srgbClr val="FF0000"/>
                </a:solidFill>
                <a:latin typeface="Calibri" panose="020F0502020204030204"/>
                <a:ea typeface="新細明體" panose="02020500000000000000" pitchFamily="18" charset="-120"/>
              </a:rPr>
              <a:t>Where to segment is determined automatically.</a:t>
            </a:r>
            <a:endParaRPr lang="zh-TW" altLang="en-US" sz="2400" dirty="0">
              <a:solidFill>
                <a:srgbClr val="FF0000"/>
              </a:solidFill>
              <a:latin typeface="Calibri" panose="020F0502020204030204"/>
              <a:ea typeface="新細明體" panose="02020500000000000000" pitchFamily="18" charset="-120"/>
            </a:endParaRPr>
          </a:p>
        </p:txBody>
      </p:sp>
      <p:cxnSp>
        <p:nvCxnSpPr>
          <p:cNvPr id="36" name="直線單箭頭接點 35">
            <a:extLst>
              <a:ext uri="{FF2B5EF4-FFF2-40B4-BE49-F238E27FC236}">
                <a16:creationId xmlns:a16="http://schemas.microsoft.com/office/drawing/2014/main" id="{F72FCAF8-131D-4A3F-ACD2-46F375ED9458}"/>
              </a:ext>
            </a:extLst>
          </p:cNvPr>
          <p:cNvCxnSpPr>
            <a:cxnSpLocks/>
          </p:cNvCxnSpPr>
          <p:nvPr/>
        </p:nvCxnSpPr>
        <p:spPr>
          <a:xfrm flipV="1">
            <a:off x="6382823" y="3147612"/>
            <a:ext cx="587083" cy="4299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A9281A5C-5C42-4766-B490-0B9465FA9EA1}"/>
              </a:ext>
            </a:extLst>
          </p:cNvPr>
          <p:cNvCxnSpPr>
            <a:cxnSpLocks/>
          </p:cNvCxnSpPr>
          <p:nvPr/>
        </p:nvCxnSpPr>
        <p:spPr>
          <a:xfrm flipH="1" flipV="1">
            <a:off x="7190795" y="3159849"/>
            <a:ext cx="735824" cy="39842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36A9377E-2582-46BA-B635-3858CD9D51D5}"/>
              </a:ext>
            </a:extLst>
          </p:cNvPr>
          <p:cNvCxnSpPr>
            <a:cxnSpLocks/>
          </p:cNvCxnSpPr>
          <p:nvPr/>
        </p:nvCxnSpPr>
        <p:spPr>
          <a:xfrm flipH="1" flipV="1">
            <a:off x="7619617" y="3193234"/>
            <a:ext cx="2531248" cy="35707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9A1C110B-5AB9-4CDA-935B-CD42E780D7E1}"/>
              </a:ext>
            </a:extLst>
          </p:cNvPr>
          <p:cNvCxnSpPr>
            <a:cxnSpLocks/>
          </p:cNvCxnSpPr>
          <p:nvPr/>
        </p:nvCxnSpPr>
        <p:spPr>
          <a:xfrm>
            <a:off x="6632902" y="4626297"/>
            <a:ext cx="268787" cy="46552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直線接點 71">
            <a:extLst>
              <a:ext uri="{FF2B5EF4-FFF2-40B4-BE49-F238E27FC236}">
                <a16:creationId xmlns:a16="http://schemas.microsoft.com/office/drawing/2014/main" id="{2717B9D2-68F9-4A0B-A700-B07EB820F127}"/>
              </a:ext>
            </a:extLst>
          </p:cNvPr>
          <p:cNvCxnSpPr>
            <a:cxnSpLocks/>
          </p:cNvCxnSpPr>
          <p:nvPr/>
        </p:nvCxnSpPr>
        <p:spPr>
          <a:xfrm>
            <a:off x="8199564" y="4589067"/>
            <a:ext cx="268787" cy="46552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文字方塊 36">
            <a:extLst>
              <a:ext uri="{FF2B5EF4-FFF2-40B4-BE49-F238E27FC236}">
                <a16:creationId xmlns:a16="http://schemas.microsoft.com/office/drawing/2014/main" id="{EBEC3E76-335A-3498-F0F1-48B8C48A360D}"/>
              </a:ext>
            </a:extLst>
          </p:cNvPr>
          <p:cNvSpPr txBox="1"/>
          <p:nvPr/>
        </p:nvSpPr>
        <p:spPr>
          <a:xfrm>
            <a:off x="7905562" y="133949"/>
            <a:ext cx="4162351" cy="1015663"/>
          </a:xfrm>
          <a:prstGeom prst="rect">
            <a:avLst/>
          </a:prstGeom>
          <a:noFill/>
        </p:spPr>
        <p:txBody>
          <a:bodyPr wrap="square">
            <a:spAutoFit/>
          </a:bodyPr>
          <a:lstStyle/>
          <a:p>
            <a:pPr algn="r"/>
            <a:r>
              <a:rPr lang="en-US" altLang="zh-TW" sz="2400" dirty="0"/>
              <a:t>Segmental Audio Word2Vector </a:t>
            </a:r>
            <a:r>
              <a:rPr lang="zh-TW" altLang="en-US" dirty="0"/>
              <a:t>https://arxiv.org/abs/1808.02228</a:t>
            </a:r>
            <a:endParaRPr lang="en-US" altLang="zh-TW" dirty="0"/>
          </a:p>
          <a:p>
            <a:pPr algn="r"/>
            <a:r>
              <a:rPr lang="en-US" altLang="zh-TW" dirty="0"/>
              <a:t>This work is done by </a:t>
            </a:r>
            <a:r>
              <a:rPr lang="zh-TW" altLang="en-US" dirty="0"/>
              <a:t>王育軒</a:t>
            </a:r>
          </a:p>
        </p:txBody>
      </p:sp>
    </p:spTree>
    <p:extLst>
      <p:ext uri="{BB962C8B-B14F-4D97-AF65-F5344CB8AC3E}">
        <p14:creationId xmlns:p14="http://schemas.microsoft.com/office/powerpoint/2010/main" val="38823737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0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9"/>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1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7"/>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8"/>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3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7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99" grpId="0"/>
      <p:bldP spid="56" grpId="0" animBg="1"/>
      <p:bldP spid="58" grpId="0" animBg="1"/>
      <p:bldP spid="60" grpId="0" animBg="1"/>
      <p:bldP spid="13" grpId="0"/>
      <p:bldP spid="25" grpId="0" animBg="1"/>
      <p:bldP spid="63" grpId="0"/>
      <p:bldP spid="3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845BCDD6-71D8-40EC-9124-F6EFEF1E0A34}"/>
              </a:ext>
            </a:extLst>
          </p:cNvPr>
          <p:cNvGrpSpPr/>
          <p:nvPr/>
        </p:nvGrpSpPr>
        <p:grpSpPr>
          <a:xfrm>
            <a:off x="6301747" y="5600218"/>
            <a:ext cx="4178291" cy="680810"/>
            <a:chOff x="3904092" y="5533027"/>
            <a:chExt cx="1858838" cy="929291"/>
          </a:xfrm>
        </p:grpSpPr>
        <p:pic>
          <p:nvPicPr>
            <p:cNvPr id="5" name="Picture 2">
              <a:extLst>
                <a:ext uri="{FF2B5EF4-FFF2-40B4-BE49-F238E27FC236}">
                  <a16:creationId xmlns:a16="http://schemas.microsoft.com/office/drawing/2014/main" id="{3D5AF53E-6A0D-4CCE-8DD3-44196EDD0A4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904092" y="5533027"/>
              <a:ext cx="779376"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a:extLst>
                <a:ext uri="{FF2B5EF4-FFF2-40B4-BE49-F238E27FC236}">
                  <a16:creationId xmlns:a16="http://schemas.microsoft.com/office/drawing/2014/main" id="{C02F7626-E07F-425F-9174-6F35BF9E1C4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13630" y="5533631"/>
              <a:ext cx="74930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a:extLst>
                <a:ext uri="{FF2B5EF4-FFF2-40B4-BE49-F238E27FC236}">
                  <a16:creationId xmlns:a16="http://schemas.microsoft.com/office/drawing/2014/main" id="{92AEEDB9-3C90-4C1E-85E8-31C5DE41DE4C}"/>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4277558" y="5533251"/>
              <a:ext cx="749266" cy="92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群組 7">
            <a:extLst>
              <a:ext uri="{FF2B5EF4-FFF2-40B4-BE49-F238E27FC236}">
                <a16:creationId xmlns:a16="http://schemas.microsoft.com/office/drawing/2014/main" id="{3443D569-783B-490A-8C2F-84158353C2EF}"/>
              </a:ext>
            </a:extLst>
          </p:cNvPr>
          <p:cNvGrpSpPr/>
          <p:nvPr/>
        </p:nvGrpSpPr>
        <p:grpSpPr>
          <a:xfrm flipV="1">
            <a:off x="3145017" y="5624203"/>
            <a:ext cx="3279729" cy="680810"/>
            <a:chOff x="4005606" y="5533027"/>
            <a:chExt cx="1757324" cy="929291"/>
          </a:xfrm>
        </p:grpSpPr>
        <p:pic>
          <p:nvPicPr>
            <p:cNvPr id="9" name="Picture 2">
              <a:extLst>
                <a:ext uri="{FF2B5EF4-FFF2-40B4-BE49-F238E27FC236}">
                  <a16:creationId xmlns:a16="http://schemas.microsoft.com/office/drawing/2014/main" id="{78CCE876-3DFA-4C4D-8257-A978EC83251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05606" y="5533027"/>
              <a:ext cx="677862"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a:extLst>
                <a:ext uri="{FF2B5EF4-FFF2-40B4-BE49-F238E27FC236}">
                  <a16:creationId xmlns:a16="http://schemas.microsoft.com/office/drawing/2014/main" id="{E6D3A878-9627-4EA8-A4B0-53F47628A32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13630" y="5533631"/>
              <a:ext cx="74930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a:extLst>
                <a:ext uri="{FF2B5EF4-FFF2-40B4-BE49-F238E27FC236}">
                  <a16:creationId xmlns:a16="http://schemas.microsoft.com/office/drawing/2014/main" id="{AC5A8DC7-5F68-4C48-8E07-01696F32EC4A}"/>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4560422" y="5533251"/>
              <a:ext cx="749266" cy="92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3" name="直線單箭頭接點 22">
            <a:extLst>
              <a:ext uri="{FF2B5EF4-FFF2-40B4-BE49-F238E27FC236}">
                <a16:creationId xmlns:a16="http://schemas.microsoft.com/office/drawing/2014/main" id="{9AD2669F-A744-4312-BC86-080A1174C480}"/>
              </a:ext>
            </a:extLst>
          </p:cNvPr>
          <p:cNvCxnSpPr/>
          <p:nvPr/>
        </p:nvCxnSpPr>
        <p:spPr>
          <a:xfrm flipV="1">
            <a:off x="8678648"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7E72BF7B-D11B-43FD-B4A3-BD920309B690}"/>
              </a:ext>
            </a:extLst>
          </p:cNvPr>
          <p:cNvCxnSpPr/>
          <p:nvPr/>
        </p:nvCxnSpPr>
        <p:spPr>
          <a:xfrm flipV="1">
            <a:off x="10198271"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E6C98F7C-52E1-4FD7-9F51-26F33E6FC8B7}"/>
              </a:ext>
            </a:extLst>
          </p:cNvPr>
          <p:cNvCxnSpPr/>
          <p:nvPr/>
        </p:nvCxnSpPr>
        <p:spPr>
          <a:xfrm flipV="1">
            <a:off x="7159022"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69C8EABE-E34A-48C5-8D85-AC86D2F37877}"/>
              </a:ext>
            </a:extLst>
          </p:cNvPr>
          <p:cNvCxnSpPr/>
          <p:nvPr/>
        </p:nvCxnSpPr>
        <p:spPr>
          <a:xfrm flipV="1">
            <a:off x="6399209"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1AE00013-CB97-4D14-92C4-218CDA8BBD17}"/>
              </a:ext>
            </a:extLst>
          </p:cNvPr>
          <p:cNvCxnSpPr/>
          <p:nvPr/>
        </p:nvCxnSpPr>
        <p:spPr>
          <a:xfrm flipV="1">
            <a:off x="5639396"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0B21BC38-CC4A-45FF-8B2A-81529E050ECD}"/>
              </a:ext>
            </a:extLst>
          </p:cNvPr>
          <p:cNvCxnSpPr/>
          <p:nvPr/>
        </p:nvCxnSpPr>
        <p:spPr>
          <a:xfrm flipV="1">
            <a:off x="4879583"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A9D9C925-15E9-4C94-8945-0B537F316598}"/>
              </a:ext>
            </a:extLst>
          </p:cNvPr>
          <p:cNvCxnSpPr/>
          <p:nvPr/>
        </p:nvCxnSpPr>
        <p:spPr>
          <a:xfrm flipV="1">
            <a:off x="4119770"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D99BF88F-7368-4096-8C3A-CED1C2169702}"/>
              </a:ext>
            </a:extLst>
          </p:cNvPr>
          <p:cNvCxnSpPr/>
          <p:nvPr/>
        </p:nvCxnSpPr>
        <p:spPr>
          <a:xfrm flipV="1">
            <a:off x="3359957"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A3A2CFC5-08A3-4BD1-A7A9-DEF9C00F1397}"/>
              </a:ext>
            </a:extLst>
          </p:cNvPr>
          <p:cNvCxnSpPr/>
          <p:nvPr/>
        </p:nvCxnSpPr>
        <p:spPr>
          <a:xfrm flipV="1">
            <a:off x="7918835"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1" name="群組 40">
            <a:extLst>
              <a:ext uri="{FF2B5EF4-FFF2-40B4-BE49-F238E27FC236}">
                <a16:creationId xmlns:a16="http://schemas.microsoft.com/office/drawing/2014/main" id="{72DE2195-C678-4AEB-9FF1-2D0C5D3B3106}"/>
              </a:ext>
            </a:extLst>
          </p:cNvPr>
          <p:cNvGrpSpPr/>
          <p:nvPr/>
        </p:nvGrpSpPr>
        <p:grpSpPr>
          <a:xfrm>
            <a:off x="3113878" y="5462884"/>
            <a:ext cx="7334525" cy="432000"/>
            <a:chOff x="895254" y="5301962"/>
            <a:chExt cx="7334525" cy="432000"/>
          </a:xfrm>
        </p:grpSpPr>
        <p:sp>
          <p:nvSpPr>
            <p:cNvPr id="14" name="文字方塊 13">
              <a:extLst>
                <a:ext uri="{FF2B5EF4-FFF2-40B4-BE49-F238E27FC236}">
                  <a16:creationId xmlns:a16="http://schemas.microsoft.com/office/drawing/2014/main" id="{406AA0BA-AC69-4FAC-A537-B5F12FB464ED}"/>
                </a:ext>
              </a:extLst>
            </p:cNvPr>
            <p:cNvSpPr txBox="1"/>
            <p:nvPr/>
          </p:nvSpPr>
          <p:spPr>
            <a:xfrm rot="5400000">
              <a:off x="910087"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5" name="文字方塊 14">
              <a:extLst>
                <a:ext uri="{FF2B5EF4-FFF2-40B4-BE49-F238E27FC236}">
                  <a16:creationId xmlns:a16="http://schemas.microsoft.com/office/drawing/2014/main" id="{DD6514CD-7858-4D49-9EB4-7D4A29AC9A52}"/>
                </a:ext>
              </a:extLst>
            </p:cNvPr>
            <p:cNvSpPr txBox="1"/>
            <p:nvPr/>
          </p:nvSpPr>
          <p:spPr>
            <a:xfrm rot="5400000">
              <a:off x="1673738"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6" name="文字方塊 15">
              <a:extLst>
                <a:ext uri="{FF2B5EF4-FFF2-40B4-BE49-F238E27FC236}">
                  <a16:creationId xmlns:a16="http://schemas.microsoft.com/office/drawing/2014/main" id="{4C18FE61-A8ED-439F-AB08-A177EE1779AA}"/>
                </a:ext>
              </a:extLst>
            </p:cNvPr>
            <p:cNvSpPr txBox="1"/>
            <p:nvPr/>
          </p:nvSpPr>
          <p:spPr>
            <a:xfrm rot="5400000">
              <a:off x="2437389"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7" name="文字方塊 16">
              <a:extLst>
                <a:ext uri="{FF2B5EF4-FFF2-40B4-BE49-F238E27FC236}">
                  <a16:creationId xmlns:a16="http://schemas.microsoft.com/office/drawing/2014/main" id="{780C9C18-D78A-4E67-87F4-F0E0FF26A438}"/>
                </a:ext>
              </a:extLst>
            </p:cNvPr>
            <p:cNvSpPr txBox="1"/>
            <p:nvPr/>
          </p:nvSpPr>
          <p:spPr>
            <a:xfrm rot="5400000">
              <a:off x="3201040"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8" name="文字方塊 17">
              <a:extLst>
                <a:ext uri="{FF2B5EF4-FFF2-40B4-BE49-F238E27FC236}">
                  <a16:creationId xmlns:a16="http://schemas.microsoft.com/office/drawing/2014/main" id="{3D5345DA-9E9E-412D-B910-77B5D4392974}"/>
                </a:ext>
              </a:extLst>
            </p:cNvPr>
            <p:cNvSpPr txBox="1"/>
            <p:nvPr/>
          </p:nvSpPr>
          <p:spPr>
            <a:xfrm rot="5400000">
              <a:off x="3964691"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19" name="文字方塊 18">
              <a:extLst>
                <a:ext uri="{FF2B5EF4-FFF2-40B4-BE49-F238E27FC236}">
                  <a16:creationId xmlns:a16="http://schemas.microsoft.com/office/drawing/2014/main" id="{02D12DD3-AD0A-43E4-A106-A063C7C7B602}"/>
                </a:ext>
              </a:extLst>
            </p:cNvPr>
            <p:cNvSpPr txBox="1"/>
            <p:nvPr/>
          </p:nvSpPr>
          <p:spPr>
            <a:xfrm rot="5400000">
              <a:off x="4728342"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20" name="文字方塊 19">
              <a:extLst>
                <a:ext uri="{FF2B5EF4-FFF2-40B4-BE49-F238E27FC236}">
                  <a16:creationId xmlns:a16="http://schemas.microsoft.com/office/drawing/2014/main" id="{937F040D-5CC4-4BE3-99B7-10D791190BA4}"/>
                </a:ext>
              </a:extLst>
            </p:cNvPr>
            <p:cNvSpPr txBox="1"/>
            <p:nvPr/>
          </p:nvSpPr>
          <p:spPr>
            <a:xfrm rot="5400000">
              <a:off x="5491993"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21" name="文字方塊 20">
              <a:extLst>
                <a:ext uri="{FF2B5EF4-FFF2-40B4-BE49-F238E27FC236}">
                  <a16:creationId xmlns:a16="http://schemas.microsoft.com/office/drawing/2014/main" id="{AF0B06DD-7265-46E6-B899-C557ABA314CE}"/>
                </a:ext>
              </a:extLst>
            </p:cNvPr>
            <p:cNvSpPr txBox="1"/>
            <p:nvPr/>
          </p:nvSpPr>
          <p:spPr>
            <a:xfrm rot="5400000">
              <a:off x="6255644"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22" name="文字方塊 21">
              <a:extLst>
                <a:ext uri="{FF2B5EF4-FFF2-40B4-BE49-F238E27FC236}">
                  <a16:creationId xmlns:a16="http://schemas.microsoft.com/office/drawing/2014/main" id="{E32E5CA6-B639-4C34-89D4-DD5FD05BD340}"/>
                </a:ext>
              </a:extLst>
            </p:cNvPr>
            <p:cNvSpPr txBox="1"/>
            <p:nvPr/>
          </p:nvSpPr>
          <p:spPr>
            <a:xfrm rot="5400000">
              <a:off x="7019295"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39" name="文字方塊 38">
              <a:extLst>
                <a:ext uri="{FF2B5EF4-FFF2-40B4-BE49-F238E27FC236}">
                  <a16:creationId xmlns:a16="http://schemas.microsoft.com/office/drawing/2014/main" id="{FC37A6A2-1A69-4145-97FC-AB37689E2BC5}"/>
                </a:ext>
              </a:extLst>
            </p:cNvPr>
            <p:cNvSpPr txBox="1"/>
            <p:nvPr/>
          </p:nvSpPr>
          <p:spPr>
            <a:xfrm rot="5400000">
              <a:off x="7782947" y="5287129"/>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grpSp>
      <p:cxnSp>
        <p:nvCxnSpPr>
          <p:cNvPr id="42" name="直線單箭頭接點 41">
            <a:extLst>
              <a:ext uri="{FF2B5EF4-FFF2-40B4-BE49-F238E27FC236}">
                <a16:creationId xmlns:a16="http://schemas.microsoft.com/office/drawing/2014/main" id="{D6E5F88E-76D6-405E-8A53-DE8E8E3CD3A6}"/>
              </a:ext>
            </a:extLst>
          </p:cNvPr>
          <p:cNvCxnSpPr/>
          <p:nvPr/>
        </p:nvCxnSpPr>
        <p:spPr>
          <a:xfrm flipV="1">
            <a:off x="9438461" y="510712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3" name="群組 42">
            <a:extLst>
              <a:ext uri="{FF2B5EF4-FFF2-40B4-BE49-F238E27FC236}">
                <a16:creationId xmlns:a16="http://schemas.microsoft.com/office/drawing/2014/main" id="{5B353911-A121-463C-9D69-4DD4B65A6926}"/>
              </a:ext>
            </a:extLst>
          </p:cNvPr>
          <p:cNvGrpSpPr/>
          <p:nvPr/>
        </p:nvGrpSpPr>
        <p:grpSpPr>
          <a:xfrm>
            <a:off x="3113879" y="4513843"/>
            <a:ext cx="7334524" cy="577977"/>
            <a:chOff x="895255" y="5301962"/>
            <a:chExt cx="7334524" cy="432000"/>
          </a:xfrm>
        </p:grpSpPr>
        <p:sp>
          <p:nvSpPr>
            <p:cNvPr id="44" name="文字方塊 43">
              <a:extLst>
                <a:ext uri="{FF2B5EF4-FFF2-40B4-BE49-F238E27FC236}">
                  <a16:creationId xmlns:a16="http://schemas.microsoft.com/office/drawing/2014/main" id="{3BBB669B-E2CE-4458-9C7E-794FB2B29C27}"/>
                </a:ext>
              </a:extLst>
            </p:cNvPr>
            <p:cNvSpPr txBox="1"/>
            <p:nvPr/>
          </p:nvSpPr>
          <p:spPr>
            <a:xfrm rot="5400000">
              <a:off x="910088"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5" name="文字方塊 44">
              <a:extLst>
                <a:ext uri="{FF2B5EF4-FFF2-40B4-BE49-F238E27FC236}">
                  <a16:creationId xmlns:a16="http://schemas.microsoft.com/office/drawing/2014/main" id="{6302370C-D8DB-420A-8CEC-F6DF8BD0D1A6}"/>
                </a:ext>
              </a:extLst>
            </p:cNvPr>
            <p:cNvSpPr txBox="1"/>
            <p:nvPr/>
          </p:nvSpPr>
          <p:spPr>
            <a:xfrm rot="5400000">
              <a:off x="1673738"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6" name="文字方塊 45">
              <a:extLst>
                <a:ext uri="{FF2B5EF4-FFF2-40B4-BE49-F238E27FC236}">
                  <a16:creationId xmlns:a16="http://schemas.microsoft.com/office/drawing/2014/main" id="{6D12569B-ADC8-4D77-A9D9-ED44D11F1920}"/>
                </a:ext>
              </a:extLst>
            </p:cNvPr>
            <p:cNvSpPr txBox="1"/>
            <p:nvPr/>
          </p:nvSpPr>
          <p:spPr>
            <a:xfrm rot="5400000">
              <a:off x="2437389"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7" name="文字方塊 46">
              <a:extLst>
                <a:ext uri="{FF2B5EF4-FFF2-40B4-BE49-F238E27FC236}">
                  <a16:creationId xmlns:a16="http://schemas.microsoft.com/office/drawing/2014/main" id="{315AF605-4CE8-42AD-8E06-393C8C1C5548}"/>
                </a:ext>
              </a:extLst>
            </p:cNvPr>
            <p:cNvSpPr txBox="1"/>
            <p:nvPr/>
          </p:nvSpPr>
          <p:spPr>
            <a:xfrm rot="5400000">
              <a:off x="3201040"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8" name="文字方塊 47">
              <a:extLst>
                <a:ext uri="{FF2B5EF4-FFF2-40B4-BE49-F238E27FC236}">
                  <a16:creationId xmlns:a16="http://schemas.microsoft.com/office/drawing/2014/main" id="{7E1E6D03-B57A-4657-BAD6-3FABB11E77C0}"/>
                </a:ext>
              </a:extLst>
            </p:cNvPr>
            <p:cNvSpPr txBox="1"/>
            <p:nvPr/>
          </p:nvSpPr>
          <p:spPr>
            <a:xfrm rot="5400000">
              <a:off x="3964691"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49" name="文字方塊 48">
              <a:extLst>
                <a:ext uri="{FF2B5EF4-FFF2-40B4-BE49-F238E27FC236}">
                  <a16:creationId xmlns:a16="http://schemas.microsoft.com/office/drawing/2014/main" id="{B114E605-DF4D-426C-B684-1779D094CEAF}"/>
                </a:ext>
              </a:extLst>
            </p:cNvPr>
            <p:cNvSpPr txBox="1"/>
            <p:nvPr/>
          </p:nvSpPr>
          <p:spPr>
            <a:xfrm rot="5400000">
              <a:off x="4728342"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50" name="文字方塊 49">
              <a:extLst>
                <a:ext uri="{FF2B5EF4-FFF2-40B4-BE49-F238E27FC236}">
                  <a16:creationId xmlns:a16="http://schemas.microsoft.com/office/drawing/2014/main" id="{61023658-BF9F-46F4-8F8C-3332B38637D6}"/>
                </a:ext>
              </a:extLst>
            </p:cNvPr>
            <p:cNvSpPr txBox="1"/>
            <p:nvPr/>
          </p:nvSpPr>
          <p:spPr>
            <a:xfrm rot="5400000">
              <a:off x="5491993"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51" name="文字方塊 50">
              <a:extLst>
                <a:ext uri="{FF2B5EF4-FFF2-40B4-BE49-F238E27FC236}">
                  <a16:creationId xmlns:a16="http://schemas.microsoft.com/office/drawing/2014/main" id="{317CD886-4249-444F-845C-E4035DB14D97}"/>
                </a:ext>
              </a:extLst>
            </p:cNvPr>
            <p:cNvSpPr txBox="1"/>
            <p:nvPr/>
          </p:nvSpPr>
          <p:spPr>
            <a:xfrm rot="5400000">
              <a:off x="6255644"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52" name="文字方塊 51">
              <a:extLst>
                <a:ext uri="{FF2B5EF4-FFF2-40B4-BE49-F238E27FC236}">
                  <a16:creationId xmlns:a16="http://schemas.microsoft.com/office/drawing/2014/main" id="{8687313D-7479-4135-A4DC-606B34BC281C}"/>
                </a:ext>
              </a:extLst>
            </p:cNvPr>
            <p:cNvSpPr txBox="1"/>
            <p:nvPr/>
          </p:nvSpPr>
          <p:spPr>
            <a:xfrm rot="5400000">
              <a:off x="7019295"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53" name="文字方塊 52">
              <a:extLst>
                <a:ext uri="{FF2B5EF4-FFF2-40B4-BE49-F238E27FC236}">
                  <a16:creationId xmlns:a16="http://schemas.microsoft.com/office/drawing/2014/main" id="{359972E0-3A85-4D7F-B783-16587B4D421D}"/>
                </a:ext>
              </a:extLst>
            </p:cNvPr>
            <p:cNvSpPr txBox="1"/>
            <p:nvPr/>
          </p:nvSpPr>
          <p:spPr>
            <a:xfrm rot="5400000">
              <a:off x="7782947" y="5287129"/>
              <a:ext cx="43200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grpSp>
      <p:cxnSp>
        <p:nvCxnSpPr>
          <p:cNvPr id="56" name="直線單箭頭接點 55">
            <a:extLst>
              <a:ext uri="{FF2B5EF4-FFF2-40B4-BE49-F238E27FC236}">
                <a16:creationId xmlns:a16="http://schemas.microsoft.com/office/drawing/2014/main" id="{FB7C964A-EEBE-4E24-A744-F35F635D5539}"/>
              </a:ext>
            </a:extLst>
          </p:cNvPr>
          <p:cNvCxnSpPr/>
          <p:nvPr/>
        </p:nvCxnSpPr>
        <p:spPr>
          <a:xfrm flipV="1">
            <a:off x="6398508" y="4143127"/>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6F65A06F-6E4B-45FC-8D65-7F7757FA6BBF}"/>
              </a:ext>
            </a:extLst>
          </p:cNvPr>
          <p:cNvSpPr/>
          <p:nvPr/>
        </p:nvSpPr>
        <p:spPr>
          <a:xfrm rot="5400000">
            <a:off x="6107549" y="3738770"/>
            <a:ext cx="558032" cy="19614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defTabSz="457200"/>
            <a:endParaRPr lang="zh-TW" altLang="en-US" sz="1350">
              <a:solidFill>
                <a:prstClr val="black"/>
              </a:solidFill>
              <a:latin typeface="Calibri" panose="020F0502020204030204"/>
              <a:ea typeface="新細明體" panose="02020500000000000000" pitchFamily="18" charset="-120"/>
            </a:endParaRPr>
          </a:p>
        </p:txBody>
      </p:sp>
      <p:cxnSp>
        <p:nvCxnSpPr>
          <p:cNvPr id="60" name="直線單箭頭接點 59">
            <a:extLst>
              <a:ext uri="{FF2B5EF4-FFF2-40B4-BE49-F238E27FC236}">
                <a16:creationId xmlns:a16="http://schemas.microsoft.com/office/drawing/2014/main" id="{C6296531-6542-4790-8158-3D546FA11516}"/>
              </a:ext>
            </a:extLst>
          </p:cNvPr>
          <p:cNvCxnSpPr/>
          <p:nvPr/>
        </p:nvCxnSpPr>
        <p:spPr>
          <a:xfrm flipV="1">
            <a:off x="10210213" y="4162876"/>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6DC9C120-27B2-441C-BAF9-9058C7DAC02B}"/>
              </a:ext>
            </a:extLst>
          </p:cNvPr>
          <p:cNvSpPr/>
          <p:nvPr/>
        </p:nvSpPr>
        <p:spPr>
          <a:xfrm rot="5400000">
            <a:off x="9919254" y="3758519"/>
            <a:ext cx="558032" cy="19614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defTabSz="457200"/>
            <a:endParaRPr lang="zh-TW" altLang="en-US" sz="1350">
              <a:solidFill>
                <a:prstClr val="black"/>
              </a:solidFill>
              <a:latin typeface="Calibri" panose="020F0502020204030204"/>
              <a:ea typeface="新細明體" panose="02020500000000000000" pitchFamily="18" charset="-120"/>
            </a:endParaRPr>
          </a:p>
        </p:txBody>
      </p:sp>
      <p:cxnSp>
        <p:nvCxnSpPr>
          <p:cNvPr id="62" name="直線單箭頭接點 61">
            <a:extLst>
              <a:ext uri="{FF2B5EF4-FFF2-40B4-BE49-F238E27FC236}">
                <a16:creationId xmlns:a16="http://schemas.microsoft.com/office/drawing/2014/main" id="{7AA4C19F-6BA7-4D0B-9AC3-FAA95DBE10A5}"/>
              </a:ext>
            </a:extLst>
          </p:cNvPr>
          <p:cNvCxnSpPr/>
          <p:nvPr/>
        </p:nvCxnSpPr>
        <p:spPr>
          <a:xfrm flipV="1">
            <a:off x="7930777" y="4143128"/>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62">
            <a:extLst>
              <a:ext uri="{FF2B5EF4-FFF2-40B4-BE49-F238E27FC236}">
                <a16:creationId xmlns:a16="http://schemas.microsoft.com/office/drawing/2014/main" id="{442747DE-5BD4-49CB-82B6-046DAB6F6F60}"/>
              </a:ext>
            </a:extLst>
          </p:cNvPr>
          <p:cNvSpPr/>
          <p:nvPr/>
        </p:nvSpPr>
        <p:spPr>
          <a:xfrm rot="5400000">
            <a:off x="7639818" y="3738771"/>
            <a:ext cx="558032" cy="19614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defTabSz="457200"/>
            <a:endParaRPr lang="zh-TW" altLang="en-US" sz="1350">
              <a:solidFill>
                <a:prstClr val="black"/>
              </a:solidFill>
              <a:latin typeface="Calibri" panose="020F0502020204030204"/>
              <a:ea typeface="新細明體" panose="02020500000000000000" pitchFamily="18" charset="-120"/>
            </a:endParaRPr>
          </a:p>
        </p:txBody>
      </p:sp>
      <p:cxnSp>
        <p:nvCxnSpPr>
          <p:cNvPr id="64" name="直線單箭頭接點 63">
            <a:extLst>
              <a:ext uri="{FF2B5EF4-FFF2-40B4-BE49-F238E27FC236}">
                <a16:creationId xmlns:a16="http://schemas.microsoft.com/office/drawing/2014/main" id="{8AC4457B-250A-4667-BE50-107473BA7603}"/>
              </a:ext>
            </a:extLst>
          </p:cNvPr>
          <p:cNvCxnSpPr/>
          <p:nvPr/>
        </p:nvCxnSpPr>
        <p:spPr>
          <a:xfrm flipV="1">
            <a:off x="10191548" y="3197827"/>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06AC4343-33A7-4A36-9410-4AE9EA706D1C}"/>
              </a:ext>
            </a:extLst>
          </p:cNvPr>
          <p:cNvCxnSpPr/>
          <p:nvPr/>
        </p:nvCxnSpPr>
        <p:spPr>
          <a:xfrm flipV="1">
            <a:off x="6392486" y="3197827"/>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C989ED13-C421-4EB5-89AC-B5E74CA3F8A6}"/>
              </a:ext>
            </a:extLst>
          </p:cNvPr>
          <p:cNvCxnSpPr/>
          <p:nvPr/>
        </p:nvCxnSpPr>
        <p:spPr>
          <a:xfrm flipV="1">
            <a:off x="7912112" y="3197827"/>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文字方塊 67">
            <a:extLst>
              <a:ext uri="{FF2B5EF4-FFF2-40B4-BE49-F238E27FC236}">
                <a16:creationId xmlns:a16="http://schemas.microsoft.com/office/drawing/2014/main" id="{6EA62285-AA5E-4C75-A043-BFCFE14CDFBE}"/>
              </a:ext>
            </a:extLst>
          </p:cNvPr>
          <p:cNvSpPr txBox="1"/>
          <p:nvPr/>
        </p:nvSpPr>
        <p:spPr>
          <a:xfrm rot="5400000">
            <a:off x="3043023"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69" name="文字方塊 68">
            <a:extLst>
              <a:ext uri="{FF2B5EF4-FFF2-40B4-BE49-F238E27FC236}">
                <a16:creationId xmlns:a16="http://schemas.microsoft.com/office/drawing/2014/main" id="{3DB9CC3B-6EF9-4797-B06F-487BDE2473D3}"/>
              </a:ext>
            </a:extLst>
          </p:cNvPr>
          <p:cNvSpPr txBox="1"/>
          <p:nvPr/>
        </p:nvSpPr>
        <p:spPr>
          <a:xfrm rot="5400000">
            <a:off x="3806674"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70" name="文字方塊 69">
            <a:extLst>
              <a:ext uri="{FF2B5EF4-FFF2-40B4-BE49-F238E27FC236}">
                <a16:creationId xmlns:a16="http://schemas.microsoft.com/office/drawing/2014/main" id="{3DC3F7B0-D26F-412E-AA71-5F168C34F017}"/>
              </a:ext>
            </a:extLst>
          </p:cNvPr>
          <p:cNvSpPr txBox="1"/>
          <p:nvPr/>
        </p:nvSpPr>
        <p:spPr>
          <a:xfrm rot="5400000">
            <a:off x="4570325"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71" name="文字方塊 70">
            <a:extLst>
              <a:ext uri="{FF2B5EF4-FFF2-40B4-BE49-F238E27FC236}">
                <a16:creationId xmlns:a16="http://schemas.microsoft.com/office/drawing/2014/main" id="{5830B240-2B58-4F73-92D6-671300C494CE}"/>
              </a:ext>
            </a:extLst>
          </p:cNvPr>
          <p:cNvSpPr txBox="1"/>
          <p:nvPr/>
        </p:nvSpPr>
        <p:spPr>
          <a:xfrm rot="5400000">
            <a:off x="5333976"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72" name="文字方塊 71">
            <a:extLst>
              <a:ext uri="{FF2B5EF4-FFF2-40B4-BE49-F238E27FC236}">
                <a16:creationId xmlns:a16="http://schemas.microsoft.com/office/drawing/2014/main" id="{215912B8-42B9-4CA2-9428-D406C8F1D3DE}"/>
              </a:ext>
            </a:extLst>
          </p:cNvPr>
          <p:cNvSpPr txBox="1"/>
          <p:nvPr/>
        </p:nvSpPr>
        <p:spPr>
          <a:xfrm rot="5400000">
            <a:off x="6097627"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73" name="文字方塊 72">
            <a:extLst>
              <a:ext uri="{FF2B5EF4-FFF2-40B4-BE49-F238E27FC236}">
                <a16:creationId xmlns:a16="http://schemas.microsoft.com/office/drawing/2014/main" id="{E6735D42-13C7-4A59-876A-EBE52D480C36}"/>
              </a:ext>
            </a:extLst>
          </p:cNvPr>
          <p:cNvSpPr txBox="1"/>
          <p:nvPr/>
        </p:nvSpPr>
        <p:spPr>
          <a:xfrm rot="5400000">
            <a:off x="6861278"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74" name="文字方塊 73">
            <a:extLst>
              <a:ext uri="{FF2B5EF4-FFF2-40B4-BE49-F238E27FC236}">
                <a16:creationId xmlns:a16="http://schemas.microsoft.com/office/drawing/2014/main" id="{3FF19686-57EE-41C3-A074-8B125DC8BDE4}"/>
              </a:ext>
            </a:extLst>
          </p:cNvPr>
          <p:cNvSpPr txBox="1"/>
          <p:nvPr/>
        </p:nvSpPr>
        <p:spPr>
          <a:xfrm rot="5400000">
            <a:off x="7624929"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75" name="文字方塊 74">
            <a:extLst>
              <a:ext uri="{FF2B5EF4-FFF2-40B4-BE49-F238E27FC236}">
                <a16:creationId xmlns:a16="http://schemas.microsoft.com/office/drawing/2014/main" id="{6DFE4F37-54C8-4220-A565-D1E4F8085915}"/>
              </a:ext>
            </a:extLst>
          </p:cNvPr>
          <p:cNvSpPr txBox="1"/>
          <p:nvPr/>
        </p:nvSpPr>
        <p:spPr>
          <a:xfrm rot="5400000">
            <a:off x="8388580"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76" name="文字方塊 75">
            <a:extLst>
              <a:ext uri="{FF2B5EF4-FFF2-40B4-BE49-F238E27FC236}">
                <a16:creationId xmlns:a16="http://schemas.microsoft.com/office/drawing/2014/main" id="{7ECECBE0-08A7-419C-9BFA-88603D9210AC}"/>
              </a:ext>
            </a:extLst>
          </p:cNvPr>
          <p:cNvSpPr txBox="1"/>
          <p:nvPr/>
        </p:nvSpPr>
        <p:spPr>
          <a:xfrm rot="5400000">
            <a:off x="9152231"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77" name="文字方塊 76">
            <a:extLst>
              <a:ext uri="{FF2B5EF4-FFF2-40B4-BE49-F238E27FC236}">
                <a16:creationId xmlns:a16="http://schemas.microsoft.com/office/drawing/2014/main" id="{CE72621A-3799-4B5A-8A3D-D31FDFB56178}"/>
              </a:ext>
            </a:extLst>
          </p:cNvPr>
          <p:cNvSpPr txBox="1"/>
          <p:nvPr/>
        </p:nvSpPr>
        <p:spPr>
          <a:xfrm rot="5400000">
            <a:off x="9915883" y="2652387"/>
            <a:ext cx="577977"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cxnSp>
        <p:nvCxnSpPr>
          <p:cNvPr id="78" name="直線單箭頭接點 77">
            <a:extLst>
              <a:ext uri="{FF2B5EF4-FFF2-40B4-BE49-F238E27FC236}">
                <a16:creationId xmlns:a16="http://schemas.microsoft.com/office/drawing/2014/main" id="{704AA500-62F2-4864-AC40-9A3BD172938D}"/>
              </a:ext>
            </a:extLst>
          </p:cNvPr>
          <p:cNvCxnSpPr/>
          <p:nvPr/>
        </p:nvCxnSpPr>
        <p:spPr>
          <a:xfrm flipV="1">
            <a:off x="8651793"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a:extLst>
              <a:ext uri="{FF2B5EF4-FFF2-40B4-BE49-F238E27FC236}">
                <a16:creationId xmlns:a16="http://schemas.microsoft.com/office/drawing/2014/main" id="{308D436E-4FF7-403C-936F-C2905E64AF10}"/>
              </a:ext>
            </a:extLst>
          </p:cNvPr>
          <p:cNvCxnSpPr/>
          <p:nvPr/>
        </p:nvCxnSpPr>
        <p:spPr>
          <a:xfrm flipV="1">
            <a:off x="10171416"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645CC349-C5F3-41F0-BE24-4F67F7C5BAF4}"/>
              </a:ext>
            </a:extLst>
          </p:cNvPr>
          <p:cNvCxnSpPr/>
          <p:nvPr/>
        </p:nvCxnSpPr>
        <p:spPr>
          <a:xfrm flipV="1">
            <a:off x="7132167"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a:extLst>
              <a:ext uri="{FF2B5EF4-FFF2-40B4-BE49-F238E27FC236}">
                <a16:creationId xmlns:a16="http://schemas.microsoft.com/office/drawing/2014/main" id="{BB232BC3-C101-4F90-948F-69F8316D8827}"/>
              </a:ext>
            </a:extLst>
          </p:cNvPr>
          <p:cNvCxnSpPr/>
          <p:nvPr/>
        </p:nvCxnSpPr>
        <p:spPr>
          <a:xfrm flipV="1">
            <a:off x="6372354"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a:extLst>
              <a:ext uri="{FF2B5EF4-FFF2-40B4-BE49-F238E27FC236}">
                <a16:creationId xmlns:a16="http://schemas.microsoft.com/office/drawing/2014/main" id="{DB989E80-B4B0-4417-BB7B-7969EBBF2F51}"/>
              </a:ext>
            </a:extLst>
          </p:cNvPr>
          <p:cNvCxnSpPr/>
          <p:nvPr/>
        </p:nvCxnSpPr>
        <p:spPr>
          <a:xfrm flipV="1">
            <a:off x="5612541"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a:extLst>
              <a:ext uri="{FF2B5EF4-FFF2-40B4-BE49-F238E27FC236}">
                <a16:creationId xmlns:a16="http://schemas.microsoft.com/office/drawing/2014/main" id="{9E4F66DE-FF6F-4B44-AC5E-4FD117E208EA}"/>
              </a:ext>
            </a:extLst>
          </p:cNvPr>
          <p:cNvCxnSpPr/>
          <p:nvPr/>
        </p:nvCxnSpPr>
        <p:spPr>
          <a:xfrm flipV="1">
            <a:off x="4852728"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a:extLst>
              <a:ext uri="{FF2B5EF4-FFF2-40B4-BE49-F238E27FC236}">
                <a16:creationId xmlns:a16="http://schemas.microsoft.com/office/drawing/2014/main" id="{465B0DA7-C096-4C72-A96C-750A30955047}"/>
              </a:ext>
            </a:extLst>
          </p:cNvPr>
          <p:cNvCxnSpPr/>
          <p:nvPr/>
        </p:nvCxnSpPr>
        <p:spPr>
          <a:xfrm flipV="1">
            <a:off x="4092915"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a:extLst>
              <a:ext uri="{FF2B5EF4-FFF2-40B4-BE49-F238E27FC236}">
                <a16:creationId xmlns:a16="http://schemas.microsoft.com/office/drawing/2014/main" id="{C1842C76-8F66-4199-909D-82D3F52D0F9B}"/>
              </a:ext>
            </a:extLst>
          </p:cNvPr>
          <p:cNvCxnSpPr/>
          <p:nvPr/>
        </p:nvCxnSpPr>
        <p:spPr>
          <a:xfrm flipV="1">
            <a:off x="3333102"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a:extLst>
              <a:ext uri="{FF2B5EF4-FFF2-40B4-BE49-F238E27FC236}">
                <a16:creationId xmlns:a16="http://schemas.microsoft.com/office/drawing/2014/main" id="{F32926FC-09DA-4D18-A354-619927B730EC}"/>
              </a:ext>
            </a:extLst>
          </p:cNvPr>
          <p:cNvCxnSpPr/>
          <p:nvPr/>
        </p:nvCxnSpPr>
        <p:spPr>
          <a:xfrm flipV="1">
            <a:off x="7891980"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33FB4194-0595-4165-A4C6-4F9716B1947B}"/>
              </a:ext>
            </a:extLst>
          </p:cNvPr>
          <p:cNvCxnSpPr/>
          <p:nvPr/>
        </p:nvCxnSpPr>
        <p:spPr>
          <a:xfrm flipV="1">
            <a:off x="9411606" y="2234229"/>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文字方塊 88">
            <a:extLst>
              <a:ext uri="{FF2B5EF4-FFF2-40B4-BE49-F238E27FC236}">
                <a16:creationId xmlns:a16="http://schemas.microsoft.com/office/drawing/2014/main" id="{D6E10C2C-9C3B-4CD6-A5C5-843BE999F12F}"/>
              </a:ext>
            </a:extLst>
          </p:cNvPr>
          <p:cNvSpPr txBox="1"/>
          <p:nvPr/>
        </p:nvSpPr>
        <p:spPr>
          <a:xfrm rot="5400000">
            <a:off x="3097124"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0" name="文字方塊 89">
            <a:extLst>
              <a:ext uri="{FF2B5EF4-FFF2-40B4-BE49-F238E27FC236}">
                <a16:creationId xmlns:a16="http://schemas.microsoft.com/office/drawing/2014/main" id="{0BDEC5A5-4FFC-42D7-BD60-AAEF8B1DF96E}"/>
              </a:ext>
            </a:extLst>
          </p:cNvPr>
          <p:cNvSpPr txBox="1"/>
          <p:nvPr/>
        </p:nvSpPr>
        <p:spPr>
          <a:xfrm rot="5400000">
            <a:off x="3860775"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1" name="文字方塊 90">
            <a:extLst>
              <a:ext uri="{FF2B5EF4-FFF2-40B4-BE49-F238E27FC236}">
                <a16:creationId xmlns:a16="http://schemas.microsoft.com/office/drawing/2014/main" id="{B1A6AD38-2C8A-4BFB-AEAF-687AD8BD2B64}"/>
              </a:ext>
            </a:extLst>
          </p:cNvPr>
          <p:cNvSpPr txBox="1"/>
          <p:nvPr/>
        </p:nvSpPr>
        <p:spPr>
          <a:xfrm rot="5400000">
            <a:off x="4624426"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2" name="文字方塊 91">
            <a:extLst>
              <a:ext uri="{FF2B5EF4-FFF2-40B4-BE49-F238E27FC236}">
                <a16:creationId xmlns:a16="http://schemas.microsoft.com/office/drawing/2014/main" id="{13FA84DA-E0D4-4BC7-96F2-84468C0F8AA6}"/>
              </a:ext>
            </a:extLst>
          </p:cNvPr>
          <p:cNvSpPr txBox="1"/>
          <p:nvPr/>
        </p:nvSpPr>
        <p:spPr>
          <a:xfrm rot="5400000">
            <a:off x="5388077"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3" name="文字方塊 92">
            <a:extLst>
              <a:ext uri="{FF2B5EF4-FFF2-40B4-BE49-F238E27FC236}">
                <a16:creationId xmlns:a16="http://schemas.microsoft.com/office/drawing/2014/main" id="{1BB735CE-64F2-4834-9C72-CF791381029B}"/>
              </a:ext>
            </a:extLst>
          </p:cNvPr>
          <p:cNvSpPr txBox="1"/>
          <p:nvPr/>
        </p:nvSpPr>
        <p:spPr>
          <a:xfrm rot="5400000">
            <a:off x="6151728"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4" name="文字方塊 93">
            <a:extLst>
              <a:ext uri="{FF2B5EF4-FFF2-40B4-BE49-F238E27FC236}">
                <a16:creationId xmlns:a16="http://schemas.microsoft.com/office/drawing/2014/main" id="{484665E8-8BF8-4179-845C-7025DD9D3E47}"/>
              </a:ext>
            </a:extLst>
          </p:cNvPr>
          <p:cNvSpPr txBox="1"/>
          <p:nvPr/>
        </p:nvSpPr>
        <p:spPr>
          <a:xfrm rot="5400000">
            <a:off x="6915379"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5" name="文字方塊 94">
            <a:extLst>
              <a:ext uri="{FF2B5EF4-FFF2-40B4-BE49-F238E27FC236}">
                <a16:creationId xmlns:a16="http://schemas.microsoft.com/office/drawing/2014/main" id="{B639745C-E305-4D8C-9BA1-3273110DF171}"/>
              </a:ext>
            </a:extLst>
          </p:cNvPr>
          <p:cNvSpPr txBox="1"/>
          <p:nvPr/>
        </p:nvSpPr>
        <p:spPr>
          <a:xfrm rot="5400000">
            <a:off x="7679030"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6" name="文字方塊 95">
            <a:extLst>
              <a:ext uri="{FF2B5EF4-FFF2-40B4-BE49-F238E27FC236}">
                <a16:creationId xmlns:a16="http://schemas.microsoft.com/office/drawing/2014/main" id="{FD9D89ED-1D65-4B0C-9DA4-DA3CB3FD46DF}"/>
              </a:ext>
            </a:extLst>
          </p:cNvPr>
          <p:cNvSpPr txBox="1"/>
          <p:nvPr/>
        </p:nvSpPr>
        <p:spPr>
          <a:xfrm rot="5400000">
            <a:off x="8442681"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7" name="文字方塊 96">
            <a:extLst>
              <a:ext uri="{FF2B5EF4-FFF2-40B4-BE49-F238E27FC236}">
                <a16:creationId xmlns:a16="http://schemas.microsoft.com/office/drawing/2014/main" id="{70E4A6AC-EE08-4294-9218-F6B938973340}"/>
              </a:ext>
            </a:extLst>
          </p:cNvPr>
          <p:cNvSpPr txBox="1"/>
          <p:nvPr/>
        </p:nvSpPr>
        <p:spPr>
          <a:xfrm rot="5400000">
            <a:off x="9206332"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8" name="文字方塊 97">
            <a:extLst>
              <a:ext uri="{FF2B5EF4-FFF2-40B4-BE49-F238E27FC236}">
                <a16:creationId xmlns:a16="http://schemas.microsoft.com/office/drawing/2014/main" id="{69DA1F6A-B68C-45D2-94FD-B52587932AF8}"/>
              </a:ext>
            </a:extLst>
          </p:cNvPr>
          <p:cNvSpPr txBox="1"/>
          <p:nvPr/>
        </p:nvSpPr>
        <p:spPr>
          <a:xfrm rot="5400000">
            <a:off x="9969984" y="1752057"/>
            <a:ext cx="43200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defTabSz="457200">
              <a:defRPr/>
            </a:pPr>
            <a:endParaRPr lang="zh-TW" altLang="en-US" sz="2400" dirty="0">
              <a:solidFill>
                <a:prstClr val="black"/>
              </a:solidFill>
              <a:latin typeface="Calibri" panose="020F0502020204030204"/>
              <a:ea typeface="新細明體" panose="02020500000000000000" pitchFamily="18" charset="-120"/>
            </a:endParaRPr>
          </a:p>
        </p:txBody>
      </p:sp>
      <p:sp>
        <p:nvSpPr>
          <p:cNvPr id="99" name="文字方塊 98">
            <a:extLst>
              <a:ext uri="{FF2B5EF4-FFF2-40B4-BE49-F238E27FC236}">
                <a16:creationId xmlns:a16="http://schemas.microsoft.com/office/drawing/2014/main" id="{15D68446-4588-4167-8003-BDCF95CE5CFD}"/>
              </a:ext>
            </a:extLst>
          </p:cNvPr>
          <p:cNvSpPr txBox="1"/>
          <p:nvPr/>
        </p:nvSpPr>
        <p:spPr>
          <a:xfrm>
            <a:off x="1817183" y="4441350"/>
            <a:ext cx="1209626" cy="830997"/>
          </a:xfrm>
          <a:prstGeom prst="rect">
            <a:avLst/>
          </a:prstGeom>
          <a:noFill/>
        </p:spPr>
        <p:txBody>
          <a:bodyPr wrap="none" rtlCol="0">
            <a:spAutoFit/>
          </a:bodyPr>
          <a:lstStyle/>
          <a:p>
            <a:pPr algn="ctr" defTabSz="457200"/>
            <a:r>
              <a:rPr lang="en-US" altLang="zh-TW" sz="2400" dirty="0"/>
              <a:t>LSTM </a:t>
            </a:r>
          </a:p>
          <a:p>
            <a:pPr algn="ctr" defTabSz="457200"/>
            <a:r>
              <a:rPr lang="en-US" altLang="zh-TW" sz="2400" dirty="0">
                <a:solidFill>
                  <a:prstClr val="black"/>
                </a:solidFill>
                <a:latin typeface="Calibri" panose="020F0502020204030204"/>
                <a:ea typeface="新細明體" panose="02020500000000000000" pitchFamily="18" charset="-120"/>
              </a:rPr>
              <a:t>Encoder</a:t>
            </a:r>
            <a:endParaRPr lang="zh-TW" altLang="en-US" sz="2400" dirty="0">
              <a:solidFill>
                <a:prstClr val="black"/>
              </a:solidFill>
              <a:latin typeface="Calibri" panose="020F0502020204030204"/>
              <a:ea typeface="新細明體" panose="02020500000000000000" pitchFamily="18" charset="-120"/>
            </a:endParaRPr>
          </a:p>
        </p:txBody>
      </p:sp>
      <p:sp>
        <p:nvSpPr>
          <p:cNvPr id="100" name="文字方塊 99">
            <a:extLst>
              <a:ext uri="{FF2B5EF4-FFF2-40B4-BE49-F238E27FC236}">
                <a16:creationId xmlns:a16="http://schemas.microsoft.com/office/drawing/2014/main" id="{07A3879F-BFC2-4035-8C53-54C86E9D3414}"/>
              </a:ext>
            </a:extLst>
          </p:cNvPr>
          <p:cNvSpPr txBox="1"/>
          <p:nvPr/>
        </p:nvSpPr>
        <p:spPr>
          <a:xfrm>
            <a:off x="1801954" y="2467720"/>
            <a:ext cx="1240084" cy="830997"/>
          </a:xfrm>
          <a:prstGeom prst="rect">
            <a:avLst/>
          </a:prstGeom>
          <a:noFill/>
        </p:spPr>
        <p:txBody>
          <a:bodyPr wrap="none" rtlCol="0">
            <a:spAutoFit/>
          </a:bodyPr>
          <a:lstStyle/>
          <a:p>
            <a:pPr algn="ctr" defTabSz="457200"/>
            <a:r>
              <a:rPr lang="en-US" altLang="zh-TW" sz="2400" dirty="0"/>
              <a:t>LSTM</a:t>
            </a:r>
            <a:r>
              <a:rPr lang="en-US" altLang="zh-TW" sz="2400" dirty="0">
                <a:solidFill>
                  <a:prstClr val="black"/>
                </a:solidFill>
                <a:latin typeface="Calibri" panose="020F0502020204030204"/>
                <a:ea typeface="新細明體" panose="02020500000000000000" pitchFamily="18" charset="-120"/>
              </a:rPr>
              <a:t> </a:t>
            </a:r>
          </a:p>
          <a:p>
            <a:pPr algn="ctr" defTabSz="457200"/>
            <a:r>
              <a:rPr lang="en-US" altLang="zh-TW" sz="2400" dirty="0">
                <a:solidFill>
                  <a:prstClr val="black"/>
                </a:solidFill>
                <a:latin typeface="Calibri" panose="020F0502020204030204"/>
                <a:ea typeface="新細明體" panose="02020500000000000000" pitchFamily="18" charset="-120"/>
              </a:rPr>
              <a:t>Decoder</a:t>
            </a:r>
            <a:endParaRPr lang="zh-TW" altLang="en-US" sz="2400" dirty="0">
              <a:solidFill>
                <a:prstClr val="black"/>
              </a:solidFill>
              <a:latin typeface="Calibri" panose="020F0502020204030204"/>
              <a:ea typeface="新細明體" panose="02020500000000000000" pitchFamily="18" charset="-120"/>
            </a:endParaRPr>
          </a:p>
        </p:txBody>
      </p:sp>
      <p:cxnSp>
        <p:nvCxnSpPr>
          <p:cNvPr id="101" name="直線單箭頭接點 100">
            <a:extLst>
              <a:ext uri="{FF2B5EF4-FFF2-40B4-BE49-F238E27FC236}">
                <a16:creationId xmlns:a16="http://schemas.microsoft.com/office/drawing/2014/main" id="{7E88880E-7E5D-414E-BC6D-8221476A3D7C}"/>
              </a:ext>
            </a:extLst>
          </p:cNvPr>
          <p:cNvCxnSpPr>
            <a:cxnSpLocks/>
          </p:cNvCxnSpPr>
          <p:nvPr/>
        </p:nvCxnSpPr>
        <p:spPr>
          <a:xfrm>
            <a:off x="3511297" y="480283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a:extLst>
              <a:ext uri="{FF2B5EF4-FFF2-40B4-BE49-F238E27FC236}">
                <a16:creationId xmlns:a16="http://schemas.microsoft.com/office/drawing/2014/main" id="{52F6B18F-1A73-4E06-8CB0-D77F9A5B54FC}"/>
              </a:ext>
            </a:extLst>
          </p:cNvPr>
          <p:cNvCxnSpPr>
            <a:cxnSpLocks/>
          </p:cNvCxnSpPr>
          <p:nvPr/>
        </p:nvCxnSpPr>
        <p:spPr>
          <a:xfrm>
            <a:off x="4262248" y="480283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a:extLst>
              <a:ext uri="{FF2B5EF4-FFF2-40B4-BE49-F238E27FC236}">
                <a16:creationId xmlns:a16="http://schemas.microsoft.com/office/drawing/2014/main" id="{5BA42A1B-FA02-4E33-A593-4B0B9BFF62A3}"/>
              </a:ext>
            </a:extLst>
          </p:cNvPr>
          <p:cNvCxnSpPr>
            <a:cxnSpLocks/>
          </p:cNvCxnSpPr>
          <p:nvPr/>
        </p:nvCxnSpPr>
        <p:spPr>
          <a:xfrm>
            <a:off x="5038599" y="480283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單箭頭接點 104">
            <a:extLst>
              <a:ext uri="{FF2B5EF4-FFF2-40B4-BE49-F238E27FC236}">
                <a16:creationId xmlns:a16="http://schemas.microsoft.com/office/drawing/2014/main" id="{34B5569B-C5C3-4FEE-A265-57FBFC7EA3E2}"/>
              </a:ext>
            </a:extLst>
          </p:cNvPr>
          <p:cNvCxnSpPr>
            <a:cxnSpLocks/>
          </p:cNvCxnSpPr>
          <p:nvPr/>
        </p:nvCxnSpPr>
        <p:spPr>
          <a:xfrm>
            <a:off x="5802250" y="480283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a:extLst>
              <a:ext uri="{FF2B5EF4-FFF2-40B4-BE49-F238E27FC236}">
                <a16:creationId xmlns:a16="http://schemas.microsoft.com/office/drawing/2014/main" id="{68987114-A0DC-47A5-B262-6D90453B622A}"/>
              </a:ext>
            </a:extLst>
          </p:cNvPr>
          <p:cNvCxnSpPr>
            <a:cxnSpLocks/>
          </p:cNvCxnSpPr>
          <p:nvPr/>
        </p:nvCxnSpPr>
        <p:spPr>
          <a:xfrm>
            <a:off x="6565901" y="4812355"/>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AF00B33C-3784-45E7-858D-81546577CF9B}"/>
              </a:ext>
            </a:extLst>
          </p:cNvPr>
          <p:cNvCxnSpPr>
            <a:cxnSpLocks/>
          </p:cNvCxnSpPr>
          <p:nvPr/>
        </p:nvCxnSpPr>
        <p:spPr>
          <a:xfrm>
            <a:off x="7317016" y="4812355"/>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B351A111-19F2-4177-96B3-485211C7D362}"/>
              </a:ext>
            </a:extLst>
          </p:cNvPr>
          <p:cNvCxnSpPr>
            <a:cxnSpLocks/>
          </p:cNvCxnSpPr>
          <p:nvPr/>
        </p:nvCxnSpPr>
        <p:spPr>
          <a:xfrm>
            <a:off x="8093203" y="482411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a:extLst>
              <a:ext uri="{FF2B5EF4-FFF2-40B4-BE49-F238E27FC236}">
                <a16:creationId xmlns:a16="http://schemas.microsoft.com/office/drawing/2014/main" id="{10256AC0-F450-4C95-A3F8-26215ADDD0FA}"/>
              </a:ext>
            </a:extLst>
          </p:cNvPr>
          <p:cNvCxnSpPr>
            <a:cxnSpLocks/>
          </p:cNvCxnSpPr>
          <p:nvPr/>
        </p:nvCxnSpPr>
        <p:spPr>
          <a:xfrm>
            <a:off x="8844154" y="482411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a:extLst>
              <a:ext uri="{FF2B5EF4-FFF2-40B4-BE49-F238E27FC236}">
                <a16:creationId xmlns:a16="http://schemas.microsoft.com/office/drawing/2014/main" id="{484FA3DE-CB4E-40B1-88AE-DF2CFDD52EA7}"/>
              </a:ext>
            </a:extLst>
          </p:cNvPr>
          <p:cNvCxnSpPr>
            <a:cxnSpLocks/>
          </p:cNvCxnSpPr>
          <p:nvPr/>
        </p:nvCxnSpPr>
        <p:spPr>
          <a:xfrm>
            <a:off x="9620506" y="4824110"/>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單箭頭接點 116">
            <a:extLst>
              <a:ext uri="{FF2B5EF4-FFF2-40B4-BE49-F238E27FC236}">
                <a16:creationId xmlns:a16="http://schemas.microsoft.com/office/drawing/2014/main" id="{9F0559E9-731D-4DB5-A0CA-1CD40F7BE157}"/>
              </a:ext>
            </a:extLst>
          </p:cNvPr>
          <p:cNvCxnSpPr>
            <a:cxnSpLocks/>
          </p:cNvCxnSpPr>
          <p:nvPr/>
        </p:nvCxnSpPr>
        <p:spPr>
          <a:xfrm flipH="1">
            <a:off x="3479548" y="2873692"/>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線單箭頭接點 117">
            <a:extLst>
              <a:ext uri="{FF2B5EF4-FFF2-40B4-BE49-F238E27FC236}">
                <a16:creationId xmlns:a16="http://schemas.microsoft.com/office/drawing/2014/main" id="{C7BCE5E3-C195-4544-B617-67CE80B161EF}"/>
              </a:ext>
            </a:extLst>
          </p:cNvPr>
          <p:cNvCxnSpPr>
            <a:cxnSpLocks/>
          </p:cNvCxnSpPr>
          <p:nvPr/>
        </p:nvCxnSpPr>
        <p:spPr>
          <a:xfrm flipH="1">
            <a:off x="4230499" y="2873692"/>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a:extLst>
              <a:ext uri="{FF2B5EF4-FFF2-40B4-BE49-F238E27FC236}">
                <a16:creationId xmlns:a16="http://schemas.microsoft.com/office/drawing/2014/main" id="{AE2A4825-0252-48B6-A2AA-FFC2A81B6672}"/>
              </a:ext>
            </a:extLst>
          </p:cNvPr>
          <p:cNvCxnSpPr>
            <a:cxnSpLocks/>
          </p:cNvCxnSpPr>
          <p:nvPr/>
        </p:nvCxnSpPr>
        <p:spPr>
          <a:xfrm flipH="1">
            <a:off x="5006850" y="2873692"/>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900CDF58-90AC-4429-804F-9AF9AC39DAFF}"/>
              </a:ext>
            </a:extLst>
          </p:cNvPr>
          <p:cNvCxnSpPr>
            <a:cxnSpLocks/>
          </p:cNvCxnSpPr>
          <p:nvPr/>
        </p:nvCxnSpPr>
        <p:spPr>
          <a:xfrm flipH="1">
            <a:off x="5770501" y="2873692"/>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線單箭頭接點 121">
            <a:extLst>
              <a:ext uri="{FF2B5EF4-FFF2-40B4-BE49-F238E27FC236}">
                <a16:creationId xmlns:a16="http://schemas.microsoft.com/office/drawing/2014/main" id="{5B9E76B4-2C33-4820-AB40-3D7B799E9191}"/>
              </a:ext>
            </a:extLst>
          </p:cNvPr>
          <p:cNvCxnSpPr>
            <a:cxnSpLocks/>
          </p:cNvCxnSpPr>
          <p:nvPr/>
        </p:nvCxnSpPr>
        <p:spPr>
          <a:xfrm flipH="1">
            <a:off x="7285267" y="2883217"/>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a:extLst>
              <a:ext uri="{FF2B5EF4-FFF2-40B4-BE49-F238E27FC236}">
                <a16:creationId xmlns:a16="http://schemas.microsoft.com/office/drawing/2014/main" id="{979886B9-D5CB-4626-9655-F415867639FC}"/>
              </a:ext>
            </a:extLst>
          </p:cNvPr>
          <p:cNvCxnSpPr>
            <a:cxnSpLocks/>
          </p:cNvCxnSpPr>
          <p:nvPr/>
        </p:nvCxnSpPr>
        <p:spPr>
          <a:xfrm flipH="1">
            <a:off x="8812405" y="2894972"/>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線單箭頭接點 124">
            <a:extLst>
              <a:ext uri="{FF2B5EF4-FFF2-40B4-BE49-F238E27FC236}">
                <a16:creationId xmlns:a16="http://schemas.microsoft.com/office/drawing/2014/main" id="{AFBD7E55-B083-4F04-AA82-BD9868C3546C}"/>
              </a:ext>
            </a:extLst>
          </p:cNvPr>
          <p:cNvCxnSpPr>
            <a:cxnSpLocks/>
          </p:cNvCxnSpPr>
          <p:nvPr/>
        </p:nvCxnSpPr>
        <p:spPr>
          <a:xfrm flipH="1">
            <a:off x="9588757" y="2894972"/>
            <a:ext cx="4620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矩形 125">
            <a:extLst>
              <a:ext uri="{FF2B5EF4-FFF2-40B4-BE49-F238E27FC236}">
                <a16:creationId xmlns:a16="http://schemas.microsoft.com/office/drawing/2014/main" id="{BC61AF1C-7501-4D3D-B87D-20AEF07FB171}"/>
              </a:ext>
            </a:extLst>
          </p:cNvPr>
          <p:cNvSpPr/>
          <p:nvPr/>
        </p:nvSpPr>
        <p:spPr>
          <a:xfrm>
            <a:off x="1661695" y="47086"/>
            <a:ext cx="5599671" cy="1077218"/>
          </a:xfrm>
          <a:prstGeom prst="rect">
            <a:avLst/>
          </a:prstGeom>
        </p:spPr>
        <p:txBody>
          <a:bodyPr wrap="square">
            <a:spAutoFit/>
          </a:bodyPr>
          <a:lstStyle/>
          <a:p>
            <a:pPr defTabSz="457200"/>
            <a:r>
              <a:rPr lang="en-US" altLang="zh-TW" sz="3200" b="1" i="1" u="sng" dirty="0">
                <a:solidFill>
                  <a:prstClr val="black"/>
                </a:solidFill>
                <a:latin typeface="Calibri" panose="020F0502020204030204"/>
                <a:ea typeface="新細明體" panose="02020500000000000000" pitchFamily="18" charset="-120"/>
              </a:rPr>
              <a:t>Joint Learning of Segmentation </a:t>
            </a:r>
          </a:p>
          <a:p>
            <a:pPr defTabSz="457200"/>
            <a:r>
              <a:rPr lang="en-US" altLang="zh-TW" sz="3200" b="1" i="1" u="sng" dirty="0">
                <a:solidFill>
                  <a:prstClr val="black"/>
                </a:solidFill>
                <a:latin typeface="Calibri" panose="020F0502020204030204"/>
                <a:ea typeface="新細明體" panose="02020500000000000000" pitchFamily="18" charset="-120"/>
              </a:rPr>
              <a:t>and Seq2seq Auto-encoder</a:t>
            </a:r>
            <a:endParaRPr lang="zh-TW" altLang="en-US" sz="3200" b="1" i="1" u="sng" dirty="0">
              <a:solidFill>
                <a:prstClr val="black"/>
              </a:solidFill>
              <a:latin typeface="Calibri" panose="020F0502020204030204"/>
              <a:ea typeface="新細明體" panose="02020500000000000000" pitchFamily="18" charset="-120"/>
            </a:endParaRPr>
          </a:p>
        </p:txBody>
      </p:sp>
      <p:sp>
        <p:nvSpPr>
          <p:cNvPr id="127" name="文字方塊 126">
            <a:extLst>
              <a:ext uri="{FF2B5EF4-FFF2-40B4-BE49-F238E27FC236}">
                <a16:creationId xmlns:a16="http://schemas.microsoft.com/office/drawing/2014/main" id="{41F95BA1-2580-4A71-893E-ED9489B14EC3}"/>
              </a:ext>
            </a:extLst>
          </p:cNvPr>
          <p:cNvSpPr txBox="1"/>
          <p:nvPr/>
        </p:nvSpPr>
        <p:spPr>
          <a:xfrm>
            <a:off x="3320307" y="6206835"/>
            <a:ext cx="3062515"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audio segment x</a:t>
            </a:r>
            <a:endParaRPr lang="zh-TW" altLang="en-US" sz="2400" dirty="0">
              <a:solidFill>
                <a:prstClr val="black"/>
              </a:solidFill>
              <a:latin typeface="Calibri" panose="020F0502020204030204"/>
              <a:ea typeface="新細明體" panose="02020500000000000000" pitchFamily="18" charset="-120"/>
            </a:endParaRPr>
          </a:p>
        </p:txBody>
      </p:sp>
      <p:sp>
        <p:nvSpPr>
          <p:cNvPr id="128" name="右大括弧 127">
            <a:extLst>
              <a:ext uri="{FF2B5EF4-FFF2-40B4-BE49-F238E27FC236}">
                <a16:creationId xmlns:a16="http://schemas.microsoft.com/office/drawing/2014/main" id="{8B767413-6778-4714-9F00-541838872C53}"/>
              </a:ext>
            </a:extLst>
          </p:cNvPr>
          <p:cNvSpPr/>
          <p:nvPr/>
        </p:nvSpPr>
        <p:spPr>
          <a:xfrm rot="5400000">
            <a:off x="4752286" y="4277939"/>
            <a:ext cx="198556" cy="3518010"/>
          </a:xfrm>
          <a:prstGeom prst="rightBrace">
            <a:avLst>
              <a:gd name="adj1" fmla="val 47403"/>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zh-TW" altLang="en-US">
              <a:solidFill>
                <a:prstClr val="black"/>
              </a:solidFill>
              <a:latin typeface="Calibri" panose="020F0502020204030204"/>
              <a:ea typeface="新細明體" panose="02020500000000000000" pitchFamily="18" charset="-120"/>
            </a:endParaRPr>
          </a:p>
        </p:txBody>
      </p:sp>
      <p:sp>
        <p:nvSpPr>
          <p:cNvPr id="129" name="文字方塊 128">
            <a:extLst>
              <a:ext uri="{FF2B5EF4-FFF2-40B4-BE49-F238E27FC236}">
                <a16:creationId xmlns:a16="http://schemas.microsoft.com/office/drawing/2014/main" id="{C71385A1-35BC-45E2-906B-20A9E1E4F3A5}"/>
              </a:ext>
            </a:extLst>
          </p:cNvPr>
          <p:cNvSpPr txBox="1"/>
          <p:nvPr/>
        </p:nvSpPr>
        <p:spPr>
          <a:xfrm>
            <a:off x="3606111" y="3577577"/>
            <a:ext cx="3062515"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embedding for x</a:t>
            </a:r>
            <a:endParaRPr lang="zh-TW" altLang="en-US" sz="2400" dirty="0">
              <a:solidFill>
                <a:prstClr val="black"/>
              </a:solidFill>
              <a:latin typeface="Calibri" panose="020F0502020204030204"/>
              <a:ea typeface="新細明體" panose="02020500000000000000" pitchFamily="18" charset="-120"/>
            </a:endParaRPr>
          </a:p>
        </p:txBody>
      </p:sp>
      <p:sp>
        <p:nvSpPr>
          <p:cNvPr id="130" name="文字方塊 129">
            <a:extLst>
              <a:ext uri="{FF2B5EF4-FFF2-40B4-BE49-F238E27FC236}">
                <a16:creationId xmlns:a16="http://schemas.microsoft.com/office/drawing/2014/main" id="{8981F6A9-1913-45B2-B27D-9986D84F12C7}"/>
              </a:ext>
            </a:extLst>
          </p:cNvPr>
          <p:cNvSpPr txBox="1"/>
          <p:nvPr/>
        </p:nvSpPr>
        <p:spPr>
          <a:xfrm>
            <a:off x="3552228" y="1093807"/>
            <a:ext cx="6349186" cy="461665"/>
          </a:xfrm>
          <a:prstGeom prst="rect">
            <a:avLst/>
          </a:prstGeom>
          <a:noFill/>
        </p:spPr>
        <p:txBody>
          <a:bodyPr wrap="square" rtlCol="0">
            <a:spAutoFit/>
          </a:bodyPr>
          <a:lstStyle/>
          <a:p>
            <a:pPr algn="ctr" defTabSz="457200"/>
            <a:r>
              <a:rPr lang="en-US" altLang="zh-TW" sz="2400" dirty="0"/>
              <a:t>LSTM</a:t>
            </a:r>
            <a:r>
              <a:rPr lang="en-US" altLang="zh-TW" sz="2400" dirty="0">
                <a:solidFill>
                  <a:prstClr val="black"/>
                </a:solidFill>
                <a:latin typeface="Calibri" panose="020F0502020204030204"/>
                <a:ea typeface="新細明體" panose="02020500000000000000" pitchFamily="18" charset="-120"/>
              </a:rPr>
              <a:t> decoder reconstructs the input utterance</a:t>
            </a:r>
            <a:endParaRPr lang="zh-TW" altLang="en-US" sz="2400" dirty="0">
              <a:solidFill>
                <a:prstClr val="black"/>
              </a:solidFill>
              <a:latin typeface="Calibri" panose="020F0502020204030204"/>
              <a:ea typeface="新細明體" panose="02020500000000000000" pitchFamily="18" charset="-120"/>
            </a:endParaRPr>
          </a:p>
        </p:txBody>
      </p:sp>
      <p:sp>
        <p:nvSpPr>
          <p:cNvPr id="135" name="右大括弧 134">
            <a:extLst>
              <a:ext uri="{FF2B5EF4-FFF2-40B4-BE49-F238E27FC236}">
                <a16:creationId xmlns:a16="http://schemas.microsoft.com/office/drawing/2014/main" id="{C2ACD84E-2D01-4549-AEA7-0DC2E8BD3644}"/>
              </a:ext>
            </a:extLst>
          </p:cNvPr>
          <p:cNvSpPr/>
          <p:nvPr/>
        </p:nvSpPr>
        <p:spPr>
          <a:xfrm rot="16200000" flipV="1">
            <a:off x="6630957" y="-1850888"/>
            <a:ext cx="185941" cy="7175767"/>
          </a:xfrm>
          <a:prstGeom prst="rightBrace">
            <a:avLst>
              <a:gd name="adj1" fmla="val 47403"/>
              <a:gd name="adj2" fmla="val 50000"/>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zh-TW" altLang="en-US">
              <a:solidFill>
                <a:prstClr val="black"/>
              </a:solidFill>
              <a:latin typeface="Calibri" panose="020F0502020204030204"/>
              <a:ea typeface="新細明體" panose="02020500000000000000" pitchFamily="18" charset="-120"/>
            </a:endParaRPr>
          </a:p>
        </p:txBody>
      </p:sp>
      <p:cxnSp>
        <p:nvCxnSpPr>
          <p:cNvPr id="111" name="直線接點 110">
            <a:extLst>
              <a:ext uri="{FF2B5EF4-FFF2-40B4-BE49-F238E27FC236}">
                <a16:creationId xmlns:a16="http://schemas.microsoft.com/office/drawing/2014/main" id="{3F1D5DB8-C451-481B-A7B3-69EC42531870}"/>
              </a:ext>
            </a:extLst>
          </p:cNvPr>
          <p:cNvCxnSpPr>
            <a:cxnSpLocks/>
          </p:cNvCxnSpPr>
          <p:nvPr/>
        </p:nvCxnSpPr>
        <p:spPr>
          <a:xfrm>
            <a:off x="6632902" y="4626297"/>
            <a:ext cx="268787" cy="46552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2" name="直線接點 111">
            <a:extLst>
              <a:ext uri="{FF2B5EF4-FFF2-40B4-BE49-F238E27FC236}">
                <a16:creationId xmlns:a16="http://schemas.microsoft.com/office/drawing/2014/main" id="{A378EAB9-B5A9-4620-9E26-951EDAB31DBA}"/>
              </a:ext>
            </a:extLst>
          </p:cNvPr>
          <p:cNvCxnSpPr>
            <a:cxnSpLocks/>
          </p:cNvCxnSpPr>
          <p:nvPr/>
        </p:nvCxnSpPr>
        <p:spPr>
          <a:xfrm>
            <a:off x="8199564" y="4589067"/>
            <a:ext cx="268787" cy="46552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文字方塊 1">
            <a:extLst>
              <a:ext uri="{FF2B5EF4-FFF2-40B4-BE49-F238E27FC236}">
                <a16:creationId xmlns:a16="http://schemas.microsoft.com/office/drawing/2014/main" id="{8DC2A23A-82C9-35C9-FE40-AC9963469FEA}"/>
              </a:ext>
            </a:extLst>
          </p:cNvPr>
          <p:cNvSpPr txBox="1"/>
          <p:nvPr/>
        </p:nvSpPr>
        <p:spPr>
          <a:xfrm>
            <a:off x="7905562" y="133949"/>
            <a:ext cx="4162351" cy="1015663"/>
          </a:xfrm>
          <a:prstGeom prst="rect">
            <a:avLst/>
          </a:prstGeom>
          <a:noFill/>
        </p:spPr>
        <p:txBody>
          <a:bodyPr wrap="square">
            <a:spAutoFit/>
          </a:bodyPr>
          <a:lstStyle/>
          <a:p>
            <a:pPr algn="r"/>
            <a:r>
              <a:rPr lang="en-US" altLang="zh-TW" sz="2400" dirty="0"/>
              <a:t>Segmental Audio Word2Vector </a:t>
            </a:r>
            <a:r>
              <a:rPr lang="zh-TW" altLang="en-US" dirty="0"/>
              <a:t>https://arxiv.org/abs/1808.02228</a:t>
            </a:r>
            <a:endParaRPr lang="en-US" altLang="zh-TW" dirty="0"/>
          </a:p>
          <a:p>
            <a:pPr algn="r"/>
            <a:r>
              <a:rPr lang="en-US" altLang="zh-TW" dirty="0"/>
              <a:t>This work is done by </a:t>
            </a:r>
            <a:r>
              <a:rPr lang="zh-TW" altLang="en-US" dirty="0"/>
              <a:t>王育軒</a:t>
            </a:r>
          </a:p>
        </p:txBody>
      </p:sp>
      <p:cxnSp>
        <p:nvCxnSpPr>
          <p:cNvPr id="3" name="直線單箭頭接點 2">
            <a:extLst>
              <a:ext uri="{FF2B5EF4-FFF2-40B4-BE49-F238E27FC236}">
                <a16:creationId xmlns:a16="http://schemas.microsoft.com/office/drawing/2014/main" id="{B9DD022D-740A-0C03-F508-5DFAF4F8971D}"/>
              </a:ext>
            </a:extLst>
          </p:cNvPr>
          <p:cNvCxnSpPr>
            <a:cxnSpLocks/>
          </p:cNvCxnSpPr>
          <p:nvPr/>
        </p:nvCxnSpPr>
        <p:spPr>
          <a:xfrm>
            <a:off x="1039395" y="2020798"/>
            <a:ext cx="1841828" cy="0"/>
          </a:xfrm>
          <a:prstGeom prst="straightConnector1">
            <a:avLst/>
          </a:prstGeom>
          <a:ln w="381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2" name="直線單箭頭接點 11">
            <a:extLst>
              <a:ext uri="{FF2B5EF4-FFF2-40B4-BE49-F238E27FC236}">
                <a16:creationId xmlns:a16="http://schemas.microsoft.com/office/drawing/2014/main" id="{BE4D1C80-2FA5-3CE2-BA7A-23A0B53717C6}"/>
              </a:ext>
            </a:extLst>
          </p:cNvPr>
          <p:cNvCxnSpPr>
            <a:cxnSpLocks/>
          </p:cNvCxnSpPr>
          <p:nvPr/>
        </p:nvCxnSpPr>
        <p:spPr>
          <a:xfrm>
            <a:off x="1039395" y="5713379"/>
            <a:ext cx="1841828" cy="0"/>
          </a:xfrm>
          <a:prstGeom prst="straightConnector1">
            <a:avLst/>
          </a:prstGeom>
          <a:ln w="381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3" name="直線單箭頭接點 12">
            <a:extLst>
              <a:ext uri="{FF2B5EF4-FFF2-40B4-BE49-F238E27FC236}">
                <a16:creationId xmlns:a16="http://schemas.microsoft.com/office/drawing/2014/main" id="{B980F5BF-EA82-59CE-8B50-422D03485707}"/>
              </a:ext>
            </a:extLst>
          </p:cNvPr>
          <p:cNvCxnSpPr>
            <a:cxnSpLocks/>
          </p:cNvCxnSpPr>
          <p:nvPr/>
        </p:nvCxnSpPr>
        <p:spPr>
          <a:xfrm>
            <a:off x="1033045" y="2020798"/>
            <a:ext cx="0" cy="3741647"/>
          </a:xfrm>
          <a:prstGeom prst="straightConnector1">
            <a:avLst/>
          </a:prstGeom>
          <a:ln w="38100">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951855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2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2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100" grpId="0"/>
      <p:bldP spid="130" grpId="0"/>
      <p:bldP spid="13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70F49F5-CF14-4C89-859E-B7C7C15152D4}"/>
              </a:ext>
            </a:extLst>
          </p:cNvPr>
          <p:cNvSpPr/>
          <p:nvPr/>
        </p:nvSpPr>
        <p:spPr>
          <a:xfrm>
            <a:off x="1661695" y="47086"/>
            <a:ext cx="5599671" cy="1077218"/>
          </a:xfrm>
          <a:prstGeom prst="rect">
            <a:avLst/>
          </a:prstGeom>
        </p:spPr>
        <p:txBody>
          <a:bodyPr wrap="square">
            <a:spAutoFit/>
          </a:bodyPr>
          <a:lstStyle/>
          <a:p>
            <a:pPr defTabSz="457200"/>
            <a:r>
              <a:rPr lang="en-US" altLang="zh-TW" sz="3200" b="1" i="1" u="sng" dirty="0">
                <a:solidFill>
                  <a:prstClr val="black"/>
                </a:solidFill>
                <a:latin typeface="Calibri" panose="020F0502020204030204"/>
                <a:ea typeface="新細明體" panose="02020500000000000000" pitchFamily="18" charset="-120"/>
              </a:rPr>
              <a:t>Joint Learning of Segmentation </a:t>
            </a:r>
          </a:p>
          <a:p>
            <a:pPr defTabSz="457200"/>
            <a:r>
              <a:rPr lang="en-US" altLang="zh-TW" sz="3200" b="1" i="1" u="sng" dirty="0">
                <a:solidFill>
                  <a:prstClr val="black"/>
                </a:solidFill>
                <a:latin typeface="Calibri" panose="020F0502020204030204"/>
                <a:ea typeface="新細明體" panose="02020500000000000000" pitchFamily="18" charset="-120"/>
              </a:rPr>
              <a:t>and Seq2seq Auto-encoder</a:t>
            </a:r>
            <a:endParaRPr lang="zh-TW" altLang="en-US" sz="3200" b="1" i="1" u="sng" dirty="0">
              <a:solidFill>
                <a:prstClr val="black"/>
              </a:solidFill>
              <a:latin typeface="Calibri" panose="020F0502020204030204"/>
              <a:ea typeface="新細明體" panose="02020500000000000000" pitchFamily="18" charset="-120"/>
            </a:endParaRPr>
          </a:p>
        </p:txBody>
      </p:sp>
      <p:pic>
        <p:nvPicPr>
          <p:cNvPr id="5" name="圖片 4">
            <a:extLst>
              <a:ext uri="{FF2B5EF4-FFF2-40B4-BE49-F238E27FC236}">
                <a16:creationId xmlns:a16="http://schemas.microsoft.com/office/drawing/2014/main" id="{A9AC6861-35D9-46E2-83F7-E3F8963E42A1}"/>
              </a:ext>
            </a:extLst>
          </p:cNvPr>
          <p:cNvPicPr>
            <a:picLocks noChangeAspect="1"/>
          </p:cNvPicPr>
          <p:nvPr/>
        </p:nvPicPr>
        <p:blipFill>
          <a:blip r:embed="rId2"/>
          <a:stretch>
            <a:fillRect/>
          </a:stretch>
        </p:blipFill>
        <p:spPr>
          <a:xfrm>
            <a:off x="5361669" y="3387952"/>
            <a:ext cx="5030561" cy="3366606"/>
          </a:xfrm>
          <a:prstGeom prst="rect">
            <a:avLst/>
          </a:prstGeom>
        </p:spPr>
      </p:pic>
      <p:sp>
        <p:nvSpPr>
          <p:cNvPr id="3" name="內容版面配置區 2">
            <a:extLst>
              <a:ext uri="{FF2B5EF4-FFF2-40B4-BE49-F238E27FC236}">
                <a16:creationId xmlns:a16="http://schemas.microsoft.com/office/drawing/2014/main" id="{88610336-8785-4988-B2D2-EA954CB2B9C1}"/>
              </a:ext>
            </a:extLst>
          </p:cNvPr>
          <p:cNvSpPr>
            <a:spLocks noGrp="1"/>
          </p:cNvSpPr>
          <p:nvPr>
            <p:ph idx="1"/>
          </p:nvPr>
        </p:nvSpPr>
        <p:spPr>
          <a:xfrm>
            <a:off x="2152650" y="1317625"/>
            <a:ext cx="7886700" cy="4351338"/>
          </a:xfrm>
        </p:spPr>
        <p:txBody>
          <a:bodyPr>
            <a:normAutofit/>
          </a:bodyPr>
          <a:lstStyle/>
          <a:p>
            <a:r>
              <a:rPr lang="en-US" altLang="zh-TW" sz="2400" dirty="0"/>
              <a:t>The learning criterion of LSTM encoder and decoder is the weighted sum of the following two terms. </a:t>
            </a:r>
          </a:p>
          <a:p>
            <a:pPr lvl="1"/>
            <a:r>
              <a:rPr lang="en-US" altLang="zh-TW" dirty="0">
                <a:solidFill>
                  <a:srgbClr val="0000FF"/>
                </a:solidFill>
              </a:rPr>
              <a:t>1. Minimizing Reconstruction error</a:t>
            </a:r>
          </a:p>
          <a:p>
            <a:pPr lvl="1"/>
            <a:r>
              <a:rPr lang="en-US" altLang="zh-TW" dirty="0">
                <a:solidFill>
                  <a:srgbClr val="FF0000"/>
                </a:solidFill>
              </a:rPr>
              <a:t>2. Minimizing the number of segments, that is the number of output embedding</a:t>
            </a:r>
          </a:p>
        </p:txBody>
      </p:sp>
      <p:sp>
        <p:nvSpPr>
          <p:cNvPr id="6" name="文字方塊 5">
            <a:extLst>
              <a:ext uri="{FF2B5EF4-FFF2-40B4-BE49-F238E27FC236}">
                <a16:creationId xmlns:a16="http://schemas.microsoft.com/office/drawing/2014/main" id="{1BC17958-E779-4F4B-A41F-CA51A5C27CFE}"/>
              </a:ext>
            </a:extLst>
          </p:cNvPr>
          <p:cNvSpPr txBox="1"/>
          <p:nvPr/>
        </p:nvSpPr>
        <p:spPr>
          <a:xfrm>
            <a:off x="2152650" y="3518582"/>
            <a:ext cx="3695246" cy="830997"/>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The </a:t>
            </a:r>
            <a:r>
              <a:rPr lang="en-US" altLang="zh-TW" sz="2400" dirty="0">
                <a:solidFill>
                  <a:srgbClr val="FF0000"/>
                </a:solidFill>
                <a:latin typeface="Calibri" panose="020F0502020204030204"/>
                <a:ea typeface="新細明體" panose="02020500000000000000" pitchFamily="18" charset="-120"/>
              </a:rPr>
              <a:t>second term </a:t>
            </a:r>
            <a:r>
              <a:rPr lang="en-US" altLang="zh-TW" sz="2400" dirty="0">
                <a:solidFill>
                  <a:prstClr val="black"/>
                </a:solidFill>
                <a:latin typeface="Calibri" panose="020F0502020204030204"/>
                <a:ea typeface="新細明體" panose="02020500000000000000" pitchFamily="18" charset="-120"/>
              </a:rPr>
              <a:t>is necessary. </a:t>
            </a:r>
            <a:endParaRPr lang="zh-TW" altLang="en-US" sz="2400" dirty="0">
              <a:solidFill>
                <a:prstClr val="black"/>
              </a:solidFill>
              <a:latin typeface="Calibri" panose="020F0502020204030204"/>
              <a:ea typeface="新細明體" panose="02020500000000000000" pitchFamily="18" charset="-120"/>
            </a:endParaRPr>
          </a:p>
        </p:txBody>
      </p:sp>
      <p:sp>
        <p:nvSpPr>
          <p:cNvPr id="7" name="文字方塊 6">
            <a:extLst>
              <a:ext uri="{FF2B5EF4-FFF2-40B4-BE49-F238E27FC236}">
                <a16:creationId xmlns:a16="http://schemas.microsoft.com/office/drawing/2014/main" id="{E72A75B8-26CA-40AF-A4EB-EBC53B11F1CE}"/>
              </a:ext>
            </a:extLst>
          </p:cNvPr>
          <p:cNvSpPr txBox="1"/>
          <p:nvPr/>
        </p:nvSpPr>
        <p:spPr>
          <a:xfrm>
            <a:off x="2152650" y="4409655"/>
            <a:ext cx="3149600" cy="830997"/>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If we only </a:t>
            </a:r>
            <a:r>
              <a:rPr lang="en-US" altLang="zh-TW" sz="2400" dirty="0">
                <a:solidFill>
                  <a:srgbClr val="0000FF"/>
                </a:solidFill>
                <a:latin typeface="Calibri" panose="020F0502020204030204"/>
                <a:ea typeface="新細明體" panose="02020500000000000000" pitchFamily="18" charset="-120"/>
              </a:rPr>
              <a:t>minimize reconstruction error</a:t>
            </a:r>
            <a:r>
              <a:rPr lang="en-US" altLang="zh-TW" sz="2400" dirty="0">
                <a:solidFill>
                  <a:prstClr val="black"/>
                </a:solidFill>
                <a:latin typeface="Calibri" panose="020F0502020204030204"/>
                <a:ea typeface="新細明體" panose="02020500000000000000" pitchFamily="18" charset="-120"/>
              </a:rPr>
              <a:t>,</a:t>
            </a:r>
            <a:endParaRPr lang="zh-TW" altLang="en-US" sz="2400" dirty="0">
              <a:solidFill>
                <a:prstClr val="black"/>
              </a:solidFill>
              <a:latin typeface="Calibri" panose="020F0502020204030204"/>
              <a:ea typeface="新細明體" panose="02020500000000000000" pitchFamily="18" charset="-120"/>
            </a:endParaRPr>
          </a:p>
        </p:txBody>
      </p:sp>
      <p:sp>
        <p:nvSpPr>
          <p:cNvPr id="8" name="文字方塊 7">
            <a:extLst>
              <a:ext uri="{FF2B5EF4-FFF2-40B4-BE49-F238E27FC236}">
                <a16:creationId xmlns:a16="http://schemas.microsoft.com/office/drawing/2014/main" id="{436ADFB6-D4F4-49BB-8333-500318998AF0}"/>
              </a:ext>
            </a:extLst>
          </p:cNvPr>
          <p:cNvSpPr txBox="1"/>
          <p:nvPr/>
        </p:nvSpPr>
        <p:spPr>
          <a:xfrm>
            <a:off x="2425473" y="5300728"/>
            <a:ext cx="3149600" cy="1200329"/>
          </a:xfrm>
          <a:prstGeom prst="rect">
            <a:avLst/>
          </a:prstGeom>
          <a:noFill/>
        </p:spPr>
        <p:txBody>
          <a:bodyPr wrap="square" rtlCol="0">
            <a:spAutoFit/>
          </a:bodyPr>
          <a:lstStyle/>
          <a:p>
            <a:pPr defTabSz="457200"/>
            <a:r>
              <a:rPr lang="en-US" altLang="zh-TW" sz="2400" dirty="0"/>
              <a:t>LSTM</a:t>
            </a:r>
            <a:r>
              <a:rPr lang="en-US" altLang="zh-TW" sz="2400" dirty="0">
                <a:solidFill>
                  <a:prstClr val="black"/>
                </a:solidFill>
                <a:latin typeface="Calibri" panose="020F0502020204030204"/>
                <a:ea typeface="新細明體" panose="02020500000000000000" pitchFamily="18" charset="-120"/>
              </a:rPr>
              <a:t> encoder would output embedding at all of the time steps. </a:t>
            </a:r>
            <a:endParaRPr lang="zh-TW" altLang="en-US" sz="2400" dirty="0">
              <a:solidFill>
                <a:prstClr val="black"/>
              </a:solidFill>
              <a:latin typeface="Calibri" panose="020F0502020204030204"/>
              <a:ea typeface="新細明體" panose="02020500000000000000" pitchFamily="18" charset="-120"/>
            </a:endParaRPr>
          </a:p>
        </p:txBody>
      </p:sp>
      <p:sp>
        <p:nvSpPr>
          <p:cNvPr id="2" name="文字方塊 1">
            <a:extLst>
              <a:ext uri="{FF2B5EF4-FFF2-40B4-BE49-F238E27FC236}">
                <a16:creationId xmlns:a16="http://schemas.microsoft.com/office/drawing/2014/main" id="{32C817B1-83CA-AF78-9EE0-0484DDB55FB1}"/>
              </a:ext>
            </a:extLst>
          </p:cNvPr>
          <p:cNvSpPr txBox="1"/>
          <p:nvPr/>
        </p:nvSpPr>
        <p:spPr>
          <a:xfrm>
            <a:off x="7905562" y="133949"/>
            <a:ext cx="4162351" cy="1015663"/>
          </a:xfrm>
          <a:prstGeom prst="rect">
            <a:avLst/>
          </a:prstGeom>
          <a:noFill/>
        </p:spPr>
        <p:txBody>
          <a:bodyPr wrap="square">
            <a:spAutoFit/>
          </a:bodyPr>
          <a:lstStyle/>
          <a:p>
            <a:pPr algn="r"/>
            <a:r>
              <a:rPr lang="en-US" altLang="zh-TW" sz="2400" dirty="0"/>
              <a:t>Segmental Audio Word2Vector </a:t>
            </a:r>
            <a:r>
              <a:rPr lang="zh-TW" altLang="en-US" dirty="0"/>
              <a:t>https://arxiv.org/abs/1808.02228</a:t>
            </a:r>
            <a:endParaRPr lang="en-US" altLang="zh-TW" dirty="0"/>
          </a:p>
          <a:p>
            <a:pPr algn="r"/>
            <a:r>
              <a:rPr lang="en-US" altLang="zh-TW" dirty="0"/>
              <a:t>This work is done by </a:t>
            </a:r>
            <a:r>
              <a:rPr lang="zh-TW" altLang="en-US" dirty="0"/>
              <a:t>王育軒</a:t>
            </a:r>
          </a:p>
        </p:txBody>
      </p:sp>
    </p:spTree>
    <p:extLst>
      <p:ext uri="{BB962C8B-B14F-4D97-AF65-F5344CB8AC3E}">
        <p14:creationId xmlns:p14="http://schemas.microsoft.com/office/powerpoint/2010/main" val="13537733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DDBA3-90F1-58C7-223F-AED891B2EEF2}"/>
            </a:ext>
          </a:extLst>
        </p:cNvPr>
        <p:cNvGrpSpPr/>
        <p:nvPr/>
      </p:nvGrpSpPr>
      <p:grpSpPr>
        <a:xfrm>
          <a:off x="0" y="0"/>
          <a:ext cx="0" cy="0"/>
          <a:chOff x="0" y="0"/>
          <a:chExt cx="0" cy="0"/>
        </a:xfrm>
      </p:grpSpPr>
      <p:sp>
        <p:nvSpPr>
          <p:cNvPr id="33" name="Google Shape;1416;p118">
            <a:extLst>
              <a:ext uri="{FF2B5EF4-FFF2-40B4-BE49-F238E27FC236}">
                <a16:creationId xmlns:a16="http://schemas.microsoft.com/office/drawing/2014/main" id="{BACF9A3A-E557-F585-BA2A-F7C8F76D26D9}"/>
              </a:ext>
            </a:extLst>
          </p:cNvPr>
          <p:cNvSpPr/>
          <p:nvPr/>
        </p:nvSpPr>
        <p:spPr>
          <a:xfrm>
            <a:off x="5111329" y="533541"/>
            <a:ext cx="2392429" cy="842141"/>
          </a:xfrm>
          <a:prstGeom prst="roundRect">
            <a:avLst>
              <a:gd name="adj" fmla="val 16667"/>
            </a:avLst>
          </a:prstGeom>
          <a:ln w="57150">
            <a:solidFill>
              <a:srgbClr val="00B050"/>
            </a:solidFill>
            <a:headEnd type="none" w="sm" len="sm"/>
            <a:tailEnd type="none" w="sm" len="sm"/>
          </a:ln>
        </p:spPr>
        <p:style>
          <a:lnRef idx="1">
            <a:schemeClr val="accent6"/>
          </a:lnRef>
          <a:fillRef idx="2">
            <a:schemeClr val="accent6"/>
          </a:fillRef>
          <a:effectRef idx="1">
            <a:schemeClr val="accent6"/>
          </a:effectRef>
          <a:fontRef idx="minor">
            <a:schemeClr val="dk1"/>
          </a:fontRef>
        </p:style>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800"/>
              <a:buFontTx/>
              <a:buNone/>
              <a:tabLst/>
              <a:defRPr/>
            </a:pPr>
            <a:r>
              <a:rPr kumimoji="0" lang="en" sz="2400" b="0" i="0" u="none" strike="noStrike" kern="0" cap="none" spc="0" normalizeH="0" baseline="0" noProof="0" dirty="0">
                <a:ln>
                  <a:noFill/>
                </a:ln>
                <a:solidFill>
                  <a:srgbClr val="000000"/>
                </a:solidFill>
                <a:effectLst/>
                <a:uLnTx/>
                <a:uFillTx/>
                <a:latin typeface="Calibri"/>
                <a:ea typeface="Calibri"/>
                <a:cs typeface="Calibri"/>
                <a:sym typeface="Calibri"/>
              </a:rPr>
              <a:t>Discriminator</a:t>
            </a:r>
            <a:endParaRPr kumimoji="0"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cxnSp>
        <p:nvCxnSpPr>
          <p:cNvPr id="35" name="直線單箭頭接點 34">
            <a:extLst>
              <a:ext uri="{FF2B5EF4-FFF2-40B4-BE49-F238E27FC236}">
                <a16:creationId xmlns:a16="http://schemas.microsoft.com/office/drawing/2014/main" id="{38A99FEF-FDB2-41AE-55F1-A359CF00421F}"/>
              </a:ext>
            </a:extLst>
          </p:cNvPr>
          <p:cNvCxnSpPr>
            <a:cxnSpLocks/>
          </p:cNvCxnSpPr>
          <p:nvPr/>
        </p:nvCxnSpPr>
        <p:spPr>
          <a:xfrm flipV="1">
            <a:off x="4706330" y="1375683"/>
            <a:ext cx="1081913" cy="451825"/>
          </a:xfrm>
          <a:prstGeom prst="straightConnector1">
            <a:avLst/>
          </a:prstGeom>
          <a:ln w="571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FEB80460-4A6B-1E87-3567-AD4C6C50E0FA}"/>
              </a:ext>
            </a:extLst>
          </p:cNvPr>
          <p:cNvCxnSpPr>
            <a:cxnSpLocks/>
          </p:cNvCxnSpPr>
          <p:nvPr/>
        </p:nvCxnSpPr>
        <p:spPr>
          <a:xfrm flipH="1" flipV="1">
            <a:off x="6913799" y="1372883"/>
            <a:ext cx="1647281" cy="578271"/>
          </a:xfrm>
          <a:prstGeom prst="straightConnector1">
            <a:avLst/>
          </a:prstGeom>
          <a:ln w="571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1EF42011-A389-2B6C-15DA-08585BF724A9}"/>
              </a:ext>
            </a:extLst>
          </p:cNvPr>
          <p:cNvCxnSpPr>
            <a:cxnSpLocks/>
          </p:cNvCxnSpPr>
          <p:nvPr/>
        </p:nvCxnSpPr>
        <p:spPr>
          <a:xfrm>
            <a:off x="7583002" y="935259"/>
            <a:ext cx="480000" cy="0"/>
          </a:xfrm>
          <a:prstGeom prst="straightConnector1">
            <a:avLst/>
          </a:prstGeom>
          <a:ln w="571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8" name="文字方塊 37">
            <a:extLst>
              <a:ext uri="{FF2B5EF4-FFF2-40B4-BE49-F238E27FC236}">
                <a16:creationId xmlns:a16="http://schemas.microsoft.com/office/drawing/2014/main" id="{475E4C15-5F49-F88F-8352-D778BB8748F3}"/>
              </a:ext>
            </a:extLst>
          </p:cNvPr>
          <p:cNvSpPr txBox="1"/>
          <p:nvPr/>
        </p:nvSpPr>
        <p:spPr>
          <a:xfrm>
            <a:off x="8182102" y="504545"/>
            <a:ext cx="2503948" cy="830997"/>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altLang="zh-TW" sz="2400" b="0" i="0" u="none" strike="noStrike" kern="0" cap="none" spc="0" normalizeH="0" baseline="0" noProof="0" dirty="0">
                <a:ln>
                  <a:noFill/>
                </a:ln>
                <a:solidFill>
                  <a:srgbClr val="000000"/>
                </a:solidFill>
                <a:effectLst/>
                <a:uLnTx/>
                <a:uFillTx/>
                <a:latin typeface="Calibri" panose="020F0502020204030204"/>
                <a:ea typeface="新細明體" panose="02020500000000000000" pitchFamily="18" charset="-120"/>
                <a:cs typeface="Arial"/>
                <a:sym typeface="Arial"/>
              </a:rPr>
              <a:t>Generated or real text?</a:t>
            </a:r>
            <a:endParaRPr kumimoji="0" lang="zh-TW" altLang="en-US" sz="2400" b="0" i="0" u="none" strike="noStrike" kern="0" cap="none" spc="0" normalizeH="0" baseline="0" noProof="0" dirty="0">
              <a:ln>
                <a:noFill/>
              </a:ln>
              <a:solidFill>
                <a:srgbClr val="000000"/>
              </a:solidFill>
              <a:effectLst/>
              <a:uLnTx/>
              <a:uFillTx/>
              <a:latin typeface="Calibri" panose="020F0502020204030204"/>
              <a:ea typeface="新細明體" panose="02020500000000000000" pitchFamily="18" charset="-120"/>
              <a:cs typeface="Arial"/>
              <a:sym typeface="Arial"/>
            </a:endParaRPr>
          </a:p>
        </p:txBody>
      </p:sp>
      <p:sp>
        <p:nvSpPr>
          <p:cNvPr id="40" name="矩形: 圓角 39">
            <a:extLst>
              <a:ext uri="{FF2B5EF4-FFF2-40B4-BE49-F238E27FC236}">
                <a16:creationId xmlns:a16="http://schemas.microsoft.com/office/drawing/2014/main" id="{FBAF90D8-DEB3-58A7-6908-58A3721C724D}"/>
              </a:ext>
            </a:extLst>
          </p:cNvPr>
          <p:cNvSpPr/>
          <p:nvPr/>
        </p:nvSpPr>
        <p:spPr>
          <a:xfrm>
            <a:off x="1149887" y="273685"/>
            <a:ext cx="9892225" cy="3246743"/>
          </a:xfrm>
          <a:prstGeom prst="round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zh-TW" altLang="en-US" sz="1867"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sym typeface="Arial"/>
            </a:endParaRPr>
          </a:p>
        </p:txBody>
      </p:sp>
      <p:sp>
        <p:nvSpPr>
          <p:cNvPr id="41" name="文字方塊 40">
            <a:extLst>
              <a:ext uri="{FF2B5EF4-FFF2-40B4-BE49-F238E27FC236}">
                <a16:creationId xmlns:a16="http://schemas.microsoft.com/office/drawing/2014/main" id="{F9BCBCF3-758F-5406-45FE-699B00D2F489}"/>
              </a:ext>
            </a:extLst>
          </p:cNvPr>
          <p:cNvSpPr txBox="1"/>
          <p:nvPr/>
        </p:nvSpPr>
        <p:spPr>
          <a:xfrm>
            <a:off x="1178296" y="527478"/>
            <a:ext cx="1599348" cy="666786"/>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zh-TW" sz="3733" b="0" i="1" u="sng" strike="noStrike" kern="0" cap="none" spc="0" normalizeH="0" baseline="0" noProof="0" dirty="0">
                <a:ln>
                  <a:noFill/>
                </a:ln>
                <a:solidFill>
                  <a:srgbClr val="000000"/>
                </a:solidFill>
                <a:effectLst/>
                <a:uLnTx/>
                <a:uFillTx/>
                <a:latin typeface="Calibri" panose="020F0502020204030204" pitchFamily="34" charset="0"/>
                <a:ea typeface="新細明體" panose="02020500000000000000" pitchFamily="18" charset="-120"/>
                <a:cs typeface="Calibri" panose="020F0502020204030204" pitchFamily="34" charset="0"/>
                <a:sym typeface="Arial"/>
              </a:rPr>
              <a:t>GAN</a:t>
            </a:r>
            <a:endParaRPr kumimoji="0" lang="zh-TW" altLang="en-US" sz="3733" b="0" i="1" u="sng" strike="noStrike" kern="0" cap="none" spc="0" normalizeH="0" baseline="0" noProof="0" dirty="0">
              <a:ln>
                <a:noFill/>
              </a:ln>
              <a:solidFill>
                <a:srgbClr val="000000"/>
              </a:solidFill>
              <a:effectLst/>
              <a:uLnTx/>
              <a:uFillTx/>
              <a:latin typeface="Calibri" panose="020F0502020204030204" pitchFamily="34" charset="0"/>
              <a:ea typeface="新細明體" panose="02020500000000000000" pitchFamily="18" charset="-120"/>
              <a:cs typeface="Calibri" panose="020F0502020204030204" pitchFamily="34" charset="0"/>
              <a:sym typeface="Arial"/>
            </a:endParaRPr>
          </a:p>
        </p:txBody>
      </p:sp>
      <p:pic>
        <p:nvPicPr>
          <p:cNvPr id="3" name="Google Shape;1389;p118">
            <a:extLst>
              <a:ext uri="{FF2B5EF4-FFF2-40B4-BE49-F238E27FC236}">
                <a16:creationId xmlns:a16="http://schemas.microsoft.com/office/drawing/2014/main" id="{868ACACA-3A96-DF3B-1BCB-C7E149BAD8B2}"/>
              </a:ext>
            </a:extLst>
          </p:cNvPr>
          <p:cNvPicPr preferRelativeResize="0"/>
          <p:nvPr/>
        </p:nvPicPr>
        <p:blipFill rotWithShape="1">
          <a:blip r:embed="rId3">
            <a:alphaModFix/>
          </a:blip>
          <a:srcRect/>
          <a:stretch/>
        </p:blipFill>
        <p:spPr>
          <a:xfrm>
            <a:off x="3316273" y="5908630"/>
            <a:ext cx="2395360" cy="658100"/>
          </a:xfrm>
          <a:prstGeom prst="rect">
            <a:avLst/>
          </a:prstGeom>
          <a:noFill/>
          <a:ln>
            <a:noFill/>
          </a:ln>
        </p:spPr>
      </p:pic>
      <p:cxnSp>
        <p:nvCxnSpPr>
          <p:cNvPr id="7" name="Google Shape;1392;p118">
            <a:extLst>
              <a:ext uri="{FF2B5EF4-FFF2-40B4-BE49-F238E27FC236}">
                <a16:creationId xmlns:a16="http://schemas.microsoft.com/office/drawing/2014/main" id="{41972938-B964-2257-F893-4578C6C0085A}"/>
              </a:ext>
            </a:extLst>
          </p:cNvPr>
          <p:cNvCxnSpPr/>
          <p:nvPr/>
        </p:nvCxnSpPr>
        <p:spPr>
          <a:xfrm rot="10800000">
            <a:off x="4512434" y="5593542"/>
            <a:ext cx="0" cy="431200"/>
          </a:xfrm>
          <a:prstGeom prst="straightConnector1">
            <a:avLst/>
          </a:prstGeom>
          <a:noFill/>
          <a:ln w="28575" cap="flat" cmpd="sng">
            <a:solidFill>
              <a:srgbClr val="002060"/>
            </a:solidFill>
            <a:prstDash val="solid"/>
            <a:miter lim="800000"/>
            <a:headEnd type="none" w="sm" len="sm"/>
            <a:tailEnd type="triangle" w="med" len="med"/>
          </a:ln>
        </p:spPr>
      </p:cxnSp>
      <p:sp>
        <p:nvSpPr>
          <p:cNvPr id="8" name="Google Shape;1396;p118">
            <a:extLst>
              <a:ext uri="{FF2B5EF4-FFF2-40B4-BE49-F238E27FC236}">
                <a16:creationId xmlns:a16="http://schemas.microsoft.com/office/drawing/2014/main" id="{BAF53FDE-9D9E-D4F4-62D0-5A1899EE265E}"/>
              </a:ext>
            </a:extLst>
          </p:cNvPr>
          <p:cNvSpPr/>
          <p:nvPr/>
        </p:nvSpPr>
        <p:spPr>
          <a:xfrm>
            <a:off x="35250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0" name="Google Shape;1398;p118">
            <a:extLst>
              <a:ext uri="{FF2B5EF4-FFF2-40B4-BE49-F238E27FC236}">
                <a16:creationId xmlns:a16="http://schemas.microsoft.com/office/drawing/2014/main" id="{33A456F8-7882-3E19-2DCD-47375B4F1BFB}"/>
              </a:ext>
            </a:extLst>
          </p:cNvPr>
          <p:cNvSpPr/>
          <p:nvPr/>
        </p:nvSpPr>
        <p:spPr>
          <a:xfrm>
            <a:off x="39822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2" name="Google Shape;1400;p118">
            <a:extLst>
              <a:ext uri="{FF2B5EF4-FFF2-40B4-BE49-F238E27FC236}">
                <a16:creationId xmlns:a16="http://schemas.microsoft.com/office/drawing/2014/main" id="{8A247EFB-7413-662E-33A6-DABF1A008649}"/>
              </a:ext>
            </a:extLst>
          </p:cNvPr>
          <p:cNvSpPr/>
          <p:nvPr/>
        </p:nvSpPr>
        <p:spPr>
          <a:xfrm>
            <a:off x="44394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 name="Google Shape;1402;p118">
            <a:extLst>
              <a:ext uri="{FF2B5EF4-FFF2-40B4-BE49-F238E27FC236}">
                <a16:creationId xmlns:a16="http://schemas.microsoft.com/office/drawing/2014/main" id="{77F70A07-3F57-96CE-D143-76A96BB8FA0B}"/>
              </a:ext>
            </a:extLst>
          </p:cNvPr>
          <p:cNvSpPr/>
          <p:nvPr/>
        </p:nvSpPr>
        <p:spPr>
          <a:xfrm>
            <a:off x="48966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6" name="Google Shape;1404;p118">
            <a:extLst>
              <a:ext uri="{FF2B5EF4-FFF2-40B4-BE49-F238E27FC236}">
                <a16:creationId xmlns:a16="http://schemas.microsoft.com/office/drawing/2014/main" id="{AEFB0E81-6E36-A3B3-AC8B-0C025D0067A7}"/>
              </a:ext>
            </a:extLst>
          </p:cNvPr>
          <p:cNvSpPr/>
          <p:nvPr/>
        </p:nvSpPr>
        <p:spPr>
          <a:xfrm>
            <a:off x="53538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cxnSp>
        <p:nvCxnSpPr>
          <p:cNvPr id="17" name="Google Shape;1413;p118">
            <a:extLst>
              <a:ext uri="{FF2B5EF4-FFF2-40B4-BE49-F238E27FC236}">
                <a16:creationId xmlns:a16="http://schemas.microsoft.com/office/drawing/2014/main" id="{752CB38E-4619-9BAB-2B28-A11E48310DCC}"/>
              </a:ext>
            </a:extLst>
          </p:cNvPr>
          <p:cNvCxnSpPr>
            <a:cxnSpLocks/>
          </p:cNvCxnSpPr>
          <p:nvPr/>
        </p:nvCxnSpPr>
        <p:spPr>
          <a:xfrm rot="10800000">
            <a:off x="4502541" y="4282712"/>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27" name="Google Shape;1414;p118">
            <a:extLst>
              <a:ext uri="{FF2B5EF4-FFF2-40B4-BE49-F238E27FC236}">
                <a16:creationId xmlns:a16="http://schemas.microsoft.com/office/drawing/2014/main" id="{E543F9E7-A18F-7987-11F7-D8F6BA7303A1}"/>
              </a:ext>
            </a:extLst>
          </p:cNvPr>
          <p:cNvCxnSpPr>
            <a:cxnSpLocks/>
          </p:cNvCxnSpPr>
          <p:nvPr/>
        </p:nvCxnSpPr>
        <p:spPr>
          <a:xfrm rot="10800000">
            <a:off x="4502541" y="2291808"/>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29" name="Google Shape;1417;p118">
            <a:extLst>
              <a:ext uri="{FF2B5EF4-FFF2-40B4-BE49-F238E27FC236}">
                <a16:creationId xmlns:a16="http://schemas.microsoft.com/office/drawing/2014/main" id="{24F8B31D-15DD-B0BD-0D08-D7C62D2730DC}"/>
              </a:ext>
            </a:extLst>
          </p:cNvPr>
          <p:cNvCxnSpPr>
            <a:cxnSpLocks/>
          </p:cNvCxnSpPr>
          <p:nvPr/>
        </p:nvCxnSpPr>
        <p:spPr>
          <a:xfrm rot="10800000">
            <a:off x="4502541" y="3285023"/>
            <a:ext cx="0" cy="431200"/>
          </a:xfrm>
          <a:prstGeom prst="straightConnector1">
            <a:avLst/>
          </a:prstGeom>
          <a:noFill/>
          <a:ln w="28575" cap="flat" cmpd="sng">
            <a:solidFill>
              <a:srgbClr val="002060"/>
            </a:solidFill>
            <a:prstDash val="solid"/>
            <a:miter lim="800000"/>
            <a:headEnd type="none" w="sm" len="sm"/>
            <a:tailEnd type="triangle" w="med" len="med"/>
          </a:ln>
        </p:spPr>
      </p:cxnSp>
      <p:sp>
        <p:nvSpPr>
          <p:cNvPr id="32" name="Google Shape;3236;p288">
            <a:extLst>
              <a:ext uri="{FF2B5EF4-FFF2-40B4-BE49-F238E27FC236}">
                <a16:creationId xmlns:a16="http://schemas.microsoft.com/office/drawing/2014/main" id="{D167FEB9-A3B5-1B32-D31B-0754DDE0ECAE}"/>
              </a:ext>
            </a:extLst>
          </p:cNvPr>
          <p:cNvSpPr/>
          <p:nvPr/>
        </p:nvSpPr>
        <p:spPr>
          <a:xfrm>
            <a:off x="3304860" y="2690838"/>
            <a:ext cx="2395360" cy="527317"/>
          </a:xfrm>
          <a:prstGeom prst="roundRect">
            <a:avLst>
              <a:gd name="adj" fmla="val 16667"/>
            </a:avLst>
          </a:prstGeom>
          <a:solidFill>
            <a:srgbClr val="FFC000">
              <a:lumMod val="20000"/>
              <a:lumOff val="80000"/>
            </a:srgb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rtl="0"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rPr>
              <a:t>Downstream </a:t>
            </a:r>
          </a:p>
        </p:txBody>
      </p:sp>
      <p:sp>
        <p:nvSpPr>
          <p:cNvPr id="34" name="Google Shape;1419;p118">
            <a:extLst>
              <a:ext uri="{FF2B5EF4-FFF2-40B4-BE49-F238E27FC236}">
                <a16:creationId xmlns:a16="http://schemas.microsoft.com/office/drawing/2014/main" id="{9F6314CA-E99A-38BC-A5AE-F2AF13774EE6}"/>
              </a:ext>
            </a:extLst>
          </p:cNvPr>
          <p:cNvSpPr txBox="1"/>
          <p:nvPr/>
        </p:nvSpPr>
        <p:spPr>
          <a:xfrm>
            <a:off x="2477615" y="1865352"/>
            <a:ext cx="4028108" cy="461624"/>
          </a:xfrm>
          <a:prstGeom prst="rect">
            <a:avLst/>
          </a:prstGeom>
          <a:noFill/>
          <a:ln>
            <a:noFill/>
          </a:ln>
        </p:spPr>
        <p:txBody>
          <a:bodyPr spcFirstLastPara="1" wrap="square" lIns="91433" tIns="45700" rIns="91433" bIns="45700" anchor="t" anchorCtr="0">
            <a:spAutoFit/>
          </a:bodyPr>
          <a:lstStyle/>
          <a:p>
            <a:pPr lvl="0" algn="ctr" defTabSz="1219170">
              <a:buClr>
                <a:srgbClr val="7F7F7F"/>
              </a:buClr>
              <a:buSzPts val="1800"/>
              <a:defRPr/>
            </a:pPr>
            <a:r>
              <a:rPr lang="en-US" altLang="zh-TW" sz="2400" kern="0" dirty="0">
                <a:solidFill>
                  <a:srgbClr val="7F7F7F"/>
                </a:solidFill>
                <a:ea typeface="Calibri"/>
                <a:cs typeface="Calibri"/>
                <a:sym typeface="Calibri"/>
              </a:rPr>
              <a:t>Generated Phoneme Seq</a:t>
            </a:r>
            <a:endParaRPr lang="en-US" altLang="zh-TW" sz="2400" kern="0" baseline="-25000" dirty="0">
              <a:solidFill>
                <a:srgbClr val="7F7F7F"/>
              </a:solidFill>
              <a:ea typeface="Calibri"/>
              <a:cs typeface="Calibri"/>
              <a:sym typeface="Calibri"/>
            </a:endParaRPr>
          </a:p>
        </p:txBody>
      </p:sp>
      <p:sp>
        <p:nvSpPr>
          <p:cNvPr id="39" name="Google Shape;3236;p288">
            <a:extLst>
              <a:ext uri="{FF2B5EF4-FFF2-40B4-BE49-F238E27FC236}">
                <a16:creationId xmlns:a16="http://schemas.microsoft.com/office/drawing/2014/main" id="{2C2A0CFE-9FC8-978F-28C6-973CF80BE349}"/>
              </a:ext>
            </a:extLst>
          </p:cNvPr>
          <p:cNvSpPr/>
          <p:nvPr/>
        </p:nvSpPr>
        <p:spPr>
          <a:xfrm>
            <a:off x="2986877" y="4594107"/>
            <a:ext cx="3009584" cy="962064"/>
          </a:xfrm>
          <a:prstGeom prst="roundRect">
            <a:avLst>
              <a:gd name="adj" fmla="val 16667"/>
            </a:avLst>
          </a:prstGeom>
          <a:solidFill>
            <a:schemeClr val="accent1">
              <a:lumMod val="20000"/>
              <a:lumOff val="80000"/>
            </a:scheme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rtl="0"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rPr>
              <a:t>(Segmental) Audio Word2vec</a:t>
            </a:r>
          </a:p>
        </p:txBody>
      </p:sp>
      <p:sp>
        <p:nvSpPr>
          <p:cNvPr id="42" name="文字方塊 41">
            <a:extLst>
              <a:ext uri="{FF2B5EF4-FFF2-40B4-BE49-F238E27FC236}">
                <a16:creationId xmlns:a16="http://schemas.microsoft.com/office/drawing/2014/main" id="{87966758-5307-0822-F6D2-1D6382273A5F}"/>
              </a:ext>
            </a:extLst>
          </p:cNvPr>
          <p:cNvSpPr txBox="1"/>
          <p:nvPr/>
        </p:nvSpPr>
        <p:spPr>
          <a:xfrm>
            <a:off x="658393" y="5833887"/>
            <a:ext cx="274611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(Self-supervised)</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文字方塊 48">
            <a:extLst>
              <a:ext uri="{FF2B5EF4-FFF2-40B4-BE49-F238E27FC236}">
                <a16:creationId xmlns:a16="http://schemas.microsoft.com/office/drawing/2014/main" id="{C28280CB-6073-2B4C-74CA-FD7C1FFA14AE}"/>
              </a:ext>
            </a:extLst>
          </p:cNvPr>
          <p:cNvSpPr txBox="1"/>
          <p:nvPr/>
        </p:nvSpPr>
        <p:spPr>
          <a:xfrm>
            <a:off x="714113" y="5417722"/>
            <a:ext cx="241200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Unsupervised </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52" name="直線單箭頭接點 51">
            <a:extLst>
              <a:ext uri="{FF2B5EF4-FFF2-40B4-BE49-F238E27FC236}">
                <a16:creationId xmlns:a16="http://schemas.microsoft.com/office/drawing/2014/main" id="{822A496B-5D19-04AA-6B9F-82D6F5C036A7}"/>
              </a:ext>
            </a:extLst>
          </p:cNvPr>
          <p:cNvCxnSpPr>
            <a:cxnSpLocks/>
          </p:cNvCxnSpPr>
          <p:nvPr/>
        </p:nvCxnSpPr>
        <p:spPr>
          <a:xfrm flipV="1">
            <a:off x="2258484" y="5046572"/>
            <a:ext cx="572499" cy="326135"/>
          </a:xfrm>
          <a:prstGeom prst="straightConnector1">
            <a:avLst/>
          </a:prstGeom>
          <a:noFill/>
          <a:ln w="57150" cap="flat" cmpd="sng" algn="ctr">
            <a:solidFill>
              <a:srgbClr val="002060"/>
            </a:solidFill>
            <a:prstDash val="sysDot"/>
            <a:miter lim="800000"/>
            <a:tailEnd type="triangle"/>
          </a:ln>
          <a:effectLst/>
        </p:spPr>
      </p:cxnSp>
      <p:grpSp>
        <p:nvGrpSpPr>
          <p:cNvPr id="2" name="群組 1">
            <a:extLst>
              <a:ext uri="{FF2B5EF4-FFF2-40B4-BE49-F238E27FC236}">
                <a16:creationId xmlns:a16="http://schemas.microsoft.com/office/drawing/2014/main" id="{F4FC548C-949E-23BB-3BD9-6D90020E76AD}"/>
              </a:ext>
            </a:extLst>
          </p:cNvPr>
          <p:cNvGrpSpPr/>
          <p:nvPr/>
        </p:nvGrpSpPr>
        <p:grpSpPr>
          <a:xfrm>
            <a:off x="7466228" y="3785294"/>
            <a:ext cx="3866341" cy="1340457"/>
            <a:chOff x="4206479" y="2305940"/>
            <a:chExt cx="2899756" cy="1005343"/>
          </a:xfrm>
        </p:grpSpPr>
        <p:sp>
          <p:nvSpPr>
            <p:cNvPr id="4" name="Google Shape;1419;p118">
              <a:extLst>
                <a:ext uri="{FF2B5EF4-FFF2-40B4-BE49-F238E27FC236}">
                  <a16:creationId xmlns:a16="http://schemas.microsoft.com/office/drawing/2014/main" id="{F7153A6D-B0CD-E673-FEDA-FA818C86FAFE}"/>
                </a:ext>
              </a:extLst>
            </p:cNvPr>
            <p:cNvSpPr txBox="1"/>
            <p:nvPr/>
          </p:nvSpPr>
          <p:spPr>
            <a:xfrm>
              <a:off x="5680935" y="2711522"/>
              <a:ext cx="1425300" cy="346218"/>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800"/>
                <a:buFontTx/>
                <a:buNone/>
                <a:tabLst/>
                <a:defRPr/>
              </a:pPr>
              <a:r>
                <a:rPr kumimoji="0" lang="en-US" sz="2400" b="0" i="0" u="none" strike="noStrike" kern="0" cap="none" spc="0" normalizeH="0" baseline="0" noProof="0" dirty="0">
                  <a:ln>
                    <a:noFill/>
                  </a:ln>
                  <a:solidFill>
                    <a:srgbClr val="000000"/>
                  </a:solidFill>
                  <a:effectLst/>
                  <a:uLnTx/>
                  <a:uFillTx/>
                  <a:latin typeface="Calibri"/>
                  <a:ea typeface="+mn-ea"/>
                  <a:cs typeface="Calibri"/>
                  <a:sym typeface="Calibri"/>
                </a:rPr>
                <a:t>Text</a:t>
              </a:r>
              <a:endParaRPr kumimoji="0" sz="1467"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5" name="Google Shape;1420;p118" descr="ãdocumentãçåçæå°çµæ">
              <a:extLst>
                <a:ext uri="{FF2B5EF4-FFF2-40B4-BE49-F238E27FC236}">
                  <a16:creationId xmlns:a16="http://schemas.microsoft.com/office/drawing/2014/main" id="{F91D255C-252E-DF32-6A2C-40DA3EBB87F5}"/>
                </a:ext>
              </a:extLst>
            </p:cNvPr>
            <p:cNvPicPr preferRelativeResize="0"/>
            <p:nvPr/>
          </p:nvPicPr>
          <p:blipFill rotWithShape="1">
            <a:blip r:embed="rId4">
              <a:alphaModFix/>
            </a:blip>
            <a:srcRect/>
            <a:stretch/>
          </p:blipFill>
          <p:spPr>
            <a:xfrm>
              <a:off x="4472750" y="2434080"/>
              <a:ext cx="655584" cy="698576"/>
            </a:xfrm>
            <a:prstGeom prst="rect">
              <a:avLst/>
            </a:prstGeom>
            <a:noFill/>
            <a:ln>
              <a:noFill/>
            </a:ln>
          </p:spPr>
        </p:pic>
        <p:sp>
          <p:nvSpPr>
            <p:cNvPr id="6" name="Google Shape;1421;p118">
              <a:extLst>
                <a:ext uri="{FF2B5EF4-FFF2-40B4-BE49-F238E27FC236}">
                  <a16:creationId xmlns:a16="http://schemas.microsoft.com/office/drawing/2014/main" id="{E8629880-8DC3-163A-22DB-6123C1B434A9}"/>
                </a:ext>
              </a:extLst>
            </p:cNvPr>
            <p:cNvSpPr/>
            <p:nvPr/>
          </p:nvSpPr>
          <p:spPr>
            <a:xfrm>
              <a:off x="4206479" y="2305940"/>
              <a:ext cx="1877961" cy="1005343"/>
            </a:xfrm>
            <a:prstGeom prst="roundRect">
              <a:avLst>
                <a:gd name="adj" fmla="val 16667"/>
              </a:avLst>
            </a:prstGeom>
            <a:noFill/>
            <a:ln w="38100" cap="flat" cmpd="sng">
              <a:solidFill>
                <a:schemeClr val="dk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1400"/>
                <a:buFontTx/>
                <a:buNone/>
                <a:tabLst/>
                <a:defRPr/>
              </a:pPr>
              <a:endParaRPr kumimoji="0" sz="1867"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18" name="Google Shape;1420;p118" descr="ãdocumentãçåçæå°çµæ">
              <a:extLst>
                <a:ext uri="{FF2B5EF4-FFF2-40B4-BE49-F238E27FC236}">
                  <a16:creationId xmlns:a16="http://schemas.microsoft.com/office/drawing/2014/main" id="{BBCC628B-6EBF-A60D-6FE7-6174C3D7A861}"/>
                </a:ext>
              </a:extLst>
            </p:cNvPr>
            <p:cNvPicPr preferRelativeResize="0"/>
            <p:nvPr/>
          </p:nvPicPr>
          <p:blipFill rotWithShape="1">
            <a:blip r:embed="rId4">
              <a:alphaModFix/>
            </a:blip>
            <a:srcRect/>
            <a:stretch/>
          </p:blipFill>
          <p:spPr>
            <a:xfrm>
              <a:off x="5255750" y="2459323"/>
              <a:ext cx="655584" cy="698576"/>
            </a:xfrm>
            <a:prstGeom prst="rect">
              <a:avLst/>
            </a:prstGeom>
            <a:noFill/>
            <a:ln>
              <a:noFill/>
            </a:ln>
          </p:spPr>
        </p:pic>
      </p:grpSp>
      <p:sp>
        <p:nvSpPr>
          <p:cNvPr id="19" name="Google Shape;1415;p118">
            <a:extLst>
              <a:ext uri="{FF2B5EF4-FFF2-40B4-BE49-F238E27FC236}">
                <a16:creationId xmlns:a16="http://schemas.microsoft.com/office/drawing/2014/main" id="{1C3E21A6-8257-E029-CF1B-6376F854DE1F}"/>
              </a:ext>
            </a:extLst>
          </p:cNvPr>
          <p:cNvSpPr txBox="1"/>
          <p:nvPr/>
        </p:nvSpPr>
        <p:spPr>
          <a:xfrm>
            <a:off x="6849465" y="1827508"/>
            <a:ext cx="3720633" cy="461624"/>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7F7F7F"/>
              </a:buClr>
              <a:buSzPts val="1800"/>
              <a:buFontTx/>
              <a:buNone/>
              <a:tabLst/>
              <a:defRPr/>
            </a:pPr>
            <a:r>
              <a:rPr kumimoji="0" lang="en-US" sz="2400" b="0" i="0" u="none" strike="noStrike" kern="0" cap="none" spc="0" normalizeH="0" baseline="0" noProof="0" dirty="0">
                <a:ln>
                  <a:noFill/>
                </a:ln>
                <a:solidFill>
                  <a:srgbClr val="7F7F7F"/>
                </a:solidFill>
                <a:effectLst/>
                <a:uLnTx/>
                <a:uFillTx/>
                <a:latin typeface="Calibri"/>
                <a:ea typeface="Calibri"/>
                <a:cs typeface="Calibri"/>
                <a:sym typeface="Calibri"/>
              </a:rPr>
              <a:t>Real P</a:t>
            </a:r>
            <a:r>
              <a:rPr kumimoji="0" lang="en" sz="2400" b="0" i="0" u="none" strike="noStrike" kern="0" cap="none" spc="0" normalizeH="0" baseline="0" noProof="0" dirty="0">
                <a:ln>
                  <a:noFill/>
                </a:ln>
                <a:solidFill>
                  <a:srgbClr val="7F7F7F"/>
                </a:solidFill>
                <a:effectLst/>
                <a:uLnTx/>
                <a:uFillTx/>
                <a:latin typeface="Calibri"/>
                <a:ea typeface="Calibri"/>
                <a:cs typeface="Calibri"/>
                <a:sym typeface="Calibri"/>
              </a:rPr>
              <a:t>honeme Seq</a:t>
            </a:r>
            <a:endParaRPr kumimoji="0" sz="2400" b="0" i="0" u="none" strike="noStrike" kern="0" cap="none" spc="0" normalizeH="0" baseline="-25000" noProof="0" dirty="0">
              <a:ln>
                <a:noFill/>
              </a:ln>
              <a:solidFill>
                <a:srgbClr val="7F7F7F"/>
              </a:solidFill>
              <a:effectLst/>
              <a:uLnTx/>
              <a:uFillTx/>
              <a:latin typeface="Calibri"/>
              <a:ea typeface="Calibri"/>
              <a:cs typeface="Calibri"/>
              <a:sym typeface="Calibri"/>
            </a:endParaRPr>
          </a:p>
        </p:txBody>
      </p:sp>
      <p:sp>
        <p:nvSpPr>
          <p:cNvPr id="20" name="Google Shape;1416;p118">
            <a:extLst>
              <a:ext uri="{FF2B5EF4-FFF2-40B4-BE49-F238E27FC236}">
                <a16:creationId xmlns:a16="http://schemas.microsoft.com/office/drawing/2014/main" id="{2B0E45BD-0486-39F3-B5F3-DE2A07E91F26}"/>
              </a:ext>
            </a:extLst>
          </p:cNvPr>
          <p:cNvSpPr/>
          <p:nvPr/>
        </p:nvSpPr>
        <p:spPr>
          <a:xfrm>
            <a:off x="7648428" y="2636242"/>
            <a:ext cx="2166387" cy="579600"/>
          </a:xfrm>
          <a:prstGeom prst="roundRect">
            <a:avLst>
              <a:gd name="adj" fmla="val 16667"/>
            </a:avLst>
          </a:prstGeom>
          <a:solidFill>
            <a:schemeClr val="accent4">
              <a:lumMod val="20000"/>
              <a:lumOff val="80000"/>
            </a:schemeClr>
          </a:solidFill>
          <a:ln w="38100">
            <a:solidFill>
              <a:schemeClr val="tx1"/>
            </a:solidFill>
            <a:headEnd type="none" w="sm" len="sm"/>
            <a:tailEnd type="none" w="sm" len="sm"/>
          </a:ln>
        </p:spPr>
        <p:style>
          <a:lnRef idx="1">
            <a:schemeClr val="accent5"/>
          </a:lnRef>
          <a:fillRef idx="2">
            <a:schemeClr val="accent5"/>
          </a:fillRef>
          <a:effectRef idx="1">
            <a:schemeClr val="accent5"/>
          </a:effectRef>
          <a:fontRef idx="minor">
            <a:schemeClr val="dk1"/>
          </a:fontRef>
        </p:style>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800"/>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Calibri"/>
                <a:cs typeface="Calibri"/>
                <a:sym typeface="Calibri"/>
              </a:rPr>
              <a:t>Phonemicize</a:t>
            </a:r>
            <a:endParaRPr kumimoji="0"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cxnSp>
        <p:nvCxnSpPr>
          <p:cNvPr id="21" name="Google Shape;1414;p118">
            <a:extLst>
              <a:ext uri="{FF2B5EF4-FFF2-40B4-BE49-F238E27FC236}">
                <a16:creationId xmlns:a16="http://schemas.microsoft.com/office/drawing/2014/main" id="{0AEF256C-55AA-AAD3-7BFC-52E8AF7C40A1}"/>
              </a:ext>
            </a:extLst>
          </p:cNvPr>
          <p:cNvCxnSpPr>
            <a:cxnSpLocks/>
          </p:cNvCxnSpPr>
          <p:nvPr/>
        </p:nvCxnSpPr>
        <p:spPr>
          <a:xfrm rot="10800000">
            <a:off x="8714720" y="2228843"/>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28" name="Google Shape;1414;p118">
            <a:extLst>
              <a:ext uri="{FF2B5EF4-FFF2-40B4-BE49-F238E27FC236}">
                <a16:creationId xmlns:a16="http://schemas.microsoft.com/office/drawing/2014/main" id="{418382F0-195B-339E-A4F1-DAE0A9E22358}"/>
              </a:ext>
            </a:extLst>
          </p:cNvPr>
          <p:cNvCxnSpPr>
            <a:cxnSpLocks/>
          </p:cNvCxnSpPr>
          <p:nvPr/>
        </p:nvCxnSpPr>
        <p:spPr>
          <a:xfrm rot="10800000">
            <a:off x="8734779" y="3271978"/>
            <a:ext cx="0" cy="431200"/>
          </a:xfrm>
          <a:prstGeom prst="straightConnector1">
            <a:avLst/>
          </a:prstGeom>
          <a:noFill/>
          <a:ln w="28575" cap="flat" cmpd="sng">
            <a:solidFill>
              <a:srgbClr val="002060"/>
            </a:solidFill>
            <a:prstDash val="solid"/>
            <a:miter lim="800000"/>
            <a:headEnd type="none" w="sm" len="sm"/>
            <a:tailEnd type="triangle" w="med" len="med"/>
          </a:ln>
        </p:spPr>
      </p:cxnSp>
      <p:sp>
        <p:nvSpPr>
          <p:cNvPr id="31" name="文字方塊 30">
            <a:extLst>
              <a:ext uri="{FF2B5EF4-FFF2-40B4-BE49-F238E27FC236}">
                <a16:creationId xmlns:a16="http://schemas.microsoft.com/office/drawing/2014/main" id="{B14BC5BF-3F25-DF2D-3FC3-A8FA8309B3A0}"/>
              </a:ext>
            </a:extLst>
          </p:cNvPr>
          <p:cNvSpPr txBox="1"/>
          <p:nvPr/>
        </p:nvSpPr>
        <p:spPr>
          <a:xfrm>
            <a:off x="8621338" y="5966562"/>
            <a:ext cx="3470605" cy="369332"/>
          </a:xfrm>
          <a:prstGeom prst="rect">
            <a:avLst/>
          </a:prstGeom>
          <a:noFill/>
        </p:spPr>
        <p:txBody>
          <a:bodyPr wrap="square">
            <a:spAutoFit/>
          </a:bodyPr>
          <a:lstStyle/>
          <a:p>
            <a:r>
              <a:rPr lang="zh-TW" altLang="en-US" dirty="0"/>
              <a:t>https://arxiv.org/abs/1804.00316</a:t>
            </a:r>
          </a:p>
        </p:txBody>
      </p:sp>
      <p:sp>
        <p:nvSpPr>
          <p:cNvPr id="44" name="文字方塊 43">
            <a:extLst>
              <a:ext uri="{FF2B5EF4-FFF2-40B4-BE49-F238E27FC236}">
                <a16:creationId xmlns:a16="http://schemas.microsoft.com/office/drawing/2014/main" id="{C09505D3-0555-1F13-21D9-85301BA0C551}"/>
              </a:ext>
            </a:extLst>
          </p:cNvPr>
          <p:cNvSpPr txBox="1"/>
          <p:nvPr/>
        </p:nvSpPr>
        <p:spPr>
          <a:xfrm>
            <a:off x="6398978" y="5249827"/>
            <a:ext cx="5078909" cy="954107"/>
          </a:xfrm>
          <a:prstGeom prst="rect">
            <a:avLst/>
          </a:prstGeom>
          <a:noFill/>
        </p:spPr>
        <p:txBody>
          <a:bodyPr wrap="square">
            <a:spAutoFit/>
          </a:bodyPr>
          <a:lstStyle/>
          <a:p>
            <a:r>
              <a:rPr lang="en-US" altLang="zh-TW" sz="2800" dirty="0"/>
              <a:t>This is the first unsupervised ASR in the world.</a:t>
            </a:r>
            <a:endParaRPr lang="zh-TW" altLang="en-US" sz="2800" dirty="0"/>
          </a:p>
        </p:txBody>
      </p:sp>
      <p:sp>
        <p:nvSpPr>
          <p:cNvPr id="45" name="文字方塊 44">
            <a:extLst>
              <a:ext uri="{FF2B5EF4-FFF2-40B4-BE49-F238E27FC236}">
                <a16:creationId xmlns:a16="http://schemas.microsoft.com/office/drawing/2014/main" id="{8098092F-FCEB-89F2-7DD8-BF6B49A12AD8}"/>
              </a:ext>
            </a:extLst>
          </p:cNvPr>
          <p:cNvSpPr txBox="1"/>
          <p:nvPr/>
        </p:nvSpPr>
        <p:spPr>
          <a:xfrm>
            <a:off x="7718053" y="6303663"/>
            <a:ext cx="4162351" cy="369332"/>
          </a:xfrm>
          <a:prstGeom prst="rect">
            <a:avLst/>
          </a:prstGeom>
          <a:noFill/>
        </p:spPr>
        <p:txBody>
          <a:bodyPr wrap="square">
            <a:spAutoFit/>
          </a:bodyPr>
          <a:lstStyle/>
          <a:p>
            <a:pPr algn="r"/>
            <a:r>
              <a:rPr lang="en-US" altLang="zh-TW" dirty="0"/>
              <a:t>This work is done by </a:t>
            </a:r>
            <a:r>
              <a:rPr lang="zh-TW" altLang="en-US" dirty="0"/>
              <a:t>劉達融</a:t>
            </a:r>
          </a:p>
        </p:txBody>
      </p:sp>
      <p:sp>
        <p:nvSpPr>
          <p:cNvPr id="9" name="文字方塊 8">
            <a:extLst>
              <a:ext uri="{FF2B5EF4-FFF2-40B4-BE49-F238E27FC236}">
                <a16:creationId xmlns:a16="http://schemas.microsoft.com/office/drawing/2014/main" id="{94006D89-7AC7-1896-D26A-9DA0250C43FE}"/>
              </a:ext>
            </a:extLst>
          </p:cNvPr>
          <p:cNvSpPr txBox="1"/>
          <p:nvPr/>
        </p:nvSpPr>
        <p:spPr>
          <a:xfrm>
            <a:off x="658393" y="3508810"/>
            <a:ext cx="241200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Unsupervised </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7046123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8" grpId="0"/>
      <p:bldP spid="40" grpId="0" animBg="1"/>
      <p:bldP spid="41" grpId="0"/>
      <p:bldP spid="32" grpId="0" animBg="1"/>
      <p:bldP spid="34" grpId="0"/>
      <p:bldP spid="19" grpId="0"/>
      <p:bldP spid="20" grpId="0" animBg="1"/>
      <p:bldP spid="44"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9F221-43E9-63A6-72F3-CD4A614B6047}"/>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6F174C18-928D-5499-F768-03C897B4DC60}"/>
              </a:ext>
            </a:extLst>
          </p:cNvPr>
          <p:cNvSpPr>
            <a:spLocks noGrp="1"/>
          </p:cNvSpPr>
          <p:nvPr>
            <p:ph idx="1"/>
          </p:nvPr>
        </p:nvSpPr>
        <p:spPr/>
        <p:txBody>
          <a:bodyPr/>
          <a:lstStyle/>
          <a:p>
            <a:endParaRPr lang="zh-TW" altLang="en-US" dirty="0"/>
          </a:p>
        </p:txBody>
      </p:sp>
      <p:sp>
        <p:nvSpPr>
          <p:cNvPr id="5" name="文字方塊 4">
            <a:extLst>
              <a:ext uri="{FF2B5EF4-FFF2-40B4-BE49-F238E27FC236}">
                <a16:creationId xmlns:a16="http://schemas.microsoft.com/office/drawing/2014/main" id="{0AC83E02-EF73-9E11-6447-6FF7CC67CE32}"/>
              </a:ext>
            </a:extLst>
          </p:cNvPr>
          <p:cNvSpPr txBox="1"/>
          <p:nvPr/>
        </p:nvSpPr>
        <p:spPr>
          <a:xfrm rot="16200000">
            <a:off x="2479438" y="3614593"/>
            <a:ext cx="257929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PER</a:t>
            </a:r>
            <a:r>
              <a:rPr kumimoji="0" lang="zh-TW" altLang="en-US"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 </a:t>
            </a:r>
            <a:r>
              <a:rPr kumimoji="0" lang="en-US" altLang="zh-TW"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on TIMIT</a:t>
            </a:r>
            <a:endParaRPr kumimoji="0" lang="zh-TW" altLang="en-US"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endParaRPr>
          </a:p>
        </p:txBody>
      </p:sp>
      <p:grpSp>
        <p:nvGrpSpPr>
          <p:cNvPr id="15" name="群組 14">
            <a:extLst>
              <a:ext uri="{FF2B5EF4-FFF2-40B4-BE49-F238E27FC236}">
                <a16:creationId xmlns:a16="http://schemas.microsoft.com/office/drawing/2014/main" id="{A7662AF7-913C-0CFC-4D1F-BAA04357EF15}"/>
              </a:ext>
            </a:extLst>
          </p:cNvPr>
          <p:cNvGrpSpPr/>
          <p:nvPr/>
        </p:nvGrpSpPr>
        <p:grpSpPr>
          <a:xfrm>
            <a:off x="4133269" y="1285808"/>
            <a:ext cx="8710261" cy="5572192"/>
            <a:chOff x="4133268" y="1178169"/>
            <a:chExt cx="8710261" cy="5572192"/>
          </a:xfrm>
        </p:grpSpPr>
        <p:grpSp>
          <p:nvGrpSpPr>
            <p:cNvPr id="14" name="群組 13">
              <a:extLst>
                <a:ext uri="{FF2B5EF4-FFF2-40B4-BE49-F238E27FC236}">
                  <a16:creationId xmlns:a16="http://schemas.microsoft.com/office/drawing/2014/main" id="{49B3871E-36B3-6C93-6E32-F8CFCF8DFB92}"/>
                </a:ext>
              </a:extLst>
            </p:cNvPr>
            <p:cNvGrpSpPr/>
            <p:nvPr/>
          </p:nvGrpSpPr>
          <p:grpSpPr>
            <a:xfrm>
              <a:off x="4133268" y="1178169"/>
              <a:ext cx="8710261" cy="5572192"/>
              <a:chOff x="4133268" y="1178169"/>
              <a:chExt cx="8710261" cy="5572192"/>
            </a:xfrm>
          </p:grpSpPr>
          <p:pic>
            <p:nvPicPr>
              <p:cNvPr id="4" name="圖片 3">
                <a:extLst>
                  <a:ext uri="{FF2B5EF4-FFF2-40B4-BE49-F238E27FC236}">
                    <a16:creationId xmlns:a16="http://schemas.microsoft.com/office/drawing/2014/main" id="{26DC689B-2E8F-E0FF-4EA5-B9D9550556C1}"/>
                  </a:ext>
                </a:extLst>
              </p:cNvPr>
              <p:cNvPicPr>
                <a:picLocks noChangeAspect="1"/>
              </p:cNvPicPr>
              <p:nvPr/>
            </p:nvPicPr>
            <p:blipFill>
              <a:blip r:embed="rId3"/>
              <a:stretch>
                <a:fillRect/>
              </a:stretch>
            </p:blipFill>
            <p:spPr>
              <a:xfrm>
                <a:off x="4133268" y="1178169"/>
                <a:ext cx="8710261" cy="5125868"/>
              </a:xfrm>
              <a:prstGeom prst="rect">
                <a:avLst/>
              </a:prstGeom>
            </p:spPr>
          </p:pic>
          <p:sp>
            <p:nvSpPr>
              <p:cNvPr id="6" name="矩形 5">
                <a:extLst>
                  <a:ext uri="{FF2B5EF4-FFF2-40B4-BE49-F238E27FC236}">
                    <a16:creationId xmlns:a16="http://schemas.microsoft.com/office/drawing/2014/main" id="{8612B290-1B6F-CB71-CEC7-151B1A4C6197}"/>
                  </a:ext>
                </a:extLst>
              </p:cNvPr>
              <p:cNvSpPr/>
              <p:nvPr/>
            </p:nvSpPr>
            <p:spPr>
              <a:xfrm>
                <a:off x="4380920" y="5729697"/>
                <a:ext cx="7811080" cy="1020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7" name="矩形 6">
              <a:extLst>
                <a:ext uri="{FF2B5EF4-FFF2-40B4-BE49-F238E27FC236}">
                  <a16:creationId xmlns:a16="http://schemas.microsoft.com/office/drawing/2014/main" id="{AD337DB4-0779-2E0F-3D18-094F86093004}"/>
                </a:ext>
              </a:extLst>
            </p:cNvPr>
            <p:cNvSpPr/>
            <p:nvPr/>
          </p:nvSpPr>
          <p:spPr>
            <a:xfrm>
              <a:off x="11521232" y="1178169"/>
              <a:ext cx="1322297" cy="556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18" name="文字方塊 17">
            <a:extLst>
              <a:ext uri="{FF2B5EF4-FFF2-40B4-BE49-F238E27FC236}">
                <a16:creationId xmlns:a16="http://schemas.microsoft.com/office/drawing/2014/main" id="{61A06F2B-C04C-9107-45F7-A928BB649F00}"/>
              </a:ext>
            </a:extLst>
          </p:cNvPr>
          <p:cNvSpPr txBox="1"/>
          <p:nvPr/>
        </p:nvSpPr>
        <p:spPr>
          <a:xfrm>
            <a:off x="5784588" y="2538816"/>
            <a:ext cx="1872890" cy="646331"/>
          </a:xfrm>
          <a:prstGeom prst="rect">
            <a:avLst/>
          </a:prstGeom>
          <a:noFill/>
        </p:spPr>
        <p:txBody>
          <a:bodyPr wrap="square">
            <a:spAutoFit/>
          </a:bodyPr>
          <a:lstStyle/>
          <a:p>
            <a:pPr lvl="0" algn="ctr">
              <a:defRPr/>
            </a:pPr>
            <a:r>
              <a:rPr lang="en-US" altLang="zh-TW" dirty="0"/>
              <a:t>https://arxiv.org/abs/1812.09323</a:t>
            </a:r>
            <a:endParaRPr kumimoji="0" lang="zh-TW" altLang="en-US" sz="1800" b="0" i="0" u="none" strike="noStrike" kern="1200" cap="none" spc="0" normalizeH="0" baseline="0" noProof="0" dirty="0">
              <a:ln>
                <a:noFill/>
              </a:ln>
              <a:effectLst/>
              <a:uLnTx/>
              <a:uFillTx/>
              <a:latin typeface="Calibri" panose="020F0502020204030204"/>
              <a:ea typeface="新細明體" panose="02020500000000000000" pitchFamily="18" charset="-120"/>
              <a:cs typeface="+mn-cs"/>
            </a:endParaRPr>
          </a:p>
        </p:txBody>
      </p:sp>
      <p:sp>
        <p:nvSpPr>
          <p:cNvPr id="27" name="文字方塊 26">
            <a:extLst>
              <a:ext uri="{FF2B5EF4-FFF2-40B4-BE49-F238E27FC236}">
                <a16:creationId xmlns:a16="http://schemas.microsoft.com/office/drawing/2014/main" id="{D2D77709-75CA-8FC8-3DCD-17F417CDC9A4}"/>
              </a:ext>
            </a:extLst>
          </p:cNvPr>
          <p:cNvSpPr txBox="1"/>
          <p:nvPr/>
        </p:nvSpPr>
        <p:spPr>
          <a:xfrm>
            <a:off x="10136383" y="5722254"/>
            <a:ext cx="2007697" cy="646331"/>
          </a:xfrm>
          <a:prstGeom prst="rect">
            <a:avLst/>
          </a:prstGeom>
          <a:noFill/>
        </p:spPr>
        <p:txBody>
          <a:bodyPr wrap="square">
            <a:spAutoFit/>
          </a:bodyPr>
          <a:lstStyle/>
          <a:p>
            <a:pPr lvl="0">
              <a:defRPr/>
            </a:pPr>
            <a:r>
              <a:rPr lang="it-IT" altLang="zh-TW" dirty="0">
                <a:latin typeface="Lucida Grande"/>
              </a:rPr>
              <a:t>https://arxiv.org/abs/1811.07453</a:t>
            </a:r>
            <a:endParaRPr kumimoji="0" lang="zh-TW" altLang="en-US" sz="1800" b="0" i="0" u="none" strike="noStrike" kern="1200" cap="none" spc="0" normalizeH="0" baseline="0" noProof="0" dirty="0">
              <a:ln>
                <a:noFill/>
              </a:ln>
              <a:effectLst/>
              <a:uLnTx/>
              <a:uFillTx/>
              <a:latin typeface="Calibri" panose="020F0502020204030204"/>
              <a:ea typeface="新細明體" panose="02020500000000000000" pitchFamily="18" charset="-120"/>
              <a:cs typeface="+mn-cs"/>
            </a:endParaRPr>
          </a:p>
        </p:txBody>
      </p:sp>
      <p:sp>
        <p:nvSpPr>
          <p:cNvPr id="13" name="文字方塊 12">
            <a:extLst>
              <a:ext uri="{FF2B5EF4-FFF2-40B4-BE49-F238E27FC236}">
                <a16:creationId xmlns:a16="http://schemas.microsoft.com/office/drawing/2014/main" id="{BBD23E30-E831-6B76-9C9E-6C454BFB4975}"/>
              </a:ext>
            </a:extLst>
          </p:cNvPr>
          <p:cNvSpPr txBox="1"/>
          <p:nvPr/>
        </p:nvSpPr>
        <p:spPr>
          <a:xfrm>
            <a:off x="4365782" y="5722254"/>
            <a:ext cx="1872890" cy="646331"/>
          </a:xfrm>
          <a:prstGeom prst="rect">
            <a:avLst/>
          </a:prstGeom>
          <a:noFill/>
        </p:spPr>
        <p:txBody>
          <a:bodyPr wrap="square">
            <a:spAutoFit/>
          </a:bodyPr>
          <a:lstStyle/>
          <a:p>
            <a:r>
              <a:rPr lang="zh-TW" altLang="en-US" dirty="0"/>
              <a:t>https://arxiv.org/abs/1804.00316</a:t>
            </a:r>
          </a:p>
        </p:txBody>
      </p:sp>
      <p:sp>
        <p:nvSpPr>
          <p:cNvPr id="2" name="標題 1">
            <a:extLst>
              <a:ext uri="{FF2B5EF4-FFF2-40B4-BE49-F238E27FC236}">
                <a16:creationId xmlns:a16="http://schemas.microsoft.com/office/drawing/2014/main" id="{4859AF6B-8F33-82A6-755C-C781B8C56D26}"/>
              </a:ext>
            </a:extLst>
          </p:cNvPr>
          <p:cNvSpPr>
            <a:spLocks noGrp="1"/>
          </p:cNvSpPr>
          <p:nvPr>
            <p:ph type="title"/>
          </p:nvPr>
        </p:nvSpPr>
        <p:spPr/>
        <p:txBody>
          <a:bodyPr/>
          <a:lstStyle/>
          <a:p>
            <a:r>
              <a:rPr lang="en-US" altLang="zh-TW" dirty="0"/>
              <a:t>Is Unsupervised Speech Recognition possible?</a:t>
            </a:r>
            <a:endParaRPr lang="zh-TW" altLang="en-US" dirty="0"/>
          </a:p>
        </p:txBody>
      </p:sp>
      <p:sp>
        <p:nvSpPr>
          <p:cNvPr id="9" name="矩形 8">
            <a:extLst>
              <a:ext uri="{FF2B5EF4-FFF2-40B4-BE49-F238E27FC236}">
                <a16:creationId xmlns:a16="http://schemas.microsoft.com/office/drawing/2014/main" id="{1B3654DA-2C84-3B32-D2D6-7678A7312207}"/>
              </a:ext>
            </a:extLst>
          </p:cNvPr>
          <p:cNvSpPr/>
          <p:nvPr/>
        </p:nvSpPr>
        <p:spPr>
          <a:xfrm>
            <a:off x="8901721" y="1285808"/>
            <a:ext cx="4341629" cy="61369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文字方塊 19">
            <a:extLst>
              <a:ext uri="{FF2B5EF4-FFF2-40B4-BE49-F238E27FC236}">
                <a16:creationId xmlns:a16="http://schemas.microsoft.com/office/drawing/2014/main" id="{B8EA8EC8-5FA1-7012-AAAF-3714C928CA71}"/>
              </a:ext>
            </a:extLst>
          </p:cNvPr>
          <p:cNvSpPr txBox="1"/>
          <p:nvPr/>
        </p:nvSpPr>
        <p:spPr>
          <a:xfrm>
            <a:off x="7043970" y="5727442"/>
            <a:ext cx="1886486" cy="646331"/>
          </a:xfrm>
          <a:prstGeom prst="rect">
            <a:avLst/>
          </a:prstGeom>
          <a:noFill/>
        </p:spPr>
        <p:txBody>
          <a:bodyPr wrap="square">
            <a:spAutoFit/>
          </a:bodyPr>
          <a:lstStyle/>
          <a:p>
            <a:r>
              <a:rPr lang="zh-TW" altLang="en-US" dirty="0"/>
              <a:t>https://arxiv.org/abs/1904.04100</a:t>
            </a:r>
          </a:p>
        </p:txBody>
      </p:sp>
    </p:spTree>
    <p:extLst>
      <p:ext uri="{BB962C8B-B14F-4D97-AF65-F5344CB8AC3E}">
        <p14:creationId xmlns:p14="http://schemas.microsoft.com/office/powerpoint/2010/main" val="23160388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8D095-33C2-AF53-7215-DB22E7D4519B}"/>
            </a:ext>
          </a:extLst>
        </p:cNvPr>
        <p:cNvGrpSpPr/>
        <p:nvPr/>
      </p:nvGrpSpPr>
      <p:grpSpPr>
        <a:xfrm>
          <a:off x="0" y="0"/>
          <a:ext cx="0" cy="0"/>
          <a:chOff x="0" y="0"/>
          <a:chExt cx="0" cy="0"/>
        </a:xfrm>
      </p:grpSpPr>
      <p:pic>
        <p:nvPicPr>
          <p:cNvPr id="4" name="Picture 2" descr="ãperformance on timitãçåçæå°çµæ">
            <a:extLst>
              <a:ext uri="{FF2B5EF4-FFF2-40B4-BE49-F238E27FC236}">
                <a16:creationId xmlns:a16="http://schemas.microsoft.com/office/drawing/2014/main" id="{82E14729-39A4-44F0-07F6-2FB76E80E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245" y="1258764"/>
            <a:ext cx="10515600" cy="3868499"/>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D49548D5-37E7-4571-B0FC-C8E0F0C99B67}"/>
              </a:ext>
            </a:extLst>
          </p:cNvPr>
          <p:cNvSpPr txBox="1"/>
          <p:nvPr/>
        </p:nvSpPr>
        <p:spPr>
          <a:xfrm>
            <a:off x="3933924" y="2495161"/>
            <a:ext cx="482824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1033C1"/>
                </a:solidFill>
                <a:effectLst/>
                <a:uLnTx/>
                <a:uFillTx/>
                <a:latin typeface="Calibri" panose="020F0502020204030204"/>
                <a:ea typeface="新細明體" panose="02020500000000000000" pitchFamily="18" charset="-120"/>
                <a:cs typeface="+mn-cs"/>
              </a:rPr>
              <a:t>The progress of supervised learning </a:t>
            </a:r>
            <a:endParaRPr kumimoji="0" lang="zh-TW" altLang="en-US" sz="2400" b="0" i="0" u="none" strike="noStrike" kern="1200" cap="none" spc="0" normalizeH="0" baseline="0" noProof="0" dirty="0">
              <a:ln>
                <a:noFill/>
              </a:ln>
              <a:solidFill>
                <a:srgbClr val="1033C1"/>
              </a:solidFill>
              <a:effectLst/>
              <a:uLnTx/>
              <a:uFillTx/>
              <a:latin typeface="Calibri" panose="020F0502020204030204"/>
              <a:ea typeface="新細明體" panose="02020500000000000000" pitchFamily="18" charset="-120"/>
              <a:cs typeface="+mn-cs"/>
            </a:endParaRPr>
          </a:p>
        </p:txBody>
      </p:sp>
      <p:sp>
        <p:nvSpPr>
          <p:cNvPr id="6" name="文字方塊 5">
            <a:extLst>
              <a:ext uri="{FF2B5EF4-FFF2-40B4-BE49-F238E27FC236}">
                <a16:creationId xmlns:a16="http://schemas.microsoft.com/office/drawing/2014/main" id="{6EAF0F26-3BD8-9C84-740E-37536361508D}"/>
              </a:ext>
            </a:extLst>
          </p:cNvPr>
          <p:cNvSpPr txBox="1"/>
          <p:nvPr/>
        </p:nvSpPr>
        <p:spPr>
          <a:xfrm rot="16200000">
            <a:off x="-161861" y="2900282"/>
            <a:ext cx="2444817" cy="338554"/>
          </a:xfrm>
          <a:prstGeom prst="rect">
            <a:avLst/>
          </a:prstGeom>
          <a:solidFill>
            <a:schemeClr val="bg1"/>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Accuracy</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9">
            <a:extLst>
              <a:ext uri="{FF2B5EF4-FFF2-40B4-BE49-F238E27FC236}">
                <a16:creationId xmlns:a16="http://schemas.microsoft.com/office/drawing/2014/main" id="{60BE6ACF-D35D-C550-25A2-CB5E9A5A28DE}"/>
              </a:ext>
            </a:extLst>
          </p:cNvPr>
          <p:cNvSpPr/>
          <p:nvPr/>
        </p:nvSpPr>
        <p:spPr>
          <a:xfrm>
            <a:off x="1071944" y="5226221"/>
            <a:ext cx="10374923" cy="276999"/>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apple-system"/>
                <a:ea typeface="新細明體" panose="02020500000000000000" pitchFamily="18" charset="-120"/>
                <a:cs typeface="+mn-cs"/>
              </a:rPr>
              <a:t>The image is modified from: Phone recognition on the TIMIT database Lopes, C. and </a:t>
            </a:r>
            <a:r>
              <a:rPr kumimoji="0" lang="en-US" altLang="zh-TW" sz="1200" b="0" i="0" u="none" strike="noStrike" kern="1200" cap="none" spc="0" normalizeH="0" baseline="0" noProof="0" dirty="0" err="1">
                <a:ln>
                  <a:noFill/>
                </a:ln>
                <a:solidFill>
                  <a:prstClr val="black"/>
                </a:solidFill>
                <a:effectLst/>
                <a:uLnTx/>
                <a:uFillTx/>
                <a:latin typeface="-apple-system"/>
                <a:ea typeface="新細明體" panose="02020500000000000000" pitchFamily="18" charset="-120"/>
                <a:cs typeface="+mn-cs"/>
              </a:rPr>
              <a:t>Perdigão</a:t>
            </a:r>
            <a:r>
              <a:rPr kumimoji="0" lang="en-US" altLang="zh-TW" sz="1200" b="0" i="0" u="none" strike="noStrike" kern="1200" cap="none" spc="0" normalizeH="0" baseline="0" noProof="0" dirty="0">
                <a:ln>
                  <a:noFill/>
                </a:ln>
                <a:solidFill>
                  <a:prstClr val="black"/>
                </a:solidFill>
                <a:effectLst/>
                <a:uLnTx/>
                <a:uFillTx/>
                <a:latin typeface="-apple-system"/>
                <a:ea typeface="新細明體" panose="02020500000000000000" pitchFamily="18" charset="-120"/>
                <a:cs typeface="+mn-cs"/>
              </a:rPr>
              <a:t>, F., 2011. Speech Technologies, Vol 1, pp. 285--302. </a:t>
            </a:r>
          </a:p>
        </p:txBody>
      </p:sp>
      <p:grpSp>
        <p:nvGrpSpPr>
          <p:cNvPr id="13" name="群組 12">
            <a:extLst>
              <a:ext uri="{FF2B5EF4-FFF2-40B4-BE49-F238E27FC236}">
                <a16:creationId xmlns:a16="http://schemas.microsoft.com/office/drawing/2014/main" id="{98522EB0-3F12-4E74-160E-A10F34BAFB1F}"/>
              </a:ext>
            </a:extLst>
          </p:cNvPr>
          <p:cNvGrpSpPr/>
          <p:nvPr/>
        </p:nvGrpSpPr>
        <p:grpSpPr>
          <a:xfrm>
            <a:off x="1599957" y="2768691"/>
            <a:ext cx="8194673" cy="1064458"/>
            <a:chOff x="1582372" y="2381830"/>
            <a:chExt cx="8194673" cy="1064458"/>
          </a:xfrm>
        </p:grpSpPr>
        <p:sp>
          <p:nvSpPr>
            <p:cNvPr id="7" name="文字方塊 6">
              <a:extLst>
                <a:ext uri="{FF2B5EF4-FFF2-40B4-BE49-F238E27FC236}">
                  <a16:creationId xmlns:a16="http://schemas.microsoft.com/office/drawing/2014/main" id="{88EA3384-E259-416C-7BCF-BFD000F613D1}"/>
                </a:ext>
              </a:extLst>
            </p:cNvPr>
            <p:cNvSpPr txBox="1"/>
            <p:nvPr/>
          </p:nvSpPr>
          <p:spPr>
            <a:xfrm>
              <a:off x="2804823" y="2615291"/>
              <a:ext cx="6972222"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Unsupervised learning is already as good as supervised learning 30 years ago.</a:t>
              </a:r>
              <a:endParaRPr kumimoji="0" lang="zh-TW" altLang="en-US"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sp>
          <p:nvSpPr>
            <p:cNvPr id="8" name="星形: 五角 7">
              <a:extLst>
                <a:ext uri="{FF2B5EF4-FFF2-40B4-BE49-F238E27FC236}">
                  <a16:creationId xmlns:a16="http://schemas.microsoft.com/office/drawing/2014/main" id="{96173CDF-662B-9010-9603-CDD329566267}"/>
                </a:ext>
              </a:extLst>
            </p:cNvPr>
            <p:cNvSpPr/>
            <p:nvPr/>
          </p:nvSpPr>
          <p:spPr>
            <a:xfrm>
              <a:off x="1582372" y="2381830"/>
              <a:ext cx="108000" cy="108000"/>
            </a:xfrm>
            <a:prstGeom prst="star5">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9" name="直線單箭頭接點 8">
              <a:extLst>
                <a:ext uri="{FF2B5EF4-FFF2-40B4-BE49-F238E27FC236}">
                  <a16:creationId xmlns:a16="http://schemas.microsoft.com/office/drawing/2014/main" id="{93BB7BBE-5D41-D281-A0E3-DB9DEC06F0AF}"/>
                </a:ext>
              </a:extLst>
            </p:cNvPr>
            <p:cNvCxnSpPr>
              <a:cxnSpLocks/>
            </p:cNvCxnSpPr>
            <p:nvPr/>
          </p:nvCxnSpPr>
          <p:spPr>
            <a:xfrm flipH="1" flipV="1">
              <a:off x="1690373" y="2459214"/>
              <a:ext cx="1114450" cy="4541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文字方塊 2">
            <a:extLst>
              <a:ext uri="{FF2B5EF4-FFF2-40B4-BE49-F238E27FC236}">
                <a16:creationId xmlns:a16="http://schemas.microsoft.com/office/drawing/2014/main" id="{284C3794-B283-E616-5AA9-E5F81DDD3817}"/>
              </a:ext>
            </a:extLst>
          </p:cNvPr>
          <p:cNvSpPr txBox="1"/>
          <p:nvPr/>
        </p:nvSpPr>
        <p:spPr>
          <a:xfrm>
            <a:off x="1878624" y="3865132"/>
            <a:ext cx="6093068" cy="369332"/>
          </a:xfrm>
          <a:prstGeom prst="rect">
            <a:avLst/>
          </a:prstGeom>
          <a:noFill/>
        </p:spPr>
        <p:txBody>
          <a:bodyPr wrap="square">
            <a:spAutoFit/>
          </a:bodyPr>
          <a:lstStyle/>
          <a:p>
            <a:r>
              <a:rPr lang="zh-TW" altLang="en-US" dirty="0"/>
              <a:t>https://arxiv.org/abs/1904.04100</a:t>
            </a:r>
          </a:p>
        </p:txBody>
      </p:sp>
      <p:sp>
        <p:nvSpPr>
          <p:cNvPr id="14" name="文字方塊 13">
            <a:extLst>
              <a:ext uri="{FF2B5EF4-FFF2-40B4-BE49-F238E27FC236}">
                <a16:creationId xmlns:a16="http://schemas.microsoft.com/office/drawing/2014/main" id="{88609F06-6D99-63D5-19E1-89A35A4A5C07}"/>
              </a:ext>
            </a:extLst>
          </p:cNvPr>
          <p:cNvSpPr txBox="1"/>
          <p:nvPr/>
        </p:nvSpPr>
        <p:spPr>
          <a:xfrm>
            <a:off x="1878624" y="4148756"/>
            <a:ext cx="4162351" cy="369332"/>
          </a:xfrm>
          <a:prstGeom prst="rect">
            <a:avLst/>
          </a:prstGeom>
          <a:noFill/>
        </p:spPr>
        <p:txBody>
          <a:bodyPr wrap="square">
            <a:spAutoFit/>
          </a:bodyPr>
          <a:lstStyle/>
          <a:p>
            <a:r>
              <a:rPr lang="en-US" altLang="zh-TW" dirty="0"/>
              <a:t>This work is done by </a:t>
            </a:r>
            <a:r>
              <a:rPr lang="zh-TW" altLang="en-US" dirty="0"/>
              <a:t>陳冠宇</a:t>
            </a:r>
          </a:p>
        </p:txBody>
      </p:sp>
    </p:spTree>
    <p:extLst>
      <p:ext uri="{BB962C8B-B14F-4D97-AF65-F5344CB8AC3E}">
        <p14:creationId xmlns:p14="http://schemas.microsoft.com/office/powerpoint/2010/main" val="323177925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3423DE-6FC9-4095-A3C9-77CC3C639997}"/>
              </a:ext>
            </a:extLst>
          </p:cNvPr>
          <p:cNvSpPr>
            <a:spLocks noGrp="1"/>
          </p:cNvSpPr>
          <p:nvPr>
            <p:ph type="title"/>
          </p:nvPr>
        </p:nvSpPr>
        <p:spPr/>
        <p:txBody>
          <a:bodyPr/>
          <a:lstStyle/>
          <a:p>
            <a:r>
              <a:rPr lang="en-US" altLang="zh-TW" dirty="0"/>
              <a:t>Speech</a:t>
            </a:r>
            <a:br>
              <a:rPr lang="en-US" altLang="zh-TW" dirty="0"/>
            </a:br>
            <a:r>
              <a:rPr lang="en-US" altLang="zh-TW" dirty="0"/>
              <a:t>BERT</a:t>
            </a:r>
            <a:endParaRPr lang="zh-TW" altLang="en-US" dirty="0"/>
          </a:p>
        </p:txBody>
      </p:sp>
      <p:sp>
        <p:nvSpPr>
          <p:cNvPr id="9" name="矩形: 圓角 3">
            <a:extLst>
              <a:ext uri="{FF2B5EF4-FFF2-40B4-BE49-F238E27FC236}">
                <a16:creationId xmlns:a16="http://schemas.microsoft.com/office/drawing/2014/main" id="{85B2E6A4-D251-4113-9DC2-BC8F2C8016B8}"/>
              </a:ext>
            </a:extLst>
          </p:cNvPr>
          <p:cNvSpPr/>
          <p:nvPr/>
        </p:nvSpPr>
        <p:spPr>
          <a:xfrm>
            <a:off x="5124650" y="3742405"/>
            <a:ext cx="4152700" cy="1171047"/>
          </a:xfrm>
          <a:prstGeom prst="roundRect">
            <a:avLst/>
          </a:prstGeom>
          <a:solidFill>
            <a:schemeClr val="accent3">
              <a:lumMod val="20000"/>
              <a:lumOff val="80000"/>
            </a:schemeClr>
          </a:solidFill>
          <a:ln w="5715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11" name="群組 10">
            <a:extLst>
              <a:ext uri="{FF2B5EF4-FFF2-40B4-BE49-F238E27FC236}">
                <a16:creationId xmlns:a16="http://schemas.microsoft.com/office/drawing/2014/main" id="{78FFFD71-634E-4589-B395-88267D82581E}"/>
              </a:ext>
            </a:extLst>
          </p:cNvPr>
          <p:cNvGrpSpPr/>
          <p:nvPr/>
        </p:nvGrpSpPr>
        <p:grpSpPr>
          <a:xfrm>
            <a:off x="5305330" y="2590117"/>
            <a:ext cx="195209" cy="1145537"/>
            <a:chOff x="1647730" y="2482568"/>
            <a:chExt cx="195209" cy="1145537"/>
          </a:xfrm>
        </p:grpSpPr>
        <p:cxnSp>
          <p:nvCxnSpPr>
            <p:cNvPr id="12" name="直線單箭頭接點 11">
              <a:extLst>
                <a:ext uri="{FF2B5EF4-FFF2-40B4-BE49-F238E27FC236}">
                  <a16:creationId xmlns:a16="http://schemas.microsoft.com/office/drawing/2014/main" id="{BBFC7776-4F30-4718-982B-07BDFC53B144}"/>
                </a:ext>
              </a:extLst>
            </p:cNvPr>
            <p:cNvCxnSpPr>
              <a:cxnSpLocks/>
            </p:cNvCxnSpPr>
            <p:nvPr/>
          </p:nvCxnSpPr>
          <p:spPr>
            <a:xfrm flipV="1">
              <a:off x="1745335" y="32765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0A5DAA56-E317-48EB-A118-60D44D1C5D9C}"/>
                </a:ext>
              </a:extLst>
            </p:cNvPr>
            <p:cNvSpPr/>
            <p:nvPr/>
          </p:nvSpPr>
          <p:spPr>
            <a:xfrm rot="5400000">
              <a:off x="1365191" y="27651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4" name="群組 13">
            <a:extLst>
              <a:ext uri="{FF2B5EF4-FFF2-40B4-BE49-F238E27FC236}">
                <a16:creationId xmlns:a16="http://schemas.microsoft.com/office/drawing/2014/main" id="{0E4EEC66-BD4E-4000-840A-17C02F6F062B}"/>
              </a:ext>
            </a:extLst>
          </p:cNvPr>
          <p:cNvGrpSpPr/>
          <p:nvPr/>
        </p:nvGrpSpPr>
        <p:grpSpPr>
          <a:xfrm>
            <a:off x="4791950" y="5352005"/>
            <a:ext cx="5314074" cy="615159"/>
            <a:chOff x="-511944" y="3377192"/>
            <a:chExt cx="3965607" cy="622870"/>
          </a:xfrm>
        </p:grpSpPr>
        <p:pic>
          <p:nvPicPr>
            <p:cNvPr id="15"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1701638A-F2A4-4938-AA47-9AF8BB260A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420" t="61947" r="34570" b="24860"/>
            <a:stretch/>
          </p:blipFill>
          <p:spPr bwMode="auto">
            <a:xfrm>
              <a:off x="1807745" y="3432793"/>
              <a:ext cx="1645918" cy="56611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C1A776EB-A80A-4036-AAC3-0C08CF517C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924" t="74586" r="38725" b="15733"/>
            <a:stretch/>
          </p:blipFill>
          <p:spPr bwMode="auto">
            <a:xfrm>
              <a:off x="-511944" y="3377192"/>
              <a:ext cx="1299411" cy="57375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8D6CAE23-17FF-4869-9DDD-85C843A4430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5083" t="84591" r="35072" b="1175"/>
            <a:stretch/>
          </p:blipFill>
          <p:spPr bwMode="auto">
            <a:xfrm>
              <a:off x="628650" y="3429000"/>
              <a:ext cx="1419725" cy="571062"/>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矩形 17">
            <a:extLst>
              <a:ext uri="{FF2B5EF4-FFF2-40B4-BE49-F238E27FC236}">
                <a16:creationId xmlns:a16="http://schemas.microsoft.com/office/drawing/2014/main" id="{973F836E-451E-466B-AD8E-D30A0248ABE3}"/>
              </a:ext>
            </a:extLst>
          </p:cNvPr>
          <p:cNvSpPr/>
          <p:nvPr/>
        </p:nvSpPr>
        <p:spPr>
          <a:xfrm rot="5400000">
            <a:off x="5022791" y="5561981"/>
            <a:ext cx="760287"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18">
            <a:extLst>
              <a:ext uri="{FF2B5EF4-FFF2-40B4-BE49-F238E27FC236}">
                <a16:creationId xmlns:a16="http://schemas.microsoft.com/office/drawing/2014/main" id="{F332720A-2460-49D0-8B6F-5A222AD64F49}"/>
              </a:ext>
            </a:extLst>
          </p:cNvPr>
          <p:cNvSpPr/>
          <p:nvPr/>
        </p:nvSpPr>
        <p:spPr>
          <a:xfrm rot="5400000">
            <a:off x="6054721" y="5581327"/>
            <a:ext cx="760287"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19">
            <a:extLst>
              <a:ext uri="{FF2B5EF4-FFF2-40B4-BE49-F238E27FC236}">
                <a16:creationId xmlns:a16="http://schemas.microsoft.com/office/drawing/2014/main" id="{2730F85C-E768-4732-8622-3D5B74E24059}"/>
              </a:ext>
            </a:extLst>
          </p:cNvPr>
          <p:cNvSpPr/>
          <p:nvPr/>
        </p:nvSpPr>
        <p:spPr>
          <a:xfrm rot="5400000">
            <a:off x="7086651" y="5595715"/>
            <a:ext cx="760287" cy="19520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20">
            <a:extLst>
              <a:ext uri="{FF2B5EF4-FFF2-40B4-BE49-F238E27FC236}">
                <a16:creationId xmlns:a16="http://schemas.microsoft.com/office/drawing/2014/main" id="{178F02C7-10C8-4068-A84F-B8152F3C8362}"/>
              </a:ext>
            </a:extLst>
          </p:cNvPr>
          <p:cNvSpPr/>
          <p:nvPr/>
        </p:nvSpPr>
        <p:spPr>
          <a:xfrm rot="5400000">
            <a:off x="8118581" y="5595715"/>
            <a:ext cx="760287"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21">
            <a:extLst>
              <a:ext uri="{FF2B5EF4-FFF2-40B4-BE49-F238E27FC236}">
                <a16:creationId xmlns:a16="http://schemas.microsoft.com/office/drawing/2014/main" id="{7478DD24-D1D8-4A05-8DA8-F00AF953EF9F}"/>
              </a:ext>
            </a:extLst>
          </p:cNvPr>
          <p:cNvSpPr/>
          <p:nvPr/>
        </p:nvSpPr>
        <p:spPr>
          <a:xfrm rot="5400000">
            <a:off x="5538756" y="5561981"/>
            <a:ext cx="760287"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22">
            <a:extLst>
              <a:ext uri="{FF2B5EF4-FFF2-40B4-BE49-F238E27FC236}">
                <a16:creationId xmlns:a16="http://schemas.microsoft.com/office/drawing/2014/main" id="{7B53862C-EA25-4AB2-BA44-C2CCE80C64D9}"/>
              </a:ext>
            </a:extLst>
          </p:cNvPr>
          <p:cNvSpPr/>
          <p:nvPr/>
        </p:nvSpPr>
        <p:spPr>
          <a:xfrm rot="5400000">
            <a:off x="6570686" y="5581327"/>
            <a:ext cx="760287"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23">
            <a:extLst>
              <a:ext uri="{FF2B5EF4-FFF2-40B4-BE49-F238E27FC236}">
                <a16:creationId xmlns:a16="http://schemas.microsoft.com/office/drawing/2014/main" id="{B2593BE3-B10D-4A5E-855A-262DB992384D}"/>
              </a:ext>
            </a:extLst>
          </p:cNvPr>
          <p:cNvSpPr/>
          <p:nvPr/>
        </p:nvSpPr>
        <p:spPr>
          <a:xfrm rot="5400000">
            <a:off x="8634543" y="5595715"/>
            <a:ext cx="760287"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25" name="群組 24">
            <a:extLst>
              <a:ext uri="{FF2B5EF4-FFF2-40B4-BE49-F238E27FC236}">
                <a16:creationId xmlns:a16="http://schemas.microsoft.com/office/drawing/2014/main" id="{EBFA936E-A870-4119-8147-52A615F0C5BF}"/>
              </a:ext>
            </a:extLst>
          </p:cNvPr>
          <p:cNvGrpSpPr/>
          <p:nvPr/>
        </p:nvGrpSpPr>
        <p:grpSpPr>
          <a:xfrm>
            <a:off x="5398806" y="4942227"/>
            <a:ext cx="3623571" cy="351516"/>
            <a:chOff x="1474506" y="4961277"/>
            <a:chExt cx="3623571" cy="351516"/>
          </a:xfrm>
        </p:grpSpPr>
        <p:cxnSp>
          <p:nvCxnSpPr>
            <p:cNvPr id="26" name="直線單箭頭接點 25">
              <a:extLst>
                <a:ext uri="{FF2B5EF4-FFF2-40B4-BE49-F238E27FC236}">
                  <a16:creationId xmlns:a16="http://schemas.microsoft.com/office/drawing/2014/main" id="{CB9099DB-CB11-4115-97AE-4B8522AA76D3}"/>
                </a:ext>
              </a:extLst>
            </p:cNvPr>
            <p:cNvCxnSpPr>
              <a:cxnSpLocks/>
            </p:cNvCxnSpPr>
            <p:nvPr/>
          </p:nvCxnSpPr>
          <p:spPr>
            <a:xfrm flipV="1">
              <a:off x="1474506"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332AD348-4919-4ED8-B7E2-AF894F97642D}"/>
                </a:ext>
              </a:extLst>
            </p:cNvPr>
            <p:cNvCxnSpPr>
              <a:cxnSpLocks/>
            </p:cNvCxnSpPr>
            <p:nvPr/>
          </p:nvCxnSpPr>
          <p:spPr>
            <a:xfrm flipV="1">
              <a:off x="2510565"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6C6B31B0-C6B9-454B-9E27-D74B295B6CCC}"/>
                </a:ext>
              </a:extLst>
            </p:cNvPr>
            <p:cNvCxnSpPr>
              <a:cxnSpLocks/>
            </p:cNvCxnSpPr>
            <p:nvPr/>
          </p:nvCxnSpPr>
          <p:spPr>
            <a:xfrm flipV="1">
              <a:off x="3534385"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3EAD25BE-4E11-4AB6-9232-11248318FCE3}"/>
                </a:ext>
              </a:extLst>
            </p:cNvPr>
            <p:cNvCxnSpPr>
              <a:cxnSpLocks/>
            </p:cNvCxnSpPr>
            <p:nvPr/>
          </p:nvCxnSpPr>
          <p:spPr>
            <a:xfrm flipV="1">
              <a:off x="4582115"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A1258B4A-A7BD-43E8-A1C2-296BEAB4CD25}"/>
                </a:ext>
              </a:extLst>
            </p:cNvPr>
            <p:cNvCxnSpPr>
              <a:cxnSpLocks/>
            </p:cNvCxnSpPr>
            <p:nvPr/>
          </p:nvCxnSpPr>
          <p:spPr>
            <a:xfrm flipV="1">
              <a:off x="1990471"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9DDCC7FB-8B3A-4BC8-8252-896AE088ECFD}"/>
                </a:ext>
              </a:extLst>
            </p:cNvPr>
            <p:cNvCxnSpPr>
              <a:cxnSpLocks/>
            </p:cNvCxnSpPr>
            <p:nvPr/>
          </p:nvCxnSpPr>
          <p:spPr>
            <a:xfrm flipV="1">
              <a:off x="3026530"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14BF6F0A-7CE3-499C-A835-20620729E4CB}"/>
                </a:ext>
              </a:extLst>
            </p:cNvPr>
            <p:cNvCxnSpPr>
              <a:cxnSpLocks/>
            </p:cNvCxnSpPr>
            <p:nvPr/>
          </p:nvCxnSpPr>
          <p:spPr>
            <a:xfrm flipV="1">
              <a:off x="5098077"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CA9700FF-6881-4823-8FCD-23F6AF66685E}"/>
                </a:ext>
              </a:extLst>
            </p:cNvPr>
            <p:cNvCxnSpPr>
              <a:cxnSpLocks/>
            </p:cNvCxnSpPr>
            <p:nvPr/>
          </p:nvCxnSpPr>
          <p:spPr>
            <a:xfrm flipV="1">
              <a:off x="4066150"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4" name="矩形 33">
            <a:extLst>
              <a:ext uri="{FF2B5EF4-FFF2-40B4-BE49-F238E27FC236}">
                <a16:creationId xmlns:a16="http://schemas.microsoft.com/office/drawing/2014/main" id="{B9C266AC-253E-4C73-B986-866440CF7744}"/>
              </a:ext>
            </a:extLst>
          </p:cNvPr>
          <p:cNvSpPr/>
          <p:nvPr/>
        </p:nvSpPr>
        <p:spPr>
          <a:xfrm rot="5400000">
            <a:off x="7602616" y="5595715"/>
            <a:ext cx="760287"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BDEF49E5-7254-4A5A-BAA2-C461D0E3DF54}"/>
              </a:ext>
            </a:extLst>
          </p:cNvPr>
          <p:cNvSpPr txBox="1"/>
          <p:nvPr/>
        </p:nvSpPr>
        <p:spPr>
          <a:xfrm>
            <a:off x="9622417" y="5264648"/>
            <a:ext cx="2550533"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Some of the input are masked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矩形 35">
            <a:extLst>
              <a:ext uri="{FF2B5EF4-FFF2-40B4-BE49-F238E27FC236}">
                <a16:creationId xmlns:a16="http://schemas.microsoft.com/office/drawing/2014/main" id="{BA598028-4258-48DD-8D22-48D355ECE528}"/>
              </a:ext>
            </a:extLst>
          </p:cNvPr>
          <p:cNvSpPr/>
          <p:nvPr/>
        </p:nvSpPr>
        <p:spPr>
          <a:xfrm rot="5400000">
            <a:off x="5530271" y="5570696"/>
            <a:ext cx="760287" cy="19520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矩形 36">
            <a:extLst>
              <a:ext uri="{FF2B5EF4-FFF2-40B4-BE49-F238E27FC236}">
                <a16:creationId xmlns:a16="http://schemas.microsoft.com/office/drawing/2014/main" id="{D2D4D586-8849-4253-9109-13CE81F1BF4D}"/>
              </a:ext>
            </a:extLst>
          </p:cNvPr>
          <p:cNvSpPr/>
          <p:nvPr/>
        </p:nvSpPr>
        <p:spPr>
          <a:xfrm rot="5400000">
            <a:off x="7616292" y="5604337"/>
            <a:ext cx="760287" cy="19520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文字方塊 37">
            <a:extLst>
              <a:ext uri="{FF2B5EF4-FFF2-40B4-BE49-F238E27FC236}">
                <a16:creationId xmlns:a16="http://schemas.microsoft.com/office/drawing/2014/main" id="{FCDF5D85-5D8F-4952-9492-C1C8AED1A7DE}"/>
              </a:ext>
            </a:extLst>
          </p:cNvPr>
          <p:cNvSpPr txBox="1"/>
          <p:nvPr/>
        </p:nvSpPr>
        <p:spPr>
          <a:xfrm>
            <a:off x="5305330" y="6129724"/>
            <a:ext cx="11810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masked</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文字方塊 38">
            <a:extLst>
              <a:ext uri="{FF2B5EF4-FFF2-40B4-BE49-F238E27FC236}">
                <a16:creationId xmlns:a16="http://schemas.microsoft.com/office/drawing/2014/main" id="{54A813AF-B891-4226-8214-93FEEB828322}"/>
              </a:ext>
            </a:extLst>
          </p:cNvPr>
          <p:cNvSpPr txBox="1"/>
          <p:nvPr/>
        </p:nvSpPr>
        <p:spPr>
          <a:xfrm>
            <a:off x="7488220" y="6101518"/>
            <a:ext cx="11810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masked</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40" name="群組 39">
            <a:extLst>
              <a:ext uri="{FF2B5EF4-FFF2-40B4-BE49-F238E27FC236}">
                <a16:creationId xmlns:a16="http://schemas.microsoft.com/office/drawing/2014/main" id="{01EDA9C4-CE4C-4C2F-9F76-39662CAEE135}"/>
              </a:ext>
            </a:extLst>
          </p:cNvPr>
          <p:cNvGrpSpPr/>
          <p:nvPr/>
        </p:nvGrpSpPr>
        <p:grpSpPr>
          <a:xfrm>
            <a:off x="5824030" y="2590117"/>
            <a:ext cx="195209" cy="1145537"/>
            <a:chOff x="1800130" y="2634968"/>
            <a:chExt cx="195209" cy="1145537"/>
          </a:xfrm>
        </p:grpSpPr>
        <p:cxnSp>
          <p:nvCxnSpPr>
            <p:cNvPr id="41" name="直線單箭頭接點 40">
              <a:extLst>
                <a:ext uri="{FF2B5EF4-FFF2-40B4-BE49-F238E27FC236}">
                  <a16:creationId xmlns:a16="http://schemas.microsoft.com/office/drawing/2014/main" id="{B3A6BDD5-90A5-4374-8DE9-38A2AA316458}"/>
                </a:ext>
              </a:extLst>
            </p:cNvPr>
            <p:cNvCxnSpPr>
              <a:cxnSpLocks/>
            </p:cNvCxnSpPr>
            <p:nvPr/>
          </p:nvCxnSpPr>
          <p:spPr>
            <a:xfrm flipV="1">
              <a:off x="1897735" y="34289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FEBA36E8-850C-4DE0-9F26-CC2194AC20BA}"/>
                </a:ext>
              </a:extLst>
            </p:cNvPr>
            <p:cNvSpPr/>
            <p:nvPr/>
          </p:nvSpPr>
          <p:spPr>
            <a:xfrm rot="5400000">
              <a:off x="1517591" y="29175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43" name="群組 42">
            <a:extLst>
              <a:ext uri="{FF2B5EF4-FFF2-40B4-BE49-F238E27FC236}">
                <a16:creationId xmlns:a16="http://schemas.microsoft.com/office/drawing/2014/main" id="{5B009D3E-53CA-4447-8598-14DF14E59848}"/>
              </a:ext>
            </a:extLst>
          </p:cNvPr>
          <p:cNvGrpSpPr/>
          <p:nvPr/>
        </p:nvGrpSpPr>
        <p:grpSpPr>
          <a:xfrm>
            <a:off x="6342730" y="2590117"/>
            <a:ext cx="195209" cy="1145537"/>
            <a:chOff x="1800130" y="2634968"/>
            <a:chExt cx="195209" cy="1145537"/>
          </a:xfrm>
        </p:grpSpPr>
        <p:cxnSp>
          <p:nvCxnSpPr>
            <p:cNvPr id="44" name="直線單箭頭接點 43">
              <a:extLst>
                <a:ext uri="{FF2B5EF4-FFF2-40B4-BE49-F238E27FC236}">
                  <a16:creationId xmlns:a16="http://schemas.microsoft.com/office/drawing/2014/main" id="{FDE029C5-89B8-465F-8F2B-B0503687D0EB}"/>
                </a:ext>
              </a:extLst>
            </p:cNvPr>
            <p:cNvCxnSpPr>
              <a:cxnSpLocks/>
            </p:cNvCxnSpPr>
            <p:nvPr/>
          </p:nvCxnSpPr>
          <p:spPr>
            <a:xfrm flipV="1">
              <a:off x="1897735" y="34289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C235C73C-9581-40C5-BD5F-371BF1D196BC}"/>
                </a:ext>
              </a:extLst>
            </p:cNvPr>
            <p:cNvSpPr/>
            <p:nvPr/>
          </p:nvSpPr>
          <p:spPr>
            <a:xfrm rot="5400000">
              <a:off x="1517591" y="29175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46" name="群組 45">
            <a:extLst>
              <a:ext uri="{FF2B5EF4-FFF2-40B4-BE49-F238E27FC236}">
                <a16:creationId xmlns:a16="http://schemas.microsoft.com/office/drawing/2014/main" id="{BF415137-0A68-439A-8346-EAEEF67A1579}"/>
              </a:ext>
            </a:extLst>
          </p:cNvPr>
          <p:cNvGrpSpPr/>
          <p:nvPr/>
        </p:nvGrpSpPr>
        <p:grpSpPr>
          <a:xfrm>
            <a:off x="6861430" y="2590117"/>
            <a:ext cx="195209" cy="1145537"/>
            <a:chOff x="1800130" y="2634968"/>
            <a:chExt cx="195209" cy="1145537"/>
          </a:xfrm>
        </p:grpSpPr>
        <p:cxnSp>
          <p:nvCxnSpPr>
            <p:cNvPr id="47" name="直線單箭頭接點 46">
              <a:extLst>
                <a:ext uri="{FF2B5EF4-FFF2-40B4-BE49-F238E27FC236}">
                  <a16:creationId xmlns:a16="http://schemas.microsoft.com/office/drawing/2014/main" id="{18FE5E17-496C-46D2-9881-CC35430147E5}"/>
                </a:ext>
              </a:extLst>
            </p:cNvPr>
            <p:cNvCxnSpPr>
              <a:cxnSpLocks/>
            </p:cNvCxnSpPr>
            <p:nvPr/>
          </p:nvCxnSpPr>
          <p:spPr>
            <a:xfrm flipV="1">
              <a:off x="1897735" y="34289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D85A544F-7385-469C-9195-F62AF23F6414}"/>
                </a:ext>
              </a:extLst>
            </p:cNvPr>
            <p:cNvSpPr/>
            <p:nvPr/>
          </p:nvSpPr>
          <p:spPr>
            <a:xfrm rot="5400000">
              <a:off x="1517591" y="29175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49" name="群組 48">
            <a:extLst>
              <a:ext uri="{FF2B5EF4-FFF2-40B4-BE49-F238E27FC236}">
                <a16:creationId xmlns:a16="http://schemas.microsoft.com/office/drawing/2014/main" id="{21638355-68CF-4430-A332-4454FBD33710}"/>
              </a:ext>
            </a:extLst>
          </p:cNvPr>
          <p:cNvGrpSpPr/>
          <p:nvPr/>
        </p:nvGrpSpPr>
        <p:grpSpPr>
          <a:xfrm>
            <a:off x="7380130" y="2590117"/>
            <a:ext cx="195209" cy="1145537"/>
            <a:chOff x="3763266" y="2476734"/>
            <a:chExt cx="195209" cy="1145537"/>
          </a:xfrm>
        </p:grpSpPr>
        <p:cxnSp>
          <p:nvCxnSpPr>
            <p:cNvPr id="50" name="直線單箭頭接點 49">
              <a:extLst>
                <a:ext uri="{FF2B5EF4-FFF2-40B4-BE49-F238E27FC236}">
                  <a16:creationId xmlns:a16="http://schemas.microsoft.com/office/drawing/2014/main" id="{DD3527E2-0CBA-4529-89ED-BC486440D8A7}"/>
                </a:ext>
              </a:extLst>
            </p:cNvPr>
            <p:cNvCxnSpPr>
              <a:cxnSpLocks/>
            </p:cNvCxnSpPr>
            <p:nvPr/>
          </p:nvCxnSpPr>
          <p:spPr>
            <a:xfrm flipV="1">
              <a:off x="3860871" y="3270755"/>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902184E3-21D6-4E46-A98E-6EE0BF544368}"/>
                </a:ext>
              </a:extLst>
            </p:cNvPr>
            <p:cNvSpPr/>
            <p:nvPr/>
          </p:nvSpPr>
          <p:spPr>
            <a:xfrm rot="5400000">
              <a:off x="3480727" y="2759273"/>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52" name="群組 51">
            <a:extLst>
              <a:ext uri="{FF2B5EF4-FFF2-40B4-BE49-F238E27FC236}">
                <a16:creationId xmlns:a16="http://schemas.microsoft.com/office/drawing/2014/main" id="{8D0AACFE-1431-4DEA-8733-EC246AEBD83A}"/>
              </a:ext>
            </a:extLst>
          </p:cNvPr>
          <p:cNvGrpSpPr/>
          <p:nvPr/>
        </p:nvGrpSpPr>
        <p:grpSpPr>
          <a:xfrm>
            <a:off x="7898830" y="2590117"/>
            <a:ext cx="195209" cy="1145537"/>
            <a:chOff x="1800130" y="2634968"/>
            <a:chExt cx="195209" cy="1145537"/>
          </a:xfrm>
        </p:grpSpPr>
        <p:cxnSp>
          <p:nvCxnSpPr>
            <p:cNvPr id="53" name="直線單箭頭接點 52">
              <a:extLst>
                <a:ext uri="{FF2B5EF4-FFF2-40B4-BE49-F238E27FC236}">
                  <a16:creationId xmlns:a16="http://schemas.microsoft.com/office/drawing/2014/main" id="{9CA4701D-F022-4970-A708-BFFF1DDD4B40}"/>
                </a:ext>
              </a:extLst>
            </p:cNvPr>
            <p:cNvCxnSpPr>
              <a:cxnSpLocks/>
            </p:cNvCxnSpPr>
            <p:nvPr/>
          </p:nvCxnSpPr>
          <p:spPr>
            <a:xfrm flipV="1">
              <a:off x="1897735" y="34289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BE26754F-FC6A-4B5F-B412-0FB51D47A0FA}"/>
                </a:ext>
              </a:extLst>
            </p:cNvPr>
            <p:cNvSpPr/>
            <p:nvPr/>
          </p:nvSpPr>
          <p:spPr>
            <a:xfrm rot="5400000">
              <a:off x="1517591" y="29175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55" name="群組 54">
            <a:extLst>
              <a:ext uri="{FF2B5EF4-FFF2-40B4-BE49-F238E27FC236}">
                <a16:creationId xmlns:a16="http://schemas.microsoft.com/office/drawing/2014/main" id="{DA0001C5-68E0-4257-8734-92A69189CA7A}"/>
              </a:ext>
            </a:extLst>
          </p:cNvPr>
          <p:cNvGrpSpPr/>
          <p:nvPr/>
        </p:nvGrpSpPr>
        <p:grpSpPr>
          <a:xfrm>
            <a:off x="8417530" y="2590117"/>
            <a:ext cx="195209" cy="1145537"/>
            <a:chOff x="1800130" y="2634968"/>
            <a:chExt cx="195209" cy="1145537"/>
          </a:xfrm>
        </p:grpSpPr>
        <p:cxnSp>
          <p:nvCxnSpPr>
            <p:cNvPr id="56" name="直線單箭頭接點 55">
              <a:extLst>
                <a:ext uri="{FF2B5EF4-FFF2-40B4-BE49-F238E27FC236}">
                  <a16:creationId xmlns:a16="http://schemas.microsoft.com/office/drawing/2014/main" id="{9539A400-2270-43D1-AEFB-1FCFEC1794FA}"/>
                </a:ext>
              </a:extLst>
            </p:cNvPr>
            <p:cNvCxnSpPr>
              <a:cxnSpLocks/>
            </p:cNvCxnSpPr>
            <p:nvPr/>
          </p:nvCxnSpPr>
          <p:spPr>
            <a:xfrm flipV="1">
              <a:off x="1897735" y="34289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229982F1-1F53-4044-8E74-F1EE0BE07A47}"/>
                </a:ext>
              </a:extLst>
            </p:cNvPr>
            <p:cNvSpPr/>
            <p:nvPr/>
          </p:nvSpPr>
          <p:spPr>
            <a:xfrm rot="5400000">
              <a:off x="1517591" y="29175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58" name="群組 57">
            <a:extLst>
              <a:ext uri="{FF2B5EF4-FFF2-40B4-BE49-F238E27FC236}">
                <a16:creationId xmlns:a16="http://schemas.microsoft.com/office/drawing/2014/main" id="{4DB2DCB9-F1BF-4347-80DE-3185F118C7A6}"/>
              </a:ext>
            </a:extLst>
          </p:cNvPr>
          <p:cNvGrpSpPr/>
          <p:nvPr/>
        </p:nvGrpSpPr>
        <p:grpSpPr>
          <a:xfrm>
            <a:off x="8936232" y="2590117"/>
            <a:ext cx="195209" cy="1145537"/>
            <a:chOff x="1800130" y="2634968"/>
            <a:chExt cx="195209" cy="1145537"/>
          </a:xfrm>
        </p:grpSpPr>
        <p:cxnSp>
          <p:nvCxnSpPr>
            <p:cNvPr id="59" name="直線單箭頭接點 58">
              <a:extLst>
                <a:ext uri="{FF2B5EF4-FFF2-40B4-BE49-F238E27FC236}">
                  <a16:creationId xmlns:a16="http://schemas.microsoft.com/office/drawing/2014/main" id="{4145991E-BDF0-46C7-ABBE-F12603D6B31D}"/>
                </a:ext>
              </a:extLst>
            </p:cNvPr>
            <p:cNvCxnSpPr>
              <a:cxnSpLocks/>
            </p:cNvCxnSpPr>
            <p:nvPr/>
          </p:nvCxnSpPr>
          <p:spPr>
            <a:xfrm flipV="1">
              <a:off x="1897735" y="34289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4B7C3CB2-DE45-429F-863B-8F099A3D7203}"/>
                </a:ext>
              </a:extLst>
            </p:cNvPr>
            <p:cNvSpPr/>
            <p:nvPr/>
          </p:nvSpPr>
          <p:spPr>
            <a:xfrm rot="5400000">
              <a:off x="1517591" y="29175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61" name="直線單箭頭接點 60">
            <a:extLst>
              <a:ext uri="{FF2B5EF4-FFF2-40B4-BE49-F238E27FC236}">
                <a16:creationId xmlns:a16="http://schemas.microsoft.com/office/drawing/2014/main" id="{EC8C93CD-70C5-445D-9E8D-9CC475A484E5}"/>
              </a:ext>
            </a:extLst>
          </p:cNvPr>
          <p:cNvCxnSpPr>
            <a:cxnSpLocks/>
          </p:cNvCxnSpPr>
          <p:nvPr/>
        </p:nvCxnSpPr>
        <p:spPr>
          <a:xfrm flipV="1">
            <a:off x="5921634" y="2238601"/>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E6E6A0FD-7FC9-45EC-B660-934065EAB4DF}"/>
              </a:ext>
            </a:extLst>
          </p:cNvPr>
          <p:cNvCxnSpPr>
            <a:cxnSpLocks/>
          </p:cNvCxnSpPr>
          <p:nvPr/>
        </p:nvCxnSpPr>
        <p:spPr>
          <a:xfrm flipV="1">
            <a:off x="7987534" y="2238601"/>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圓角 62">
            <a:extLst>
              <a:ext uri="{FF2B5EF4-FFF2-40B4-BE49-F238E27FC236}">
                <a16:creationId xmlns:a16="http://schemas.microsoft.com/office/drawing/2014/main" id="{67517EE2-F580-4AAE-9275-37DB3E8EC2BA}"/>
              </a:ext>
            </a:extLst>
          </p:cNvPr>
          <p:cNvSpPr/>
          <p:nvPr/>
        </p:nvSpPr>
        <p:spPr>
          <a:xfrm>
            <a:off x="5605165" y="1695450"/>
            <a:ext cx="619211" cy="484889"/>
          </a:xfrm>
          <a:prstGeom prst="roundRect">
            <a:avLst/>
          </a:prstGeom>
          <a:solidFill>
            <a:schemeClr val="accent1">
              <a:lumMod val="40000"/>
              <a:lumOff val="60000"/>
            </a:schemeClr>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64" name="矩形: 圓角 63">
            <a:extLst>
              <a:ext uri="{FF2B5EF4-FFF2-40B4-BE49-F238E27FC236}">
                <a16:creationId xmlns:a16="http://schemas.microsoft.com/office/drawing/2014/main" id="{54E7B213-8DED-4755-BAF8-E12C50D7037C}"/>
              </a:ext>
            </a:extLst>
          </p:cNvPr>
          <p:cNvSpPr/>
          <p:nvPr/>
        </p:nvSpPr>
        <p:spPr>
          <a:xfrm>
            <a:off x="7680844" y="1724213"/>
            <a:ext cx="619211" cy="484889"/>
          </a:xfrm>
          <a:prstGeom prst="roundRect">
            <a:avLst/>
          </a:prstGeom>
          <a:solidFill>
            <a:schemeClr val="accent1">
              <a:lumMod val="40000"/>
              <a:lumOff val="60000"/>
            </a:schemeClr>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65" name="直線單箭頭接點 64">
            <a:extLst>
              <a:ext uri="{FF2B5EF4-FFF2-40B4-BE49-F238E27FC236}">
                <a16:creationId xmlns:a16="http://schemas.microsoft.com/office/drawing/2014/main" id="{70311B13-231E-44A8-A60C-2CC30988A5C7}"/>
              </a:ext>
            </a:extLst>
          </p:cNvPr>
          <p:cNvCxnSpPr>
            <a:cxnSpLocks/>
          </p:cNvCxnSpPr>
          <p:nvPr/>
        </p:nvCxnSpPr>
        <p:spPr>
          <a:xfrm flipV="1">
            <a:off x="5895878" y="1343934"/>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6" name="群組 65">
            <a:extLst>
              <a:ext uri="{FF2B5EF4-FFF2-40B4-BE49-F238E27FC236}">
                <a16:creationId xmlns:a16="http://schemas.microsoft.com/office/drawing/2014/main" id="{EF62B457-553D-4A97-9FE8-B592687361CD}"/>
              </a:ext>
            </a:extLst>
          </p:cNvPr>
          <p:cNvGrpSpPr/>
          <p:nvPr/>
        </p:nvGrpSpPr>
        <p:grpSpPr>
          <a:xfrm>
            <a:off x="4791950" y="571596"/>
            <a:ext cx="5314074" cy="794021"/>
            <a:chOff x="798793" y="116970"/>
            <a:chExt cx="5314074" cy="794021"/>
          </a:xfrm>
        </p:grpSpPr>
        <p:grpSp>
          <p:nvGrpSpPr>
            <p:cNvPr id="67" name="群組 66">
              <a:extLst>
                <a:ext uri="{FF2B5EF4-FFF2-40B4-BE49-F238E27FC236}">
                  <a16:creationId xmlns:a16="http://schemas.microsoft.com/office/drawing/2014/main" id="{54A235C7-2A98-4C40-B466-F36F2C4D7638}"/>
                </a:ext>
              </a:extLst>
            </p:cNvPr>
            <p:cNvGrpSpPr/>
            <p:nvPr/>
          </p:nvGrpSpPr>
          <p:grpSpPr>
            <a:xfrm>
              <a:off x="798793" y="189533"/>
              <a:ext cx="5314074" cy="615159"/>
              <a:chOff x="-511944" y="3377192"/>
              <a:chExt cx="3965607" cy="622870"/>
            </a:xfrm>
          </p:grpSpPr>
          <p:pic>
            <p:nvPicPr>
              <p:cNvPr id="76"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35DF0420-46C4-4FA8-90C0-442FFDB821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420" t="61947" r="34570" b="24860"/>
              <a:stretch/>
            </p:blipFill>
            <p:spPr bwMode="auto">
              <a:xfrm>
                <a:off x="1807745" y="3432793"/>
                <a:ext cx="1645918" cy="566117"/>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DC90F04E-4472-4A24-8FCD-A715D4D7F7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924" t="74586" r="38725" b="15733"/>
              <a:stretch/>
            </p:blipFill>
            <p:spPr bwMode="auto">
              <a:xfrm>
                <a:off x="-511944" y="3377192"/>
                <a:ext cx="1299411" cy="573750"/>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D1276C4-AEB5-4253-9C35-18DE94266F6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5083" t="84591" r="35072" b="1175"/>
              <a:stretch/>
            </p:blipFill>
            <p:spPr bwMode="auto">
              <a:xfrm>
                <a:off x="628650" y="3429000"/>
                <a:ext cx="1419725" cy="571062"/>
              </a:xfrm>
              <a:prstGeom prst="rect">
                <a:avLst/>
              </a:prstGeom>
              <a:noFill/>
              <a:extLst>
                <a:ext uri="{909E8E84-426E-40DD-AFC4-6F175D3DCCD1}">
                  <a14:hiddenFill xmlns:a14="http://schemas.microsoft.com/office/drawing/2010/main">
                    <a:solidFill>
                      <a:srgbClr val="FFFFFF"/>
                    </a:solidFill>
                  </a14:hiddenFill>
                </a:ext>
              </a:extLst>
            </p:spPr>
          </p:pic>
        </p:grpSp>
        <p:sp>
          <p:nvSpPr>
            <p:cNvPr id="68" name="矩形 67">
              <a:extLst>
                <a:ext uri="{FF2B5EF4-FFF2-40B4-BE49-F238E27FC236}">
                  <a16:creationId xmlns:a16="http://schemas.microsoft.com/office/drawing/2014/main" id="{7BF5D173-B79F-4442-8A98-503F55CD5A6B}"/>
                </a:ext>
              </a:extLst>
            </p:cNvPr>
            <p:cNvSpPr/>
            <p:nvPr/>
          </p:nvSpPr>
          <p:spPr>
            <a:xfrm rot="5400000">
              <a:off x="1029634" y="399509"/>
              <a:ext cx="760287"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69" name="矩形 68">
              <a:extLst>
                <a:ext uri="{FF2B5EF4-FFF2-40B4-BE49-F238E27FC236}">
                  <a16:creationId xmlns:a16="http://schemas.microsoft.com/office/drawing/2014/main" id="{36A45FF7-DA9C-43C8-B32A-F886C9E40584}"/>
                </a:ext>
              </a:extLst>
            </p:cNvPr>
            <p:cNvSpPr/>
            <p:nvPr/>
          </p:nvSpPr>
          <p:spPr>
            <a:xfrm rot="5400000">
              <a:off x="2061564" y="418855"/>
              <a:ext cx="760287"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70" name="矩形 69">
              <a:extLst>
                <a:ext uri="{FF2B5EF4-FFF2-40B4-BE49-F238E27FC236}">
                  <a16:creationId xmlns:a16="http://schemas.microsoft.com/office/drawing/2014/main" id="{7037396E-35F6-45F9-BD1F-D64A1D0C02E5}"/>
                </a:ext>
              </a:extLst>
            </p:cNvPr>
            <p:cNvSpPr/>
            <p:nvPr/>
          </p:nvSpPr>
          <p:spPr>
            <a:xfrm rot="5400000">
              <a:off x="3093494" y="433243"/>
              <a:ext cx="760287" cy="19520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71" name="矩形 70">
              <a:extLst>
                <a:ext uri="{FF2B5EF4-FFF2-40B4-BE49-F238E27FC236}">
                  <a16:creationId xmlns:a16="http://schemas.microsoft.com/office/drawing/2014/main" id="{396CA5E2-6EBA-467F-9823-8F283BDA8654}"/>
                </a:ext>
              </a:extLst>
            </p:cNvPr>
            <p:cNvSpPr/>
            <p:nvPr/>
          </p:nvSpPr>
          <p:spPr>
            <a:xfrm rot="5400000">
              <a:off x="4125424" y="433243"/>
              <a:ext cx="760287"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72" name="矩形 71">
              <a:extLst>
                <a:ext uri="{FF2B5EF4-FFF2-40B4-BE49-F238E27FC236}">
                  <a16:creationId xmlns:a16="http://schemas.microsoft.com/office/drawing/2014/main" id="{EC8CD83A-9644-48E2-A409-50FD840A0EC0}"/>
                </a:ext>
              </a:extLst>
            </p:cNvPr>
            <p:cNvSpPr/>
            <p:nvPr/>
          </p:nvSpPr>
          <p:spPr>
            <a:xfrm rot="5400000">
              <a:off x="1545599" y="399509"/>
              <a:ext cx="760287"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73" name="矩形 72">
              <a:extLst>
                <a:ext uri="{FF2B5EF4-FFF2-40B4-BE49-F238E27FC236}">
                  <a16:creationId xmlns:a16="http://schemas.microsoft.com/office/drawing/2014/main" id="{59FF9A97-B89C-470C-9D0F-4A178A2D5581}"/>
                </a:ext>
              </a:extLst>
            </p:cNvPr>
            <p:cNvSpPr/>
            <p:nvPr/>
          </p:nvSpPr>
          <p:spPr>
            <a:xfrm rot="5400000">
              <a:off x="2577529" y="418855"/>
              <a:ext cx="760287"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74" name="矩形 73">
              <a:extLst>
                <a:ext uri="{FF2B5EF4-FFF2-40B4-BE49-F238E27FC236}">
                  <a16:creationId xmlns:a16="http://schemas.microsoft.com/office/drawing/2014/main" id="{437A69CB-2CD5-4BD9-94EC-EBFE8BE1BB4E}"/>
                </a:ext>
              </a:extLst>
            </p:cNvPr>
            <p:cNvSpPr/>
            <p:nvPr/>
          </p:nvSpPr>
          <p:spPr>
            <a:xfrm rot="5400000">
              <a:off x="4641386" y="433243"/>
              <a:ext cx="760287"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75" name="矩形 74">
              <a:extLst>
                <a:ext uri="{FF2B5EF4-FFF2-40B4-BE49-F238E27FC236}">
                  <a16:creationId xmlns:a16="http://schemas.microsoft.com/office/drawing/2014/main" id="{4B7E6EF3-E22D-413D-B2B3-7A00C901DB92}"/>
                </a:ext>
              </a:extLst>
            </p:cNvPr>
            <p:cNvSpPr/>
            <p:nvPr/>
          </p:nvSpPr>
          <p:spPr>
            <a:xfrm rot="5400000">
              <a:off x="3609459" y="433243"/>
              <a:ext cx="760287"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pSp>
      <p:cxnSp>
        <p:nvCxnSpPr>
          <p:cNvPr id="79" name="直線單箭頭接點 78">
            <a:extLst>
              <a:ext uri="{FF2B5EF4-FFF2-40B4-BE49-F238E27FC236}">
                <a16:creationId xmlns:a16="http://schemas.microsoft.com/office/drawing/2014/main" id="{0745499A-CC7C-4275-B2A2-C5B107795827}"/>
              </a:ext>
            </a:extLst>
          </p:cNvPr>
          <p:cNvCxnSpPr>
            <a:cxnSpLocks/>
          </p:cNvCxnSpPr>
          <p:nvPr/>
        </p:nvCxnSpPr>
        <p:spPr>
          <a:xfrm flipV="1">
            <a:off x="7990449" y="137269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382AD6D3-5DFF-464D-80E8-9F3E94448BA2}"/>
              </a:ext>
            </a:extLst>
          </p:cNvPr>
          <p:cNvSpPr/>
          <p:nvPr/>
        </p:nvSpPr>
        <p:spPr>
          <a:xfrm>
            <a:off x="8359372" y="1770805"/>
            <a:ext cx="955711" cy="461665"/>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Linear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1" name="矩形 80">
            <a:extLst>
              <a:ext uri="{FF2B5EF4-FFF2-40B4-BE49-F238E27FC236}">
                <a16:creationId xmlns:a16="http://schemas.microsoft.com/office/drawing/2014/main" id="{F796F724-E9AE-4F1A-93CF-21CE3A79601C}"/>
              </a:ext>
            </a:extLst>
          </p:cNvPr>
          <p:cNvSpPr/>
          <p:nvPr/>
        </p:nvSpPr>
        <p:spPr>
          <a:xfrm>
            <a:off x="9727079" y="571596"/>
            <a:ext cx="2205597" cy="83099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Learn to reconstruct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82" name="Google Shape;455;p28">
            <a:extLst>
              <a:ext uri="{FF2B5EF4-FFF2-40B4-BE49-F238E27FC236}">
                <a16:creationId xmlns:a16="http://schemas.microsoft.com/office/drawing/2014/main" id="{1B24D598-54FA-42E5-A582-2B09A3D7796F}"/>
              </a:ext>
            </a:extLst>
          </p:cNvPr>
          <p:cNvPicPr preferRelativeResize="0"/>
          <p:nvPr/>
        </p:nvPicPr>
        <p:blipFill rotWithShape="1">
          <a:blip r:embed="rId3">
            <a:alphaModFix/>
          </a:blip>
          <a:srcRect l="4961" t="10068" b="18828"/>
          <a:stretch/>
        </p:blipFill>
        <p:spPr>
          <a:xfrm>
            <a:off x="8245349" y="4066318"/>
            <a:ext cx="886092" cy="748233"/>
          </a:xfrm>
          <a:prstGeom prst="rect">
            <a:avLst/>
          </a:prstGeom>
          <a:noFill/>
          <a:ln>
            <a:noFill/>
          </a:ln>
        </p:spPr>
      </p:pic>
      <p:sp>
        <p:nvSpPr>
          <p:cNvPr id="83" name="矩形 82">
            <a:extLst>
              <a:ext uri="{FF2B5EF4-FFF2-40B4-BE49-F238E27FC236}">
                <a16:creationId xmlns:a16="http://schemas.microsoft.com/office/drawing/2014/main" id="{B8062616-4DBF-4CA7-92B0-59CED2D35DFD}"/>
              </a:ext>
            </a:extLst>
          </p:cNvPr>
          <p:cNvSpPr/>
          <p:nvPr/>
        </p:nvSpPr>
        <p:spPr>
          <a:xfrm>
            <a:off x="5936465" y="3971007"/>
            <a:ext cx="1849930" cy="52322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Mockingjay</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4" name="矩形 83">
            <a:extLst>
              <a:ext uri="{FF2B5EF4-FFF2-40B4-BE49-F238E27FC236}">
                <a16:creationId xmlns:a16="http://schemas.microsoft.com/office/drawing/2014/main" id="{73EA7597-DEC3-49F3-9983-FE2A859A4FAC}"/>
              </a:ext>
            </a:extLst>
          </p:cNvPr>
          <p:cNvSpPr/>
          <p:nvPr/>
        </p:nvSpPr>
        <p:spPr>
          <a:xfrm>
            <a:off x="5793253" y="4415612"/>
            <a:ext cx="2136354"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mimic sound it hears</a:t>
            </a:r>
          </a:p>
        </p:txBody>
      </p:sp>
      <p:pic>
        <p:nvPicPr>
          <p:cNvPr id="85" name="Picture 6" descr="BERT QA 機器人實戰– 下篇- The coding day 整天打扣">
            <a:extLst>
              <a:ext uri="{FF2B5EF4-FFF2-40B4-BE49-F238E27FC236}">
                <a16:creationId xmlns:a16="http://schemas.microsoft.com/office/drawing/2014/main" id="{8E0F19F3-8CAD-4DF6-9ECF-89AF023F4E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3945" y="2710157"/>
            <a:ext cx="1851424" cy="2468564"/>
          </a:xfrm>
          <a:prstGeom prst="rect">
            <a:avLst/>
          </a:prstGeom>
          <a:noFill/>
          <a:extLst>
            <a:ext uri="{909E8E84-426E-40DD-AFC4-6F175D3DCCD1}">
              <a14:hiddenFill xmlns:a14="http://schemas.microsoft.com/office/drawing/2010/main">
                <a:solidFill>
                  <a:srgbClr val="FFFFFF"/>
                </a:solidFill>
              </a14:hiddenFill>
            </a:ext>
          </a:extLst>
        </p:spPr>
      </p:pic>
      <p:sp>
        <p:nvSpPr>
          <p:cNvPr id="86" name="文字方塊 85">
            <a:extLst>
              <a:ext uri="{FF2B5EF4-FFF2-40B4-BE49-F238E27FC236}">
                <a16:creationId xmlns:a16="http://schemas.microsoft.com/office/drawing/2014/main" id="{9E203FB1-7F54-4141-BC07-7F4389EAAC1B}"/>
              </a:ext>
            </a:extLst>
          </p:cNvPr>
          <p:cNvSpPr txBox="1"/>
          <p:nvPr/>
        </p:nvSpPr>
        <p:spPr>
          <a:xfrm>
            <a:off x="838200" y="5310984"/>
            <a:ext cx="3621924"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Like BERT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(also, like MaskGIT)</a:t>
            </a:r>
            <a:endPar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88" name="文字方塊 87">
            <a:extLst>
              <a:ext uri="{FF2B5EF4-FFF2-40B4-BE49-F238E27FC236}">
                <a16:creationId xmlns:a16="http://schemas.microsoft.com/office/drawing/2014/main" id="{1750DBEF-9713-48A4-BFC0-01C138252AAB}"/>
              </a:ext>
            </a:extLst>
          </p:cNvPr>
          <p:cNvSpPr txBox="1"/>
          <p:nvPr/>
        </p:nvSpPr>
        <p:spPr>
          <a:xfrm>
            <a:off x="899808" y="1617565"/>
            <a:ext cx="3368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https://arxiv.org/abs/1910.12638</a:t>
            </a:r>
          </a:p>
        </p:txBody>
      </p:sp>
      <p:grpSp>
        <p:nvGrpSpPr>
          <p:cNvPr id="4" name="群組 3">
            <a:extLst>
              <a:ext uri="{FF2B5EF4-FFF2-40B4-BE49-F238E27FC236}">
                <a16:creationId xmlns:a16="http://schemas.microsoft.com/office/drawing/2014/main" id="{0C716F9A-21FD-4CA1-0694-DDECA7DE54EB}"/>
              </a:ext>
            </a:extLst>
          </p:cNvPr>
          <p:cNvGrpSpPr/>
          <p:nvPr/>
        </p:nvGrpSpPr>
        <p:grpSpPr>
          <a:xfrm>
            <a:off x="157642" y="2366643"/>
            <a:ext cx="1664208" cy="1369011"/>
            <a:chOff x="5824515" y="2397194"/>
            <a:chExt cx="1664208" cy="1369011"/>
          </a:xfrm>
        </p:grpSpPr>
        <p:pic>
          <p:nvPicPr>
            <p:cNvPr id="5" name="圖片 4" descr="一張含有 個人, 牆, 室內, 握住 的圖片&#10;&#10;自動產生的描述">
              <a:extLst>
                <a:ext uri="{FF2B5EF4-FFF2-40B4-BE49-F238E27FC236}">
                  <a16:creationId xmlns:a16="http://schemas.microsoft.com/office/drawing/2014/main" id="{15E9EAA1-1D73-1F80-AEBF-00BBB2FB31B0}"/>
                </a:ext>
              </a:extLst>
            </p:cNvPr>
            <p:cNvPicPr>
              <a:picLocks noChangeAspect="1"/>
            </p:cNvPicPr>
            <p:nvPr/>
          </p:nvPicPr>
          <p:blipFill>
            <a:blip r:embed="rId5"/>
            <a:stretch>
              <a:fillRect/>
            </a:stretch>
          </p:blipFill>
          <p:spPr>
            <a:xfrm>
              <a:off x="6163056" y="2397194"/>
              <a:ext cx="993600" cy="97251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文字方塊 5">
              <a:extLst>
                <a:ext uri="{FF2B5EF4-FFF2-40B4-BE49-F238E27FC236}">
                  <a16:creationId xmlns:a16="http://schemas.microsoft.com/office/drawing/2014/main" id="{B8CB31D9-7B09-93B7-CB34-B74BBEC87DDF}"/>
                </a:ext>
              </a:extLst>
            </p:cNvPr>
            <p:cNvSpPr txBox="1"/>
            <p:nvPr/>
          </p:nvSpPr>
          <p:spPr>
            <a:xfrm>
              <a:off x="5824515" y="3396873"/>
              <a:ext cx="1664208"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1D1C1D"/>
                  </a:solidFill>
                  <a:effectLst/>
                  <a:uLnTx/>
                  <a:uFillTx/>
                  <a:latin typeface="Calibri" panose="020F0502020204030204"/>
                  <a:ea typeface="新細明體" panose="02020500000000000000" pitchFamily="18" charset="-120"/>
                  <a:cs typeface="+mn-cs"/>
                </a:rPr>
                <a:t>Andy T. Liu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Tree>
    <p:extLst>
      <p:ext uri="{BB962C8B-B14F-4D97-AF65-F5344CB8AC3E}">
        <p14:creationId xmlns:p14="http://schemas.microsoft.com/office/powerpoint/2010/main" val="33671548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8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8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8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animBg="1"/>
      <p:bldP spid="19" grpId="0" animBg="1"/>
      <p:bldP spid="20" grpId="0" animBg="1"/>
      <p:bldP spid="21" grpId="0" animBg="1"/>
      <p:bldP spid="22" grpId="0" animBg="1"/>
      <p:bldP spid="23" grpId="0" animBg="1"/>
      <p:bldP spid="24" grpId="0" animBg="1"/>
      <p:bldP spid="34" grpId="0" animBg="1"/>
      <p:bldP spid="35" grpId="0"/>
      <p:bldP spid="36" grpId="0" animBg="1"/>
      <p:bldP spid="37" grpId="0" animBg="1"/>
      <p:bldP spid="38" grpId="0"/>
      <p:bldP spid="39" grpId="0"/>
      <p:bldP spid="63" grpId="0" animBg="1"/>
      <p:bldP spid="64" grpId="0" animBg="1"/>
      <p:bldP spid="80" grpId="0"/>
      <p:bldP spid="81" grpId="0"/>
      <p:bldP spid="83" grpId="0"/>
      <p:bldP spid="84" grpId="0"/>
      <p:bldP spid="8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71DAD3-C54E-43C0-A560-9F90C681F79F}"/>
              </a:ext>
            </a:extLst>
          </p:cNvPr>
          <p:cNvSpPr>
            <a:spLocks noGrp="1"/>
          </p:cNvSpPr>
          <p:nvPr>
            <p:ph type="title"/>
          </p:nvPr>
        </p:nvSpPr>
        <p:spPr/>
        <p:txBody>
          <a:bodyPr/>
          <a:lstStyle/>
          <a:p>
            <a:r>
              <a:rPr lang="en-US" altLang="zh-TW" dirty="0"/>
              <a:t>Masking</a:t>
            </a:r>
            <a:endParaRPr lang="zh-TW" altLang="en-US" dirty="0"/>
          </a:p>
        </p:txBody>
      </p:sp>
      <p:sp>
        <p:nvSpPr>
          <p:cNvPr id="3" name="內容版面配置區 2">
            <a:extLst>
              <a:ext uri="{FF2B5EF4-FFF2-40B4-BE49-F238E27FC236}">
                <a16:creationId xmlns:a16="http://schemas.microsoft.com/office/drawing/2014/main" id="{91A5E00D-AF8A-4EE4-AB90-35595CA00F3E}"/>
              </a:ext>
            </a:extLst>
          </p:cNvPr>
          <p:cNvSpPr>
            <a:spLocks noGrp="1"/>
          </p:cNvSpPr>
          <p:nvPr>
            <p:ph idx="1"/>
          </p:nvPr>
        </p:nvSpPr>
        <p:spPr/>
        <p:txBody>
          <a:bodyPr/>
          <a:lstStyle/>
          <a:p>
            <a:r>
              <a:rPr lang="en-US" altLang="zh-TW" dirty="0"/>
              <a:t>Smoothness of acoustic features </a:t>
            </a:r>
          </a:p>
          <a:p>
            <a:endParaRPr lang="en-US" altLang="zh-TW" dirty="0"/>
          </a:p>
          <a:p>
            <a:endParaRPr lang="en-US" altLang="zh-TW" dirty="0"/>
          </a:p>
          <a:p>
            <a:endParaRPr lang="en-US" altLang="zh-TW" dirty="0"/>
          </a:p>
          <a:p>
            <a:r>
              <a:rPr lang="en-US" altLang="zh-TW" dirty="0"/>
              <a:t>Masking strategies for speech</a:t>
            </a:r>
            <a:endParaRPr lang="zh-TW" altLang="en-US" dirty="0"/>
          </a:p>
          <a:p>
            <a:endParaRPr lang="zh-TW" altLang="en-US" dirty="0"/>
          </a:p>
        </p:txBody>
      </p:sp>
      <p:grpSp>
        <p:nvGrpSpPr>
          <p:cNvPr id="5" name="群組 4">
            <a:extLst>
              <a:ext uri="{FF2B5EF4-FFF2-40B4-BE49-F238E27FC236}">
                <a16:creationId xmlns:a16="http://schemas.microsoft.com/office/drawing/2014/main" id="{2B1D5965-0907-48BF-BDA2-A76ED40E74D1}"/>
              </a:ext>
            </a:extLst>
          </p:cNvPr>
          <p:cNvGrpSpPr/>
          <p:nvPr/>
        </p:nvGrpSpPr>
        <p:grpSpPr>
          <a:xfrm>
            <a:off x="5782238" y="2688021"/>
            <a:ext cx="5314074" cy="615159"/>
            <a:chOff x="-511944" y="3377192"/>
            <a:chExt cx="3965607" cy="622870"/>
          </a:xfrm>
        </p:grpSpPr>
        <p:pic>
          <p:nvPicPr>
            <p:cNvPr id="14"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50725964-3DFA-4775-BE5D-287F487E38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420" t="61947" r="34570" b="24860"/>
            <a:stretch/>
          </p:blipFill>
          <p:spPr bwMode="auto">
            <a:xfrm>
              <a:off x="1807745" y="3432793"/>
              <a:ext cx="1645918" cy="56611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5F80965F-0543-42F8-BDED-A0A9D3FFBD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24" t="74586" r="38725" b="15733"/>
            <a:stretch/>
          </p:blipFill>
          <p:spPr bwMode="auto">
            <a:xfrm>
              <a:off x="-511944" y="3377192"/>
              <a:ext cx="1299411" cy="57375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1B4C2D0-102A-4438-8F12-C19AB3CE25B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5083" t="84591" r="35072" b="1175"/>
            <a:stretch/>
          </p:blipFill>
          <p:spPr bwMode="auto">
            <a:xfrm>
              <a:off x="628650" y="3429000"/>
              <a:ext cx="1419725" cy="571062"/>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矩形 5">
            <a:extLst>
              <a:ext uri="{FF2B5EF4-FFF2-40B4-BE49-F238E27FC236}">
                <a16:creationId xmlns:a16="http://schemas.microsoft.com/office/drawing/2014/main" id="{4F39D118-BC7F-4600-882C-66301AEACD51}"/>
              </a:ext>
            </a:extLst>
          </p:cNvPr>
          <p:cNvSpPr/>
          <p:nvPr/>
        </p:nvSpPr>
        <p:spPr>
          <a:xfrm rot="5400000">
            <a:off x="5853222" y="2886403"/>
            <a:ext cx="1080000"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矩形 6">
            <a:extLst>
              <a:ext uri="{FF2B5EF4-FFF2-40B4-BE49-F238E27FC236}">
                <a16:creationId xmlns:a16="http://schemas.microsoft.com/office/drawing/2014/main" id="{1BBAC67A-789E-409F-82A3-2BE4664579AA}"/>
              </a:ext>
            </a:extLst>
          </p:cNvPr>
          <p:cNvSpPr/>
          <p:nvPr/>
        </p:nvSpPr>
        <p:spPr>
          <a:xfrm rot="5400000">
            <a:off x="6885152" y="2905749"/>
            <a:ext cx="1080000"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矩形 7">
            <a:extLst>
              <a:ext uri="{FF2B5EF4-FFF2-40B4-BE49-F238E27FC236}">
                <a16:creationId xmlns:a16="http://schemas.microsoft.com/office/drawing/2014/main" id="{15EB2196-F13F-4375-936C-CAB5DB9BFC14}"/>
              </a:ext>
            </a:extLst>
          </p:cNvPr>
          <p:cNvSpPr/>
          <p:nvPr/>
        </p:nvSpPr>
        <p:spPr>
          <a:xfrm rot="5400000">
            <a:off x="7917082" y="2920137"/>
            <a:ext cx="1080000" cy="19520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矩形 8">
            <a:extLst>
              <a:ext uri="{FF2B5EF4-FFF2-40B4-BE49-F238E27FC236}">
                <a16:creationId xmlns:a16="http://schemas.microsoft.com/office/drawing/2014/main" id="{4752A709-76F7-4265-8F0B-9F9ACD14D01B}"/>
              </a:ext>
            </a:extLst>
          </p:cNvPr>
          <p:cNvSpPr/>
          <p:nvPr/>
        </p:nvSpPr>
        <p:spPr>
          <a:xfrm rot="5400000">
            <a:off x="8949012" y="2920137"/>
            <a:ext cx="1080000"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9">
            <a:extLst>
              <a:ext uri="{FF2B5EF4-FFF2-40B4-BE49-F238E27FC236}">
                <a16:creationId xmlns:a16="http://schemas.microsoft.com/office/drawing/2014/main" id="{49CD6D46-E9EC-4094-B811-F7E9762E25FF}"/>
              </a:ext>
            </a:extLst>
          </p:cNvPr>
          <p:cNvSpPr/>
          <p:nvPr/>
        </p:nvSpPr>
        <p:spPr>
          <a:xfrm rot="5400000">
            <a:off x="6369187" y="2886403"/>
            <a:ext cx="1080000"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10">
            <a:extLst>
              <a:ext uri="{FF2B5EF4-FFF2-40B4-BE49-F238E27FC236}">
                <a16:creationId xmlns:a16="http://schemas.microsoft.com/office/drawing/2014/main" id="{3EBC88A2-70A0-4876-A662-B0C3D547BBF8}"/>
              </a:ext>
            </a:extLst>
          </p:cNvPr>
          <p:cNvSpPr/>
          <p:nvPr/>
        </p:nvSpPr>
        <p:spPr>
          <a:xfrm rot="5400000">
            <a:off x="7401117" y="2905749"/>
            <a:ext cx="1080000"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11">
            <a:extLst>
              <a:ext uri="{FF2B5EF4-FFF2-40B4-BE49-F238E27FC236}">
                <a16:creationId xmlns:a16="http://schemas.microsoft.com/office/drawing/2014/main" id="{831636CA-2B09-41A8-A841-CDD2E003D230}"/>
              </a:ext>
            </a:extLst>
          </p:cNvPr>
          <p:cNvSpPr/>
          <p:nvPr/>
        </p:nvSpPr>
        <p:spPr>
          <a:xfrm rot="5400000">
            <a:off x="9464974" y="2920137"/>
            <a:ext cx="1080000"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12">
            <a:extLst>
              <a:ext uri="{FF2B5EF4-FFF2-40B4-BE49-F238E27FC236}">
                <a16:creationId xmlns:a16="http://schemas.microsoft.com/office/drawing/2014/main" id="{2943A084-4462-49CD-94F1-698F761E2809}"/>
              </a:ext>
            </a:extLst>
          </p:cNvPr>
          <p:cNvSpPr/>
          <p:nvPr/>
        </p:nvSpPr>
        <p:spPr>
          <a:xfrm rot="5400000">
            <a:off x="8433047" y="2920137"/>
            <a:ext cx="1080000"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16">
            <a:extLst>
              <a:ext uri="{FF2B5EF4-FFF2-40B4-BE49-F238E27FC236}">
                <a16:creationId xmlns:a16="http://schemas.microsoft.com/office/drawing/2014/main" id="{A8E53DF9-C1B4-45E0-8308-4E189AC26B93}"/>
              </a:ext>
            </a:extLst>
          </p:cNvPr>
          <p:cNvSpPr/>
          <p:nvPr/>
        </p:nvSpPr>
        <p:spPr>
          <a:xfrm rot="5400000">
            <a:off x="7787090" y="2283446"/>
            <a:ext cx="1358833" cy="142757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文字方塊 19">
            <a:extLst>
              <a:ext uri="{FF2B5EF4-FFF2-40B4-BE49-F238E27FC236}">
                <a16:creationId xmlns:a16="http://schemas.microsoft.com/office/drawing/2014/main" id="{12B2D3C2-6F1A-4010-BD23-5FA51D0EEE7B}"/>
              </a:ext>
            </a:extLst>
          </p:cNvPr>
          <p:cNvSpPr txBox="1"/>
          <p:nvPr/>
        </p:nvSpPr>
        <p:spPr>
          <a:xfrm>
            <a:off x="1095688" y="2255830"/>
            <a:ext cx="3368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https://arxiv.org/abs/1910.12638</a:t>
            </a:r>
          </a:p>
        </p:txBody>
      </p:sp>
      <p:sp>
        <p:nvSpPr>
          <p:cNvPr id="22" name="文字方塊 21">
            <a:extLst>
              <a:ext uri="{FF2B5EF4-FFF2-40B4-BE49-F238E27FC236}">
                <a16:creationId xmlns:a16="http://schemas.microsoft.com/office/drawing/2014/main" id="{8E5D1777-4A83-4F77-8537-22AE0F00F951}"/>
              </a:ext>
            </a:extLst>
          </p:cNvPr>
          <p:cNvSpPr txBox="1"/>
          <p:nvPr/>
        </p:nvSpPr>
        <p:spPr>
          <a:xfrm>
            <a:off x="1329151" y="5666794"/>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TERA:</a:t>
            </a: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https://arxiv.org/abs/2007.06028</a:t>
            </a:r>
          </a:p>
        </p:txBody>
      </p:sp>
      <p:sp>
        <p:nvSpPr>
          <p:cNvPr id="37" name="文字方塊 36">
            <a:extLst>
              <a:ext uri="{FF2B5EF4-FFF2-40B4-BE49-F238E27FC236}">
                <a16:creationId xmlns:a16="http://schemas.microsoft.com/office/drawing/2014/main" id="{EB95FC26-76B6-4620-8D1E-12B17B137CA9}"/>
              </a:ext>
            </a:extLst>
          </p:cNvPr>
          <p:cNvSpPr txBox="1"/>
          <p:nvPr/>
        </p:nvSpPr>
        <p:spPr>
          <a:xfrm>
            <a:off x="7331271" y="1713514"/>
            <a:ext cx="40895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Masking consecutive features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38" name="群組 37">
            <a:extLst>
              <a:ext uri="{FF2B5EF4-FFF2-40B4-BE49-F238E27FC236}">
                <a16:creationId xmlns:a16="http://schemas.microsoft.com/office/drawing/2014/main" id="{8E9F2BB3-FD85-4249-B73C-0A56731469E7}"/>
              </a:ext>
            </a:extLst>
          </p:cNvPr>
          <p:cNvGrpSpPr/>
          <p:nvPr/>
        </p:nvGrpSpPr>
        <p:grpSpPr>
          <a:xfrm>
            <a:off x="5782237" y="4969373"/>
            <a:ext cx="5314074" cy="615159"/>
            <a:chOff x="-511944" y="3377192"/>
            <a:chExt cx="3965607" cy="622870"/>
          </a:xfrm>
        </p:grpSpPr>
        <p:pic>
          <p:nvPicPr>
            <p:cNvPr id="39"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7A8BA7D-57AB-4C3E-B8F4-DA850D14EB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420" t="61947" r="34570" b="24860"/>
            <a:stretch/>
          </p:blipFill>
          <p:spPr bwMode="auto">
            <a:xfrm>
              <a:off x="1807745" y="3432793"/>
              <a:ext cx="1645918" cy="566117"/>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25E2C941-5DB2-47EE-8DC8-308ACB753C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24" t="74586" r="38725" b="15733"/>
            <a:stretch/>
          </p:blipFill>
          <p:spPr bwMode="auto">
            <a:xfrm>
              <a:off x="-511944" y="3377192"/>
              <a:ext cx="1299411" cy="57375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41A285C-AE66-4B88-BC0F-20E48E5FBCA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5083" t="84591" r="35072" b="1175"/>
            <a:stretch/>
          </p:blipFill>
          <p:spPr bwMode="auto">
            <a:xfrm>
              <a:off x="628650" y="3429000"/>
              <a:ext cx="1419725" cy="571062"/>
            </a:xfrm>
            <a:prstGeom prst="rect">
              <a:avLst/>
            </a:prstGeom>
            <a:noFill/>
            <a:extLst>
              <a:ext uri="{909E8E84-426E-40DD-AFC4-6F175D3DCCD1}">
                <a14:hiddenFill xmlns:a14="http://schemas.microsoft.com/office/drawing/2010/main">
                  <a:solidFill>
                    <a:srgbClr val="FFFFFF"/>
                  </a:solidFill>
                </a14:hiddenFill>
              </a:ext>
            </a:extLst>
          </p:spPr>
        </p:pic>
      </p:grpSp>
      <p:sp>
        <p:nvSpPr>
          <p:cNvPr id="42" name="矩形 41">
            <a:extLst>
              <a:ext uri="{FF2B5EF4-FFF2-40B4-BE49-F238E27FC236}">
                <a16:creationId xmlns:a16="http://schemas.microsoft.com/office/drawing/2014/main" id="{A846301E-1026-4946-8364-CE543CAC303D}"/>
              </a:ext>
            </a:extLst>
          </p:cNvPr>
          <p:cNvSpPr/>
          <p:nvPr/>
        </p:nvSpPr>
        <p:spPr>
          <a:xfrm rot="5400000">
            <a:off x="5853221" y="5167755"/>
            <a:ext cx="1080000"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矩形 42">
            <a:extLst>
              <a:ext uri="{FF2B5EF4-FFF2-40B4-BE49-F238E27FC236}">
                <a16:creationId xmlns:a16="http://schemas.microsoft.com/office/drawing/2014/main" id="{878337BB-8CC7-41D0-B8BC-24AA1948BC03}"/>
              </a:ext>
            </a:extLst>
          </p:cNvPr>
          <p:cNvSpPr/>
          <p:nvPr/>
        </p:nvSpPr>
        <p:spPr>
          <a:xfrm rot="5400000">
            <a:off x="6885151" y="5187101"/>
            <a:ext cx="1080000"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矩形 43">
            <a:extLst>
              <a:ext uri="{FF2B5EF4-FFF2-40B4-BE49-F238E27FC236}">
                <a16:creationId xmlns:a16="http://schemas.microsoft.com/office/drawing/2014/main" id="{43CE8086-8786-4324-AB01-ECEA51EFA4D3}"/>
              </a:ext>
            </a:extLst>
          </p:cNvPr>
          <p:cNvSpPr/>
          <p:nvPr/>
        </p:nvSpPr>
        <p:spPr>
          <a:xfrm rot="5400000">
            <a:off x="7917081" y="5201489"/>
            <a:ext cx="1080000" cy="19520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矩形 44">
            <a:extLst>
              <a:ext uri="{FF2B5EF4-FFF2-40B4-BE49-F238E27FC236}">
                <a16:creationId xmlns:a16="http://schemas.microsoft.com/office/drawing/2014/main" id="{190A1BF8-38B5-43E3-9B1A-A48963F3D3D9}"/>
              </a:ext>
            </a:extLst>
          </p:cNvPr>
          <p:cNvSpPr/>
          <p:nvPr/>
        </p:nvSpPr>
        <p:spPr>
          <a:xfrm rot="5400000">
            <a:off x="8949011" y="5201489"/>
            <a:ext cx="1080000"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矩形 45">
            <a:extLst>
              <a:ext uri="{FF2B5EF4-FFF2-40B4-BE49-F238E27FC236}">
                <a16:creationId xmlns:a16="http://schemas.microsoft.com/office/drawing/2014/main" id="{12BDDB2E-0C76-4FB5-8F0F-CD705610F45B}"/>
              </a:ext>
            </a:extLst>
          </p:cNvPr>
          <p:cNvSpPr/>
          <p:nvPr/>
        </p:nvSpPr>
        <p:spPr>
          <a:xfrm rot="5400000">
            <a:off x="6369186" y="5167755"/>
            <a:ext cx="1080000"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矩形 46">
            <a:extLst>
              <a:ext uri="{FF2B5EF4-FFF2-40B4-BE49-F238E27FC236}">
                <a16:creationId xmlns:a16="http://schemas.microsoft.com/office/drawing/2014/main" id="{F948C066-0860-449A-93C7-A7F0BC962A1D}"/>
              </a:ext>
            </a:extLst>
          </p:cNvPr>
          <p:cNvSpPr/>
          <p:nvPr/>
        </p:nvSpPr>
        <p:spPr>
          <a:xfrm rot="5400000">
            <a:off x="7401116" y="5187101"/>
            <a:ext cx="1080000"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矩形 47">
            <a:extLst>
              <a:ext uri="{FF2B5EF4-FFF2-40B4-BE49-F238E27FC236}">
                <a16:creationId xmlns:a16="http://schemas.microsoft.com/office/drawing/2014/main" id="{30A419E0-CECA-451A-9FBB-E28DAD7ABDF4}"/>
              </a:ext>
            </a:extLst>
          </p:cNvPr>
          <p:cNvSpPr/>
          <p:nvPr/>
        </p:nvSpPr>
        <p:spPr>
          <a:xfrm rot="5400000">
            <a:off x="9464973" y="5201489"/>
            <a:ext cx="1080000"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矩形 48">
            <a:extLst>
              <a:ext uri="{FF2B5EF4-FFF2-40B4-BE49-F238E27FC236}">
                <a16:creationId xmlns:a16="http://schemas.microsoft.com/office/drawing/2014/main" id="{61BB2969-32E1-41A3-AA5C-1BCF0B5DA816}"/>
              </a:ext>
            </a:extLst>
          </p:cNvPr>
          <p:cNvSpPr/>
          <p:nvPr/>
        </p:nvSpPr>
        <p:spPr>
          <a:xfrm rot="5400000">
            <a:off x="8433046" y="5201489"/>
            <a:ext cx="1080000"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50" name="矩形 49">
            <a:extLst>
              <a:ext uri="{FF2B5EF4-FFF2-40B4-BE49-F238E27FC236}">
                <a16:creationId xmlns:a16="http://schemas.microsoft.com/office/drawing/2014/main" id="{FBC6222D-C082-43D1-91B9-5318F7782671}"/>
              </a:ext>
            </a:extLst>
          </p:cNvPr>
          <p:cNvSpPr/>
          <p:nvPr/>
        </p:nvSpPr>
        <p:spPr>
          <a:xfrm rot="5400000">
            <a:off x="8049501" y="2895849"/>
            <a:ext cx="264946" cy="417195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文字方塊 50">
            <a:extLst>
              <a:ext uri="{FF2B5EF4-FFF2-40B4-BE49-F238E27FC236}">
                <a16:creationId xmlns:a16="http://schemas.microsoft.com/office/drawing/2014/main" id="{EF2F9197-616C-4AEB-857F-9739D8E7DE8B}"/>
              </a:ext>
            </a:extLst>
          </p:cNvPr>
          <p:cNvSpPr txBox="1"/>
          <p:nvPr/>
        </p:nvSpPr>
        <p:spPr>
          <a:xfrm>
            <a:off x="7425151" y="4169191"/>
            <a:ext cx="40895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Masking specific dimensions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文字方塊 51">
            <a:extLst>
              <a:ext uri="{FF2B5EF4-FFF2-40B4-BE49-F238E27FC236}">
                <a16:creationId xmlns:a16="http://schemas.microsoft.com/office/drawing/2014/main" id="{4BBE8F83-D408-4A9A-B851-8F92EDF453E9}"/>
              </a:ext>
            </a:extLst>
          </p:cNvPr>
          <p:cNvSpPr txBox="1"/>
          <p:nvPr/>
        </p:nvSpPr>
        <p:spPr>
          <a:xfrm>
            <a:off x="1362523" y="4794048"/>
            <a:ext cx="390511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Learn more speaker information in this way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0573724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p:bldP spid="37" grpId="0"/>
      <p:bldP spid="50" grpId="0" animBg="1"/>
      <p:bldP spid="51" grpId="0"/>
      <p:bldP spid="5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99BF11-7C51-47BA-BF37-8A0C680B8CEE}"/>
              </a:ext>
            </a:extLst>
          </p:cNvPr>
          <p:cNvSpPr>
            <a:spLocks noGrp="1"/>
          </p:cNvSpPr>
          <p:nvPr>
            <p:ph type="title"/>
          </p:nvPr>
        </p:nvSpPr>
        <p:spPr/>
        <p:txBody>
          <a:bodyPr/>
          <a:lstStyle/>
          <a:p>
            <a:r>
              <a:rPr lang="en-US" altLang="zh-TW" dirty="0"/>
              <a:t>Speech</a:t>
            </a:r>
            <a:br>
              <a:rPr lang="en-US" altLang="zh-TW" dirty="0"/>
            </a:br>
            <a:r>
              <a:rPr lang="en-US" altLang="zh-TW" dirty="0"/>
              <a:t>GPT</a:t>
            </a:r>
            <a:endParaRPr lang="zh-TW" altLang="en-US" dirty="0"/>
          </a:p>
        </p:txBody>
      </p:sp>
      <p:pic>
        <p:nvPicPr>
          <p:cNvPr id="4" name="Picture 10" descr="ç¸éåç">
            <a:extLst>
              <a:ext uri="{FF2B5EF4-FFF2-40B4-BE49-F238E27FC236}">
                <a16:creationId xmlns:a16="http://schemas.microsoft.com/office/drawing/2014/main" id="{2B785FBD-F6AE-4831-A285-F4D3565E04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8759" y="3320947"/>
            <a:ext cx="2457450" cy="2271814"/>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9EF7694D-8589-4630-89B2-2A12EAF3C67F}"/>
              </a:ext>
            </a:extLst>
          </p:cNvPr>
          <p:cNvSpPr txBox="1"/>
          <p:nvPr/>
        </p:nvSpPr>
        <p:spPr>
          <a:xfrm>
            <a:off x="895112" y="5647667"/>
            <a:ext cx="3154326"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Similar to GPT</a:t>
            </a:r>
            <a:endParaRPr kumimoji="0" lang="zh-TW" altLang="en-US" sz="28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66" name="文字方塊 65">
            <a:extLst>
              <a:ext uri="{FF2B5EF4-FFF2-40B4-BE49-F238E27FC236}">
                <a16:creationId xmlns:a16="http://schemas.microsoft.com/office/drawing/2014/main" id="{CC100EC4-C345-4607-88C1-E663BA66FD0B}"/>
              </a:ext>
            </a:extLst>
          </p:cNvPr>
          <p:cNvSpPr txBox="1"/>
          <p:nvPr/>
        </p:nvSpPr>
        <p:spPr>
          <a:xfrm>
            <a:off x="838200" y="1593389"/>
            <a:ext cx="393677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https://arxiv.org/abs/1910.12607</a:t>
            </a:r>
          </a:p>
        </p:txBody>
      </p:sp>
      <p:sp>
        <p:nvSpPr>
          <p:cNvPr id="84" name="矩形: 圓角 3">
            <a:extLst>
              <a:ext uri="{FF2B5EF4-FFF2-40B4-BE49-F238E27FC236}">
                <a16:creationId xmlns:a16="http://schemas.microsoft.com/office/drawing/2014/main" id="{ACA9F12D-2921-44BE-9BB5-A4174A85F3B8}"/>
              </a:ext>
            </a:extLst>
          </p:cNvPr>
          <p:cNvSpPr/>
          <p:nvPr/>
        </p:nvSpPr>
        <p:spPr>
          <a:xfrm>
            <a:off x="5810450" y="4096329"/>
            <a:ext cx="2642279" cy="1171047"/>
          </a:xfrm>
          <a:prstGeom prst="roundRect">
            <a:avLst/>
          </a:prstGeom>
          <a:solidFill>
            <a:schemeClr val="accent3">
              <a:lumMod val="20000"/>
              <a:lumOff val="80000"/>
            </a:schemeClr>
          </a:solidFill>
          <a:ln w="5715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85" name="群組 84">
            <a:extLst>
              <a:ext uri="{FF2B5EF4-FFF2-40B4-BE49-F238E27FC236}">
                <a16:creationId xmlns:a16="http://schemas.microsoft.com/office/drawing/2014/main" id="{FC2DABA8-8A56-496F-8FCB-A60E0C6D018B}"/>
              </a:ext>
            </a:extLst>
          </p:cNvPr>
          <p:cNvGrpSpPr/>
          <p:nvPr/>
        </p:nvGrpSpPr>
        <p:grpSpPr>
          <a:xfrm>
            <a:off x="5991130" y="2944041"/>
            <a:ext cx="195209" cy="1145537"/>
            <a:chOff x="1647730" y="2482568"/>
            <a:chExt cx="195209" cy="1145537"/>
          </a:xfrm>
        </p:grpSpPr>
        <p:cxnSp>
          <p:nvCxnSpPr>
            <p:cNvPr id="86" name="直線單箭頭接點 85">
              <a:extLst>
                <a:ext uri="{FF2B5EF4-FFF2-40B4-BE49-F238E27FC236}">
                  <a16:creationId xmlns:a16="http://schemas.microsoft.com/office/drawing/2014/main" id="{0E7FBB93-D817-4FCA-80D0-F07643A5320F}"/>
                </a:ext>
              </a:extLst>
            </p:cNvPr>
            <p:cNvCxnSpPr>
              <a:cxnSpLocks/>
            </p:cNvCxnSpPr>
            <p:nvPr/>
          </p:nvCxnSpPr>
          <p:spPr>
            <a:xfrm flipV="1">
              <a:off x="1745335" y="32765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矩形 86">
              <a:extLst>
                <a:ext uri="{FF2B5EF4-FFF2-40B4-BE49-F238E27FC236}">
                  <a16:creationId xmlns:a16="http://schemas.microsoft.com/office/drawing/2014/main" id="{2583ADAF-8CA5-4DA8-B9DE-A91909894891}"/>
                </a:ext>
              </a:extLst>
            </p:cNvPr>
            <p:cNvSpPr/>
            <p:nvPr/>
          </p:nvSpPr>
          <p:spPr>
            <a:xfrm rot="5400000">
              <a:off x="1365191" y="27651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88" name="群組 87">
            <a:extLst>
              <a:ext uri="{FF2B5EF4-FFF2-40B4-BE49-F238E27FC236}">
                <a16:creationId xmlns:a16="http://schemas.microsoft.com/office/drawing/2014/main" id="{93BAC55B-8A8E-4143-8BEB-EAEB7BCB51DC}"/>
              </a:ext>
            </a:extLst>
          </p:cNvPr>
          <p:cNvGrpSpPr/>
          <p:nvPr/>
        </p:nvGrpSpPr>
        <p:grpSpPr>
          <a:xfrm>
            <a:off x="5477750" y="5705929"/>
            <a:ext cx="5314074" cy="615159"/>
            <a:chOff x="-511944" y="3377192"/>
            <a:chExt cx="3965607" cy="622870"/>
          </a:xfrm>
        </p:grpSpPr>
        <p:pic>
          <p:nvPicPr>
            <p:cNvPr id="89"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1894D85A-7C92-4FDA-AECA-AFE4D08270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9420" t="61947" r="34570" b="24860"/>
            <a:stretch/>
          </p:blipFill>
          <p:spPr bwMode="auto">
            <a:xfrm>
              <a:off x="1807745" y="3432793"/>
              <a:ext cx="1645918" cy="566117"/>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58342257-B168-4CE2-8F80-FDB7E8E8CB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9924" t="74586" r="38725" b="15733"/>
            <a:stretch/>
          </p:blipFill>
          <p:spPr bwMode="auto">
            <a:xfrm>
              <a:off x="-511944" y="3377192"/>
              <a:ext cx="1299411" cy="57375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C4462F2-5D5A-46C8-8A42-4F86EFE3B723}"/>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5083" t="84591" r="35072" b="1175"/>
            <a:stretch/>
          </p:blipFill>
          <p:spPr bwMode="auto">
            <a:xfrm>
              <a:off x="628650" y="3429000"/>
              <a:ext cx="1419725" cy="571062"/>
            </a:xfrm>
            <a:prstGeom prst="rect">
              <a:avLst/>
            </a:prstGeom>
            <a:noFill/>
            <a:extLst>
              <a:ext uri="{909E8E84-426E-40DD-AFC4-6F175D3DCCD1}">
                <a14:hiddenFill xmlns:a14="http://schemas.microsoft.com/office/drawing/2010/main">
                  <a:solidFill>
                    <a:srgbClr val="FFFFFF"/>
                  </a:solidFill>
                </a14:hiddenFill>
              </a:ext>
            </a:extLst>
          </p:spPr>
        </p:pic>
      </p:grpSp>
      <p:sp>
        <p:nvSpPr>
          <p:cNvPr id="92" name="矩形 91">
            <a:extLst>
              <a:ext uri="{FF2B5EF4-FFF2-40B4-BE49-F238E27FC236}">
                <a16:creationId xmlns:a16="http://schemas.microsoft.com/office/drawing/2014/main" id="{634EFD67-34E5-4359-905C-CB36819D7398}"/>
              </a:ext>
            </a:extLst>
          </p:cNvPr>
          <p:cNvSpPr/>
          <p:nvPr/>
        </p:nvSpPr>
        <p:spPr>
          <a:xfrm rot="5400000">
            <a:off x="5708591" y="5915905"/>
            <a:ext cx="760287"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93" name="矩形 92">
            <a:extLst>
              <a:ext uri="{FF2B5EF4-FFF2-40B4-BE49-F238E27FC236}">
                <a16:creationId xmlns:a16="http://schemas.microsoft.com/office/drawing/2014/main" id="{7841E228-99CB-4A23-8ACD-04E133C767E1}"/>
              </a:ext>
            </a:extLst>
          </p:cNvPr>
          <p:cNvSpPr/>
          <p:nvPr/>
        </p:nvSpPr>
        <p:spPr>
          <a:xfrm rot="5400000">
            <a:off x="6740521" y="5935251"/>
            <a:ext cx="760287"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94" name="矩形 93">
            <a:extLst>
              <a:ext uri="{FF2B5EF4-FFF2-40B4-BE49-F238E27FC236}">
                <a16:creationId xmlns:a16="http://schemas.microsoft.com/office/drawing/2014/main" id="{9295ED16-9197-47E4-A256-AC5EF25300AD}"/>
              </a:ext>
            </a:extLst>
          </p:cNvPr>
          <p:cNvSpPr/>
          <p:nvPr/>
        </p:nvSpPr>
        <p:spPr>
          <a:xfrm rot="5400000">
            <a:off x="7772451" y="5949639"/>
            <a:ext cx="760287" cy="19520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96" name="矩形 95">
            <a:extLst>
              <a:ext uri="{FF2B5EF4-FFF2-40B4-BE49-F238E27FC236}">
                <a16:creationId xmlns:a16="http://schemas.microsoft.com/office/drawing/2014/main" id="{65F01E35-7A1D-41D0-A6D5-8FD2CC596C68}"/>
              </a:ext>
            </a:extLst>
          </p:cNvPr>
          <p:cNvSpPr/>
          <p:nvPr/>
        </p:nvSpPr>
        <p:spPr>
          <a:xfrm rot="5400000">
            <a:off x="6224556" y="5915905"/>
            <a:ext cx="760287"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97" name="矩形 96">
            <a:extLst>
              <a:ext uri="{FF2B5EF4-FFF2-40B4-BE49-F238E27FC236}">
                <a16:creationId xmlns:a16="http://schemas.microsoft.com/office/drawing/2014/main" id="{121DB18B-5B99-4AAA-B07F-4F775EC5FA2B}"/>
              </a:ext>
            </a:extLst>
          </p:cNvPr>
          <p:cNvSpPr/>
          <p:nvPr/>
        </p:nvSpPr>
        <p:spPr>
          <a:xfrm rot="5400000">
            <a:off x="7256486" y="5935251"/>
            <a:ext cx="760287"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99" name="群組 98">
            <a:extLst>
              <a:ext uri="{FF2B5EF4-FFF2-40B4-BE49-F238E27FC236}">
                <a16:creationId xmlns:a16="http://schemas.microsoft.com/office/drawing/2014/main" id="{C4D7A638-6105-4E21-97C0-84FE16107B8D}"/>
              </a:ext>
            </a:extLst>
          </p:cNvPr>
          <p:cNvGrpSpPr/>
          <p:nvPr/>
        </p:nvGrpSpPr>
        <p:grpSpPr>
          <a:xfrm>
            <a:off x="6084606" y="5296151"/>
            <a:ext cx="2059879" cy="351516"/>
            <a:chOff x="1474506" y="4961277"/>
            <a:chExt cx="2059879" cy="351516"/>
          </a:xfrm>
        </p:grpSpPr>
        <p:cxnSp>
          <p:nvCxnSpPr>
            <p:cNvPr id="100" name="直線單箭頭接點 99">
              <a:extLst>
                <a:ext uri="{FF2B5EF4-FFF2-40B4-BE49-F238E27FC236}">
                  <a16:creationId xmlns:a16="http://schemas.microsoft.com/office/drawing/2014/main" id="{CB2A5202-3F52-423C-9161-658957431EDA}"/>
                </a:ext>
              </a:extLst>
            </p:cNvPr>
            <p:cNvCxnSpPr>
              <a:cxnSpLocks/>
            </p:cNvCxnSpPr>
            <p:nvPr/>
          </p:nvCxnSpPr>
          <p:spPr>
            <a:xfrm flipV="1">
              <a:off x="1474506"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AB2609CC-CEA1-4F36-BD64-58ADD2C66D10}"/>
                </a:ext>
              </a:extLst>
            </p:cNvPr>
            <p:cNvCxnSpPr>
              <a:cxnSpLocks/>
            </p:cNvCxnSpPr>
            <p:nvPr/>
          </p:nvCxnSpPr>
          <p:spPr>
            <a:xfrm flipV="1">
              <a:off x="2510565"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單箭頭接點 101">
              <a:extLst>
                <a:ext uri="{FF2B5EF4-FFF2-40B4-BE49-F238E27FC236}">
                  <a16:creationId xmlns:a16="http://schemas.microsoft.com/office/drawing/2014/main" id="{8E6DA3C0-3B04-4F95-B66D-34C944F306C1}"/>
                </a:ext>
              </a:extLst>
            </p:cNvPr>
            <p:cNvCxnSpPr>
              <a:cxnSpLocks/>
            </p:cNvCxnSpPr>
            <p:nvPr/>
          </p:nvCxnSpPr>
          <p:spPr>
            <a:xfrm flipV="1">
              <a:off x="3534385"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a:extLst>
                <a:ext uri="{FF2B5EF4-FFF2-40B4-BE49-F238E27FC236}">
                  <a16:creationId xmlns:a16="http://schemas.microsoft.com/office/drawing/2014/main" id="{3F208205-D59B-4D0E-BA7E-78F2AD2C9115}"/>
                </a:ext>
              </a:extLst>
            </p:cNvPr>
            <p:cNvCxnSpPr>
              <a:cxnSpLocks/>
            </p:cNvCxnSpPr>
            <p:nvPr/>
          </p:nvCxnSpPr>
          <p:spPr>
            <a:xfrm flipV="1">
              <a:off x="1990471"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單箭頭接點 104">
              <a:extLst>
                <a:ext uri="{FF2B5EF4-FFF2-40B4-BE49-F238E27FC236}">
                  <a16:creationId xmlns:a16="http://schemas.microsoft.com/office/drawing/2014/main" id="{71B2F14D-3819-4F19-A998-ABD25663E7CA}"/>
                </a:ext>
              </a:extLst>
            </p:cNvPr>
            <p:cNvCxnSpPr>
              <a:cxnSpLocks/>
            </p:cNvCxnSpPr>
            <p:nvPr/>
          </p:nvCxnSpPr>
          <p:spPr>
            <a:xfrm flipV="1">
              <a:off x="3026530" y="4961277"/>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3" name="群組 112">
            <a:extLst>
              <a:ext uri="{FF2B5EF4-FFF2-40B4-BE49-F238E27FC236}">
                <a16:creationId xmlns:a16="http://schemas.microsoft.com/office/drawing/2014/main" id="{D7CDEAC8-CA76-42B1-AEFD-5422A9FDDE3B}"/>
              </a:ext>
            </a:extLst>
          </p:cNvPr>
          <p:cNvGrpSpPr/>
          <p:nvPr/>
        </p:nvGrpSpPr>
        <p:grpSpPr>
          <a:xfrm>
            <a:off x="6509830" y="2944041"/>
            <a:ext cx="195209" cy="1145537"/>
            <a:chOff x="1800130" y="2634968"/>
            <a:chExt cx="195209" cy="1145537"/>
          </a:xfrm>
        </p:grpSpPr>
        <p:cxnSp>
          <p:nvCxnSpPr>
            <p:cNvPr id="114" name="直線單箭頭接點 113">
              <a:extLst>
                <a:ext uri="{FF2B5EF4-FFF2-40B4-BE49-F238E27FC236}">
                  <a16:creationId xmlns:a16="http://schemas.microsoft.com/office/drawing/2014/main" id="{34B7DF8F-52DD-4DA5-BD7C-89756C4CB32D}"/>
                </a:ext>
              </a:extLst>
            </p:cNvPr>
            <p:cNvCxnSpPr>
              <a:cxnSpLocks/>
            </p:cNvCxnSpPr>
            <p:nvPr/>
          </p:nvCxnSpPr>
          <p:spPr>
            <a:xfrm flipV="1">
              <a:off x="1897735" y="34289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5" name="矩形 114">
              <a:extLst>
                <a:ext uri="{FF2B5EF4-FFF2-40B4-BE49-F238E27FC236}">
                  <a16:creationId xmlns:a16="http://schemas.microsoft.com/office/drawing/2014/main" id="{B2B4DF6F-CF0C-47B6-B6C8-9D4BAB0962D1}"/>
                </a:ext>
              </a:extLst>
            </p:cNvPr>
            <p:cNvSpPr/>
            <p:nvPr/>
          </p:nvSpPr>
          <p:spPr>
            <a:xfrm rot="5400000">
              <a:off x="1517591" y="29175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16" name="群組 115">
            <a:extLst>
              <a:ext uri="{FF2B5EF4-FFF2-40B4-BE49-F238E27FC236}">
                <a16:creationId xmlns:a16="http://schemas.microsoft.com/office/drawing/2014/main" id="{1C42375D-6196-4861-BC71-95C782757DF7}"/>
              </a:ext>
            </a:extLst>
          </p:cNvPr>
          <p:cNvGrpSpPr/>
          <p:nvPr/>
        </p:nvGrpSpPr>
        <p:grpSpPr>
          <a:xfrm>
            <a:off x="7028530" y="2944041"/>
            <a:ext cx="195209" cy="1145537"/>
            <a:chOff x="1800130" y="2634968"/>
            <a:chExt cx="195209" cy="1145537"/>
          </a:xfrm>
        </p:grpSpPr>
        <p:cxnSp>
          <p:nvCxnSpPr>
            <p:cNvPr id="117" name="直線單箭頭接點 116">
              <a:extLst>
                <a:ext uri="{FF2B5EF4-FFF2-40B4-BE49-F238E27FC236}">
                  <a16:creationId xmlns:a16="http://schemas.microsoft.com/office/drawing/2014/main" id="{A46688EC-5A51-448A-BFC3-9064C87D705B}"/>
                </a:ext>
              </a:extLst>
            </p:cNvPr>
            <p:cNvCxnSpPr>
              <a:cxnSpLocks/>
            </p:cNvCxnSpPr>
            <p:nvPr/>
          </p:nvCxnSpPr>
          <p:spPr>
            <a:xfrm flipV="1">
              <a:off x="1897735" y="34289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矩形 117">
              <a:extLst>
                <a:ext uri="{FF2B5EF4-FFF2-40B4-BE49-F238E27FC236}">
                  <a16:creationId xmlns:a16="http://schemas.microsoft.com/office/drawing/2014/main" id="{36F8CE09-1B18-4D58-80C6-2C14EB941C0A}"/>
                </a:ext>
              </a:extLst>
            </p:cNvPr>
            <p:cNvSpPr/>
            <p:nvPr/>
          </p:nvSpPr>
          <p:spPr>
            <a:xfrm rot="5400000">
              <a:off x="1517591" y="29175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19" name="群組 118">
            <a:extLst>
              <a:ext uri="{FF2B5EF4-FFF2-40B4-BE49-F238E27FC236}">
                <a16:creationId xmlns:a16="http://schemas.microsoft.com/office/drawing/2014/main" id="{C36543D2-18BE-4FA4-9B20-06E9EAB9E695}"/>
              </a:ext>
            </a:extLst>
          </p:cNvPr>
          <p:cNvGrpSpPr/>
          <p:nvPr/>
        </p:nvGrpSpPr>
        <p:grpSpPr>
          <a:xfrm>
            <a:off x="7547230" y="2944041"/>
            <a:ext cx="195209" cy="1145537"/>
            <a:chOff x="1800130" y="2634968"/>
            <a:chExt cx="195209" cy="1145537"/>
          </a:xfrm>
        </p:grpSpPr>
        <p:cxnSp>
          <p:nvCxnSpPr>
            <p:cNvPr id="120" name="直線單箭頭接點 119">
              <a:extLst>
                <a:ext uri="{FF2B5EF4-FFF2-40B4-BE49-F238E27FC236}">
                  <a16:creationId xmlns:a16="http://schemas.microsoft.com/office/drawing/2014/main" id="{EAF903C3-A364-4962-BD90-8D26BECEDDD6}"/>
                </a:ext>
              </a:extLst>
            </p:cNvPr>
            <p:cNvCxnSpPr>
              <a:cxnSpLocks/>
            </p:cNvCxnSpPr>
            <p:nvPr/>
          </p:nvCxnSpPr>
          <p:spPr>
            <a:xfrm flipV="1">
              <a:off x="1897735" y="3428989"/>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 name="矩形 120">
              <a:extLst>
                <a:ext uri="{FF2B5EF4-FFF2-40B4-BE49-F238E27FC236}">
                  <a16:creationId xmlns:a16="http://schemas.microsoft.com/office/drawing/2014/main" id="{306CE3CA-3D99-4113-B89B-E1C103A6A7F3}"/>
                </a:ext>
              </a:extLst>
            </p:cNvPr>
            <p:cNvSpPr/>
            <p:nvPr/>
          </p:nvSpPr>
          <p:spPr>
            <a:xfrm rot="5400000">
              <a:off x="1517591" y="2917507"/>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22" name="群組 121">
            <a:extLst>
              <a:ext uri="{FF2B5EF4-FFF2-40B4-BE49-F238E27FC236}">
                <a16:creationId xmlns:a16="http://schemas.microsoft.com/office/drawing/2014/main" id="{C4DB6E16-5382-4ED9-8157-CB5B02D95080}"/>
              </a:ext>
            </a:extLst>
          </p:cNvPr>
          <p:cNvGrpSpPr/>
          <p:nvPr/>
        </p:nvGrpSpPr>
        <p:grpSpPr>
          <a:xfrm>
            <a:off x="8065930" y="2944041"/>
            <a:ext cx="195209" cy="1145537"/>
            <a:chOff x="3763266" y="2476734"/>
            <a:chExt cx="195209" cy="1145537"/>
          </a:xfrm>
        </p:grpSpPr>
        <p:cxnSp>
          <p:nvCxnSpPr>
            <p:cNvPr id="123" name="直線單箭頭接點 122">
              <a:extLst>
                <a:ext uri="{FF2B5EF4-FFF2-40B4-BE49-F238E27FC236}">
                  <a16:creationId xmlns:a16="http://schemas.microsoft.com/office/drawing/2014/main" id="{261E8EE1-47F1-4111-BB94-89FC6E9D8CCB}"/>
                </a:ext>
              </a:extLst>
            </p:cNvPr>
            <p:cNvCxnSpPr>
              <a:cxnSpLocks/>
            </p:cNvCxnSpPr>
            <p:nvPr/>
          </p:nvCxnSpPr>
          <p:spPr>
            <a:xfrm flipV="1">
              <a:off x="3860871" y="3270755"/>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矩形 123">
              <a:extLst>
                <a:ext uri="{FF2B5EF4-FFF2-40B4-BE49-F238E27FC236}">
                  <a16:creationId xmlns:a16="http://schemas.microsoft.com/office/drawing/2014/main" id="{58B168B9-23F5-4567-9A00-08C6538A2A7C}"/>
                </a:ext>
              </a:extLst>
            </p:cNvPr>
            <p:cNvSpPr/>
            <p:nvPr/>
          </p:nvSpPr>
          <p:spPr>
            <a:xfrm rot="5400000">
              <a:off x="3480727" y="2759273"/>
              <a:ext cx="760287" cy="19520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135" name="直線單箭頭接點 134">
            <a:extLst>
              <a:ext uri="{FF2B5EF4-FFF2-40B4-BE49-F238E27FC236}">
                <a16:creationId xmlns:a16="http://schemas.microsoft.com/office/drawing/2014/main" id="{6D270690-0D2F-4DD2-999A-7B027B05817A}"/>
              </a:ext>
            </a:extLst>
          </p:cNvPr>
          <p:cNvCxnSpPr>
            <a:cxnSpLocks/>
          </p:cNvCxnSpPr>
          <p:nvPr/>
        </p:nvCxnSpPr>
        <p:spPr>
          <a:xfrm flipV="1">
            <a:off x="8167978" y="2611575"/>
            <a:ext cx="0" cy="351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矩形: 圓角 136">
            <a:extLst>
              <a:ext uri="{FF2B5EF4-FFF2-40B4-BE49-F238E27FC236}">
                <a16:creationId xmlns:a16="http://schemas.microsoft.com/office/drawing/2014/main" id="{6E959887-0CC8-4E02-A751-DA09E0A26B94}"/>
              </a:ext>
            </a:extLst>
          </p:cNvPr>
          <p:cNvSpPr/>
          <p:nvPr/>
        </p:nvSpPr>
        <p:spPr>
          <a:xfrm>
            <a:off x="7842988" y="2092952"/>
            <a:ext cx="619211" cy="484889"/>
          </a:xfrm>
          <a:prstGeom prst="roundRect">
            <a:avLst/>
          </a:prstGeom>
          <a:solidFill>
            <a:schemeClr val="accent1">
              <a:lumMod val="40000"/>
              <a:lumOff val="60000"/>
            </a:schemeClr>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139" name="群組 138">
            <a:extLst>
              <a:ext uri="{FF2B5EF4-FFF2-40B4-BE49-F238E27FC236}">
                <a16:creationId xmlns:a16="http://schemas.microsoft.com/office/drawing/2014/main" id="{B39F5B31-78A6-4449-844B-5B60EBA25474}"/>
              </a:ext>
            </a:extLst>
          </p:cNvPr>
          <p:cNvGrpSpPr/>
          <p:nvPr/>
        </p:nvGrpSpPr>
        <p:grpSpPr>
          <a:xfrm>
            <a:off x="5477750" y="601670"/>
            <a:ext cx="5314074" cy="794021"/>
            <a:chOff x="798793" y="116970"/>
            <a:chExt cx="5314074" cy="794021"/>
          </a:xfrm>
        </p:grpSpPr>
        <p:grpSp>
          <p:nvGrpSpPr>
            <p:cNvPr id="140" name="群組 139">
              <a:extLst>
                <a:ext uri="{FF2B5EF4-FFF2-40B4-BE49-F238E27FC236}">
                  <a16:creationId xmlns:a16="http://schemas.microsoft.com/office/drawing/2014/main" id="{A9FFB3E6-5FED-4FAE-A566-388B5E8BDA92}"/>
                </a:ext>
              </a:extLst>
            </p:cNvPr>
            <p:cNvGrpSpPr/>
            <p:nvPr/>
          </p:nvGrpSpPr>
          <p:grpSpPr>
            <a:xfrm>
              <a:off x="798793" y="189533"/>
              <a:ext cx="5314074" cy="615159"/>
              <a:chOff x="-511944" y="3377192"/>
              <a:chExt cx="3965607" cy="622870"/>
            </a:xfrm>
          </p:grpSpPr>
          <p:pic>
            <p:nvPicPr>
              <p:cNvPr id="149"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2F7D22D-E2DA-49FD-BD74-4C0C8296B2C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9420" t="61947" r="34570" b="24860"/>
              <a:stretch/>
            </p:blipFill>
            <p:spPr bwMode="auto">
              <a:xfrm>
                <a:off x="1807745" y="3432793"/>
                <a:ext cx="1645918" cy="566117"/>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E529E648-7CE2-4480-AB8E-7C800CA7ED4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9924" t="74586" r="38725" b="15733"/>
              <a:stretch/>
            </p:blipFill>
            <p:spPr bwMode="auto">
              <a:xfrm>
                <a:off x="-511944" y="3377192"/>
                <a:ext cx="1299411" cy="573750"/>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2"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702DAAE-D700-4712-A00A-46473AEE3A9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5083" t="84591" r="35072" b="1175"/>
              <a:stretch/>
            </p:blipFill>
            <p:spPr bwMode="auto">
              <a:xfrm>
                <a:off x="628650" y="3429000"/>
                <a:ext cx="1419725" cy="571062"/>
              </a:xfrm>
              <a:prstGeom prst="rect">
                <a:avLst/>
              </a:prstGeom>
              <a:noFill/>
              <a:extLst>
                <a:ext uri="{909E8E84-426E-40DD-AFC4-6F175D3DCCD1}">
                  <a14:hiddenFill xmlns:a14="http://schemas.microsoft.com/office/drawing/2010/main">
                    <a:solidFill>
                      <a:srgbClr val="FFFFFF"/>
                    </a:solidFill>
                  </a14:hiddenFill>
                </a:ext>
              </a:extLst>
            </p:spPr>
          </p:pic>
        </p:grpSp>
        <p:sp>
          <p:nvSpPr>
            <p:cNvPr id="141" name="矩形 140">
              <a:extLst>
                <a:ext uri="{FF2B5EF4-FFF2-40B4-BE49-F238E27FC236}">
                  <a16:creationId xmlns:a16="http://schemas.microsoft.com/office/drawing/2014/main" id="{9CD6404F-5AD0-4D55-974C-BE9611BF877A}"/>
                </a:ext>
              </a:extLst>
            </p:cNvPr>
            <p:cNvSpPr/>
            <p:nvPr/>
          </p:nvSpPr>
          <p:spPr>
            <a:xfrm rot="5400000">
              <a:off x="1029634" y="399509"/>
              <a:ext cx="760287"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2" name="矩形 141">
              <a:extLst>
                <a:ext uri="{FF2B5EF4-FFF2-40B4-BE49-F238E27FC236}">
                  <a16:creationId xmlns:a16="http://schemas.microsoft.com/office/drawing/2014/main" id="{57F816C8-19A2-4948-9986-5025D61C0950}"/>
                </a:ext>
              </a:extLst>
            </p:cNvPr>
            <p:cNvSpPr/>
            <p:nvPr/>
          </p:nvSpPr>
          <p:spPr>
            <a:xfrm rot="5400000">
              <a:off x="2061564" y="418855"/>
              <a:ext cx="760287"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3" name="矩形 142">
              <a:extLst>
                <a:ext uri="{FF2B5EF4-FFF2-40B4-BE49-F238E27FC236}">
                  <a16:creationId xmlns:a16="http://schemas.microsoft.com/office/drawing/2014/main" id="{50779BC1-1D38-4470-AFF2-C7A12684DA2B}"/>
                </a:ext>
              </a:extLst>
            </p:cNvPr>
            <p:cNvSpPr/>
            <p:nvPr/>
          </p:nvSpPr>
          <p:spPr>
            <a:xfrm rot="5400000">
              <a:off x="3093494" y="433243"/>
              <a:ext cx="760287" cy="19520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4" name="矩形 143">
              <a:extLst>
                <a:ext uri="{FF2B5EF4-FFF2-40B4-BE49-F238E27FC236}">
                  <a16:creationId xmlns:a16="http://schemas.microsoft.com/office/drawing/2014/main" id="{D6BB397E-3B4F-4823-BCE8-628C717A76C1}"/>
                </a:ext>
              </a:extLst>
            </p:cNvPr>
            <p:cNvSpPr/>
            <p:nvPr/>
          </p:nvSpPr>
          <p:spPr>
            <a:xfrm rot="5400000">
              <a:off x="4125424" y="433243"/>
              <a:ext cx="760287"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5" name="矩形 144">
              <a:extLst>
                <a:ext uri="{FF2B5EF4-FFF2-40B4-BE49-F238E27FC236}">
                  <a16:creationId xmlns:a16="http://schemas.microsoft.com/office/drawing/2014/main" id="{086763C6-B9CA-4D22-9381-0454DD12D36D}"/>
                </a:ext>
              </a:extLst>
            </p:cNvPr>
            <p:cNvSpPr/>
            <p:nvPr/>
          </p:nvSpPr>
          <p:spPr>
            <a:xfrm rot="5400000">
              <a:off x="1545599" y="399509"/>
              <a:ext cx="760287" cy="1952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6" name="矩形 145">
              <a:extLst>
                <a:ext uri="{FF2B5EF4-FFF2-40B4-BE49-F238E27FC236}">
                  <a16:creationId xmlns:a16="http://schemas.microsoft.com/office/drawing/2014/main" id="{02BE3B05-65DE-48A9-B7ED-55FECBB2142C}"/>
                </a:ext>
              </a:extLst>
            </p:cNvPr>
            <p:cNvSpPr/>
            <p:nvPr/>
          </p:nvSpPr>
          <p:spPr>
            <a:xfrm rot="5400000">
              <a:off x="2577529" y="418855"/>
              <a:ext cx="760287" cy="1952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7" name="矩形 146">
              <a:extLst>
                <a:ext uri="{FF2B5EF4-FFF2-40B4-BE49-F238E27FC236}">
                  <a16:creationId xmlns:a16="http://schemas.microsoft.com/office/drawing/2014/main" id="{6033C97B-CBA6-41BB-8D56-251536D9599F}"/>
                </a:ext>
              </a:extLst>
            </p:cNvPr>
            <p:cNvSpPr/>
            <p:nvPr/>
          </p:nvSpPr>
          <p:spPr>
            <a:xfrm rot="5400000">
              <a:off x="4641386" y="433243"/>
              <a:ext cx="760287"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8" name="矩形 147">
              <a:extLst>
                <a:ext uri="{FF2B5EF4-FFF2-40B4-BE49-F238E27FC236}">
                  <a16:creationId xmlns:a16="http://schemas.microsoft.com/office/drawing/2014/main" id="{150D67B7-FCEA-4EC2-A1FE-CD790F16C5AE}"/>
                </a:ext>
              </a:extLst>
            </p:cNvPr>
            <p:cNvSpPr/>
            <p:nvPr/>
          </p:nvSpPr>
          <p:spPr>
            <a:xfrm rot="5400000">
              <a:off x="3609459" y="433243"/>
              <a:ext cx="760287" cy="19520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pSp>
      <p:cxnSp>
        <p:nvCxnSpPr>
          <p:cNvPr id="152" name="直線單箭頭接點 151">
            <a:extLst>
              <a:ext uri="{FF2B5EF4-FFF2-40B4-BE49-F238E27FC236}">
                <a16:creationId xmlns:a16="http://schemas.microsoft.com/office/drawing/2014/main" id="{1C51EE20-D55C-4FEF-A651-CA3FE1730F84}"/>
              </a:ext>
            </a:extLst>
          </p:cNvPr>
          <p:cNvCxnSpPr>
            <a:cxnSpLocks/>
          </p:cNvCxnSpPr>
          <p:nvPr/>
        </p:nvCxnSpPr>
        <p:spPr>
          <a:xfrm flipV="1">
            <a:off x="9719536" y="1395691"/>
            <a:ext cx="0" cy="3421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a:extLst>
              <a:ext uri="{FF2B5EF4-FFF2-40B4-BE49-F238E27FC236}">
                <a16:creationId xmlns:a16="http://schemas.microsoft.com/office/drawing/2014/main" id="{F7CABDAD-FB8F-4EE3-84C8-3B87F4C2AA8C}"/>
              </a:ext>
            </a:extLst>
          </p:cNvPr>
          <p:cNvSpPr/>
          <p:nvPr/>
        </p:nvSpPr>
        <p:spPr>
          <a:xfrm>
            <a:off x="8511893" y="2079399"/>
            <a:ext cx="2109872" cy="461665"/>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Linear classifier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5" name="矩形 154">
            <a:extLst>
              <a:ext uri="{FF2B5EF4-FFF2-40B4-BE49-F238E27FC236}">
                <a16:creationId xmlns:a16="http://schemas.microsoft.com/office/drawing/2014/main" id="{D6F54DBD-B3F7-4F2C-B331-AA7723A404BE}"/>
              </a:ext>
            </a:extLst>
          </p:cNvPr>
          <p:cNvSpPr/>
          <p:nvPr/>
        </p:nvSpPr>
        <p:spPr>
          <a:xfrm>
            <a:off x="6832935" y="4456854"/>
            <a:ext cx="769763" cy="52322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APC</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8" name="文字方塊 157">
            <a:extLst>
              <a:ext uri="{FF2B5EF4-FFF2-40B4-BE49-F238E27FC236}">
                <a16:creationId xmlns:a16="http://schemas.microsoft.com/office/drawing/2014/main" id="{EABEA3ED-6668-4903-A1B9-70BD18695219}"/>
              </a:ext>
            </a:extLst>
          </p:cNvPr>
          <p:cNvSpPr txBox="1"/>
          <p:nvPr/>
        </p:nvSpPr>
        <p:spPr>
          <a:xfrm>
            <a:off x="4446793" y="1794236"/>
            <a:ext cx="4328557"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00"/>
                </a:solidFill>
                <a:effectLst/>
                <a:uLnTx/>
                <a:uFillTx/>
                <a:latin typeface="Lucida Grande"/>
                <a:ea typeface="新細明體" panose="02020500000000000000" pitchFamily="18" charset="-120"/>
                <a:cs typeface="+mn-cs"/>
              </a:rPr>
              <a:t>APC = Autoregressive Predictive Coding</a:t>
            </a:r>
          </a:p>
        </p:txBody>
      </p:sp>
      <p:sp>
        <p:nvSpPr>
          <p:cNvPr id="160" name="矩形 159">
            <a:extLst>
              <a:ext uri="{FF2B5EF4-FFF2-40B4-BE49-F238E27FC236}">
                <a16:creationId xmlns:a16="http://schemas.microsoft.com/office/drawing/2014/main" id="{C977F028-11C8-40F0-A649-036A6FE286AF}"/>
              </a:ext>
            </a:extLst>
          </p:cNvPr>
          <p:cNvSpPr/>
          <p:nvPr/>
        </p:nvSpPr>
        <p:spPr>
          <a:xfrm>
            <a:off x="8511893" y="5492388"/>
            <a:ext cx="2461348" cy="1233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164" name="文字方塊 163">
                <a:extLst>
                  <a:ext uri="{FF2B5EF4-FFF2-40B4-BE49-F238E27FC236}">
                    <a16:creationId xmlns:a16="http://schemas.microsoft.com/office/drawing/2014/main" id="{C725183D-07A6-4BA4-A6AE-60A9B0D698E2}"/>
                  </a:ext>
                </a:extLst>
              </p:cNvPr>
              <p:cNvSpPr txBox="1"/>
              <p:nvPr/>
            </p:nvSpPr>
            <p:spPr>
              <a:xfrm>
                <a:off x="7940591" y="229747"/>
                <a:ext cx="10549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64" name="文字方塊 163">
                <a:extLst>
                  <a:ext uri="{FF2B5EF4-FFF2-40B4-BE49-F238E27FC236}">
                    <a16:creationId xmlns:a16="http://schemas.microsoft.com/office/drawing/2014/main" id="{C725183D-07A6-4BA4-A6AE-60A9B0D698E2}"/>
                  </a:ext>
                </a:extLst>
              </p:cNvPr>
              <p:cNvSpPr txBox="1">
                <a:spLocks noRot="1" noChangeAspect="1" noMove="1" noResize="1" noEditPoints="1" noAdjustHandles="1" noChangeArrowheads="1" noChangeShapeType="1" noTextEdit="1"/>
              </p:cNvSpPr>
              <p:nvPr/>
            </p:nvSpPr>
            <p:spPr>
              <a:xfrm>
                <a:off x="7940591" y="229747"/>
                <a:ext cx="1054936"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5" name="文字方塊 164">
                <a:extLst>
                  <a:ext uri="{FF2B5EF4-FFF2-40B4-BE49-F238E27FC236}">
                    <a16:creationId xmlns:a16="http://schemas.microsoft.com/office/drawing/2014/main" id="{4D355419-46C9-49BD-AB24-B92F801F8228}"/>
                  </a:ext>
                </a:extLst>
              </p:cNvPr>
              <p:cNvSpPr txBox="1"/>
              <p:nvPr/>
            </p:nvSpPr>
            <p:spPr>
              <a:xfrm>
                <a:off x="8668559" y="229747"/>
                <a:ext cx="10549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65" name="文字方塊 164">
                <a:extLst>
                  <a:ext uri="{FF2B5EF4-FFF2-40B4-BE49-F238E27FC236}">
                    <a16:creationId xmlns:a16="http://schemas.microsoft.com/office/drawing/2014/main" id="{4D355419-46C9-49BD-AB24-B92F801F8228}"/>
                  </a:ext>
                </a:extLst>
              </p:cNvPr>
              <p:cNvSpPr txBox="1">
                <a:spLocks noRot="1" noChangeAspect="1" noMove="1" noResize="1" noEditPoints="1" noAdjustHandles="1" noChangeArrowheads="1" noChangeShapeType="1" noTextEdit="1"/>
              </p:cNvSpPr>
              <p:nvPr/>
            </p:nvSpPr>
            <p:spPr>
              <a:xfrm>
                <a:off x="8668559" y="229747"/>
                <a:ext cx="1054936"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6" name="文字方塊 165">
                <a:extLst>
                  <a:ext uri="{FF2B5EF4-FFF2-40B4-BE49-F238E27FC236}">
                    <a16:creationId xmlns:a16="http://schemas.microsoft.com/office/drawing/2014/main" id="{5FDCAA36-2529-452C-B511-11CCF01A10AD}"/>
                  </a:ext>
                </a:extLst>
              </p:cNvPr>
              <p:cNvSpPr txBox="1"/>
              <p:nvPr/>
            </p:nvSpPr>
            <p:spPr>
              <a:xfrm>
                <a:off x="9182931" y="239435"/>
                <a:ext cx="10549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66" name="文字方塊 165">
                <a:extLst>
                  <a:ext uri="{FF2B5EF4-FFF2-40B4-BE49-F238E27FC236}">
                    <a16:creationId xmlns:a16="http://schemas.microsoft.com/office/drawing/2014/main" id="{5FDCAA36-2529-452C-B511-11CCF01A10AD}"/>
                  </a:ext>
                </a:extLst>
              </p:cNvPr>
              <p:cNvSpPr txBox="1">
                <a:spLocks noRot="1" noChangeAspect="1" noMove="1" noResize="1" noEditPoints="1" noAdjustHandles="1" noChangeArrowheads="1" noChangeShapeType="1" noTextEdit="1"/>
              </p:cNvSpPr>
              <p:nvPr/>
            </p:nvSpPr>
            <p:spPr>
              <a:xfrm>
                <a:off x="9182931" y="239435"/>
                <a:ext cx="1054936" cy="369332"/>
              </a:xfrm>
              <a:prstGeom prst="rect">
                <a:avLst/>
              </a:prstGeom>
              <a:blipFill>
                <a:blip r:embed="rId7"/>
                <a:stretch>
                  <a:fillRect/>
                </a:stretch>
              </a:blipFill>
            </p:spPr>
            <p:txBody>
              <a:bodyPr/>
              <a:lstStyle/>
              <a:p>
                <a:r>
                  <a:rPr lang="zh-TW" altLang="en-US">
                    <a:noFill/>
                  </a:rPr>
                  <a:t> </a:t>
                </a:r>
              </a:p>
            </p:txBody>
          </p:sp>
        </mc:Fallback>
      </mc:AlternateContent>
      <p:cxnSp>
        <p:nvCxnSpPr>
          <p:cNvPr id="168" name="直線單箭頭接點 167">
            <a:extLst>
              <a:ext uri="{FF2B5EF4-FFF2-40B4-BE49-F238E27FC236}">
                <a16:creationId xmlns:a16="http://schemas.microsoft.com/office/drawing/2014/main" id="{B0BD3D4A-34A6-4A0B-BB2E-F94B7E3A1BD2}"/>
              </a:ext>
            </a:extLst>
          </p:cNvPr>
          <p:cNvCxnSpPr>
            <a:cxnSpLocks/>
          </p:cNvCxnSpPr>
          <p:nvPr/>
        </p:nvCxnSpPr>
        <p:spPr>
          <a:xfrm flipV="1">
            <a:off x="8163535" y="1737826"/>
            <a:ext cx="0" cy="351516"/>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直線單箭頭接點 169">
            <a:extLst>
              <a:ext uri="{FF2B5EF4-FFF2-40B4-BE49-F238E27FC236}">
                <a16:creationId xmlns:a16="http://schemas.microsoft.com/office/drawing/2014/main" id="{CF7F4558-A878-439F-B2B5-D18F7F5023DB}"/>
              </a:ext>
            </a:extLst>
          </p:cNvPr>
          <p:cNvCxnSpPr>
            <a:cxnSpLocks/>
          </p:cNvCxnSpPr>
          <p:nvPr/>
        </p:nvCxnSpPr>
        <p:spPr>
          <a:xfrm>
            <a:off x="8152593" y="1765460"/>
            <a:ext cx="1557806"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2" name="文字方塊 171">
            <a:extLst>
              <a:ext uri="{FF2B5EF4-FFF2-40B4-BE49-F238E27FC236}">
                <a16:creationId xmlns:a16="http://schemas.microsoft.com/office/drawing/2014/main" id="{11BFED6C-5312-48FA-9B55-E826AB114AB4}"/>
              </a:ext>
            </a:extLst>
          </p:cNvPr>
          <p:cNvSpPr txBox="1"/>
          <p:nvPr/>
        </p:nvSpPr>
        <p:spPr>
          <a:xfrm>
            <a:off x="8768014" y="3487161"/>
            <a:ext cx="270058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For text: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3" name="文字方塊 172">
            <a:extLst>
              <a:ext uri="{FF2B5EF4-FFF2-40B4-BE49-F238E27FC236}">
                <a16:creationId xmlns:a16="http://schemas.microsoft.com/office/drawing/2014/main" id="{0ACB8A09-76C7-4C7D-85D4-CC2BFA825C62}"/>
              </a:ext>
            </a:extLst>
          </p:cNvPr>
          <p:cNvSpPr txBox="1"/>
          <p:nvPr/>
        </p:nvSpPr>
        <p:spPr>
          <a:xfrm>
            <a:off x="8775350" y="4618594"/>
            <a:ext cx="384726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For speech:</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175" name="文字方塊 174">
                <a:extLst>
                  <a:ext uri="{FF2B5EF4-FFF2-40B4-BE49-F238E27FC236}">
                    <a16:creationId xmlns:a16="http://schemas.microsoft.com/office/drawing/2014/main" id="{12E9017B-4DA4-4DB7-A9CF-B81FA01F39F3}"/>
                  </a:ext>
                </a:extLst>
              </p:cNvPr>
              <p:cNvSpPr txBox="1"/>
              <p:nvPr/>
            </p:nvSpPr>
            <p:spPr>
              <a:xfrm>
                <a:off x="9891192" y="3950864"/>
                <a:ext cx="270058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75" name="文字方塊 174">
                <a:extLst>
                  <a:ext uri="{FF2B5EF4-FFF2-40B4-BE49-F238E27FC236}">
                    <a16:creationId xmlns:a16="http://schemas.microsoft.com/office/drawing/2014/main" id="{12E9017B-4DA4-4DB7-A9CF-B81FA01F39F3}"/>
                  </a:ext>
                </a:extLst>
              </p:cNvPr>
              <p:cNvSpPr txBox="1">
                <a:spLocks noRot="1" noChangeAspect="1" noMove="1" noResize="1" noEditPoints="1" noAdjustHandles="1" noChangeArrowheads="1" noChangeShapeType="1" noTextEdit="1"/>
              </p:cNvSpPr>
              <p:nvPr/>
            </p:nvSpPr>
            <p:spPr>
              <a:xfrm>
                <a:off x="9891192" y="3950864"/>
                <a:ext cx="2700581" cy="46166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6" name="文字方塊 175">
                <a:extLst>
                  <a:ext uri="{FF2B5EF4-FFF2-40B4-BE49-F238E27FC236}">
                    <a16:creationId xmlns:a16="http://schemas.microsoft.com/office/drawing/2014/main" id="{4310EF48-50F3-4756-9465-15D9701D0CB8}"/>
                  </a:ext>
                </a:extLst>
              </p:cNvPr>
              <p:cNvSpPr txBox="1"/>
              <p:nvPr/>
            </p:nvSpPr>
            <p:spPr>
              <a:xfrm>
                <a:off x="9632882" y="5164950"/>
                <a:ext cx="270058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Usually </a:t>
                </a:r>
                <a14:m>
                  <m:oMath xmlns:m="http://schemas.openxmlformats.org/officeDocument/2006/math">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&gt;3</m:t>
                    </m:r>
                  </m:oMath>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76" name="文字方塊 175">
                <a:extLst>
                  <a:ext uri="{FF2B5EF4-FFF2-40B4-BE49-F238E27FC236}">
                    <a16:creationId xmlns:a16="http://schemas.microsoft.com/office/drawing/2014/main" id="{4310EF48-50F3-4756-9465-15D9701D0CB8}"/>
                  </a:ext>
                </a:extLst>
              </p:cNvPr>
              <p:cNvSpPr txBox="1">
                <a:spLocks noRot="1" noChangeAspect="1" noMove="1" noResize="1" noEditPoints="1" noAdjustHandles="1" noChangeArrowheads="1" noChangeShapeType="1" noTextEdit="1"/>
              </p:cNvSpPr>
              <p:nvPr/>
            </p:nvSpPr>
            <p:spPr>
              <a:xfrm>
                <a:off x="9632882" y="5164950"/>
                <a:ext cx="2700581" cy="461665"/>
              </a:xfrm>
              <a:prstGeom prst="rect">
                <a:avLst/>
              </a:prstGeom>
              <a:blipFill>
                <a:blip r:embed="rId9"/>
                <a:stretch>
                  <a:fillRect l="-3386" t="-10526" b="-28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705913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7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7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5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92" grpId="0" animBg="1"/>
      <p:bldP spid="93" grpId="0" animBg="1"/>
      <p:bldP spid="94" grpId="0" animBg="1"/>
      <p:bldP spid="96" grpId="0" animBg="1"/>
      <p:bldP spid="97" grpId="0" animBg="1"/>
      <p:bldP spid="137" grpId="0" animBg="1"/>
      <p:bldP spid="153" grpId="0"/>
      <p:bldP spid="155" grpId="0"/>
      <p:bldP spid="158" grpId="0"/>
      <p:bldP spid="164" grpId="0"/>
      <p:bldP spid="165" grpId="0"/>
      <p:bldP spid="166" grpId="0"/>
      <p:bldP spid="172" grpId="0"/>
      <p:bldP spid="173" grpId="0"/>
      <p:bldP spid="175" grpId="0"/>
      <p:bldP spid="17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D440B5-5065-94F5-A55F-B6E80D202C03}"/>
              </a:ext>
            </a:extLst>
          </p:cNvPr>
          <p:cNvSpPr>
            <a:spLocks noGrp="1"/>
          </p:cNvSpPr>
          <p:nvPr>
            <p:ph type="title"/>
          </p:nvPr>
        </p:nvSpPr>
        <p:spPr/>
        <p:txBody>
          <a:bodyPr/>
          <a:lstStyle/>
          <a:p>
            <a:r>
              <a:rPr lang="en-US" altLang="zh-TW" dirty="0"/>
              <a:t>Wav2vec / </a:t>
            </a:r>
            <a:r>
              <a:rPr lang="en-US" altLang="zh-TW" dirty="0" err="1"/>
              <a:t>HuBERT</a:t>
            </a:r>
            <a:endParaRPr lang="zh-TW" altLang="en-US" dirty="0"/>
          </a:p>
        </p:txBody>
      </p:sp>
      <p:pic>
        <p:nvPicPr>
          <p:cNvPr id="7" name="圖片 6" descr="一張含有 圖表, 螢幕擷取畫面, 文字, 行 的圖片&#10;&#10;AI 產生的內容可能不正確。">
            <a:extLst>
              <a:ext uri="{FF2B5EF4-FFF2-40B4-BE49-F238E27FC236}">
                <a16:creationId xmlns:a16="http://schemas.microsoft.com/office/drawing/2014/main" id="{0A96E676-140D-9B65-B15B-FD6B217F66A0}"/>
              </a:ext>
            </a:extLst>
          </p:cNvPr>
          <p:cNvPicPr>
            <a:picLocks noChangeAspect="1"/>
          </p:cNvPicPr>
          <p:nvPr/>
        </p:nvPicPr>
        <p:blipFill>
          <a:blip r:embed="rId2"/>
          <a:stretch>
            <a:fillRect/>
          </a:stretch>
        </p:blipFill>
        <p:spPr>
          <a:xfrm>
            <a:off x="675792" y="1833870"/>
            <a:ext cx="5420208" cy="3753374"/>
          </a:xfrm>
          <a:prstGeom prst="rect">
            <a:avLst/>
          </a:prstGeom>
        </p:spPr>
      </p:pic>
      <p:sp>
        <p:nvSpPr>
          <p:cNvPr id="8" name="文字方塊 7">
            <a:extLst>
              <a:ext uri="{FF2B5EF4-FFF2-40B4-BE49-F238E27FC236}">
                <a16:creationId xmlns:a16="http://schemas.microsoft.com/office/drawing/2014/main" id="{A0BD8B26-16E5-7987-4BCC-2B28BA73811B}"/>
              </a:ext>
            </a:extLst>
          </p:cNvPr>
          <p:cNvSpPr txBox="1"/>
          <p:nvPr/>
        </p:nvSpPr>
        <p:spPr>
          <a:xfrm>
            <a:off x="988527" y="5587244"/>
            <a:ext cx="4794738" cy="523220"/>
          </a:xfrm>
          <a:prstGeom prst="rect">
            <a:avLst/>
          </a:prstGeom>
          <a:noFill/>
        </p:spPr>
        <p:txBody>
          <a:bodyPr wrap="square" rtlCol="0">
            <a:spAutoFit/>
          </a:bodyPr>
          <a:lstStyle/>
          <a:p>
            <a:pPr algn="ctr"/>
            <a:r>
              <a:rPr lang="en-US" altLang="zh-TW" sz="2800" b="1" dirty="0"/>
              <a:t>Wav2vec</a:t>
            </a:r>
            <a:endParaRPr lang="zh-TW" altLang="en-US" sz="2800" b="1" dirty="0"/>
          </a:p>
        </p:txBody>
      </p:sp>
      <p:pic>
        <p:nvPicPr>
          <p:cNvPr id="10" name="圖片 9" descr="一張含有 文字, 螢幕擷取畫面, 字型, Rectangle 的圖片&#10;&#10;AI 產生的內容可能不正確。">
            <a:extLst>
              <a:ext uri="{FF2B5EF4-FFF2-40B4-BE49-F238E27FC236}">
                <a16:creationId xmlns:a16="http://schemas.microsoft.com/office/drawing/2014/main" id="{4723C7A1-FF33-C8C2-CF1A-E87BB653302F}"/>
              </a:ext>
            </a:extLst>
          </p:cNvPr>
          <p:cNvPicPr>
            <a:picLocks noChangeAspect="1"/>
          </p:cNvPicPr>
          <p:nvPr/>
        </p:nvPicPr>
        <p:blipFill>
          <a:blip r:embed="rId3"/>
          <a:stretch>
            <a:fillRect/>
          </a:stretch>
        </p:blipFill>
        <p:spPr>
          <a:xfrm>
            <a:off x="6096000" y="876387"/>
            <a:ext cx="6024429" cy="4854039"/>
          </a:xfrm>
          <a:prstGeom prst="rect">
            <a:avLst/>
          </a:prstGeom>
        </p:spPr>
      </p:pic>
      <p:sp>
        <p:nvSpPr>
          <p:cNvPr id="11" name="文字方塊 10">
            <a:extLst>
              <a:ext uri="{FF2B5EF4-FFF2-40B4-BE49-F238E27FC236}">
                <a16:creationId xmlns:a16="http://schemas.microsoft.com/office/drawing/2014/main" id="{D54F6748-C497-7DF9-BB83-6368E30B0EF3}"/>
              </a:ext>
            </a:extLst>
          </p:cNvPr>
          <p:cNvSpPr txBox="1"/>
          <p:nvPr/>
        </p:nvSpPr>
        <p:spPr>
          <a:xfrm>
            <a:off x="6721470" y="5587244"/>
            <a:ext cx="4794738" cy="523220"/>
          </a:xfrm>
          <a:prstGeom prst="rect">
            <a:avLst/>
          </a:prstGeom>
          <a:noFill/>
        </p:spPr>
        <p:txBody>
          <a:bodyPr wrap="square" rtlCol="0">
            <a:spAutoFit/>
          </a:bodyPr>
          <a:lstStyle/>
          <a:p>
            <a:pPr algn="ctr"/>
            <a:r>
              <a:rPr lang="en-US" altLang="zh-TW" sz="2800" b="1" dirty="0" err="1"/>
              <a:t>HuBERT</a:t>
            </a:r>
            <a:endParaRPr lang="zh-TW" altLang="en-US" sz="2800" b="1" dirty="0"/>
          </a:p>
        </p:txBody>
      </p:sp>
      <p:sp>
        <p:nvSpPr>
          <p:cNvPr id="13" name="文字方塊 12">
            <a:extLst>
              <a:ext uri="{FF2B5EF4-FFF2-40B4-BE49-F238E27FC236}">
                <a16:creationId xmlns:a16="http://schemas.microsoft.com/office/drawing/2014/main" id="{CECBE264-929F-089D-102F-86DBC095E7B9}"/>
              </a:ext>
            </a:extLst>
          </p:cNvPr>
          <p:cNvSpPr txBox="1"/>
          <p:nvPr/>
        </p:nvSpPr>
        <p:spPr>
          <a:xfrm>
            <a:off x="6096000" y="6110464"/>
            <a:ext cx="6096000" cy="369332"/>
          </a:xfrm>
          <a:prstGeom prst="rect">
            <a:avLst/>
          </a:prstGeom>
          <a:noFill/>
        </p:spPr>
        <p:txBody>
          <a:bodyPr wrap="square">
            <a:spAutoFit/>
          </a:bodyPr>
          <a:lstStyle/>
          <a:p>
            <a:pPr algn="ctr"/>
            <a:r>
              <a:rPr lang="zh-TW" altLang="en-US" dirty="0"/>
              <a:t>https://arxiv.org/abs/2106.07447</a:t>
            </a:r>
          </a:p>
        </p:txBody>
      </p:sp>
      <p:sp>
        <p:nvSpPr>
          <p:cNvPr id="15" name="文字方塊 14">
            <a:extLst>
              <a:ext uri="{FF2B5EF4-FFF2-40B4-BE49-F238E27FC236}">
                <a16:creationId xmlns:a16="http://schemas.microsoft.com/office/drawing/2014/main" id="{FE489151-E032-FB24-261C-C2768343BE5D}"/>
              </a:ext>
            </a:extLst>
          </p:cNvPr>
          <p:cNvSpPr txBox="1"/>
          <p:nvPr/>
        </p:nvSpPr>
        <p:spPr>
          <a:xfrm>
            <a:off x="312737" y="5981613"/>
            <a:ext cx="6096000" cy="646331"/>
          </a:xfrm>
          <a:prstGeom prst="rect">
            <a:avLst/>
          </a:prstGeom>
          <a:noFill/>
        </p:spPr>
        <p:txBody>
          <a:bodyPr wrap="square">
            <a:spAutoFit/>
          </a:bodyPr>
          <a:lstStyle/>
          <a:p>
            <a:pPr algn="ctr"/>
            <a:r>
              <a:rPr lang="en-US" altLang="zh-TW" dirty="0"/>
              <a:t>https://arxiv.org/abs/1904.05862</a:t>
            </a:r>
          </a:p>
          <a:p>
            <a:pPr algn="ctr"/>
            <a:r>
              <a:rPr lang="zh-TW" altLang="en-US" dirty="0"/>
              <a:t>https://arxiv.org/abs/2006.11477</a:t>
            </a:r>
          </a:p>
        </p:txBody>
      </p:sp>
    </p:spTree>
    <p:extLst>
      <p:ext uri="{BB962C8B-B14F-4D97-AF65-F5344CB8AC3E}">
        <p14:creationId xmlns:p14="http://schemas.microsoft.com/office/powerpoint/2010/main" val="10311288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00455-BE82-F95E-35C2-D5F9F7FCF2A9}"/>
            </a:ext>
          </a:extLst>
        </p:cNvPr>
        <p:cNvGrpSpPr/>
        <p:nvPr/>
      </p:nvGrpSpPr>
      <p:grpSpPr>
        <a:xfrm>
          <a:off x="0" y="0"/>
          <a:ext cx="0" cy="0"/>
          <a:chOff x="0" y="0"/>
          <a:chExt cx="0" cy="0"/>
        </a:xfrm>
      </p:grpSpPr>
      <p:sp>
        <p:nvSpPr>
          <p:cNvPr id="65" name="Google Shape;3236;p288">
            <a:extLst>
              <a:ext uri="{FF2B5EF4-FFF2-40B4-BE49-F238E27FC236}">
                <a16:creationId xmlns:a16="http://schemas.microsoft.com/office/drawing/2014/main" id="{5306754C-5552-1E1F-4FED-27A3C365D7CB}"/>
              </a:ext>
            </a:extLst>
          </p:cNvPr>
          <p:cNvSpPr/>
          <p:nvPr/>
        </p:nvSpPr>
        <p:spPr>
          <a:xfrm>
            <a:off x="2036593" y="2917612"/>
            <a:ext cx="2689598" cy="1409977"/>
          </a:xfrm>
          <a:prstGeom prst="roundRect">
            <a:avLst>
              <a:gd name="adj" fmla="val 16667"/>
            </a:avLst>
          </a:prstGeom>
          <a:solidFill>
            <a:schemeClr val="accent1">
              <a:lumMod val="20000"/>
              <a:lumOff val="80000"/>
            </a:schemeClr>
          </a:solidFill>
          <a:ln w="3810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rtl="0"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rPr>
              <a:t>Representation</a:t>
            </a:r>
            <a:r>
              <a:rPr lang="en-US" altLang="zh-TW" sz="2800" dirty="0">
                <a:solidFill>
                  <a:prstClr val="black"/>
                </a:solidFill>
                <a:latin typeface="Calibri" panose="020F0502020204030204"/>
                <a:ea typeface="新細明體" panose="02020500000000000000" pitchFamily="18" charset="-120"/>
                <a:cs typeface="Arial"/>
                <a:sym typeface="Arial"/>
              </a:rPr>
              <a:t>Model</a:t>
            </a:r>
            <a:endPar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endParaRPr>
          </a:p>
        </p:txBody>
      </p:sp>
      <p:sp>
        <p:nvSpPr>
          <p:cNvPr id="81" name="Google Shape;3246;p288">
            <a:extLst>
              <a:ext uri="{FF2B5EF4-FFF2-40B4-BE49-F238E27FC236}">
                <a16:creationId xmlns:a16="http://schemas.microsoft.com/office/drawing/2014/main" id="{9BD52BEE-6E12-3A0A-93D5-B26510C65C4E}"/>
              </a:ext>
            </a:extLst>
          </p:cNvPr>
          <p:cNvSpPr/>
          <p:nvPr/>
        </p:nvSpPr>
        <p:spPr>
          <a:xfrm>
            <a:off x="2027125" y="1264571"/>
            <a:ext cx="2689596" cy="492444"/>
          </a:xfrm>
          <a:prstGeom prst="roundRect">
            <a:avLst>
              <a:gd name="adj" fmla="val 16667"/>
            </a:avLst>
          </a:prstGeom>
          <a:solidFill>
            <a:schemeClr val="accent4">
              <a:lumMod val="20000"/>
              <a:lumOff val="80000"/>
            </a:schemeClr>
          </a:solidFill>
          <a:ln w="38100" cap="flat" cmpd="sng">
            <a:solidFill>
              <a:schemeClr val="tx1"/>
            </a:solidFill>
            <a:prstDash val="solid"/>
            <a:miter lim="800000"/>
            <a:headEnd type="none" w="sm" len="sm"/>
            <a:tailEnd type="none" w="sm" len="sm"/>
          </a:ln>
        </p:spPr>
        <p:txBody>
          <a:bodyPr spcFirstLastPara="1" wrap="square" lIns="121900" tIns="121900" rIns="121900" bIns="121900" anchor="ctr" anchorCtr="0">
            <a:no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00"/>
                </a:solidFill>
                <a:effectLst/>
                <a:uLnTx/>
                <a:uFillTx/>
                <a:latin typeface="Calibri"/>
                <a:ea typeface="Calibri"/>
                <a:cs typeface="Calibri"/>
                <a:sym typeface="Calibri"/>
              </a:rPr>
              <a:t>Downstream</a:t>
            </a:r>
            <a:endParaRPr kumimoji="0" sz="2800" b="0" i="0" u="none" strike="noStrike" kern="1200" cap="none" spc="0" normalizeH="0" baseline="0" noProof="0" dirty="0">
              <a:ln>
                <a:noFill/>
              </a:ln>
              <a:solidFill>
                <a:srgbClr val="000000"/>
              </a:solidFill>
              <a:effectLst/>
              <a:uLnTx/>
              <a:uFillTx/>
              <a:latin typeface="Calibri"/>
              <a:ea typeface="Calibri"/>
              <a:cs typeface="Calibri"/>
              <a:sym typeface="Calibri"/>
            </a:endParaRPr>
          </a:p>
        </p:txBody>
      </p:sp>
      <p:pic>
        <p:nvPicPr>
          <p:cNvPr id="82" name="Google Shape;106;p16">
            <a:extLst>
              <a:ext uri="{FF2B5EF4-FFF2-40B4-BE49-F238E27FC236}">
                <a16:creationId xmlns:a16="http://schemas.microsoft.com/office/drawing/2014/main" id="{53317CC1-BCD8-F969-14A3-0784BF36F888}"/>
              </a:ext>
            </a:extLst>
          </p:cNvPr>
          <p:cNvPicPr preferRelativeResize="0"/>
          <p:nvPr/>
        </p:nvPicPr>
        <p:blipFill>
          <a:blip r:embed="rId3">
            <a:alphaModFix/>
          </a:blip>
          <a:stretch>
            <a:fillRect/>
          </a:stretch>
        </p:blipFill>
        <p:spPr>
          <a:xfrm>
            <a:off x="2098059" y="4770413"/>
            <a:ext cx="2618662" cy="612842"/>
          </a:xfrm>
          <a:prstGeom prst="rect">
            <a:avLst/>
          </a:prstGeom>
          <a:noFill/>
          <a:ln>
            <a:noFill/>
          </a:ln>
        </p:spPr>
      </p:pic>
      <p:cxnSp>
        <p:nvCxnSpPr>
          <p:cNvPr id="86" name="直線單箭頭接點 85">
            <a:extLst>
              <a:ext uri="{FF2B5EF4-FFF2-40B4-BE49-F238E27FC236}">
                <a16:creationId xmlns:a16="http://schemas.microsoft.com/office/drawing/2014/main" id="{4217672B-4BF0-C78D-F1C4-7CAC4A010152}"/>
              </a:ext>
            </a:extLst>
          </p:cNvPr>
          <p:cNvCxnSpPr>
            <a:cxnSpLocks/>
          </p:cNvCxnSpPr>
          <p:nvPr/>
        </p:nvCxnSpPr>
        <p:spPr>
          <a:xfrm flipV="1">
            <a:off x="3430790" y="4365689"/>
            <a:ext cx="0" cy="34894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88" name="Google Shape;117;p16">
            <a:extLst>
              <a:ext uri="{FF2B5EF4-FFF2-40B4-BE49-F238E27FC236}">
                <a16:creationId xmlns:a16="http://schemas.microsoft.com/office/drawing/2014/main" id="{F9EFB7EE-7021-71E0-BD78-7F25D784CD28}"/>
              </a:ext>
            </a:extLst>
          </p:cNvPr>
          <p:cNvSpPr/>
          <p:nvPr/>
        </p:nvSpPr>
        <p:spPr>
          <a:xfrm>
            <a:off x="21071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9" name="Google Shape;118;p16">
            <a:extLst>
              <a:ext uri="{FF2B5EF4-FFF2-40B4-BE49-F238E27FC236}">
                <a16:creationId xmlns:a16="http://schemas.microsoft.com/office/drawing/2014/main" id="{CE1811AA-E928-AD9D-B208-9F283BF20454}"/>
              </a:ext>
            </a:extLst>
          </p:cNvPr>
          <p:cNvSpPr/>
          <p:nvPr/>
        </p:nvSpPr>
        <p:spPr>
          <a:xfrm>
            <a:off x="23357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0" name="Google Shape;119;p16">
            <a:extLst>
              <a:ext uri="{FF2B5EF4-FFF2-40B4-BE49-F238E27FC236}">
                <a16:creationId xmlns:a16="http://schemas.microsoft.com/office/drawing/2014/main" id="{DA743208-B5FD-DD12-5533-97756C8A6456}"/>
              </a:ext>
            </a:extLst>
          </p:cNvPr>
          <p:cNvSpPr/>
          <p:nvPr/>
        </p:nvSpPr>
        <p:spPr>
          <a:xfrm>
            <a:off x="25643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1" name="Google Shape;120;p16">
            <a:extLst>
              <a:ext uri="{FF2B5EF4-FFF2-40B4-BE49-F238E27FC236}">
                <a16:creationId xmlns:a16="http://schemas.microsoft.com/office/drawing/2014/main" id="{EEC66891-C31E-2CF8-F7E5-55F8E8172C5C}"/>
              </a:ext>
            </a:extLst>
          </p:cNvPr>
          <p:cNvSpPr/>
          <p:nvPr/>
        </p:nvSpPr>
        <p:spPr>
          <a:xfrm>
            <a:off x="27929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2" name="Google Shape;121;p16">
            <a:extLst>
              <a:ext uri="{FF2B5EF4-FFF2-40B4-BE49-F238E27FC236}">
                <a16:creationId xmlns:a16="http://schemas.microsoft.com/office/drawing/2014/main" id="{1DAB2BFF-E7F4-186F-FC88-F73D37858D5F}"/>
              </a:ext>
            </a:extLst>
          </p:cNvPr>
          <p:cNvSpPr/>
          <p:nvPr/>
        </p:nvSpPr>
        <p:spPr>
          <a:xfrm>
            <a:off x="30215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3" name="Google Shape;122;p16">
            <a:extLst>
              <a:ext uri="{FF2B5EF4-FFF2-40B4-BE49-F238E27FC236}">
                <a16:creationId xmlns:a16="http://schemas.microsoft.com/office/drawing/2014/main" id="{233E67EE-ECC5-149F-1380-E797DF6AC087}"/>
              </a:ext>
            </a:extLst>
          </p:cNvPr>
          <p:cNvSpPr/>
          <p:nvPr/>
        </p:nvSpPr>
        <p:spPr>
          <a:xfrm>
            <a:off x="32501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4" name="Google Shape;123;p16">
            <a:extLst>
              <a:ext uri="{FF2B5EF4-FFF2-40B4-BE49-F238E27FC236}">
                <a16:creationId xmlns:a16="http://schemas.microsoft.com/office/drawing/2014/main" id="{291305A4-938B-EA44-3A05-801F25FB83CA}"/>
              </a:ext>
            </a:extLst>
          </p:cNvPr>
          <p:cNvSpPr/>
          <p:nvPr/>
        </p:nvSpPr>
        <p:spPr>
          <a:xfrm>
            <a:off x="34787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5" name="Google Shape;124;p16">
            <a:extLst>
              <a:ext uri="{FF2B5EF4-FFF2-40B4-BE49-F238E27FC236}">
                <a16:creationId xmlns:a16="http://schemas.microsoft.com/office/drawing/2014/main" id="{8EE38FA4-C496-F2C5-6A6D-BAC0FB3787EC}"/>
              </a:ext>
            </a:extLst>
          </p:cNvPr>
          <p:cNvSpPr/>
          <p:nvPr/>
        </p:nvSpPr>
        <p:spPr>
          <a:xfrm>
            <a:off x="37073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6" name="Google Shape;146;p16">
            <a:extLst>
              <a:ext uri="{FF2B5EF4-FFF2-40B4-BE49-F238E27FC236}">
                <a16:creationId xmlns:a16="http://schemas.microsoft.com/office/drawing/2014/main" id="{7C8D1086-1496-9335-1B8A-7913F9B9AA0B}"/>
              </a:ext>
            </a:extLst>
          </p:cNvPr>
          <p:cNvSpPr/>
          <p:nvPr/>
        </p:nvSpPr>
        <p:spPr>
          <a:xfrm>
            <a:off x="39359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7" name="Google Shape;147;p16">
            <a:extLst>
              <a:ext uri="{FF2B5EF4-FFF2-40B4-BE49-F238E27FC236}">
                <a16:creationId xmlns:a16="http://schemas.microsoft.com/office/drawing/2014/main" id="{3773F3A8-E0D0-E1B3-5031-0DA87B2097DC}"/>
              </a:ext>
            </a:extLst>
          </p:cNvPr>
          <p:cNvSpPr/>
          <p:nvPr/>
        </p:nvSpPr>
        <p:spPr>
          <a:xfrm>
            <a:off x="4164590" y="2179543"/>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8" name="Google Shape;148;p16">
            <a:extLst>
              <a:ext uri="{FF2B5EF4-FFF2-40B4-BE49-F238E27FC236}">
                <a16:creationId xmlns:a16="http://schemas.microsoft.com/office/drawing/2014/main" id="{93D65244-FB38-3A6B-3F8F-9BCF9536CA23}"/>
              </a:ext>
            </a:extLst>
          </p:cNvPr>
          <p:cNvSpPr/>
          <p:nvPr/>
        </p:nvSpPr>
        <p:spPr>
          <a:xfrm>
            <a:off x="4393190" y="2186868"/>
            <a:ext cx="104400" cy="3600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109" name="直線單箭頭接點 108">
            <a:extLst>
              <a:ext uri="{FF2B5EF4-FFF2-40B4-BE49-F238E27FC236}">
                <a16:creationId xmlns:a16="http://schemas.microsoft.com/office/drawing/2014/main" id="{010FA8FB-A8C0-13DD-DBAA-1BA06F950ECA}"/>
              </a:ext>
            </a:extLst>
          </p:cNvPr>
          <p:cNvCxnSpPr>
            <a:cxnSpLocks/>
          </p:cNvCxnSpPr>
          <p:nvPr/>
        </p:nvCxnSpPr>
        <p:spPr>
          <a:xfrm flipV="1">
            <a:off x="3388472" y="2568667"/>
            <a:ext cx="0" cy="34894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a:extLst>
              <a:ext uri="{FF2B5EF4-FFF2-40B4-BE49-F238E27FC236}">
                <a16:creationId xmlns:a16="http://schemas.microsoft.com/office/drawing/2014/main" id="{D99B0B52-D69E-502B-F7BF-F8C28E919BD5}"/>
              </a:ext>
            </a:extLst>
          </p:cNvPr>
          <p:cNvCxnSpPr>
            <a:cxnSpLocks/>
          </p:cNvCxnSpPr>
          <p:nvPr/>
        </p:nvCxnSpPr>
        <p:spPr>
          <a:xfrm flipV="1">
            <a:off x="3388035" y="1791882"/>
            <a:ext cx="0" cy="34894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360E7746-92ED-06FB-E76E-26F8B9C5F674}"/>
              </a:ext>
            </a:extLst>
          </p:cNvPr>
          <p:cNvCxnSpPr>
            <a:cxnSpLocks/>
          </p:cNvCxnSpPr>
          <p:nvPr/>
        </p:nvCxnSpPr>
        <p:spPr>
          <a:xfrm flipV="1">
            <a:off x="3392690" y="914389"/>
            <a:ext cx="0" cy="34894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 name="文字方塊 3">
            <a:extLst>
              <a:ext uri="{FF2B5EF4-FFF2-40B4-BE49-F238E27FC236}">
                <a16:creationId xmlns:a16="http://schemas.microsoft.com/office/drawing/2014/main" id="{959F3280-1C4A-73FE-5916-363042C0A969}"/>
              </a:ext>
            </a:extLst>
          </p:cNvPr>
          <p:cNvSpPr txBox="1"/>
          <p:nvPr/>
        </p:nvSpPr>
        <p:spPr>
          <a:xfrm>
            <a:off x="1595877" y="478049"/>
            <a:ext cx="3552092" cy="461665"/>
          </a:xfrm>
          <a:prstGeom prst="rect">
            <a:avLst/>
          </a:prstGeom>
          <a:noFill/>
        </p:spPr>
        <p:txBody>
          <a:bodyPr wrap="square" rtlCol="0">
            <a:spAutoFit/>
          </a:bodyPr>
          <a:lstStyle/>
          <a:p>
            <a:pPr algn="ctr"/>
            <a:r>
              <a:rPr lang="en-US" altLang="zh-TW" sz="2400" dirty="0"/>
              <a:t>“How are you?”</a:t>
            </a:r>
            <a:endParaRPr lang="zh-TW" altLang="en-US" sz="2400" dirty="0"/>
          </a:p>
        </p:txBody>
      </p:sp>
      <p:pic>
        <p:nvPicPr>
          <p:cNvPr id="5" name="圖片 4">
            <a:extLst>
              <a:ext uri="{FF2B5EF4-FFF2-40B4-BE49-F238E27FC236}">
                <a16:creationId xmlns:a16="http://schemas.microsoft.com/office/drawing/2014/main" id="{E8E857F5-36EF-6723-E066-E3B7C081C3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8422" y="838431"/>
            <a:ext cx="6954220" cy="4105848"/>
          </a:xfrm>
          <a:prstGeom prst="rect">
            <a:avLst/>
          </a:prstGeom>
        </p:spPr>
      </p:pic>
      <p:sp>
        <p:nvSpPr>
          <p:cNvPr id="6" name="文字方塊 5">
            <a:extLst>
              <a:ext uri="{FF2B5EF4-FFF2-40B4-BE49-F238E27FC236}">
                <a16:creationId xmlns:a16="http://schemas.microsoft.com/office/drawing/2014/main" id="{054D45BE-69FF-2DFA-0709-56356433CB61}"/>
              </a:ext>
            </a:extLst>
          </p:cNvPr>
          <p:cNvSpPr txBox="1"/>
          <p:nvPr/>
        </p:nvSpPr>
        <p:spPr>
          <a:xfrm>
            <a:off x="4630506" y="324554"/>
            <a:ext cx="30233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WER (</a:t>
            </a: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Librispeech</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文字方塊 6">
            <a:extLst>
              <a:ext uri="{FF2B5EF4-FFF2-40B4-BE49-F238E27FC236}">
                <a16:creationId xmlns:a16="http://schemas.microsoft.com/office/drawing/2014/main" id="{9101609D-BF27-E3DD-3656-0E1276DFA53E}"/>
              </a:ext>
            </a:extLst>
          </p:cNvPr>
          <p:cNvSpPr txBox="1"/>
          <p:nvPr/>
        </p:nvSpPr>
        <p:spPr>
          <a:xfrm>
            <a:off x="5808226" y="4964787"/>
            <a:ext cx="286980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100 hours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labeled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文字方塊 7">
            <a:extLst>
              <a:ext uri="{FF2B5EF4-FFF2-40B4-BE49-F238E27FC236}">
                <a16:creationId xmlns:a16="http://schemas.microsoft.com/office/drawing/2014/main" id="{244DE140-B131-9010-B159-A1695A2A1BA3}"/>
              </a:ext>
            </a:extLst>
          </p:cNvPr>
          <p:cNvSpPr txBox="1"/>
          <p:nvPr/>
        </p:nvSpPr>
        <p:spPr>
          <a:xfrm>
            <a:off x="8965436" y="4933489"/>
            <a:ext cx="286980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 minutes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labeled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id="{57238E4A-CC3E-F8E8-B30E-B51D26FCEAC7}"/>
              </a:ext>
            </a:extLst>
          </p:cNvPr>
          <p:cNvSpPr txBox="1"/>
          <p:nvPr/>
        </p:nvSpPr>
        <p:spPr>
          <a:xfrm>
            <a:off x="6382968" y="1079558"/>
            <a:ext cx="179029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6-layer</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LSTM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文字方塊 9">
            <a:extLst>
              <a:ext uri="{FF2B5EF4-FFF2-40B4-BE49-F238E27FC236}">
                <a16:creationId xmlns:a16="http://schemas.microsoft.com/office/drawing/2014/main" id="{157A825A-E25B-3F24-CE59-DDCBF28F4C7E}"/>
              </a:ext>
            </a:extLst>
          </p:cNvPr>
          <p:cNvSpPr txBox="1"/>
          <p:nvPr/>
        </p:nvSpPr>
        <p:spPr>
          <a:xfrm>
            <a:off x="7019146" y="2660522"/>
            <a:ext cx="179029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2-layer</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LSTM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6583CD04-27FE-A8B8-15B3-EE76627ED6F2}"/>
              </a:ext>
            </a:extLst>
          </p:cNvPr>
          <p:cNvSpPr/>
          <p:nvPr/>
        </p:nvSpPr>
        <p:spPr>
          <a:xfrm>
            <a:off x="5383224" y="838431"/>
            <a:ext cx="3650497" cy="49260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B37B52F4-6E15-6A12-E697-59AC5765DC23}"/>
              </a:ext>
            </a:extLst>
          </p:cNvPr>
          <p:cNvSpPr/>
          <p:nvPr/>
        </p:nvSpPr>
        <p:spPr>
          <a:xfrm>
            <a:off x="9040270" y="838431"/>
            <a:ext cx="2661807" cy="492605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8" name="直線單箭頭接點 17">
            <a:extLst>
              <a:ext uri="{FF2B5EF4-FFF2-40B4-BE49-F238E27FC236}">
                <a16:creationId xmlns:a16="http://schemas.microsoft.com/office/drawing/2014/main" id="{14B7B13C-753C-8063-5BCF-62FA6FCE44C6}"/>
              </a:ext>
            </a:extLst>
          </p:cNvPr>
          <p:cNvCxnSpPr/>
          <p:nvPr/>
        </p:nvCxnSpPr>
        <p:spPr>
          <a:xfrm flipH="1">
            <a:off x="6382968" y="1541223"/>
            <a:ext cx="555293" cy="422896"/>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右大括弧 18">
            <a:extLst>
              <a:ext uri="{FF2B5EF4-FFF2-40B4-BE49-F238E27FC236}">
                <a16:creationId xmlns:a16="http://schemas.microsoft.com/office/drawing/2014/main" id="{BF450C1B-A6C1-A197-7266-12362FD55F5B}"/>
              </a:ext>
            </a:extLst>
          </p:cNvPr>
          <p:cNvSpPr/>
          <p:nvPr/>
        </p:nvSpPr>
        <p:spPr>
          <a:xfrm rot="16200000">
            <a:off x="7721712" y="2301359"/>
            <a:ext cx="378630" cy="2108817"/>
          </a:xfrm>
          <a:prstGeom prst="rightBrace">
            <a:avLst>
              <a:gd name="adj1" fmla="val 42546"/>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文字方塊 19">
            <a:extLst>
              <a:ext uri="{FF2B5EF4-FFF2-40B4-BE49-F238E27FC236}">
                <a16:creationId xmlns:a16="http://schemas.microsoft.com/office/drawing/2014/main" id="{C85A97EE-FE14-A23C-7778-DD2D521CD835}"/>
              </a:ext>
            </a:extLst>
          </p:cNvPr>
          <p:cNvSpPr txBox="1"/>
          <p:nvPr/>
        </p:nvSpPr>
        <p:spPr>
          <a:xfrm>
            <a:off x="225492" y="856118"/>
            <a:ext cx="1951173" cy="461665"/>
          </a:xfrm>
          <a:prstGeom prst="rect">
            <a:avLst/>
          </a:prstGeom>
          <a:noFill/>
        </p:spPr>
        <p:txBody>
          <a:bodyPr wrap="square" rtlCol="0">
            <a:spAutoFit/>
          </a:bodyPr>
          <a:lstStyle/>
          <a:p>
            <a:r>
              <a:rPr lang="en-US" altLang="zh-TW" sz="2400" b="1" dirty="0"/>
              <a:t>Supervised </a:t>
            </a:r>
            <a:endParaRPr lang="zh-TW" altLang="en-US" sz="2400" b="1" dirty="0"/>
          </a:p>
        </p:txBody>
      </p:sp>
      <p:cxnSp>
        <p:nvCxnSpPr>
          <p:cNvPr id="21" name="直線單箭頭接點 20">
            <a:extLst>
              <a:ext uri="{FF2B5EF4-FFF2-40B4-BE49-F238E27FC236}">
                <a16:creationId xmlns:a16="http://schemas.microsoft.com/office/drawing/2014/main" id="{306D7EBB-B1A6-EE99-0389-9D2D12A44EDB}"/>
              </a:ext>
            </a:extLst>
          </p:cNvPr>
          <p:cNvCxnSpPr>
            <a:cxnSpLocks/>
          </p:cNvCxnSpPr>
          <p:nvPr/>
        </p:nvCxnSpPr>
        <p:spPr>
          <a:xfrm>
            <a:off x="1454656" y="1301376"/>
            <a:ext cx="482411" cy="276617"/>
          </a:xfrm>
          <a:prstGeom prst="straightConnector1">
            <a:avLst/>
          </a:prstGeom>
          <a:noFill/>
          <a:ln w="57150" cap="flat" cmpd="sng" algn="ctr">
            <a:solidFill>
              <a:srgbClr val="002060"/>
            </a:solidFill>
            <a:prstDash val="sysDot"/>
            <a:miter lim="800000"/>
            <a:tailEnd type="triangle"/>
          </a:ln>
          <a:effectLst/>
        </p:spPr>
      </p:cxnSp>
      <p:sp>
        <p:nvSpPr>
          <p:cNvPr id="22" name="文字方塊 21">
            <a:extLst>
              <a:ext uri="{FF2B5EF4-FFF2-40B4-BE49-F238E27FC236}">
                <a16:creationId xmlns:a16="http://schemas.microsoft.com/office/drawing/2014/main" id="{C0ED9795-D845-67D7-59EF-088A67942D74}"/>
              </a:ext>
            </a:extLst>
          </p:cNvPr>
          <p:cNvSpPr txBox="1"/>
          <p:nvPr/>
        </p:nvSpPr>
        <p:spPr>
          <a:xfrm>
            <a:off x="46872" y="4401195"/>
            <a:ext cx="2746118" cy="461665"/>
          </a:xfrm>
          <a:prstGeom prst="rect">
            <a:avLst/>
          </a:prstGeom>
          <a:noFill/>
        </p:spPr>
        <p:txBody>
          <a:bodyPr wrap="square" rtlCol="0">
            <a:spAutoFit/>
          </a:bodyPr>
          <a:lstStyle/>
          <a:p>
            <a:r>
              <a:rPr lang="en-US" altLang="zh-TW" sz="2400" b="1" dirty="0"/>
              <a:t>(Self-supervised)</a:t>
            </a:r>
            <a:endParaRPr lang="zh-TW" altLang="en-US" sz="2400" b="1" dirty="0"/>
          </a:p>
        </p:txBody>
      </p:sp>
      <p:cxnSp>
        <p:nvCxnSpPr>
          <p:cNvPr id="23" name="直線單箭頭接點 22">
            <a:extLst>
              <a:ext uri="{FF2B5EF4-FFF2-40B4-BE49-F238E27FC236}">
                <a16:creationId xmlns:a16="http://schemas.microsoft.com/office/drawing/2014/main" id="{35335D8C-B0B9-1072-4CBF-3880BD5CB283}"/>
              </a:ext>
            </a:extLst>
          </p:cNvPr>
          <p:cNvCxnSpPr>
            <a:cxnSpLocks/>
          </p:cNvCxnSpPr>
          <p:nvPr/>
        </p:nvCxnSpPr>
        <p:spPr>
          <a:xfrm flipV="1">
            <a:off x="1178734" y="3622600"/>
            <a:ext cx="651129" cy="387036"/>
          </a:xfrm>
          <a:prstGeom prst="straightConnector1">
            <a:avLst/>
          </a:prstGeom>
          <a:noFill/>
          <a:ln w="57150" cap="flat" cmpd="sng" algn="ctr">
            <a:solidFill>
              <a:srgbClr val="002060"/>
            </a:solidFill>
            <a:prstDash val="sysDot"/>
            <a:miter lim="800000"/>
            <a:tailEnd type="triangle"/>
          </a:ln>
          <a:effectLst/>
        </p:spPr>
      </p:cxnSp>
      <p:sp>
        <p:nvSpPr>
          <p:cNvPr id="24" name="文字方塊 23">
            <a:extLst>
              <a:ext uri="{FF2B5EF4-FFF2-40B4-BE49-F238E27FC236}">
                <a16:creationId xmlns:a16="http://schemas.microsoft.com/office/drawing/2014/main" id="{685E15CB-FC8E-7158-D489-EC8DEBDF0C7E}"/>
              </a:ext>
            </a:extLst>
          </p:cNvPr>
          <p:cNvSpPr txBox="1"/>
          <p:nvPr/>
        </p:nvSpPr>
        <p:spPr>
          <a:xfrm>
            <a:off x="103674" y="4014120"/>
            <a:ext cx="2412007" cy="461665"/>
          </a:xfrm>
          <a:prstGeom prst="rect">
            <a:avLst/>
          </a:prstGeom>
          <a:noFill/>
        </p:spPr>
        <p:txBody>
          <a:bodyPr wrap="square" rtlCol="0">
            <a:spAutoFit/>
          </a:bodyPr>
          <a:lstStyle/>
          <a:p>
            <a:r>
              <a:rPr lang="en-US" altLang="zh-TW" sz="2400" b="1" dirty="0"/>
              <a:t>Unsupervised </a:t>
            </a:r>
            <a:endParaRPr lang="zh-TW" altLang="en-US" sz="2400" b="1" dirty="0"/>
          </a:p>
        </p:txBody>
      </p:sp>
      <p:sp>
        <p:nvSpPr>
          <p:cNvPr id="29" name="文字方塊 28">
            <a:extLst>
              <a:ext uri="{FF2B5EF4-FFF2-40B4-BE49-F238E27FC236}">
                <a16:creationId xmlns:a16="http://schemas.microsoft.com/office/drawing/2014/main" id="{534E179F-5C71-44D9-BE6A-A33EADDB0A2C}"/>
              </a:ext>
            </a:extLst>
          </p:cNvPr>
          <p:cNvSpPr txBox="1"/>
          <p:nvPr/>
        </p:nvSpPr>
        <p:spPr>
          <a:xfrm>
            <a:off x="371067" y="5513266"/>
            <a:ext cx="6119446" cy="1200329"/>
          </a:xfrm>
          <a:prstGeom prst="rect">
            <a:avLst/>
          </a:prstGeom>
          <a:noFill/>
        </p:spPr>
        <p:txBody>
          <a:bodyPr wrap="square">
            <a:spAutoFit/>
          </a:bodyPr>
          <a:lstStyle/>
          <a:p>
            <a:r>
              <a:rPr lang="zh-TW" altLang="en-US" dirty="0"/>
              <a:t>https://arxiv.org/abs/1905.03072</a:t>
            </a:r>
            <a:endParaRPr lang="en-US" altLang="zh-TW" dirty="0"/>
          </a:p>
          <a:p>
            <a:r>
              <a:rPr lang="zh-TW" altLang="en-US" dirty="0"/>
              <a:t>https://arxiv.org/abs/2006.11477</a:t>
            </a:r>
          </a:p>
          <a:p>
            <a:r>
              <a:rPr lang="zh-TW" altLang="en-US" dirty="0"/>
              <a:t>https://arxiv.org/abs/2106.07447</a:t>
            </a:r>
          </a:p>
          <a:p>
            <a:r>
              <a:rPr lang="en-US" altLang="zh-TW" dirty="0"/>
              <a:t>https://arxiv.org/abs/2105.01051</a:t>
            </a:r>
            <a:endParaRPr lang="zh-TW" altLang="en-US" dirty="0"/>
          </a:p>
        </p:txBody>
      </p:sp>
    </p:spTree>
    <p:extLst>
      <p:ext uri="{BB962C8B-B14F-4D97-AF65-F5344CB8AC3E}">
        <p14:creationId xmlns:p14="http://schemas.microsoft.com/office/powerpoint/2010/main" val="8370351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6" grpId="0" animBg="1"/>
      <p:bldP spid="17" grpId="0" animBg="1"/>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91FC-7BF4-BED1-10F6-E74931B2B994}"/>
            </a:ext>
          </a:extLst>
        </p:cNvPr>
        <p:cNvGrpSpPr/>
        <p:nvPr/>
      </p:nvGrpSpPr>
      <p:grpSpPr>
        <a:xfrm>
          <a:off x="0" y="0"/>
          <a:ext cx="0" cy="0"/>
          <a:chOff x="0" y="0"/>
          <a:chExt cx="0" cy="0"/>
        </a:xfrm>
      </p:grpSpPr>
      <p:sp>
        <p:nvSpPr>
          <p:cNvPr id="33" name="Google Shape;1416;p118">
            <a:extLst>
              <a:ext uri="{FF2B5EF4-FFF2-40B4-BE49-F238E27FC236}">
                <a16:creationId xmlns:a16="http://schemas.microsoft.com/office/drawing/2014/main" id="{F476C348-061C-7549-BC53-375B3529FDF4}"/>
              </a:ext>
            </a:extLst>
          </p:cNvPr>
          <p:cNvSpPr/>
          <p:nvPr/>
        </p:nvSpPr>
        <p:spPr>
          <a:xfrm>
            <a:off x="5111329" y="533541"/>
            <a:ext cx="2392429" cy="842141"/>
          </a:xfrm>
          <a:prstGeom prst="roundRect">
            <a:avLst>
              <a:gd name="adj" fmla="val 16667"/>
            </a:avLst>
          </a:prstGeom>
          <a:ln w="57150">
            <a:solidFill>
              <a:srgbClr val="00B050"/>
            </a:solidFill>
            <a:headEnd type="none" w="sm" len="sm"/>
            <a:tailEnd type="none" w="sm" len="sm"/>
          </a:ln>
        </p:spPr>
        <p:style>
          <a:lnRef idx="1">
            <a:schemeClr val="accent6"/>
          </a:lnRef>
          <a:fillRef idx="2">
            <a:schemeClr val="accent6"/>
          </a:fillRef>
          <a:effectRef idx="1">
            <a:schemeClr val="accent6"/>
          </a:effectRef>
          <a:fontRef idx="minor">
            <a:schemeClr val="dk1"/>
          </a:fontRef>
        </p:style>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800"/>
              <a:buFontTx/>
              <a:buNone/>
              <a:tabLst/>
              <a:defRPr/>
            </a:pPr>
            <a:r>
              <a:rPr kumimoji="0" lang="en" sz="2400" b="0" i="0" u="none" strike="noStrike" kern="0" cap="none" spc="0" normalizeH="0" baseline="0" noProof="0" dirty="0">
                <a:ln>
                  <a:noFill/>
                </a:ln>
                <a:solidFill>
                  <a:srgbClr val="000000"/>
                </a:solidFill>
                <a:effectLst/>
                <a:uLnTx/>
                <a:uFillTx/>
                <a:latin typeface="Calibri"/>
                <a:ea typeface="Calibri"/>
                <a:cs typeface="Calibri"/>
                <a:sym typeface="Calibri"/>
              </a:rPr>
              <a:t>Discriminator</a:t>
            </a:r>
            <a:endParaRPr kumimoji="0"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cxnSp>
        <p:nvCxnSpPr>
          <p:cNvPr id="35" name="直線單箭頭接點 34">
            <a:extLst>
              <a:ext uri="{FF2B5EF4-FFF2-40B4-BE49-F238E27FC236}">
                <a16:creationId xmlns:a16="http://schemas.microsoft.com/office/drawing/2014/main" id="{9CF78875-8FB1-8A00-EB7D-EC9AA106E7C6}"/>
              </a:ext>
            </a:extLst>
          </p:cNvPr>
          <p:cNvCxnSpPr>
            <a:cxnSpLocks/>
          </p:cNvCxnSpPr>
          <p:nvPr/>
        </p:nvCxnSpPr>
        <p:spPr>
          <a:xfrm flipV="1">
            <a:off x="4706330" y="1375683"/>
            <a:ext cx="1081913" cy="451825"/>
          </a:xfrm>
          <a:prstGeom prst="straightConnector1">
            <a:avLst/>
          </a:prstGeom>
          <a:ln w="571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808C90B2-F083-A47A-7DF8-819D692DCDBD}"/>
              </a:ext>
            </a:extLst>
          </p:cNvPr>
          <p:cNvCxnSpPr>
            <a:cxnSpLocks/>
          </p:cNvCxnSpPr>
          <p:nvPr/>
        </p:nvCxnSpPr>
        <p:spPr>
          <a:xfrm flipH="1" flipV="1">
            <a:off x="6913799" y="1372883"/>
            <a:ext cx="1647281" cy="578271"/>
          </a:xfrm>
          <a:prstGeom prst="straightConnector1">
            <a:avLst/>
          </a:prstGeom>
          <a:ln w="571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02126659-C7FA-E058-30F0-A298EB1BE1D2}"/>
              </a:ext>
            </a:extLst>
          </p:cNvPr>
          <p:cNvCxnSpPr>
            <a:cxnSpLocks/>
          </p:cNvCxnSpPr>
          <p:nvPr/>
        </p:nvCxnSpPr>
        <p:spPr>
          <a:xfrm>
            <a:off x="7583002" y="935259"/>
            <a:ext cx="480000" cy="0"/>
          </a:xfrm>
          <a:prstGeom prst="straightConnector1">
            <a:avLst/>
          </a:prstGeom>
          <a:ln w="571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8" name="文字方塊 37">
            <a:extLst>
              <a:ext uri="{FF2B5EF4-FFF2-40B4-BE49-F238E27FC236}">
                <a16:creationId xmlns:a16="http://schemas.microsoft.com/office/drawing/2014/main" id="{6B6F70B7-D2F6-98A4-E5A2-F51E01810718}"/>
              </a:ext>
            </a:extLst>
          </p:cNvPr>
          <p:cNvSpPr txBox="1"/>
          <p:nvPr/>
        </p:nvSpPr>
        <p:spPr>
          <a:xfrm>
            <a:off x="8182102" y="504545"/>
            <a:ext cx="2503948" cy="830997"/>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altLang="zh-TW" sz="2400" b="0" i="0" u="none" strike="noStrike" kern="0" cap="none" spc="0" normalizeH="0" baseline="0" noProof="0" dirty="0">
                <a:ln>
                  <a:noFill/>
                </a:ln>
                <a:solidFill>
                  <a:srgbClr val="000000"/>
                </a:solidFill>
                <a:effectLst/>
                <a:uLnTx/>
                <a:uFillTx/>
                <a:latin typeface="Calibri" panose="020F0502020204030204"/>
                <a:ea typeface="新細明體" panose="02020500000000000000" pitchFamily="18" charset="-120"/>
                <a:cs typeface="Arial"/>
                <a:sym typeface="Arial"/>
              </a:rPr>
              <a:t>Generated or real text?</a:t>
            </a:r>
            <a:endParaRPr kumimoji="0" lang="zh-TW" altLang="en-US" sz="2400" b="0" i="0" u="none" strike="noStrike" kern="0" cap="none" spc="0" normalizeH="0" baseline="0" noProof="0" dirty="0">
              <a:ln>
                <a:noFill/>
              </a:ln>
              <a:solidFill>
                <a:srgbClr val="000000"/>
              </a:solidFill>
              <a:effectLst/>
              <a:uLnTx/>
              <a:uFillTx/>
              <a:latin typeface="Calibri" panose="020F0502020204030204"/>
              <a:ea typeface="新細明體" panose="02020500000000000000" pitchFamily="18" charset="-120"/>
              <a:cs typeface="Arial"/>
              <a:sym typeface="Arial"/>
            </a:endParaRPr>
          </a:p>
        </p:txBody>
      </p:sp>
      <p:sp>
        <p:nvSpPr>
          <p:cNvPr id="40" name="矩形: 圓角 39">
            <a:extLst>
              <a:ext uri="{FF2B5EF4-FFF2-40B4-BE49-F238E27FC236}">
                <a16:creationId xmlns:a16="http://schemas.microsoft.com/office/drawing/2014/main" id="{ECB72A2B-6F9D-4C38-D070-4EF7981BC63C}"/>
              </a:ext>
            </a:extLst>
          </p:cNvPr>
          <p:cNvSpPr/>
          <p:nvPr/>
        </p:nvSpPr>
        <p:spPr>
          <a:xfrm>
            <a:off x="1149887" y="273685"/>
            <a:ext cx="9892225" cy="3246743"/>
          </a:xfrm>
          <a:prstGeom prst="round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zh-TW" altLang="en-US" sz="1867"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sym typeface="Arial"/>
            </a:endParaRPr>
          </a:p>
        </p:txBody>
      </p:sp>
      <p:sp>
        <p:nvSpPr>
          <p:cNvPr id="41" name="文字方塊 40">
            <a:extLst>
              <a:ext uri="{FF2B5EF4-FFF2-40B4-BE49-F238E27FC236}">
                <a16:creationId xmlns:a16="http://schemas.microsoft.com/office/drawing/2014/main" id="{FE66EAAC-5A0F-FD66-54CE-52CF7D54184E}"/>
              </a:ext>
            </a:extLst>
          </p:cNvPr>
          <p:cNvSpPr txBox="1"/>
          <p:nvPr/>
        </p:nvSpPr>
        <p:spPr>
          <a:xfrm>
            <a:off x="1178296" y="527478"/>
            <a:ext cx="1599348" cy="666786"/>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zh-TW" sz="3733" b="0" i="1" u="sng" strike="noStrike" kern="0" cap="none" spc="0" normalizeH="0" baseline="0" noProof="0" dirty="0">
                <a:ln>
                  <a:noFill/>
                </a:ln>
                <a:solidFill>
                  <a:srgbClr val="000000"/>
                </a:solidFill>
                <a:effectLst/>
                <a:uLnTx/>
                <a:uFillTx/>
                <a:latin typeface="Calibri" panose="020F0502020204030204" pitchFamily="34" charset="0"/>
                <a:ea typeface="新細明體" panose="02020500000000000000" pitchFamily="18" charset="-120"/>
                <a:cs typeface="Calibri" panose="020F0502020204030204" pitchFamily="34" charset="0"/>
                <a:sym typeface="Arial"/>
              </a:rPr>
              <a:t>GAN</a:t>
            </a:r>
            <a:endParaRPr kumimoji="0" lang="zh-TW" altLang="en-US" sz="3733" b="0" i="1" u="sng" strike="noStrike" kern="0" cap="none" spc="0" normalizeH="0" baseline="0" noProof="0" dirty="0">
              <a:ln>
                <a:noFill/>
              </a:ln>
              <a:solidFill>
                <a:srgbClr val="000000"/>
              </a:solidFill>
              <a:effectLst/>
              <a:uLnTx/>
              <a:uFillTx/>
              <a:latin typeface="Calibri" panose="020F0502020204030204" pitchFamily="34" charset="0"/>
              <a:ea typeface="新細明體" panose="02020500000000000000" pitchFamily="18" charset="-120"/>
              <a:cs typeface="Calibri" panose="020F0502020204030204" pitchFamily="34" charset="0"/>
              <a:sym typeface="Arial"/>
            </a:endParaRPr>
          </a:p>
        </p:txBody>
      </p:sp>
      <p:pic>
        <p:nvPicPr>
          <p:cNvPr id="3" name="Google Shape;1389;p118">
            <a:extLst>
              <a:ext uri="{FF2B5EF4-FFF2-40B4-BE49-F238E27FC236}">
                <a16:creationId xmlns:a16="http://schemas.microsoft.com/office/drawing/2014/main" id="{9D7B21CA-59A9-1199-0DA4-9FEA84B815CF}"/>
              </a:ext>
            </a:extLst>
          </p:cNvPr>
          <p:cNvPicPr preferRelativeResize="0"/>
          <p:nvPr/>
        </p:nvPicPr>
        <p:blipFill rotWithShape="1">
          <a:blip r:embed="rId3">
            <a:alphaModFix/>
          </a:blip>
          <a:srcRect/>
          <a:stretch/>
        </p:blipFill>
        <p:spPr>
          <a:xfrm>
            <a:off x="3316273" y="5908630"/>
            <a:ext cx="2395360" cy="658100"/>
          </a:xfrm>
          <a:prstGeom prst="rect">
            <a:avLst/>
          </a:prstGeom>
          <a:noFill/>
          <a:ln>
            <a:noFill/>
          </a:ln>
        </p:spPr>
      </p:pic>
      <p:cxnSp>
        <p:nvCxnSpPr>
          <p:cNvPr id="7" name="Google Shape;1392;p118">
            <a:extLst>
              <a:ext uri="{FF2B5EF4-FFF2-40B4-BE49-F238E27FC236}">
                <a16:creationId xmlns:a16="http://schemas.microsoft.com/office/drawing/2014/main" id="{D7C25156-13BA-B509-50E0-946774E5FBFC}"/>
              </a:ext>
            </a:extLst>
          </p:cNvPr>
          <p:cNvCxnSpPr/>
          <p:nvPr/>
        </p:nvCxnSpPr>
        <p:spPr>
          <a:xfrm rot="10800000">
            <a:off x="4512434" y="5593542"/>
            <a:ext cx="0" cy="431200"/>
          </a:xfrm>
          <a:prstGeom prst="straightConnector1">
            <a:avLst/>
          </a:prstGeom>
          <a:noFill/>
          <a:ln w="28575" cap="flat" cmpd="sng">
            <a:solidFill>
              <a:srgbClr val="002060"/>
            </a:solidFill>
            <a:prstDash val="solid"/>
            <a:miter lim="800000"/>
            <a:headEnd type="none" w="sm" len="sm"/>
            <a:tailEnd type="triangle" w="med" len="med"/>
          </a:ln>
        </p:spPr>
      </p:cxnSp>
      <p:sp>
        <p:nvSpPr>
          <p:cNvPr id="8" name="Google Shape;1396;p118">
            <a:extLst>
              <a:ext uri="{FF2B5EF4-FFF2-40B4-BE49-F238E27FC236}">
                <a16:creationId xmlns:a16="http://schemas.microsoft.com/office/drawing/2014/main" id="{C9941186-C553-19D1-963F-506B7790C49F}"/>
              </a:ext>
            </a:extLst>
          </p:cNvPr>
          <p:cNvSpPr/>
          <p:nvPr/>
        </p:nvSpPr>
        <p:spPr>
          <a:xfrm>
            <a:off x="35250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1397;p118">
            <a:extLst>
              <a:ext uri="{FF2B5EF4-FFF2-40B4-BE49-F238E27FC236}">
                <a16:creationId xmlns:a16="http://schemas.microsoft.com/office/drawing/2014/main" id="{405499AD-3D5F-6FB8-9FBA-7024485749B1}"/>
              </a:ext>
            </a:extLst>
          </p:cNvPr>
          <p:cNvSpPr/>
          <p:nvPr/>
        </p:nvSpPr>
        <p:spPr>
          <a:xfrm>
            <a:off x="37536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0" name="Google Shape;1398;p118">
            <a:extLst>
              <a:ext uri="{FF2B5EF4-FFF2-40B4-BE49-F238E27FC236}">
                <a16:creationId xmlns:a16="http://schemas.microsoft.com/office/drawing/2014/main" id="{7209F020-0778-36AD-D6AE-DA7A11C94697}"/>
              </a:ext>
            </a:extLst>
          </p:cNvPr>
          <p:cNvSpPr/>
          <p:nvPr/>
        </p:nvSpPr>
        <p:spPr>
          <a:xfrm>
            <a:off x="39822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1399;p118">
            <a:extLst>
              <a:ext uri="{FF2B5EF4-FFF2-40B4-BE49-F238E27FC236}">
                <a16:creationId xmlns:a16="http://schemas.microsoft.com/office/drawing/2014/main" id="{0EA8BE9E-1F5B-547F-BBC2-802A27925A5B}"/>
              </a:ext>
            </a:extLst>
          </p:cNvPr>
          <p:cNvSpPr/>
          <p:nvPr/>
        </p:nvSpPr>
        <p:spPr>
          <a:xfrm>
            <a:off x="42108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2" name="Google Shape;1400;p118">
            <a:extLst>
              <a:ext uri="{FF2B5EF4-FFF2-40B4-BE49-F238E27FC236}">
                <a16:creationId xmlns:a16="http://schemas.microsoft.com/office/drawing/2014/main" id="{E95C0392-BEE3-03E7-39E9-68BEA95AD867}"/>
              </a:ext>
            </a:extLst>
          </p:cNvPr>
          <p:cNvSpPr/>
          <p:nvPr/>
        </p:nvSpPr>
        <p:spPr>
          <a:xfrm>
            <a:off x="44394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3" name="Google Shape;1401;p118">
            <a:extLst>
              <a:ext uri="{FF2B5EF4-FFF2-40B4-BE49-F238E27FC236}">
                <a16:creationId xmlns:a16="http://schemas.microsoft.com/office/drawing/2014/main" id="{E7EEA47E-BAC3-AE8E-4D6D-9B0E005D5C52}"/>
              </a:ext>
            </a:extLst>
          </p:cNvPr>
          <p:cNvSpPr/>
          <p:nvPr/>
        </p:nvSpPr>
        <p:spPr>
          <a:xfrm>
            <a:off x="46680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 name="Google Shape;1402;p118">
            <a:extLst>
              <a:ext uri="{FF2B5EF4-FFF2-40B4-BE49-F238E27FC236}">
                <a16:creationId xmlns:a16="http://schemas.microsoft.com/office/drawing/2014/main" id="{3A130BE8-CE7C-5341-2CDF-D5766F64CFF0}"/>
              </a:ext>
            </a:extLst>
          </p:cNvPr>
          <p:cNvSpPr/>
          <p:nvPr/>
        </p:nvSpPr>
        <p:spPr>
          <a:xfrm>
            <a:off x="48966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 name="Google Shape;1403;p118">
            <a:extLst>
              <a:ext uri="{FF2B5EF4-FFF2-40B4-BE49-F238E27FC236}">
                <a16:creationId xmlns:a16="http://schemas.microsoft.com/office/drawing/2014/main" id="{BE24B985-2C0B-924E-44E0-42C9B7E456D5}"/>
              </a:ext>
            </a:extLst>
          </p:cNvPr>
          <p:cNvSpPr/>
          <p:nvPr/>
        </p:nvSpPr>
        <p:spPr>
          <a:xfrm>
            <a:off x="51252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6" name="Google Shape;1404;p118">
            <a:extLst>
              <a:ext uri="{FF2B5EF4-FFF2-40B4-BE49-F238E27FC236}">
                <a16:creationId xmlns:a16="http://schemas.microsoft.com/office/drawing/2014/main" id="{926D702A-17A9-0F97-DFEB-2372965ED35B}"/>
              </a:ext>
            </a:extLst>
          </p:cNvPr>
          <p:cNvSpPr/>
          <p:nvPr/>
        </p:nvSpPr>
        <p:spPr>
          <a:xfrm>
            <a:off x="5353869" y="3754875"/>
            <a:ext cx="104400" cy="4312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33" tIns="91433" rIns="91433" bIns="914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Arial"/>
              <a:ea typeface="Arial"/>
              <a:cs typeface="Arial"/>
              <a:sym typeface="Arial"/>
            </a:endParaRPr>
          </a:p>
        </p:txBody>
      </p:sp>
      <p:cxnSp>
        <p:nvCxnSpPr>
          <p:cNvPr id="17" name="Google Shape;1413;p118">
            <a:extLst>
              <a:ext uri="{FF2B5EF4-FFF2-40B4-BE49-F238E27FC236}">
                <a16:creationId xmlns:a16="http://schemas.microsoft.com/office/drawing/2014/main" id="{DE2C0934-74E5-6ECC-72B7-927A62C65403}"/>
              </a:ext>
            </a:extLst>
          </p:cNvPr>
          <p:cNvCxnSpPr>
            <a:cxnSpLocks/>
          </p:cNvCxnSpPr>
          <p:nvPr/>
        </p:nvCxnSpPr>
        <p:spPr>
          <a:xfrm rot="10800000">
            <a:off x="4502541" y="4282712"/>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27" name="Google Shape;1414;p118">
            <a:extLst>
              <a:ext uri="{FF2B5EF4-FFF2-40B4-BE49-F238E27FC236}">
                <a16:creationId xmlns:a16="http://schemas.microsoft.com/office/drawing/2014/main" id="{41692CDC-1818-7DBE-BBE7-561355330A61}"/>
              </a:ext>
            </a:extLst>
          </p:cNvPr>
          <p:cNvCxnSpPr>
            <a:cxnSpLocks/>
          </p:cNvCxnSpPr>
          <p:nvPr/>
        </p:nvCxnSpPr>
        <p:spPr>
          <a:xfrm rot="10800000">
            <a:off x="4502541" y="2291808"/>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29" name="Google Shape;1417;p118">
            <a:extLst>
              <a:ext uri="{FF2B5EF4-FFF2-40B4-BE49-F238E27FC236}">
                <a16:creationId xmlns:a16="http://schemas.microsoft.com/office/drawing/2014/main" id="{BAD735E8-1162-654C-F509-9B93C71B84F8}"/>
              </a:ext>
            </a:extLst>
          </p:cNvPr>
          <p:cNvCxnSpPr>
            <a:cxnSpLocks/>
          </p:cNvCxnSpPr>
          <p:nvPr/>
        </p:nvCxnSpPr>
        <p:spPr>
          <a:xfrm rot="10800000">
            <a:off x="4502541" y="3285023"/>
            <a:ext cx="0" cy="431200"/>
          </a:xfrm>
          <a:prstGeom prst="straightConnector1">
            <a:avLst/>
          </a:prstGeom>
          <a:noFill/>
          <a:ln w="28575" cap="flat" cmpd="sng">
            <a:solidFill>
              <a:srgbClr val="002060"/>
            </a:solidFill>
            <a:prstDash val="solid"/>
            <a:miter lim="800000"/>
            <a:headEnd type="none" w="sm" len="sm"/>
            <a:tailEnd type="triangle" w="med" len="med"/>
          </a:ln>
        </p:spPr>
      </p:cxnSp>
      <p:sp>
        <p:nvSpPr>
          <p:cNvPr id="32" name="Google Shape;3236;p288">
            <a:extLst>
              <a:ext uri="{FF2B5EF4-FFF2-40B4-BE49-F238E27FC236}">
                <a16:creationId xmlns:a16="http://schemas.microsoft.com/office/drawing/2014/main" id="{164E5D79-D377-C650-EE4C-E541FF8E575B}"/>
              </a:ext>
            </a:extLst>
          </p:cNvPr>
          <p:cNvSpPr/>
          <p:nvPr/>
        </p:nvSpPr>
        <p:spPr>
          <a:xfrm>
            <a:off x="3304860" y="2690838"/>
            <a:ext cx="2395360" cy="527317"/>
          </a:xfrm>
          <a:prstGeom prst="roundRect">
            <a:avLst>
              <a:gd name="adj" fmla="val 16667"/>
            </a:avLst>
          </a:prstGeom>
          <a:solidFill>
            <a:srgbClr val="FFC000">
              <a:lumMod val="20000"/>
              <a:lumOff val="80000"/>
            </a:srgb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rtl="0"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rPr>
              <a:t>Downstream </a:t>
            </a:r>
          </a:p>
        </p:txBody>
      </p:sp>
      <p:sp>
        <p:nvSpPr>
          <p:cNvPr id="34" name="Google Shape;1419;p118">
            <a:extLst>
              <a:ext uri="{FF2B5EF4-FFF2-40B4-BE49-F238E27FC236}">
                <a16:creationId xmlns:a16="http://schemas.microsoft.com/office/drawing/2014/main" id="{9C71376B-982E-61B8-CA1C-D6D62A3AC6B6}"/>
              </a:ext>
            </a:extLst>
          </p:cNvPr>
          <p:cNvSpPr txBox="1"/>
          <p:nvPr/>
        </p:nvSpPr>
        <p:spPr>
          <a:xfrm>
            <a:off x="2477615" y="1865352"/>
            <a:ext cx="4028108" cy="461624"/>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7F7F7F"/>
              </a:buClr>
              <a:buSzPts val="1800"/>
              <a:buFontTx/>
              <a:buNone/>
              <a:tabLst/>
              <a:defRPr/>
            </a:pPr>
            <a:r>
              <a:rPr kumimoji="0" lang="en-US" altLang="zh-TW" sz="2400" b="0" i="0" u="none" strike="noStrike" kern="0" cap="none" spc="0" normalizeH="0" baseline="0" noProof="0" dirty="0">
                <a:ln>
                  <a:noFill/>
                </a:ln>
                <a:solidFill>
                  <a:srgbClr val="7F7F7F"/>
                </a:solidFill>
                <a:effectLst/>
                <a:uLnTx/>
                <a:uFillTx/>
                <a:latin typeface="Calibri" panose="020F0502020204030204"/>
                <a:ea typeface="Calibri"/>
                <a:cs typeface="Calibri"/>
                <a:sym typeface="Calibri"/>
              </a:rPr>
              <a:t>Generated Phoneme Seq</a:t>
            </a:r>
            <a:endParaRPr kumimoji="0" lang="en-US" altLang="zh-TW" sz="2400" b="0" i="0" u="none" strike="noStrike" kern="0" cap="none" spc="0" normalizeH="0" baseline="-25000" noProof="0" dirty="0">
              <a:ln>
                <a:noFill/>
              </a:ln>
              <a:solidFill>
                <a:srgbClr val="7F7F7F"/>
              </a:solidFill>
              <a:effectLst/>
              <a:uLnTx/>
              <a:uFillTx/>
              <a:latin typeface="Calibri" panose="020F0502020204030204"/>
              <a:ea typeface="Calibri"/>
              <a:cs typeface="Calibri"/>
              <a:sym typeface="Calibri"/>
            </a:endParaRPr>
          </a:p>
        </p:txBody>
      </p:sp>
      <p:sp>
        <p:nvSpPr>
          <p:cNvPr id="39" name="Google Shape;3236;p288">
            <a:extLst>
              <a:ext uri="{FF2B5EF4-FFF2-40B4-BE49-F238E27FC236}">
                <a16:creationId xmlns:a16="http://schemas.microsoft.com/office/drawing/2014/main" id="{70023E16-BA7E-A09D-AED9-B2178A4BA3FF}"/>
              </a:ext>
            </a:extLst>
          </p:cNvPr>
          <p:cNvSpPr/>
          <p:nvPr/>
        </p:nvSpPr>
        <p:spPr>
          <a:xfrm>
            <a:off x="2986877" y="4594107"/>
            <a:ext cx="3009584" cy="962064"/>
          </a:xfrm>
          <a:prstGeom prst="roundRect">
            <a:avLst>
              <a:gd name="adj" fmla="val 16667"/>
            </a:avLst>
          </a:prstGeom>
          <a:solidFill>
            <a:schemeClr val="accent1">
              <a:lumMod val="20000"/>
              <a:lumOff val="80000"/>
            </a:schemeClr>
          </a:solidFill>
          <a:ln w="28575"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rtl="0"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rPr>
              <a:t>Segmental Audio Word2vec</a:t>
            </a:r>
          </a:p>
        </p:txBody>
      </p:sp>
      <p:sp>
        <p:nvSpPr>
          <p:cNvPr id="42" name="文字方塊 41">
            <a:extLst>
              <a:ext uri="{FF2B5EF4-FFF2-40B4-BE49-F238E27FC236}">
                <a16:creationId xmlns:a16="http://schemas.microsoft.com/office/drawing/2014/main" id="{A541C498-B33B-C04D-1D8A-78BB597C17C9}"/>
              </a:ext>
            </a:extLst>
          </p:cNvPr>
          <p:cNvSpPr txBox="1"/>
          <p:nvPr/>
        </p:nvSpPr>
        <p:spPr>
          <a:xfrm>
            <a:off x="658393" y="5833887"/>
            <a:ext cx="274611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(Self-supervised)</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文字方塊 48">
            <a:extLst>
              <a:ext uri="{FF2B5EF4-FFF2-40B4-BE49-F238E27FC236}">
                <a16:creationId xmlns:a16="http://schemas.microsoft.com/office/drawing/2014/main" id="{7D2B3026-7A7D-798B-D5D7-F52C3A884C19}"/>
              </a:ext>
            </a:extLst>
          </p:cNvPr>
          <p:cNvSpPr txBox="1"/>
          <p:nvPr/>
        </p:nvSpPr>
        <p:spPr>
          <a:xfrm>
            <a:off x="714113" y="5417722"/>
            <a:ext cx="241200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Unsupervised </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52" name="直線單箭頭接點 51">
            <a:extLst>
              <a:ext uri="{FF2B5EF4-FFF2-40B4-BE49-F238E27FC236}">
                <a16:creationId xmlns:a16="http://schemas.microsoft.com/office/drawing/2014/main" id="{0403E199-5E84-764C-6FE9-4D517394564D}"/>
              </a:ext>
            </a:extLst>
          </p:cNvPr>
          <p:cNvCxnSpPr>
            <a:cxnSpLocks/>
          </p:cNvCxnSpPr>
          <p:nvPr/>
        </p:nvCxnSpPr>
        <p:spPr>
          <a:xfrm flipV="1">
            <a:off x="2258484" y="5046572"/>
            <a:ext cx="572499" cy="326135"/>
          </a:xfrm>
          <a:prstGeom prst="straightConnector1">
            <a:avLst/>
          </a:prstGeom>
          <a:noFill/>
          <a:ln w="57150" cap="flat" cmpd="sng" algn="ctr">
            <a:solidFill>
              <a:srgbClr val="002060"/>
            </a:solidFill>
            <a:prstDash val="sysDot"/>
            <a:miter lim="800000"/>
            <a:tailEnd type="triangle"/>
          </a:ln>
          <a:effectLst/>
        </p:spPr>
      </p:cxnSp>
      <p:grpSp>
        <p:nvGrpSpPr>
          <p:cNvPr id="2" name="群組 1">
            <a:extLst>
              <a:ext uri="{FF2B5EF4-FFF2-40B4-BE49-F238E27FC236}">
                <a16:creationId xmlns:a16="http://schemas.microsoft.com/office/drawing/2014/main" id="{EBB36ACF-2C29-88A8-2BB5-1599DB75DD87}"/>
              </a:ext>
            </a:extLst>
          </p:cNvPr>
          <p:cNvGrpSpPr/>
          <p:nvPr/>
        </p:nvGrpSpPr>
        <p:grpSpPr>
          <a:xfrm>
            <a:off x="7466228" y="3785294"/>
            <a:ext cx="3866341" cy="1340457"/>
            <a:chOff x="4206479" y="2305940"/>
            <a:chExt cx="2899756" cy="1005343"/>
          </a:xfrm>
        </p:grpSpPr>
        <p:sp>
          <p:nvSpPr>
            <p:cNvPr id="4" name="Google Shape;1419;p118">
              <a:extLst>
                <a:ext uri="{FF2B5EF4-FFF2-40B4-BE49-F238E27FC236}">
                  <a16:creationId xmlns:a16="http://schemas.microsoft.com/office/drawing/2014/main" id="{560F2679-260D-8AD8-0422-CCD0F8032420}"/>
                </a:ext>
              </a:extLst>
            </p:cNvPr>
            <p:cNvSpPr txBox="1"/>
            <p:nvPr/>
          </p:nvSpPr>
          <p:spPr>
            <a:xfrm>
              <a:off x="5680935" y="2711522"/>
              <a:ext cx="1425300" cy="346218"/>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800"/>
                <a:buFontTx/>
                <a:buNone/>
                <a:tabLst/>
                <a:defRPr/>
              </a:pPr>
              <a:r>
                <a:rPr kumimoji="0" lang="en-US" sz="2400" b="0" i="0" u="none" strike="noStrike" kern="0" cap="none" spc="0" normalizeH="0" baseline="0" noProof="0" dirty="0">
                  <a:ln>
                    <a:noFill/>
                  </a:ln>
                  <a:solidFill>
                    <a:srgbClr val="000000"/>
                  </a:solidFill>
                  <a:effectLst/>
                  <a:uLnTx/>
                  <a:uFillTx/>
                  <a:latin typeface="Calibri"/>
                  <a:ea typeface="+mn-ea"/>
                  <a:cs typeface="Calibri"/>
                  <a:sym typeface="Calibri"/>
                </a:rPr>
                <a:t>Text</a:t>
              </a:r>
              <a:endParaRPr kumimoji="0" sz="1467"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5" name="Google Shape;1420;p118" descr="ãdocumentãçåçæå°çµæ">
              <a:extLst>
                <a:ext uri="{FF2B5EF4-FFF2-40B4-BE49-F238E27FC236}">
                  <a16:creationId xmlns:a16="http://schemas.microsoft.com/office/drawing/2014/main" id="{1C88F384-7317-7BA4-112C-E18860B4674D}"/>
                </a:ext>
              </a:extLst>
            </p:cNvPr>
            <p:cNvPicPr preferRelativeResize="0"/>
            <p:nvPr/>
          </p:nvPicPr>
          <p:blipFill rotWithShape="1">
            <a:blip r:embed="rId4">
              <a:alphaModFix/>
            </a:blip>
            <a:srcRect/>
            <a:stretch/>
          </p:blipFill>
          <p:spPr>
            <a:xfrm>
              <a:off x="4472750" y="2434080"/>
              <a:ext cx="655584" cy="698576"/>
            </a:xfrm>
            <a:prstGeom prst="rect">
              <a:avLst/>
            </a:prstGeom>
            <a:noFill/>
            <a:ln>
              <a:noFill/>
            </a:ln>
          </p:spPr>
        </p:pic>
        <p:sp>
          <p:nvSpPr>
            <p:cNvPr id="6" name="Google Shape;1421;p118">
              <a:extLst>
                <a:ext uri="{FF2B5EF4-FFF2-40B4-BE49-F238E27FC236}">
                  <a16:creationId xmlns:a16="http://schemas.microsoft.com/office/drawing/2014/main" id="{2C0F2B0E-3737-E780-199E-58371EDF9484}"/>
                </a:ext>
              </a:extLst>
            </p:cNvPr>
            <p:cNvSpPr/>
            <p:nvPr/>
          </p:nvSpPr>
          <p:spPr>
            <a:xfrm>
              <a:off x="4206479" y="2305940"/>
              <a:ext cx="1877961" cy="1005343"/>
            </a:xfrm>
            <a:prstGeom prst="roundRect">
              <a:avLst>
                <a:gd name="adj" fmla="val 16667"/>
              </a:avLst>
            </a:prstGeom>
            <a:noFill/>
            <a:ln w="38100" cap="flat" cmpd="sng">
              <a:solidFill>
                <a:schemeClr val="dk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1400"/>
                <a:buFontTx/>
                <a:buNone/>
                <a:tabLst/>
                <a:defRPr/>
              </a:pPr>
              <a:endParaRPr kumimoji="0" sz="1867"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18" name="Google Shape;1420;p118" descr="ãdocumentãçåçæå°çµæ">
              <a:extLst>
                <a:ext uri="{FF2B5EF4-FFF2-40B4-BE49-F238E27FC236}">
                  <a16:creationId xmlns:a16="http://schemas.microsoft.com/office/drawing/2014/main" id="{90BB6ABC-56F8-8087-C712-191126106C88}"/>
                </a:ext>
              </a:extLst>
            </p:cNvPr>
            <p:cNvPicPr preferRelativeResize="0"/>
            <p:nvPr/>
          </p:nvPicPr>
          <p:blipFill rotWithShape="1">
            <a:blip r:embed="rId4">
              <a:alphaModFix/>
            </a:blip>
            <a:srcRect/>
            <a:stretch/>
          </p:blipFill>
          <p:spPr>
            <a:xfrm>
              <a:off x="5255750" y="2459323"/>
              <a:ext cx="655584" cy="698576"/>
            </a:xfrm>
            <a:prstGeom prst="rect">
              <a:avLst/>
            </a:prstGeom>
            <a:noFill/>
            <a:ln>
              <a:noFill/>
            </a:ln>
          </p:spPr>
        </p:pic>
      </p:grpSp>
      <p:sp>
        <p:nvSpPr>
          <p:cNvPr id="19" name="Google Shape;1415;p118">
            <a:extLst>
              <a:ext uri="{FF2B5EF4-FFF2-40B4-BE49-F238E27FC236}">
                <a16:creationId xmlns:a16="http://schemas.microsoft.com/office/drawing/2014/main" id="{C1DA0834-529F-EDAB-2AB1-36E464FD7DD4}"/>
              </a:ext>
            </a:extLst>
          </p:cNvPr>
          <p:cNvSpPr txBox="1"/>
          <p:nvPr/>
        </p:nvSpPr>
        <p:spPr>
          <a:xfrm>
            <a:off x="6849465" y="1827508"/>
            <a:ext cx="3720633" cy="461624"/>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7F7F7F"/>
              </a:buClr>
              <a:buSzPts val="1800"/>
              <a:buFontTx/>
              <a:buNone/>
              <a:tabLst/>
              <a:defRPr/>
            </a:pPr>
            <a:r>
              <a:rPr kumimoji="0" lang="en-US" sz="2400" b="0" i="0" u="none" strike="noStrike" kern="0" cap="none" spc="0" normalizeH="0" baseline="0" noProof="0" dirty="0">
                <a:ln>
                  <a:noFill/>
                </a:ln>
                <a:solidFill>
                  <a:srgbClr val="7F7F7F"/>
                </a:solidFill>
                <a:effectLst/>
                <a:uLnTx/>
                <a:uFillTx/>
                <a:latin typeface="Calibri"/>
                <a:ea typeface="Calibri"/>
                <a:cs typeface="Calibri"/>
                <a:sym typeface="Calibri"/>
              </a:rPr>
              <a:t>Real P</a:t>
            </a:r>
            <a:r>
              <a:rPr kumimoji="0" lang="en" sz="2400" b="0" i="0" u="none" strike="noStrike" kern="0" cap="none" spc="0" normalizeH="0" baseline="0" noProof="0" dirty="0">
                <a:ln>
                  <a:noFill/>
                </a:ln>
                <a:solidFill>
                  <a:srgbClr val="7F7F7F"/>
                </a:solidFill>
                <a:effectLst/>
                <a:uLnTx/>
                <a:uFillTx/>
                <a:latin typeface="Calibri"/>
                <a:ea typeface="Calibri"/>
                <a:cs typeface="Calibri"/>
                <a:sym typeface="Calibri"/>
              </a:rPr>
              <a:t>honeme Seq</a:t>
            </a:r>
            <a:endParaRPr kumimoji="0" sz="2400" b="0" i="0" u="none" strike="noStrike" kern="0" cap="none" spc="0" normalizeH="0" baseline="-25000" noProof="0" dirty="0">
              <a:ln>
                <a:noFill/>
              </a:ln>
              <a:solidFill>
                <a:srgbClr val="7F7F7F"/>
              </a:solidFill>
              <a:effectLst/>
              <a:uLnTx/>
              <a:uFillTx/>
              <a:latin typeface="Calibri"/>
              <a:ea typeface="Calibri"/>
              <a:cs typeface="Calibri"/>
              <a:sym typeface="Calibri"/>
            </a:endParaRPr>
          </a:p>
        </p:txBody>
      </p:sp>
      <p:sp>
        <p:nvSpPr>
          <p:cNvPr id="20" name="Google Shape;1416;p118">
            <a:extLst>
              <a:ext uri="{FF2B5EF4-FFF2-40B4-BE49-F238E27FC236}">
                <a16:creationId xmlns:a16="http://schemas.microsoft.com/office/drawing/2014/main" id="{B19C5F77-73E0-F16E-E65E-01929BAC2FA7}"/>
              </a:ext>
            </a:extLst>
          </p:cNvPr>
          <p:cNvSpPr/>
          <p:nvPr/>
        </p:nvSpPr>
        <p:spPr>
          <a:xfrm>
            <a:off x="7648428" y="2636242"/>
            <a:ext cx="2166387" cy="579600"/>
          </a:xfrm>
          <a:prstGeom prst="roundRect">
            <a:avLst>
              <a:gd name="adj" fmla="val 16667"/>
            </a:avLst>
          </a:prstGeom>
          <a:solidFill>
            <a:schemeClr val="accent4">
              <a:lumMod val="20000"/>
              <a:lumOff val="80000"/>
            </a:schemeClr>
          </a:solidFill>
          <a:ln w="38100">
            <a:solidFill>
              <a:schemeClr val="tx1"/>
            </a:solidFill>
            <a:headEnd type="none" w="sm" len="sm"/>
            <a:tailEnd type="none" w="sm" len="sm"/>
          </a:ln>
        </p:spPr>
        <p:style>
          <a:lnRef idx="1">
            <a:schemeClr val="accent5"/>
          </a:lnRef>
          <a:fillRef idx="2">
            <a:schemeClr val="accent5"/>
          </a:fillRef>
          <a:effectRef idx="1">
            <a:schemeClr val="accent5"/>
          </a:effectRef>
          <a:fontRef idx="minor">
            <a:schemeClr val="dk1"/>
          </a:fontRef>
        </p:style>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800"/>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Calibri"/>
                <a:cs typeface="Calibri"/>
                <a:sym typeface="Calibri"/>
              </a:rPr>
              <a:t>Phonemicize</a:t>
            </a:r>
            <a:endParaRPr kumimoji="0"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cxnSp>
        <p:nvCxnSpPr>
          <p:cNvPr id="21" name="Google Shape;1414;p118">
            <a:extLst>
              <a:ext uri="{FF2B5EF4-FFF2-40B4-BE49-F238E27FC236}">
                <a16:creationId xmlns:a16="http://schemas.microsoft.com/office/drawing/2014/main" id="{48093761-C2C9-2413-EAA0-5BA50E9E925A}"/>
              </a:ext>
            </a:extLst>
          </p:cNvPr>
          <p:cNvCxnSpPr>
            <a:cxnSpLocks/>
          </p:cNvCxnSpPr>
          <p:nvPr/>
        </p:nvCxnSpPr>
        <p:spPr>
          <a:xfrm rot="10800000">
            <a:off x="8714720" y="2228843"/>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28" name="Google Shape;1414;p118">
            <a:extLst>
              <a:ext uri="{FF2B5EF4-FFF2-40B4-BE49-F238E27FC236}">
                <a16:creationId xmlns:a16="http://schemas.microsoft.com/office/drawing/2014/main" id="{943F81DC-960E-711E-4144-23E5002A3DBF}"/>
              </a:ext>
            </a:extLst>
          </p:cNvPr>
          <p:cNvCxnSpPr>
            <a:cxnSpLocks/>
          </p:cNvCxnSpPr>
          <p:nvPr/>
        </p:nvCxnSpPr>
        <p:spPr>
          <a:xfrm rot="10800000">
            <a:off x="8734779" y="3271978"/>
            <a:ext cx="0" cy="431200"/>
          </a:xfrm>
          <a:prstGeom prst="straightConnector1">
            <a:avLst/>
          </a:prstGeom>
          <a:noFill/>
          <a:ln w="28575" cap="flat" cmpd="sng">
            <a:solidFill>
              <a:srgbClr val="002060"/>
            </a:solidFill>
            <a:prstDash val="solid"/>
            <a:miter lim="800000"/>
            <a:headEnd type="none" w="sm" len="sm"/>
            <a:tailEnd type="triangle" w="med" len="med"/>
          </a:ln>
        </p:spPr>
      </p:cxnSp>
      <p:cxnSp>
        <p:nvCxnSpPr>
          <p:cNvPr id="23" name="直線接點 22">
            <a:extLst>
              <a:ext uri="{FF2B5EF4-FFF2-40B4-BE49-F238E27FC236}">
                <a16:creationId xmlns:a16="http://schemas.microsoft.com/office/drawing/2014/main" id="{1F6BD0BE-90B9-8A5C-9B19-D39904F37FC8}"/>
              </a:ext>
            </a:extLst>
          </p:cNvPr>
          <p:cNvCxnSpPr/>
          <p:nvPr/>
        </p:nvCxnSpPr>
        <p:spPr>
          <a:xfrm>
            <a:off x="3126120" y="4713913"/>
            <a:ext cx="2574100" cy="70380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01389F53-E3EF-3921-82A9-EA30F3FB7529}"/>
              </a:ext>
            </a:extLst>
          </p:cNvPr>
          <p:cNvCxnSpPr>
            <a:cxnSpLocks/>
          </p:cNvCxnSpPr>
          <p:nvPr/>
        </p:nvCxnSpPr>
        <p:spPr>
          <a:xfrm flipH="1" flipV="1">
            <a:off x="6169278" y="5372707"/>
            <a:ext cx="484697" cy="355378"/>
          </a:xfrm>
          <a:prstGeom prst="straightConnector1">
            <a:avLst/>
          </a:prstGeom>
          <a:noFill/>
          <a:ln w="57150" cap="flat" cmpd="sng" algn="ctr">
            <a:solidFill>
              <a:srgbClr val="002060"/>
            </a:solidFill>
            <a:prstDash val="sysDot"/>
            <a:miter lim="800000"/>
            <a:tailEnd type="triangle"/>
          </a:ln>
          <a:effectLst/>
        </p:spPr>
      </p:cxnSp>
      <p:sp>
        <p:nvSpPr>
          <p:cNvPr id="26" name="文字方塊 25">
            <a:extLst>
              <a:ext uri="{FF2B5EF4-FFF2-40B4-BE49-F238E27FC236}">
                <a16:creationId xmlns:a16="http://schemas.microsoft.com/office/drawing/2014/main" id="{48B43BA6-0302-61EF-DC7F-7B73B886A627}"/>
              </a:ext>
            </a:extLst>
          </p:cNvPr>
          <p:cNvSpPr txBox="1"/>
          <p:nvPr/>
        </p:nvSpPr>
        <p:spPr>
          <a:xfrm>
            <a:off x="6731594" y="5693223"/>
            <a:ext cx="2901016" cy="523220"/>
          </a:xfrm>
          <a:prstGeom prst="rect">
            <a:avLst/>
          </a:prstGeom>
          <a:noFill/>
        </p:spPr>
        <p:txBody>
          <a:bodyPr wrap="square" rtlCol="0">
            <a:spAutoFit/>
          </a:bodyPr>
          <a:lstStyle/>
          <a:p>
            <a:r>
              <a:rPr lang="en-US" altLang="zh-TW" sz="2800" dirty="0"/>
              <a:t>Wav2vec 2.0</a:t>
            </a:r>
            <a:endParaRPr lang="zh-TW" altLang="en-US" sz="2800" dirty="0"/>
          </a:p>
        </p:txBody>
      </p:sp>
    </p:spTree>
    <p:extLst>
      <p:ext uri="{BB962C8B-B14F-4D97-AF65-F5344CB8AC3E}">
        <p14:creationId xmlns:p14="http://schemas.microsoft.com/office/powerpoint/2010/main" val="42007231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3364B-AD4A-188C-2A32-26183CCDCB64}"/>
            </a:ext>
          </a:extLst>
        </p:cNvPr>
        <p:cNvGrpSpPr/>
        <p:nvPr/>
      </p:nvGrpSpPr>
      <p:grpSpPr>
        <a:xfrm>
          <a:off x="0" y="0"/>
          <a:ext cx="0" cy="0"/>
          <a:chOff x="0" y="0"/>
          <a:chExt cx="0" cy="0"/>
        </a:xfrm>
      </p:grpSpPr>
      <p:pic>
        <p:nvPicPr>
          <p:cNvPr id="1026" name="Picture 2" descr="未提供相片說明。">
            <a:extLst>
              <a:ext uri="{FF2B5EF4-FFF2-40B4-BE49-F238E27FC236}">
                <a16:creationId xmlns:a16="http://schemas.microsoft.com/office/drawing/2014/main" id="{1DD8A067-E4B9-ADE2-835C-37DE5360B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253269"/>
            <a:ext cx="8248650" cy="6351461"/>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F4B3E625-54EE-B600-EE73-3AB4D8DE1A04}"/>
              </a:ext>
            </a:extLst>
          </p:cNvPr>
          <p:cNvSpPr/>
          <p:nvPr/>
        </p:nvSpPr>
        <p:spPr>
          <a:xfrm>
            <a:off x="1600200" y="4001294"/>
            <a:ext cx="4495800" cy="12565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語音泡泡: 圓角矩形 9">
            <a:extLst>
              <a:ext uri="{FF2B5EF4-FFF2-40B4-BE49-F238E27FC236}">
                <a16:creationId xmlns:a16="http://schemas.microsoft.com/office/drawing/2014/main" id="{CE65E750-D1A0-1E06-EF54-4E49A67FA0EC}"/>
              </a:ext>
            </a:extLst>
          </p:cNvPr>
          <p:cNvSpPr/>
          <p:nvPr/>
        </p:nvSpPr>
        <p:spPr>
          <a:xfrm>
            <a:off x="498231" y="1268196"/>
            <a:ext cx="2926477" cy="859086"/>
          </a:xfrm>
          <a:prstGeom prst="wedgeRoundRectCallout">
            <a:avLst>
              <a:gd name="adj1" fmla="val 67991"/>
              <a:gd name="adj2" fmla="val 29067"/>
              <a:gd name="adj3" fmla="val 16667"/>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Using the </a:t>
            </a: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last layer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of wav2vec 2.0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語音泡泡: 圓角矩形 10">
            <a:extLst>
              <a:ext uri="{FF2B5EF4-FFF2-40B4-BE49-F238E27FC236}">
                <a16:creationId xmlns:a16="http://schemas.microsoft.com/office/drawing/2014/main" id="{8B1BA0D8-E174-3F59-D5DB-CA77B6EEA0C5}"/>
              </a:ext>
            </a:extLst>
          </p:cNvPr>
          <p:cNvSpPr/>
          <p:nvPr/>
        </p:nvSpPr>
        <p:spPr>
          <a:xfrm>
            <a:off x="1219199" y="3893294"/>
            <a:ext cx="4495801" cy="635211"/>
          </a:xfrm>
          <a:prstGeom prst="wedgeRoundRectCallout">
            <a:avLst>
              <a:gd name="adj1" fmla="val 58232"/>
              <a:gd name="adj2" fmla="val 83292"/>
              <a:gd name="adj3" fmla="val 16667"/>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TW" sz="2400" dirty="0">
                <a:solidFill>
                  <a:prstClr val="black"/>
                </a:solidFill>
              </a:rPr>
              <a:t>wav2vec 2.0</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model is not helpful</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語音泡泡: 圓角矩形 11">
            <a:extLst>
              <a:ext uri="{FF2B5EF4-FFF2-40B4-BE49-F238E27FC236}">
                <a16:creationId xmlns:a16="http://schemas.microsoft.com/office/drawing/2014/main" id="{4E3C43FA-F0FB-2B52-ECC5-E533BB48DE95}"/>
              </a:ext>
            </a:extLst>
          </p:cNvPr>
          <p:cNvSpPr/>
          <p:nvPr/>
        </p:nvSpPr>
        <p:spPr>
          <a:xfrm>
            <a:off x="1219199" y="5065220"/>
            <a:ext cx="4495800" cy="635211"/>
          </a:xfrm>
          <a:prstGeom prst="wedgeRoundRectCallout">
            <a:avLst>
              <a:gd name="adj1" fmla="val 59887"/>
              <a:gd name="adj2" fmla="val -52356"/>
              <a:gd name="adj3" fmla="val 16667"/>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TW" sz="2400" dirty="0">
                <a:solidFill>
                  <a:prstClr val="black"/>
                </a:solidFill>
              </a:rPr>
              <a:t>wav2vec 2.0</a:t>
            </a:r>
            <a:r>
              <a:rPr kumimoji="0" lang="en-US" altLang="zh-TW" sz="2400" b="0" i="0" u="none" strike="noStrike" kern="1200" cap="none" spc="0" normalizeH="0" baseline="0" noProof="0" dirty="0">
                <a:ln>
                  <a:noFill/>
                </a:ln>
                <a:solidFill>
                  <a:srgbClr val="343541"/>
                </a:solidFill>
                <a:effectLst/>
                <a:uLnTx/>
                <a:uFillTx/>
                <a:latin typeface="Söhne"/>
                <a:ea typeface="新細明體" panose="02020500000000000000" pitchFamily="18" charset="-120"/>
                <a:cs typeface="+mn-cs"/>
              </a:rPr>
              <a:t> is overpraised.</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 name="矩形 1">
            <a:extLst>
              <a:ext uri="{FF2B5EF4-FFF2-40B4-BE49-F238E27FC236}">
                <a16:creationId xmlns:a16="http://schemas.microsoft.com/office/drawing/2014/main" id="{E14C4F64-1028-64E0-395C-5ED255D09DA7}"/>
              </a:ext>
            </a:extLst>
          </p:cNvPr>
          <p:cNvSpPr/>
          <p:nvPr/>
        </p:nvSpPr>
        <p:spPr>
          <a:xfrm>
            <a:off x="8767293" y="-37143"/>
            <a:ext cx="2897572" cy="67476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7" name="矩形: 圓角 6">
            <a:extLst>
              <a:ext uri="{FF2B5EF4-FFF2-40B4-BE49-F238E27FC236}">
                <a16:creationId xmlns:a16="http://schemas.microsoft.com/office/drawing/2014/main" id="{91DC05C0-E64E-687C-2D49-EE9213CDAD3B}"/>
              </a:ext>
            </a:extLst>
          </p:cNvPr>
          <p:cNvSpPr/>
          <p:nvPr/>
        </p:nvSpPr>
        <p:spPr>
          <a:xfrm>
            <a:off x="9239250" y="2774712"/>
            <a:ext cx="2705100" cy="1981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Groundbreaking performance of Unsupervised ASR</a:t>
            </a:r>
            <a:endParaRPr kumimoji="0" lang="zh-TW" altLang="en-US"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30793169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F24691-6539-576E-3DBA-28F86DD40581}"/>
              </a:ext>
            </a:extLst>
          </p:cNvPr>
          <p:cNvSpPr>
            <a:spLocks noGrp="1"/>
          </p:cNvSpPr>
          <p:nvPr>
            <p:ph type="title"/>
          </p:nvPr>
        </p:nvSpPr>
        <p:spPr/>
        <p:txBody>
          <a:bodyPr/>
          <a:lstStyle/>
          <a:p>
            <a:r>
              <a:rPr lang="en-US" altLang="zh-TW" dirty="0"/>
              <a:t>Are speech representation models universal?</a:t>
            </a:r>
            <a:endParaRPr lang="zh-TW" altLang="en-US" dirty="0"/>
          </a:p>
        </p:txBody>
      </p:sp>
      <p:sp>
        <p:nvSpPr>
          <p:cNvPr id="58" name="箭號: 向右 57">
            <a:extLst>
              <a:ext uri="{FF2B5EF4-FFF2-40B4-BE49-F238E27FC236}">
                <a16:creationId xmlns:a16="http://schemas.microsoft.com/office/drawing/2014/main" id="{DF78AE25-DB94-E489-2085-1BA2886EBBD9}"/>
              </a:ext>
            </a:extLst>
          </p:cNvPr>
          <p:cNvSpPr/>
          <p:nvPr/>
        </p:nvSpPr>
        <p:spPr>
          <a:xfrm>
            <a:off x="3038493" y="3600706"/>
            <a:ext cx="655834" cy="69873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3" name="群組 2">
            <a:extLst>
              <a:ext uri="{FF2B5EF4-FFF2-40B4-BE49-F238E27FC236}">
                <a16:creationId xmlns:a16="http://schemas.microsoft.com/office/drawing/2014/main" id="{B7B91129-5709-E425-03FD-1250F9EB6ADC}"/>
              </a:ext>
            </a:extLst>
          </p:cNvPr>
          <p:cNvGrpSpPr/>
          <p:nvPr/>
        </p:nvGrpSpPr>
        <p:grpSpPr>
          <a:xfrm>
            <a:off x="626350" y="1905076"/>
            <a:ext cx="2326980" cy="3666784"/>
            <a:chOff x="9393979" y="1739021"/>
            <a:chExt cx="2326980" cy="3666784"/>
          </a:xfrm>
        </p:grpSpPr>
        <p:pic>
          <p:nvPicPr>
            <p:cNvPr id="60" name="Picture 5">
              <a:extLst>
                <a:ext uri="{FF2B5EF4-FFF2-40B4-BE49-F238E27FC236}">
                  <a16:creationId xmlns:a16="http://schemas.microsoft.com/office/drawing/2014/main" id="{37343DD5-F8BB-2D3F-D704-6B28BEF9317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9393979" y="4153380"/>
              <a:ext cx="1257108" cy="658083"/>
            </a:xfrm>
            <a:prstGeom prst="rect">
              <a:avLst/>
            </a:prstGeom>
          </p:spPr>
        </p:pic>
        <p:pic>
          <p:nvPicPr>
            <p:cNvPr id="61" name="Picture 5">
              <a:extLst>
                <a:ext uri="{FF2B5EF4-FFF2-40B4-BE49-F238E27FC236}">
                  <a16:creationId xmlns:a16="http://schemas.microsoft.com/office/drawing/2014/main" id="{D4960382-942A-D481-C855-24321D227DD1}"/>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9393979" y="4732406"/>
              <a:ext cx="1257109" cy="658083"/>
            </a:xfrm>
            <a:prstGeom prst="rect">
              <a:avLst/>
            </a:prstGeom>
          </p:spPr>
        </p:pic>
        <p:pic>
          <p:nvPicPr>
            <p:cNvPr id="62" name="Picture 5">
              <a:extLst>
                <a:ext uri="{FF2B5EF4-FFF2-40B4-BE49-F238E27FC236}">
                  <a16:creationId xmlns:a16="http://schemas.microsoft.com/office/drawing/2014/main" id="{06C9B933-A57D-4589-6E28-6C6F8012A27C}"/>
                </a:ext>
              </a:extLst>
            </p:cNvPr>
            <p:cNvPicPr>
              <a:picLocks noChangeAspect="1"/>
            </p:cNvPicPr>
            <p:nvPr/>
          </p:nvPicPr>
          <p:blipFill>
            <a:blip r:embed="rId4">
              <a:duotone>
                <a:prstClr val="black"/>
                <a:schemeClr val="accent6">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10452382" y="4741719"/>
              <a:ext cx="1268577" cy="664086"/>
            </a:xfrm>
            <a:prstGeom prst="rect">
              <a:avLst/>
            </a:prstGeom>
          </p:spPr>
        </p:pic>
        <p:pic>
          <p:nvPicPr>
            <p:cNvPr id="63" name="Picture 5">
              <a:extLst>
                <a:ext uri="{FF2B5EF4-FFF2-40B4-BE49-F238E27FC236}">
                  <a16:creationId xmlns:a16="http://schemas.microsoft.com/office/drawing/2014/main" id="{966524F4-AF6E-6ED2-D03F-1CB355F1B3D0}"/>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10463850" y="4142380"/>
              <a:ext cx="1257109" cy="658083"/>
            </a:xfrm>
            <a:prstGeom prst="rect">
              <a:avLst/>
            </a:prstGeom>
          </p:spPr>
        </p:pic>
        <p:pic>
          <p:nvPicPr>
            <p:cNvPr id="65" name="Picture 5">
              <a:extLst>
                <a:ext uri="{FF2B5EF4-FFF2-40B4-BE49-F238E27FC236}">
                  <a16:creationId xmlns:a16="http://schemas.microsoft.com/office/drawing/2014/main" id="{EF3D97A0-FFE3-9F3E-E22B-212CFA1C44B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9393979" y="2973288"/>
              <a:ext cx="1257108" cy="658083"/>
            </a:xfrm>
            <a:prstGeom prst="rect">
              <a:avLst/>
            </a:prstGeom>
          </p:spPr>
        </p:pic>
        <p:pic>
          <p:nvPicPr>
            <p:cNvPr id="66" name="Picture 5">
              <a:extLst>
                <a:ext uri="{FF2B5EF4-FFF2-40B4-BE49-F238E27FC236}">
                  <a16:creationId xmlns:a16="http://schemas.microsoft.com/office/drawing/2014/main" id="{F23381CC-BCDD-1430-AFE8-5A71CECDC146}"/>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9393979" y="3552314"/>
              <a:ext cx="1257109" cy="658083"/>
            </a:xfrm>
            <a:prstGeom prst="rect">
              <a:avLst/>
            </a:prstGeom>
          </p:spPr>
        </p:pic>
        <p:pic>
          <p:nvPicPr>
            <p:cNvPr id="67" name="Picture 5">
              <a:extLst>
                <a:ext uri="{FF2B5EF4-FFF2-40B4-BE49-F238E27FC236}">
                  <a16:creationId xmlns:a16="http://schemas.microsoft.com/office/drawing/2014/main" id="{D7F34144-F29B-21C7-E1DF-A296340BE729}"/>
                </a:ext>
              </a:extLst>
            </p:cNvPr>
            <p:cNvPicPr>
              <a:picLocks noChangeAspect="1"/>
            </p:cNvPicPr>
            <p:nvPr/>
          </p:nvPicPr>
          <p:blipFill>
            <a:blip r:embed="rId4">
              <a:duotone>
                <a:prstClr val="black"/>
                <a:schemeClr val="accent6">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10452382" y="3537038"/>
              <a:ext cx="1268577" cy="664086"/>
            </a:xfrm>
            <a:prstGeom prst="rect">
              <a:avLst/>
            </a:prstGeom>
          </p:spPr>
        </p:pic>
        <p:pic>
          <p:nvPicPr>
            <p:cNvPr id="68" name="Picture 5">
              <a:extLst>
                <a:ext uri="{FF2B5EF4-FFF2-40B4-BE49-F238E27FC236}">
                  <a16:creationId xmlns:a16="http://schemas.microsoft.com/office/drawing/2014/main" id="{2C0677E9-3BCC-31AF-37E8-399B474E6040}"/>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10463850" y="2937699"/>
              <a:ext cx="1257109" cy="658083"/>
            </a:xfrm>
            <a:prstGeom prst="rect">
              <a:avLst/>
            </a:prstGeom>
          </p:spPr>
        </p:pic>
        <p:pic>
          <p:nvPicPr>
            <p:cNvPr id="69" name="Picture 5">
              <a:extLst>
                <a:ext uri="{FF2B5EF4-FFF2-40B4-BE49-F238E27FC236}">
                  <a16:creationId xmlns:a16="http://schemas.microsoft.com/office/drawing/2014/main" id="{C1D83F56-E435-89BC-FD49-F4DD6594FF5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10463851" y="1739021"/>
              <a:ext cx="1257108" cy="658083"/>
            </a:xfrm>
            <a:prstGeom prst="rect">
              <a:avLst/>
            </a:prstGeom>
          </p:spPr>
        </p:pic>
        <p:pic>
          <p:nvPicPr>
            <p:cNvPr id="70" name="Picture 5">
              <a:extLst>
                <a:ext uri="{FF2B5EF4-FFF2-40B4-BE49-F238E27FC236}">
                  <a16:creationId xmlns:a16="http://schemas.microsoft.com/office/drawing/2014/main" id="{1A30111A-A0BC-6B2E-7D56-CE91BCCC7AEB}"/>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10463850" y="2338360"/>
              <a:ext cx="1257109" cy="658083"/>
            </a:xfrm>
            <a:prstGeom prst="rect">
              <a:avLst/>
            </a:prstGeom>
          </p:spPr>
        </p:pic>
        <p:pic>
          <p:nvPicPr>
            <p:cNvPr id="72" name="Picture 5">
              <a:extLst>
                <a:ext uri="{FF2B5EF4-FFF2-40B4-BE49-F238E27FC236}">
                  <a16:creationId xmlns:a16="http://schemas.microsoft.com/office/drawing/2014/main" id="{D8C110D8-94A9-EBC5-9EBD-471C5531A0E7}"/>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9393979" y="2342078"/>
              <a:ext cx="1257109" cy="658083"/>
            </a:xfrm>
            <a:prstGeom prst="rect">
              <a:avLst/>
            </a:prstGeom>
          </p:spPr>
        </p:pic>
        <p:pic>
          <p:nvPicPr>
            <p:cNvPr id="73" name="Picture 5">
              <a:extLst>
                <a:ext uri="{FF2B5EF4-FFF2-40B4-BE49-F238E27FC236}">
                  <a16:creationId xmlns:a16="http://schemas.microsoft.com/office/drawing/2014/main" id="{5C8A6CCC-FB09-CFA8-A471-AE5AF36B3688}"/>
                </a:ext>
              </a:extLst>
            </p:cNvPr>
            <p:cNvPicPr>
              <a:picLocks noChangeAspect="1"/>
            </p:cNvPicPr>
            <p:nvPr/>
          </p:nvPicPr>
          <p:blipFill>
            <a:blip r:embed="rId4">
              <a:duotone>
                <a:prstClr val="black"/>
                <a:schemeClr val="accent6">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a:off x="9393979" y="1739405"/>
              <a:ext cx="1268577" cy="664086"/>
            </a:xfrm>
            <a:prstGeom prst="rect">
              <a:avLst/>
            </a:prstGeom>
          </p:spPr>
        </p:pic>
      </p:grpSp>
      <p:sp>
        <p:nvSpPr>
          <p:cNvPr id="5" name="文字方塊 4">
            <a:extLst>
              <a:ext uri="{FF2B5EF4-FFF2-40B4-BE49-F238E27FC236}">
                <a16:creationId xmlns:a16="http://schemas.microsoft.com/office/drawing/2014/main" id="{26FC9A8F-7481-5D8D-27F3-7BCE0595CE59}"/>
              </a:ext>
            </a:extLst>
          </p:cNvPr>
          <p:cNvSpPr txBox="1"/>
          <p:nvPr/>
        </p:nvSpPr>
        <p:spPr>
          <a:xfrm>
            <a:off x="80500" y="5641461"/>
            <a:ext cx="320850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Unlabeled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7" name="群組 6">
            <a:extLst>
              <a:ext uri="{FF2B5EF4-FFF2-40B4-BE49-F238E27FC236}">
                <a16:creationId xmlns:a16="http://schemas.microsoft.com/office/drawing/2014/main" id="{99DBB029-E861-2304-FA82-709AF6D2EE76}"/>
              </a:ext>
            </a:extLst>
          </p:cNvPr>
          <p:cNvGrpSpPr/>
          <p:nvPr/>
        </p:nvGrpSpPr>
        <p:grpSpPr>
          <a:xfrm>
            <a:off x="8270354" y="1449169"/>
            <a:ext cx="3381443" cy="4038429"/>
            <a:chOff x="1542974" y="1952208"/>
            <a:chExt cx="3381443" cy="4038429"/>
          </a:xfrm>
        </p:grpSpPr>
        <p:sp>
          <p:nvSpPr>
            <p:cNvPr id="8" name="矩形: 圓角 7">
              <a:extLst>
                <a:ext uri="{FF2B5EF4-FFF2-40B4-BE49-F238E27FC236}">
                  <a16:creationId xmlns:a16="http://schemas.microsoft.com/office/drawing/2014/main" id="{CABF315E-11BD-11D5-9BAB-9B4D2749AC01}"/>
                </a:ext>
              </a:extLst>
            </p:cNvPr>
            <p:cNvSpPr/>
            <p:nvPr/>
          </p:nvSpPr>
          <p:spPr>
            <a:xfrm>
              <a:off x="1740702" y="4095989"/>
              <a:ext cx="3012981" cy="831518"/>
            </a:xfrm>
            <a:prstGeom prst="roundRect">
              <a:avLst/>
            </a:prstGeom>
            <a:solidFill>
              <a:schemeClr val="accent4">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Representation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9" name="直線單箭頭接點 8">
              <a:extLst>
                <a:ext uri="{FF2B5EF4-FFF2-40B4-BE49-F238E27FC236}">
                  <a16:creationId xmlns:a16="http://schemas.microsoft.com/office/drawing/2014/main" id="{4AA24C03-B76C-3CE6-17A7-32DEB06792B7}"/>
                </a:ext>
              </a:extLst>
            </p:cNvPr>
            <p:cNvCxnSpPr>
              <a:cxnSpLocks/>
            </p:cNvCxnSpPr>
            <p:nvPr/>
          </p:nvCxnSpPr>
          <p:spPr>
            <a:xfrm flipV="1">
              <a:off x="3277691" y="4936994"/>
              <a:ext cx="0" cy="4892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4A86AAFC-5824-7534-9A13-7AEA6E5BD1C1}"/>
                </a:ext>
              </a:extLst>
            </p:cNvPr>
            <p:cNvCxnSpPr>
              <a:cxnSpLocks/>
            </p:cNvCxnSpPr>
            <p:nvPr/>
          </p:nvCxnSpPr>
          <p:spPr>
            <a:xfrm flipV="1">
              <a:off x="3289368" y="3698891"/>
              <a:ext cx="0" cy="415240"/>
            </a:xfrm>
            <a:prstGeom prst="straightConnector1">
              <a:avLst/>
            </a:prstGeom>
            <a:ln w="38100">
              <a:solidFill>
                <a:srgbClr val="00001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7438F8C5-26DA-9569-D684-6E983A24B89E}"/>
                </a:ext>
              </a:extLst>
            </p:cNvPr>
            <p:cNvCxnSpPr>
              <a:cxnSpLocks/>
            </p:cNvCxnSpPr>
            <p:nvPr/>
          </p:nvCxnSpPr>
          <p:spPr>
            <a:xfrm>
              <a:off x="2460259" y="3698889"/>
              <a:ext cx="761263" cy="0"/>
            </a:xfrm>
            <a:prstGeom prst="straightConnector1">
              <a:avLst/>
            </a:prstGeom>
            <a:ln w="38100">
              <a:solidFill>
                <a:srgbClr val="00001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902118B1-ADB8-265C-73BC-DDB22AD83D3F}"/>
                </a:ext>
              </a:extLst>
            </p:cNvPr>
            <p:cNvCxnSpPr>
              <a:cxnSpLocks/>
            </p:cNvCxnSpPr>
            <p:nvPr/>
          </p:nvCxnSpPr>
          <p:spPr>
            <a:xfrm flipV="1">
              <a:off x="2460259" y="3205553"/>
              <a:ext cx="0" cy="475577"/>
            </a:xfrm>
            <a:prstGeom prst="straightConnector1">
              <a:avLst/>
            </a:prstGeom>
            <a:ln w="38100">
              <a:solidFill>
                <a:srgbClr val="000012"/>
              </a:solidFill>
              <a:tailEnd type="triangle"/>
            </a:ln>
          </p:spPr>
          <p:style>
            <a:lnRef idx="1">
              <a:schemeClr val="accent1"/>
            </a:lnRef>
            <a:fillRef idx="0">
              <a:schemeClr val="accent1"/>
            </a:fillRef>
            <a:effectRef idx="0">
              <a:schemeClr val="accent1"/>
            </a:effectRef>
            <a:fontRef idx="minor">
              <a:schemeClr val="tx1"/>
            </a:fontRef>
          </p:style>
        </p:cxnSp>
        <p:sp>
          <p:nvSpPr>
            <p:cNvPr id="13" name="Google Shape;109;p16">
              <a:extLst>
                <a:ext uri="{FF2B5EF4-FFF2-40B4-BE49-F238E27FC236}">
                  <a16:creationId xmlns:a16="http://schemas.microsoft.com/office/drawing/2014/main" id="{6EC5F75C-0743-1B9B-DF8E-660CF273BADD}"/>
                </a:ext>
              </a:extLst>
            </p:cNvPr>
            <p:cNvSpPr/>
            <p:nvPr/>
          </p:nvSpPr>
          <p:spPr>
            <a:xfrm>
              <a:off x="1740702" y="2734054"/>
              <a:ext cx="1410086" cy="493905"/>
            </a:xfrm>
            <a:prstGeom prst="roundRect">
              <a:avLst>
                <a:gd name="adj" fmla="val 16667"/>
              </a:avLst>
            </a:prstGeom>
            <a:solidFill>
              <a:schemeClr val="accent5">
                <a:lumMod val="20000"/>
                <a:lumOff val="80000"/>
              </a:schemeClr>
            </a:solidFill>
            <a:ln w="38100">
              <a:solidFill>
                <a:srgbClr val="000012"/>
              </a:solidFill>
              <a:prstDash val="sysDot"/>
            </a:ln>
          </p:spPr>
          <p:style>
            <a:lnRef idx="2">
              <a:schemeClr val="accent2">
                <a:shade val="50000"/>
              </a:schemeClr>
            </a:lnRef>
            <a:fillRef idx="1">
              <a:schemeClr val="accent2"/>
            </a:fillRef>
            <a:effectRef idx="0">
              <a:schemeClr val="accent2"/>
            </a:effectRef>
            <a:fontRef idx="minor">
              <a:schemeClr val="lt1"/>
            </a:fontRef>
          </p:style>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mn-ea"/>
                  <a:cs typeface="Arial"/>
                  <a:sym typeface="Arial"/>
                </a:rPr>
                <a:t>Head</a:t>
              </a:r>
              <a:endParaRPr kumimoji="0" sz="2400" b="0" i="0" u="none" strike="noStrike" kern="0" cap="none" spc="0" normalizeH="0" baseline="0" noProof="0" dirty="0">
                <a:ln>
                  <a:noFill/>
                </a:ln>
                <a:solidFill>
                  <a:srgbClr val="000000"/>
                </a:solidFill>
                <a:effectLst/>
                <a:uLnTx/>
                <a:uFillTx/>
                <a:latin typeface="Calibri" panose="020F0502020204030204"/>
                <a:ea typeface="+mn-ea"/>
                <a:cs typeface="Arial"/>
                <a:sym typeface="Arial"/>
              </a:endParaRPr>
            </a:p>
          </p:txBody>
        </p:sp>
        <p:cxnSp>
          <p:nvCxnSpPr>
            <p:cNvPr id="14" name="直線單箭頭接點 13">
              <a:extLst>
                <a:ext uri="{FF2B5EF4-FFF2-40B4-BE49-F238E27FC236}">
                  <a16:creationId xmlns:a16="http://schemas.microsoft.com/office/drawing/2014/main" id="{2B561535-35D3-420E-1C5C-C586BE7D8069}"/>
                </a:ext>
              </a:extLst>
            </p:cNvPr>
            <p:cNvCxnSpPr>
              <a:cxnSpLocks/>
            </p:cNvCxnSpPr>
            <p:nvPr/>
          </p:nvCxnSpPr>
          <p:spPr>
            <a:xfrm>
              <a:off x="3014187" y="3698889"/>
              <a:ext cx="1045052" cy="0"/>
            </a:xfrm>
            <a:prstGeom prst="straightConnector1">
              <a:avLst/>
            </a:prstGeom>
            <a:ln w="38100">
              <a:solidFill>
                <a:srgbClr val="00001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Google Shape;109;p16">
              <a:extLst>
                <a:ext uri="{FF2B5EF4-FFF2-40B4-BE49-F238E27FC236}">
                  <a16:creationId xmlns:a16="http://schemas.microsoft.com/office/drawing/2014/main" id="{EDA3BB6A-4D7D-7080-D220-1451903A8294}"/>
                </a:ext>
              </a:extLst>
            </p:cNvPr>
            <p:cNvSpPr/>
            <p:nvPr/>
          </p:nvSpPr>
          <p:spPr>
            <a:xfrm>
              <a:off x="3343597" y="2734054"/>
              <a:ext cx="1410086" cy="493905"/>
            </a:xfrm>
            <a:prstGeom prst="roundRect">
              <a:avLst>
                <a:gd name="adj" fmla="val 16667"/>
              </a:avLst>
            </a:prstGeom>
            <a:solidFill>
              <a:schemeClr val="accent2">
                <a:lumMod val="20000"/>
                <a:lumOff val="80000"/>
              </a:schemeClr>
            </a:solidFill>
            <a:ln w="38100">
              <a:solidFill>
                <a:srgbClr val="000012"/>
              </a:solidFill>
              <a:prstDash val="sysDot"/>
            </a:ln>
          </p:spPr>
          <p:style>
            <a:lnRef idx="2">
              <a:schemeClr val="accent2">
                <a:shade val="50000"/>
              </a:schemeClr>
            </a:lnRef>
            <a:fillRef idx="1">
              <a:schemeClr val="accent2"/>
            </a:fillRef>
            <a:effectRef idx="0">
              <a:schemeClr val="accent2"/>
            </a:effectRef>
            <a:fontRef idx="minor">
              <a:schemeClr val="lt1"/>
            </a:fontRef>
          </p:style>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mn-ea"/>
                  <a:cs typeface="Arial"/>
                  <a:sym typeface="Arial"/>
                </a:rPr>
                <a:t>Head</a:t>
              </a:r>
              <a:endParaRPr kumimoji="0" sz="2400" b="0" i="0" u="none" strike="noStrike" kern="0" cap="none" spc="0" normalizeH="0" baseline="0" noProof="0" dirty="0">
                <a:ln>
                  <a:noFill/>
                </a:ln>
                <a:solidFill>
                  <a:srgbClr val="000000"/>
                </a:solidFill>
                <a:effectLst/>
                <a:uLnTx/>
                <a:uFillTx/>
                <a:latin typeface="Calibri" panose="020F0502020204030204"/>
                <a:ea typeface="+mn-ea"/>
                <a:cs typeface="Arial"/>
                <a:sym typeface="Arial"/>
              </a:endParaRPr>
            </a:p>
          </p:txBody>
        </p:sp>
        <p:cxnSp>
          <p:nvCxnSpPr>
            <p:cNvPr id="16" name="直線單箭頭接點 15">
              <a:extLst>
                <a:ext uri="{FF2B5EF4-FFF2-40B4-BE49-F238E27FC236}">
                  <a16:creationId xmlns:a16="http://schemas.microsoft.com/office/drawing/2014/main" id="{800CBF9E-34C5-E8B0-4E5D-941A955346BA}"/>
                </a:ext>
              </a:extLst>
            </p:cNvPr>
            <p:cNvCxnSpPr>
              <a:cxnSpLocks/>
            </p:cNvCxnSpPr>
            <p:nvPr/>
          </p:nvCxnSpPr>
          <p:spPr>
            <a:xfrm flipV="1">
              <a:off x="4059239" y="3229477"/>
              <a:ext cx="0" cy="475577"/>
            </a:xfrm>
            <a:prstGeom prst="straightConnector1">
              <a:avLst/>
            </a:prstGeom>
            <a:ln w="38100">
              <a:solidFill>
                <a:srgbClr val="00001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5EC3D047-14B5-BD48-2B60-373BBB9C5BA0}"/>
                </a:ext>
              </a:extLst>
            </p:cNvPr>
            <p:cNvCxnSpPr>
              <a:cxnSpLocks/>
            </p:cNvCxnSpPr>
            <p:nvPr/>
          </p:nvCxnSpPr>
          <p:spPr>
            <a:xfrm flipV="1">
              <a:off x="2445745" y="2451354"/>
              <a:ext cx="0" cy="270000"/>
            </a:xfrm>
            <a:prstGeom prst="straightConnector1">
              <a:avLst/>
            </a:prstGeom>
            <a:ln w="38100">
              <a:solidFill>
                <a:srgbClr val="00001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DEACFAAC-E81B-01EB-D4D8-E74F678D9E17}"/>
                </a:ext>
              </a:extLst>
            </p:cNvPr>
            <p:cNvCxnSpPr>
              <a:cxnSpLocks/>
            </p:cNvCxnSpPr>
            <p:nvPr/>
          </p:nvCxnSpPr>
          <p:spPr>
            <a:xfrm flipV="1">
              <a:off x="4048640" y="2448242"/>
              <a:ext cx="0" cy="270000"/>
            </a:xfrm>
            <a:prstGeom prst="straightConnector1">
              <a:avLst/>
            </a:prstGeom>
            <a:ln w="38100">
              <a:solidFill>
                <a:srgbClr val="000012"/>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BD2974C2-61F5-2A10-5E2F-9219E7163987}"/>
                </a:ext>
              </a:extLst>
            </p:cNvPr>
            <p:cNvSpPr txBox="1"/>
            <p:nvPr/>
          </p:nvSpPr>
          <p:spPr>
            <a:xfrm>
              <a:off x="1542974" y="1952208"/>
              <a:ext cx="176229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文字方塊 19">
              <a:extLst>
                <a:ext uri="{FF2B5EF4-FFF2-40B4-BE49-F238E27FC236}">
                  <a16:creationId xmlns:a16="http://schemas.microsoft.com/office/drawing/2014/main" id="{70553103-99EF-8E78-2AE8-90A7A2AF8998}"/>
                </a:ext>
              </a:extLst>
            </p:cNvPr>
            <p:cNvSpPr txBox="1"/>
            <p:nvPr/>
          </p:nvSpPr>
          <p:spPr>
            <a:xfrm>
              <a:off x="3162119" y="1954219"/>
              <a:ext cx="176229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SID</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21" name="Picture 2">
              <a:extLst>
                <a:ext uri="{FF2B5EF4-FFF2-40B4-BE49-F238E27FC236}">
                  <a16:creationId xmlns:a16="http://schemas.microsoft.com/office/drawing/2014/main" id="{1D9765CF-0E05-CA04-1B34-69AA47C902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8622" y="2940103"/>
              <a:ext cx="323850" cy="32385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C70ECFC9-3204-E4B4-45EF-2B0940D3B6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9233" y="2919921"/>
              <a:ext cx="323850" cy="323850"/>
            </a:xfrm>
            <a:prstGeom prst="rect">
              <a:avLst/>
            </a:prstGeom>
            <a:noFill/>
            <a:extLst>
              <a:ext uri="{909E8E84-426E-40DD-AFC4-6F175D3DCCD1}">
                <a14:hiddenFill xmlns:a14="http://schemas.microsoft.com/office/drawing/2010/main">
                  <a:solidFill>
                    <a:srgbClr val="FFFFFF"/>
                  </a:solidFill>
                </a14:hiddenFill>
              </a:ext>
            </a:extLst>
          </p:spPr>
        </p:pic>
        <p:pic>
          <p:nvPicPr>
            <p:cNvPr id="23"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08A3FD4-DDD9-CFB6-6610-E519A994E6AC}"/>
                </a:ext>
              </a:extLst>
            </p:cNvPr>
            <p:cNvPicPr preferRelativeResize="0"/>
            <p:nvPr/>
          </p:nvPicPr>
          <p:blipFill rotWithShape="1">
            <a:blip r:embed="rId6">
              <a:alphaModFix/>
            </a:blip>
            <a:srcRect l="39924" t="74586" r="38724" b="15732"/>
            <a:stretch/>
          </p:blipFill>
          <p:spPr>
            <a:xfrm>
              <a:off x="1740702" y="5181615"/>
              <a:ext cx="3082381" cy="809022"/>
            </a:xfrm>
            <a:prstGeom prst="rect">
              <a:avLst/>
            </a:prstGeom>
            <a:noFill/>
            <a:ln>
              <a:noFill/>
            </a:ln>
          </p:spPr>
        </p:pic>
      </p:grpSp>
      <p:sp>
        <p:nvSpPr>
          <p:cNvPr id="24" name="箭號: 向右 23">
            <a:extLst>
              <a:ext uri="{FF2B5EF4-FFF2-40B4-BE49-F238E27FC236}">
                <a16:creationId xmlns:a16="http://schemas.microsoft.com/office/drawing/2014/main" id="{DC0970A0-6846-DAFB-3727-906E34590132}"/>
              </a:ext>
            </a:extLst>
          </p:cNvPr>
          <p:cNvSpPr/>
          <p:nvPr/>
        </p:nvSpPr>
        <p:spPr>
          <a:xfrm>
            <a:off x="7557465" y="3599754"/>
            <a:ext cx="655834" cy="69873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37" name="群組 36">
            <a:extLst>
              <a:ext uri="{FF2B5EF4-FFF2-40B4-BE49-F238E27FC236}">
                <a16:creationId xmlns:a16="http://schemas.microsoft.com/office/drawing/2014/main" id="{65FF1C7B-2DD4-C05A-D46C-679866958E35}"/>
              </a:ext>
            </a:extLst>
          </p:cNvPr>
          <p:cNvGrpSpPr/>
          <p:nvPr/>
        </p:nvGrpSpPr>
        <p:grpSpPr>
          <a:xfrm>
            <a:off x="4087522" y="1690688"/>
            <a:ext cx="3271713" cy="4305695"/>
            <a:chOff x="5035700" y="1669104"/>
            <a:chExt cx="3271713" cy="4305695"/>
          </a:xfrm>
        </p:grpSpPr>
        <p:sp>
          <p:nvSpPr>
            <p:cNvPr id="38" name="矩形: 圓角 37">
              <a:extLst>
                <a:ext uri="{FF2B5EF4-FFF2-40B4-BE49-F238E27FC236}">
                  <a16:creationId xmlns:a16="http://schemas.microsoft.com/office/drawing/2014/main" id="{FD3BC640-8C34-15AD-6E48-6EB2882C43EA}"/>
                </a:ext>
              </a:extLst>
            </p:cNvPr>
            <p:cNvSpPr/>
            <p:nvPr/>
          </p:nvSpPr>
          <p:spPr>
            <a:xfrm>
              <a:off x="5035700" y="1669104"/>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PASE+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矩形: 圓角 38">
              <a:extLst>
                <a:ext uri="{FF2B5EF4-FFF2-40B4-BE49-F238E27FC236}">
                  <a16:creationId xmlns:a16="http://schemas.microsoft.com/office/drawing/2014/main" id="{62FF8DE8-6C17-53C3-7833-B2A0A87A3E70}"/>
                </a:ext>
              </a:extLst>
            </p:cNvPr>
            <p:cNvSpPr/>
            <p:nvPr/>
          </p:nvSpPr>
          <p:spPr>
            <a:xfrm>
              <a:off x="5035700" y="2397922"/>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APC</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矩形: 圓角 39">
              <a:extLst>
                <a:ext uri="{FF2B5EF4-FFF2-40B4-BE49-F238E27FC236}">
                  <a16:creationId xmlns:a16="http://schemas.microsoft.com/office/drawing/2014/main" id="{A2B1FC93-5C88-93C0-69C6-B28B55DB1C71}"/>
                </a:ext>
              </a:extLst>
            </p:cNvPr>
            <p:cNvSpPr/>
            <p:nvPr/>
          </p:nvSpPr>
          <p:spPr>
            <a:xfrm>
              <a:off x="5035700" y="3126740"/>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VQ-APC</a:t>
              </a:r>
            </a:p>
          </p:txBody>
        </p:sp>
        <p:sp>
          <p:nvSpPr>
            <p:cNvPr id="41" name="矩形: 圓角 40">
              <a:extLst>
                <a:ext uri="{FF2B5EF4-FFF2-40B4-BE49-F238E27FC236}">
                  <a16:creationId xmlns:a16="http://schemas.microsoft.com/office/drawing/2014/main" id="{8DD1E0E9-919A-2079-C750-1D5B345FD72F}"/>
                </a:ext>
              </a:extLst>
            </p:cNvPr>
            <p:cNvSpPr/>
            <p:nvPr/>
          </p:nvSpPr>
          <p:spPr>
            <a:xfrm>
              <a:off x="5035700" y="3855558"/>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NPC</a:t>
              </a:r>
            </a:p>
          </p:txBody>
        </p:sp>
        <p:sp>
          <p:nvSpPr>
            <p:cNvPr id="42" name="矩形: 圓角 41">
              <a:extLst>
                <a:ext uri="{FF2B5EF4-FFF2-40B4-BE49-F238E27FC236}">
                  <a16:creationId xmlns:a16="http://schemas.microsoft.com/office/drawing/2014/main" id="{046FD629-06BE-D784-6AA8-4BECD7EB547E}"/>
                </a:ext>
              </a:extLst>
            </p:cNvPr>
            <p:cNvSpPr/>
            <p:nvPr/>
          </p:nvSpPr>
          <p:spPr>
            <a:xfrm>
              <a:off x="5035700" y="4584376"/>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Mockingjay</a:t>
              </a:r>
            </a:p>
          </p:txBody>
        </p:sp>
        <p:sp>
          <p:nvSpPr>
            <p:cNvPr id="43" name="矩形: 圓角 42">
              <a:extLst>
                <a:ext uri="{FF2B5EF4-FFF2-40B4-BE49-F238E27FC236}">
                  <a16:creationId xmlns:a16="http://schemas.microsoft.com/office/drawing/2014/main" id="{3346B5D1-15A8-4E2B-7679-6E7AE8B40381}"/>
                </a:ext>
              </a:extLst>
            </p:cNvPr>
            <p:cNvSpPr/>
            <p:nvPr/>
          </p:nvSpPr>
          <p:spPr>
            <a:xfrm>
              <a:off x="5035700" y="5313192"/>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TERA</a:t>
              </a:r>
            </a:p>
          </p:txBody>
        </p:sp>
        <p:sp>
          <p:nvSpPr>
            <p:cNvPr id="44" name="矩形: 圓角 43">
              <a:extLst>
                <a:ext uri="{FF2B5EF4-FFF2-40B4-BE49-F238E27FC236}">
                  <a16:creationId xmlns:a16="http://schemas.microsoft.com/office/drawing/2014/main" id="{C0ACEF29-920C-A970-85D1-B32E6F43F131}"/>
                </a:ext>
              </a:extLst>
            </p:cNvPr>
            <p:cNvSpPr/>
            <p:nvPr/>
          </p:nvSpPr>
          <p:spPr>
            <a:xfrm>
              <a:off x="6867413" y="1674874"/>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DeCoAR</a:t>
              </a:r>
              <a:endPar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矩形: 圓角 44">
              <a:extLst>
                <a:ext uri="{FF2B5EF4-FFF2-40B4-BE49-F238E27FC236}">
                  <a16:creationId xmlns:a16="http://schemas.microsoft.com/office/drawing/2014/main" id="{EB85204E-B60D-422D-E77A-B8ED97A1683D}"/>
                </a:ext>
              </a:extLst>
            </p:cNvPr>
            <p:cNvSpPr/>
            <p:nvPr/>
          </p:nvSpPr>
          <p:spPr>
            <a:xfrm>
              <a:off x="6867413" y="2373614"/>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CPC</a:t>
              </a:r>
            </a:p>
          </p:txBody>
        </p:sp>
        <p:sp>
          <p:nvSpPr>
            <p:cNvPr id="46" name="矩形: 圓角 45">
              <a:extLst>
                <a:ext uri="{FF2B5EF4-FFF2-40B4-BE49-F238E27FC236}">
                  <a16:creationId xmlns:a16="http://schemas.microsoft.com/office/drawing/2014/main" id="{DDEC789A-FF6B-30E0-CCC9-984CFD93E493}"/>
                </a:ext>
              </a:extLst>
            </p:cNvPr>
            <p:cNvSpPr/>
            <p:nvPr/>
          </p:nvSpPr>
          <p:spPr>
            <a:xfrm>
              <a:off x="6867413" y="3072354"/>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wav2vec</a:t>
              </a:r>
            </a:p>
          </p:txBody>
        </p:sp>
        <p:sp>
          <p:nvSpPr>
            <p:cNvPr id="47" name="矩形: 圓角 46">
              <a:extLst>
                <a:ext uri="{FF2B5EF4-FFF2-40B4-BE49-F238E27FC236}">
                  <a16:creationId xmlns:a16="http://schemas.microsoft.com/office/drawing/2014/main" id="{03A72649-D31C-5E37-9F5F-E4FA68428DC2}"/>
                </a:ext>
              </a:extLst>
            </p:cNvPr>
            <p:cNvSpPr/>
            <p:nvPr/>
          </p:nvSpPr>
          <p:spPr>
            <a:xfrm>
              <a:off x="6867413" y="3771094"/>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HuBERT</a:t>
              </a:r>
              <a:endPar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文字方塊 47">
              <a:extLst>
                <a:ext uri="{FF2B5EF4-FFF2-40B4-BE49-F238E27FC236}">
                  <a16:creationId xmlns:a16="http://schemas.microsoft.com/office/drawing/2014/main" id="{844D67E2-FEF7-D32A-D56C-B289100F5899}"/>
                </a:ext>
              </a:extLst>
            </p:cNvPr>
            <p:cNvSpPr txBox="1"/>
            <p:nvPr/>
          </p:nvSpPr>
          <p:spPr>
            <a:xfrm rot="5400000">
              <a:off x="7222083" y="5321582"/>
              <a:ext cx="78321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矩形: 圓角 48">
              <a:extLst>
                <a:ext uri="{FF2B5EF4-FFF2-40B4-BE49-F238E27FC236}">
                  <a16:creationId xmlns:a16="http://schemas.microsoft.com/office/drawing/2014/main" id="{C392202A-061E-17E4-4036-A7797431D4CE}"/>
                </a:ext>
              </a:extLst>
            </p:cNvPr>
            <p:cNvSpPr/>
            <p:nvPr/>
          </p:nvSpPr>
          <p:spPr>
            <a:xfrm>
              <a:off x="6867413" y="4469833"/>
              <a:ext cx="1440000" cy="540000"/>
            </a:xfrm>
            <a:prstGeom prst="roundRect">
              <a:avLst/>
            </a:prstGeom>
            <a:solidFill>
              <a:schemeClr val="accent3">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WavLM</a:t>
              </a:r>
              <a:endPar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50" name="文字方塊 49">
            <a:extLst>
              <a:ext uri="{FF2B5EF4-FFF2-40B4-BE49-F238E27FC236}">
                <a16:creationId xmlns:a16="http://schemas.microsoft.com/office/drawing/2014/main" id="{E68D5B50-070F-A7EF-B7CC-E7E9D4A8AC5D}"/>
              </a:ext>
            </a:extLst>
          </p:cNvPr>
          <p:cNvSpPr txBox="1"/>
          <p:nvPr/>
        </p:nvSpPr>
        <p:spPr>
          <a:xfrm>
            <a:off x="3727448" y="6082914"/>
            <a:ext cx="407605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r>
              <a:rPr lang="en-US" altLang="zh-TW" sz="2400" dirty="0">
                <a:solidFill>
                  <a:prstClr val="black"/>
                </a:solidFill>
                <a:latin typeface="Calibri" panose="020F0502020204030204"/>
                <a:ea typeface="新細明體" panose="02020500000000000000" pitchFamily="18" charset="-120"/>
              </a:rPr>
              <a:t>Representation</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Models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文字方塊 50">
            <a:extLst>
              <a:ext uri="{FF2B5EF4-FFF2-40B4-BE49-F238E27FC236}">
                <a16:creationId xmlns:a16="http://schemas.microsoft.com/office/drawing/2014/main" id="{689E6E7B-D071-EA76-BBEF-849AA0BD47AC}"/>
              </a:ext>
            </a:extLst>
          </p:cNvPr>
          <p:cNvSpPr txBox="1"/>
          <p:nvPr/>
        </p:nvSpPr>
        <p:spPr>
          <a:xfrm>
            <a:off x="7803503" y="5580823"/>
            <a:ext cx="3984147"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Dated back to 2021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文字方塊 51">
            <a:extLst>
              <a:ext uri="{FF2B5EF4-FFF2-40B4-BE49-F238E27FC236}">
                <a16:creationId xmlns:a16="http://schemas.microsoft.com/office/drawing/2014/main" id="{F344B905-1A6A-CB57-74AE-DCD067EA9CD2}"/>
              </a:ext>
            </a:extLst>
          </p:cNvPr>
          <p:cNvSpPr txBox="1"/>
          <p:nvPr/>
        </p:nvSpPr>
        <p:spPr>
          <a:xfrm>
            <a:off x="7540603" y="4352740"/>
            <a:ext cx="53339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3" name="文字方塊 52">
            <a:extLst>
              <a:ext uri="{FF2B5EF4-FFF2-40B4-BE49-F238E27FC236}">
                <a16:creationId xmlns:a16="http://schemas.microsoft.com/office/drawing/2014/main" id="{B67DF8D0-E233-46BA-D186-78E12079195B}"/>
              </a:ext>
            </a:extLst>
          </p:cNvPr>
          <p:cNvSpPr txBox="1"/>
          <p:nvPr/>
        </p:nvSpPr>
        <p:spPr>
          <a:xfrm>
            <a:off x="7749493" y="6147777"/>
            <a:ext cx="3984147" cy="52322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This is not obvious.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9270046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1" grpId="0"/>
      <p:bldP spid="52" grpId="0"/>
      <p:bldP spid="5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ED018-2183-F945-0F80-C82AE961CF3D}"/>
            </a:ext>
          </a:extLst>
        </p:cNvPr>
        <p:cNvGrpSpPr/>
        <p:nvPr/>
      </p:nvGrpSpPr>
      <p:grpSpPr>
        <a:xfrm>
          <a:off x="0" y="0"/>
          <a:ext cx="0" cy="0"/>
          <a:chOff x="0" y="0"/>
          <a:chExt cx="0" cy="0"/>
        </a:xfrm>
      </p:grpSpPr>
      <p:pic>
        <p:nvPicPr>
          <p:cNvPr id="8" name="Picture 2">
            <a:extLst>
              <a:ext uri="{FF2B5EF4-FFF2-40B4-BE49-F238E27FC236}">
                <a16:creationId xmlns:a16="http://schemas.microsoft.com/office/drawing/2014/main" id="{B29A404D-EDF4-60E7-2EAA-E798BD0764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353" y="255005"/>
            <a:ext cx="5852160" cy="1649984"/>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C93DF1CF-C727-60D9-7DC0-555E1C02904E}"/>
              </a:ext>
            </a:extLst>
          </p:cNvPr>
          <p:cNvSpPr txBox="1"/>
          <p:nvPr/>
        </p:nvSpPr>
        <p:spPr>
          <a:xfrm>
            <a:off x="6686841" y="613846"/>
            <a:ext cx="5736387"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srgbClr val="000000"/>
                </a:solidFill>
                <a:effectLst/>
                <a:uLnTx/>
                <a:uFillTx/>
                <a:latin typeface="Lucida Grande"/>
                <a:ea typeface="新細明體" panose="02020500000000000000" pitchFamily="18" charset="-120"/>
                <a:cs typeface="+mn-cs"/>
              </a:rPr>
              <a:t>Speech processing Universal </a:t>
            </a:r>
            <a:r>
              <a:rPr kumimoji="0" lang="en-US" altLang="zh-TW" sz="2800" b="1" i="0" u="none" strike="noStrike" kern="1200" cap="none" spc="0" normalizeH="0" baseline="0" noProof="0" dirty="0" err="1">
                <a:ln>
                  <a:noFill/>
                </a:ln>
                <a:solidFill>
                  <a:srgbClr val="000000"/>
                </a:solidFill>
                <a:effectLst/>
                <a:uLnTx/>
                <a:uFillTx/>
                <a:latin typeface="Lucida Grande"/>
                <a:ea typeface="新細明體" panose="02020500000000000000" pitchFamily="18" charset="-120"/>
                <a:cs typeface="+mn-cs"/>
              </a:rPr>
              <a:t>PERformance</a:t>
            </a:r>
            <a:r>
              <a:rPr kumimoji="0" lang="en-US" altLang="zh-TW" sz="2800" b="1" i="0" u="none" strike="noStrike" kern="1200" cap="none" spc="0" normalizeH="0" baseline="0" noProof="0" dirty="0">
                <a:ln>
                  <a:noFill/>
                </a:ln>
                <a:solidFill>
                  <a:srgbClr val="000000"/>
                </a:solidFill>
                <a:effectLst/>
                <a:uLnTx/>
                <a:uFillTx/>
                <a:latin typeface="Lucida Grande"/>
                <a:ea typeface="新細明體" panose="02020500000000000000" pitchFamily="18" charset="-120"/>
                <a:cs typeface="+mn-cs"/>
              </a:rPr>
              <a:t> Benchmark</a:t>
            </a:r>
          </a:p>
        </p:txBody>
      </p:sp>
      <p:grpSp>
        <p:nvGrpSpPr>
          <p:cNvPr id="16" name="群組 15">
            <a:extLst>
              <a:ext uri="{FF2B5EF4-FFF2-40B4-BE49-F238E27FC236}">
                <a16:creationId xmlns:a16="http://schemas.microsoft.com/office/drawing/2014/main" id="{7B0CDB10-5D36-21A8-B952-5B65A0C6F4B9}"/>
              </a:ext>
            </a:extLst>
          </p:cNvPr>
          <p:cNvGrpSpPr/>
          <p:nvPr/>
        </p:nvGrpSpPr>
        <p:grpSpPr>
          <a:xfrm>
            <a:off x="971918" y="2661335"/>
            <a:ext cx="1868275" cy="1763477"/>
            <a:chOff x="4606044" y="426776"/>
            <a:chExt cx="1868275" cy="1763477"/>
          </a:xfrm>
        </p:grpSpPr>
        <p:pic>
          <p:nvPicPr>
            <p:cNvPr id="19" name="圖片 18" descr="一張含有 文字, 膝上型電腦, 電腦, 桌 的圖片&#10;&#10;自動產生的描述">
              <a:extLst>
                <a:ext uri="{FF2B5EF4-FFF2-40B4-BE49-F238E27FC236}">
                  <a16:creationId xmlns:a16="http://schemas.microsoft.com/office/drawing/2014/main" id="{EFA51518-4D06-1B2F-A898-44ABEB1A0F1B}"/>
                </a:ext>
              </a:extLst>
            </p:cNvPr>
            <p:cNvPicPr>
              <a:picLocks noChangeAspect="1"/>
            </p:cNvPicPr>
            <p:nvPr/>
          </p:nvPicPr>
          <p:blipFill>
            <a:blip r:embed="rId4"/>
            <a:stretch>
              <a:fillRect/>
            </a:stretch>
          </p:blipFill>
          <p:spPr>
            <a:xfrm>
              <a:off x="4606044" y="426776"/>
              <a:ext cx="993600" cy="10412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0" name="文字方塊 19">
              <a:extLst>
                <a:ext uri="{FF2B5EF4-FFF2-40B4-BE49-F238E27FC236}">
                  <a16:creationId xmlns:a16="http://schemas.microsoft.com/office/drawing/2014/main" id="{FB1DA66C-0DE1-AA61-0615-5B4B858DD075}"/>
                </a:ext>
              </a:extLst>
            </p:cNvPr>
            <p:cNvSpPr txBox="1"/>
            <p:nvPr/>
          </p:nvSpPr>
          <p:spPr>
            <a:xfrm>
              <a:off x="4606044" y="1543922"/>
              <a:ext cx="1868275"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Shu-wen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(Leo)</a:t>
              </a: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Yang</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pic>
        <p:nvPicPr>
          <p:cNvPr id="21" name="圖片 20">
            <a:extLst>
              <a:ext uri="{FF2B5EF4-FFF2-40B4-BE49-F238E27FC236}">
                <a16:creationId xmlns:a16="http://schemas.microsoft.com/office/drawing/2014/main" id="{329B6BCF-4238-39F1-F45B-A12EDFCFCFDD}"/>
              </a:ext>
            </a:extLst>
          </p:cNvPr>
          <p:cNvPicPr>
            <a:picLocks noChangeAspect="1"/>
          </p:cNvPicPr>
          <p:nvPr/>
        </p:nvPicPr>
        <p:blipFill>
          <a:blip r:embed="rId5"/>
          <a:stretch>
            <a:fillRect/>
          </a:stretch>
        </p:blipFill>
        <p:spPr>
          <a:xfrm>
            <a:off x="2086546" y="2578793"/>
            <a:ext cx="9526329" cy="3419952"/>
          </a:xfrm>
          <a:prstGeom prst="rect">
            <a:avLst/>
          </a:prstGeom>
        </p:spPr>
      </p:pic>
      <p:sp>
        <p:nvSpPr>
          <p:cNvPr id="2" name="矩形 1">
            <a:extLst>
              <a:ext uri="{FF2B5EF4-FFF2-40B4-BE49-F238E27FC236}">
                <a16:creationId xmlns:a16="http://schemas.microsoft.com/office/drawing/2014/main" id="{A9F624B1-B106-37BA-1C21-C0D6597B157A}"/>
              </a:ext>
            </a:extLst>
          </p:cNvPr>
          <p:cNvSpPr/>
          <p:nvPr/>
        </p:nvSpPr>
        <p:spPr>
          <a:xfrm>
            <a:off x="4590274" y="4319879"/>
            <a:ext cx="4495904" cy="18284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pic>
        <p:nvPicPr>
          <p:cNvPr id="22" name="Google Shape;86;p13">
            <a:extLst>
              <a:ext uri="{FF2B5EF4-FFF2-40B4-BE49-F238E27FC236}">
                <a16:creationId xmlns:a16="http://schemas.microsoft.com/office/drawing/2014/main" id="{F78D1A7B-B9E4-936B-3AC6-5CBC9D5C60CF}"/>
              </a:ext>
            </a:extLst>
          </p:cNvPr>
          <p:cNvPicPr preferRelativeResize="0"/>
          <p:nvPr/>
        </p:nvPicPr>
        <p:blipFill>
          <a:blip r:embed="rId6">
            <a:alphaModFix/>
          </a:blip>
          <a:stretch>
            <a:fillRect/>
          </a:stretch>
        </p:blipFill>
        <p:spPr>
          <a:xfrm>
            <a:off x="9540048" y="4674435"/>
            <a:ext cx="992100" cy="992100"/>
          </a:xfrm>
          <a:prstGeom prst="roundRect">
            <a:avLst>
              <a:gd name="adj" fmla="val 16667"/>
            </a:avLst>
          </a:prstGeom>
          <a:noFill/>
          <a:ln>
            <a:noFill/>
          </a:ln>
          <a:effectLst>
            <a:outerShdw blurRad="57150" dist="47625" dir="5400000" algn="bl" rotWithShape="0">
              <a:schemeClr val="accent1">
                <a:alpha val="50000"/>
              </a:schemeClr>
            </a:outerShdw>
          </a:effectLst>
        </p:spPr>
      </p:pic>
      <p:pic>
        <p:nvPicPr>
          <p:cNvPr id="23" name="Google Shape;87;p13">
            <a:extLst>
              <a:ext uri="{FF2B5EF4-FFF2-40B4-BE49-F238E27FC236}">
                <a16:creationId xmlns:a16="http://schemas.microsoft.com/office/drawing/2014/main" id="{3798E63A-1113-F966-0BC2-1DCCA50A2A07}"/>
              </a:ext>
            </a:extLst>
          </p:cNvPr>
          <p:cNvPicPr preferRelativeResize="0"/>
          <p:nvPr/>
        </p:nvPicPr>
        <p:blipFill>
          <a:blip r:embed="rId7">
            <a:alphaModFix/>
          </a:blip>
          <a:stretch>
            <a:fillRect/>
          </a:stretch>
        </p:blipFill>
        <p:spPr>
          <a:xfrm>
            <a:off x="7481926" y="4655385"/>
            <a:ext cx="992100" cy="992100"/>
          </a:xfrm>
          <a:prstGeom prst="roundRect">
            <a:avLst>
              <a:gd name="adj" fmla="val 16667"/>
            </a:avLst>
          </a:prstGeom>
          <a:noFill/>
          <a:ln>
            <a:noFill/>
          </a:ln>
          <a:effectLst>
            <a:outerShdw blurRad="57150" dist="47625" dir="5400000" algn="bl" rotWithShape="0">
              <a:schemeClr val="accent1">
                <a:alpha val="50000"/>
              </a:schemeClr>
            </a:outerShdw>
          </a:effectLst>
        </p:spPr>
      </p:pic>
      <p:pic>
        <p:nvPicPr>
          <p:cNvPr id="24" name="Google Shape;88;p13">
            <a:extLst>
              <a:ext uri="{FF2B5EF4-FFF2-40B4-BE49-F238E27FC236}">
                <a16:creationId xmlns:a16="http://schemas.microsoft.com/office/drawing/2014/main" id="{13C3D6E1-2966-CE02-C2C0-1DDDC2DA3186}"/>
              </a:ext>
            </a:extLst>
          </p:cNvPr>
          <p:cNvPicPr preferRelativeResize="0"/>
          <p:nvPr/>
        </p:nvPicPr>
        <p:blipFill rotWithShape="1">
          <a:blip r:embed="rId8">
            <a:alphaModFix/>
          </a:blip>
          <a:srcRect b="17334"/>
          <a:stretch/>
        </p:blipFill>
        <p:spPr>
          <a:xfrm>
            <a:off x="5341781" y="4649844"/>
            <a:ext cx="992100" cy="988200"/>
          </a:xfrm>
          <a:prstGeom prst="roundRect">
            <a:avLst>
              <a:gd name="adj" fmla="val 16667"/>
            </a:avLst>
          </a:prstGeom>
          <a:noFill/>
          <a:ln>
            <a:noFill/>
          </a:ln>
          <a:effectLst>
            <a:outerShdw blurRad="57150" dist="47625" dir="5400000" algn="bl" rotWithShape="0">
              <a:schemeClr val="accent1">
                <a:alpha val="50000"/>
              </a:schemeClr>
            </a:outerShdw>
          </a:effectLst>
        </p:spPr>
      </p:pic>
      <p:pic>
        <p:nvPicPr>
          <p:cNvPr id="25" name="Google Shape;90;p13">
            <a:extLst>
              <a:ext uri="{FF2B5EF4-FFF2-40B4-BE49-F238E27FC236}">
                <a16:creationId xmlns:a16="http://schemas.microsoft.com/office/drawing/2014/main" id="{82B27725-DA80-594D-779A-98BE8B226D13}"/>
              </a:ext>
            </a:extLst>
          </p:cNvPr>
          <p:cNvPicPr preferRelativeResize="0"/>
          <p:nvPr/>
        </p:nvPicPr>
        <p:blipFill>
          <a:blip r:embed="rId9">
            <a:alphaModFix/>
          </a:blip>
          <a:stretch>
            <a:fillRect/>
          </a:stretch>
        </p:blipFill>
        <p:spPr>
          <a:xfrm>
            <a:off x="3140974" y="4664994"/>
            <a:ext cx="992100" cy="992100"/>
          </a:xfrm>
          <a:prstGeom prst="roundRect">
            <a:avLst>
              <a:gd name="adj" fmla="val 16667"/>
            </a:avLst>
          </a:prstGeom>
          <a:noFill/>
          <a:ln>
            <a:noFill/>
          </a:ln>
          <a:effectLst>
            <a:outerShdw blurRad="57150" dist="47625" dir="5400000" algn="bl" rotWithShape="0">
              <a:schemeClr val="accent1">
                <a:alpha val="50000"/>
              </a:schemeClr>
            </a:outerShdw>
          </a:effectLst>
        </p:spPr>
      </p:pic>
      <p:sp>
        <p:nvSpPr>
          <p:cNvPr id="26" name="文字方塊 25">
            <a:extLst>
              <a:ext uri="{FF2B5EF4-FFF2-40B4-BE49-F238E27FC236}">
                <a16:creationId xmlns:a16="http://schemas.microsoft.com/office/drawing/2014/main" id="{CE31BAAF-6AFA-AFAE-A486-58992FA3218A}"/>
              </a:ext>
            </a:extLst>
          </p:cNvPr>
          <p:cNvSpPr txBox="1"/>
          <p:nvPr/>
        </p:nvSpPr>
        <p:spPr>
          <a:xfrm>
            <a:off x="3076767" y="5752881"/>
            <a:ext cx="163863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Shang-Wen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Li</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0" name="文字方塊 49">
            <a:extLst>
              <a:ext uri="{FF2B5EF4-FFF2-40B4-BE49-F238E27FC236}">
                <a16:creationId xmlns:a16="http://schemas.microsoft.com/office/drawing/2014/main" id="{995F9269-5A94-5341-603E-9BE96BA22579}"/>
              </a:ext>
            </a:extLst>
          </p:cNvPr>
          <p:cNvSpPr txBox="1"/>
          <p:nvPr/>
        </p:nvSpPr>
        <p:spPr>
          <a:xfrm>
            <a:off x="7457341" y="5714578"/>
            <a:ext cx="159645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1D1C1D"/>
                </a:solidFill>
                <a:effectLst/>
                <a:uLnTx/>
                <a:uFillTx/>
                <a:latin typeface="Slack-Lato"/>
                <a:ea typeface="新細明體" panose="02020500000000000000" pitchFamily="18" charset="-120"/>
                <a:cs typeface="+mn-cs"/>
              </a:rPr>
              <a:t>Shinji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1D1C1D"/>
                </a:solidFill>
                <a:effectLst/>
                <a:uLnTx/>
                <a:uFillTx/>
                <a:latin typeface="Slack-Lato"/>
                <a:ea typeface="新細明體" panose="02020500000000000000" pitchFamily="18" charset="-120"/>
                <a:cs typeface="+mn-cs"/>
              </a:rPr>
              <a:t>Watanabe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文字方塊 51">
            <a:extLst>
              <a:ext uri="{FF2B5EF4-FFF2-40B4-BE49-F238E27FC236}">
                <a16:creationId xmlns:a16="http://schemas.microsoft.com/office/drawing/2014/main" id="{7495B58F-FDF5-AB9C-C844-D3CC4A57DCB6}"/>
              </a:ext>
            </a:extLst>
          </p:cNvPr>
          <p:cNvSpPr txBox="1"/>
          <p:nvPr/>
        </p:nvSpPr>
        <p:spPr>
          <a:xfrm>
            <a:off x="5272744" y="5675882"/>
            <a:ext cx="176354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1D1C1D"/>
                </a:solidFill>
                <a:effectLst/>
                <a:uLnTx/>
                <a:uFillTx/>
                <a:latin typeface="Calibri" panose="020F0502020204030204"/>
                <a:ea typeface="新細明體" panose="02020500000000000000" pitchFamily="18" charset="-120"/>
                <a:cs typeface="+mn-cs"/>
              </a:rPr>
              <a:t>Abdelrahman Mohamed</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3" name="文字方塊 52">
            <a:extLst>
              <a:ext uri="{FF2B5EF4-FFF2-40B4-BE49-F238E27FC236}">
                <a16:creationId xmlns:a16="http://schemas.microsoft.com/office/drawing/2014/main" id="{21EA0DE9-A35A-8A9D-2F93-AF9D47E3BA9E}"/>
              </a:ext>
            </a:extLst>
          </p:cNvPr>
          <p:cNvSpPr txBox="1"/>
          <p:nvPr/>
        </p:nvSpPr>
        <p:spPr>
          <a:xfrm>
            <a:off x="9567055" y="5699115"/>
            <a:ext cx="139112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1D1C1D"/>
                </a:solidFill>
                <a:effectLst/>
                <a:uLnTx/>
                <a:uFillTx/>
                <a:latin typeface="Calibri" panose="020F0502020204030204"/>
                <a:ea typeface="新細明體" panose="02020500000000000000" pitchFamily="18" charset="-120"/>
                <a:cs typeface="+mn-cs"/>
              </a:rPr>
              <a:t>Hung-yi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1D1C1D"/>
                </a:solidFill>
                <a:effectLst/>
                <a:uLnTx/>
                <a:uFillTx/>
                <a:latin typeface="Calibri" panose="020F0502020204030204"/>
                <a:ea typeface="新細明體" panose="02020500000000000000" pitchFamily="18" charset="-120"/>
                <a:cs typeface="+mn-cs"/>
              </a:rPr>
              <a:t>Lee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7862209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6D1BE-362B-526B-A7EB-3239391E99C4}"/>
            </a:ext>
          </a:extLst>
        </p:cNvPr>
        <p:cNvGrpSpPr/>
        <p:nvPr/>
      </p:nvGrpSpPr>
      <p:grpSpPr>
        <a:xfrm>
          <a:off x="0" y="0"/>
          <a:ext cx="0" cy="0"/>
          <a:chOff x="0" y="0"/>
          <a:chExt cx="0" cy="0"/>
        </a:xfrm>
      </p:grpSpPr>
      <p:pic>
        <p:nvPicPr>
          <p:cNvPr id="8" name="Picture 2">
            <a:extLst>
              <a:ext uri="{FF2B5EF4-FFF2-40B4-BE49-F238E27FC236}">
                <a16:creationId xmlns:a16="http://schemas.microsoft.com/office/drawing/2014/main" id="{E51DD42B-A6FA-9692-D1C5-3E36BAB88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353" y="255005"/>
            <a:ext cx="5852160" cy="1649984"/>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FE60310B-DC27-D585-B642-6291B9A02EB4}"/>
              </a:ext>
            </a:extLst>
          </p:cNvPr>
          <p:cNvSpPr txBox="1"/>
          <p:nvPr/>
        </p:nvSpPr>
        <p:spPr>
          <a:xfrm>
            <a:off x="6686841" y="613846"/>
            <a:ext cx="5736387"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srgbClr val="000000"/>
                </a:solidFill>
                <a:effectLst/>
                <a:uLnTx/>
                <a:uFillTx/>
                <a:latin typeface="Lucida Grande"/>
                <a:ea typeface="新細明體" panose="02020500000000000000" pitchFamily="18" charset="-120"/>
                <a:cs typeface="+mn-cs"/>
              </a:rPr>
              <a:t>Speech processing Universal </a:t>
            </a:r>
            <a:r>
              <a:rPr kumimoji="0" lang="en-US" altLang="zh-TW" sz="2800" b="1" i="0" u="none" strike="noStrike" kern="1200" cap="none" spc="0" normalizeH="0" baseline="0" noProof="0" dirty="0" err="1">
                <a:ln>
                  <a:noFill/>
                </a:ln>
                <a:solidFill>
                  <a:srgbClr val="000000"/>
                </a:solidFill>
                <a:effectLst/>
                <a:uLnTx/>
                <a:uFillTx/>
                <a:latin typeface="Lucida Grande"/>
                <a:ea typeface="新細明體" panose="02020500000000000000" pitchFamily="18" charset="-120"/>
                <a:cs typeface="+mn-cs"/>
              </a:rPr>
              <a:t>PERformance</a:t>
            </a:r>
            <a:r>
              <a:rPr kumimoji="0" lang="en-US" altLang="zh-TW" sz="2800" b="1" i="0" u="none" strike="noStrike" kern="1200" cap="none" spc="0" normalizeH="0" baseline="0" noProof="0" dirty="0">
                <a:ln>
                  <a:noFill/>
                </a:ln>
                <a:solidFill>
                  <a:srgbClr val="000000"/>
                </a:solidFill>
                <a:effectLst/>
                <a:uLnTx/>
                <a:uFillTx/>
                <a:latin typeface="Lucida Grande"/>
                <a:ea typeface="新細明體" panose="02020500000000000000" pitchFamily="18" charset="-120"/>
                <a:cs typeface="+mn-cs"/>
              </a:rPr>
              <a:t> Benchmark</a:t>
            </a:r>
          </a:p>
        </p:txBody>
      </p:sp>
      <p:sp>
        <p:nvSpPr>
          <p:cNvPr id="2" name="Google Shape;1341;p116">
            <a:extLst>
              <a:ext uri="{FF2B5EF4-FFF2-40B4-BE49-F238E27FC236}">
                <a16:creationId xmlns:a16="http://schemas.microsoft.com/office/drawing/2014/main" id="{7AD9170D-3222-FF30-5953-5F95D15720A7}"/>
              </a:ext>
            </a:extLst>
          </p:cNvPr>
          <p:cNvSpPr/>
          <p:nvPr/>
        </p:nvSpPr>
        <p:spPr>
          <a:xfrm>
            <a:off x="2698172" y="2662953"/>
            <a:ext cx="2268000" cy="630000"/>
          </a:xfrm>
          <a:prstGeom prst="roundRect">
            <a:avLst>
              <a:gd name="adj" fmla="val 16667"/>
            </a:avLst>
          </a:prstGeom>
          <a:solidFill>
            <a:srgbClr val="D9D2E9"/>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Speaker Identification (</a:t>
            </a:r>
            <a:r>
              <a:rPr kumimoji="0" lang="en" sz="1800" b="1" i="0" u="none" strike="noStrike" kern="0" cap="none" spc="0" normalizeH="0" baseline="0" noProof="0">
                <a:ln>
                  <a:noFill/>
                </a:ln>
                <a:solidFill>
                  <a:srgbClr val="000000"/>
                </a:solidFill>
                <a:effectLst/>
                <a:uLnTx/>
                <a:uFillTx/>
                <a:latin typeface="Arial"/>
                <a:ea typeface="+mn-ea"/>
                <a:cs typeface="Arial"/>
                <a:sym typeface="Arial"/>
              </a:rPr>
              <a:t>SID</a:t>
            </a:r>
            <a:r>
              <a:rPr kumimoji="0" lang="en" sz="1800" b="0" i="0" u="none" strike="noStrike" kern="0" cap="none" spc="0" normalizeH="0" baseline="0" noProof="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 name="Google Shape;1342;p116">
            <a:extLst>
              <a:ext uri="{FF2B5EF4-FFF2-40B4-BE49-F238E27FC236}">
                <a16:creationId xmlns:a16="http://schemas.microsoft.com/office/drawing/2014/main" id="{5B62957A-2516-8CEE-1BDC-8CDD5B6AC1B2}"/>
              </a:ext>
            </a:extLst>
          </p:cNvPr>
          <p:cNvSpPr/>
          <p:nvPr/>
        </p:nvSpPr>
        <p:spPr>
          <a:xfrm>
            <a:off x="2698172" y="3374621"/>
            <a:ext cx="2268000" cy="630000"/>
          </a:xfrm>
          <a:prstGeom prst="roundRect">
            <a:avLst>
              <a:gd name="adj" fmla="val 16667"/>
            </a:avLst>
          </a:prstGeom>
          <a:solidFill>
            <a:srgbClr val="D9D2E9"/>
          </a:solidFill>
          <a:ln w="3810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Speaker Verification (</a:t>
            </a:r>
            <a:r>
              <a:rPr kumimoji="0" lang="en" sz="1800" b="1" i="0" u="none" strike="noStrike" kern="0" cap="none" spc="0" normalizeH="0" baseline="0" noProof="0" dirty="0">
                <a:ln>
                  <a:noFill/>
                </a:ln>
                <a:solidFill>
                  <a:srgbClr val="000000"/>
                </a:solidFill>
                <a:effectLst/>
                <a:uLnTx/>
                <a:uFillTx/>
                <a:latin typeface="Arial"/>
                <a:ea typeface="+mn-ea"/>
                <a:cs typeface="Arial"/>
                <a:sym typeface="Arial"/>
              </a:rPr>
              <a:t>SV</a:t>
            </a: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 name="Google Shape;1343;p116">
            <a:extLst>
              <a:ext uri="{FF2B5EF4-FFF2-40B4-BE49-F238E27FC236}">
                <a16:creationId xmlns:a16="http://schemas.microsoft.com/office/drawing/2014/main" id="{4B166399-61C2-2564-585D-4E1389C12075}"/>
              </a:ext>
            </a:extLst>
          </p:cNvPr>
          <p:cNvSpPr/>
          <p:nvPr/>
        </p:nvSpPr>
        <p:spPr>
          <a:xfrm>
            <a:off x="2698172" y="4086287"/>
            <a:ext cx="2268000" cy="630000"/>
          </a:xfrm>
          <a:prstGeom prst="roundRect">
            <a:avLst>
              <a:gd name="adj" fmla="val 16667"/>
            </a:avLst>
          </a:prstGeom>
          <a:solidFill>
            <a:srgbClr val="D9D2E9"/>
          </a:solidFill>
          <a:ln w="3810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Speaker Diarization (</a:t>
            </a:r>
            <a:r>
              <a:rPr kumimoji="0" lang="en" sz="1800" b="1" i="0" u="none" strike="noStrike" kern="0" cap="none" spc="0" normalizeH="0" baseline="0" noProof="0">
                <a:ln>
                  <a:noFill/>
                </a:ln>
                <a:solidFill>
                  <a:srgbClr val="000000"/>
                </a:solidFill>
                <a:effectLst/>
                <a:uLnTx/>
                <a:uFillTx/>
                <a:latin typeface="Arial"/>
                <a:ea typeface="+mn-ea"/>
                <a:cs typeface="Arial"/>
                <a:sym typeface="Arial"/>
              </a:rPr>
              <a:t>SD</a:t>
            </a:r>
            <a:r>
              <a:rPr kumimoji="0" lang="en" sz="1800" b="0" i="0" u="none" strike="noStrike" kern="0" cap="none" spc="0" normalizeH="0" baseline="0" noProof="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Google Shape;1344;p116">
            <a:extLst>
              <a:ext uri="{FF2B5EF4-FFF2-40B4-BE49-F238E27FC236}">
                <a16:creationId xmlns:a16="http://schemas.microsoft.com/office/drawing/2014/main" id="{366F22EC-DB34-0C87-AA57-1381B68EAD11}"/>
              </a:ext>
            </a:extLst>
          </p:cNvPr>
          <p:cNvSpPr/>
          <p:nvPr/>
        </p:nvSpPr>
        <p:spPr>
          <a:xfrm>
            <a:off x="5037231" y="2635998"/>
            <a:ext cx="2268000" cy="630000"/>
          </a:xfrm>
          <a:prstGeom prst="roundRect">
            <a:avLst>
              <a:gd name="adj" fmla="val 16667"/>
            </a:avLst>
          </a:prstGeom>
          <a:solidFill>
            <a:schemeClr val="accent6">
              <a:lumMod val="40000"/>
              <a:lumOff val="60000"/>
            </a:schemeClr>
          </a:solidFill>
          <a:ln w="3810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Emotion</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Recognition (</a:t>
            </a:r>
            <a:r>
              <a:rPr kumimoji="0" lang="en" sz="1800" b="1" i="0" u="none" strike="noStrike" kern="0" cap="none" spc="0" normalizeH="0" baseline="0" noProof="0" dirty="0">
                <a:ln>
                  <a:noFill/>
                </a:ln>
                <a:solidFill>
                  <a:srgbClr val="000000"/>
                </a:solidFill>
                <a:effectLst/>
                <a:uLnTx/>
                <a:uFillTx/>
                <a:latin typeface="Arial"/>
                <a:ea typeface="+mn-ea"/>
                <a:cs typeface="Arial"/>
                <a:sym typeface="Arial"/>
              </a:rPr>
              <a:t>ER</a:t>
            </a: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 name="Google Shape;1345;p116">
            <a:extLst>
              <a:ext uri="{FF2B5EF4-FFF2-40B4-BE49-F238E27FC236}">
                <a16:creationId xmlns:a16="http://schemas.microsoft.com/office/drawing/2014/main" id="{CA2FF332-5145-C0C4-E369-1B4FFA39F0AC}"/>
              </a:ext>
            </a:extLst>
          </p:cNvPr>
          <p:cNvSpPr/>
          <p:nvPr/>
        </p:nvSpPr>
        <p:spPr>
          <a:xfrm>
            <a:off x="366711" y="2668951"/>
            <a:ext cx="2268000" cy="630000"/>
          </a:xfrm>
          <a:prstGeom prst="roundRect">
            <a:avLst>
              <a:gd name="adj" fmla="val 16667"/>
            </a:avLst>
          </a:prstGeom>
          <a:solidFill>
            <a:srgbClr val="C9DAF8"/>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Phoneme</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Recognition (</a:t>
            </a:r>
            <a:r>
              <a:rPr kumimoji="0" lang="en" sz="1800" b="1" i="0" u="none" strike="noStrike" kern="0" cap="none" spc="0" normalizeH="0" baseline="0" noProof="0">
                <a:ln>
                  <a:noFill/>
                </a:ln>
                <a:solidFill>
                  <a:srgbClr val="000000"/>
                </a:solidFill>
                <a:effectLst/>
                <a:uLnTx/>
                <a:uFillTx/>
                <a:latin typeface="Arial"/>
                <a:ea typeface="+mn-ea"/>
                <a:cs typeface="Arial"/>
                <a:sym typeface="Arial"/>
              </a:rPr>
              <a:t>PR</a:t>
            </a:r>
            <a:r>
              <a:rPr kumimoji="0" lang="en" sz="1800" b="0" i="0" u="none" strike="noStrike" kern="0" cap="none" spc="0" normalizeH="0" baseline="0" noProof="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 name="Google Shape;1346;p116">
            <a:extLst>
              <a:ext uri="{FF2B5EF4-FFF2-40B4-BE49-F238E27FC236}">
                <a16:creationId xmlns:a16="http://schemas.microsoft.com/office/drawing/2014/main" id="{89573AF4-5CD0-ECBF-B7A0-135B480C87B8}"/>
              </a:ext>
            </a:extLst>
          </p:cNvPr>
          <p:cNvSpPr/>
          <p:nvPr/>
        </p:nvSpPr>
        <p:spPr>
          <a:xfrm>
            <a:off x="366711" y="3380619"/>
            <a:ext cx="2268000" cy="630000"/>
          </a:xfrm>
          <a:prstGeom prst="roundRect">
            <a:avLst>
              <a:gd name="adj" fmla="val 16667"/>
            </a:avLst>
          </a:prstGeom>
          <a:solidFill>
            <a:srgbClr val="C9DAF8"/>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Keyword</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Spotting (</a:t>
            </a:r>
            <a:r>
              <a:rPr kumimoji="0" lang="en" sz="1800" b="1" i="0" u="none" strike="noStrike" kern="0" cap="none" spc="0" normalizeH="0" baseline="0" noProof="0">
                <a:ln>
                  <a:noFill/>
                </a:ln>
                <a:solidFill>
                  <a:srgbClr val="000000"/>
                </a:solidFill>
                <a:effectLst/>
                <a:uLnTx/>
                <a:uFillTx/>
                <a:latin typeface="Arial"/>
                <a:ea typeface="+mn-ea"/>
                <a:cs typeface="Arial"/>
                <a:sym typeface="Arial"/>
              </a:rPr>
              <a:t>KS</a:t>
            </a:r>
            <a:r>
              <a:rPr kumimoji="0" lang="en" sz="1800" b="0" i="0" u="none" strike="noStrike" kern="0" cap="none" spc="0" normalizeH="0" baseline="0" noProof="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 name="Google Shape;1347;p116">
            <a:extLst>
              <a:ext uri="{FF2B5EF4-FFF2-40B4-BE49-F238E27FC236}">
                <a16:creationId xmlns:a16="http://schemas.microsoft.com/office/drawing/2014/main" id="{D115EB56-ABA1-466F-FFC7-C96072EEC97B}"/>
              </a:ext>
            </a:extLst>
          </p:cNvPr>
          <p:cNvSpPr/>
          <p:nvPr/>
        </p:nvSpPr>
        <p:spPr>
          <a:xfrm>
            <a:off x="366711" y="4092287"/>
            <a:ext cx="2268000" cy="630000"/>
          </a:xfrm>
          <a:prstGeom prst="roundRect">
            <a:avLst>
              <a:gd name="adj" fmla="val 16667"/>
            </a:avLst>
          </a:prstGeom>
          <a:solidFill>
            <a:srgbClr val="C9DAF8"/>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Speech Recognition (</a:t>
            </a:r>
            <a:r>
              <a:rPr kumimoji="0" lang="en-US" altLang="zh-TW" sz="1800" b="1"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ASR</a:t>
            </a: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7" name="Google Shape;1348;p116">
            <a:extLst>
              <a:ext uri="{FF2B5EF4-FFF2-40B4-BE49-F238E27FC236}">
                <a16:creationId xmlns:a16="http://schemas.microsoft.com/office/drawing/2014/main" id="{1110F5B8-FE6E-0E7D-1B66-A3D883A3CDEC}"/>
              </a:ext>
            </a:extLst>
          </p:cNvPr>
          <p:cNvSpPr/>
          <p:nvPr/>
        </p:nvSpPr>
        <p:spPr>
          <a:xfrm>
            <a:off x="366711" y="4803955"/>
            <a:ext cx="2268000" cy="630000"/>
          </a:xfrm>
          <a:prstGeom prst="roundRect">
            <a:avLst>
              <a:gd name="adj" fmla="val 16667"/>
            </a:avLst>
          </a:prstGeom>
          <a:solidFill>
            <a:srgbClr val="C9DAF8"/>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Query-by-Example</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a:t>
            </a:r>
            <a:r>
              <a:rPr kumimoji="0" lang="en" sz="1800" b="1" i="0" u="none" strike="noStrike" kern="0" cap="none" spc="0" normalizeH="0" baseline="0" noProof="0" dirty="0">
                <a:ln>
                  <a:noFill/>
                </a:ln>
                <a:solidFill>
                  <a:srgbClr val="000000"/>
                </a:solidFill>
                <a:effectLst/>
                <a:uLnTx/>
                <a:uFillTx/>
                <a:latin typeface="Arial"/>
                <a:ea typeface="+mn-ea"/>
                <a:cs typeface="Arial"/>
                <a:sym typeface="Arial"/>
              </a:rPr>
              <a:t>QbyE</a:t>
            </a: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8" name="Google Shape;1349;p116">
            <a:extLst>
              <a:ext uri="{FF2B5EF4-FFF2-40B4-BE49-F238E27FC236}">
                <a16:creationId xmlns:a16="http://schemas.microsoft.com/office/drawing/2014/main" id="{55BA9316-1ABC-5707-406E-E430B5799A66}"/>
              </a:ext>
            </a:extLst>
          </p:cNvPr>
          <p:cNvSpPr/>
          <p:nvPr/>
        </p:nvSpPr>
        <p:spPr>
          <a:xfrm>
            <a:off x="7360524" y="2636654"/>
            <a:ext cx="2268000" cy="630000"/>
          </a:xfrm>
          <a:prstGeom prst="roundRect">
            <a:avLst>
              <a:gd name="adj" fmla="val 16667"/>
            </a:avLst>
          </a:prstGeom>
          <a:solidFill>
            <a:srgbClr val="FCE5CD"/>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Intent</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Classification (</a:t>
            </a:r>
            <a:r>
              <a:rPr kumimoji="0" lang="en" sz="1800" b="1" i="0" u="none" strike="noStrike" kern="0" cap="none" spc="0" normalizeH="0" baseline="0" noProof="0">
                <a:ln>
                  <a:noFill/>
                </a:ln>
                <a:solidFill>
                  <a:srgbClr val="000000"/>
                </a:solidFill>
                <a:effectLst/>
                <a:uLnTx/>
                <a:uFillTx/>
                <a:latin typeface="Arial"/>
                <a:ea typeface="+mn-ea"/>
                <a:cs typeface="Arial"/>
                <a:sym typeface="Arial"/>
              </a:rPr>
              <a:t>IC</a:t>
            </a:r>
            <a:r>
              <a:rPr kumimoji="0" lang="en" sz="1800" b="0" i="0" u="none" strike="noStrike" kern="0" cap="none" spc="0" normalizeH="0" baseline="0" noProof="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 name="Google Shape;1350;p116">
            <a:extLst>
              <a:ext uri="{FF2B5EF4-FFF2-40B4-BE49-F238E27FC236}">
                <a16:creationId xmlns:a16="http://schemas.microsoft.com/office/drawing/2014/main" id="{ACD10CAF-E709-283C-85CB-4C1B4507D532}"/>
              </a:ext>
            </a:extLst>
          </p:cNvPr>
          <p:cNvSpPr/>
          <p:nvPr/>
        </p:nvSpPr>
        <p:spPr>
          <a:xfrm>
            <a:off x="7360524" y="3340664"/>
            <a:ext cx="2268000" cy="630000"/>
          </a:xfrm>
          <a:prstGeom prst="roundRect">
            <a:avLst>
              <a:gd name="adj" fmla="val 16667"/>
            </a:avLst>
          </a:prstGeom>
          <a:solidFill>
            <a:srgbClr val="FCE5CD"/>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Spoken</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Slot Filling (</a:t>
            </a:r>
            <a:r>
              <a:rPr kumimoji="0" lang="en" sz="1800" b="1" i="0" u="none" strike="noStrike" kern="0" cap="none" spc="0" normalizeH="0" baseline="0" noProof="0" dirty="0">
                <a:ln>
                  <a:noFill/>
                </a:ln>
                <a:solidFill>
                  <a:srgbClr val="000000"/>
                </a:solidFill>
                <a:effectLst/>
                <a:uLnTx/>
                <a:uFillTx/>
                <a:latin typeface="Arial"/>
                <a:ea typeface="+mn-ea"/>
                <a:cs typeface="Arial"/>
                <a:sym typeface="Arial"/>
              </a:rPr>
              <a:t>SF</a:t>
            </a: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28" name="Google Shape;1351;p116">
            <a:extLst>
              <a:ext uri="{FF2B5EF4-FFF2-40B4-BE49-F238E27FC236}">
                <a16:creationId xmlns:a16="http://schemas.microsoft.com/office/drawing/2014/main" id="{A1DF4F52-3F40-23AA-6083-B2DDCAFC66F5}"/>
              </a:ext>
            </a:extLst>
          </p:cNvPr>
          <p:cNvSpPr/>
          <p:nvPr/>
        </p:nvSpPr>
        <p:spPr>
          <a:xfrm>
            <a:off x="7360524" y="4044674"/>
            <a:ext cx="2268000" cy="630000"/>
          </a:xfrm>
          <a:prstGeom prst="roundRect">
            <a:avLst>
              <a:gd name="adj" fmla="val 16667"/>
            </a:avLst>
          </a:prstGeom>
          <a:solidFill>
            <a:srgbClr val="FCE5CD"/>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Speech Translation (</a:t>
            </a:r>
            <a:r>
              <a:rPr kumimoji="0" lang="en" sz="1800" b="1" i="0" u="none" strike="noStrike" kern="0" cap="none" spc="0" normalizeH="0" baseline="0" noProof="0">
                <a:ln>
                  <a:noFill/>
                </a:ln>
                <a:solidFill>
                  <a:srgbClr val="000000"/>
                </a:solidFill>
                <a:effectLst/>
                <a:uLnTx/>
                <a:uFillTx/>
                <a:latin typeface="Arial"/>
                <a:ea typeface="+mn-ea"/>
                <a:cs typeface="Arial"/>
                <a:sym typeface="Arial"/>
              </a:rPr>
              <a:t>ST</a:t>
            </a:r>
            <a:r>
              <a:rPr kumimoji="0" lang="en" sz="1800" b="0" i="0" u="none" strike="noStrike" kern="0" cap="none" spc="0" normalizeH="0" baseline="0" noProof="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 name="Google Shape;1352;p116">
            <a:extLst>
              <a:ext uri="{FF2B5EF4-FFF2-40B4-BE49-F238E27FC236}">
                <a16:creationId xmlns:a16="http://schemas.microsoft.com/office/drawing/2014/main" id="{439F46D3-6DC1-BD79-F3D7-427FB7F94489}"/>
              </a:ext>
            </a:extLst>
          </p:cNvPr>
          <p:cNvSpPr/>
          <p:nvPr/>
        </p:nvSpPr>
        <p:spPr>
          <a:xfrm>
            <a:off x="9691985" y="2620232"/>
            <a:ext cx="2268000" cy="630000"/>
          </a:xfrm>
          <a:prstGeom prst="roundRect">
            <a:avLst>
              <a:gd name="adj" fmla="val 16667"/>
            </a:avLst>
          </a:prstGeom>
          <a:solidFill>
            <a:srgbClr val="F4CCCC"/>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000000"/>
                </a:solidFill>
                <a:effectLst/>
                <a:uLnTx/>
                <a:uFillTx/>
                <a:latin typeface="Arial"/>
                <a:ea typeface="+mn-ea"/>
                <a:cs typeface="Arial"/>
                <a:sym typeface="Arial"/>
              </a:rPr>
              <a:t>Voice Conversion (</a:t>
            </a:r>
            <a:r>
              <a:rPr kumimoji="0" lang="en" sz="1800" b="1" i="0" u="none" strike="noStrike" kern="0" cap="none" spc="0" normalizeH="0" baseline="0" noProof="0">
                <a:ln>
                  <a:noFill/>
                </a:ln>
                <a:solidFill>
                  <a:srgbClr val="000000"/>
                </a:solidFill>
                <a:effectLst/>
                <a:uLnTx/>
                <a:uFillTx/>
                <a:latin typeface="Arial"/>
                <a:ea typeface="+mn-ea"/>
                <a:cs typeface="Arial"/>
                <a:sym typeface="Arial"/>
              </a:rPr>
              <a:t>VC</a:t>
            </a:r>
            <a:r>
              <a:rPr kumimoji="0" lang="en" sz="1800" b="0" i="0" u="none" strike="noStrike" kern="0" cap="none" spc="0" normalizeH="0" baseline="0" noProof="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0" name="Google Shape;1353;p116">
            <a:extLst>
              <a:ext uri="{FF2B5EF4-FFF2-40B4-BE49-F238E27FC236}">
                <a16:creationId xmlns:a16="http://schemas.microsoft.com/office/drawing/2014/main" id="{3D624169-C14E-1CF6-81F8-9D172A4675F8}"/>
              </a:ext>
            </a:extLst>
          </p:cNvPr>
          <p:cNvSpPr/>
          <p:nvPr/>
        </p:nvSpPr>
        <p:spPr>
          <a:xfrm>
            <a:off x="9691985" y="3324243"/>
            <a:ext cx="2268000" cy="630000"/>
          </a:xfrm>
          <a:prstGeom prst="roundRect">
            <a:avLst>
              <a:gd name="adj" fmla="val 16667"/>
            </a:avLst>
          </a:prstGeom>
          <a:solidFill>
            <a:srgbClr val="F4CCCC"/>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Speech Enhancement (</a:t>
            </a:r>
            <a:r>
              <a:rPr kumimoji="0" lang="en" sz="1800" b="1" i="0" u="none" strike="noStrike" kern="0" cap="none" spc="0" normalizeH="0" baseline="0" noProof="0" dirty="0">
                <a:ln>
                  <a:noFill/>
                </a:ln>
                <a:solidFill>
                  <a:srgbClr val="000000"/>
                </a:solidFill>
                <a:effectLst/>
                <a:uLnTx/>
                <a:uFillTx/>
                <a:latin typeface="Arial"/>
                <a:ea typeface="+mn-ea"/>
                <a:cs typeface="Arial"/>
                <a:sym typeface="Arial"/>
              </a:rPr>
              <a:t>SE</a:t>
            </a: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31" name="Google Shape;1354;p116">
            <a:extLst>
              <a:ext uri="{FF2B5EF4-FFF2-40B4-BE49-F238E27FC236}">
                <a16:creationId xmlns:a16="http://schemas.microsoft.com/office/drawing/2014/main" id="{EBDEDB69-D0AD-2CEC-200F-84AD774844D0}"/>
              </a:ext>
            </a:extLst>
          </p:cNvPr>
          <p:cNvSpPr/>
          <p:nvPr/>
        </p:nvSpPr>
        <p:spPr>
          <a:xfrm>
            <a:off x="9691985" y="4036203"/>
            <a:ext cx="2268000" cy="630000"/>
          </a:xfrm>
          <a:prstGeom prst="roundRect">
            <a:avLst>
              <a:gd name="adj" fmla="val 16667"/>
            </a:avLst>
          </a:prstGeom>
          <a:solidFill>
            <a:srgbClr val="F4CCCC"/>
          </a:solidFill>
          <a:ln w="38100" cap="flat" cmpd="sng">
            <a:solidFill>
              <a:srgbClr val="05050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Speaker Separation (</a:t>
            </a:r>
            <a:r>
              <a:rPr kumimoji="0" lang="en" sz="1800" b="1" i="0" u="none" strike="noStrike" kern="0" cap="none" spc="0" normalizeH="0" baseline="0" noProof="0" dirty="0">
                <a:ln>
                  <a:noFill/>
                </a:ln>
                <a:solidFill>
                  <a:srgbClr val="000000"/>
                </a:solidFill>
                <a:effectLst/>
                <a:uLnTx/>
                <a:uFillTx/>
                <a:latin typeface="Arial"/>
                <a:ea typeface="+mn-ea"/>
                <a:cs typeface="Arial"/>
                <a:sym typeface="Arial"/>
              </a:rPr>
              <a:t>SS</a:t>
            </a:r>
            <a:r>
              <a:rPr kumimoji="0" lang="en" sz="1800" b="0" i="0" u="none" strike="noStrike" kern="0" cap="none" spc="0" normalizeH="0" baseline="0" noProof="0" dirty="0">
                <a:ln>
                  <a:noFill/>
                </a:ln>
                <a:solidFill>
                  <a:srgbClr val="000000"/>
                </a:solidFill>
                <a:effectLst/>
                <a:uLnTx/>
                <a:uFillTx/>
                <a:latin typeface="Arial"/>
                <a:ea typeface="+mn-ea"/>
                <a:cs typeface="Arial"/>
                <a:sym typeface="Arial"/>
              </a:rPr>
              <a:t>)</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32" name="群組 31">
            <a:extLst>
              <a:ext uri="{FF2B5EF4-FFF2-40B4-BE49-F238E27FC236}">
                <a16:creationId xmlns:a16="http://schemas.microsoft.com/office/drawing/2014/main" id="{2D1A4731-6C63-3CD8-84DA-74D184C845EA}"/>
              </a:ext>
            </a:extLst>
          </p:cNvPr>
          <p:cNvGrpSpPr/>
          <p:nvPr/>
        </p:nvGrpSpPr>
        <p:grpSpPr>
          <a:xfrm>
            <a:off x="550353" y="5842811"/>
            <a:ext cx="1275425" cy="728305"/>
            <a:chOff x="10486659" y="1157552"/>
            <a:chExt cx="1275425" cy="728305"/>
          </a:xfrm>
        </p:grpSpPr>
        <p:sp>
          <p:nvSpPr>
            <p:cNvPr id="33" name="矩形: 圓角 32">
              <a:extLst>
                <a:ext uri="{FF2B5EF4-FFF2-40B4-BE49-F238E27FC236}">
                  <a16:creationId xmlns:a16="http://schemas.microsoft.com/office/drawing/2014/main" id="{61F8CD8F-CFDC-554C-4B18-2EAC1313D931}"/>
                </a:ext>
              </a:extLst>
            </p:cNvPr>
            <p:cNvSpPr/>
            <p:nvPr/>
          </p:nvSpPr>
          <p:spPr>
            <a:xfrm>
              <a:off x="10764372" y="1157552"/>
              <a:ext cx="720000" cy="360000"/>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文字方塊 33">
              <a:extLst>
                <a:ext uri="{FF2B5EF4-FFF2-40B4-BE49-F238E27FC236}">
                  <a16:creationId xmlns:a16="http://schemas.microsoft.com/office/drawing/2014/main" id="{0B7D3AF0-2A1A-BA04-6820-5329F085B733}"/>
                </a:ext>
              </a:extLst>
            </p:cNvPr>
            <p:cNvSpPr txBox="1"/>
            <p:nvPr/>
          </p:nvSpPr>
          <p:spPr>
            <a:xfrm>
              <a:off x="10486659" y="1516525"/>
              <a:ext cx="127542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Content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nvGrpSpPr>
          <p:cNvPr id="35" name="群組 34">
            <a:extLst>
              <a:ext uri="{FF2B5EF4-FFF2-40B4-BE49-F238E27FC236}">
                <a16:creationId xmlns:a16="http://schemas.microsoft.com/office/drawing/2014/main" id="{043BBB4D-5F60-4310-9C4A-0F0DC554532E}"/>
              </a:ext>
            </a:extLst>
          </p:cNvPr>
          <p:cNvGrpSpPr/>
          <p:nvPr/>
        </p:nvGrpSpPr>
        <p:grpSpPr>
          <a:xfrm>
            <a:off x="2977644" y="5855156"/>
            <a:ext cx="1964337" cy="764475"/>
            <a:chOff x="10184706" y="3548008"/>
            <a:chExt cx="1964337" cy="764475"/>
          </a:xfrm>
        </p:grpSpPr>
        <p:sp>
          <p:nvSpPr>
            <p:cNvPr id="36" name="矩形: 圓角 35">
              <a:extLst>
                <a:ext uri="{FF2B5EF4-FFF2-40B4-BE49-F238E27FC236}">
                  <a16:creationId xmlns:a16="http://schemas.microsoft.com/office/drawing/2014/main" id="{D7C5B242-F86D-FB57-FE04-1A788C04F965}"/>
                </a:ext>
              </a:extLst>
            </p:cNvPr>
            <p:cNvSpPr/>
            <p:nvPr/>
          </p:nvSpPr>
          <p:spPr>
            <a:xfrm>
              <a:off x="10806875" y="3548008"/>
              <a:ext cx="720000" cy="360000"/>
            </a:xfrm>
            <a:prstGeom prst="roundRect">
              <a:avLst/>
            </a:prstGeom>
            <a:solidFill>
              <a:schemeClr val="accent6">
                <a:lumMod val="40000"/>
                <a:lumOff val="6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文字方塊 36">
              <a:extLst>
                <a:ext uri="{FF2B5EF4-FFF2-40B4-BE49-F238E27FC236}">
                  <a16:creationId xmlns:a16="http://schemas.microsoft.com/office/drawing/2014/main" id="{B39BB09E-7C25-8A13-83E5-2C44113EFB17}"/>
                </a:ext>
              </a:extLst>
            </p:cNvPr>
            <p:cNvSpPr txBox="1"/>
            <p:nvPr/>
          </p:nvSpPr>
          <p:spPr>
            <a:xfrm>
              <a:off x="10184706" y="3943151"/>
              <a:ext cx="19643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a:t>
              </a:r>
              <a:r>
                <a:rPr kumimoji="0" lang="en-US" altLang="zh-TW" sz="18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rosody</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nvGrpSpPr>
          <p:cNvPr id="38" name="群組 37">
            <a:extLst>
              <a:ext uri="{FF2B5EF4-FFF2-40B4-BE49-F238E27FC236}">
                <a16:creationId xmlns:a16="http://schemas.microsoft.com/office/drawing/2014/main" id="{B1141EA4-E3D7-1D15-93D1-AFAD708C8405}"/>
              </a:ext>
            </a:extLst>
          </p:cNvPr>
          <p:cNvGrpSpPr/>
          <p:nvPr/>
        </p:nvGrpSpPr>
        <p:grpSpPr>
          <a:xfrm>
            <a:off x="1635475" y="5867921"/>
            <a:ext cx="1964337" cy="726491"/>
            <a:chOff x="9971073" y="2155868"/>
            <a:chExt cx="1964337" cy="726491"/>
          </a:xfrm>
        </p:grpSpPr>
        <p:sp>
          <p:nvSpPr>
            <p:cNvPr id="39" name="矩形: 圓角 38">
              <a:extLst>
                <a:ext uri="{FF2B5EF4-FFF2-40B4-BE49-F238E27FC236}">
                  <a16:creationId xmlns:a16="http://schemas.microsoft.com/office/drawing/2014/main" id="{052CC44E-069A-82E7-5F71-82BDEA55F272}"/>
                </a:ext>
              </a:extLst>
            </p:cNvPr>
            <p:cNvSpPr/>
            <p:nvPr/>
          </p:nvSpPr>
          <p:spPr>
            <a:xfrm>
              <a:off x="10593242" y="2155868"/>
              <a:ext cx="720000" cy="360000"/>
            </a:xfrm>
            <a:prstGeom prst="roundRect">
              <a:avLst/>
            </a:prstGeom>
            <a:solidFill>
              <a:srgbClr val="D9D2E9"/>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文字方塊 39">
              <a:extLst>
                <a:ext uri="{FF2B5EF4-FFF2-40B4-BE49-F238E27FC236}">
                  <a16:creationId xmlns:a16="http://schemas.microsoft.com/office/drawing/2014/main" id="{01B31CD5-BCB9-65F8-F870-E0FCF249323F}"/>
                </a:ext>
              </a:extLst>
            </p:cNvPr>
            <p:cNvSpPr txBox="1"/>
            <p:nvPr/>
          </p:nvSpPr>
          <p:spPr>
            <a:xfrm>
              <a:off x="9971073" y="2513027"/>
              <a:ext cx="19643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Speaker</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nvGrpSpPr>
          <p:cNvPr id="41" name="群組 40">
            <a:extLst>
              <a:ext uri="{FF2B5EF4-FFF2-40B4-BE49-F238E27FC236}">
                <a16:creationId xmlns:a16="http://schemas.microsoft.com/office/drawing/2014/main" id="{E13B12B5-0F02-A513-726F-2F0FDD6AED02}"/>
              </a:ext>
            </a:extLst>
          </p:cNvPr>
          <p:cNvGrpSpPr/>
          <p:nvPr/>
        </p:nvGrpSpPr>
        <p:grpSpPr>
          <a:xfrm>
            <a:off x="4622522" y="5861861"/>
            <a:ext cx="1445273" cy="751358"/>
            <a:chOff x="10333699" y="4446067"/>
            <a:chExt cx="1445273" cy="751358"/>
          </a:xfrm>
        </p:grpSpPr>
        <p:sp>
          <p:nvSpPr>
            <p:cNvPr id="42" name="矩形: 圓角 41">
              <a:extLst>
                <a:ext uri="{FF2B5EF4-FFF2-40B4-BE49-F238E27FC236}">
                  <a16:creationId xmlns:a16="http://schemas.microsoft.com/office/drawing/2014/main" id="{697EBE27-6CC4-068D-9EFE-AE61C863DE21}"/>
                </a:ext>
              </a:extLst>
            </p:cNvPr>
            <p:cNvSpPr/>
            <p:nvPr/>
          </p:nvSpPr>
          <p:spPr>
            <a:xfrm>
              <a:off x="10696336" y="4446067"/>
              <a:ext cx="720000" cy="360000"/>
            </a:xfrm>
            <a:prstGeom prst="roundRect">
              <a:avLst/>
            </a:prstGeom>
            <a:solidFill>
              <a:srgbClr val="FCE5CD"/>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文字方塊 42">
              <a:extLst>
                <a:ext uri="{FF2B5EF4-FFF2-40B4-BE49-F238E27FC236}">
                  <a16:creationId xmlns:a16="http://schemas.microsoft.com/office/drawing/2014/main" id="{73059770-AF83-1E6A-D111-6C00B709F5F2}"/>
                </a:ext>
              </a:extLst>
            </p:cNvPr>
            <p:cNvSpPr txBox="1"/>
            <p:nvPr/>
          </p:nvSpPr>
          <p:spPr>
            <a:xfrm>
              <a:off x="10333699" y="4828093"/>
              <a:ext cx="1445273"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Semantic</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nvGrpSpPr>
          <p:cNvPr id="44" name="群組 43">
            <a:extLst>
              <a:ext uri="{FF2B5EF4-FFF2-40B4-BE49-F238E27FC236}">
                <a16:creationId xmlns:a16="http://schemas.microsoft.com/office/drawing/2014/main" id="{43540D06-44F6-98E4-B9EF-F0F92B0387E7}"/>
              </a:ext>
            </a:extLst>
          </p:cNvPr>
          <p:cNvGrpSpPr/>
          <p:nvPr/>
        </p:nvGrpSpPr>
        <p:grpSpPr>
          <a:xfrm>
            <a:off x="5900504" y="5867921"/>
            <a:ext cx="1639410" cy="779771"/>
            <a:chOff x="10184706" y="5490252"/>
            <a:chExt cx="1639410" cy="779771"/>
          </a:xfrm>
        </p:grpSpPr>
        <p:sp>
          <p:nvSpPr>
            <p:cNvPr id="45" name="矩形: 圓角 44">
              <a:extLst>
                <a:ext uri="{FF2B5EF4-FFF2-40B4-BE49-F238E27FC236}">
                  <a16:creationId xmlns:a16="http://schemas.microsoft.com/office/drawing/2014/main" id="{BA82C795-5EDC-95A3-9A9E-C11062E0319E}"/>
                </a:ext>
              </a:extLst>
            </p:cNvPr>
            <p:cNvSpPr/>
            <p:nvPr/>
          </p:nvSpPr>
          <p:spPr>
            <a:xfrm>
              <a:off x="10675667" y="5490252"/>
              <a:ext cx="720000" cy="360000"/>
            </a:xfrm>
            <a:prstGeom prst="roundRect">
              <a:avLst/>
            </a:prstGeom>
            <a:solidFill>
              <a:srgbClr val="F4CCCC"/>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文字方塊 45">
              <a:extLst>
                <a:ext uri="{FF2B5EF4-FFF2-40B4-BE49-F238E27FC236}">
                  <a16:creationId xmlns:a16="http://schemas.microsoft.com/office/drawing/2014/main" id="{E9ADF38A-33AD-1F2D-3811-A73B76268814}"/>
                </a:ext>
              </a:extLst>
            </p:cNvPr>
            <p:cNvSpPr txBox="1"/>
            <p:nvPr/>
          </p:nvSpPr>
          <p:spPr>
            <a:xfrm>
              <a:off x="10184706" y="5900691"/>
              <a:ext cx="163941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Synthesis</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47" name="Google Shape;1344;p116">
            <a:extLst>
              <a:ext uri="{FF2B5EF4-FFF2-40B4-BE49-F238E27FC236}">
                <a16:creationId xmlns:a16="http://schemas.microsoft.com/office/drawing/2014/main" id="{CF025E91-9248-CDDF-1D9C-F4D971339B04}"/>
              </a:ext>
            </a:extLst>
          </p:cNvPr>
          <p:cNvSpPr/>
          <p:nvPr/>
        </p:nvSpPr>
        <p:spPr>
          <a:xfrm>
            <a:off x="5029063" y="3374621"/>
            <a:ext cx="2268000" cy="630000"/>
          </a:xfrm>
          <a:prstGeom prst="roundRect">
            <a:avLst>
              <a:gd name="adj" fmla="val 16667"/>
            </a:avLst>
          </a:prstGeom>
          <a:solidFill>
            <a:schemeClr val="accent6">
              <a:lumMod val="40000"/>
              <a:lumOff val="60000"/>
            </a:schemeClr>
          </a:solidFill>
          <a:ln w="3810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Sentiment Analysis (</a:t>
            </a:r>
            <a:r>
              <a:rPr kumimoji="0" lang="en-US" altLang="zh-TW" sz="1800" b="1"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SA</a:t>
            </a: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8" name="Google Shape;1344;p116">
            <a:extLst>
              <a:ext uri="{FF2B5EF4-FFF2-40B4-BE49-F238E27FC236}">
                <a16:creationId xmlns:a16="http://schemas.microsoft.com/office/drawing/2014/main" id="{7DFA11FC-740D-3B9D-FD84-5C576396B507}"/>
              </a:ext>
            </a:extLst>
          </p:cNvPr>
          <p:cNvSpPr/>
          <p:nvPr/>
        </p:nvSpPr>
        <p:spPr>
          <a:xfrm>
            <a:off x="5029062" y="4086287"/>
            <a:ext cx="2268000" cy="630000"/>
          </a:xfrm>
          <a:prstGeom prst="roundRect">
            <a:avLst>
              <a:gd name="adj" fmla="val 16667"/>
            </a:avLst>
          </a:prstGeom>
          <a:solidFill>
            <a:schemeClr val="accent6">
              <a:lumMod val="40000"/>
              <a:lumOff val="60000"/>
            </a:schemeClr>
          </a:solidFill>
          <a:ln w="3810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Sarcasm Detection (</a:t>
            </a:r>
            <a:r>
              <a:rPr kumimoji="0" lang="en-US" altLang="zh-TW" sz="1800" b="1" i="0" u="none" strike="noStrike" kern="0" cap="none" spc="0" normalizeH="0" baseline="0" noProof="0" dirty="0" err="1">
                <a:ln>
                  <a:noFill/>
                </a:ln>
                <a:solidFill>
                  <a:srgbClr val="000000"/>
                </a:solidFill>
                <a:effectLst/>
                <a:uLnTx/>
                <a:uFillTx/>
                <a:latin typeface="Arial"/>
                <a:ea typeface="新細明體" panose="02020500000000000000" pitchFamily="18" charset="-120"/>
                <a:cs typeface="Arial"/>
              </a:rPr>
              <a:t>SarD</a:t>
            </a: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a:t>
            </a:r>
          </a:p>
        </p:txBody>
      </p:sp>
      <p:sp>
        <p:nvSpPr>
          <p:cNvPr id="49" name="Google Shape;1344;p116">
            <a:extLst>
              <a:ext uri="{FF2B5EF4-FFF2-40B4-BE49-F238E27FC236}">
                <a16:creationId xmlns:a16="http://schemas.microsoft.com/office/drawing/2014/main" id="{A1FC77C1-8C8C-CE95-7798-A5FD5D316238}"/>
              </a:ext>
            </a:extLst>
          </p:cNvPr>
          <p:cNvSpPr/>
          <p:nvPr/>
        </p:nvSpPr>
        <p:spPr>
          <a:xfrm>
            <a:off x="5044828" y="4807518"/>
            <a:ext cx="2268000" cy="630000"/>
          </a:xfrm>
          <a:prstGeom prst="roundRect">
            <a:avLst>
              <a:gd name="adj" fmla="val 16667"/>
            </a:avLst>
          </a:prstGeom>
          <a:solidFill>
            <a:schemeClr val="accent6">
              <a:lumMod val="40000"/>
              <a:lumOff val="60000"/>
            </a:schemeClr>
          </a:solidFill>
          <a:ln w="38100" cap="flat" cmpd="sng">
            <a:solidFill>
              <a:srgbClr val="22222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Persuasiveness Prediction (</a:t>
            </a:r>
            <a:r>
              <a:rPr kumimoji="0" lang="en-US" altLang="zh-TW" sz="1800" b="1"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PP</a:t>
            </a: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rPr>
              <a:t>)</a:t>
            </a:r>
            <a:endParaRPr kumimoji="0" lang="zh-TW" altLang="en-US"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endParaRPr>
          </a:p>
        </p:txBody>
      </p:sp>
      <p:sp>
        <p:nvSpPr>
          <p:cNvPr id="5" name="文字方塊 4">
            <a:extLst>
              <a:ext uri="{FF2B5EF4-FFF2-40B4-BE49-F238E27FC236}">
                <a16:creationId xmlns:a16="http://schemas.microsoft.com/office/drawing/2014/main" id="{B0BFB98E-CFE8-ED60-D9F5-D11FAF8A9465}"/>
              </a:ext>
            </a:extLst>
          </p:cNvPr>
          <p:cNvSpPr txBox="1"/>
          <p:nvPr/>
        </p:nvSpPr>
        <p:spPr>
          <a:xfrm>
            <a:off x="464980" y="1904989"/>
            <a:ext cx="11593274"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Evaluate a wide range of speech representation models on many speech tasks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文字方塊 11">
            <a:extLst>
              <a:ext uri="{FF2B5EF4-FFF2-40B4-BE49-F238E27FC236}">
                <a16:creationId xmlns:a16="http://schemas.microsoft.com/office/drawing/2014/main" id="{EF220E84-C704-BE10-E6D3-FFC9E87AD5D6}"/>
              </a:ext>
            </a:extLst>
          </p:cNvPr>
          <p:cNvSpPr txBox="1"/>
          <p:nvPr/>
        </p:nvSpPr>
        <p:spPr>
          <a:xfrm>
            <a:off x="8226220" y="5711990"/>
            <a:ext cx="6207368" cy="646331"/>
          </a:xfrm>
          <a:prstGeom prst="rect">
            <a:avLst/>
          </a:prstGeom>
          <a:noFill/>
        </p:spPr>
        <p:txBody>
          <a:bodyPr wrap="square">
            <a:spAutoFit/>
          </a:bodyPr>
          <a:lstStyle/>
          <a:p>
            <a:r>
              <a:rPr lang="en-US" altLang="zh-TW" dirty="0"/>
              <a:t>https://arxiv.org/abs/2105.01051</a:t>
            </a:r>
          </a:p>
          <a:p>
            <a:r>
              <a:rPr lang="zh-TW" altLang="en-US" dirty="0"/>
              <a:t>https://arxiv.org/abs/2203.06849</a:t>
            </a:r>
          </a:p>
        </p:txBody>
      </p:sp>
    </p:spTree>
    <p:extLst>
      <p:ext uri="{BB962C8B-B14F-4D97-AF65-F5344CB8AC3E}">
        <p14:creationId xmlns:p14="http://schemas.microsoft.com/office/powerpoint/2010/main" val="2404285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76C21-F2E3-3497-D33D-7E08C0A84A88}"/>
            </a:ext>
          </a:extLst>
        </p:cNvPr>
        <p:cNvGrpSpPr/>
        <p:nvPr/>
      </p:nvGrpSpPr>
      <p:grpSpPr>
        <a:xfrm>
          <a:off x="0" y="0"/>
          <a:ext cx="0" cy="0"/>
          <a:chOff x="0" y="0"/>
          <a:chExt cx="0" cy="0"/>
        </a:xfrm>
      </p:grpSpPr>
      <p:pic>
        <p:nvPicPr>
          <p:cNvPr id="6" name="Google Shape;106;p16">
            <a:extLst>
              <a:ext uri="{FF2B5EF4-FFF2-40B4-BE49-F238E27FC236}">
                <a16:creationId xmlns:a16="http://schemas.microsoft.com/office/drawing/2014/main" id="{53A5DDB2-1952-AC98-5EF6-BEF67DED1837}"/>
              </a:ext>
            </a:extLst>
          </p:cNvPr>
          <p:cNvPicPr preferRelativeResize="0"/>
          <p:nvPr/>
        </p:nvPicPr>
        <p:blipFill>
          <a:blip r:embed="rId3">
            <a:alphaModFix/>
          </a:blip>
          <a:stretch>
            <a:fillRect/>
          </a:stretch>
        </p:blipFill>
        <p:spPr>
          <a:xfrm>
            <a:off x="1254409" y="4940804"/>
            <a:ext cx="2667341" cy="596569"/>
          </a:xfrm>
          <a:prstGeom prst="rect">
            <a:avLst/>
          </a:prstGeom>
          <a:noFill/>
          <a:ln>
            <a:noFill/>
          </a:ln>
        </p:spPr>
      </p:pic>
      <p:cxnSp>
        <p:nvCxnSpPr>
          <p:cNvPr id="73" name="直線單箭頭接點 72">
            <a:extLst>
              <a:ext uri="{FF2B5EF4-FFF2-40B4-BE49-F238E27FC236}">
                <a16:creationId xmlns:a16="http://schemas.microsoft.com/office/drawing/2014/main" id="{5D1823A1-6C41-0C6D-E1DF-E663E268329B}"/>
              </a:ext>
            </a:extLst>
          </p:cNvPr>
          <p:cNvCxnSpPr>
            <a:cxnSpLocks/>
          </p:cNvCxnSpPr>
          <p:nvPr/>
        </p:nvCxnSpPr>
        <p:spPr>
          <a:xfrm flipV="1">
            <a:off x="2572582" y="4777990"/>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74" name="直線單箭頭接點 73">
            <a:extLst>
              <a:ext uri="{FF2B5EF4-FFF2-40B4-BE49-F238E27FC236}">
                <a16:creationId xmlns:a16="http://schemas.microsoft.com/office/drawing/2014/main" id="{DEF9AB32-5A41-0337-ABA8-74E3861DE6CE}"/>
              </a:ext>
            </a:extLst>
          </p:cNvPr>
          <p:cNvCxnSpPr>
            <a:cxnSpLocks/>
          </p:cNvCxnSpPr>
          <p:nvPr/>
        </p:nvCxnSpPr>
        <p:spPr>
          <a:xfrm flipV="1">
            <a:off x="2537386" y="2460275"/>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75" name="直線單箭頭接點 74">
            <a:extLst>
              <a:ext uri="{FF2B5EF4-FFF2-40B4-BE49-F238E27FC236}">
                <a16:creationId xmlns:a16="http://schemas.microsoft.com/office/drawing/2014/main" id="{134B159D-4229-57B5-8C8D-755A85907A46}"/>
              </a:ext>
            </a:extLst>
          </p:cNvPr>
          <p:cNvCxnSpPr>
            <a:cxnSpLocks/>
          </p:cNvCxnSpPr>
          <p:nvPr/>
        </p:nvCxnSpPr>
        <p:spPr>
          <a:xfrm flipV="1">
            <a:off x="2549417" y="3996575"/>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76" name="直線單箭頭接點 75">
            <a:extLst>
              <a:ext uri="{FF2B5EF4-FFF2-40B4-BE49-F238E27FC236}">
                <a16:creationId xmlns:a16="http://schemas.microsoft.com/office/drawing/2014/main" id="{700DD930-A711-9941-2ACD-04726BF2E774}"/>
              </a:ext>
            </a:extLst>
          </p:cNvPr>
          <p:cNvCxnSpPr>
            <a:cxnSpLocks/>
          </p:cNvCxnSpPr>
          <p:nvPr/>
        </p:nvCxnSpPr>
        <p:spPr>
          <a:xfrm flipV="1">
            <a:off x="2537112" y="3268245"/>
            <a:ext cx="0" cy="263637"/>
          </a:xfrm>
          <a:prstGeom prst="straightConnector1">
            <a:avLst/>
          </a:prstGeom>
          <a:noFill/>
          <a:ln w="38100" cap="flat" cmpd="sng" algn="ctr">
            <a:solidFill>
              <a:sysClr val="windowText" lastClr="000000"/>
            </a:solidFill>
            <a:prstDash val="solid"/>
            <a:miter lim="800000"/>
            <a:tailEnd type="triangle"/>
          </a:ln>
          <a:effectLst/>
        </p:spPr>
      </p:cxnSp>
      <p:sp>
        <p:nvSpPr>
          <p:cNvPr id="79" name="Google Shape;109;p16">
            <a:extLst>
              <a:ext uri="{FF2B5EF4-FFF2-40B4-BE49-F238E27FC236}">
                <a16:creationId xmlns:a16="http://schemas.microsoft.com/office/drawing/2014/main" id="{97D95BFF-BF8A-31B6-13A1-E08F59D9D46B}"/>
              </a:ext>
            </a:extLst>
          </p:cNvPr>
          <p:cNvSpPr/>
          <p:nvPr/>
        </p:nvSpPr>
        <p:spPr>
          <a:xfrm>
            <a:off x="1453877" y="4322257"/>
            <a:ext cx="2221658" cy="408010"/>
          </a:xfrm>
          <a:prstGeom prst="roundRect">
            <a:avLst>
              <a:gd name="adj" fmla="val 16667"/>
            </a:avLst>
          </a:prstGeom>
          <a:solidFill>
            <a:srgbClr val="E9EDEE"/>
          </a:solidFill>
          <a:ln w="38100">
            <a:solidFill>
              <a:srgbClr val="002060"/>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Arial"/>
                <a:sym typeface="Arial"/>
              </a:rPr>
              <a:t>Layer 1</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80" name="Google Shape;109;p16">
            <a:extLst>
              <a:ext uri="{FF2B5EF4-FFF2-40B4-BE49-F238E27FC236}">
                <a16:creationId xmlns:a16="http://schemas.microsoft.com/office/drawing/2014/main" id="{2E4C9A57-387F-8B9A-6C18-12EC68B469E3}"/>
              </a:ext>
            </a:extLst>
          </p:cNvPr>
          <p:cNvSpPr/>
          <p:nvPr/>
        </p:nvSpPr>
        <p:spPr>
          <a:xfrm>
            <a:off x="1488404" y="2777833"/>
            <a:ext cx="2221658" cy="408010"/>
          </a:xfrm>
          <a:prstGeom prst="roundRect">
            <a:avLst>
              <a:gd name="adj" fmla="val 16667"/>
            </a:avLst>
          </a:prstGeom>
          <a:solidFill>
            <a:srgbClr val="E9EDEE"/>
          </a:solidFill>
          <a:ln w="38100">
            <a:solidFill>
              <a:srgbClr val="002060"/>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Arial"/>
                <a:sym typeface="Arial"/>
              </a:rPr>
              <a:t>Layer 2</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81" name="直線單箭頭接點 80">
            <a:extLst>
              <a:ext uri="{FF2B5EF4-FFF2-40B4-BE49-F238E27FC236}">
                <a16:creationId xmlns:a16="http://schemas.microsoft.com/office/drawing/2014/main" id="{4F81E993-7E90-B840-AE43-08BEEA2BDE23}"/>
              </a:ext>
            </a:extLst>
          </p:cNvPr>
          <p:cNvCxnSpPr>
            <a:cxnSpLocks/>
          </p:cNvCxnSpPr>
          <p:nvPr/>
        </p:nvCxnSpPr>
        <p:spPr>
          <a:xfrm flipV="1">
            <a:off x="2529544" y="1767589"/>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82" name="直線單箭頭接點 81">
            <a:extLst>
              <a:ext uri="{FF2B5EF4-FFF2-40B4-BE49-F238E27FC236}">
                <a16:creationId xmlns:a16="http://schemas.microsoft.com/office/drawing/2014/main" id="{7394406F-0F05-A361-A21A-D822FF160AB7}"/>
              </a:ext>
            </a:extLst>
          </p:cNvPr>
          <p:cNvCxnSpPr>
            <a:cxnSpLocks/>
          </p:cNvCxnSpPr>
          <p:nvPr/>
        </p:nvCxnSpPr>
        <p:spPr>
          <a:xfrm flipV="1">
            <a:off x="2524005" y="999422"/>
            <a:ext cx="0" cy="263637"/>
          </a:xfrm>
          <a:prstGeom prst="straightConnector1">
            <a:avLst/>
          </a:prstGeom>
          <a:noFill/>
          <a:ln w="38100" cap="flat" cmpd="sng" algn="ctr">
            <a:solidFill>
              <a:sysClr val="windowText" lastClr="000000"/>
            </a:solidFill>
            <a:prstDash val="solid"/>
            <a:miter lim="800000"/>
            <a:tailEnd type="triangle"/>
          </a:ln>
          <a:effectLst/>
        </p:spPr>
      </p:cxnSp>
      <p:sp>
        <p:nvSpPr>
          <p:cNvPr id="83" name="Google Shape;109;p16">
            <a:extLst>
              <a:ext uri="{FF2B5EF4-FFF2-40B4-BE49-F238E27FC236}">
                <a16:creationId xmlns:a16="http://schemas.microsoft.com/office/drawing/2014/main" id="{8D3BE3AD-44E4-656F-C2E5-F3955F7E861C}"/>
              </a:ext>
            </a:extLst>
          </p:cNvPr>
          <p:cNvSpPr/>
          <p:nvPr/>
        </p:nvSpPr>
        <p:spPr>
          <a:xfrm>
            <a:off x="1457961" y="1325104"/>
            <a:ext cx="2221658" cy="408010"/>
          </a:xfrm>
          <a:prstGeom prst="roundRect">
            <a:avLst>
              <a:gd name="adj" fmla="val 16667"/>
            </a:avLst>
          </a:prstGeom>
          <a:solidFill>
            <a:srgbClr val="E9EDEE"/>
          </a:solidFill>
          <a:ln w="38100">
            <a:solidFill>
              <a:srgbClr val="002060"/>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Last Layer</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85" name="群組 84">
            <a:extLst>
              <a:ext uri="{FF2B5EF4-FFF2-40B4-BE49-F238E27FC236}">
                <a16:creationId xmlns:a16="http://schemas.microsoft.com/office/drawing/2014/main" id="{3CFCC667-B053-4366-686F-10923EE31CC4}"/>
              </a:ext>
            </a:extLst>
          </p:cNvPr>
          <p:cNvGrpSpPr/>
          <p:nvPr/>
        </p:nvGrpSpPr>
        <p:grpSpPr>
          <a:xfrm>
            <a:off x="1661136" y="3544835"/>
            <a:ext cx="1775031" cy="432000"/>
            <a:chOff x="3071440" y="1576710"/>
            <a:chExt cx="1775031" cy="432000"/>
          </a:xfrm>
          <a:solidFill>
            <a:schemeClr val="accent6">
              <a:lumMod val="75000"/>
            </a:schemeClr>
          </a:solidFill>
        </p:grpSpPr>
        <p:sp>
          <p:nvSpPr>
            <p:cNvPr id="86" name="矩形 85">
              <a:extLst>
                <a:ext uri="{FF2B5EF4-FFF2-40B4-BE49-F238E27FC236}">
                  <a16:creationId xmlns:a16="http://schemas.microsoft.com/office/drawing/2014/main" id="{8CEC2CAA-6AC0-B535-0E08-2B607909A70B}"/>
                </a:ext>
              </a:extLst>
            </p:cNvPr>
            <p:cNvSpPr/>
            <p:nvPr/>
          </p:nvSpPr>
          <p:spPr>
            <a:xfrm rot="5400000">
              <a:off x="2928644"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87" name="矩形 86">
              <a:extLst>
                <a:ext uri="{FF2B5EF4-FFF2-40B4-BE49-F238E27FC236}">
                  <a16:creationId xmlns:a16="http://schemas.microsoft.com/office/drawing/2014/main" id="{6CB50C67-3758-E326-F240-A7732125B36A}"/>
                </a:ext>
              </a:extLst>
            </p:cNvPr>
            <p:cNvSpPr/>
            <p:nvPr/>
          </p:nvSpPr>
          <p:spPr>
            <a:xfrm rot="5400000">
              <a:off x="3747259"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88" name="矩形 87">
              <a:extLst>
                <a:ext uri="{FF2B5EF4-FFF2-40B4-BE49-F238E27FC236}">
                  <a16:creationId xmlns:a16="http://schemas.microsoft.com/office/drawing/2014/main" id="{F2F08EF0-95D9-90DF-5BFE-046D83D365BB}"/>
                </a:ext>
              </a:extLst>
            </p:cNvPr>
            <p:cNvSpPr/>
            <p:nvPr/>
          </p:nvSpPr>
          <p:spPr>
            <a:xfrm rot="5400000">
              <a:off x="4557268"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89" name="矩形 88">
              <a:extLst>
                <a:ext uri="{FF2B5EF4-FFF2-40B4-BE49-F238E27FC236}">
                  <a16:creationId xmlns:a16="http://schemas.microsoft.com/office/drawing/2014/main" id="{14A1375F-EF7F-D01F-7213-2C436F0A99B6}"/>
                </a:ext>
              </a:extLst>
            </p:cNvPr>
            <p:cNvSpPr/>
            <p:nvPr/>
          </p:nvSpPr>
          <p:spPr>
            <a:xfrm rot="5400000">
              <a:off x="3194362"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90" name="矩形 89">
              <a:extLst>
                <a:ext uri="{FF2B5EF4-FFF2-40B4-BE49-F238E27FC236}">
                  <a16:creationId xmlns:a16="http://schemas.microsoft.com/office/drawing/2014/main" id="{597DE983-49FA-3EEE-9921-CE62C66AFEDC}"/>
                </a:ext>
              </a:extLst>
            </p:cNvPr>
            <p:cNvSpPr/>
            <p:nvPr/>
          </p:nvSpPr>
          <p:spPr>
            <a:xfrm rot="5400000">
              <a:off x="3465455"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91" name="矩形 90">
              <a:extLst>
                <a:ext uri="{FF2B5EF4-FFF2-40B4-BE49-F238E27FC236}">
                  <a16:creationId xmlns:a16="http://schemas.microsoft.com/office/drawing/2014/main" id="{431D603C-E3FE-EA2E-EDFD-A56AEF1768F1}"/>
                </a:ext>
              </a:extLst>
            </p:cNvPr>
            <p:cNvSpPr/>
            <p:nvPr/>
          </p:nvSpPr>
          <p:spPr>
            <a:xfrm rot="5400000">
              <a:off x="4024539"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92" name="矩形 91">
              <a:extLst>
                <a:ext uri="{FF2B5EF4-FFF2-40B4-BE49-F238E27FC236}">
                  <a16:creationId xmlns:a16="http://schemas.microsoft.com/office/drawing/2014/main" id="{0C9D376E-E7CB-87A2-4B06-E64BE8DD79D5}"/>
                </a:ext>
              </a:extLst>
            </p:cNvPr>
            <p:cNvSpPr/>
            <p:nvPr/>
          </p:nvSpPr>
          <p:spPr>
            <a:xfrm rot="5400000">
              <a:off x="4295632"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grpSp>
      <p:grpSp>
        <p:nvGrpSpPr>
          <p:cNvPr id="101" name="群組 100">
            <a:extLst>
              <a:ext uri="{FF2B5EF4-FFF2-40B4-BE49-F238E27FC236}">
                <a16:creationId xmlns:a16="http://schemas.microsoft.com/office/drawing/2014/main" id="{C18E6A22-E5CE-33FA-21FA-6D02534B1DCE}"/>
              </a:ext>
            </a:extLst>
          </p:cNvPr>
          <p:cNvGrpSpPr/>
          <p:nvPr/>
        </p:nvGrpSpPr>
        <p:grpSpPr>
          <a:xfrm>
            <a:off x="1636489" y="490253"/>
            <a:ext cx="1775031" cy="432000"/>
            <a:chOff x="6006932" y="5665091"/>
            <a:chExt cx="1775031" cy="432000"/>
          </a:xfrm>
        </p:grpSpPr>
        <p:sp>
          <p:nvSpPr>
            <p:cNvPr id="102" name="矩形 101">
              <a:extLst>
                <a:ext uri="{FF2B5EF4-FFF2-40B4-BE49-F238E27FC236}">
                  <a16:creationId xmlns:a16="http://schemas.microsoft.com/office/drawing/2014/main" id="{F58F49C0-9275-7302-9E19-858BA330748B}"/>
                </a:ext>
              </a:extLst>
            </p:cNvPr>
            <p:cNvSpPr/>
            <p:nvPr/>
          </p:nvSpPr>
          <p:spPr>
            <a:xfrm rot="5400000">
              <a:off x="5864136"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3" name="矩形 102">
              <a:extLst>
                <a:ext uri="{FF2B5EF4-FFF2-40B4-BE49-F238E27FC236}">
                  <a16:creationId xmlns:a16="http://schemas.microsoft.com/office/drawing/2014/main" id="{DE8F8093-23F2-12BD-FCD2-E76E00BACA9D}"/>
                </a:ext>
              </a:extLst>
            </p:cNvPr>
            <p:cNvSpPr/>
            <p:nvPr/>
          </p:nvSpPr>
          <p:spPr>
            <a:xfrm rot="5400000">
              <a:off x="6682751"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4" name="矩形 103">
              <a:extLst>
                <a:ext uri="{FF2B5EF4-FFF2-40B4-BE49-F238E27FC236}">
                  <a16:creationId xmlns:a16="http://schemas.microsoft.com/office/drawing/2014/main" id="{60CF4E12-0307-A8EA-7093-CAB8EC9E7AF1}"/>
                </a:ext>
              </a:extLst>
            </p:cNvPr>
            <p:cNvSpPr/>
            <p:nvPr/>
          </p:nvSpPr>
          <p:spPr>
            <a:xfrm rot="5400000">
              <a:off x="7492760"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5" name="矩形 104">
              <a:extLst>
                <a:ext uri="{FF2B5EF4-FFF2-40B4-BE49-F238E27FC236}">
                  <a16:creationId xmlns:a16="http://schemas.microsoft.com/office/drawing/2014/main" id="{C4C70B5D-5541-51ED-D3F2-FAA03D3E0D3B}"/>
                </a:ext>
              </a:extLst>
            </p:cNvPr>
            <p:cNvSpPr/>
            <p:nvPr/>
          </p:nvSpPr>
          <p:spPr>
            <a:xfrm rot="5400000">
              <a:off x="6129854"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6" name="矩形 105">
              <a:extLst>
                <a:ext uri="{FF2B5EF4-FFF2-40B4-BE49-F238E27FC236}">
                  <a16:creationId xmlns:a16="http://schemas.microsoft.com/office/drawing/2014/main" id="{D42A3D2C-A239-053F-B7FF-8B5047D0D9A0}"/>
                </a:ext>
              </a:extLst>
            </p:cNvPr>
            <p:cNvSpPr/>
            <p:nvPr/>
          </p:nvSpPr>
          <p:spPr>
            <a:xfrm rot="5400000">
              <a:off x="6400947"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7" name="矩形 106">
              <a:extLst>
                <a:ext uri="{FF2B5EF4-FFF2-40B4-BE49-F238E27FC236}">
                  <a16:creationId xmlns:a16="http://schemas.microsoft.com/office/drawing/2014/main" id="{AE93F8DC-E297-26BE-2EE2-17284C106F7D}"/>
                </a:ext>
              </a:extLst>
            </p:cNvPr>
            <p:cNvSpPr/>
            <p:nvPr/>
          </p:nvSpPr>
          <p:spPr>
            <a:xfrm rot="5400000">
              <a:off x="6960031"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8" name="矩形 107">
              <a:extLst>
                <a:ext uri="{FF2B5EF4-FFF2-40B4-BE49-F238E27FC236}">
                  <a16:creationId xmlns:a16="http://schemas.microsoft.com/office/drawing/2014/main" id="{A53B3A43-6A30-CA67-290F-65114F43FBF0}"/>
                </a:ext>
              </a:extLst>
            </p:cNvPr>
            <p:cNvSpPr/>
            <p:nvPr/>
          </p:nvSpPr>
          <p:spPr>
            <a:xfrm rot="5400000">
              <a:off x="7231124"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grpSp>
      <p:sp>
        <p:nvSpPr>
          <p:cNvPr id="109" name="文字方塊 108">
            <a:extLst>
              <a:ext uri="{FF2B5EF4-FFF2-40B4-BE49-F238E27FC236}">
                <a16:creationId xmlns:a16="http://schemas.microsoft.com/office/drawing/2014/main" id="{C407D91A-B453-5C30-63D1-F52905C506DC}"/>
              </a:ext>
            </a:extLst>
          </p:cNvPr>
          <p:cNvSpPr txBox="1"/>
          <p:nvPr/>
        </p:nvSpPr>
        <p:spPr>
          <a:xfrm rot="5400000">
            <a:off x="2181961" y="2235708"/>
            <a:ext cx="861635"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 name="Google Shape;1430;p118">
            <a:extLst>
              <a:ext uri="{FF2B5EF4-FFF2-40B4-BE49-F238E27FC236}">
                <a16:creationId xmlns:a16="http://schemas.microsoft.com/office/drawing/2014/main" id="{A3C6C599-F11A-4A68-F449-BF0115794283}"/>
              </a:ext>
            </a:extLst>
          </p:cNvPr>
          <p:cNvSpPr/>
          <p:nvPr/>
        </p:nvSpPr>
        <p:spPr>
          <a:xfrm>
            <a:off x="1488404" y="447116"/>
            <a:ext cx="2106569" cy="579600"/>
          </a:xfrm>
          <a:prstGeom prst="roundRect">
            <a:avLst>
              <a:gd name="adj" fmla="val 16667"/>
            </a:avLst>
          </a:prstGeom>
          <a:solidFill>
            <a:srgbClr val="000000">
              <a:alpha val="0"/>
            </a:srgbClr>
          </a:solidFill>
          <a:ln w="38100" cap="flat" cmpd="sng">
            <a:solidFill>
              <a:srgbClr val="FF0000"/>
            </a:solidFill>
            <a:prstDash val="dot"/>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8" name="Google Shape;86;p13">
            <a:extLst>
              <a:ext uri="{FF2B5EF4-FFF2-40B4-BE49-F238E27FC236}">
                <a16:creationId xmlns:a16="http://schemas.microsoft.com/office/drawing/2014/main" id="{2C4EB3E1-624F-2C70-1D3E-5C62BB27A928}"/>
              </a:ext>
            </a:extLst>
          </p:cNvPr>
          <p:cNvPicPr preferRelativeResize="0"/>
          <p:nvPr/>
        </p:nvPicPr>
        <p:blipFill>
          <a:blip r:embed="rId4">
            <a:alphaModFix/>
          </a:blip>
          <a:stretch>
            <a:fillRect/>
          </a:stretch>
        </p:blipFill>
        <p:spPr>
          <a:xfrm>
            <a:off x="4842648" y="3429287"/>
            <a:ext cx="992100" cy="992100"/>
          </a:xfrm>
          <a:prstGeom prst="roundRect">
            <a:avLst>
              <a:gd name="adj" fmla="val 16667"/>
            </a:avLst>
          </a:prstGeom>
          <a:noFill/>
          <a:ln>
            <a:noFill/>
          </a:ln>
          <a:effectLst>
            <a:outerShdw blurRad="57150" dist="47625" dir="5400000" algn="bl" rotWithShape="0">
              <a:schemeClr val="accent1">
                <a:alpha val="50000"/>
              </a:schemeClr>
            </a:outerShdw>
          </a:effectLst>
        </p:spPr>
      </p:pic>
      <p:sp>
        <p:nvSpPr>
          <p:cNvPr id="9" name="文字方塊 8">
            <a:extLst>
              <a:ext uri="{FF2B5EF4-FFF2-40B4-BE49-F238E27FC236}">
                <a16:creationId xmlns:a16="http://schemas.microsoft.com/office/drawing/2014/main" id="{DDAB0D8C-32ED-CC1F-E4D0-71EA734B89C4}"/>
              </a:ext>
            </a:extLst>
          </p:cNvPr>
          <p:cNvSpPr txBox="1"/>
          <p:nvPr/>
        </p:nvSpPr>
        <p:spPr>
          <a:xfrm>
            <a:off x="4700513" y="4447136"/>
            <a:ext cx="146611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1D1C1D"/>
                </a:solidFill>
                <a:effectLst/>
                <a:uLnTx/>
                <a:uFillTx/>
                <a:latin typeface="Calibri" panose="020F0502020204030204"/>
                <a:ea typeface="新細明體" panose="02020500000000000000" pitchFamily="18" charset="-120"/>
                <a:cs typeface="+mn-cs"/>
              </a:rPr>
              <a:t>Hung-yi Lee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文字方塊 12">
            <a:extLst>
              <a:ext uri="{FF2B5EF4-FFF2-40B4-BE49-F238E27FC236}">
                <a16:creationId xmlns:a16="http://schemas.microsoft.com/office/drawing/2014/main" id="{B22457EA-A64C-EBE4-165D-2541CFE851B0}"/>
              </a:ext>
            </a:extLst>
          </p:cNvPr>
          <p:cNvSpPr txBox="1"/>
          <p:nvPr/>
        </p:nvSpPr>
        <p:spPr>
          <a:xfrm>
            <a:off x="4113871" y="987081"/>
            <a:ext cx="7697129" cy="95410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Most speech representation models are worse than acoustic features (</a:t>
            </a:r>
            <a:r>
              <a:rPr kumimoji="0" lang="en-US" altLang="zh-TW" sz="28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fbank</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for speaker verification.</a:t>
            </a:r>
          </a:p>
        </p:txBody>
      </p:sp>
      <p:sp>
        <p:nvSpPr>
          <p:cNvPr id="37" name="文字方塊 36">
            <a:extLst>
              <a:ext uri="{FF2B5EF4-FFF2-40B4-BE49-F238E27FC236}">
                <a16:creationId xmlns:a16="http://schemas.microsoft.com/office/drawing/2014/main" id="{7759BC97-FC07-DB6A-F2D6-56A7FA432887}"/>
              </a:ext>
            </a:extLst>
          </p:cNvPr>
          <p:cNvSpPr txBox="1"/>
          <p:nvPr/>
        </p:nvSpPr>
        <p:spPr>
          <a:xfrm>
            <a:off x="4856821" y="5104506"/>
            <a:ext cx="7335179" cy="1384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Large models such as </a:t>
            </a: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wav2vec-large</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and </a:t>
            </a:r>
            <a:r>
              <a:rPr kumimoji="0" lang="en-US" altLang="zh-TW" sz="2800" b="1"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HuBERT</a:t>
            </a: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-large</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perform as poorly as </a:t>
            </a:r>
            <a:r>
              <a:rPr kumimoji="0" lang="en-US" altLang="zh-TW" sz="28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fbank</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on some tasks.</a:t>
            </a:r>
          </a:p>
        </p:txBody>
      </p:sp>
      <p:grpSp>
        <p:nvGrpSpPr>
          <p:cNvPr id="38" name="群組 37">
            <a:extLst>
              <a:ext uri="{FF2B5EF4-FFF2-40B4-BE49-F238E27FC236}">
                <a16:creationId xmlns:a16="http://schemas.microsoft.com/office/drawing/2014/main" id="{2CAFAB42-32B1-7281-625A-1673833CEB81}"/>
              </a:ext>
            </a:extLst>
          </p:cNvPr>
          <p:cNvGrpSpPr/>
          <p:nvPr/>
        </p:nvGrpSpPr>
        <p:grpSpPr>
          <a:xfrm>
            <a:off x="6084833" y="2350421"/>
            <a:ext cx="5116566" cy="1116179"/>
            <a:chOff x="5307255" y="4595404"/>
            <a:chExt cx="5116566" cy="1116179"/>
          </a:xfrm>
        </p:grpSpPr>
        <p:sp>
          <p:nvSpPr>
            <p:cNvPr id="39" name="語音泡泡: 圓角矩形 38">
              <a:extLst>
                <a:ext uri="{FF2B5EF4-FFF2-40B4-BE49-F238E27FC236}">
                  <a16:creationId xmlns:a16="http://schemas.microsoft.com/office/drawing/2014/main" id="{84376B03-E968-48DF-FE21-FACE1A6D4562}"/>
                </a:ext>
              </a:extLst>
            </p:cNvPr>
            <p:cNvSpPr/>
            <p:nvPr/>
          </p:nvSpPr>
          <p:spPr>
            <a:xfrm>
              <a:off x="5307255" y="4595404"/>
              <a:ext cx="5116564" cy="1116179"/>
            </a:xfrm>
            <a:prstGeom prst="wedgeRoundRectCallout">
              <a:avLst>
                <a:gd name="adj1" fmla="val -53292"/>
                <a:gd name="adj2" fmla="val 80825"/>
                <a:gd name="adj3" fmla="val 16667"/>
              </a:avLst>
            </a:prstGeom>
            <a:noFill/>
            <a:ln w="38100">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文字方塊 39">
              <a:extLst>
                <a:ext uri="{FF2B5EF4-FFF2-40B4-BE49-F238E27FC236}">
                  <a16:creationId xmlns:a16="http://schemas.microsoft.com/office/drawing/2014/main" id="{22876897-9545-21A5-E7C6-271DAC4149E3}"/>
                </a:ext>
              </a:extLst>
            </p:cNvPr>
            <p:cNvSpPr txBox="1"/>
            <p:nvPr/>
          </p:nvSpPr>
          <p:spPr>
            <a:xfrm>
              <a:off x="5452278" y="4676439"/>
              <a:ext cx="4971543" cy="95410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I knew it. Speech </a:t>
              </a:r>
              <a:r>
                <a:rPr lang="en-US" altLang="zh-TW" sz="2800" dirty="0">
                  <a:solidFill>
                    <a:prstClr val="black"/>
                  </a:solidFill>
                  <a:latin typeface="Calibri" panose="020F0502020204030204"/>
                  <a:ea typeface="新細明體" panose="02020500000000000000" pitchFamily="18" charset="-120"/>
                </a:rPr>
                <a:t>representation</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models cannot be universal.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63" name="文字方塊 62">
            <a:extLst>
              <a:ext uri="{FF2B5EF4-FFF2-40B4-BE49-F238E27FC236}">
                <a16:creationId xmlns:a16="http://schemas.microsoft.com/office/drawing/2014/main" id="{64EA01BC-51EB-DA11-E3BA-A2E7EAABA3C4}"/>
              </a:ext>
            </a:extLst>
          </p:cNvPr>
          <p:cNvSpPr txBox="1"/>
          <p:nvPr/>
        </p:nvSpPr>
        <p:spPr>
          <a:xfrm>
            <a:off x="1171110" y="5734981"/>
            <a:ext cx="3153240"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Does n</a:t>
            </a: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ot</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always lead to decent  performance.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6493252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6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BA31C-9F19-FEF0-89B0-0AA82487DC6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E0C268D-A907-5C40-CEDD-E71F954BA469}"/>
              </a:ext>
            </a:extLst>
          </p:cNvPr>
          <p:cNvSpPr>
            <a:spLocks noGrp="1"/>
          </p:cNvSpPr>
          <p:nvPr>
            <p:ph type="title"/>
          </p:nvPr>
        </p:nvSpPr>
        <p:spPr/>
        <p:txBody>
          <a:bodyPr/>
          <a:lstStyle/>
          <a:p>
            <a:r>
              <a:rPr lang="en-US" altLang="zh-TW" dirty="0"/>
              <a:t>Different Layers Encode Different Information </a:t>
            </a:r>
            <a:endParaRPr lang="zh-TW" altLang="en-US" dirty="0"/>
          </a:p>
        </p:txBody>
      </p:sp>
      <p:grpSp>
        <p:nvGrpSpPr>
          <p:cNvPr id="9" name="群組 8">
            <a:extLst>
              <a:ext uri="{FF2B5EF4-FFF2-40B4-BE49-F238E27FC236}">
                <a16:creationId xmlns:a16="http://schemas.microsoft.com/office/drawing/2014/main" id="{2AA6C63E-3453-2CAD-E769-B45D2D57201E}"/>
              </a:ext>
            </a:extLst>
          </p:cNvPr>
          <p:cNvGrpSpPr/>
          <p:nvPr/>
        </p:nvGrpSpPr>
        <p:grpSpPr>
          <a:xfrm>
            <a:off x="125001" y="1595438"/>
            <a:ext cx="11865797" cy="2735563"/>
            <a:chOff x="163101" y="2356637"/>
            <a:chExt cx="11865797" cy="2735563"/>
          </a:xfrm>
        </p:grpSpPr>
        <p:pic>
          <p:nvPicPr>
            <p:cNvPr id="5" name="圖片 4">
              <a:extLst>
                <a:ext uri="{FF2B5EF4-FFF2-40B4-BE49-F238E27FC236}">
                  <a16:creationId xmlns:a16="http://schemas.microsoft.com/office/drawing/2014/main" id="{55EF71D6-948E-39FE-8580-0F845129A315}"/>
                </a:ext>
              </a:extLst>
            </p:cNvPr>
            <p:cNvPicPr>
              <a:picLocks noChangeAspect="1"/>
            </p:cNvPicPr>
            <p:nvPr/>
          </p:nvPicPr>
          <p:blipFill>
            <a:blip r:embed="rId3"/>
            <a:stretch>
              <a:fillRect/>
            </a:stretch>
          </p:blipFill>
          <p:spPr>
            <a:xfrm>
              <a:off x="163101" y="2356637"/>
              <a:ext cx="11865797" cy="2735563"/>
            </a:xfrm>
            <a:prstGeom prst="rect">
              <a:avLst/>
            </a:prstGeom>
          </p:spPr>
        </p:pic>
        <p:pic>
          <p:nvPicPr>
            <p:cNvPr id="7" name="圖片 6">
              <a:extLst>
                <a:ext uri="{FF2B5EF4-FFF2-40B4-BE49-F238E27FC236}">
                  <a16:creationId xmlns:a16="http://schemas.microsoft.com/office/drawing/2014/main" id="{756BA2EF-F961-3DEE-D2ED-C6A04D7ABCCC}"/>
                </a:ext>
              </a:extLst>
            </p:cNvPr>
            <p:cNvPicPr>
              <a:picLocks noChangeAspect="1"/>
            </p:cNvPicPr>
            <p:nvPr/>
          </p:nvPicPr>
          <p:blipFill>
            <a:blip r:embed="rId4"/>
            <a:stretch>
              <a:fillRect/>
            </a:stretch>
          </p:blipFill>
          <p:spPr>
            <a:xfrm>
              <a:off x="4299927" y="3895146"/>
              <a:ext cx="2553056" cy="562053"/>
            </a:xfrm>
            <a:prstGeom prst="rect">
              <a:avLst/>
            </a:prstGeom>
          </p:spPr>
        </p:pic>
      </p:grpSp>
      <p:sp>
        <p:nvSpPr>
          <p:cNvPr id="8" name="文字方塊 7">
            <a:extLst>
              <a:ext uri="{FF2B5EF4-FFF2-40B4-BE49-F238E27FC236}">
                <a16:creationId xmlns:a16="http://schemas.microsoft.com/office/drawing/2014/main" id="{78BCD825-97BE-ACDC-A56C-EBDB16F9C8C1}"/>
              </a:ext>
            </a:extLst>
          </p:cNvPr>
          <p:cNvSpPr txBox="1"/>
          <p:nvPr/>
        </p:nvSpPr>
        <p:spPr>
          <a:xfrm>
            <a:off x="9177813" y="230188"/>
            <a:ext cx="3718369"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Figure credit: Shu-wen Yang</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文字方塊 9">
            <a:extLst>
              <a:ext uri="{FF2B5EF4-FFF2-40B4-BE49-F238E27FC236}">
                <a16:creationId xmlns:a16="http://schemas.microsoft.com/office/drawing/2014/main" id="{0C452862-A478-2C12-0C6F-FEE1CD1F7FAD}"/>
              </a:ext>
            </a:extLst>
          </p:cNvPr>
          <p:cNvSpPr txBox="1"/>
          <p:nvPr/>
        </p:nvSpPr>
        <p:spPr>
          <a:xfrm>
            <a:off x="601658" y="4851067"/>
            <a:ext cx="10577037" cy="46166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PR</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(phoneme recognition) - </a:t>
            </a:r>
            <a:r>
              <a:rPr kumimoji="0" lang="en-US" altLang="zh-TW"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phonetic</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information in the last few layers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E165F7B9-6E71-1FF8-DFC0-E3C787FAEE86}"/>
              </a:ext>
            </a:extLst>
          </p:cNvPr>
          <p:cNvSpPr txBox="1"/>
          <p:nvPr/>
        </p:nvSpPr>
        <p:spPr>
          <a:xfrm>
            <a:off x="601658" y="5388119"/>
            <a:ext cx="10577037" cy="46166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SID</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(speaker identification) - </a:t>
            </a: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speaker</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information in the first few layers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文字方塊 11">
            <a:extLst>
              <a:ext uri="{FF2B5EF4-FFF2-40B4-BE49-F238E27FC236}">
                <a16:creationId xmlns:a16="http://schemas.microsoft.com/office/drawing/2014/main" id="{32AF7306-813E-A0A3-07AA-CA5A9AA102D6}"/>
              </a:ext>
            </a:extLst>
          </p:cNvPr>
          <p:cNvSpPr txBox="1"/>
          <p:nvPr/>
        </p:nvSpPr>
        <p:spPr>
          <a:xfrm>
            <a:off x="601658" y="5925171"/>
            <a:ext cx="11205688" cy="46166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The last layer of Wav2vec 2.0 large encodes either phonetic and speaker information.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文字方塊 12">
            <a:extLst>
              <a:ext uri="{FF2B5EF4-FFF2-40B4-BE49-F238E27FC236}">
                <a16:creationId xmlns:a16="http://schemas.microsoft.com/office/drawing/2014/main" id="{A075C520-1D49-86F3-5EA5-D640DCD8B076}"/>
              </a:ext>
            </a:extLst>
          </p:cNvPr>
          <p:cNvSpPr txBox="1"/>
          <p:nvPr/>
        </p:nvSpPr>
        <p:spPr>
          <a:xfrm>
            <a:off x="601658" y="4251727"/>
            <a:ext cx="1057703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layers</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313938061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236E0-2D35-F8CE-5666-482768390BF2}"/>
            </a:ext>
          </a:extLst>
        </p:cNvPr>
        <p:cNvGrpSpPr/>
        <p:nvPr/>
      </p:nvGrpSpPr>
      <p:grpSpPr>
        <a:xfrm>
          <a:off x="0" y="0"/>
          <a:ext cx="0" cy="0"/>
          <a:chOff x="0" y="0"/>
          <a:chExt cx="0" cy="0"/>
        </a:xfrm>
      </p:grpSpPr>
      <p:pic>
        <p:nvPicPr>
          <p:cNvPr id="6" name="Google Shape;106;p16">
            <a:extLst>
              <a:ext uri="{FF2B5EF4-FFF2-40B4-BE49-F238E27FC236}">
                <a16:creationId xmlns:a16="http://schemas.microsoft.com/office/drawing/2014/main" id="{134954EC-AA81-0DFA-EE51-513DA85027A0}"/>
              </a:ext>
            </a:extLst>
          </p:cNvPr>
          <p:cNvPicPr preferRelativeResize="0"/>
          <p:nvPr/>
        </p:nvPicPr>
        <p:blipFill>
          <a:blip r:embed="rId3">
            <a:alphaModFix/>
          </a:blip>
          <a:stretch>
            <a:fillRect/>
          </a:stretch>
        </p:blipFill>
        <p:spPr>
          <a:xfrm>
            <a:off x="1254409" y="4940804"/>
            <a:ext cx="2667341" cy="596569"/>
          </a:xfrm>
          <a:prstGeom prst="rect">
            <a:avLst/>
          </a:prstGeom>
          <a:noFill/>
          <a:ln>
            <a:noFill/>
          </a:ln>
        </p:spPr>
      </p:pic>
      <p:pic>
        <p:nvPicPr>
          <p:cNvPr id="4" name="Google Shape;106;p16">
            <a:extLst>
              <a:ext uri="{FF2B5EF4-FFF2-40B4-BE49-F238E27FC236}">
                <a16:creationId xmlns:a16="http://schemas.microsoft.com/office/drawing/2014/main" id="{FCCE2BBB-F126-77F5-5B12-6699EC5CB22F}"/>
              </a:ext>
            </a:extLst>
          </p:cNvPr>
          <p:cNvPicPr preferRelativeResize="0"/>
          <p:nvPr/>
        </p:nvPicPr>
        <p:blipFill>
          <a:blip r:embed="rId3">
            <a:alphaModFix/>
          </a:blip>
          <a:stretch>
            <a:fillRect/>
          </a:stretch>
        </p:blipFill>
        <p:spPr>
          <a:xfrm>
            <a:off x="5454811" y="4944075"/>
            <a:ext cx="2667341" cy="596569"/>
          </a:xfrm>
          <a:prstGeom prst="rect">
            <a:avLst/>
          </a:prstGeom>
          <a:noFill/>
          <a:ln>
            <a:noFill/>
          </a:ln>
        </p:spPr>
      </p:pic>
      <p:cxnSp>
        <p:nvCxnSpPr>
          <p:cNvPr id="5" name="直線單箭頭接點 4">
            <a:extLst>
              <a:ext uri="{FF2B5EF4-FFF2-40B4-BE49-F238E27FC236}">
                <a16:creationId xmlns:a16="http://schemas.microsoft.com/office/drawing/2014/main" id="{2A1F2D5D-BDC3-3358-E0BF-E2D5FDEDB673}"/>
              </a:ext>
            </a:extLst>
          </p:cNvPr>
          <p:cNvCxnSpPr>
            <a:cxnSpLocks/>
          </p:cNvCxnSpPr>
          <p:nvPr/>
        </p:nvCxnSpPr>
        <p:spPr>
          <a:xfrm flipV="1">
            <a:off x="6777246" y="4790638"/>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7" name="直線單箭頭接點 6">
            <a:extLst>
              <a:ext uri="{FF2B5EF4-FFF2-40B4-BE49-F238E27FC236}">
                <a16:creationId xmlns:a16="http://schemas.microsoft.com/office/drawing/2014/main" id="{28ADF4D0-7F27-ED41-2A6A-32E9071562BA}"/>
              </a:ext>
            </a:extLst>
          </p:cNvPr>
          <p:cNvCxnSpPr>
            <a:cxnSpLocks/>
          </p:cNvCxnSpPr>
          <p:nvPr/>
        </p:nvCxnSpPr>
        <p:spPr>
          <a:xfrm flipV="1">
            <a:off x="6742050" y="2472923"/>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10" name="直線單箭頭接點 9">
            <a:extLst>
              <a:ext uri="{FF2B5EF4-FFF2-40B4-BE49-F238E27FC236}">
                <a16:creationId xmlns:a16="http://schemas.microsoft.com/office/drawing/2014/main" id="{72750097-8917-635A-1597-B422A533895C}"/>
              </a:ext>
            </a:extLst>
          </p:cNvPr>
          <p:cNvCxnSpPr>
            <a:cxnSpLocks/>
          </p:cNvCxnSpPr>
          <p:nvPr/>
        </p:nvCxnSpPr>
        <p:spPr>
          <a:xfrm flipV="1">
            <a:off x="6754081" y="4009223"/>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11" name="直線單箭頭接點 10">
            <a:extLst>
              <a:ext uri="{FF2B5EF4-FFF2-40B4-BE49-F238E27FC236}">
                <a16:creationId xmlns:a16="http://schemas.microsoft.com/office/drawing/2014/main" id="{A4F84106-9CD3-0D6B-F145-39D2F1851026}"/>
              </a:ext>
            </a:extLst>
          </p:cNvPr>
          <p:cNvCxnSpPr>
            <a:cxnSpLocks/>
          </p:cNvCxnSpPr>
          <p:nvPr/>
        </p:nvCxnSpPr>
        <p:spPr>
          <a:xfrm flipV="1">
            <a:off x="6741776" y="3280893"/>
            <a:ext cx="0" cy="263637"/>
          </a:xfrm>
          <a:prstGeom prst="straightConnector1">
            <a:avLst/>
          </a:prstGeom>
          <a:noFill/>
          <a:ln w="38100" cap="flat" cmpd="sng" algn="ctr">
            <a:solidFill>
              <a:sysClr val="windowText" lastClr="000000"/>
            </a:solidFill>
            <a:prstDash val="solid"/>
            <a:miter lim="800000"/>
            <a:tailEnd type="triangle"/>
          </a:ln>
          <a:effectLst/>
        </p:spPr>
      </p:cxnSp>
      <p:grpSp>
        <p:nvGrpSpPr>
          <p:cNvPr id="14" name="群組 13">
            <a:extLst>
              <a:ext uri="{FF2B5EF4-FFF2-40B4-BE49-F238E27FC236}">
                <a16:creationId xmlns:a16="http://schemas.microsoft.com/office/drawing/2014/main" id="{86C6308A-58A9-0E9A-4848-53ED21256D8E}"/>
              </a:ext>
            </a:extLst>
          </p:cNvPr>
          <p:cNvGrpSpPr/>
          <p:nvPr/>
        </p:nvGrpSpPr>
        <p:grpSpPr>
          <a:xfrm>
            <a:off x="8773567" y="2797559"/>
            <a:ext cx="319318" cy="415498"/>
            <a:chOff x="6516767" y="3276890"/>
            <a:chExt cx="425757" cy="553997"/>
          </a:xfrm>
        </p:grpSpPr>
        <p:sp>
          <p:nvSpPr>
            <p:cNvPr id="15" name="橢圓 14">
              <a:extLst>
                <a:ext uri="{FF2B5EF4-FFF2-40B4-BE49-F238E27FC236}">
                  <a16:creationId xmlns:a16="http://schemas.microsoft.com/office/drawing/2014/main" id="{95FE846C-541B-4297-D8BE-5630689375B8}"/>
                </a:ext>
              </a:extLst>
            </p:cNvPr>
            <p:cNvSpPr/>
            <p:nvPr/>
          </p:nvSpPr>
          <p:spPr>
            <a:xfrm>
              <a:off x="6546366" y="3380988"/>
              <a:ext cx="360000" cy="36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3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endParaRPr>
            </a:p>
          </p:txBody>
        </p:sp>
        <p:sp>
          <p:nvSpPr>
            <p:cNvPr id="16" name="矩形 15">
              <a:extLst>
                <a:ext uri="{FF2B5EF4-FFF2-40B4-BE49-F238E27FC236}">
                  <a16:creationId xmlns:a16="http://schemas.microsoft.com/office/drawing/2014/main" id="{87F2D4D3-684B-06B6-074E-16C6C3E4ACCB}"/>
                </a:ext>
              </a:extLst>
            </p:cNvPr>
            <p:cNvSpPr/>
            <p:nvPr/>
          </p:nvSpPr>
          <p:spPr>
            <a:xfrm>
              <a:off x="6516767" y="3276890"/>
              <a:ext cx="425757" cy="553997"/>
            </a:xfrm>
            <a:prstGeom prst="rect">
              <a:avLst/>
            </a:prstGeom>
          </p:spPr>
          <p:txBody>
            <a:bodyPr wrap="none">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altLang="zh-TW" sz="21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rPr>
                <a:t>+</a:t>
              </a:r>
              <a:endParaRPr kumimoji="0" lang="zh-TW" altLang="en-US" sz="21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endParaRPr>
            </a:p>
          </p:txBody>
        </p:sp>
      </p:gr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8A69E96D-FFFE-8B78-0B06-346F0F73F36A}"/>
                  </a:ext>
                </a:extLst>
              </p:cNvPr>
              <p:cNvSpPr txBox="1"/>
              <p:nvPr/>
            </p:nvSpPr>
            <p:spPr>
              <a:xfrm>
                <a:off x="7704220" y="3451008"/>
                <a:ext cx="291362" cy="276999"/>
              </a:xfrm>
              <a:prstGeom prst="rect">
                <a:avLst/>
              </a:prstGeom>
              <a:noFill/>
            </p:spPr>
            <p:txBody>
              <a:bodyPr wrap="none" lIns="0" tIns="0" rIns="0" bIns="0"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ctrlPr>
                        </m:sSup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𝑥</m:t>
                          </m:r>
                        </m:e>
                        <m:sup>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1</m:t>
                          </m:r>
                        </m:sup>
                      </m:sSup>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endParaRPr>
              </a:p>
            </p:txBody>
          </p:sp>
        </mc:Choice>
        <mc:Fallback xmlns="">
          <p:sp>
            <p:nvSpPr>
              <p:cNvPr id="17" name="文字方塊 16">
                <a:extLst>
                  <a:ext uri="{FF2B5EF4-FFF2-40B4-BE49-F238E27FC236}">
                    <a16:creationId xmlns:a16="http://schemas.microsoft.com/office/drawing/2014/main" id="{7EE523CE-FB5E-446E-8358-E5A4AD912262}"/>
                  </a:ext>
                </a:extLst>
              </p:cNvPr>
              <p:cNvSpPr txBox="1">
                <a:spLocks noRot="1" noChangeAspect="1" noMove="1" noResize="1" noEditPoints="1" noAdjustHandles="1" noChangeArrowheads="1" noChangeShapeType="1" noTextEdit="1"/>
              </p:cNvSpPr>
              <p:nvPr/>
            </p:nvSpPr>
            <p:spPr>
              <a:xfrm>
                <a:off x="7704220" y="3451008"/>
                <a:ext cx="291362" cy="276999"/>
              </a:xfrm>
              <a:prstGeom prst="rect">
                <a:avLst/>
              </a:prstGeom>
              <a:blipFill>
                <a:blip r:embed="rId4"/>
                <a:stretch>
                  <a:fillRect l="-12500" t="-4348" r="-41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B13308E4-AF5E-7B6A-A363-3B8B00F4BF4B}"/>
                  </a:ext>
                </a:extLst>
              </p:cNvPr>
              <p:cNvSpPr txBox="1"/>
              <p:nvPr/>
            </p:nvSpPr>
            <p:spPr>
              <a:xfrm>
                <a:off x="7684702" y="1837699"/>
                <a:ext cx="296300" cy="276999"/>
              </a:xfrm>
              <a:prstGeom prst="rect">
                <a:avLst/>
              </a:prstGeom>
              <a:noFill/>
            </p:spPr>
            <p:txBody>
              <a:bodyPr wrap="none" lIns="0" tIns="0" rIns="0" bIns="0"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ctrlPr>
                        </m:sSup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𝑥</m:t>
                          </m:r>
                        </m:e>
                        <m:sup>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2</m:t>
                          </m:r>
                        </m:sup>
                      </m:sSup>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endParaRPr>
              </a:p>
            </p:txBody>
          </p:sp>
        </mc:Choice>
        <mc:Fallback xmlns="">
          <p:sp>
            <p:nvSpPr>
              <p:cNvPr id="18" name="文字方塊 17">
                <a:extLst>
                  <a:ext uri="{FF2B5EF4-FFF2-40B4-BE49-F238E27FC236}">
                    <a16:creationId xmlns:a16="http://schemas.microsoft.com/office/drawing/2014/main" id="{C86551F6-9617-43FD-A33B-ED340F273649}"/>
                  </a:ext>
                </a:extLst>
              </p:cNvPr>
              <p:cNvSpPr txBox="1">
                <a:spLocks noRot="1" noChangeAspect="1" noMove="1" noResize="1" noEditPoints="1" noAdjustHandles="1" noChangeArrowheads="1" noChangeShapeType="1" noTextEdit="1"/>
              </p:cNvSpPr>
              <p:nvPr/>
            </p:nvSpPr>
            <p:spPr>
              <a:xfrm>
                <a:off x="7684702" y="1837699"/>
                <a:ext cx="296300" cy="276999"/>
              </a:xfrm>
              <a:prstGeom prst="rect">
                <a:avLst/>
              </a:prstGeom>
              <a:blipFill>
                <a:blip r:embed="rId5"/>
                <a:stretch>
                  <a:fillRect l="-12500" t="-4348" r="-6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8E20620C-B4C5-E99D-BFA9-3970FCEF9F24}"/>
                  </a:ext>
                </a:extLst>
              </p:cNvPr>
              <p:cNvSpPr txBox="1"/>
              <p:nvPr/>
            </p:nvSpPr>
            <p:spPr>
              <a:xfrm>
                <a:off x="10006357" y="3712485"/>
                <a:ext cx="1817164" cy="276999"/>
              </a:xfrm>
              <a:prstGeom prst="rect">
                <a:avLst/>
              </a:prstGeom>
              <a:noFill/>
            </p:spPr>
            <p:txBody>
              <a:bodyPr wrap="none" lIns="0" tIns="0" rIns="0" bIns="0"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ctrlPr>
                        </m:sSub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𝑤</m:t>
                          </m:r>
                        </m:e>
                        <m:sub>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1</m:t>
                          </m:r>
                        </m:sub>
                      </m:sSub>
                      <m:sSup>
                        <m:sSupPr>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ctrlPr>
                        </m:sSup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𝑥</m:t>
                          </m:r>
                        </m:e>
                        <m:sup>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1</m:t>
                          </m:r>
                        </m:sup>
                      </m:sSup>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m:t>
                      </m:r>
                      <m:sSub>
                        <m:sSubPr>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ctrlPr>
                        </m:sSub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𝑤</m:t>
                          </m:r>
                        </m:e>
                        <m:sub>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2</m:t>
                          </m:r>
                        </m:sub>
                      </m:sSub>
                      <m:sSup>
                        <m:sSupPr>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ctrlPr>
                        </m:sSup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𝑥</m:t>
                          </m:r>
                        </m:e>
                        <m:sup>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2</m:t>
                          </m:r>
                        </m:sup>
                      </m:sSup>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endParaRPr>
              </a:p>
            </p:txBody>
          </p:sp>
        </mc:Choice>
        <mc:Fallback xmlns="">
          <p:sp>
            <p:nvSpPr>
              <p:cNvPr id="19" name="文字方塊 18">
                <a:extLst>
                  <a:ext uri="{FF2B5EF4-FFF2-40B4-BE49-F238E27FC236}">
                    <a16:creationId xmlns:a16="http://schemas.microsoft.com/office/drawing/2014/main" id="{DC1C58E1-DD74-4A0D-A6CA-26002E6B662B}"/>
                  </a:ext>
                </a:extLst>
              </p:cNvPr>
              <p:cNvSpPr txBox="1">
                <a:spLocks noRot="1" noChangeAspect="1" noMove="1" noResize="1" noEditPoints="1" noAdjustHandles="1" noChangeArrowheads="1" noChangeShapeType="1" noTextEdit="1"/>
              </p:cNvSpPr>
              <p:nvPr/>
            </p:nvSpPr>
            <p:spPr>
              <a:xfrm>
                <a:off x="10006357" y="3712485"/>
                <a:ext cx="1817164" cy="276999"/>
              </a:xfrm>
              <a:prstGeom prst="rect">
                <a:avLst/>
              </a:prstGeom>
              <a:blipFill>
                <a:blip r:embed="rId6"/>
                <a:stretch>
                  <a:fillRect l="-1338" t="-4444" r="-334" b="-17778"/>
                </a:stretch>
              </a:blipFill>
            </p:spPr>
            <p:txBody>
              <a:bodyPr/>
              <a:lstStyle/>
              <a:p>
                <a:r>
                  <a:rPr lang="zh-TW" altLang="en-US">
                    <a:noFill/>
                  </a:rPr>
                  <a:t> </a:t>
                </a:r>
              </a:p>
            </p:txBody>
          </p:sp>
        </mc:Fallback>
      </mc:AlternateContent>
      <p:cxnSp>
        <p:nvCxnSpPr>
          <p:cNvPr id="20" name="直線單箭頭接點 19">
            <a:extLst>
              <a:ext uri="{FF2B5EF4-FFF2-40B4-BE49-F238E27FC236}">
                <a16:creationId xmlns:a16="http://schemas.microsoft.com/office/drawing/2014/main" id="{82075143-594A-0FAB-2729-EDC8D3F83D69}"/>
              </a:ext>
            </a:extLst>
          </p:cNvPr>
          <p:cNvCxnSpPr>
            <a:cxnSpLocks/>
          </p:cNvCxnSpPr>
          <p:nvPr/>
        </p:nvCxnSpPr>
        <p:spPr>
          <a:xfrm flipV="1">
            <a:off x="7676978" y="2247791"/>
            <a:ext cx="1265817" cy="0"/>
          </a:xfrm>
          <a:prstGeom prst="straightConnector1">
            <a:avLst/>
          </a:prstGeom>
          <a:noFill/>
          <a:ln w="38100" cap="flat" cmpd="sng" algn="ctr">
            <a:solidFill>
              <a:sysClr val="windowText" lastClr="000000"/>
            </a:solidFill>
            <a:prstDash val="solid"/>
            <a:miter lim="800000"/>
            <a:headEnd type="none" w="med" len="med"/>
            <a:tailEnd type="none" w="med" len="med"/>
          </a:ln>
          <a:effectLst/>
        </p:spPr>
      </p:cxnSp>
      <p:cxnSp>
        <p:nvCxnSpPr>
          <p:cNvPr id="21" name="直線單箭頭接點 20">
            <a:extLst>
              <a:ext uri="{FF2B5EF4-FFF2-40B4-BE49-F238E27FC236}">
                <a16:creationId xmlns:a16="http://schemas.microsoft.com/office/drawing/2014/main" id="{61C3A137-FEF5-75F0-326A-F938835BAFE9}"/>
              </a:ext>
            </a:extLst>
          </p:cNvPr>
          <p:cNvCxnSpPr>
            <a:cxnSpLocks/>
          </p:cNvCxnSpPr>
          <p:nvPr/>
        </p:nvCxnSpPr>
        <p:spPr>
          <a:xfrm>
            <a:off x="8942793" y="2205165"/>
            <a:ext cx="0" cy="639817"/>
          </a:xfrm>
          <a:prstGeom prst="straightConnector1">
            <a:avLst/>
          </a:prstGeom>
          <a:noFill/>
          <a:ln w="38100" cap="flat" cmpd="sng" algn="ctr">
            <a:solidFill>
              <a:sysClr val="windowText" lastClr="000000"/>
            </a:solidFill>
            <a:prstDash val="solid"/>
            <a:miter lim="800000"/>
            <a:tailEnd type="triangle"/>
          </a:ln>
          <a:effectLst/>
        </p:spPr>
      </p:cxnSp>
      <p:grpSp>
        <p:nvGrpSpPr>
          <p:cNvPr id="22" name="群組 21">
            <a:extLst>
              <a:ext uri="{FF2B5EF4-FFF2-40B4-BE49-F238E27FC236}">
                <a16:creationId xmlns:a16="http://schemas.microsoft.com/office/drawing/2014/main" id="{628659E0-7E9C-087C-6D14-EEFF0BEE2CFC}"/>
              </a:ext>
            </a:extLst>
          </p:cNvPr>
          <p:cNvGrpSpPr/>
          <p:nvPr/>
        </p:nvGrpSpPr>
        <p:grpSpPr>
          <a:xfrm flipV="1">
            <a:off x="7676978" y="3172014"/>
            <a:ext cx="1265817" cy="639817"/>
            <a:chOff x="5190112" y="4479669"/>
            <a:chExt cx="1687756" cy="853089"/>
          </a:xfrm>
        </p:grpSpPr>
        <p:cxnSp>
          <p:nvCxnSpPr>
            <p:cNvPr id="23" name="直線單箭頭接點 22">
              <a:extLst>
                <a:ext uri="{FF2B5EF4-FFF2-40B4-BE49-F238E27FC236}">
                  <a16:creationId xmlns:a16="http://schemas.microsoft.com/office/drawing/2014/main" id="{E26A93DF-5695-ADAB-DE75-DD805FCD5F04}"/>
                </a:ext>
              </a:extLst>
            </p:cNvPr>
            <p:cNvCxnSpPr>
              <a:cxnSpLocks/>
            </p:cNvCxnSpPr>
            <p:nvPr/>
          </p:nvCxnSpPr>
          <p:spPr>
            <a:xfrm flipV="1">
              <a:off x="5190112" y="4536507"/>
              <a:ext cx="1687756" cy="0"/>
            </a:xfrm>
            <a:prstGeom prst="straightConnector1">
              <a:avLst/>
            </a:prstGeom>
            <a:noFill/>
            <a:ln w="38100" cap="flat" cmpd="sng" algn="ctr">
              <a:solidFill>
                <a:sysClr val="windowText" lastClr="000000"/>
              </a:solidFill>
              <a:prstDash val="solid"/>
              <a:miter lim="800000"/>
              <a:headEnd type="none" w="med" len="med"/>
              <a:tailEnd type="none" w="med" len="med"/>
            </a:ln>
            <a:effectLst/>
          </p:spPr>
        </p:cxnSp>
        <p:cxnSp>
          <p:nvCxnSpPr>
            <p:cNvPr id="24" name="直線單箭頭接點 23">
              <a:extLst>
                <a:ext uri="{FF2B5EF4-FFF2-40B4-BE49-F238E27FC236}">
                  <a16:creationId xmlns:a16="http://schemas.microsoft.com/office/drawing/2014/main" id="{17572FD5-D9A2-D542-686C-79DC5B9A03CA}"/>
                </a:ext>
              </a:extLst>
            </p:cNvPr>
            <p:cNvCxnSpPr>
              <a:cxnSpLocks/>
            </p:cNvCxnSpPr>
            <p:nvPr/>
          </p:nvCxnSpPr>
          <p:spPr>
            <a:xfrm>
              <a:off x="6877868" y="4479669"/>
              <a:ext cx="0" cy="853089"/>
            </a:xfrm>
            <a:prstGeom prst="straightConnector1">
              <a:avLst/>
            </a:prstGeom>
            <a:noFill/>
            <a:ln w="38100" cap="flat" cmpd="sng" algn="ctr">
              <a:solidFill>
                <a:sysClr val="windowText" lastClr="000000"/>
              </a:solidFill>
              <a:prstDash val="solid"/>
              <a:miter lim="800000"/>
              <a:tailEnd type="triangle"/>
            </a:ln>
            <a:effectLst/>
          </p:spPr>
        </p:cxnSp>
      </p:grpSp>
      <p:cxnSp>
        <p:nvCxnSpPr>
          <p:cNvPr id="25" name="直線單箭頭接點 24">
            <a:extLst>
              <a:ext uri="{FF2B5EF4-FFF2-40B4-BE49-F238E27FC236}">
                <a16:creationId xmlns:a16="http://schemas.microsoft.com/office/drawing/2014/main" id="{962AECDF-D15C-2930-FD6F-06E5777C49AA}"/>
              </a:ext>
            </a:extLst>
          </p:cNvPr>
          <p:cNvCxnSpPr>
            <a:cxnSpLocks/>
          </p:cNvCxnSpPr>
          <p:nvPr/>
        </p:nvCxnSpPr>
        <p:spPr>
          <a:xfrm flipH="1">
            <a:off x="9092887" y="3016906"/>
            <a:ext cx="568415" cy="0"/>
          </a:xfrm>
          <a:prstGeom prst="straightConnector1">
            <a:avLst/>
          </a:prstGeom>
          <a:noFill/>
          <a:ln w="38100" cap="flat" cmpd="sng" algn="ctr">
            <a:solidFill>
              <a:sysClr val="windowText" lastClr="000000"/>
            </a:solidFill>
            <a:prstDash val="solid"/>
            <a:miter lim="800000"/>
            <a:headEnd type="triangle" w="med" len="med"/>
            <a:tailEnd type="none" w="med" len="med"/>
          </a:ln>
          <a:effectLst/>
        </p:spPr>
      </p:cxnSp>
      <p:cxnSp>
        <p:nvCxnSpPr>
          <p:cNvPr id="26" name="直線單箭頭接點 25">
            <a:extLst>
              <a:ext uri="{FF2B5EF4-FFF2-40B4-BE49-F238E27FC236}">
                <a16:creationId xmlns:a16="http://schemas.microsoft.com/office/drawing/2014/main" id="{EFFD3966-AF88-9796-791B-4A6FBE8C3E37}"/>
              </a:ext>
            </a:extLst>
          </p:cNvPr>
          <p:cNvCxnSpPr>
            <a:cxnSpLocks/>
          </p:cNvCxnSpPr>
          <p:nvPr/>
        </p:nvCxnSpPr>
        <p:spPr>
          <a:xfrm flipV="1">
            <a:off x="10639948" y="2164081"/>
            <a:ext cx="0" cy="560257"/>
          </a:xfrm>
          <a:prstGeom prst="straightConnector1">
            <a:avLst/>
          </a:prstGeom>
          <a:noFill/>
          <a:ln w="38100"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337ED95-BCC4-81E0-3203-2412E2CE43FA}"/>
                  </a:ext>
                </a:extLst>
              </p:cNvPr>
              <p:cNvSpPr txBox="1"/>
              <p:nvPr/>
            </p:nvSpPr>
            <p:spPr>
              <a:xfrm>
                <a:off x="8130369" y="2235697"/>
                <a:ext cx="322461" cy="276999"/>
              </a:xfrm>
              <a:prstGeom prst="rect">
                <a:avLst/>
              </a:prstGeom>
              <a:noFill/>
            </p:spPr>
            <p:txBody>
              <a:bodyPr wrap="none" lIns="0" tIns="0" rIns="0" bIns="0"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ctrlPr>
                        </m:sSub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𝑤</m:t>
                          </m:r>
                        </m:e>
                        <m:sub>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2</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endParaRPr>
              </a:p>
            </p:txBody>
          </p:sp>
        </mc:Choice>
        <mc:Fallback xmlns="">
          <p:sp>
            <p:nvSpPr>
              <p:cNvPr id="27" name="文字方塊 26">
                <a:extLst>
                  <a:ext uri="{FF2B5EF4-FFF2-40B4-BE49-F238E27FC236}">
                    <a16:creationId xmlns:a16="http://schemas.microsoft.com/office/drawing/2014/main" id="{7AAF252D-7339-4C84-A363-67D0914A097E}"/>
                  </a:ext>
                </a:extLst>
              </p:cNvPr>
              <p:cNvSpPr txBox="1">
                <a:spLocks noRot="1" noChangeAspect="1" noMove="1" noResize="1" noEditPoints="1" noAdjustHandles="1" noChangeArrowheads="1" noChangeShapeType="1" noTextEdit="1"/>
              </p:cNvSpPr>
              <p:nvPr/>
            </p:nvSpPr>
            <p:spPr>
              <a:xfrm>
                <a:off x="8130369" y="2235697"/>
                <a:ext cx="322461" cy="276999"/>
              </a:xfrm>
              <a:prstGeom prst="rect">
                <a:avLst/>
              </a:prstGeom>
              <a:blipFill>
                <a:blip r:embed="rId7"/>
                <a:stretch>
                  <a:fillRect l="-9434" r="-7547"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8BE48A49-5FD1-021E-E504-E740C57EF1BE}"/>
                  </a:ext>
                </a:extLst>
              </p:cNvPr>
              <p:cNvSpPr txBox="1"/>
              <p:nvPr/>
            </p:nvSpPr>
            <p:spPr>
              <a:xfrm>
                <a:off x="8122150" y="3780010"/>
                <a:ext cx="317138" cy="276999"/>
              </a:xfrm>
              <a:prstGeom prst="rect">
                <a:avLst/>
              </a:prstGeom>
              <a:noFill/>
            </p:spPr>
            <p:txBody>
              <a:bodyPr wrap="none" lIns="0" tIns="0" rIns="0" bIns="0"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ctrlPr>
                        </m:sSub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𝑤</m:t>
                          </m:r>
                        </m:e>
                        <m:sub>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1</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endParaRPr>
              </a:p>
            </p:txBody>
          </p:sp>
        </mc:Choice>
        <mc:Fallback xmlns="">
          <p:sp>
            <p:nvSpPr>
              <p:cNvPr id="28" name="文字方塊 27">
                <a:extLst>
                  <a:ext uri="{FF2B5EF4-FFF2-40B4-BE49-F238E27FC236}">
                    <a16:creationId xmlns:a16="http://schemas.microsoft.com/office/drawing/2014/main" id="{DF48EC8F-E6B6-4CE0-9C23-94F8C352C3CE}"/>
                  </a:ext>
                </a:extLst>
              </p:cNvPr>
              <p:cNvSpPr txBox="1">
                <a:spLocks noRot="1" noChangeAspect="1" noMove="1" noResize="1" noEditPoints="1" noAdjustHandles="1" noChangeArrowheads="1" noChangeShapeType="1" noTextEdit="1"/>
              </p:cNvSpPr>
              <p:nvPr/>
            </p:nvSpPr>
            <p:spPr>
              <a:xfrm>
                <a:off x="8122150" y="3780010"/>
                <a:ext cx="317138" cy="276999"/>
              </a:xfrm>
              <a:prstGeom prst="rect">
                <a:avLst/>
              </a:prstGeom>
              <a:blipFill>
                <a:blip r:embed="rId8"/>
                <a:stretch>
                  <a:fillRect l="-11538" r="-7692" b="-15217"/>
                </a:stretch>
              </a:blipFill>
            </p:spPr>
            <p:txBody>
              <a:bodyPr/>
              <a:lstStyle/>
              <a:p>
                <a:r>
                  <a:rPr lang="zh-TW" altLang="en-US">
                    <a:noFill/>
                  </a:rPr>
                  <a:t> </a:t>
                </a:r>
              </a:p>
            </p:txBody>
          </p:sp>
        </mc:Fallback>
      </mc:AlternateContent>
      <p:sp>
        <p:nvSpPr>
          <p:cNvPr id="29" name="文字方塊 28">
            <a:extLst>
              <a:ext uri="{FF2B5EF4-FFF2-40B4-BE49-F238E27FC236}">
                <a16:creationId xmlns:a16="http://schemas.microsoft.com/office/drawing/2014/main" id="{E5A9C1AB-C845-759F-2ACA-0D6D129A6E53}"/>
              </a:ext>
            </a:extLst>
          </p:cNvPr>
          <p:cNvSpPr txBox="1"/>
          <p:nvPr/>
        </p:nvSpPr>
        <p:spPr>
          <a:xfrm>
            <a:off x="8628922" y="4334423"/>
            <a:ext cx="3297054" cy="830997"/>
          </a:xfrm>
          <a:prstGeom prst="rect">
            <a:avLst/>
          </a:prstGeom>
          <a:noFill/>
        </p:spPr>
        <p:txBody>
          <a:bodyPr wrap="square"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sym typeface="Arial"/>
              </a:rPr>
              <a:t>Jointly learned with task-specific parameters</a:t>
            </a:r>
            <a:endParaRPr kumimoji="0" lang="zh-TW" altLang="en-US" sz="2400" b="0" i="0" u="none" strike="noStrike" kern="12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Calibri" panose="020F0502020204030204" pitchFamily="34" charset="0"/>
              <a:sym typeface="Arial"/>
            </a:endParaRPr>
          </a:p>
        </p:txBody>
      </p:sp>
      <p:cxnSp>
        <p:nvCxnSpPr>
          <p:cNvPr id="30" name="直線單箭頭接點 29">
            <a:extLst>
              <a:ext uri="{FF2B5EF4-FFF2-40B4-BE49-F238E27FC236}">
                <a16:creationId xmlns:a16="http://schemas.microsoft.com/office/drawing/2014/main" id="{8C8FE72C-536D-0749-D7B1-216BE08F29F9}"/>
              </a:ext>
            </a:extLst>
          </p:cNvPr>
          <p:cNvCxnSpPr>
            <a:cxnSpLocks/>
          </p:cNvCxnSpPr>
          <p:nvPr/>
        </p:nvCxnSpPr>
        <p:spPr>
          <a:xfrm>
            <a:off x="8934185" y="797237"/>
            <a:ext cx="0" cy="1407926"/>
          </a:xfrm>
          <a:prstGeom prst="straightConnector1">
            <a:avLst/>
          </a:prstGeom>
          <a:noFill/>
          <a:ln w="38100" cap="flat" cmpd="sng" algn="ctr">
            <a:solidFill>
              <a:sysClr val="windowText" lastClr="000000"/>
            </a:solidFill>
            <a:prstDash val="solid"/>
            <a:miter lim="800000"/>
            <a:headEnd type="none" w="med" len="med"/>
            <a:tailEnd type="none" w="med" len="med"/>
          </a:ln>
          <a:effectLst/>
        </p:spPr>
      </p:cxnSp>
      <p:sp>
        <p:nvSpPr>
          <p:cNvPr id="31" name="Google Shape;109;p16">
            <a:extLst>
              <a:ext uri="{FF2B5EF4-FFF2-40B4-BE49-F238E27FC236}">
                <a16:creationId xmlns:a16="http://schemas.microsoft.com/office/drawing/2014/main" id="{7E9ABD2F-E096-E431-39F0-F6916BA17049}"/>
              </a:ext>
            </a:extLst>
          </p:cNvPr>
          <p:cNvSpPr/>
          <p:nvPr/>
        </p:nvSpPr>
        <p:spPr>
          <a:xfrm>
            <a:off x="5658541" y="4334905"/>
            <a:ext cx="2221658" cy="408010"/>
          </a:xfrm>
          <a:prstGeom prst="roundRect">
            <a:avLst>
              <a:gd name="adj" fmla="val 16667"/>
            </a:avLst>
          </a:prstGeom>
          <a:solidFill>
            <a:srgbClr val="E9EDEE"/>
          </a:solidFill>
          <a:ln w="38100">
            <a:solidFill>
              <a:srgbClr val="002060"/>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Arial"/>
                <a:sym typeface="Arial"/>
              </a:rPr>
              <a:t>Layer 1</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32" name="Google Shape;109;p16">
            <a:extLst>
              <a:ext uri="{FF2B5EF4-FFF2-40B4-BE49-F238E27FC236}">
                <a16:creationId xmlns:a16="http://schemas.microsoft.com/office/drawing/2014/main" id="{21F34E4E-394A-0727-FBA8-0B26C44C93DE}"/>
              </a:ext>
            </a:extLst>
          </p:cNvPr>
          <p:cNvSpPr/>
          <p:nvPr/>
        </p:nvSpPr>
        <p:spPr>
          <a:xfrm>
            <a:off x="5693068" y="2790481"/>
            <a:ext cx="2221658" cy="408010"/>
          </a:xfrm>
          <a:prstGeom prst="roundRect">
            <a:avLst>
              <a:gd name="adj" fmla="val 16667"/>
            </a:avLst>
          </a:prstGeom>
          <a:solidFill>
            <a:srgbClr val="E9EDEE"/>
          </a:solidFill>
          <a:ln w="38100">
            <a:solidFill>
              <a:srgbClr val="002060"/>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Arial"/>
                <a:sym typeface="Arial"/>
              </a:rPr>
              <a:t>Layer 2</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33" name="直線單箭頭接點 32">
            <a:extLst>
              <a:ext uri="{FF2B5EF4-FFF2-40B4-BE49-F238E27FC236}">
                <a16:creationId xmlns:a16="http://schemas.microsoft.com/office/drawing/2014/main" id="{86F16D6F-18B3-B86A-669E-15DA3B4E20D1}"/>
              </a:ext>
            </a:extLst>
          </p:cNvPr>
          <p:cNvCxnSpPr>
            <a:cxnSpLocks/>
          </p:cNvCxnSpPr>
          <p:nvPr/>
        </p:nvCxnSpPr>
        <p:spPr>
          <a:xfrm flipV="1">
            <a:off x="6718710" y="1609757"/>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34" name="直線單箭頭接點 33">
            <a:extLst>
              <a:ext uri="{FF2B5EF4-FFF2-40B4-BE49-F238E27FC236}">
                <a16:creationId xmlns:a16="http://schemas.microsoft.com/office/drawing/2014/main" id="{6913B97C-8BAE-EBE1-5EE7-D7CED32555FC}"/>
              </a:ext>
            </a:extLst>
          </p:cNvPr>
          <p:cNvCxnSpPr>
            <a:cxnSpLocks/>
          </p:cNvCxnSpPr>
          <p:nvPr/>
        </p:nvCxnSpPr>
        <p:spPr>
          <a:xfrm flipV="1">
            <a:off x="6728669" y="872586"/>
            <a:ext cx="0" cy="263637"/>
          </a:xfrm>
          <a:prstGeom prst="straightConnector1">
            <a:avLst/>
          </a:prstGeom>
          <a:noFill/>
          <a:ln w="38100" cap="flat" cmpd="sng" algn="ctr">
            <a:solidFill>
              <a:sysClr val="windowText" lastClr="000000"/>
            </a:solidFill>
            <a:prstDash val="solid"/>
            <a:miter lim="800000"/>
            <a:tailEnd type="triangle"/>
          </a:ln>
          <a:effectLst/>
        </p:spPr>
      </p:cxnSp>
      <p:sp>
        <p:nvSpPr>
          <p:cNvPr id="35" name="Google Shape;109;p16">
            <a:extLst>
              <a:ext uri="{FF2B5EF4-FFF2-40B4-BE49-F238E27FC236}">
                <a16:creationId xmlns:a16="http://schemas.microsoft.com/office/drawing/2014/main" id="{F0DFBBBE-54A2-F98D-8C28-0D798C5A95A5}"/>
              </a:ext>
            </a:extLst>
          </p:cNvPr>
          <p:cNvSpPr/>
          <p:nvPr/>
        </p:nvSpPr>
        <p:spPr>
          <a:xfrm>
            <a:off x="5662625" y="1198268"/>
            <a:ext cx="2221658" cy="408010"/>
          </a:xfrm>
          <a:prstGeom prst="roundRect">
            <a:avLst>
              <a:gd name="adj" fmla="val 16667"/>
            </a:avLst>
          </a:prstGeom>
          <a:solidFill>
            <a:srgbClr val="E9EDEE"/>
          </a:solidFill>
          <a:ln w="38100">
            <a:solidFill>
              <a:srgbClr val="002060"/>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Arial"/>
                <a:sym typeface="Arial"/>
              </a:rPr>
              <a:t>Layer 3</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36" name="文字方塊 35">
            <a:extLst>
              <a:ext uri="{FF2B5EF4-FFF2-40B4-BE49-F238E27FC236}">
                <a16:creationId xmlns:a16="http://schemas.microsoft.com/office/drawing/2014/main" id="{96C79E07-E90D-087E-8061-23C872F9B739}"/>
              </a:ext>
            </a:extLst>
          </p:cNvPr>
          <p:cNvSpPr txBox="1"/>
          <p:nvPr/>
        </p:nvSpPr>
        <p:spPr>
          <a:xfrm>
            <a:off x="5800488" y="391652"/>
            <a:ext cx="187648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altLang="zh-TW" sz="2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a:t>
            </a:r>
            <a:endParaRPr kumimoji="0" lang="zh-TW" altLang="en-US" sz="2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endParaRPr>
          </a:p>
        </p:txBody>
      </p:sp>
      <p:grpSp>
        <p:nvGrpSpPr>
          <p:cNvPr id="41" name="群組 40">
            <a:extLst>
              <a:ext uri="{FF2B5EF4-FFF2-40B4-BE49-F238E27FC236}">
                <a16:creationId xmlns:a16="http://schemas.microsoft.com/office/drawing/2014/main" id="{C70AA427-3EFF-D9FA-C3F3-E58AB22E2772}"/>
              </a:ext>
            </a:extLst>
          </p:cNvPr>
          <p:cNvGrpSpPr/>
          <p:nvPr/>
        </p:nvGrpSpPr>
        <p:grpSpPr>
          <a:xfrm>
            <a:off x="5865800" y="3557483"/>
            <a:ext cx="1775031" cy="432000"/>
            <a:chOff x="3071440" y="1576710"/>
            <a:chExt cx="1775031" cy="432000"/>
          </a:xfrm>
          <a:solidFill>
            <a:schemeClr val="accent6">
              <a:lumMod val="75000"/>
            </a:schemeClr>
          </a:solidFill>
        </p:grpSpPr>
        <p:sp>
          <p:nvSpPr>
            <p:cNvPr id="42" name="矩形 41">
              <a:extLst>
                <a:ext uri="{FF2B5EF4-FFF2-40B4-BE49-F238E27FC236}">
                  <a16:creationId xmlns:a16="http://schemas.microsoft.com/office/drawing/2014/main" id="{B8D7E839-6C15-CF08-1059-42AE4217CC52}"/>
                </a:ext>
              </a:extLst>
            </p:cNvPr>
            <p:cNvSpPr/>
            <p:nvPr/>
          </p:nvSpPr>
          <p:spPr>
            <a:xfrm rot="5400000">
              <a:off x="2928644"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43" name="矩形 42">
              <a:extLst>
                <a:ext uri="{FF2B5EF4-FFF2-40B4-BE49-F238E27FC236}">
                  <a16:creationId xmlns:a16="http://schemas.microsoft.com/office/drawing/2014/main" id="{756EB896-1A86-740C-2799-AFFE268B0444}"/>
                </a:ext>
              </a:extLst>
            </p:cNvPr>
            <p:cNvSpPr/>
            <p:nvPr/>
          </p:nvSpPr>
          <p:spPr>
            <a:xfrm rot="5400000">
              <a:off x="3747259"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44" name="矩形 43">
              <a:extLst>
                <a:ext uri="{FF2B5EF4-FFF2-40B4-BE49-F238E27FC236}">
                  <a16:creationId xmlns:a16="http://schemas.microsoft.com/office/drawing/2014/main" id="{219813EF-5899-9286-49D6-5DF6E77229A6}"/>
                </a:ext>
              </a:extLst>
            </p:cNvPr>
            <p:cNvSpPr/>
            <p:nvPr/>
          </p:nvSpPr>
          <p:spPr>
            <a:xfrm rot="5400000">
              <a:off x="4557268"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45" name="矩形 44">
              <a:extLst>
                <a:ext uri="{FF2B5EF4-FFF2-40B4-BE49-F238E27FC236}">
                  <a16:creationId xmlns:a16="http://schemas.microsoft.com/office/drawing/2014/main" id="{DB862E10-F043-C9A7-79AE-EF7FAE6785F9}"/>
                </a:ext>
              </a:extLst>
            </p:cNvPr>
            <p:cNvSpPr/>
            <p:nvPr/>
          </p:nvSpPr>
          <p:spPr>
            <a:xfrm rot="5400000">
              <a:off x="3194362"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46" name="矩形 45">
              <a:extLst>
                <a:ext uri="{FF2B5EF4-FFF2-40B4-BE49-F238E27FC236}">
                  <a16:creationId xmlns:a16="http://schemas.microsoft.com/office/drawing/2014/main" id="{762322D3-76D0-F1AB-1868-DD78AA480FBC}"/>
                </a:ext>
              </a:extLst>
            </p:cNvPr>
            <p:cNvSpPr/>
            <p:nvPr/>
          </p:nvSpPr>
          <p:spPr>
            <a:xfrm rot="5400000">
              <a:off x="3465455"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47" name="矩形 46">
              <a:extLst>
                <a:ext uri="{FF2B5EF4-FFF2-40B4-BE49-F238E27FC236}">
                  <a16:creationId xmlns:a16="http://schemas.microsoft.com/office/drawing/2014/main" id="{92FD3514-B156-1134-3D82-6C8987A799DC}"/>
                </a:ext>
              </a:extLst>
            </p:cNvPr>
            <p:cNvSpPr/>
            <p:nvPr/>
          </p:nvSpPr>
          <p:spPr>
            <a:xfrm rot="5400000">
              <a:off x="4024539"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48" name="矩形 47">
              <a:extLst>
                <a:ext uri="{FF2B5EF4-FFF2-40B4-BE49-F238E27FC236}">
                  <a16:creationId xmlns:a16="http://schemas.microsoft.com/office/drawing/2014/main" id="{B551D0BD-CC30-A6D4-97D5-7C9B9B123AAC}"/>
                </a:ext>
              </a:extLst>
            </p:cNvPr>
            <p:cNvSpPr/>
            <p:nvPr/>
          </p:nvSpPr>
          <p:spPr>
            <a:xfrm rot="5400000">
              <a:off x="4295632"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grpSp>
      <p:grpSp>
        <p:nvGrpSpPr>
          <p:cNvPr id="49" name="群組 48">
            <a:extLst>
              <a:ext uri="{FF2B5EF4-FFF2-40B4-BE49-F238E27FC236}">
                <a16:creationId xmlns:a16="http://schemas.microsoft.com/office/drawing/2014/main" id="{8E1C028C-5901-F8DA-057F-D2F8DCDBCD06}"/>
              </a:ext>
            </a:extLst>
          </p:cNvPr>
          <p:cNvGrpSpPr/>
          <p:nvPr/>
        </p:nvGrpSpPr>
        <p:grpSpPr>
          <a:xfrm>
            <a:off x="5836279" y="1954331"/>
            <a:ext cx="1775031" cy="432000"/>
            <a:chOff x="3071440" y="1576710"/>
            <a:chExt cx="1775031" cy="432000"/>
          </a:xfrm>
          <a:solidFill>
            <a:srgbClr val="00B0F0"/>
          </a:solidFill>
        </p:grpSpPr>
        <p:sp>
          <p:nvSpPr>
            <p:cNvPr id="50" name="矩形 49">
              <a:extLst>
                <a:ext uri="{FF2B5EF4-FFF2-40B4-BE49-F238E27FC236}">
                  <a16:creationId xmlns:a16="http://schemas.microsoft.com/office/drawing/2014/main" id="{4291133F-CAA2-BE73-EA3E-890ED81F3EE2}"/>
                </a:ext>
              </a:extLst>
            </p:cNvPr>
            <p:cNvSpPr/>
            <p:nvPr/>
          </p:nvSpPr>
          <p:spPr>
            <a:xfrm rot="5400000">
              <a:off x="2928644"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51" name="矩形 50">
              <a:extLst>
                <a:ext uri="{FF2B5EF4-FFF2-40B4-BE49-F238E27FC236}">
                  <a16:creationId xmlns:a16="http://schemas.microsoft.com/office/drawing/2014/main" id="{885E984A-5DC4-3C39-C316-A4852802EA50}"/>
                </a:ext>
              </a:extLst>
            </p:cNvPr>
            <p:cNvSpPr/>
            <p:nvPr/>
          </p:nvSpPr>
          <p:spPr>
            <a:xfrm rot="5400000">
              <a:off x="3747259"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52" name="矩形 51">
              <a:extLst>
                <a:ext uri="{FF2B5EF4-FFF2-40B4-BE49-F238E27FC236}">
                  <a16:creationId xmlns:a16="http://schemas.microsoft.com/office/drawing/2014/main" id="{9C35BF25-4FEC-9B25-C439-EFD2C90D330A}"/>
                </a:ext>
              </a:extLst>
            </p:cNvPr>
            <p:cNvSpPr/>
            <p:nvPr/>
          </p:nvSpPr>
          <p:spPr>
            <a:xfrm rot="5400000">
              <a:off x="4557268"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53" name="矩形 52">
              <a:extLst>
                <a:ext uri="{FF2B5EF4-FFF2-40B4-BE49-F238E27FC236}">
                  <a16:creationId xmlns:a16="http://schemas.microsoft.com/office/drawing/2014/main" id="{947D76C2-058A-2EBF-67BF-18E764CC759A}"/>
                </a:ext>
              </a:extLst>
            </p:cNvPr>
            <p:cNvSpPr/>
            <p:nvPr/>
          </p:nvSpPr>
          <p:spPr>
            <a:xfrm rot="5400000">
              <a:off x="3194362"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54" name="矩形 53">
              <a:extLst>
                <a:ext uri="{FF2B5EF4-FFF2-40B4-BE49-F238E27FC236}">
                  <a16:creationId xmlns:a16="http://schemas.microsoft.com/office/drawing/2014/main" id="{FF577678-DACF-304F-F0B3-BC136ECE04AD}"/>
                </a:ext>
              </a:extLst>
            </p:cNvPr>
            <p:cNvSpPr/>
            <p:nvPr/>
          </p:nvSpPr>
          <p:spPr>
            <a:xfrm rot="5400000">
              <a:off x="3465455"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55" name="矩形 54">
              <a:extLst>
                <a:ext uri="{FF2B5EF4-FFF2-40B4-BE49-F238E27FC236}">
                  <a16:creationId xmlns:a16="http://schemas.microsoft.com/office/drawing/2014/main" id="{517A9318-57D4-7244-0BF8-9D8E13952C14}"/>
                </a:ext>
              </a:extLst>
            </p:cNvPr>
            <p:cNvSpPr/>
            <p:nvPr/>
          </p:nvSpPr>
          <p:spPr>
            <a:xfrm rot="5400000">
              <a:off x="4024539"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56" name="矩形 55">
              <a:extLst>
                <a:ext uri="{FF2B5EF4-FFF2-40B4-BE49-F238E27FC236}">
                  <a16:creationId xmlns:a16="http://schemas.microsoft.com/office/drawing/2014/main" id="{641F463A-E746-F542-6FE4-3ECDFB5E7C2A}"/>
                </a:ext>
              </a:extLst>
            </p:cNvPr>
            <p:cNvSpPr/>
            <p:nvPr/>
          </p:nvSpPr>
          <p:spPr>
            <a:xfrm rot="5400000">
              <a:off x="4295632"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grpSp>
      <p:cxnSp>
        <p:nvCxnSpPr>
          <p:cNvPr id="57" name="直線單箭頭接點 56">
            <a:extLst>
              <a:ext uri="{FF2B5EF4-FFF2-40B4-BE49-F238E27FC236}">
                <a16:creationId xmlns:a16="http://schemas.microsoft.com/office/drawing/2014/main" id="{1A798A0F-90B4-AB17-7085-98A68E4FB121}"/>
              </a:ext>
            </a:extLst>
          </p:cNvPr>
          <p:cNvCxnSpPr>
            <a:cxnSpLocks/>
          </p:cNvCxnSpPr>
          <p:nvPr/>
        </p:nvCxnSpPr>
        <p:spPr>
          <a:xfrm flipV="1">
            <a:off x="7664951" y="784096"/>
            <a:ext cx="1265817" cy="0"/>
          </a:xfrm>
          <a:prstGeom prst="straightConnector1">
            <a:avLst/>
          </a:prstGeom>
          <a:noFill/>
          <a:ln w="38100" cap="flat" cmpd="sng" algn="ctr">
            <a:solidFill>
              <a:sysClr val="windowText" lastClr="000000"/>
            </a:solidFill>
            <a:prstDash val="solid"/>
            <a:miter lim="800000"/>
            <a:headEnd type="none" w="med" len="med"/>
            <a:tailEnd type="none" w="med" len="med"/>
          </a:ln>
          <a:effectLst/>
        </p:spPr>
      </p:cxnSp>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C8D40D17-1809-4BA2-15C6-52619A8DDA9B}"/>
                  </a:ext>
                </a:extLst>
              </p:cNvPr>
              <p:cNvSpPr txBox="1"/>
              <p:nvPr/>
            </p:nvSpPr>
            <p:spPr>
              <a:xfrm>
                <a:off x="8130369" y="794906"/>
                <a:ext cx="322461" cy="276999"/>
              </a:xfrm>
              <a:prstGeom prst="rect">
                <a:avLst/>
              </a:prstGeom>
              <a:noFill/>
            </p:spPr>
            <p:txBody>
              <a:bodyPr wrap="none" lIns="0" tIns="0" rIns="0" bIns="0"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ctrlPr>
                        </m:sSubPr>
                        <m:e>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𝑤</m:t>
                          </m:r>
                        </m:e>
                        <m:sub>
                          <m: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sym typeface="Arial"/>
                            </a:rPr>
                            <m:t>3</m:t>
                          </m:r>
                        </m:sub>
                      </m:sSub>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Arial"/>
                  <a:sym typeface="Arial"/>
                </a:endParaRPr>
              </a:p>
            </p:txBody>
          </p:sp>
        </mc:Choice>
        <mc:Fallback xmlns="">
          <p:sp>
            <p:nvSpPr>
              <p:cNvPr id="58" name="文字方塊 57">
                <a:extLst>
                  <a:ext uri="{FF2B5EF4-FFF2-40B4-BE49-F238E27FC236}">
                    <a16:creationId xmlns:a16="http://schemas.microsoft.com/office/drawing/2014/main" id="{6C5E69EE-9936-4430-BB28-C289936C5306}"/>
                  </a:ext>
                </a:extLst>
              </p:cNvPr>
              <p:cNvSpPr txBox="1">
                <a:spLocks noRot="1" noChangeAspect="1" noMove="1" noResize="1" noEditPoints="1" noAdjustHandles="1" noChangeArrowheads="1" noChangeShapeType="1" noTextEdit="1"/>
              </p:cNvSpPr>
              <p:nvPr/>
            </p:nvSpPr>
            <p:spPr>
              <a:xfrm>
                <a:off x="8130369" y="794906"/>
                <a:ext cx="322461" cy="276999"/>
              </a:xfrm>
              <a:prstGeom prst="rect">
                <a:avLst/>
              </a:prstGeom>
              <a:blipFill>
                <a:blip r:embed="rId9"/>
                <a:stretch>
                  <a:fillRect l="-9434" r="-7547" b="-15217"/>
                </a:stretch>
              </a:blipFill>
            </p:spPr>
            <p:txBody>
              <a:bodyPr/>
              <a:lstStyle/>
              <a:p>
                <a:r>
                  <a:rPr lang="zh-TW" altLang="en-US">
                    <a:noFill/>
                  </a:rPr>
                  <a:t> </a:t>
                </a:r>
              </a:p>
            </p:txBody>
          </p:sp>
        </mc:Fallback>
      </mc:AlternateContent>
      <p:cxnSp>
        <p:nvCxnSpPr>
          <p:cNvPr id="59" name="直線單箭頭接點 58">
            <a:extLst>
              <a:ext uri="{FF2B5EF4-FFF2-40B4-BE49-F238E27FC236}">
                <a16:creationId xmlns:a16="http://schemas.microsoft.com/office/drawing/2014/main" id="{D1EE1F81-5F05-20CB-8D6C-3DFDAF67C9D6}"/>
              </a:ext>
            </a:extLst>
          </p:cNvPr>
          <p:cNvCxnSpPr>
            <a:cxnSpLocks/>
          </p:cNvCxnSpPr>
          <p:nvPr/>
        </p:nvCxnSpPr>
        <p:spPr>
          <a:xfrm>
            <a:off x="8457537" y="4091957"/>
            <a:ext cx="710657" cy="242464"/>
          </a:xfrm>
          <a:prstGeom prst="straightConnector1">
            <a:avLst/>
          </a:prstGeom>
          <a:noFill/>
          <a:ln w="38100" cap="flat" cmpd="sng" algn="ctr">
            <a:solidFill>
              <a:sysClr val="windowText" lastClr="000000"/>
            </a:solidFill>
            <a:prstDash val="sysDot"/>
            <a:miter lim="800000"/>
            <a:tailEnd type="triangle"/>
          </a:ln>
          <a:effectLst/>
        </p:spPr>
      </p:cxnSp>
      <p:cxnSp>
        <p:nvCxnSpPr>
          <p:cNvPr id="60" name="直線單箭頭接點 59">
            <a:extLst>
              <a:ext uri="{FF2B5EF4-FFF2-40B4-BE49-F238E27FC236}">
                <a16:creationId xmlns:a16="http://schemas.microsoft.com/office/drawing/2014/main" id="{9B37A42C-5428-7A5F-87C7-A6B17AE2682A}"/>
              </a:ext>
            </a:extLst>
          </p:cNvPr>
          <p:cNvCxnSpPr>
            <a:cxnSpLocks/>
            <a:endCxn id="19" idx="0"/>
          </p:cNvCxnSpPr>
          <p:nvPr/>
        </p:nvCxnSpPr>
        <p:spPr>
          <a:xfrm flipH="1">
            <a:off x="10914939" y="3351124"/>
            <a:ext cx="359718" cy="361361"/>
          </a:xfrm>
          <a:prstGeom prst="straightConnector1">
            <a:avLst/>
          </a:prstGeom>
          <a:noFill/>
          <a:ln w="38100" cap="flat" cmpd="sng" algn="ctr">
            <a:solidFill>
              <a:sysClr val="windowText" lastClr="000000"/>
            </a:solidFill>
            <a:prstDash val="sysDot"/>
            <a:miter lim="800000"/>
            <a:tailEnd type="triangle"/>
          </a:ln>
          <a:effectLst/>
        </p:spPr>
      </p:cxnSp>
      <p:sp>
        <p:nvSpPr>
          <p:cNvPr id="61" name="Google Shape;109;p16">
            <a:extLst>
              <a:ext uri="{FF2B5EF4-FFF2-40B4-BE49-F238E27FC236}">
                <a16:creationId xmlns:a16="http://schemas.microsoft.com/office/drawing/2014/main" id="{CA4D9356-7A2D-7C18-7DB2-A6819A98537B}"/>
              </a:ext>
            </a:extLst>
          </p:cNvPr>
          <p:cNvSpPr/>
          <p:nvPr/>
        </p:nvSpPr>
        <p:spPr>
          <a:xfrm>
            <a:off x="9527858" y="1346403"/>
            <a:ext cx="2188737" cy="785347"/>
          </a:xfrm>
          <a:prstGeom prst="roundRect">
            <a:avLst>
              <a:gd name="adj" fmla="val 16667"/>
            </a:avLst>
          </a:prstGeom>
          <a:solidFill>
            <a:schemeClr val="accent1">
              <a:lumMod val="20000"/>
              <a:lumOff val="80000"/>
            </a:schemeClr>
          </a:solidFill>
          <a:ln w="38100">
            <a:solidFill>
              <a:srgbClr val="0000FF"/>
            </a:solidFill>
          </a:ln>
        </p:spPr>
        <p:style>
          <a:lnRef idx="2">
            <a:schemeClr val="accent2">
              <a:shade val="50000"/>
            </a:schemeClr>
          </a:lnRef>
          <a:fillRef idx="1">
            <a:schemeClr val="accent2"/>
          </a:fillRef>
          <a:effectRef idx="0">
            <a:schemeClr val="accent2"/>
          </a:effectRef>
          <a:fontRef idx="minor">
            <a:schemeClr val="lt1"/>
          </a:fontRef>
        </p:style>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altLang="zh-TW" sz="2400" b="0" i="0" u="none" strike="noStrike" kern="0" cap="none" spc="0" normalizeH="0" baseline="0" noProof="0" dirty="0">
                <a:ln>
                  <a:noFill/>
                </a:ln>
                <a:solidFill>
                  <a:srgbClr val="000000"/>
                </a:solidFill>
                <a:effectLst/>
                <a:uLnTx/>
                <a:uFillTx/>
                <a:latin typeface="Calibri" panose="020F0502020204030204"/>
                <a:ea typeface="新細明體" panose="02020500000000000000" pitchFamily="18" charset="-120"/>
                <a:cs typeface="Arial"/>
                <a:sym typeface="Arial"/>
              </a:rPr>
              <a:t>Head</a:t>
            </a:r>
            <a:endParaRPr kumimoji="0" sz="2400" b="0" i="0" u="none" strike="noStrike" kern="0" cap="none" spc="0" normalizeH="0" baseline="0" noProof="0" dirty="0">
              <a:ln>
                <a:noFill/>
              </a:ln>
              <a:solidFill>
                <a:srgbClr val="000000"/>
              </a:solidFill>
              <a:effectLst/>
              <a:uLnTx/>
              <a:uFillTx/>
              <a:latin typeface="Calibri" panose="020F0502020204030204"/>
              <a:ea typeface="+mn-ea"/>
              <a:cs typeface="Arial"/>
              <a:sym typeface="Arial"/>
            </a:endParaRPr>
          </a:p>
        </p:txBody>
      </p:sp>
      <p:grpSp>
        <p:nvGrpSpPr>
          <p:cNvPr id="71" name="群組 70">
            <a:extLst>
              <a:ext uri="{FF2B5EF4-FFF2-40B4-BE49-F238E27FC236}">
                <a16:creationId xmlns:a16="http://schemas.microsoft.com/office/drawing/2014/main" id="{504C3F93-6CDF-9A90-DA1D-93FA0FA706D0}"/>
              </a:ext>
            </a:extLst>
          </p:cNvPr>
          <p:cNvGrpSpPr/>
          <p:nvPr/>
        </p:nvGrpSpPr>
        <p:grpSpPr>
          <a:xfrm>
            <a:off x="9752432" y="2766491"/>
            <a:ext cx="1775031" cy="432000"/>
            <a:chOff x="6006932" y="5665091"/>
            <a:chExt cx="1775031" cy="432000"/>
          </a:xfrm>
        </p:grpSpPr>
        <p:sp>
          <p:nvSpPr>
            <p:cNvPr id="64" name="矩形 63">
              <a:extLst>
                <a:ext uri="{FF2B5EF4-FFF2-40B4-BE49-F238E27FC236}">
                  <a16:creationId xmlns:a16="http://schemas.microsoft.com/office/drawing/2014/main" id="{D00EE47C-8838-13BD-478B-5D297048EA63}"/>
                </a:ext>
              </a:extLst>
            </p:cNvPr>
            <p:cNvSpPr/>
            <p:nvPr/>
          </p:nvSpPr>
          <p:spPr>
            <a:xfrm rot="5400000">
              <a:off x="5864136"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65" name="矩形 64">
              <a:extLst>
                <a:ext uri="{FF2B5EF4-FFF2-40B4-BE49-F238E27FC236}">
                  <a16:creationId xmlns:a16="http://schemas.microsoft.com/office/drawing/2014/main" id="{8ED9501C-98AE-8F99-69E5-1768FD0B1BE3}"/>
                </a:ext>
              </a:extLst>
            </p:cNvPr>
            <p:cNvSpPr/>
            <p:nvPr/>
          </p:nvSpPr>
          <p:spPr>
            <a:xfrm rot="5400000">
              <a:off x="6682751"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66" name="矩形 65">
              <a:extLst>
                <a:ext uri="{FF2B5EF4-FFF2-40B4-BE49-F238E27FC236}">
                  <a16:creationId xmlns:a16="http://schemas.microsoft.com/office/drawing/2014/main" id="{8C65E11C-EB27-433C-1D53-9C23FE5E4757}"/>
                </a:ext>
              </a:extLst>
            </p:cNvPr>
            <p:cNvSpPr/>
            <p:nvPr/>
          </p:nvSpPr>
          <p:spPr>
            <a:xfrm rot="5400000">
              <a:off x="7492760"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67" name="矩形 66">
              <a:extLst>
                <a:ext uri="{FF2B5EF4-FFF2-40B4-BE49-F238E27FC236}">
                  <a16:creationId xmlns:a16="http://schemas.microsoft.com/office/drawing/2014/main" id="{0ADD8157-02DF-10CE-06ED-491652343209}"/>
                </a:ext>
              </a:extLst>
            </p:cNvPr>
            <p:cNvSpPr/>
            <p:nvPr/>
          </p:nvSpPr>
          <p:spPr>
            <a:xfrm rot="5400000">
              <a:off x="6129854"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68" name="矩形 67">
              <a:extLst>
                <a:ext uri="{FF2B5EF4-FFF2-40B4-BE49-F238E27FC236}">
                  <a16:creationId xmlns:a16="http://schemas.microsoft.com/office/drawing/2014/main" id="{66C7AC44-E372-D6F6-B406-A287B8907168}"/>
                </a:ext>
              </a:extLst>
            </p:cNvPr>
            <p:cNvSpPr/>
            <p:nvPr/>
          </p:nvSpPr>
          <p:spPr>
            <a:xfrm rot="5400000">
              <a:off x="6400947"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69" name="矩形 68">
              <a:extLst>
                <a:ext uri="{FF2B5EF4-FFF2-40B4-BE49-F238E27FC236}">
                  <a16:creationId xmlns:a16="http://schemas.microsoft.com/office/drawing/2014/main" id="{AA62A828-5271-D8C7-72A8-ED099156AC8E}"/>
                </a:ext>
              </a:extLst>
            </p:cNvPr>
            <p:cNvSpPr/>
            <p:nvPr/>
          </p:nvSpPr>
          <p:spPr>
            <a:xfrm rot="5400000">
              <a:off x="6960031"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70" name="矩形 69">
              <a:extLst>
                <a:ext uri="{FF2B5EF4-FFF2-40B4-BE49-F238E27FC236}">
                  <a16:creationId xmlns:a16="http://schemas.microsoft.com/office/drawing/2014/main" id="{82368FE9-F6F0-8C85-586D-0122DC73CCD7}"/>
                </a:ext>
              </a:extLst>
            </p:cNvPr>
            <p:cNvSpPr/>
            <p:nvPr/>
          </p:nvSpPr>
          <p:spPr>
            <a:xfrm rot="5400000">
              <a:off x="7231124"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grpSp>
      <p:cxnSp>
        <p:nvCxnSpPr>
          <p:cNvPr id="73" name="直線單箭頭接點 72">
            <a:extLst>
              <a:ext uri="{FF2B5EF4-FFF2-40B4-BE49-F238E27FC236}">
                <a16:creationId xmlns:a16="http://schemas.microsoft.com/office/drawing/2014/main" id="{3EC38D92-0586-E964-2DE1-7AF16DFFA6A8}"/>
              </a:ext>
            </a:extLst>
          </p:cNvPr>
          <p:cNvCxnSpPr>
            <a:cxnSpLocks/>
          </p:cNvCxnSpPr>
          <p:nvPr/>
        </p:nvCxnSpPr>
        <p:spPr>
          <a:xfrm flipV="1">
            <a:off x="2572582" y="4777990"/>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74" name="直線單箭頭接點 73">
            <a:extLst>
              <a:ext uri="{FF2B5EF4-FFF2-40B4-BE49-F238E27FC236}">
                <a16:creationId xmlns:a16="http://schemas.microsoft.com/office/drawing/2014/main" id="{739DFFCF-75D0-0BBC-11F7-737AED4DD380}"/>
              </a:ext>
            </a:extLst>
          </p:cNvPr>
          <p:cNvCxnSpPr>
            <a:cxnSpLocks/>
          </p:cNvCxnSpPr>
          <p:nvPr/>
        </p:nvCxnSpPr>
        <p:spPr>
          <a:xfrm flipV="1">
            <a:off x="2537386" y="2460275"/>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75" name="直線單箭頭接點 74">
            <a:extLst>
              <a:ext uri="{FF2B5EF4-FFF2-40B4-BE49-F238E27FC236}">
                <a16:creationId xmlns:a16="http://schemas.microsoft.com/office/drawing/2014/main" id="{D96D9723-3591-CB0B-EB89-BA44CAC23BD2}"/>
              </a:ext>
            </a:extLst>
          </p:cNvPr>
          <p:cNvCxnSpPr>
            <a:cxnSpLocks/>
          </p:cNvCxnSpPr>
          <p:nvPr/>
        </p:nvCxnSpPr>
        <p:spPr>
          <a:xfrm flipV="1">
            <a:off x="2549417" y="3996575"/>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76" name="直線單箭頭接點 75">
            <a:extLst>
              <a:ext uri="{FF2B5EF4-FFF2-40B4-BE49-F238E27FC236}">
                <a16:creationId xmlns:a16="http://schemas.microsoft.com/office/drawing/2014/main" id="{416010CD-89E8-76D3-0D1E-F062ADEDB840}"/>
              </a:ext>
            </a:extLst>
          </p:cNvPr>
          <p:cNvCxnSpPr>
            <a:cxnSpLocks/>
          </p:cNvCxnSpPr>
          <p:nvPr/>
        </p:nvCxnSpPr>
        <p:spPr>
          <a:xfrm flipV="1">
            <a:off x="2537112" y="3268245"/>
            <a:ext cx="0" cy="263637"/>
          </a:xfrm>
          <a:prstGeom prst="straightConnector1">
            <a:avLst/>
          </a:prstGeom>
          <a:noFill/>
          <a:ln w="38100" cap="flat" cmpd="sng" algn="ctr">
            <a:solidFill>
              <a:sysClr val="windowText" lastClr="000000"/>
            </a:solidFill>
            <a:prstDash val="solid"/>
            <a:miter lim="800000"/>
            <a:tailEnd type="triangle"/>
          </a:ln>
          <a:effectLst/>
        </p:spPr>
      </p:cxnSp>
      <p:sp>
        <p:nvSpPr>
          <p:cNvPr id="79" name="Google Shape;109;p16">
            <a:extLst>
              <a:ext uri="{FF2B5EF4-FFF2-40B4-BE49-F238E27FC236}">
                <a16:creationId xmlns:a16="http://schemas.microsoft.com/office/drawing/2014/main" id="{10FFC7EC-C82C-4CCB-4E3D-D4C279D33CB7}"/>
              </a:ext>
            </a:extLst>
          </p:cNvPr>
          <p:cNvSpPr/>
          <p:nvPr/>
        </p:nvSpPr>
        <p:spPr>
          <a:xfrm>
            <a:off x="1453877" y="4322257"/>
            <a:ext cx="2221658" cy="408010"/>
          </a:xfrm>
          <a:prstGeom prst="roundRect">
            <a:avLst>
              <a:gd name="adj" fmla="val 16667"/>
            </a:avLst>
          </a:prstGeom>
          <a:solidFill>
            <a:srgbClr val="E9EDEE"/>
          </a:solidFill>
          <a:ln w="38100">
            <a:solidFill>
              <a:srgbClr val="002060"/>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Arial"/>
                <a:sym typeface="Arial"/>
              </a:rPr>
              <a:t>Layer 1</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80" name="Google Shape;109;p16">
            <a:extLst>
              <a:ext uri="{FF2B5EF4-FFF2-40B4-BE49-F238E27FC236}">
                <a16:creationId xmlns:a16="http://schemas.microsoft.com/office/drawing/2014/main" id="{671BA0B4-A459-CA21-CD5B-7115EF16AC70}"/>
              </a:ext>
            </a:extLst>
          </p:cNvPr>
          <p:cNvSpPr/>
          <p:nvPr/>
        </p:nvSpPr>
        <p:spPr>
          <a:xfrm>
            <a:off x="1488404" y="2777833"/>
            <a:ext cx="2221658" cy="408010"/>
          </a:xfrm>
          <a:prstGeom prst="roundRect">
            <a:avLst>
              <a:gd name="adj" fmla="val 16667"/>
            </a:avLst>
          </a:prstGeom>
          <a:solidFill>
            <a:srgbClr val="E9EDEE"/>
          </a:solidFill>
          <a:ln w="38100">
            <a:solidFill>
              <a:srgbClr val="002060"/>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Arial"/>
                <a:sym typeface="Arial"/>
              </a:rPr>
              <a:t>Layer 2</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81" name="直線單箭頭接點 80">
            <a:extLst>
              <a:ext uri="{FF2B5EF4-FFF2-40B4-BE49-F238E27FC236}">
                <a16:creationId xmlns:a16="http://schemas.microsoft.com/office/drawing/2014/main" id="{9E0AC386-9592-7877-CE2A-250287162BED}"/>
              </a:ext>
            </a:extLst>
          </p:cNvPr>
          <p:cNvCxnSpPr>
            <a:cxnSpLocks/>
          </p:cNvCxnSpPr>
          <p:nvPr/>
        </p:nvCxnSpPr>
        <p:spPr>
          <a:xfrm flipV="1">
            <a:off x="2529544" y="1767589"/>
            <a:ext cx="0" cy="263637"/>
          </a:xfrm>
          <a:prstGeom prst="straightConnector1">
            <a:avLst/>
          </a:prstGeom>
          <a:noFill/>
          <a:ln w="38100" cap="flat" cmpd="sng" algn="ctr">
            <a:solidFill>
              <a:sysClr val="windowText" lastClr="000000"/>
            </a:solidFill>
            <a:prstDash val="solid"/>
            <a:miter lim="800000"/>
            <a:tailEnd type="triangle"/>
          </a:ln>
          <a:effectLst/>
        </p:spPr>
      </p:cxnSp>
      <p:cxnSp>
        <p:nvCxnSpPr>
          <p:cNvPr id="82" name="直線單箭頭接點 81">
            <a:extLst>
              <a:ext uri="{FF2B5EF4-FFF2-40B4-BE49-F238E27FC236}">
                <a16:creationId xmlns:a16="http://schemas.microsoft.com/office/drawing/2014/main" id="{8F373767-211E-C00A-C1CE-F5EA5C0A661E}"/>
              </a:ext>
            </a:extLst>
          </p:cNvPr>
          <p:cNvCxnSpPr>
            <a:cxnSpLocks/>
          </p:cNvCxnSpPr>
          <p:nvPr/>
        </p:nvCxnSpPr>
        <p:spPr>
          <a:xfrm flipV="1">
            <a:off x="2524005" y="999422"/>
            <a:ext cx="0" cy="263637"/>
          </a:xfrm>
          <a:prstGeom prst="straightConnector1">
            <a:avLst/>
          </a:prstGeom>
          <a:noFill/>
          <a:ln w="38100" cap="flat" cmpd="sng" algn="ctr">
            <a:solidFill>
              <a:sysClr val="windowText" lastClr="000000"/>
            </a:solidFill>
            <a:prstDash val="solid"/>
            <a:miter lim="800000"/>
            <a:tailEnd type="triangle"/>
          </a:ln>
          <a:effectLst/>
        </p:spPr>
      </p:cxnSp>
      <p:sp>
        <p:nvSpPr>
          <p:cNvPr id="83" name="Google Shape;109;p16">
            <a:extLst>
              <a:ext uri="{FF2B5EF4-FFF2-40B4-BE49-F238E27FC236}">
                <a16:creationId xmlns:a16="http://schemas.microsoft.com/office/drawing/2014/main" id="{285A1EE9-1BC4-D2F0-CBAA-87B4462A0D1B}"/>
              </a:ext>
            </a:extLst>
          </p:cNvPr>
          <p:cNvSpPr/>
          <p:nvPr/>
        </p:nvSpPr>
        <p:spPr>
          <a:xfrm>
            <a:off x="1457961" y="1325104"/>
            <a:ext cx="2221658" cy="408010"/>
          </a:xfrm>
          <a:prstGeom prst="roundRect">
            <a:avLst>
              <a:gd name="adj" fmla="val 16667"/>
            </a:avLst>
          </a:prstGeom>
          <a:solidFill>
            <a:srgbClr val="E9EDEE"/>
          </a:solidFill>
          <a:ln w="38100">
            <a:solidFill>
              <a:srgbClr val="002060"/>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altLang="zh-TW" sz="18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Last Layer</a:t>
            </a:r>
            <a:endParaRPr kumimoji="0" sz="18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85" name="群組 84">
            <a:extLst>
              <a:ext uri="{FF2B5EF4-FFF2-40B4-BE49-F238E27FC236}">
                <a16:creationId xmlns:a16="http://schemas.microsoft.com/office/drawing/2014/main" id="{D27D7237-3512-724D-AD95-93DB38719BF9}"/>
              </a:ext>
            </a:extLst>
          </p:cNvPr>
          <p:cNvGrpSpPr/>
          <p:nvPr/>
        </p:nvGrpSpPr>
        <p:grpSpPr>
          <a:xfrm>
            <a:off x="1661136" y="3544835"/>
            <a:ext cx="1775031" cy="432000"/>
            <a:chOff x="3071440" y="1576710"/>
            <a:chExt cx="1775031" cy="432000"/>
          </a:xfrm>
          <a:solidFill>
            <a:schemeClr val="accent6">
              <a:lumMod val="75000"/>
            </a:schemeClr>
          </a:solidFill>
        </p:grpSpPr>
        <p:sp>
          <p:nvSpPr>
            <p:cNvPr id="86" name="矩形 85">
              <a:extLst>
                <a:ext uri="{FF2B5EF4-FFF2-40B4-BE49-F238E27FC236}">
                  <a16:creationId xmlns:a16="http://schemas.microsoft.com/office/drawing/2014/main" id="{1293836F-D5A8-7153-98B5-61E4A13FB268}"/>
                </a:ext>
              </a:extLst>
            </p:cNvPr>
            <p:cNvSpPr/>
            <p:nvPr/>
          </p:nvSpPr>
          <p:spPr>
            <a:xfrm rot="5400000">
              <a:off x="2928644"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87" name="矩形 86">
              <a:extLst>
                <a:ext uri="{FF2B5EF4-FFF2-40B4-BE49-F238E27FC236}">
                  <a16:creationId xmlns:a16="http://schemas.microsoft.com/office/drawing/2014/main" id="{5465831D-B7D3-9818-7F01-807B74C06D08}"/>
                </a:ext>
              </a:extLst>
            </p:cNvPr>
            <p:cNvSpPr/>
            <p:nvPr/>
          </p:nvSpPr>
          <p:spPr>
            <a:xfrm rot="5400000">
              <a:off x="3747259"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88" name="矩形 87">
              <a:extLst>
                <a:ext uri="{FF2B5EF4-FFF2-40B4-BE49-F238E27FC236}">
                  <a16:creationId xmlns:a16="http://schemas.microsoft.com/office/drawing/2014/main" id="{FCDE9BA4-D728-CDD3-896D-14974E1C477F}"/>
                </a:ext>
              </a:extLst>
            </p:cNvPr>
            <p:cNvSpPr/>
            <p:nvPr/>
          </p:nvSpPr>
          <p:spPr>
            <a:xfrm rot="5400000">
              <a:off x="4557268"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89" name="矩形 88">
              <a:extLst>
                <a:ext uri="{FF2B5EF4-FFF2-40B4-BE49-F238E27FC236}">
                  <a16:creationId xmlns:a16="http://schemas.microsoft.com/office/drawing/2014/main" id="{3273D4A7-5626-21F2-9728-44064CB4EFB0}"/>
                </a:ext>
              </a:extLst>
            </p:cNvPr>
            <p:cNvSpPr/>
            <p:nvPr/>
          </p:nvSpPr>
          <p:spPr>
            <a:xfrm rot="5400000">
              <a:off x="3194362"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90" name="矩形 89">
              <a:extLst>
                <a:ext uri="{FF2B5EF4-FFF2-40B4-BE49-F238E27FC236}">
                  <a16:creationId xmlns:a16="http://schemas.microsoft.com/office/drawing/2014/main" id="{70668207-6CB8-4453-8B9B-DE090B912A85}"/>
                </a:ext>
              </a:extLst>
            </p:cNvPr>
            <p:cNvSpPr/>
            <p:nvPr/>
          </p:nvSpPr>
          <p:spPr>
            <a:xfrm rot="5400000">
              <a:off x="3465455"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91" name="矩形 90">
              <a:extLst>
                <a:ext uri="{FF2B5EF4-FFF2-40B4-BE49-F238E27FC236}">
                  <a16:creationId xmlns:a16="http://schemas.microsoft.com/office/drawing/2014/main" id="{2F1A46F9-1821-FD0B-D84E-C6054C809183}"/>
                </a:ext>
              </a:extLst>
            </p:cNvPr>
            <p:cNvSpPr/>
            <p:nvPr/>
          </p:nvSpPr>
          <p:spPr>
            <a:xfrm rot="5400000">
              <a:off x="4024539"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92" name="矩形 91">
              <a:extLst>
                <a:ext uri="{FF2B5EF4-FFF2-40B4-BE49-F238E27FC236}">
                  <a16:creationId xmlns:a16="http://schemas.microsoft.com/office/drawing/2014/main" id="{9A8E4F63-DF8C-CB03-66CF-FCA4FBB2FFBF}"/>
                </a:ext>
              </a:extLst>
            </p:cNvPr>
            <p:cNvSpPr/>
            <p:nvPr/>
          </p:nvSpPr>
          <p:spPr>
            <a:xfrm rot="5400000">
              <a:off x="4295632" y="1719506"/>
              <a:ext cx="432000" cy="146407"/>
            </a:xfrm>
            <a:prstGeom prst="rect">
              <a:avLst/>
            </a:prstGeom>
            <a:grp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grpSp>
      <p:grpSp>
        <p:nvGrpSpPr>
          <p:cNvPr id="101" name="群組 100">
            <a:extLst>
              <a:ext uri="{FF2B5EF4-FFF2-40B4-BE49-F238E27FC236}">
                <a16:creationId xmlns:a16="http://schemas.microsoft.com/office/drawing/2014/main" id="{53DD444E-DAA0-FA98-19D8-C2FC92E85075}"/>
              </a:ext>
            </a:extLst>
          </p:cNvPr>
          <p:cNvGrpSpPr/>
          <p:nvPr/>
        </p:nvGrpSpPr>
        <p:grpSpPr>
          <a:xfrm>
            <a:off x="1636489" y="490253"/>
            <a:ext cx="1775031" cy="432000"/>
            <a:chOff x="6006932" y="5665091"/>
            <a:chExt cx="1775031" cy="432000"/>
          </a:xfrm>
        </p:grpSpPr>
        <p:sp>
          <p:nvSpPr>
            <p:cNvPr id="102" name="矩形 101">
              <a:extLst>
                <a:ext uri="{FF2B5EF4-FFF2-40B4-BE49-F238E27FC236}">
                  <a16:creationId xmlns:a16="http://schemas.microsoft.com/office/drawing/2014/main" id="{298A0731-BCF5-7AC8-07F5-87B4EEB4B3FE}"/>
                </a:ext>
              </a:extLst>
            </p:cNvPr>
            <p:cNvSpPr/>
            <p:nvPr/>
          </p:nvSpPr>
          <p:spPr>
            <a:xfrm rot="5400000">
              <a:off x="5864136"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3" name="矩形 102">
              <a:extLst>
                <a:ext uri="{FF2B5EF4-FFF2-40B4-BE49-F238E27FC236}">
                  <a16:creationId xmlns:a16="http://schemas.microsoft.com/office/drawing/2014/main" id="{812C469A-E8E3-9769-EFAA-58A1B4E61946}"/>
                </a:ext>
              </a:extLst>
            </p:cNvPr>
            <p:cNvSpPr/>
            <p:nvPr/>
          </p:nvSpPr>
          <p:spPr>
            <a:xfrm rot="5400000">
              <a:off x="6682751"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4" name="矩形 103">
              <a:extLst>
                <a:ext uri="{FF2B5EF4-FFF2-40B4-BE49-F238E27FC236}">
                  <a16:creationId xmlns:a16="http://schemas.microsoft.com/office/drawing/2014/main" id="{D6691F71-94F4-9E45-970E-4540F1CA785C}"/>
                </a:ext>
              </a:extLst>
            </p:cNvPr>
            <p:cNvSpPr/>
            <p:nvPr/>
          </p:nvSpPr>
          <p:spPr>
            <a:xfrm rot="5400000">
              <a:off x="7492760"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5" name="矩形 104">
              <a:extLst>
                <a:ext uri="{FF2B5EF4-FFF2-40B4-BE49-F238E27FC236}">
                  <a16:creationId xmlns:a16="http://schemas.microsoft.com/office/drawing/2014/main" id="{1FA1C1B0-9205-016C-F1C5-FF083E13CAB9}"/>
                </a:ext>
              </a:extLst>
            </p:cNvPr>
            <p:cNvSpPr/>
            <p:nvPr/>
          </p:nvSpPr>
          <p:spPr>
            <a:xfrm rot="5400000">
              <a:off x="6129854"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6" name="矩形 105">
              <a:extLst>
                <a:ext uri="{FF2B5EF4-FFF2-40B4-BE49-F238E27FC236}">
                  <a16:creationId xmlns:a16="http://schemas.microsoft.com/office/drawing/2014/main" id="{504D2A58-6565-7698-90A2-ACF803C76BD6}"/>
                </a:ext>
              </a:extLst>
            </p:cNvPr>
            <p:cNvSpPr/>
            <p:nvPr/>
          </p:nvSpPr>
          <p:spPr>
            <a:xfrm rot="5400000">
              <a:off x="6400947"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7" name="矩形 106">
              <a:extLst>
                <a:ext uri="{FF2B5EF4-FFF2-40B4-BE49-F238E27FC236}">
                  <a16:creationId xmlns:a16="http://schemas.microsoft.com/office/drawing/2014/main" id="{7243AB23-D110-53FB-0E3B-29EB27447E5E}"/>
                </a:ext>
              </a:extLst>
            </p:cNvPr>
            <p:cNvSpPr/>
            <p:nvPr/>
          </p:nvSpPr>
          <p:spPr>
            <a:xfrm rot="5400000">
              <a:off x="6960031"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sp>
          <p:nvSpPr>
            <p:cNvPr id="108" name="矩形 107">
              <a:extLst>
                <a:ext uri="{FF2B5EF4-FFF2-40B4-BE49-F238E27FC236}">
                  <a16:creationId xmlns:a16="http://schemas.microsoft.com/office/drawing/2014/main" id="{64137D9E-818D-BBAD-B29A-5B824613B216}"/>
                </a:ext>
              </a:extLst>
            </p:cNvPr>
            <p:cNvSpPr/>
            <p:nvPr/>
          </p:nvSpPr>
          <p:spPr>
            <a:xfrm rot="5400000">
              <a:off x="7231124" y="5807887"/>
              <a:ext cx="432000" cy="146407"/>
            </a:xfrm>
            <a:prstGeom prst="rect">
              <a:avLst/>
            </a:prstGeom>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TW" altLang="en-US" sz="135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Arial"/>
                <a:sym typeface="Arial"/>
              </a:endParaRPr>
            </a:p>
          </p:txBody>
        </p:sp>
      </p:grpSp>
      <p:sp>
        <p:nvSpPr>
          <p:cNvPr id="109" name="文字方塊 108">
            <a:extLst>
              <a:ext uri="{FF2B5EF4-FFF2-40B4-BE49-F238E27FC236}">
                <a16:creationId xmlns:a16="http://schemas.microsoft.com/office/drawing/2014/main" id="{D6BB4611-63F2-AC48-F56D-C6BF0EC85246}"/>
              </a:ext>
            </a:extLst>
          </p:cNvPr>
          <p:cNvSpPr txBox="1"/>
          <p:nvPr/>
        </p:nvSpPr>
        <p:spPr>
          <a:xfrm rot="5400000">
            <a:off x="2181961" y="2235708"/>
            <a:ext cx="861635"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0" name="文字方塊 109">
            <a:extLst>
              <a:ext uri="{FF2B5EF4-FFF2-40B4-BE49-F238E27FC236}">
                <a16:creationId xmlns:a16="http://schemas.microsoft.com/office/drawing/2014/main" id="{3F817D5D-52C8-5BFC-3941-9B85D3D1742E}"/>
              </a:ext>
            </a:extLst>
          </p:cNvPr>
          <p:cNvSpPr txBox="1"/>
          <p:nvPr/>
        </p:nvSpPr>
        <p:spPr>
          <a:xfrm>
            <a:off x="1171110" y="5734981"/>
            <a:ext cx="3153240"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Does n</a:t>
            </a: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ot</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always lead to decent  performance.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1" name="文字方塊 110">
            <a:extLst>
              <a:ext uri="{FF2B5EF4-FFF2-40B4-BE49-F238E27FC236}">
                <a16:creationId xmlns:a16="http://schemas.microsoft.com/office/drawing/2014/main" id="{F8F895BE-7EA4-71DE-C868-DD83CD0E867E}"/>
              </a:ext>
            </a:extLst>
          </p:cNvPr>
          <p:cNvSpPr txBox="1"/>
          <p:nvPr/>
        </p:nvSpPr>
        <p:spPr>
          <a:xfrm>
            <a:off x="5595159" y="5873371"/>
            <a:ext cx="6023032"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“Weighted-sum” is very effective!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 name="Google Shape;1430;p118">
            <a:extLst>
              <a:ext uri="{FF2B5EF4-FFF2-40B4-BE49-F238E27FC236}">
                <a16:creationId xmlns:a16="http://schemas.microsoft.com/office/drawing/2014/main" id="{059FCD16-3A05-018E-9154-95FFD2BF2D67}"/>
              </a:ext>
            </a:extLst>
          </p:cNvPr>
          <p:cNvSpPr/>
          <p:nvPr/>
        </p:nvSpPr>
        <p:spPr>
          <a:xfrm>
            <a:off x="1488404" y="447116"/>
            <a:ext cx="2106569" cy="579600"/>
          </a:xfrm>
          <a:prstGeom prst="roundRect">
            <a:avLst>
              <a:gd name="adj" fmla="val 16667"/>
            </a:avLst>
          </a:prstGeom>
          <a:solidFill>
            <a:srgbClr val="000000">
              <a:alpha val="0"/>
            </a:srgbClr>
          </a:solidFill>
          <a:ln w="38100" cap="flat" cmpd="sng">
            <a:solidFill>
              <a:srgbClr val="FF0000"/>
            </a:solidFill>
            <a:prstDash val="dot"/>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 name="Google Shape;1430;p118">
            <a:extLst>
              <a:ext uri="{FF2B5EF4-FFF2-40B4-BE49-F238E27FC236}">
                <a16:creationId xmlns:a16="http://schemas.microsoft.com/office/drawing/2014/main" id="{D34FD788-772E-A746-F428-BE07D1BF44E8}"/>
              </a:ext>
            </a:extLst>
          </p:cNvPr>
          <p:cNvSpPr/>
          <p:nvPr/>
        </p:nvSpPr>
        <p:spPr>
          <a:xfrm>
            <a:off x="9654615" y="2704686"/>
            <a:ext cx="2061980" cy="579600"/>
          </a:xfrm>
          <a:prstGeom prst="roundRect">
            <a:avLst>
              <a:gd name="adj" fmla="val 16667"/>
            </a:avLst>
          </a:prstGeom>
          <a:solidFill>
            <a:srgbClr val="000000">
              <a:alpha val="0"/>
            </a:srgbClr>
          </a:solidFill>
          <a:ln w="38100" cap="flat" cmpd="sng">
            <a:solidFill>
              <a:srgbClr val="FF0000"/>
            </a:solidFill>
            <a:prstDash val="dot"/>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46748579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7" grpId="0"/>
      <p:bldP spid="28" grpId="0"/>
      <p:bldP spid="29" grpId="0"/>
      <p:bldP spid="31" grpId="0" animBg="1"/>
      <p:bldP spid="32" grpId="0" animBg="1"/>
      <p:bldP spid="35" grpId="0" animBg="1"/>
      <p:bldP spid="36" grpId="0"/>
      <p:bldP spid="58" grpId="0"/>
      <p:bldP spid="61" grpId="0" animBg="1"/>
      <p:bldP spid="111" grpId="0"/>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39753-36D3-1050-DE29-E7E63DFF366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D86EBF9-8CBD-9F90-1C1B-9B4981695679}"/>
              </a:ext>
            </a:extLst>
          </p:cNvPr>
          <p:cNvSpPr>
            <a:spLocks noGrp="1"/>
          </p:cNvSpPr>
          <p:nvPr>
            <p:ph type="title"/>
          </p:nvPr>
        </p:nvSpPr>
        <p:spPr/>
        <p:txBody>
          <a:bodyPr/>
          <a:lstStyle/>
          <a:p>
            <a:endParaRPr lang="zh-TW" altLang="en-US"/>
          </a:p>
        </p:txBody>
      </p:sp>
      <p:pic>
        <p:nvPicPr>
          <p:cNvPr id="5" name="內容版面配置區 4" descr="一張含有 文字, 螢幕擷取畫面, 樣式, 針線 的圖片&#10;&#10;自動產生的描述">
            <a:extLst>
              <a:ext uri="{FF2B5EF4-FFF2-40B4-BE49-F238E27FC236}">
                <a16:creationId xmlns:a16="http://schemas.microsoft.com/office/drawing/2014/main" id="{6D0750BC-DA6F-4B3B-97F4-FB8C9B812FB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13663720"/>
          </a:xfrm>
        </p:spPr>
      </p:pic>
      <p:grpSp>
        <p:nvGrpSpPr>
          <p:cNvPr id="6" name="群組 5">
            <a:extLst>
              <a:ext uri="{FF2B5EF4-FFF2-40B4-BE49-F238E27FC236}">
                <a16:creationId xmlns:a16="http://schemas.microsoft.com/office/drawing/2014/main" id="{267DBDFE-B3AF-24AE-B07B-7E7A1E3B76BB}"/>
              </a:ext>
            </a:extLst>
          </p:cNvPr>
          <p:cNvGrpSpPr/>
          <p:nvPr/>
        </p:nvGrpSpPr>
        <p:grpSpPr>
          <a:xfrm>
            <a:off x="5715001" y="5523856"/>
            <a:ext cx="5906480" cy="830997"/>
            <a:chOff x="2892491" y="4595404"/>
            <a:chExt cx="5906480" cy="830997"/>
          </a:xfrm>
          <a:solidFill>
            <a:schemeClr val="bg1"/>
          </a:solidFill>
        </p:grpSpPr>
        <p:sp>
          <p:nvSpPr>
            <p:cNvPr id="7" name="語音泡泡: 圓角矩形 6">
              <a:extLst>
                <a:ext uri="{FF2B5EF4-FFF2-40B4-BE49-F238E27FC236}">
                  <a16:creationId xmlns:a16="http://schemas.microsoft.com/office/drawing/2014/main" id="{6828707F-74E9-2A4E-CCF1-DCEE2EC213DA}"/>
                </a:ext>
              </a:extLst>
            </p:cNvPr>
            <p:cNvSpPr/>
            <p:nvPr/>
          </p:nvSpPr>
          <p:spPr>
            <a:xfrm>
              <a:off x="2892491" y="4595404"/>
              <a:ext cx="5906480" cy="830997"/>
            </a:xfrm>
            <a:prstGeom prst="wedgeRoundRectCallout">
              <a:avLst>
                <a:gd name="adj1" fmla="val 63586"/>
                <a:gd name="adj2" fmla="val -45898"/>
                <a:gd name="adj3" fmla="val 16667"/>
              </a:avLst>
            </a:prstGeom>
            <a:grpFill/>
            <a:ln w="38100">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文字方塊 7">
              <a:extLst>
                <a:ext uri="{FF2B5EF4-FFF2-40B4-BE49-F238E27FC236}">
                  <a16:creationId xmlns:a16="http://schemas.microsoft.com/office/drawing/2014/main" id="{C64425E0-A26C-AF9B-4784-C85387DA3FD5}"/>
                </a:ext>
              </a:extLst>
            </p:cNvPr>
            <p:cNvSpPr txBox="1"/>
            <p:nvPr/>
          </p:nvSpPr>
          <p:spPr>
            <a:xfrm>
              <a:off x="3044891" y="4748150"/>
              <a:ext cx="5558832" cy="523220"/>
            </a:xfrm>
            <a:prstGeom prst="rect">
              <a:avLst/>
            </a:prstGeom>
            <a:grp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SSL models can be universal!</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9" name="文字方塊 8">
            <a:extLst>
              <a:ext uri="{FF2B5EF4-FFF2-40B4-BE49-F238E27FC236}">
                <a16:creationId xmlns:a16="http://schemas.microsoft.com/office/drawing/2014/main" id="{046E1033-3F26-B4ED-E757-6528088F7465}"/>
              </a:ext>
            </a:extLst>
          </p:cNvPr>
          <p:cNvSpPr txBox="1"/>
          <p:nvPr/>
        </p:nvSpPr>
        <p:spPr>
          <a:xfrm>
            <a:off x="200068" y="6286500"/>
            <a:ext cx="3718369"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Table credit: Shu-wen Yang</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941805E1-BB24-47D8-CC9C-33F0976CEAEA}"/>
              </a:ext>
            </a:extLst>
          </p:cNvPr>
          <p:cNvSpPr/>
          <p:nvPr/>
        </p:nvSpPr>
        <p:spPr>
          <a:xfrm>
            <a:off x="5867401" y="1027906"/>
            <a:ext cx="5105399" cy="1810544"/>
          </a:xfrm>
          <a:prstGeom prst="roundRect">
            <a:avLst/>
          </a:prstGeom>
          <a:solidFill>
            <a:schemeClr val="bg1"/>
          </a:solidFill>
          <a:ln w="38100">
            <a:solidFill>
              <a:srgbClr val="0000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Row - SSL model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Column – Task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Value – The darker, the better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3722557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 -0.02453 L 0 -0.99606 " pathEditMode="relative" rAng="0" ptsTypes="AA">
                                      <p:cBhvr>
                                        <p:cTn id="14" dur="4000" fill="hold"/>
                                        <p:tgtEl>
                                          <p:spTgt spid="5"/>
                                        </p:tgtEl>
                                        <p:attrNameLst>
                                          <p:attrName>ppt_x</p:attrName>
                                          <p:attrName>ppt_y</p:attrName>
                                        </p:attrNameLst>
                                      </p:cBhvr>
                                      <p:rCtr x="0" y="-48588"/>
                                    </p:animMotion>
                                  </p:childTnLst>
                                </p:cTn>
                              </p:par>
                            </p:childTnLst>
                          </p:cTn>
                        </p:par>
                        <p:par>
                          <p:cTn id="15" fill="hold">
                            <p:stCondLst>
                              <p:cond delay="40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1"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3635AA-27A5-4F25-828E-547CE96F139D}"/>
              </a:ext>
            </a:extLst>
          </p:cNvPr>
          <p:cNvSpPr>
            <a:spLocks noGrp="1"/>
          </p:cNvSpPr>
          <p:nvPr>
            <p:ph type="title"/>
          </p:nvPr>
        </p:nvSpPr>
        <p:spPr/>
        <p:txBody>
          <a:bodyPr/>
          <a:lstStyle/>
          <a:p>
            <a:endParaRPr lang="zh-TW" altLang="en-US"/>
          </a:p>
        </p:txBody>
      </p:sp>
      <p:pic>
        <p:nvPicPr>
          <p:cNvPr id="5" name="內容版面配置區 4" descr="一張含有 文字, 螢幕擷取畫面, 設計 的圖片&#10;&#10;AI 產生的內容可能不正確。">
            <a:extLst>
              <a:ext uri="{FF2B5EF4-FFF2-40B4-BE49-F238E27FC236}">
                <a16:creationId xmlns:a16="http://schemas.microsoft.com/office/drawing/2014/main" id="{F4BD5B62-A803-2135-D48D-441A56CD15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4435" y="182405"/>
            <a:ext cx="8657587" cy="6493190"/>
          </a:xfrm>
        </p:spPr>
      </p:pic>
      <p:sp>
        <p:nvSpPr>
          <p:cNvPr id="6" name="矩形: 圓角 5">
            <a:extLst>
              <a:ext uri="{FF2B5EF4-FFF2-40B4-BE49-F238E27FC236}">
                <a16:creationId xmlns:a16="http://schemas.microsoft.com/office/drawing/2014/main" id="{7B112BEB-3896-F1E4-93AF-18D4A4766594}"/>
              </a:ext>
            </a:extLst>
          </p:cNvPr>
          <p:cNvSpPr/>
          <p:nvPr/>
        </p:nvSpPr>
        <p:spPr>
          <a:xfrm rot="21439964">
            <a:off x="987437" y="2856396"/>
            <a:ext cx="3875331" cy="36579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ptos" panose="02110004020202020204"/>
              <a:ea typeface="新細明體" panose="02020500000000000000" pitchFamily="18" charset="-120"/>
              <a:cs typeface="+mn-cs"/>
            </a:endParaRPr>
          </a:p>
        </p:txBody>
      </p:sp>
      <p:sp>
        <p:nvSpPr>
          <p:cNvPr id="8" name="文字方塊 7">
            <a:extLst>
              <a:ext uri="{FF2B5EF4-FFF2-40B4-BE49-F238E27FC236}">
                <a16:creationId xmlns:a16="http://schemas.microsoft.com/office/drawing/2014/main" id="{BCF6F81E-DC15-BB87-B8AE-65DB223E973E}"/>
              </a:ext>
            </a:extLst>
          </p:cNvPr>
          <p:cNvSpPr txBox="1"/>
          <p:nvPr/>
        </p:nvSpPr>
        <p:spPr>
          <a:xfrm>
            <a:off x="5723627" y="4749166"/>
            <a:ext cx="6098874"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INTERSPEECH is one of the top three internationally recognized conferences in the field of speech processing.</a:t>
            </a:r>
            <a:endParaRPr kumimoji="0" lang="zh-TW" altLang="en-US" sz="24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1688276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2569A9A4-5A07-8CEA-EE7A-E99B2635B8DE}"/>
              </a:ext>
            </a:extLst>
          </p:cNvPr>
          <p:cNvPicPr>
            <a:picLocks noChangeAspect="1"/>
          </p:cNvPicPr>
          <p:nvPr/>
        </p:nvPicPr>
        <p:blipFill>
          <a:blip r:embed="rId2"/>
          <a:stretch>
            <a:fillRect/>
          </a:stretch>
        </p:blipFill>
        <p:spPr>
          <a:xfrm>
            <a:off x="2072185" y="239596"/>
            <a:ext cx="10051085" cy="2818479"/>
          </a:xfrm>
          <a:prstGeom prst="rect">
            <a:avLst/>
          </a:prstGeom>
        </p:spPr>
      </p:pic>
      <p:cxnSp>
        <p:nvCxnSpPr>
          <p:cNvPr id="19" name="直線接點 18">
            <a:extLst>
              <a:ext uri="{FF2B5EF4-FFF2-40B4-BE49-F238E27FC236}">
                <a16:creationId xmlns:a16="http://schemas.microsoft.com/office/drawing/2014/main" id="{2D329C9D-D208-FB26-BA6A-B7C394D251A0}"/>
              </a:ext>
            </a:extLst>
          </p:cNvPr>
          <p:cNvCxnSpPr/>
          <p:nvPr/>
        </p:nvCxnSpPr>
        <p:spPr>
          <a:xfrm>
            <a:off x="3844675" y="566057"/>
            <a:ext cx="133692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pic>
        <p:nvPicPr>
          <p:cNvPr id="5" name="圖片 4">
            <a:extLst>
              <a:ext uri="{FF2B5EF4-FFF2-40B4-BE49-F238E27FC236}">
                <a16:creationId xmlns:a16="http://schemas.microsoft.com/office/drawing/2014/main" id="{B2D5AC32-F97A-EC36-6E64-AC815648BD88}"/>
              </a:ext>
            </a:extLst>
          </p:cNvPr>
          <p:cNvPicPr>
            <a:picLocks noChangeAspect="1"/>
          </p:cNvPicPr>
          <p:nvPr/>
        </p:nvPicPr>
        <p:blipFill>
          <a:blip r:embed="rId3"/>
          <a:stretch>
            <a:fillRect/>
          </a:stretch>
        </p:blipFill>
        <p:spPr>
          <a:xfrm>
            <a:off x="516324" y="1527797"/>
            <a:ext cx="8572974" cy="1939285"/>
          </a:xfrm>
          <a:prstGeom prst="rect">
            <a:avLst/>
          </a:prstGeom>
        </p:spPr>
      </p:pic>
      <p:cxnSp>
        <p:nvCxnSpPr>
          <p:cNvPr id="22" name="直線接點 21">
            <a:extLst>
              <a:ext uri="{FF2B5EF4-FFF2-40B4-BE49-F238E27FC236}">
                <a16:creationId xmlns:a16="http://schemas.microsoft.com/office/drawing/2014/main" id="{B4D3647F-3E6F-43EC-4576-609653FB2E18}"/>
              </a:ext>
            </a:extLst>
          </p:cNvPr>
          <p:cNvCxnSpPr>
            <a:cxnSpLocks/>
          </p:cNvCxnSpPr>
          <p:nvPr/>
        </p:nvCxnSpPr>
        <p:spPr>
          <a:xfrm>
            <a:off x="870502" y="1851801"/>
            <a:ext cx="1539420"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pic>
        <p:nvPicPr>
          <p:cNvPr id="4" name="圖片 3" descr="一張含有 文字, 字型, 螢幕擷取畫面, 代數 的圖片&#10;&#10;AI 產生的內容可能不正確。">
            <a:extLst>
              <a:ext uri="{FF2B5EF4-FFF2-40B4-BE49-F238E27FC236}">
                <a16:creationId xmlns:a16="http://schemas.microsoft.com/office/drawing/2014/main" id="{05FD5DE9-1F63-6C18-8ADD-B1EF1294E8F3}"/>
              </a:ext>
            </a:extLst>
          </p:cNvPr>
          <p:cNvPicPr>
            <a:picLocks noChangeAspect="1"/>
          </p:cNvPicPr>
          <p:nvPr/>
        </p:nvPicPr>
        <p:blipFill>
          <a:blip r:embed="rId4"/>
          <a:stretch>
            <a:fillRect/>
          </a:stretch>
        </p:blipFill>
        <p:spPr>
          <a:xfrm>
            <a:off x="2501517" y="2563638"/>
            <a:ext cx="9547029" cy="1729534"/>
          </a:xfrm>
          <a:prstGeom prst="rect">
            <a:avLst/>
          </a:prstGeom>
        </p:spPr>
      </p:pic>
      <p:pic>
        <p:nvPicPr>
          <p:cNvPr id="11" name="圖片 10">
            <a:extLst>
              <a:ext uri="{FF2B5EF4-FFF2-40B4-BE49-F238E27FC236}">
                <a16:creationId xmlns:a16="http://schemas.microsoft.com/office/drawing/2014/main" id="{4225D5D1-F1BA-863F-9B3F-83D4CD58A7FD}"/>
              </a:ext>
            </a:extLst>
          </p:cNvPr>
          <p:cNvPicPr>
            <a:picLocks noChangeAspect="1"/>
          </p:cNvPicPr>
          <p:nvPr/>
        </p:nvPicPr>
        <p:blipFill>
          <a:blip r:embed="rId5"/>
          <a:stretch>
            <a:fillRect/>
          </a:stretch>
        </p:blipFill>
        <p:spPr>
          <a:xfrm>
            <a:off x="281451" y="3741503"/>
            <a:ext cx="7943763" cy="2195934"/>
          </a:xfrm>
          <a:prstGeom prst="rect">
            <a:avLst/>
          </a:prstGeom>
        </p:spPr>
      </p:pic>
      <p:pic>
        <p:nvPicPr>
          <p:cNvPr id="14" name="圖片 13">
            <a:extLst>
              <a:ext uri="{FF2B5EF4-FFF2-40B4-BE49-F238E27FC236}">
                <a16:creationId xmlns:a16="http://schemas.microsoft.com/office/drawing/2014/main" id="{F7DE3444-1248-B3A8-54CA-80FF1738C281}"/>
              </a:ext>
            </a:extLst>
          </p:cNvPr>
          <p:cNvPicPr>
            <a:picLocks noChangeAspect="1"/>
          </p:cNvPicPr>
          <p:nvPr/>
        </p:nvPicPr>
        <p:blipFill>
          <a:blip r:embed="rId6"/>
          <a:stretch>
            <a:fillRect/>
          </a:stretch>
        </p:blipFill>
        <p:spPr>
          <a:xfrm>
            <a:off x="3801133" y="4402331"/>
            <a:ext cx="8322137" cy="2014158"/>
          </a:xfrm>
          <a:prstGeom prst="rect">
            <a:avLst/>
          </a:prstGeom>
        </p:spPr>
      </p:pic>
      <p:sp>
        <p:nvSpPr>
          <p:cNvPr id="3" name="文字方塊 2">
            <a:extLst>
              <a:ext uri="{FF2B5EF4-FFF2-40B4-BE49-F238E27FC236}">
                <a16:creationId xmlns:a16="http://schemas.microsoft.com/office/drawing/2014/main" id="{8175A323-1F07-E89D-8D90-EE5C1A07BBB9}"/>
              </a:ext>
            </a:extLst>
          </p:cNvPr>
          <p:cNvSpPr txBox="1"/>
          <p:nvPr/>
        </p:nvSpPr>
        <p:spPr>
          <a:xfrm>
            <a:off x="516324" y="294381"/>
            <a:ext cx="3111722"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32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The SUPERB Universe</a:t>
            </a:r>
            <a:endParaRPr kumimoji="0" lang="en-US" altLang="zh-TW" sz="32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cxnSp>
        <p:nvCxnSpPr>
          <p:cNvPr id="25" name="直線接點 24">
            <a:extLst>
              <a:ext uri="{FF2B5EF4-FFF2-40B4-BE49-F238E27FC236}">
                <a16:creationId xmlns:a16="http://schemas.microsoft.com/office/drawing/2014/main" id="{C6784F00-4DE1-8062-9617-5F97D5A545FD}"/>
              </a:ext>
            </a:extLst>
          </p:cNvPr>
          <p:cNvCxnSpPr>
            <a:cxnSpLocks/>
          </p:cNvCxnSpPr>
          <p:nvPr/>
        </p:nvCxnSpPr>
        <p:spPr>
          <a:xfrm>
            <a:off x="3873703" y="5050972"/>
            <a:ext cx="1714297"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 name="直線接點 23">
            <a:extLst>
              <a:ext uri="{FF2B5EF4-FFF2-40B4-BE49-F238E27FC236}">
                <a16:creationId xmlns:a16="http://schemas.microsoft.com/office/drawing/2014/main" id="{D37D9FAB-A28E-63C7-7311-5AD027D7FA27}"/>
              </a:ext>
            </a:extLst>
          </p:cNvPr>
          <p:cNvCxnSpPr>
            <a:cxnSpLocks/>
          </p:cNvCxnSpPr>
          <p:nvPr/>
        </p:nvCxnSpPr>
        <p:spPr>
          <a:xfrm>
            <a:off x="356287" y="4114800"/>
            <a:ext cx="1539420"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 name="直線接點 5">
            <a:extLst>
              <a:ext uri="{FF2B5EF4-FFF2-40B4-BE49-F238E27FC236}">
                <a16:creationId xmlns:a16="http://schemas.microsoft.com/office/drawing/2014/main" id="{3745587A-1D12-FBFD-8CC2-1C56E50CAD82}"/>
              </a:ext>
            </a:extLst>
          </p:cNvPr>
          <p:cNvCxnSpPr>
            <a:cxnSpLocks/>
          </p:cNvCxnSpPr>
          <p:nvPr/>
        </p:nvCxnSpPr>
        <p:spPr>
          <a:xfrm>
            <a:off x="2678712" y="2883432"/>
            <a:ext cx="205213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33729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B6511-929A-847D-1411-139C1615F26A}"/>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636ECB64-495F-3A98-9D8F-0594EE0AA896}"/>
              </a:ext>
            </a:extLst>
          </p:cNvPr>
          <p:cNvSpPr>
            <a:spLocks noGrp="1"/>
          </p:cNvSpPr>
          <p:nvPr>
            <p:ph idx="1"/>
          </p:nvPr>
        </p:nvSpPr>
        <p:spPr/>
        <p:txBody>
          <a:bodyPr/>
          <a:lstStyle/>
          <a:p>
            <a:endParaRPr lang="zh-TW" altLang="en-US" dirty="0"/>
          </a:p>
        </p:txBody>
      </p:sp>
      <p:sp>
        <p:nvSpPr>
          <p:cNvPr id="5" name="文字方塊 4">
            <a:extLst>
              <a:ext uri="{FF2B5EF4-FFF2-40B4-BE49-F238E27FC236}">
                <a16:creationId xmlns:a16="http://schemas.microsoft.com/office/drawing/2014/main" id="{163449EE-69EB-5D56-A159-9919A17F5DCB}"/>
              </a:ext>
            </a:extLst>
          </p:cNvPr>
          <p:cNvSpPr txBox="1"/>
          <p:nvPr/>
        </p:nvSpPr>
        <p:spPr>
          <a:xfrm rot="16200000">
            <a:off x="2479438" y="3614593"/>
            <a:ext cx="257929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PER</a:t>
            </a:r>
            <a:r>
              <a:rPr kumimoji="0" lang="zh-TW" altLang="en-US"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 </a:t>
            </a:r>
            <a:r>
              <a:rPr kumimoji="0" lang="en-US" altLang="zh-TW"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on TIMIT</a:t>
            </a:r>
            <a:endParaRPr kumimoji="0" lang="zh-TW" altLang="en-US"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endParaRPr>
          </a:p>
        </p:txBody>
      </p:sp>
      <p:grpSp>
        <p:nvGrpSpPr>
          <p:cNvPr id="15" name="群組 14">
            <a:extLst>
              <a:ext uri="{FF2B5EF4-FFF2-40B4-BE49-F238E27FC236}">
                <a16:creationId xmlns:a16="http://schemas.microsoft.com/office/drawing/2014/main" id="{CA778F73-F1F6-2811-7F15-47C96779F765}"/>
              </a:ext>
            </a:extLst>
          </p:cNvPr>
          <p:cNvGrpSpPr/>
          <p:nvPr/>
        </p:nvGrpSpPr>
        <p:grpSpPr>
          <a:xfrm>
            <a:off x="4133269" y="1285808"/>
            <a:ext cx="8710261" cy="5572192"/>
            <a:chOff x="4133268" y="1178169"/>
            <a:chExt cx="8710261" cy="5572192"/>
          </a:xfrm>
        </p:grpSpPr>
        <p:grpSp>
          <p:nvGrpSpPr>
            <p:cNvPr id="14" name="群組 13">
              <a:extLst>
                <a:ext uri="{FF2B5EF4-FFF2-40B4-BE49-F238E27FC236}">
                  <a16:creationId xmlns:a16="http://schemas.microsoft.com/office/drawing/2014/main" id="{4C6F1D4C-8477-141E-6FF4-125C2A5E8E49}"/>
                </a:ext>
              </a:extLst>
            </p:cNvPr>
            <p:cNvGrpSpPr/>
            <p:nvPr/>
          </p:nvGrpSpPr>
          <p:grpSpPr>
            <a:xfrm>
              <a:off x="4133268" y="1178169"/>
              <a:ext cx="8710261" cy="5572192"/>
              <a:chOff x="4133268" y="1178169"/>
              <a:chExt cx="8710261" cy="5572192"/>
            </a:xfrm>
          </p:grpSpPr>
          <p:pic>
            <p:nvPicPr>
              <p:cNvPr id="4" name="圖片 3">
                <a:extLst>
                  <a:ext uri="{FF2B5EF4-FFF2-40B4-BE49-F238E27FC236}">
                    <a16:creationId xmlns:a16="http://schemas.microsoft.com/office/drawing/2014/main" id="{F3A534B0-0262-87C1-BEDC-54655592E625}"/>
                  </a:ext>
                </a:extLst>
              </p:cNvPr>
              <p:cNvPicPr>
                <a:picLocks noChangeAspect="1"/>
              </p:cNvPicPr>
              <p:nvPr/>
            </p:nvPicPr>
            <p:blipFill>
              <a:blip r:embed="rId3"/>
              <a:stretch>
                <a:fillRect/>
              </a:stretch>
            </p:blipFill>
            <p:spPr>
              <a:xfrm>
                <a:off x="4133268" y="1178169"/>
                <a:ext cx="8710261" cy="5125868"/>
              </a:xfrm>
              <a:prstGeom prst="rect">
                <a:avLst/>
              </a:prstGeom>
            </p:spPr>
          </p:pic>
          <p:sp>
            <p:nvSpPr>
              <p:cNvPr id="6" name="矩形 5">
                <a:extLst>
                  <a:ext uri="{FF2B5EF4-FFF2-40B4-BE49-F238E27FC236}">
                    <a16:creationId xmlns:a16="http://schemas.microsoft.com/office/drawing/2014/main" id="{F5D27253-8278-9E9E-7D71-218C2267F7BE}"/>
                  </a:ext>
                </a:extLst>
              </p:cNvPr>
              <p:cNvSpPr/>
              <p:nvPr/>
            </p:nvSpPr>
            <p:spPr>
              <a:xfrm>
                <a:off x="4380920" y="5729697"/>
                <a:ext cx="7811080" cy="1020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7" name="矩形 6">
              <a:extLst>
                <a:ext uri="{FF2B5EF4-FFF2-40B4-BE49-F238E27FC236}">
                  <a16:creationId xmlns:a16="http://schemas.microsoft.com/office/drawing/2014/main" id="{0CC6AA81-3632-000E-8E87-AB647C9ACF4A}"/>
                </a:ext>
              </a:extLst>
            </p:cNvPr>
            <p:cNvSpPr/>
            <p:nvPr/>
          </p:nvSpPr>
          <p:spPr>
            <a:xfrm>
              <a:off x="11521232" y="1178169"/>
              <a:ext cx="1322297" cy="556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8" name="矩形 7">
            <a:extLst>
              <a:ext uri="{FF2B5EF4-FFF2-40B4-BE49-F238E27FC236}">
                <a16:creationId xmlns:a16="http://schemas.microsoft.com/office/drawing/2014/main" id="{1D9C658B-E96A-9113-9FD9-FDD1DF7C907C}"/>
              </a:ext>
            </a:extLst>
          </p:cNvPr>
          <p:cNvSpPr/>
          <p:nvPr/>
        </p:nvSpPr>
        <p:spPr>
          <a:xfrm>
            <a:off x="8220925" y="1915624"/>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zh-TW" altLang="en-US" sz="14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sym typeface="Arial"/>
            </a:endParaRPr>
          </a:p>
        </p:txBody>
      </p:sp>
      <p:sp>
        <p:nvSpPr>
          <p:cNvPr id="10" name="矩形 9">
            <a:extLst>
              <a:ext uri="{FF2B5EF4-FFF2-40B4-BE49-F238E27FC236}">
                <a16:creationId xmlns:a16="http://schemas.microsoft.com/office/drawing/2014/main" id="{BD9941FB-9DAA-51F7-80C9-F1322C053C47}"/>
              </a:ext>
            </a:extLst>
          </p:cNvPr>
          <p:cNvSpPr/>
          <p:nvPr/>
        </p:nvSpPr>
        <p:spPr>
          <a:xfrm>
            <a:off x="8220925" y="2436872"/>
            <a:ext cx="360000" cy="36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zh-TW" altLang="en-US" sz="14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sym typeface="Arial"/>
            </a:endParaRPr>
          </a:p>
        </p:txBody>
      </p:sp>
      <p:sp>
        <p:nvSpPr>
          <p:cNvPr id="12" name="文字方塊 11">
            <a:extLst>
              <a:ext uri="{FF2B5EF4-FFF2-40B4-BE49-F238E27FC236}">
                <a16:creationId xmlns:a16="http://schemas.microsoft.com/office/drawing/2014/main" id="{0CAECF38-D58E-BCF5-4480-4D98A73950CE}"/>
              </a:ext>
            </a:extLst>
          </p:cNvPr>
          <p:cNvSpPr txBox="1"/>
          <p:nvPr/>
        </p:nvSpPr>
        <p:spPr>
          <a:xfrm>
            <a:off x="8580925" y="1864791"/>
            <a:ext cx="34193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Unsupervised learning</a:t>
            </a:r>
            <a:endParaRPr kumimoji="0" lang="zh-TW" altLang="en-US"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endParaRPr>
          </a:p>
        </p:txBody>
      </p:sp>
      <p:sp>
        <p:nvSpPr>
          <p:cNvPr id="17" name="文字方塊 16">
            <a:extLst>
              <a:ext uri="{FF2B5EF4-FFF2-40B4-BE49-F238E27FC236}">
                <a16:creationId xmlns:a16="http://schemas.microsoft.com/office/drawing/2014/main" id="{7902CEC6-204A-1FA3-3FF8-E3296412EFE8}"/>
              </a:ext>
            </a:extLst>
          </p:cNvPr>
          <p:cNvSpPr txBox="1"/>
          <p:nvPr/>
        </p:nvSpPr>
        <p:spPr>
          <a:xfrm>
            <a:off x="8606921" y="2380537"/>
            <a:ext cx="449301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rPr>
              <a:t>Supervised learning </a:t>
            </a:r>
            <a:endParaRPr kumimoji="0" lang="zh-TW" altLang="en-US" sz="2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Arial"/>
              <a:sym typeface="Arial"/>
            </a:endParaRPr>
          </a:p>
        </p:txBody>
      </p:sp>
      <p:sp>
        <p:nvSpPr>
          <p:cNvPr id="18" name="文字方塊 17">
            <a:extLst>
              <a:ext uri="{FF2B5EF4-FFF2-40B4-BE49-F238E27FC236}">
                <a16:creationId xmlns:a16="http://schemas.microsoft.com/office/drawing/2014/main" id="{7B22DBB6-B5BE-301D-9D97-1A5001D672E9}"/>
              </a:ext>
            </a:extLst>
          </p:cNvPr>
          <p:cNvSpPr txBox="1"/>
          <p:nvPr/>
        </p:nvSpPr>
        <p:spPr>
          <a:xfrm>
            <a:off x="5784588" y="2538816"/>
            <a:ext cx="1872890" cy="646331"/>
          </a:xfrm>
          <a:prstGeom prst="rect">
            <a:avLst/>
          </a:prstGeom>
          <a:noFill/>
        </p:spPr>
        <p:txBody>
          <a:bodyPr wrap="square">
            <a:spAutoFit/>
          </a:bodyPr>
          <a:lstStyle/>
          <a:p>
            <a:pPr lvl="0" algn="ctr">
              <a:defRPr/>
            </a:pPr>
            <a:r>
              <a:rPr lang="en-US" altLang="zh-TW" dirty="0"/>
              <a:t>https://arxiv.org/abs/1812.09323</a:t>
            </a:r>
            <a:endParaRPr kumimoji="0" lang="zh-TW" altLang="en-US" sz="1800" b="0" i="0" u="none" strike="noStrike" kern="1200" cap="none" spc="0" normalizeH="0" baseline="0" noProof="0" dirty="0">
              <a:ln>
                <a:noFill/>
              </a:ln>
              <a:effectLst/>
              <a:uLnTx/>
              <a:uFillTx/>
              <a:latin typeface="Calibri" panose="020F0502020204030204"/>
              <a:ea typeface="新細明體" panose="02020500000000000000" pitchFamily="18" charset="-120"/>
              <a:cs typeface="+mn-cs"/>
            </a:endParaRPr>
          </a:p>
        </p:txBody>
      </p:sp>
      <p:sp>
        <p:nvSpPr>
          <p:cNvPr id="20" name="文字方塊 19">
            <a:extLst>
              <a:ext uri="{FF2B5EF4-FFF2-40B4-BE49-F238E27FC236}">
                <a16:creationId xmlns:a16="http://schemas.microsoft.com/office/drawing/2014/main" id="{728E794C-2A6C-92C4-C02D-815FFCF77606}"/>
              </a:ext>
            </a:extLst>
          </p:cNvPr>
          <p:cNvSpPr txBox="1"/>
          <p:nvPr/>
        </p:nvSpPr>
        <p:spPr>
          <a:xfrm>
            <a:off x="7043970" y="5727442"/>
            <a:ext cx="1886486" cy="646331"/>
          </a:xfrm>
          <a:prstGeom prst="rect">
            <a:avLst/>
          </a:prstGeom>
          <a:noFill/>
        </p:spPr>
        <p:txBody>
          <a:bodyPr wrap="square">
            <a:spAutoFit/>
          </a:bodyPr>
          <a:lstStyle/>
          <a:p>
            <a:r>
              <a:rPr lang="zh-TW" altLang="en-US" dirty="0"/>
              <a:t>https://arxiv.org/abs/1904.04100</a:t>
            </a:r>
          </a:p>
        </p:txBody>
      </p:sp>
      <p:sp>
        <p:nvSpPr>
          <p:cNvPr id="21" name="文字方塊 20">
            <a:extLst>
              <a:ext uri="{FF2B5EF4-FFF2-40B4-BE49-F238E27FC236}">
                <a16:creationId xmlns:a16="http://schemas.microsoft.com/office/drawing/2014/main" id="{13615857-42A9-B9FB-624D-ED8AF0A3FE27}"/>
              </a:ext>
            </a:extLst>
          </p:cNvPr>
          <p:cNvSpPr txBox="1"/>
          <p:nvPr/>
        </p:nvSpPr>
        <p:spPr>
          <a:xfrm>
            <a:off x="501273" y="5059019"/>
            <a:ext cx="3498647"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Wav2vec-U uses</a:t>
            </a:r>
            <a:r>
              <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the </a:t>
            </a: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15th layer </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instead of the </a:t>
            </a: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last layer</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文字方塊 22">
            <a:extLst>
              <a:ext uri="{FF2B5EF4-FFF2-40B4-BE49-F238E27FC236}">
                <a16:creationId xmlns:a16="http://schemas.microsoft.com/office/drawing/2014/main" id="{37A0806A-63BE-F98E-2C95-44A35237B1C9}"/>
              </a:ext>
            </a:extLst>
          </p:cNvPr>
          <p:cNvSpPr txBox="1"/>
          <p:nvPr/>
        </p:nvSpPr>
        <p:spPr>
          <a:xfrm>
            <a:off x="8400925" y="3800491"/>
            <a:ext cx="1886486"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Wav2vec-U</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文字方塊 24">
            <a:extLst>
              <a:ext uri="{FF2B5EF4-FFF2-40B4-BE49-F238E27FC236}">
                <a16:creationId xmlns:a16="http://schemas.microsoft.com/office/drawing/2014/main" id="{B7200622-ACE4-E15B-19E1-EED93372D33B}"/>
              </a:ext>
            </a:extLst>
          </p:cNvPr>
          <p:cNvSpPr txBox="1"/>
          <p:nvPr/>
        </p:nvSpPr>
        <p:spPr>
          <a:xfrm>
            <a:off x="8400925" y="4137039"/>
            <a:ext cx="1886486" cy="646331"/>
          </a:xfrm>
          <a:prstGeom prst="rect">
            <a:avLst/>
          </a:prstGeom>
          <a:noFill/>
        </p:spPr>
        <p:txBody>
          <a:bodyPr wrap="square">
            <a:spAutoFit/>
          </a:bodyPr>
          <a:lstStyle/>
          <a:p>
            <a:pPr lvl="0" algn="ctr">
              <a:defRPr/>
            </a:pPr>
            <a:r>
              <a:rPr lang="en-US" altLang="zh-TW" dirty="0">
                <a:latin typeface="-apple-system"/>
              </a:rPr>
              <a:t>https://arxiv.org/abs/2105.11084</a:t>
            </a:r>
            <a:endParaRPr kumimoji="0" lang="zh-TW" altLang="en-US" sz="1800" b="0" i="0" u="none" strike="noStrike" kern="1200" cap="none" spc="0" normalizeH="0" baseline="0" noProof="0" dirty="0">
              <a:ln>
                <a:noFill/>
              </a:ln>
              <a:effectLst/>
              <a:uLnTx/>
              <a:uFillTx/>
              <a:latin typeface="Calibri" panose="020F0502020204030204"/>
              <a:ea typeface="新細明體" panose="02020500000000000000" pitchFamily="18" charset="-120"/>
              <a:cs typeface="+mn-cs"/>
            </a:endParaRPr>
          </a:p>
        </p:txBody>
      </p:sp>
      <p:sp>
        <p:nvSpPr>
          <p:cNvPr id="27" name="文字方塊 26">
            <a:extLst>
              <a:ext uri="{FF2B5EF4-FFF2-40B4-BE49-F238E27FC236}">
                <a16:creationId xmlns:a16="http://schemas.microsoft.com/office/drawing/2014/main" id="{354096BE-736C-E48B-5C1B-7F1D1451FD15}"/>
              </a:ext>
            </a:extLst>
          </p:cNvPr>
          <p:cNvSpPr txBox="1"/>
          <p:nvPr/>
        </p:nvSpPr>
        <p:spPr>
          <a:xfrm>
            <a:off x="10136383" y="5722254"/>
            <a:ext cx="2007697" cy="646331"/>
          </a:xfrm>
          <a:prstGeom prst="rect">
            <a:avLst/>
          </a:prstGeom>
          <a:noFill/>
        </p:spPr>
        <p:txBody>
          <a:bodyPr wrap="square">
            <a:spAutoFit/>
          </a:bodyPr>
          <a:lstStyle/>
          <a:p>
            <a:pPr lvl="0">
              <a:defRPr/>
            </a:pPr>
            <a:r>
              <a:rPr lang="it-IT" altLang="zh-TW" dirty="0">
                <a:latin typeface="Lucida Grande"/>
              </a:rPr>
              <a:t>https://arxiv.org/abs/1811.07453</a:t>
            </a:r>
            <a:endParaRPr kumimoji="0" lang="zh-TW" altLang="en-US" sz="1800" b="0" i="0" u="none" strike="noStrike" kern="1200" cap="none" spc="0" normalizeH="0" baseline="0" noProof="0" dirty="0">
              <a:ln>
                <a:noFill/>
              </a:ln>
              <a:effectLst/>
              <a:uLnTx/>
              <a:uFillTx/>
              <a:latin typeface="Calibri" panose="020F0502020204030204"/>
              <a:ea typeface="新細明體" panose="02020500000000000000" pitchFamily="18" charset="-120"/>
              <a:cs typeface="+mn-cs"/>
            </a:endParaRPr>
          </a:p>
        </p:txBody>
      </p:sp>
      <p:sp>
        <p:nvSpPr>
          <p:cNvPr id="13" name="文字方塊 12">
            <a:extLst>
              <a:ext uri="{FF2B5EF4-FFF2-40B4-BE49-F238E27FC236}">
                <a16:creationId xmlns:a16="http://schemas.microsoft.com/office/drawing/2014/main" id="{6F677B04-0A32-A489-5278-E3D0B5EE31F2}"/>
              </a:ext>
            </a:extLst>
          </p:cNvPr>
          <p:cNvSpPr txBox="1"/>
          <p:nvPr/>
        </p:nvSpPr>
        <p:spPr>
          <a:xfrm>
            <a:off x="4365782" y="5722254"/>
            <a:ext cx="1872890" cy="646331"/>
          </a:xfrm>
          <a:prstGeom prst="rect">
            <a:avLst/>
          </a:prstGeom>
          <a:noFill/>
        </p:spPr>
        <p:txBody>
          <a:bodyPr wrap="square">
            <a:spAutoFit/>
          </a:bodyPr>
          <a:lstStyle/>
          <a:p>
            <a:r>
              <a:rPr lang="zh-TW" altLang="en-US" dirty="0"/>
              <a:t>https://arxiv.org/abs/1804.00316</a:t>
            </a:r>
          </a:p>
        </p:txBody>
      </p:sp>
      <p:sp>
        <p:nvSpPr>
          <p:cNvPr id="2" name="標題 1">
            <a:extLst>
              <a:ext uri="{FF2B5EF4-FFF2-40B4-BE49-F238E27FC236}">
                <a16:creationId xmlns:a16="http://schemas.microsoft.com/office/drawing/2014/main" id="{95EB123B-DF99-45B7-DFE0-CD547715F639}"/>
              </a:ext>
            </a:extLst>
          </p:cNvPr>
          <p:cNvSpPr>
            <a:spLocks noGrp="1"/>
          </p:cNvSpPr>
          <p:nvPr>
            <p:ph type="title"/>
          </p:nvPr>
        </p:nvSpPr>
        <p:spPr/>
        <p:txBody>
          <a:bodyPr/>
          <a:lstStyle/>
          <a:p>
            <a:r>
              <a:rPr lang="en-US" altLang="zh-TW" dirty="0">
                <a:solidFill>
                  <a:prstClr val="black"/>
                </a:solidFill>
                <a:latin typeface="Calibri" panose="020F0502020204030204"/>
              </a:rPr>
              <a:t>Wav2vec-U:</a:t>
            </a:r>
            <a:r>
              <a:rPr lang="zh-TW" altLang="en-US" dirty="0">
                <a:solidFill>
                  <a:prstClr val="black"/>
                </a:solidFill>
                <a:latin typeface="Calibri" panose="020F0502020204030204"/>
              </a:rPr>
              <a:t> </a:t>
            </a:r>
            <a:r>
              <a:rPr lang="en-US" altLang="zh-TW" dirty="0">
                <a:solidFill>
                  <a:prstClr val="black"/>
                </a:solidFill>
                <a:latin typeface="Calibri" panose="020F0502020204030204"/>
              </a:rPr>
              <a:t>Unsupervised ASR with Wev2vec</a:t>
            </a:r>
            <a:endParaRPr lang="zh-TW" altLang="en-US" dirty="0"/>
          </a:p>
        </p:txBody>
      </p:sp>
    </p:spTree>
    <p:extLst>
      <p:ext uri="{BB962C8B-B14F-4D97-AF65-F5344CB8AC3E}">
        <p14:creationId xmlns:p14="http://schemas.microsoft.com/office/powerpoint/2010/main" val="41632833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P spid="21" grpId="0"/>
      <p:bldP spid="23" grpId="0"/>
      <p:bldP spid="2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5C5DC3-BD4D-0F44-3CFE-200864E4B2AE}"/>
              </a:ext>
            </a:extLst>
          </p:cNvPr>
          <p:cNvSpPr>
            <a:spLocks noGrp="1"/>
          </p:cNvSpPr>
          <p:nvPr>
            <p:ph type="title"/>
          </p:nvPr>
        </p:nvSpPr>
        <p:spPr/>
        <p:txBody>
          <a:bodyPr/>
          <a:lstStyle/>
          <a:p>
            <a:r>
              <a:rPr lang="en-US" altLang="zh-TW" dirty="0"/>
              <a:t>REBORN</a:t>
            </a:r>
            <a:endParaRPr lang="zh-TW" altLang="en-US" dirty="0"/>
          </a:p>
        </p:txBody>
      </p:sp>
      <p:sp>
        <p:nvSpPr>
          <p:cNvPr id="3" name="內容版面配置區 2">
            <a:extLst>
              <a:ext uri="{FF2B5EF4-FFF2-40B4-BE49-F238E27FC236}">
                <a16:creationId xmlns:a16="http://schemas.microsoft.com/office/drawing/2014/main" id="{8E5B409D-5C07-F7CE-E2FA-C3D58D729C77}"/>
              </a:ext>
            </a:extLst>
          </p:cNvPr>
          <p:cNvSpPr>
            <a:spLocks noGrp="1"/>
          </p:cNvSpPr>
          <p:nvPr>
            <p:ph idx="1"/>
          </p:nvPr>
        </p:nvSpPr>
        <p:spPr/>
        <p:txBody>
          <a:bodyPr>
            <a:normAutofit/>
          </a:bodyPr>
          <a:lstStyle/>
          <a:p>
            <a:r>
              <a:rPr lang="en-US" altLang="zh-TW" dirty="0" err="1"/>
              <a:t>Librispeech</a:t>
            </a:r>
            <a:endParaRPr lang="en-US" altLang="zh-TW" dirty="0"/>
          </a:p>
          <a:p>
            <a:r>
              <a:rPr lang="en-US" altLang="zh-TW" dirty="0"/>
              <a:t>training data: </a:t>
            </a:r>
          </a:p>
          <a:p>
            <a:pPr lvl="1"/>
            <a:r>
              <a:rPr lang="en-US" altLang="zh-TW" sz="2800" dirty="0"/>
              <a:t>100 hours</a:t>
            </a:r>
            <a:endParaRPr lang="zh-TW" altLang="en-US" sz="2800" dirty="0"/>
          </a:p>
        </p:txBody>
      </p:sp>
      <p:sp>
        <p:nvSpPr>
          <p:cNvPr id="6" name="文字方塊 5">
            <a:extLst>
              <a:ext uri="{FF2B5EF4-FFF2-40B4-BE49-F238E27FC236}">
                <a16:creationId xmlns:a16="http://schemas.microsoft.com/office/drawing/2014/main" id="{62EA1B61-FC49-2D4C-F8A3-AE256A5CFFAC}"/>
              </a:ext>
            </a:extLst>
          </p:cNvPr>
          <p:cNvSpPr txBox="1"/>
          <p:nvPr/>
        </p:nvSpPr>
        <p:spPr>
          <a:xfrm>
            <a:off x="2949820" y="843240"/>
            <a:ext cx="3418742" cy="369332"/>
          </a:xfrm>
          <a:prstGeom prst="rect">
            <a:avLst/>
          </a:prstGeom>
          <a:noFill/>
        </p:spPr>
        <p:txBody>
          <a:bodyPr wrap="square">
            <a:spAutoFit/>
          </a:bodyPr>
          <a:lstStyle/>
          <a:p>
            <a:r>
              <a:rPr lang="zh-TW" altLang="en-US" dirty="0"/>
              <a:t>https://arxiv.org/abs/2402.03988</a:t>
            </a:r>
          </a:p>
        </p:txBody>
      </p:sp>
      <p:pic>
        <p:nvPicPr>
          <p:cNvPr id="7" name="圖片 6" descr="一張含有 文字, 螢幕擷取畫面, 圖表, Rectangle 的圖片&#10;&#10;AI 產生的內容可能不正確。">
            <a:extLst>
              <a:ext uri="{FF2B5EF4-FFF2-40B4-BE49-F238E27FC236}">
                <a16:creationId xmlns:a16="http://schemas.microsoft.com/office/drawing/2014/main" id="{E271D074-47D0-C592-7436-50F3489412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7100" y="1690687"/>
            <a:ext cx="8423058" cy="4803775"/>
          </a:xfrm>
          <a:prstGeom prst="rect">
            <a:avLst/>
          </a:prstGeom>
        </p:spPr>
      </p:pic>
    </p:spTree>
    <p:extLst>
      <p:ext uri="{BB962C8B-B14F-4D97-AF65-F5344CB8AC3E}">
        <p14:creationId xmlns:p14="http://schemas.microsoft.com/office/powerpoint/2010/main" val="622453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C836C4-6E44-6311-2E9F-AC3923B84BD9}"/>
              </a:ext>
            </a:extLst>
          </p:cNvPr>
          <p:cNvSpPr>
            <a:spLocks noGrp="1"/>
          </p:cNvSpPr>
          <p:nvPr>
            <p:ph type="title"/>
          </p:nvPr>
        </p:nvSpPr>
        <p:spPr/>
        <p:txBody>
          <a:bodyPr/>
          <a:lstStyle/>
          <a:p>
            <a:r>
              <a:rPr lang="en-US" altLang="zh-TW" dirty="0"/>
              <a:t>Listening Comprehension (Speech QA)</a:t>
            </a:r>
            <a:endParaRPr lang="zh-TW" altLang="en-US" dirty="0"/>
          </a:p>
        </p:txBody>
      </p:sp>
      <p:pic>
        <p:nvPicPr>
          <p:cNvPr id="4" name="Google Shape;106;p16">
            <a:extLst>
              <a:ext uri="{FF2B5EF4-FFF2-40B4-BE49-F238E27FC236}">
                <a16:creationId xmlns:a16="http://schemas.microsoft.com/office/drawing/2014/main" id="{8FBD18CB-6D2D-1CA6-9CE2-A2069022DB6A}"/>
              </a:ext>
            </a:extLst>
          </p:cNvPr>
          <p:cNvPicPr preferRelativeResize="0"/>
          <p:nvPr/>
        </p:nvPicPr>
        <p:blipFill>
          <a:blip r:embed="rId2">
            <a:alphaModFix/>
          </a:blip>
          <a:stretch>
            <a:fillRect/>
          </a:stretch>
        </p:blipFill>
        <p:spPr>
          <a:xfrm>
            <a:off x="3340464" y="5656672"/>
            <a:ext cx="4908137" cy="665501"/>
          </a:xfrm>
          <a:prstGeom prst="rect">
            <a:avLst/>
          </a:prstGeom>
          <a:noFill/>
          <a:ln>
            <a:noFill/>
          </a:ln>
        </p:spPr>
      </p:pic>
      <p:cxnSp>
        <p:nvCxnSpPr>
          <p:cNvPr id="5" name="直線單箭頭接點 4">
            <a:extLst>
              <a:ext uri="{FF2B5EF4-FFF2-40B4-BE49-F238E27FC236}">
                <a16:creationId xmlns:a16="http://schemas.microsoft.com/office/drawing/2014/main" id="{ABFA9486-F4BB-CC3A-E58B-264F5A626DEF}"/>
              </a:ext>
            </a:extLst>
          </p:cNvPr>
          <p:cNvCxnSpPr>
            <a:cxnSpLocks/>
          </p:cNvCxnSpPr>
          <p:nvPr/>
        </p:nvCxnSpPr>
        <p:spPr>
          <a:xfrm flipV="1">
            <a:off x="5934195" y="4944096"/>
            <a:ext cx="0" cy="642236"/>
          </a:xfrm>
          <a:prstGeom prst="straightConnector1">
            <a:avLst/>
          </a:prstGeom>
          <a:noFill/>
          <a:ln w="57150" cap="flat" cmpd="sng" algn="ctr">
            <a:solidFill>
              <a:srgbClr val="002060"/>
            </a:solidFill>
            <a:prstDash val="solid"/>
            <a:miter lim="800000"/>
            <a:tailEnd type="triangle"/>
          </a:ln>
          <a:effectLst/>
        </p:spPr>
      </p:cxnSp>
      <p:cxnSp>
        <p:nvCxnSpPr>
          <p:cNvPr id="6" name="直線單箭頭接點 5">
            <a:extLst>
              <a:ext uri="{FF2B5EF4-FFF2-40B4-BE49-F238E27FC236}">
                <a16:creationId xmlns:a16="http://schemas.microsoft.com/office/drawing/2014/main" id="{2FF3DF92-8736-8AF8-75A2-E884E0EB78E7}"/>
              </a:ext>
            </a:extLst>
          </p:cNvPr>
          <p:cNvCxnSpPr>
            <a:cxnSpLocks/>
          </p:cNvCxnSpPr>
          <p:nvPr/>
        </p:nvCxnSpPr>
        <p:spPr>
          <a:xfrm flipV="1">
            <a:off x="9541570" y="2239991"/>
            <a:ext cx="0" cy="642236"/>
          </a:xfrm>
          <a:prstGeom prst="straightConnector1">
            <a:avLst/>
          </a:prstGeom>
          <a:noFill/>
          <a:ln w="57150" cap="flat" cmpd="sng" algn="ctr">
            <a:solidFill>
              <a:srgbClr val="002060"/>
            </a:solidFill>
            <a:prstDash val="solid"/>
            <a:miter lim="800000"/>
            <a:tailEnd type="triangle"/>
          </a:ln>
          <a:effectLst/>
        </p:spPr>
      </p:cxnSp>
      <p:sp>
        <p:nvSpPr>
          <p:cNvPr id="7" name="文字方塊 6">
            <a:extLst>
              <a:ext uri="{FF2B5EF4-FFF2-40B4-BE49-F238E27FC236}">
                <a16:creationId xmlns:a16="http://schemas.microsoft.com/office/drawing/2014/main" id="{5A0CF251-3857-8678-0B6E-B7A951E503AC}"/>
              </a:ext>
            </a:extLst>
          </p:cNvPr>
          <p:cNvSpPr txBox="1"/>
          <p:nvPr/>
        </p:nvSpPr>
        <p:spPr>
          <a:xfrm>
            <a:off x="7765524" y="1690688"/>
            <a:ext cx="3552092" cy="461665"/>
          </a:xfrm>
          <a:prstGeom prst="rect">
            <a:avLst/>
          </a:prstGeom>
          <a:noFill/>
        </p:spPr>
        <p:txBody>
          <a:bodyPr wrap="square" rtlCol="0">
            <a:spAutoFit/>
          </a:bodyPr>
          <a:lstStyle/>
          <a:p>
            <a:pPr algn="ctr"/>
            <a:r>
              <a:rPr lang="en-US" altLang="zh-TW" sz="2400" dirty="0"/>
              <a:t>Answer</a:t>
            </a:r>
            <a:endParaRPr lang="zh-TW" altLang="en-US" sz="2400" dirty="0"/>
          </a:p>
        </p:txBody>
      </p:sp>
      <p:sp>
        <p:nvSpPr>
          <p:cNvPr id="8" name="Google Shape;3236;p288">
            <a:extLst>
              <a:ext uri="{FF2B5EF4-FFF2-40B4-BE49-F238E27FC236}">
                <a16:creationId xmlns:a16="http://schemas.microsoft.com/office/drawing/2014/main" id="{5308E16A-8BB4-3838-5448-B7795B26F122}"/>
              </a:ext>
            </a:extLst>
          </p:cNvPr>
          <p:cNvSpPr/>
          <p:nvPr/>
        </p:nvSpPr>
        <p:spPr>
          <a:xfrm>
            <a:off x="3340464" y="2882227"/>
            <a:ext cx="7352399" cy="1936928"/>
          </a:xfrm>
          <a:prstGeom prst="roundRect">
            <a:avLst>
              <a:gd name="adj" fmla="val 16667"/>
            </a:avLst>
          </a:prstGeom>
          <a:solidFill>
            <a:srgbClr val="FFC000">
              <a:lumMod val="20000"/>
              <a:lumOff val="80000"/>
            </a:srgbClr>
          </a:solidFill>
          <a:ln w="57150"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Speech QA</a:t>
            </a:r>
          </a:p>
        </p:txBody>
      </p:sp>
      <p:cxnSp>
        <p:nvCxnSpPr>
          <p:cNvPr id="9" name="直線單箭頭接點 8">
            <a:extLst>
              <a:ext uri="{FF2B5EF4-FFF2-40B4-BE49-F238E27FC236}">
                <a16:creationId xmlns:a16="http://schemas.microsoft.com/office/drawing/2014/main" id="{8E4A8035-5517-A064-7828-8163997863F9}"/>
              </a:ext>
            </a:extLst>
          </p:cNvPr>
          <p:cNvCxnSpPr>
            <a:cxnSpLocks/>
          </p:cNvCxnSpPr>
          <p:nvPr/>
        </p:nvCxnSpPr>
        <p:spPr>
          <a:xfrm flipV="1">
            <a:off x="9550764" y="4924378"/>
            <a:ext cx="0" cy="642236"/>
          </a:xfrm>
          <a:prstGeom prst="straightConnector1">
            <a:avLst/>
          </a:prstGeom>
          <a:noFill/>
          <a:ln w="57150" cap="flat" cmpd="sng" algn="ctr">
            <a:solidFill>
              <a:srgbClr val="002060"/>
            </a:solidFill>
            <a:prstDash val="solid"/>
            <a:miter lim="800000"/>
            <a:tailEnd type="triangle"/>
          </a:ln>
          <a:effectLst/>
        </p:spPr>
      </p:cxnSp>
      <p:sp>
        <p:nvSpPr>
          <p:cNvPr id="10" name="文字方塊 9">
            <a:extLst>
              <a:ext uri="{FF2B5EF4-FFF2-40B4-BE49-F238E27FC236}">
                <a16:creationId xmlns:a16="http://schemas.microsoft.com/office/drawing/2014/main" id="{049C6BF6-46D9-698D-2D49-82C9FB1B0B51}"/>
              </a:ext>
            </a:extLst>
          </p:cNvPr>
          <p:cNvSpPr txBox="1"/>
          <p:nvPr/>
        </p:nvSpPr>
        <p:spPr>
          <a:xfrm>
            <a:off x="7765109" y="6236429"/>
            <a:ext cx="3552092" cy="461665"/>
          </a:xfrm>
          <a:prstGeom prst="rect">
            <a:avLst/>
          </a:prstGeom>
          <a:noFill/>
        </p:spPr>
        <p:txBody>
          <a:bodyPr wrap="square" rtlCol="0">
            <a:spAutoFit/>
          </a:bodyPr>
          <a:lstStyle/>
          <a:p>
            <a:pPr algn="ctr"/>
            <a:r>
              <a:rPr lang="en-US" altLang="zh-TW" sz="2400" dirty="0"/>
              <a:t>Question</a:t>
            </a:r>
            <a:endParaRPr lang="zh-TW" altLang="en-US" sz="2400" dirty="0"/>
          </a:p>
        </p:txBody>
      </p:sp>
      <p:pic>
        <p:nvPicPr>
          <p:cNvPr id="11" name="Google Shape;106;p16">
            <a:extLst>
              <a:ext uri="{FF2B5EF4-FFF2-40B4-BE49-F238E27FC236}">
                <a16:creationId xmlns:a16="http://schemas.microsoft.com/office/drawing/2014/main" id="{7D0826B2-3848-63AD-5CA2-F1FA11735599}"/>
              </a:ext>
            </a:extLst>
          </p:cNvPr>
          <p:cNvPicPr preferRelativeResize="0"/>
          <p:nvPr/>
        </p:nvPicPr>
        <p:blipFill>
          <a:blip r:embed="rId2">
            <a:alphaModFix/>
          </a:blip>
          <a:stretch>
            <a:fillRect/>
          </a:stretch>
        </p:blipFill>
        <p:spPr>
          <a:xfrm>
            <a:off x="8312160" y="5638686"/>
            <a:ext cx="2312850" cy="665501"/>
          </a:xfrm>
          <a:prstGeom prst="rect">
            <a:avLst/>
          </a:prstGeom>
          <a:noFill/>
          <a:ln>
            <a:noFill/>
          </a:ln>
        </p:spPr>
      </p:pic>
      <p:sp>
        <p:nvSpPr>
          <p:cNvPr id="12" name="文字方塊 11">
            <a:extLst>
              <a:ext uri="{FF2B5EF4-FFF2-40B4-BE49-F238E27FC236}">
                <a16:creationId xmlns:a16="http://schemas.microsoft.com/office/drawing/2014/main" id="{31E85E58-5597-5500-9BDA-9F7781DDD51C}"/>
              </a:ext>
            </a:extLst>
          </p:cNvPr>
          <p:cNvSpPr txBox="1"/>
          <p:nvPr/>
        </p:nvSpPr>
        <p:spPr>
          <a:xfrm>
            <a:off x="4067877" y="6218499"/>
            <a:ext cx="3552092" cy="461665"/>
          </a:xfrm>
          <a:prstGeom prst="rect">
            <a:avLst/>
          </a:prstGeom>
          <a:noFill/>
        </p:spPr>
        <p:txBody>
          <a:bodyPr wrap="square" rtlCol="0">
            <a:spAutoFit/>
          </a:bodyPr>
          <a:lstStyle/>
          <a:p>
            <a:pPr algn="ctr"/>
            <a:r>
              <a:rPr lang="en-US" altLang="zh-TW" sz="2400" dirty="0"/>
              <a:t>Spoken Document</a:t>
            </a:r>
            <a:endParaRPr lang="zh-TW" altLang="en-US" sz="2400" dirty="0"/>
          </a:p>
        </p:txBody>
      </p:sp>
    </p:spTree>
    <p:extLst>
      <p:ext uri="{BB962C8B-B14F-4D97-AF65-F5344CB8AC3E}">
        <p14:creationId xmlns:p14="http://schemas.microsoft.com/office/powerpoint/2010/main" val="258822171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7F57B9-C77F-C505-448D-FA66A1BE8006}"/>
              </a:ext>
            </a:extLst>
          </p:cNvPr>
          <p:cNvSpPr>
            <a:spLocks noGrp="1"/>
          </p:cNvSpPr>
          <p:nvPr>
            <p:ph type="title"/>
          </p:nvPr>
        </p:nvSpPr>
        <p:spPr/>
        <p:txBody>
          <a:bodyPr/>
          <a:lstStyle/>
          <a:p>
            <a:r>
              <a:rPr lang="en-US" altLang="zh-TW" dirty="0"/>
              <a:t>Listening Comprehension </a:t>
            </a:r>
            <a:endParaRPr lang="zh-TW" altLang="en-US" dirty="0"/>
          </a:p>
        </p:txBody>
      </p:sp>
      <p:sp>
        <p:nvSpPr>
          <p:cNvPr id="4" name="內容版面配置區 2">
            <a:extLst>
              <a:ext uri="{FF2B5EF4-FFF2-40B4-BE49-F238E27FC236}">
                <a16:creationId xmlns:a16="http://schemas.microsoft.com/office/drawing/2014/main" id="{9AE24B0E-DF91-A5B1-36EC-597476599EF2}"/>
              </a:ext>
            </a:extLst>
          </p:cNvPr>
          <p:cNvSpPr txBox="1">
            <a:spLocks/>
          </p:cNvSpPr>
          <p:nvPr/>
        </p:nvSpPr>
        <p:spPr>
          <a:xfrm>
            <a:off x="3737034" y="1736854"/>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b="1"/>
              <a:t>TOEFL Listening Comprehension Test by Machine</a:t>
            </a:r>
          </a:p>
          <a:p>
            <a:endParaRPr lang="zh-TW" altLang="en-US" dirty="0"/>
          </a:p>
        </p:txBody>
      </p:sp>
      <p:sp>
        <p:nvSpPr>
          <p:cNvPr id="5" name="矩形 4">
            <a:extLst>
              <a:ext uri="{FF2B5EF4-FFF2-40B4-BE49-F238E27FC236}">
                <a16:creationId xmlns:a16="http://schemas.microsoft.com/office/drawing/2014/main" id="{AD501B4F-8948-568C-A8A1-A2DEC0BF6889}"/>
              </a:ext>
            </a:extLst>
          </p:cNvPr>
          <p:cNvSpPr/>
          <p:nvPr/>
        </p:nvSpPr>
        <p:spPr>
          <a:xfrm>
            <a:off x="4064000" y="3223435"/>
            <a:ext cx="8026400"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Question: “ What is a possible origin of Venus’ clouds? ”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矩形 5">
            <a:extLst>
              <a:ext uri="{FF2B5EF4-FFF2-40B4-BE49-F238E27FC236}">
                <a16:creationId xmlns:a16="http://schemas.microsoft.com/office/drawing/2014/main" id="{7D1B879D-22E8-62D1-86DA-59F0348D658D}"/>
              </a:ext>
            </a:extLst>
          </p:cNvPr>
          <p:cNvSpPr/>
          <p:nvPr/>
        </p:nvSpPr>
        <p:spPr>
          <a:xfrm>
            <a:off x="4064000" y="2700215"/>
            <a:ext cx="5503636"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Audio Story: </a:t>
            </a:r>
          </a:p>
        </p:txBody>
      </p:sp>
      <p:sp>
        <p:nvSpPr>
          <p:cNvPr id="7" name="文字方塊 6">
            <a:extLst>
              <a:ext uri="{FF2B5EF4-FFF2-40B4-BE49-F238E27FC236}">
                <a16:creationId xmlns:a16="http://schemas.microsoft.com/office/drawing/2014/main" id="{0AB89D9D-3A5A-39AE-B2B6-B68C2700F008}"/>
              </a:ext>
            </a:extLst>
          </p:cNvPr>
          <p:cNvSpPr txBox="1"/>
          <p:nvPr/>
        </p:nvSpPr>
        <p:spPr>
          <a:xfrm>
            <a:off x="4063999" y="3765575"/>
            <a:ext cx="4963885"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Choices: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文字方塊 7">
            <a:extLst>
              <a:ext uri="{FF2B5EF4-FFF2-40B4-BE49-F238E27FC236}">
                <a16:creationId xmlns:a16="http://schemas.microsoft.com/office/drawing/2014/main" id="{061B9540-7E50-681E-23BD-DFBDF89DCC3F}"/>
              </a:ext>
            </a:extLst>
          </p:cNvPr>
          <p:cNvSpPr txBox="1"/>
          <p:nvPr/>
        </p:nvSpPr>
        <p:spPr>
          <a:xfrm>
            <a:off x="4063999" y="4288795"/>
            <a:ext cx="775062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gases released as a result of volcanic activity</a:t>
            </a:r>
          </a:p>
        </p:txBody>
      </p:sp>
      <p:sp>
        <p:nvSpPr>
          <p:cNvPr id="9" name="文字方塊 8">
            <a:extLst>
              <a:ext uri="{FF2B5EF4-FFF2-40B4-BE49-F238E27FC236}">
                <a16:creationId xmlns:a16="http://schemas.microsoft.com/office/drawing/2014/main" id="{6FF06C11-2DFD-6DE6-5805-FD726ACCAA1A}"/>
              </a:ext>
            </a:extLst>
          </p:cNvPr>
          <p:cNvSpPr txBox="1"/>
          <p:nvPr/>
        </p:nvSpPr>
        <p:spPr>
          <a:xfrm>
            <a:off x="4063999" y="4795272"/>
            <a:ext cx="859656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(B)</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chemical reactions caused by high surface temperatures</a:t>
            </a:r>
          </a:p>
        </p:txBody>
      </p:sp>
      <p:sp>
        <p:nvSpPr>
          <p:cNvPr id="10" name="文字方塊 9">
            <a:extLst>
              <a:ext uri="{FF2B5EF4-FFF2-40B4-BE49-F238E27FC236}">
                <a16:creationId xmlns:a16="http://schemas.microsoft.com/office/drawing/2014/main" id="{1026F95A-1615-92E5-6533-D20E653D60D0}"/>
              </a:ext>
            </a:extLst>
          </p:cNvPr>
          <p:cNvSpPr txBox="1"/>
          <p:nvPr/>
        </p:nvSpPr>
        <p:spPr>
          <a:xfrm>
            <a:off x="4059064" y="5266933"/>
            <a:ext cx="775004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bursts of radio energy from the plane's surface</a:t>
            </a:r>
          </a:p>
        </p:txBody>
      </p:sp>
      <p:sp>
        <p:nvSpPr>
          <p:cNvPr id="11" name="文字方塊 10">
            <a:extLst>
              <a:ext uri="{FF2B5EF4-FFF2-40B4-BE49-F238E27FC236}">
                <a16:creationId xmlns:a16="http://schemas.microsoft.com/office/drawing/2014/main" id="{5A3B6709-FDBC-7BCF-BBC8-2ED79EF39C6D}"/>
              </a:ext>
            </a:extLst>
          </p:cNvPr>
          <p:cNvSpPr txBox="1"/>
          <p:nvPr/>
        </p:nvSpPr>
        <p:spPr>
          <a:xfrm>
            <a:off x="4046415" y="5758884"/>
            <a:ext cx="812800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strong winds that blow dust into the atmosphere</a:t>
            </a:r>
          </a:p>
        </p:txBody>
      </p:sp>
      <p:sp>
        <p:nvSpPr>
          <p:cNvPr id="12" name="矩形 11">
            <a:extLst>
              <a:ext uri="{FF2B5EF4-FFF2-40B4-BE49-F238E27FC236}">
                <a16:creationId xmlns:a16="http://schemas.microsoft.com/office/drawing/2014/main" id="{2C904B29-E6CF-65BE-9BD5-16ED2416B0BC}"/>
              </a:ext>
            </a:extLst>
          </p:cNvPr>
          <p:cNvSpPr/>
          <p:nvPr/>
        </p:nvSpPr>
        <p:spPr>
          <a:xfrm>
            <a:off x="6556511" y="2684446"/>
            <a:ext cx="4651555"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(The original story is 5 min long.) </a:t>
            </a:r>
            <a:endParaRPr kumimoji="0" lang="zh-TW" altLang="en-US" sz="24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pic>
        <p:nvPicPr>
          <p:cNvPr id="13" name="cut2">
            <a:hlinkClick r:id="" action="ppaction://media"/>
            <a:extLst>
              <a:ext uri="{FF2B5EF4-FFF2-40B4-BE49-F238E27FC236}">
                <a16:creationId xmlns:a16="http://schemas.microsoft.com/office/drawing/2014/main" id="{5EF350FE-9173-B6C0-171B-71056AF7F96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924824" y="2621009"/>
            <a:ext cx="609600" cy="609600"/>
          </a:xfrm>
          <a:prstGeom prst="rect">
            <a:avLst/>
          </a:prstGeom>
        </p:spPr>
      </p:pic>
      <p:sp>
        <p:nvSpPr>
          <p:cNvPr id="15" name="文字方塊 14">
            <a:extLst>
              <a:ext uri="{FF2B5EF4-FFF2-40B4-BE49-F238E27FC236}">
                <a16:creationId xmlns:a16="http://schemas.microsoft.com/office/drawing/2014/main" id="{0B55D2B7-8058-C4BB-5E17-2460F39ADC00}"/>
              </a:ext>
            </a:extLst>
          </p:cNvPr>
          <p:cNvSpPr txBox="1"/>
          <p:nvPr/>
        </p:nvSpPr>
        <p:spPr>
          <a:xfrm>
            <a:off x="446852" y="5903526"/>
            <a:ext cx="6198576" cy="369332"/>
          </a:xfrm>
          <a:prstGeom prst="rect">
            <a:avLst/>
          </a:prstGeom>
          <a:noFill/>
        </p:spPr>
        <p:txBody>
          <a:bodyPr wrap="square">
            <a:spAutoFit/>
          </a:bodyPr>
          <a:lstStyle/>
          <a:p>
            <a:r>
              <a:rPr lang="zh-TW" altLang="en-US" dirty="0"/>
              <a:t>https://arxiv.org/abs/1608.06378</a:t>
            </a:r>
          </a:p>
        </p:txBody>
      </p:sp>
      <p:sp>
        <p:nvSpPr>
          <p:cNvPr id="16" name="文字方塊 15">
            <a:extLst>
              <a:ext uri="{FF2B5EF4-FFF2-40B4-BE49-F238E27FC236}">
                <a16:creationId xmlns:a16="http://schemas.microsoft.com/office/drawing/2014/main" id="{E04B3D24-D83A-FC4C-EC91-78DAC997E6EE}"/>
              </a:ext>
            </a:extLst>
          </p:cNvPr>
          <p:cNvSpPr txBox="1"/>
          <p:nvPr/>
        </p:nvSpPr>
        <p:spPr>
          <a:xfrm>
            <a:off x="446154" y="5534194"/>
            <a:ext cx="3006970" cy="369332"/>
          </a:xfrm>
          <a:prstGeom prst="rect">
            <a:avLst/>
          </a:prstGeom>
          <a:noFill/>
        </p:spPr>
        <p:txBody>
          <a:bodyPr wrap="square" rtlCol="0">
            <a:spAutoFit/>
          </a:bodyPr>
          <a:lstStyle/>
          <a:p>
            <a:r>
              <a:rPr lang="en-US" altLang="zh-TW" dirty="0"/>
              <a:t>This work is done by</a:t>
            </a:r>
            <a:r>
              <a:rPr lang="zh-TW" altLang="en-US" dirty="0"/>
              <a:t> 曾柏翔</a:t>
            </a:r>
          </a:p>
        </p:txBody>
      </p:sp>
    </p:spTree>
    <p:extLst>
      <p:ext uri="{BB962C8B-B14F-4D97-AF65-F5344CB8AC3E}">
        <p14:creationId xmlns:p14="http://schemas.microsoft.com/office/powerpoint/2010/main" val="15259206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27" fill="hold" display="0">
                  <p:stCondLst>
                    <p:cond delay="indefinite"/>
                  </p:stCondLst>
                  <p:endCondLst>
                    <p:cond evt="onStopAudio" delay="0">
                      <p:tgtEl>
                        <p:sldTgt/>
                      </p:tgtEl>
                    </p:cond>
                  </p:endCondLst>
                </p:cTn>
                <p:tgtEl>
                  <p:spTgt spid="13"/>
                </p:tgtEl>
              </p:cMediaNode>
            </p:audio>
          </p:childTnLst>
        </p:cTn>
      </p:par>
    </p:tnLst>
    <p:bldLst>
      <p:bldP spid="5" grpId="0"/>
      <p:bldP spid="6" grpId="0"/>
      <p:bldP spid="7" grpId="0"/>
      <p:bldP spid="8" grpId="0"/>
      <p:bldP spid="9" grpId="0"/>
      <p:bldP spid="10" grpId="0"/>
      <p:bldP spid="11" grpId="0"/>
      <p:bldP spid="1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2A7AE-6A3B-ED99-D04B-A8A8666FA94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B5D960C-3C24-A056-6754-2FCDD0D0DBC0}"/>
              </a:ext>
            </a:extLst>
          </p:cNvPr>
          <p:cNvSpPr>
            <a:spLocks noGrp="1"/>
          </p:cNvSpPr>
          <p:nvPr>
            <p:ph type="title"/>
          </p:nvPr>
        </p:nvSpPr>
        <p:spPr/>
        <p:txBody>
          <a:bodyPr/>
          <a:lstStyle/>
          <a:p>
            <a:r>
              <a:rPr lang="en-US" altLang="zh-TW" dirty="0"/>
              <a:t>Listening Comprehension (Speech QA)</a:t>
            </a:r>
            <a:endParaRPr lang="zh-TW" altLang="en-US" dirty="0"/>
          </a:p>
        </p:txBody>
      </p:sp>
      <p:cxnSp>
        <p:nvCxnSpPr>
          <p:cNvPr id="5" name="直線單箭頭接點 4">
            <a:extLst>
              <a:ext uri="{FF2B5EF4-FFF2-40B4-BE49-F238E27FC236}">
                <a16:creationId xmlns:a16="http://schemas.microsoft.com/office/drawing/2014/main" id="{875DE6CE-8D38-20A4-DB1D-D665715FCC9F}"/>
              </a:ext>
            </a:extLst>
          </p:cNvPr>
          <p:cNvCxnSpPr>
            <a:cxnSpLocks/>
          </p:cNvCxnSpPr>
          <p:nvPr/>
        </p:nvCxnSpPr>
        <p:spPr>
          <a:xfrm flipV="1">
            <a:off x="5990490" y="4924378"/>
            <a:ext cx="0" cy="642236"/>
          </a:xfrm>
          <a:prstGeom prst="straightConnector1">
            <a:avLst/>
          </a:prstGeom>
          <a:noFill/>
          <a:ln w="57150" cap="flat" cmpd="sng" algn="ctr">
            <a:solidFill>
              <a:srgbClr val="002060"/>
            </a:solidFill>
            <a:prstDash val="solid"/>
            <a:miter lim="800000"/>
            <a:tailEnd type="triangle"/>
          </a:ln>
          <a:effectLst/>
        </p:spPr>
      </p:cxnSp>
      <p:cxnSp>
        <p:nvCxnSpPr>
          <p:cNvPr id="9" name="直線單箭頭接點 8">
            <a:extLst>
              <a:ext uri="{FF2B5EF4-FFF2-40B4-BE49-F238E27FC236}">
                <a16:creationId xmlns:a16="http://schemas.microsoft.com/office/drawing/2014/main" id="{E992B0F0-CBCA-F534-866E-C8E65D2855A0}"/>
              </a:ext>
            </a:extLst>
          </p:cNvPr>
          <p:cNvCxnSpPr>
            <a:cxnSpLocks/>
          </p:cNvCxnSpPr>
          <p:nvPr/>
        </p:nvCxnSpPr>
        <p:spPr>
          <a:xfrm flipV="1">
            <a:off x="9550764" y="4924378"/>
            <a:ext cx="0" cy="642236"/>
          </a:xfrm>
          <a:prstGeom prst="straightConnector1">
            <a:avLst/>
          </a:prstGeom>
          <a:noFill/>
          <a:ln w="57150" cap="flat" cmpd="sng" algn="ctr">
            <a:solidFill>
              <a:srgbClr val="002060"/>
            </a:solidFill>
            <a:prstDash val="solid"/>
            <a:miter lim="800000"/>
            <a:tailEnd type="triangle"/>
          </a:ln>
          <a:effectLst/>
        </p:spPr>
      </p:cxnSp>
      <p:sp>
        <p:nvSpPr>
          <p:cNvPr id="3" name="文字方塊 2">
            <a:extLst>
              <a:ext uri="{FF2B5EF4-FFF2-40B4-BE49-F238E27FC236}">
                <a16:creationId xmlns:a16="http://schemas.microsoft.com/office/drawing/2014/main" id="{11493A79-7889-5EE0-DA43-E35C1F4FE1DB}"/>
              </a:ext>
            </a:extLst>
          </p:cNvPr>
          <p:cNvSpPr txBox="1"/>
          <p:nvPr/>
        </p:nvSpPr>
        <p:spPr>
          <a:xfrm>
            <a:off x="4182610" y="3594308"/>
            <a:ext cx="3552092" cy="461665"/>
          </a:xfrm>
          <a:prstGeom prst="rect">
            <a:avLst/>
          </a:prstGeom>
          <a:noFill/>
        </p:spPr>
        <p:txBody>
          <a:bodyPr wrap="square" rtlCol="0">
            <a:spAutoFit/>
          </a:bodyPr>
          <a:lstStyle/>
          <a:p>
            <a:pPr algn="ctr"/>
            <a:r>
              <a:rPr lang="en-US" altLang="zh-TW" sz="2400" dirty="0"/>
              <a:t>Text document</a:t>
            </a:r>
            <a:endParaRPr lang="zh-TW" altLang="en-US" sz="2400" dirty="0"/>
          </a:p>
        </p:txBody>
      </p:sp>
      <p:sp>
        <p:nvSpPr>
          <p:cNvPr id="12" name="Google Shape;3236;p288">
            <a:extLst>
              <a:ext uri="{FF2B5EF4-FFF2-40B4-BE49-F238E27FC236}">
                <a16:creationId xmlns:a16="http://schemas.microsoft.com/office/drawing/2014/main" id="{9B054F8B-32AE-5C15-6980-67361642587F}"/>
              </a:ext>
            </a:extLst>
          </p:cNvPr>
          <p:cNvSpPr/>
          <p:nvPr/>
        </p:nvSpPr>
        <p:spPr>
          <a:xfrm>
            <a:off x="3672047" y="4395055"/>
            <a:ext cx="4576551" cy="461665"/>
          </a:xfrm>
          <a:prstGeom prst="roundRect">
            <a:avLst>
              <a:gd name="adj" fmla="val 16667"/>
            </a:avLst>
          </a:prstGeom>
          <a:ln w="57150">
            <a:solidFill>
              <a:schemeClr val="tx1"/>
            </a:solidFill>
            <a:headEnd type="none" w="sm" len="sm"/>
            <a:tailEnd type="none" w="sm" len="sm"/>
          </a:ln>
        </p:spPr>
        <p:style>
          <a:lnRef idx="1">
            <a:schemeClr val="accent5"/>
          </a:lnRef>
          <a:fillRef idx="2">
            <a:schemeClr val="accent5"/>
          </a:fillRef>
          <a:effectRef idx="1">
            <a:schemeClr val="accent5"/>
          </a:effectRef>
          <a:fontRef idx="minor">
            <a:schemeClr val="dk1"/>
          </a:fontRef>
        </p:style>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ASR</a:t>
            </a:r>
          </a:p>
        </p:txBody>
      </p:sp>
      <p:cxnSp>
        <p:nvCxnSpPr>
          <p:cNvPr id="13" name="直線單箭頭接點 12">
            <a:extLst>
              <a:ext uri="{FF2B5EF4-FFF2-40B4-BE49-F238E27FC236}">
                <a16:creationId xmlns:a16="http://schemas.microsoft.com/office/drawing/2014/main" id="{727AEA57-5D1E-78E7-068A-DD21F56AB47D}"/>
              </a:ext>
            </a:extLst>
          </p:cNvPr>
          <p:cNvCxnSpPr>
            <a:cxnSpLocks/>
          </p:cNvCxnSpPr>
          <p:nvPr/>
        </p:nvCxnSpPr>
        <p:spPr>
          <a:xfrm flipV="1">
            <a:off x="9555612" y="1991348"/>
            <a:ext cx="0" cy="642236"/>
          </a:xfrm>
          <a:prstGeom prst="straightConnector1">
            <a:avLst/>
          </a:prstGeom>
          <a:noFill/>
          <a:ln w="57150" cap="flat" cmpd="sng" algn="ctr">
            <a:solidFill>
              <a:srgbClr val="002060"/>
            </a:solidFill>
            <a:prstDash val="solid"/>
            <a:miter lim="800000"/>
            <a:tailEnd type="triangle"/>
          </a:ln>
          <a:effectLst/>
        </p:spPr>
      </p:cxnSp>
      <p:sp>
        <p:nvSpPr>
          <p:cNvPr id="14" name="文字方塊 13">
            <a:extLst>
              <a:ext uri="{FF2B5EF4-FFF2-40B4-BE49-F238E27FC236}">
                <a16:creationId xmlns:a16="http://schemas.microsoft.com/office/drawing/2014/main" id="{E6DA1A94-B9E5-6372-455F-1CDD853981A1}"/>
              </a:ext>
            </a:extLst>
          </p:cNvPr>
          <p:cNvSpPr txBox="1"/>
          <p:nvPr/>
        </p:nvSpPr>
        <p:spPr>
          <a:xfrm>
            <a:off x="7774718" y="1510815"/>
            <a:ext cx="3552092" cy="461665"/>
          </a:xfrm>
          <a:prstGeom prst="rect">
            <a:avLst/>
          </a:prstGeom>
          <a:noFill/>
        </p:spPr>
        <p:txBody>
          <a:bodyPr wrap="square" rtlCol="0">
            <a:spAutoFit/>
          </a:bodyPr>
          <a:lstStyle/>
          <a:p>
            <a:pPr algn="ctr"/>
            <a:r>
              <a:rPr lang="en-US" altLang="zh-TW" sz="2400" dirty="0"/>
              <a:t>Answer</a:t>
            </a:r>
            <a:endParaRPr lang="zh-TW" altLang="en-US" sz="2400" dirty="0"/>
          </a:p>
        </p:txBody>
      </p:sp>
      <p:sp>
        <p:nvSpPr>
          <p:cNvPr id="8" name="Google Shape;3236;p288">
            <a:extLst>
              <a:ext uri="{FF2B5EF4-FFF2-40B4-BE49-F238E27FC236}">
                <a16:creationId xmlns:a16="http://schemas.microsoft.com/office/drawing/2014/main" id="{9B772750-9DC1-1962-4545-CB162462061B}"/>
              </a:ext>
            </a:extLst>
          </p:cNvPr>
          <p:cNvSpPr/>
          <p:nvPr/>
        </p:nvSpPr>
        <p:spPr>
          <a:xfrm>
            <a:off x="3668712" y="2467572"/>
            <a:ext cx="6987566" cy="845711"/>
          </a:xfrm>
          <a:prstGeom prst="roundRect">
            <a:avLst>
              <a:gd name="adj" fmla="val 16667"/>
            </a:avLst>
          </a:prstGeom>
          <a:solidFill>
            <a:srgbClr val="FFC000">
              <a:lumMod val="20000"/>
              <a:lumOff val="80000"/>
            </a:srgbClr>
          </a:solidFill>
          <a:ln w="57150"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Text QA</a:t>
            </a:r>
          </a:p>
        </p:txBody>
      </p:sp>
      <p:cxnSp>
        <p:nvCxnSpPr>
          <p:cNvPr id="15" name="直線單箭頭接點 14">
            <a:extLst>
              <a:ext uri="{FF2B5EF4-FFF2-40B4-BE49-F238E27FC236}">
                <a16:creationId xmlns:a16="http://schemas.microsoft.com/office/drawing/2014/main" id="{38EFC4E1-323A-A04D-C9AA-A3808E10CEF8}"/>
              </a:ext>
            </a:extLst>
          </p:cNvPr>
          <p:cNvCxnSpPr>
            <a:cxnSpLocks/>
          </p:cNvCxnSpPr>
          <p:nvPr/>
        </p:nvCxnSpPr>
        <p:spPr>
          <a:xfrm flipV="1">
            <a:off x="5979323" y="4030395"/>
            <a:ext cx="0" cy="321118"/>
          </a:xfrm>
          <a:prstGeom prst="straightConnector1">
            <a:avLst/>
          </a:prstGeom>
          <a:noFill/>
          <a:ln w="57150" cap="flat" cmpd="sng" algn="ctr">
            <a:solidFill>
              <a:srgbClr val="002060"/>
            </a:solidFill>
            <a:prstDash val="solid"/>
            <a:miter lim="800000"/>
            <a:tailEnd type="triangle"/>
          </a:ln>
          <a:effectLst/>
        </p:spPr>
      </p:cxnSp>
      <p:cxnSp>
        <p:nvCxnSpPr>
          <p:cNvPr id="17" name="直線單箭頭接點 16">
            <a:extLst>
              <a:ext uri="{FF2B5EF4-FFF2-40B4-BE49-F238E27FC236}">
                <a16:creationId xmlns:a16="http://schemas.microsoft.com/office/drawing/2014/main" id="{308DC162-D470-B736-939F-690E22ACE752}"/>
              </a:ext>
            </a:extLst>
          </p:cNvPr>
          <p:cNvCxnSpPr>
            <a:cxnSpLocks/>
          </p:cNvCxnSpPr>
          <p:nvPr/>
        </p:nvCxnSpPr>
        <p:spPr>
          <a:xfrm flipV="1">
            <a:off x="5958656" y="3330079"/>
            <a:ext cx="0" cy="321118"/>
          </a:xfrm>
          <a:prstGeom prst="straightConnector1">
            <a:avLst/>
          </a:prstGeom>
          <a:noFill/>
          <a:ln w="57150" cap="flat" cmpd="sng" algn="ctr">
            <a:solidFill>
              <a:srgbClr val="002060"/>
            </a:solidFill>
            <a:prstDash val="solid"/>
            <a:miter lim="800000"/>
            <a:tailEnd type="triangle"/>
          </a:ln>
          <a:effectLst/>
        </p:spPr>
      </p:cxnSp>
      <p:sp>
        <p:nvSpPr>
          <p:cNvPr id="18" name="Google Shape;3236;p288">
            <a:extLst>
              <a:ext uri="{FF2B5EF4-FFF2-40B4-BE49-F238E27FC236}">
                <a16:creationId xmlns:a16="http://schemas.microsoft.com/office/drawing/2014/main" id="{5BD1646F-96F7-7D19-DEFE-EB2D9DEFA040}"/>
              </a:ext>
            </a:extLst>
          </p:cNvPr>
          <p:cNvSpPr/>
          <p:nvPr/>
        </p:nvSpPr>
        <p:spPr>
          <a:xfrm>
            <a:off x="8368003" y="4409342"/>
            <a:ext cx="2401598" cy="461665"/>
          </a:xfrm>
          <a:prstGeom prst="roundRect">
            <a:avLst>
              <a:gd name="adj" fmla="val 16667"/>
            </a:avLst>
          </a:prstGeom>
          <a:ln w="57150">
            <a:solidFill>
              <a:schemeClr val="tx1"/>
            </a:solidFill>
            <a:headEnd type="none" w="sm" len="sm"/>
            <a:tailEnd type="none" w="sm" len="sm"/>
          </a:ln>
        </p:spPr>
        <p:style>
          <a:lnRef idx="1">
            <a:schemeClr val="accent5"/>
          </a:lnRef>
          <a:fillRef idx="2">
            <a:schemeClr val="accent5"/>
          </a:fillRef>
          <a:effectRef idx="1">
            <a:schemeClr val="accent5"/>
          </a:effectRef>
          <a:fontRef idx="minor">
            <a:schemeClr val="dk1"/>
          </a:fontRef>
        </p:style>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ASR</a:t>
            </a:r>
          </a:p>
        </p:txBody>
      </p:sp>
      <p:sp>
        <p:nvSpPr>
          <p:cNvPr id="20" name="文字方塊 19">
            <a:extLst>
              <a:ext uri="{FF2B5EF4-FFF2-40B4-BE49-F238E27FC236}">
                <a16:creationId xmlns:a16="http://schemas.microsoft.com/office/drawing/2014/main" id="{4126EF01-C61F-1168-694B-44B7F9C2859F}"/>
              </a:ext>
            </a:extLst>
          </p:cNvPr>
          <p:cNvSpPr txBox="1"/>
          <p:nvPr/>
        </p:nvSpPr>
        <p:spPr>
          <a:xfrm>
            <a:off x="7755369" y="3594308"/>
            <a:ext cx="3552092" cy="461665"/>
          </a:xfrm>
          <a:prstGeom prst="rect">
            <a:avLst/>
          </a:prstGeom>
          <a:noFill/>
        </p:spPr>
        <p:txBody>
          <a:bodyPr wrap="square" rtlCol="0">
            <a:spAutoFit/>
          </a:bodyPr>
          <a:lstStyle/>
          <a:p>
            <a:pPr algn="ctr"/>
            <a:r>
              <a:rPr lang="en-US" altLang="zh-TW" sz="2400" dirty="0"/>
              <a:t>Text question</a:t>
            </a:r>
            <a:endParaRPr lang="zh-TW" altLang="en-US" sz="2400" dirty="0"/>
          </a:p>
        </p:txBody>
      </p:sp>
      <p:cxnSp>
        <p:nvCxnSpPr>
          <p:cNvPr id="21" name="直線單箭頭接點 20">
            <a:extLst>
              <a:ext uri="{FF2B5EF4-FFF2-40B4-BE49-F238E27FC236}">
                <a16:creationId xmlns:a16="http://schemas.microsoft.com/office/drawing/2014/main" id="{2AEE3B64-C26E-D04A-84A7-3D6B07B3ACF0}"/>
              </a:ext>
            </a:extLst>
          </p:cNvPr>
          <p:cNvCxnSpPr>
            <a:cxnSpLocks/>
          </p:cNvCxnSpPr>
          <p:nvPr/>
        </p:nvCxnSpPr>
        <p:spPr>
          <a:xfrm flipV="1">
            <a:off x="9552082" y="4030395"/>
            <a:ext cx="0" cy="321118"/>
          </a:xfrm>
          <a:prstGeom prst="straightConnector1">
            <a:avLst/>
          </a:prstGeom>
          <a:noFill/>
          <a:ln w="57150" cap="flat" cmpd="sng" algn="ctr">
            <a:solidFill>
              <a:srgbClr val="002060"/>
            </a:solidFill>
            <a:prstDash val="solid"/>
            <a:miter lim="800000"/>
            <a:tailEnd type="triangle"/>
          </a:ln>
          <a:effectLst/>
        </p:spPr>
      </p:cxnSp>
      <p:cxnSp>
        <p:nvCxnSpPr>
          <p:cNvPr id="22" name="直線單箭頭接點 21">
            <a:extLst>
              <a:ext uri="{FF2B5EF4-FFF2-40B4-BE49-F238E27FC236}">
                <a16:creationId xmlns:a16="http://schemas.microsoft.com/office/drawing/2014/main" id="{5FBC282D-2C78-37FD-0907-4C4259AFD2BA}"/>
              </a:ext>
            </a:extLst>
          </p:cNvPr>
          <p:cNvCxnSpPr>
            <a:cxnSpLocks/>
          </p:cNvCxnSpPr>
          <p:nvPr/>
        </p:nvCxnSpPr>
        <p:spPr>
          <a:xfrm flipV="1">
            <a:off x="9531415" y="3330079"/>
            <a:ext cx="0" cy="321118"/>
          </a:xfrm>
          <a:prstGeom prst="straightConnector1">
            <a:avLst/>
          </a:prstGeom>
          <a:noFill/>
          <a:ln w="57150" cap="flat" cmpd="sng" algn="ctr">
            <a:solidFill>
              <a:srgbClr val="002060"/>
            </a:solidFill>
            <a:prstDash val="solid"/>
            <a:miter lim="800000"/>
            <a:tailEnd type="triangle"/>
          </a:ln>
          <a:effectLst/>
        </p:spPr>
      </p:cxnSp>
      <p:sp>
        <p:nvSpPr>
          <p:cNvPr id="24" name="文字方塊 23">
            <a:extLst>
              <a:ext uri="{FF2B5EF4-FFF2-40B4-BE49-F238E27FC236}">
                <a16:creationId xmlns:a16="http://schemas.microsoft.com/office/drawing/2014/main" id="{8EDF9FE8-7780-5C08-FD17-5764055BCBBF}"/>
              </a:ext>
            </a:extLst>
          </p:cNvPr>
          <p:cNvSpPr txBox="1"/>
          <p:nvPr/>
        </p:nvSpPr>
        <p:spPr>
          <a:xfrm>
            <a:off x="563513" y="4835259"/>
            <a:ext cx="3561898" cy="923330"/>
          </a:xfrm>
          <a:prstGeom prst="rect">
            <a:avLst/>
          </a:prstGeom>
          <a:noFill/>
        </p:spPr>
        <p:txBody>
          <a:bodyPr wrap="square">
            <a:spAutoFit/>
          </a:bodyPr>
          <a:lstStyle/>
          <a:p>
            <a:r>
              <a:rPr lang="en-US" altLang="zh-TW" dirty="0"/>
              <a:t>This work is done by</a:t>
            </a:r>
            <a:r>
              <a:rPr lang="zh-TW" altLang="en-US" dirty="0"/>
              <a:t> 李佳軒https://arxiv.org/abs/1804.00320</a:t>
            </a:r>
            <a:endParaRPr lang="en-US" altLang="zh-TW" dirty="0"/>
          </a:p>
          <a:p>
            <a:r>
              <a:rPr lang="en-US" altLang="zh-TW" dirty="0"/>
              <a:t>https://arxiv.org/abs/1808.02280</a:t>
            </a:r>
            <a:endParaRPr lang="zh-TW" altLang="en-US" dirty="0"/>
          </a:p>
        </p:txBody>
      </p:sp>
      <p:pic>
        <p:nvPicPr>
          <p:cNvPr id="25" name="Google Shape;106;p16">
            <a:extLst>
              <a:ext uri="{FF2B5EF4-FFF2-40B4-BE49-F238E27FC236}">
                <a16:creationId xmlns:a16="http://schemas.microsoft.com/office/drawing/2014/main" id="{2937A456-87BE-D4CC-C0CA-1A6E9A0751CF}"/>
              </a:ext>
            </a:extLst>
          </p:cNvPr>
          <p:cNvPicPr preferRelativeResize="0"/>
          <p:nvPr/>
        </p:nvPicPr>
        <p:blipFill>
          <a:blip r:embed="rId2">
            <a:alphaModFix/>
          </a:blip>
          <a:stretch>
            <a:fillRect/>
          </a:stretch>
        </p:blipFill>
        <p:spPr>
          <a:xfrm>
            <a:off x="3340464" y="5656672"/>
            <a:ext cx="4908137" cy="665501"/>
          </a:xfrm>
          <a:prstGeom prst="rect">
            <a:avLst/>
          </a:prstGeom>
          <a:noFill/>
          <a:ln>
            <a:noFill/>
          </a:ln>
        </p:spPr>
      </p:pic>
      <p:sp>
        <p:nvSpPr>
          <p:cNvPr id="26" name="文字方塊 25">
            <a:extLst>
              <a:ext uri="{FF2B5EF4-FFF2-40B4-BE49-F238E27FC236}">
                <a16:creationId xmlns:a16="http://schemas.microsoft.com/office/drawing/2014/main" id="{D3E3D240-C9E6-77EC-0D89-8C06BE6F1206}"/>
              </a:ext>
            </a:extLst>
          </p:cNvPr>
          <p:cNvSpPr txBox="1"/>
          <p:nvPr/>
        </p:nvSpPr>
        <p:spPr>
          <a:xfrm>
            <a:off x="7765109" y="6236429"/>
            <a:ext cx="3552092" cy="461665"/>
          </a:xfrm>
          <a:prstGeom prst="rect">
            <a:avLst/>
          </a:prstGeom>
          <a:noFill/>
        </p:spPr>
        <p:txBody>
          <a:bodyPr wrap="square" rtlCol="0">
            <a:spAutoFit/>
          </a:bodyPr>
          <a:lstStyle/>
          <a:p>
            <a:pPr algn="ctr"/>
            <a:r>
              <a:rPr lang="en-US" altLang="zh-TW" sz="2400" dirty="0"/>
              <a:t>Question</a:t>
            </a:r>
            <a:endParaRPr lang="zh-TW" altLang="en-US" sz="2400" dirty="0"/>
          </a:p>
        </p:txBody>
      </p:sp>
      <p:pic>
        <p:nvPicPr>
          <p:cNvPr id="27" name="Google Shape;106;p16">
            <a:extLst>
              <a:ext uri="{FF2B5EF4-FFF2-40B4-BE49-F238E27FC236}">
                <a16:creationId xmlns:a16="http://schemas.microsoft.com/office/drawing/2014/main" id="{4DD84A19-6F4D-83D3-7C62-EEF6E307CB53}"/>
              </a:ext>
            </a:extLst>
          </p:cNvPr>
          <p:cNvPicPr preferRelativeResize="0"/>
          <p:nvPr/>
        </p:nvPicPr>
        <p:blipFill>
          <a:blip r:embed="rId2">
            <a:alphaModFix/>
          </a:blip>
          <a:stretch>
            <a:fillRect/>
          </a:stretch>
        </p:blipFill>
        <p:spPr>
          <a:xfrm>
            <a:off x="8312160" y="5638686"/>
            <a:ext cx="2312850" cy="665501"/>
          </a:xfrm>
          <a:prstGeom prst="rect">
            <a:avLst/>
          </a:prstGeom>
          <a:noFill/>
          <a:ln>
            <a:noFill/>
          </a:ln>
        </p:spPr>
      </p:pic>
      <p:sp>
        <p:nvSpPr>
          <p:cNvPr id="28" name="文字方塊 27">
            <a:extLst>
              <a:ext uri="{FF2B5EF4-FFF2-40B4-BE49-F238E27FC236}">
                <a16:creationId xmlns:a16="http://schemas.microsoft.com/office/drawing/2014/main" id="{204FB154-CF42-CC8A-A230-E7C6A5AE7BCE}"/>
              </a:ext>
            </a:extLst>
          </p:cNvPr>
          <p:cNvSpPr txBox="1"/>
          <p:nvPr/>
        </p:nvSpPr>
        <p:spPr>
          <a:xfrm>
            <a:off x="4067877" y="6218499"/>
            <a:ext cx="3552092" cy="461665"/>
          </a:xfrm>
          <a:prstGeom prst="rect">
            <a:avLst/>
          </a:prstGeom>
          <a:noFill/>
        </p:spPr>
        <p:txBody>
          <a:bodyPr wrap="square" rtlCol="0">
            <a:spAutoFit/>
          </a:bodyPr>
          <a:lstStyle/>
          <a:p>
            <a:pPr algn="ctr"/>
            <a:r>
              <a:rPr lang="en-US" altLang="zh-TW" sz="2400" dirty="0"/>
              <a:t>Spoken Document</a:t>
            </a:r>
            <a:endParaRPr lang="zh-TW" altLang="en-US" sz="2400" dirty="0"/>
          </a:p>
        </p:txBody>
      </p:sp>
    </p:spTree>
    <p:extLst>
      <p:ext uri="{BB962C8B-B14F-4D97-AF65-F5344CB8AC3E}">
        <p14:creationId xmlns:p14="http://schemas.microsoft.com/office/powerpoint/2010/main" val="13455864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4" grpId="0"/>
      <p:bldP spid="8" grpId="0" animBg="1"/>
      <p:bldP spid="18" grpId="0" animBg="1"/>
      <p:bldP spid="2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26B21F-01FA-D984-2037-D73EAB2B3D5E}"/>
              </a:ext>
            </a:extLst>
          </p:cNvPr>
          <p:cNvSpPr>
            <a:spLocks noGrp="1"/>
          </p:cNvSpPr>
          <p:nvPr>
            <p:ph type="title"/>
          </p:nvPr>
        </p:nvSpPr>
        <p:spPr/>
        <p:txBody>
          <a:bodyPr/>
          <a:lstStyle/>
          <a:p>
            <a:r>
              <a:rPr lang="en-US" altLang="zh-TW" dirty="0"/>
              <a:t>End-to-End Speech QA</a:t>
            </a:r>
            <a:endParaRPr lang="zh-TW" altLang="en-US" dirty="0"/>
          </a:p>
        </p:txBody>
      </p:sp>
      <p:sp>
        <p:nvSpPr>
          <p:cNvPr id="3" name="內容版面配置區 2">
            <a:extLst>
              <a:ext uri="{FF2B5EF4-FFF2-40B4-BE49-F238E27FC236}">
                <a16:creationId xmlns:a16="http://schemas.microsoft.com/office/drawing/2014/main" id="{A5CFDFAE-FD4B-DCBD-3080-23F690E3DFC2}"/>
              </a:ext>
            </a:extLst>
          </p:cNvPr>
          <p:cNvSpPr>
            <a:spLocks noGrp="1"/>
          </p:cNvSpPr>
          <p:nvPr>
            <p:ph idx="1"/>
          </p:nvPr>
        </p:nvSpPr>
        <p:spPr/>
        <p:txBody>
          <a:bodyPr/>
          <a:lstStyle/>
          <a:p>
            <a:endParaRPr lang="zh-TW" altLang="en-US" dirty="0"/>
          </a:p>
        </p:txBody>
      </p:sp>
      <p:cxnSp>
        <p:nvCxnSpPr>
          <p:cNvPr id="10" name="直線單箭頭接點 9">
            <a:extLst>
              <a:ext uri="{FF2B5EF4-FFF2-40B4-BE49-F238E27FC236}">
                <a16:creationId xmlns:a16="http://schemas.microsoft.com/office/drawing/2014/main" id="{19A7A0A9-605E-BEF2-49AF-9AF455F9C082}"/>
              </a:ext>
            </a:extLst>
          </p:cNvPr>
          <p:cNvCxnSpPr>
            <a:cxnSpLocks/>
          </p:cNvCxnSpPr>
          <p:nvPr/>
        </p:nvCxnSpPr>
        <p:spPr>
          <a:xfrm flipV="1">
            <a:off x="9586880" y="1261184"/>
            <a:ext cx="0" cy="642236"/>
          </a:xfrm>
          <a:prstGeom prst="straightConnector1">
            <a:avLst/>
          </a:prstGeom>
          <a:noFill/>
          <a:ln w="57150" cap="flat" cmpd="sng" algn="ctr">
            <a:solidFill>
              <a:srgbClr val="002060"/>
            </a:solidFill>
            <a:prstDash val="solid"/>
            <a:miter lim="800000"/>
            <a:tailEnd type="triangle"/>
          </a:ln>
          <a:effectLst/>
        </p:spPr>
      </p:cxnSp>
      <p:sp>
        <p:nvSpPr>
          <p:cNvPr id="11" name="文字方塊 10">
            <a:extLst>
              <a:ext uri="{FF2B5EF4-FFF2-40B4-BE49-F238E27FC236}">
                <a16:creationId xmlns:a16="http://schemas.microsoft.com/office/drawing/2014/main" id="{2CDC16F9-A9C7-9A89-8EF6-41E02A92AAF4}"/>
              </a:ext>
            </a:extLst>
          </p:cNvPr>
          <p:cNvSpPr txBox="1"/>
          <p:nvPr/>
        </p:nvSpPr>
        <p:spPr>
          <a:xfrm>
            <a:off x="7805986" y="780651"/>
            <a:ext cx="3552092" cy="461665"/>
          </a:xfrm>
          <a:prstGeom prst="rect">
            <a:avLst/>
          </a:prstGeom>
          <a:noFill/>
        </p:spPr>
        <p:txBody>
          <a:bodyPr wrap="square" rtlCol="0">
            <a:spAutoFit/>
          </a:bodyPr>
          <a:lstStyle/>
          <a:p>
            <a:pPr algn="ctr"/>
            <a:r>
              <a:rPr lang="en-US" altLang="zh-TW" sz="2400" dirty="0"/>
              <a:t>Answer</a:t>
            </a:r>
            <a:endParaRPr lang="zh-TW" altLang="en-US" sz="2400" dirty="0"/>
          </a:p>
        </p:txBody>
      </p:sp>
      <p:sp>
        <p:nvSpPr>
          <p:cNvPr id="12" name="Google Shape;3236;p288">
            <a:extLst>
              <a:ext uri="{FF2B5EF4-FFF2-40B4-BE49-F238E27FC236}">
                <a16:creationId xmlns:a16="http://schemas.microsoft.com/office/drawing/2014/main" id="{2CE01166-97A4-4593-AD71-B25C824FF3D1}"/>
              </a:ext>
            </a:extLst>
          </p:cNvPr>
          <p:cNvSpPr/>
          <p:nvPr/>
        </p:nvSpPr>
        <p:spPr>
          <a:xfrm>
            <a:off x="3340464" y="3118170"/>
            <a:ext cx="7315814" cy="1859412"/>
          </a:xfrm>
          <a:prstGeom prst="roundRect">
            <a:avLst>
              <a:gd name="adj" fmla="val 16667"/>
            </a:avLst>
          </a:prstGeom>
          <a:solidFill>
            <a:schemeClr val="accent1">
              <a:lumMod val="20000"/>
              <a:lumOff val="80000"/>
            </a:schemeClr>
          </a:solidFill>
          <a:ln w="57150"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Speech Representation Model </a:t>
            </a:r>
          </a:p>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lang="en-US" altLang="zh-TW" sz="2800" kern="0" dirty="0">
                <a:solidFill>
                  <a:prstClr val="black"/>
                </a:solidFill>
                <a:latin typeface="Calibri" panose="020F0502020204030204"/>
                <a:cs typeface="Arial"/>
                <a:sym typeface="Arial"/>
              </a:rPr>
              <a:t>(</a:t>
            </a:r>
            <a:r>
              <a:rPr lang="en-US" altLang="zh-TW" sz="2800" kern="0" dirty="0" err="1">
                <a:solidFill>
                  <a:prstClr val="black"/>
                </a:solidFill>
                <a:latin typeface="Calibri" panose="020F0502020204030204"/>
                <a:cs typeface="Arial"/>
                <a:sym typeface="Arial"/>
              </a:rPr>
              <a:t>HuBERT</a:t>
            </a:r>
            <a:r>
              <a:rPr lang="en-US" altLang="zh-TW" sz="2800" kern="0" dirty="0">
                <a:solidFill>
                  <a:prstClr val="black"/>
                </a:solidFill>
                <a:latin typeface="Calibri" panose="020F0502020204030204"/>
                <a:cs typeface="Arial"/>
                <a:sym typeface="Arial"/>
              </a:rPr>
              <a:t>)</a:t>
            </a:r>
            <a:endPar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endParaRPr>
          </a:p>
        </p:txBody>
      </p:sp>
      <p:pic>
        <p:nvPicPr>
          <p:cNvPr id="19" name="Google Shape;106;p16">
            <a:extLst>
              <a:ext uri="{FF2B5EF4-FFF2-40B4-BE49-F238E27FC236}">
                <a16:creationId xmlns:a16="http://schemas.microsoft.com/office/drawing/2014/main" id="{E0589ECC-1FB9-0124-6DC0-63F75F6F1C88}"/>
              </a:ext>
            </a:extLst>
          </p:cNvPr>
          <p:cNvPicPr preferRelativeResize="0"/>
          <p:nvPr/>
        </p:nvPicPr>
        <p:blipFill>
          <a:blip r:embed="rId2">
            <a:alphaModFix/>
          </a:blip>
          <a:stretch>
            <a:fillRect/>
          </a:stretch>
        </p:blipFill>
        <p:spPr>
          <a:xfrm>
            <a:off x="3340464" y="5656672"/>
            <a:ext cx="4908137" cy="665501"/>
          </a:xfrm>
          <a:prstGeom prst="rect">
            <a:avLst/>
          </a:prstGeom>
          <a:noFill/>
          <a:ln>
            <a:noFill/>
          </a:ln>
        </p:spPr>
      </p:pic>
      <p:sp>
        <p:nvSpPr>
          <p:cNvPr id="20" name="文字方塊 19">
            <a:extLst>
              <a:ext uri="{FF2B5EF4-FFF2-40B4-BE49-F238E27FC236}">
                <a16:creationId xmlns:a16="http://schemas.microsoft.com/office/drawing/2014/main" id="{F0A60A76-AC03-3A3F-2656-8595F3CBC119}"/>
              </a:ext>
            </a:extLst>
          </p:cNvPr>
          <p:cNvSpPr txBox="1"/>
          <p:nvPr/>
        </p:nvSpPr>
        <p:spPr>
          <a:xfrm>
            <a:off x="7765109" y="6236429"/>
            <a:ext cx="3552092" cy="461665"/>
          </a:xfrm>
          <a:prstGeom prst="rect">
            <a:avLst/>
          </a:prstGeom>
          <a:noFill/>
        </p:spPr>
        <p:txBody>
          <a:bodyPr wrap="square" rtlCol="0">
            <a:spAutoFit/>
          </a:bodyPr>
          <a:lstStyle/>
          <a:p>
            <a:pPr algn="ctr"/>
            <a:r>
              <a:rPr lang="en-US" altLang="zh-TW" sz="2400" dirty="0"/>
              <a:t>Question</a:t>
            </a:r>
            <a:endParaRPr lang="zh-TW" altLang="en-US" sz="2400" dirty="0"/>
          </a:p>
        </p:txBody>
      </p:sp>
      <p:pic>
        <p:nvPicPr>
          <p:cNvPr id="21" name="Google Shape;106;p16">
            <a:extLst>
              <a:ext uri="{FF2B5EF4-FFF2-40B4-BE49-F238E27FC236}">
                <a16:creationId xmlns:a16="http://schemas.microsoft.com/office/drawing/2014/main" id="{D630604F-E794-CA4D-6D73-4C8BA8F3D0ED}"/>
              </a:ext>
            </a:extLst>
          </p:cNvPr>
          <p:cNvPicPr preferRelativeResize="0"/>
          <p:nvPr/>
        </p:nvPicPr>
        <p:blipFill>
          <a:blip r:embed="rId2">
            <a:alphaModFix/>
          </a:blip>
          <a:stretch>
            <a:fillRect/>
          </a:stretch>
        </p:blipFill>
        <p:spPr>
          <a:xfrm>
            <a:off x="8312160" y="5638686"/>
            <a:ext cx="2312850" cy="665501"/>
          </a:xfrm>
          <a:prstGeom prst="rect">
            <a:avLst/>
          </a:prstGeom>
          <a:noFill/>
          <a:ln>
            <a:noFill/>
          </a:ln>
        </p:spPr>
      </p:pic>
      <p:sp>
        <p:nvSpPr>
          <p:cNvPr id="22" name="文字方塊 21">
            <a:extLst>
              <a:ext uri="{FF2B5EF4-FFF2-40B4-BE49-F238E27FC236}">
                <a16:creationId xmlns:a16="http://schemas.microsoft.com/office/drawing/2014/main" id="{08A905D2-56B9-F638-9695-A8D39E23320B}"/>
              </a:ext>
            </a:extLst>
          </p:cNvPr>
          <p:cNvSpPr txBox="1"/>
          <p:nvPr/>
        </p:nvSpPr>
        <p:spPr>
          <a:xfrm>
            <a:off x="4067877" y="6218499"/>
            <a:ext cx="3552092" cy="461665"/>
          </a:xfrm>
          <a:prstGeom prst="rect">
            <a:avLst/>
          </a:prstGeom>
          <a:noFill/>
        </p:spPr>
        <p:txBody>
          <a:bodyPr wrap="square" rtlCol="0">
            <a:spAutoFit/>
          </a:bodyPr>
          <a:lstStyle/>
          <a:p>
            <a:pPr algn="ctr"/>
            <a:r>
              <a:rPr lang="en-US" altLang="zh-TW" sz="2400" dirty="0"/>
              <a:t>Spoken Document</a:t>
            </a:r>
            <a:endParaRPr lang="zh-TW" altLang="en-US" sz="2400" dirty="0"/>
          </a:p>
        </p:txBody>
      </p:sp>
      <p:cxnSp>
        <p:nvCxnSpPr>
          <p:cNvPr id="23" name="直線單箭頭接點 22">
            <a:extLst>
              <a:ext uri="{FF2B5EF4-FFF2-40B4-BE49-F238E27FC236}">
                <a16:creationId xmlns:a16="http://schemas.microsoft.com/office/drawing/2014/main" id="{79376DE6-DF05-D00F-E22E-9AA2D480038A}"/>
              </a:ext>
            </a:extLst>
          </p:cNvPr>
          <p:cNvCxnSpPr>
            <a:cxnSpLocks/>
          </p:cNvCxnSpPr>
          <p:nvPr/>
        </p:nvCxnSpPr>
        <p:spPr>
          <a:xfrm flipV="1">
            <a:off x="5960765" y="4977582"/>
            <a:ext cx="0" cy="642236"/>
          </a:xfrm>
          <a:prstGeom prst="straightConnector1">
            <a:avLst/>
          </a:prstGeom>
          <a:noFill/>
          <a:ln w="57150" cap="flat" cmpd="sng" algn="ctr">
            <a:solidFill>
              <a:srgbClr val="002060"/>
            </a:solidFill>
            <a:prstDash val="solid"/>
            <a:miter lim="800000"/>
            <a:tailEnd type="triangle"/>
          </a:ln>
          <a:effectLst/>
        </p:spPr>
      </p:cxnSp>
      <p:cxnSp>
        <p:nvCxnSpPr>
          <p:cNvPr id="24" name="直線單箭頭接點 23">
            <a:extLst>
              <a:ext uri="{FF2B5EF4-FFF2-40B4-BE49-F238E27FC236}">
                <a16:creationId xmlns:a16="http://schemas.microsoft.com/office/drawing/2014/main" id="{6027947B-E4BD-FC80-E987-681FD5FF7AB1}"/>
              </a:ext>
            </a:extLst>
          </p:cNvPr>
          <p:cNvCxnSpPr>
            <a:cxnSpLocks/>
          </p:cNvCxnSpPr>
          <p:nvPr/>
        </p:nvCxnSpPr>
        <p:spPr>
          <a:xfrm flipV="1">
            <a:off x="9555612" y="5014436"/>
            <a:ext cx="0" cy="642236"/>
          </a:xfrm>
          <a:prstGeom prst="straightConnector1">
            <a:avLst/>
          </a:prstGeom>
          <a:noFill/>
          <a:ln w="57150" cap="flat" cmpd="sng" algn="ctr">
            <a:solidFill>
              <a:srgbClr val="002060"/>
            </a:solidFill>
            <a:prstDash val="solid"/>
            <a:miter lim="800000"/>
            <a:tailEnd type="triangle"/>
          </a:ln>
          <a:effectLst/>
        </p:spPr>
      </p:cxnSp>
      <p:sp>
        <p:nvSpPr>
          <p:cNvPr id="27" name="Google Shape;3236;p288">
            <a:extLst>
              <a:ext uri="{FF2B5EF4-FFF2-40B4-BE49-F238E27FC236}">
                <a16:creationId xmlns:a16="http://schemas.microsoft.com/office/drawing/2014/main" id="{DDC5B1C9-92ED-147B-4FE9-93B655ED9D95}"/>
              </a:ext>
            </a:extLst>
          </p:cNvPr>
          <p:cNvSpPr/>
          <p:nvPr/>
        </p:nvSpPr>
        <p:spPr>
          <a:xfrm>
            <a:off x="3371732" y="1853272"/>
            <a:ext cx="7284546" cy="461666"/>
          </a:xfrm>
          <a:prstGeom prst="roundRect">
            <a:avLst>
              <a:gd name="adj" fmla="val 16667"/>
            </a:avLst>
          </a:prstGeom>
          <a:solidFill>
            <a:srgbClr val="FFC000">
              <a:lumMod val="20000"/>
              <a:lumOff val="80000"/>
            </a:srgbClr>
          </a:solidFill>
          <a:ln w="57150"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Downstream Head</a:t>
            </a:r>
          </a:p>
        </p:txBody>
      </p:sp>
      <p:sp>
        <p:nvSpPr>
          <p:cNvPr id="29" name="文字方塊 28">
            <a:extLst>
              <a:ext uri="{FF2B5EF4-FFF2-40B4-BE49-F238E27FC236}">
                <a16:creationId xmlns:a16="http://schemas.microsoft.com/office/drawing/2014/main" id="{75050F38-AABA-CC24-C0F5-E5628ABC5CC8}"/>
              </a:ext>
            </a:extLst>
          </p:cNvPr>
          <p:cNvSpPr txBox="1"/>
          <p:nvPr/>
        </p:nvSpPr>
        <p:spPr>
          <a:xfrm>
            <a:off x="323732" y="5287340"/>
            <a:ext cx="6096000" cy="646331"/>
          </a:xfrm>
          <a:prstGeom prst="rect">
            <a:avLst/>
          </a:prstGeom>
          <a:noFill/>
        </p:spPr>
        <p:txBody>
          <a:bodyPr wrap="square">
            <a:spAutoFit/>
          </a:bodyPr>
          <a:lstStyle/>
          <a:p>
            <a:pPr lvl="0">
              <a:defRPr/>
            </a:pPr>
            <a:r>
              <a:rPr lang="en-US" altLang="zh-TW" dirty="0"/>
              <a:t>This work is done by</a:t>
            </a:r>
            <a:r>
              <a:rPr lang="zh-TW" altLang="en-US" dirty="0"/>
              <a:t> 林冠廷</a:t>
            </a:r>
            <a:endParaRPr lang="en-US" altLang="zh-TW" dirty="0"/>
          </a:p>
          <a:p>
            <a:pPr lvl="0">
              <a:defRPr/>
            </a:pPr>
            <a:r>
              <a:rPr lang="en-US" altLang="zh-TW" dirty="0"/>
              <a:t>https://arxiv.org/abs/2203.04911</a:t>
            </a:r>
            <a:endParaRPr kumimoji="0" lang="zh-TW" altLang="en-US" sz="1800" b="0" i="0" u="none" strike="noStrike" kern="1200" cap="none" spc="0" normalizeH="0" baseline="0" noProof="0" dirty="0">
              <a:ln>
                <a:noFill/>
              </a:ln>
              <a:effectLst/>
              <a:uLnTx/>
              <a:uFillTx/>
              <a:latin typeface="Calibri" panose="020F0502020204030204"/>
              <a:ea typeface="新細明體" panose="02020500000000000000" pitchFamily="18" charset="-120"/>
              <a:cs typeface="+mn-cs"/>
            </a:endParaRPr>
          </a:p>
        </p:txBody>
      </p:sp>
      <p:grpSp>
        <p:nvGrpSpPr>
          <p:cNvPr id="31" name="群組 30">
            <a:extLst>
              <a:ext uri="{FF2B5EF4-FFF2-40B4-BE49-F238E27FC236}">
                <a16:creationId xmlns:a16="http://schemas.microsoft.com/office/drawing/2014/main" id="{09A8A339-81DE-1F16-92A5-AB121F70F31E}"/>
              </a:ext>
            </a:extLst>
          </p:cNvPr>
          <p:cNvGrpSpPr/>
          <p:nvPr/>
        </p:nvGrpSpPr>
        <p:grpSpPr>
          <a:xfrm>
            <a:off x="3480605" y="2504270"/>
            <a:ext cx="3533400" cy="360000"/>
            <a:chOff x="4191927" y="3797552"/>
            <a:chExt cx="3533400" cy="431100"/>
          </a:xfrm>
        </p:grpSpPr>
        <p:sp>
          <p:nvSpPr>
            <p:cNvPr id="32" name="Google Shape;117;p16">
              <a:extLst>
                <a:ext uri="{FF2B5EF4-FFF2-40B4-BE49-F238E27FC236}">
                  <a16:creationId xmlns:a16="http://schemas.microsoft.com/office/drawing/2014/main" id="{DE532FF0-F52E-FF27-5001-141EE9E6F1BE}"/>
                </a:ext>
              </a:extLst>
            </p:cNvPr>
            <p:cNvSpPr/>
            <p:nvPr/>
          </p:nvSpPr>
          <p:spPr>
            <a:xfrm>
              <a:off x="4191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Google Shape;118;p16">
              <a:extLst>
                <a:ext uri="{FF2B5EF4-FFF2-40B4-BE49-F238E27FC236}">
                  <a16:creationId xmlns:a16="http://schemas.microsoft.com/office/drawing/2014/main" id="{1A09F91B-8491-E77B-3A7D-555BC717AB29}"/>
                </a:ext>
              </a:extLst>
            </p:cNvPr>
            <p:cNvSpPr/>
            <p:nvPr/>
          </p:nvSpPr>
          <p:spPr>
            <a:xfrm>
              <a:off x="4420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 name="Google Shape;119;p16">
              <a:extLst>
                <a:ext uri="{FF2B5EF4-FFF2-40B4-BE49-F238E27FC236}">
                  <a16:creationId xmlns:a16="http://schemas.microsoft.com/office/drawing/2014/main" id="{E6B27AE9-DC3F-3EDE-C9B5-370612956264}"/>
                </a:ext>
              </a:extLst>
            </p:cNvPr>
            <p:cNvSpPr/>
            <p:nvPr/>
          </p:nvSpPr>
          <p:spPr>
            <a:xfrm>
              <a:off x="4649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 name="Google Shape;120;p16">
              <a:extLst>
                <a:ext uri="{FF2B5EF4-FFF2-40B4-BE49-F238E27FC236}">
                  <a16:creationId xmlns:a16="http://schemas.microsoft.com/office/drawing/2014/main" id="{FCE5B48D-3938-9D65-9250-EA8191B90459}"/>
                </a:ext>
              </a:extLst>
            </p:cNvPr>
            <p:cNvSpPr/>
            <p:nvPr/>
          </p:nvSpPr>
          <p:spPr>
            <a:xfrm>
              <a:off x="4877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 name="Google Shape;121;p16">
              <a:extLst>
                <a:ext uri="{FF2B5EF4-FFF2-40B4-BE49-F238E27FC236}">
                  <a16:creationId xmlns:a16="http://schemas.microsoft.com/office/drawing/2014/main" id="{F55C5412-FD94-BCEF-7BB5-0DAD23BECD6C}"/>
                </a:ext>
              </a:extLst>
            </p:cNvPr>
            <p:cNvSpPr/>
            <p:nvPr/>
          </p:nvSpPr>
          <p:spPr>
            <a:xfrm>
              <a:off x="5106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 name="Google Shape;122;p16">
              <a:extLst>
                <a:ext uri="{FF2B5EF4-FFF2-40B4-BE49-F238E27FC236}">
                  <a16:creationId xmlns:a16="http://schemas.microsoft.com/office/drawing/2014/main" id="{FDF6B1FA-3EA7-61B6-5095-EE5B5B3865A0}"/>
                </a:ext>
              </a:extLst>
            </p:cNvPr>
            <p:cNvSpPr/>
            <p:nvPr/>
          </p:nvSpPr>
          <p:spPr>
            <a:xfrm>
              <a:off x="5334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 name="Google Shape;123;p16">
              <a:extLst>
                <a:ext uri="{FF2B5EF4-FFF2-40B4-BE49-F238E27FC236}">
                  <a16:creationId xmlns:a16="http://schemas.microsoft.com/office/drawing/2014/main" id="{104ECB8A-68E6-5D07-8819-EC886456DF17}"/>
                </a:ext>
              </a:extLst>
            </p:cNvPr>
            <p:cNvSpPr/>
            <p:nvPr/>
          </p:nvSpPr>
          <p:spPr>
            <a:xfrm>
              <a:off x="5563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 name="Google Shape;124;p16">
              <a:extLst>
                <a:ext uri="{FF2B5EF4-FFF2-40B4-BE49-F238E27FC236}">
                  <a16:creationId xmlns:a16="http://schemas.microsoft.com/office/drawing/2014/main" id="{0D5138EC-B6F1-D4C3-FB8D-DC40F775210A}"/>
                </a:ext>
              </a:extLst>
            </p:cNvPr>
            <p:cNvSpPr/>
            <p:nvPr/>
          </p:nvSpPr>
          <p:spPr>
            <a:xfrm>
              <a:off x="5792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 name="Google Shape;146;p16">
              <a:extLst>
                <a:ext uri="{FF2B5EF4-FFF2-40B4-BE49-F238E27FC236}">
                  <a16:creationId xmlns:a16="http://schemas.microsoft.com/office/drawing/2014/main" id="{1A8689C0-A74A-498F-465E-8FC3A4E5E28B}"/>
                </a:ext>
              </a:extLst>
            </p:cNvPr>
            <p:cNvSpPr/>
            <p:nvPr/>
          </p:nvSpPr>
          <p:spPr>
            <a:xfrm>
              <a:off x="6020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 name="Google Shape;147;p16">
              <a:extLst>
                <a:ext uri="{FF2B5EF4-FFF2-40B4-BE49-F238E27FC236}">
                  <a16:creationId xmlns:a16="http://schemas.microsoft.com/office/drawing/2014/main" id="{F70018E2-AAD4-1844-F98B-AA397036B23D}"/>
                </a:ext>
              </a:extLst>
            </p:cNvPr>
            <p:cNvSpPr/>
            <p:nvPr/>
          </p:nvSpPr>
          <p:spPr>
            <a:xfrm>
              <a:off x="6249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2" name="Google Shape;148;p16">
              <a:extLst>
                <a:ext uri="{FF2B5EF4-FFF2-40B4-BE49-F238E27FC236}">
                  <a16:creationId xmlns:a16="http://schemas.microsoft.com/office/drawing/2014/main" id="{E86950E6-8D22-3D62-85C0-09DDEF84CCFC}"/>
                </a:ext>
              </a:extLst>
            </p:cNvPr>
            <p:cNvSpPr/>
            <p:nvPr/>
          </p:nvSpPr>
          <p:spPr>
            <a:xfrm>
              <a:off x="6477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3" name="Google Shape;149;p16">
              <a:extLst>
                <a:ext uri="{FF2B5EF4-FFF2-40B4-BE49-F238E27FC236}">
                  <a16:creationId xmlns:a16="http://schemas.microsoft.com/office/drawing/2014/main" id="{E46B49E3-FC1B-E3DE-4C3B-2B614BE10002}"/>
                </a:ext>
              </a:extLst>
            </p:cNvPr>
            <p:cNvSpPr/>
            <p:nvPr/>
          </p:nvSpPr>
          <p:spPr>
            <a:xfrm>
              <a:off x="6706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4" name="Google Shape;150;p16">
              <a:extLst>
                <a:ext uri="{FF2B5EF4-FFF2-40B4-BE49-F238E27FC236}">
                  <a16:creationId xmlns:a16="http://schemas.microsoft.com/office/drawing/2014/main" id="{D964E2BB-BFA0-344E-B682-2AD643D214C8}"/>
                </a:ext>
              </a:extLst>
            </p:cNvPr>
            <p:cNvSpPr/>
            <p:nvPr/>
          </p:nvSpPr>
          <p:spPr>
            <a:xfrm>
              <a:off x="6935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5" name="Google Shape;151;p16">
              <a:extLst>
                <a:ext uri="{FF2B5EF4-FFF2-40B4-BE49-F238E27FC236}">
                  <a16:creationId xmlns:a16="http://schemas.microsoft.com/office/drawing/2014/main" id="{21559955-33D1-8493-6289-77B9D1D32C8A}"/>
                </a:ext>
              </a:extLst>
            </p:cNvPr>
            <p:cNvSpPr/>
            <p:nvPr/>
          </p:nvSpPr>
          <p:spPr>
            <a:xfrm>
              <a:off x="7163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6" name="Google Shape;152;p16">
              <a:extLst>
                <a:ext uri="{FF2B5EF4-FFF2-40B4-BE49-F238E27FC236}">
                  <a16:creationId xmlns:a16="http://schemas.microsoft.com/office/drawing/2014/main" id="{E8624F9B-8D48-3537-FF79-6591B97D4F4D}"/>
                </a:ext>
              </a:extLst>
            </p:cNvPr>
            <p:cNvSpPr/>
            <p:nvPr/>
          </p:nvSpPr>
          <p:spPr>
            <a:xfrm>
              <a:off x="7392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7" name="Google Shape;153;p16">
              <a:extLst>
                <a:ext uri="{FF2B5EF4-FFF2-40B4-BE49-F238E27FC236}">
                  <a16:creationId xmlns:a16="http://schemas.microsoft.com/office/drawing/2014/main" id="{49C320D5-CD78-E78A-F864-A2B5BE531145}"/>
                </a:ext>
              </a:extLst>
            </p:cNvPr>
            <p:cNvSpPr/>
            <p:nvPr/>
          </p:nvSpPr>
          <p:spPr>
            <a:xfrm>
              <a:off x="7620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48" name="群組 47">
            <a:extLst>
              <a:ext uri="{FF2B5EF4-FFF2-40B4-BE49-F238E27FC236}">
                <a16:creationId xmlns:a16="http://schemas.microsoft.com/office/drawing/2014/main" id="{6567DF80-0E46-74DC-15CD-3361E075E382}"/>
              </a:ext>
            </a:extLst>
          </p:cNvPr>
          <p:cNvGrpSpPr/>
          <p:nvPr/>
        </p:nvGrpSpPr>
        <p:grpSpPr>
          <a:xfrm>
            <a:off x="7152744" y="2491812"/>
            <a:ext cx="3304800" cy="360000"/>
            <a:chOff x="4191927" y="3797552"/>
            <a:chExt cx="3304800" cy="431100"/>
          </a:xfrm>
        </p:grpSpPr>
        <p:sp>
          <p:nvSpPr>
            <p:cNvPr id="49" name="Google Shape;117;p16">
              <a:extLst>
                <a:ext uri="{FF2B5EF4-FFF2-40B4-BE49-F238E27FC236}">
                  <a16:creationId xmlns:a16="http://schemas.microsoft.com/office/drawing/2014/main" id="{EC57B7ED-D06D-669C-FD6A-FFAE6B5F2607}"/>
                </a:ext>
              </a:extLst>
            </p:cNvPr>
            <p:cNvSpPr/>
            <p:nvPr/>
          </p:nvSpPr>
          <p:spPr>
            <a:xfrm>
              <a:off x="4191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 name="Google Shape;118;p16">
              <a:extLst>
                <a:ext uri="{FF2B5EF4-FFF2-40B4-BE49-F238E27FC236}">
                  <a16:creationId xmlns:a16="http://schemas.microsoft.com/office/drawing/2014/main" id="{A7A60087-A551-0EA8-1C30-FC7BEF70C0A8}"/>
                </a:ext>
              </a:extLst>
            </p:cNvPr>
            <p:cNvSpPr/>
            <p:nvPr/>
          </p:nvSpPr>
          <p:spPr>
            <a:xfrm>
              <a:off x="4420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 name="Google Shape;119;p16">
              <a:extLst>
                <a:ext uri="{FF2B5EF4-FFF2-40B4-BE49-F238E27FC236}">
                  <a16:creationId xmlns:a16="http://schemas.microsoft.com/office/drawing/2014/main" id="{697E27E7-41DE-E84A-7640-36A8C5F1E01A}"/>
                </a:ext>
              </a:extLst>
            </p:cNvPr>
            <p:cNvSpPr/>
            <p:nvPr/>
          </p:nvSpPr>
          <p:spPr>
            <a:xfrm>
              <a:off x="4649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2" name="Google Shape;120;p16">
              <a:extLst>
                <a:ext uri="{FF2B5EF4-FFF2-40B4-BE49-F238E27FC236}">
                  <a16:creationId xmlns:a16="http://schemas.microsoft.com/office/drawing/2014/main" id="{F8CA6EC8-682B-F7DA-824F-A07FA8BE8CBC}"/>
                </a:ext>
              </a:extLst>
            </p:cNvPr>
            <p:cNvSpPr/>
            <p:nvPr/>
          </p:nvSpPr>
          <p:spPr>
            <a:xfrm>
              <a:off x="4877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3" name="Google Shape;121;p16">
              <a:extLst>
                <a:ext uri="{FF2B5EF4-FFF2-40B4-BE49-F238E27FC236}">
                  <a16:creationId xmlns:a16="http://schemas.microsoft.com/office/drawing/2014/main" id="{6A99603F-6A8A-0FA6-4BD8-C0B1F651C69C}"/>
                </a:ext>
              </a:extLst>
            </p:cNvPr>
            <p:cNvSpPr/>
            <p:nvPr/>
          </p:nvSpPr>
          <p:spPr>
            <a:xfrm>
              <a:off x="5106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4" name="Google Shape;122;p16">
              <a:extLst>
                <a:ext uri="{FF2B5EF4-FFF2-40B4-BE49-F238E27FC236}">
                  <a16:creationId xmlns:a16="http://schemas.microsoft.com/office/drawing/2014/main" id="{84062F96-45A9-18C3-3CE7-8D09A4EB24B7}"/>
                </a:ext>
              </a:extLst>
            </p:cNvPr>
            <p:cNvSpPr/>
            <p:nvPr/>
          </p:nvSpPr>
          <p:spPr>
            <a:xfrm>
              <a:off x="5334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5" name="Google Shape;123;p16">
              <a:extLst>
                <a:ext uri="{FF2B5EF4-FFF2-40B4-BE49-F238E27FC236}">
                  <a16:creationId xmlns:a16="http://schemas.microsoft.com/office/drawing/2014/main" id="{B92C49BB-6680-1419-E3AF-0F65F4A66986}"/>
                </a:ext>
              </a:extLst>
            </p:cNvPr>
            <p:cNvSpPr/>
            <p:nvPr/>
          </p:nvSpPr>
          <p:spPr>
            <a:xfrm>
              <a:off x="5563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6" name="Google Shape;124;p16">
              <a:extLst>
                <a:ext uri="{FF2B5EF4-FFF2-40B4-BE49-F238E27FC236}">
                  <a16:creationId xmlns:a16="http://schemas.microsoft.com/office/drawing/2014/main" id="{82D04B69-BFCE-98CC-7286-0D2EF3137518}"/>
                </a:ext>
              </a:extLst>
            </p:cNvPr>
            <p:cNvSpPr/>
            <p:nvPr/>
          </p:nvSpPr>
          <p:spPr>
            <a:xfrm>
              <a:off x="5792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7" name="Google Shape;146;p16">
              <a:extLst>
                <a:ext uri="{FF2B5EF4-FFF2-40B4-BE49-F238E27FC236}">
                  <a16:creationId xmlns:a16="http://schemas.microsoft.com/office/drawing/2014/main" id="{E73D03FC-C585-2EFA-7BCB-C7FEFDE877C6}"/>
                </a:ext>
              </a:extLst>
            </p:cNvPr>
            <p:cNvSpPr/>
            <p:nvPr/>
          </p:nvSpPr>
          <p:spPr>
            <a:xfrm>
              <a:off x="6020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 name="Google Shape;147;p16">
              <a:extLst>
                <a:ext uri="{FF2B5EF4-FFF2-40B4-BE49-F238E27FC236}">
                  <a16:creationId xmlns:a16="http://schemas.microsoft.com/office/drawing/2014/main" id="{9EB3DBF3-262B-728F-5572-8CFF51EB568D}"/>
                </a:ext>
              </a:extLst>
            </p:cNvPr>
            <p:cNvSpPr/>
            <p:nvPr/>
          </p:nvSpPr>
          <p:spPr>
            <a:xfrm>
              <a:off x="6249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 name="Google Shape;148;p16">
              <a:extLst>
                <a:ext uri="{FF2B5EF4-FFF2-40B4-BE49-F238E27FC236}">
                  <a16:creationId xmlns:a16="http://schemas.microsoft.com/office/drawing/2014/main" id="{90753377-1EC5-2B9B-E5CC-4E649A3DAD9E}"/>
                </a:ext>
              </a:extLst>
            </p:cNvPr>
            <p:cNvSpPr/>
            <p:nvPr/>
          </p:nvSpPr>
          <p:spPr>
            <a:xfrm>
              <a:off x="6477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0" name="Google Shape;149;p16">
              <a:extLst>
                <a:ext uri="{FF2B5EF4-FFF2-40B4-BE49-F238E27FC236}">
                  <a16:creationId xmlns:a16="http://schemas.microsoft.com/office/drawing/2014/main" id="{3CDE0F7E-0F11-4E2E-7CC1-F8A55F8472CE}"/>
                </a:ext>
              </a:extLst>
            </p:cNvPr>
            <p:cNvSpPr/>
            <p:nvPr/>
          </p:nvSpPr>
          <p:spPr>
            <a:xfrm>
              <a:off x="6706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1" name="Google Shape;150;p16">
              <a:extLst>
                <a:ext uri="{FF2B5EF4-FFF2-40B4-BE49-F238E27FC236}">
                  <a16:creationId xmlns:a16="http://schemas.microsoft.com/office/drawing/2014/main" id="{1F6B6BA5-ED0E-75DB-5ADC-4D34325C1F84}"/>
                </a:ext>
              </a:extLst>
            </p:cNvPr>
            <p:cNvSpPr/>
            <p:nvPr/>
          </p:nvSpPr>
          <p:spPr>
            <a:xfrm>
              <a:off x="6935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2" name="Google Shape;151;p16">
              <a:extLst>
                <a:ext uri="{FF2B5EF4-FFF2-40B4-BE49-F238E27FC236}">
                  <a16:creationId xmlns:a16="http://schemas.microsoft.com/office/drawing/2014/main" id="{59C0FA6B-6A54-E481-6E6A-3E41E60267FA}"/>
                </a:ext>
              </a:extLst>
            </p:cNvPr>
            <p:cNvSpPr/>
            <p:nvPr/>
          </p:nvSpPr>
          <p:spPr>
            <a:xfrm>
              <a:off x="7163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3" name="Google Shape;152;p16">
              <a:extLst>
                <a:ext uri="{FF2B5EF4-FFF2-40B4-BE49-F238E27FC236}">
                  <a16:creationId xmlns:a16="http://schemas.microsoft.com/office/drawing/2014/main" id="{1474F341-452F-1011-136B-40B3468E6B70}"/>
                </a:ext>
              </a:extLst>
            </p:cNvPr>
            <p:cNvSpPr/>
            <p:nvPr/>
          </p:nvSpPr>
          <p:spPr>
            <a:xfrm>
              <a:off x="7392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spTree>
    <p:extLst>
      <p:ext uri="{BB962C8B-B14F-4D97-AF65-F5344CB8AC3E}">
        <p14:creationId xmlns:p14="http://schemas.microsoft.com/office/powerpoint/2010/main" val="423544920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2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55BFC-7770-3A2B-95C9-EFC890BF274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99A8700-C784-B529-9B97-527427AF1F6D}"/>
              </a:ext>
            </a:extLst>
          </p:cNvPr>
          <p:cNvSpPr>
            <a:spLocks noGrp="1"/>
          </p:cNvSpPr>
          <p:nvPr>
            <p:ph type="title"/>
          </p:nvPr>
        </p:nvSpPr>
        <p:spPr/>
        <p:txBody>
          <a:bodyPr/>
          <a:lstStyle/>
          <a:p>
            <a:r>
              <a:rPr lang="en-US" altLang="zh-TW" dirty="0"/>
              <a:t>End-to-End Speech QA</a:t>
            </a:r>
            <a:endParaRPr lang="zh-TW" altLang="en-US" dirty="0"/>
          </a:p>
        </p:txBody>
      </p:sp>
      <p:sp>
        <p:nvSpPr>
          <p:cNvPr id="3" name="內容版面配置區 2">
            <a:extLst>
              <a:ext uri="{FF2B5EF4-FFF2-40B4-BE49-F238E27FC236}">
                <a16:creationId xmlns:a16="http://schemas.microsoft.com/office/drawing/2014/main" id="{1F18F73B-C953-E9DE-C5F3-31CD79B79D0F}"/>
              </a:ext>
            </a:extLst>
          </p:cNvPr>
          <p:cNvSpPr>
            <a:spLocks noGrp="1"/>
          </p:cNvSpPr>
          <p:nvPr>
            <p:ph idx="1"/>
          </p:nvPr>
        </p:nvSpPr>
        <p:spPr/>
        <p:txBody>
          <a:bodyPr/>
          <a:lstStyle/>
          <a:p>
            <a:endParaRPr lang="zh-TW" altLang="en-US" dirty="0"/>
          </a:p>
        </p:txBody>
      </p:sp>
      <p:sp>
        <p:nvSpPr>
          <p:cNvPr id="5" name="文字方塊 4">
            <a:extLst>
              <a:ext uri="{FF2B5EF4-FFF2-40B4-BE49-F238E27FC236}">
                <a16:creationId xmlns:a16="http://schemas.microsoft.com/office/drawing/2014/main" id="{7424C3D4-9805-5334-F700-B6F58946DE6D}"/>
              </a:ext>
            </a:extLst>
          </p:cNvPr>
          <p:cNvSpPr txBox="1"/>
          <p:nvPr/>
        </p:nvSpPr>
        <p:spPr>
          <a:xfrm>
            <a:off x="645710" y="5846544"/>
            <a:ext cx="465570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https://rc.signalprocessingsociety.org/conferences/icassp-2022/spsicassp22vid1971</a:t>
            </a:r>
          </a:p>
        </p:txBody>
      </p:sp>
      <p:pic>
        <p:nvPicPr>
          <p:cNvPr id="7" name="圖片 6">
            <a:extLst>
              <a:ext uri="{FF2B5EF4-FFF2-40B4-BE49-F238E27FC236}">
                <a16:creationId xmlns:a16="http://schemas.microsoft.com/office/drawing/2014/main" id="{89D7CBAD-D45F-2133-065C-51B4067D5652}"/>
              </a:ext>
            </a:extLst>
          </p:cNvPr>
          <p:cNvPicPr>
            <a:picLocks noChangeAspect="1"/>
          </p:cNvPicPr>
          <p:nvPr/>
        </p:nvPicPr>
        <p:blipFill>
          <a:blip r:embed="rId2"/>
          <a:stretch>
            <a:fillRect/>
          </a:stretch>
        </p:blipFill>
        <p:spPr>
          <a:xfrm>
            <a:off x="5232407" y="1690688"/>
            <a:ext cx="6542428" cy="4644454"/>
          </a:xfrm>
          <a:prstGeom prst="rect">
            <a:avLst/>
          </a:prstGeom>
        </p:spPr>
      </p:pic>
      <p:sp>
        <p:nvSpPr>
          <p:cNvPr id="8" name="文字方塊 7">
            <a:extLst>
              <a:ext uri="{FF2B5EF4-FFF2-40B4-BE49-F238E27FC236}">
                <a16:creationId xmlns:a16="http://schemas.microsoft.com/office/drawing/2014/main" id="{A46B2C3F-953E-1D28-486B-BD4E6F82252A}"/>
              </a:ext>
            </a:extLst>
          </p:cNvPr>
          <p:cNvSpPr txBox="1"/>
          <p:nvPr/>
        </p:nvSpPr>
        <p:spPr>
          <a:xfrm>
            <a:off x="10317458" y="3540617"/>
            <a:ext cx="201478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End-to-end speech QA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(without ASR)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9" name="直線單箭頭接點 8">
            <a:extLst>
              <a:ext uri="{FF2B5EF4-FFF2-40B4-BE49-F238E27FC236}">
                <a16:creationId xmlns:a16="http://schemas.microsoft.com/office/drawing/2014/main" id="{312C7E56-60D2-5BA1-6CFF-0D574BCC4943}"/>
              </a:ext>
            </a:extLst>
          </p:cNvPr>
          <p:cNvCxnSpPr/>
          <p:nvPr/>
        </p:nvCxnSpPr>
        <p:spPr>
          <a:xfrm flipV="1">
            <a:off x="8365745" y="3966515"/>
            <a:ext cx="635431" cy="5080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AABACA22-E944-72DD-8C2A-C031656301E9}"/>
              </a:ext>
            </a:extLst>
          </p:cNvPr>
          <p:cNvCxnSpPr>
            <a:cxnSpLocks/>
          </p:cNvCxnSpPr>
          <p:nvPr/>
        </p:nvCxnSpPr>
        <p:spPr>
          <a:xfrm flipH="1" flipV="1">
            <a:off x="9760055" y="3152355"/>
            <a:ext cx="557403" cy="5532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2C3CD522-2007-82C8-6079-994075FC0BEE}"/>
              </a:ext>
            </a:extLst>
          </p:cNvPr>
          <p:cNvSpPr txBox="1"/>
          <p:nvPr/>
        </p:nvSpPr>
        <p:spPr>
          <a:xfrm>
            <a:off x="6875035" y="4263893"/>
            <a:ext cx="2545774"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Cascade: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ASR + Text QA</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6" name="圖片 5">
            <a:extLst>
              <a:ext uri="{FF2B5EF4-FFF2-40B4-BE49-F238E27FC236}">
                <a16:creationId xmlns:a16="http://schemas.microsoft.com/office/drawing/2014/main" id="{7752B4D7-92CE-DC41-8F60-D3BC0F5579C5}"/>
              </a:ext>
            </a:extLst>
          </p:cNvPr>
          <p:cNvPicPr>
            <a:picLocks noChangeAspect="1"/>
          </p:cNvPicPr>
          <p:nvPr/>
        </p:nvPicPr>
        <p:blipFill>
          <a:blip r:embed="rId3"/>
          <a:stretch>
            <a:fillRect/>
          </a:stretch>
        </p:blipFill>
        <p:spPr>
          <a:xfrm>
            <a:off x="524014" y="3041149"/>
            <a:ext cx="4848199" cy="2713690"/>
          </a:xfrm>
          <a:prstGeom prst="rect">
            <a:avLst/>
          </a:prstGeom>
        </p:spPr>
      </p:pic>
      <p:sp>
        <p:nvSpPr>
          <p:cNvPr id="13" name="文字方塊 12">
            <a:extLst>
              <a:ext uri="{FF2B5EF4-FFF2-40B4-BE49-F238E27FC236}">
                <a16:creationId xmlns:a16="http://schemas.microsoft.com/office/drawing/2014/main" id="{8AF17CD1-7347-939C-10F4-6461ADED8223}"/>
              </a:ext>
            </a:extLst>
          </p:cNvPr>
          <p:cNvSpPr txBox="1"/>
          <p:nvPr/>
        </p:nvSpPr>
        <p:spPr>
          <a:xfrm>
            <a:off x="8503621" y="1417259"/>
            <a:ext cx="3688379" cy="369332"/>
          </a:xfrm>
          <a:prstGeom prst="rect">
            <a:avLst/>
          </a:prstGeom>
          <a:noFill/>
        </p:spPr>
        <p:txBody>
          <a:bodyPr wrap="square">
            <a:spAutoFit/>
          </a:bodyPr>
          <a:lstStyle/>
          <a:p>
            <a:pPr lvl="0">
              <a:defRPr/>
            </a:pPr>
            <a:r>
              <a:rPr lang="en-US" altLang="zh-TW" dirty="0"/>
              <a:t>https://arxiv.org/abs/2203.04911</a:t>
            </a:r>
            <a:endParaRPr kumimoji="0" lang="zh-TW" altLang="en-US" sz="1800" b="0" i="0" u="none" strike="noStrike" kern="1200" cap="none" spc="0" normalizeH="0" baseline="0" noProof="0" dirty="0">
              <a:ln>
                <a:noFill/>
              </a:ln>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6657216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79F23-89D9-B4DA-062A-EB52DF9191B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06A7F9E-B91D-A51D-3635-EF2C6B3B745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8256F81-EABD-CB10-99C8-28DB8894A18A}"/>
              </a:ext>
            </a:extLst>
          </p:cNvPr>
          <p:cNvSpPr>
            <a:spLocks noGrp="1"/>
          </p:cNvSpPr>
          <p:nvPr>
            <p:ph idx="1"/>
          </p:nvPr>
        </p:nvSpPr>
        <p:spPr/>
        <p:txBody>
          <a:bodyPr/>
          <a:lstStyle/>
          <a:p>
            <a:endParaRPr lang="zh-TW" altLang="en-US"/>
          </a:p>
        </p:txBody>
      </p:sp>
      <p:pic>
        <p:nvPicPr>
          <p:cNvPr id="5" name="Google Shape;397;p79">
            <a:extLst>
              <a:ext uri="{FF2B5EF4-FFF2-40B4-BE49-F238E27FC236}">
                <a16:creationId xmlns:a16="http://schemas.microsoft.com/office/drawing/2014/main" id="{568DFEE3-41A4-0285-8F0F-E577A6F4D3D4}"/>
              </a:ext>
            </a:extLst>
          </p:cNvPr>
          <p:cNvPicPr preferRelativeResize="0"/>
          <p:nvPr/>
        </p:nvPicPr>
        <p:blipFill>
          <a:blip r:embed="rId2">
            <a:alphaModFix/>
          </a:blip>
          <a:stretch>
            <a:fillRect/>
          </a:stretch>
        </p:blipFill>
        <p:spPr>
          <a:xfrm>
            <a:off x="264090" y="2548354"/>
            <a:ext cx="11861410" cy="3999389"/>
          </a:xfrm>
          <a:prstGeom prst="rect">
            <a:avLst/>
          </a:prstGeom>
          <a:noFill/>
          <a:ln>
            <a:noFill/>
          </a:ln>
        </p:spPr>
      </p:pic>
      <p:pic>
        <p:nvPicPr>
          <p:cNvPr id="6" name="圖片 5">
            <a:extLst>
              <a:ext uri="{FF2B5EF4-FFF2-40B4-BE49-F238E27FC236}">
                <a16:creationId xmlns:a16="http://schemas.microsoft.com/office/drawing/2014/main" id="{FFD469A9-30B4-D5D8-FCA3-07C0F90C0216}"/>
              </a:ext>
            </a:extLst>
          </p:cNvPr>
          <p:cNvPicPr>
            <a:picLocks noChangeAspect="1"/>
          </p:cNvPicPr>
          <p:nvPr/>
        </p:nvPicPr>
        <p:blipFill>
          <a:blip r:embed="rId3"/>
          <a:stretch>
            <a:fillRect/>
          </a:stretch>
        </p:blipFill>
        <p:spPr>
          <a:xfrm>
            <a:off x="683173" y="297230"/>
            <a:ext cx="10670627" cy="1996097"/>
          </a:xfrm>
          <a:prstGeom prst="rect">
            <a:avLst/>
          </a:prstGeom>
        </p:spPr>
      </p:pic>
      <p:sp>
        <p:nvSpPr>
          <p:cNvPr id="8" name="文字方塊 7">
            <a:extLst>
              <a:ext uri="{FF2B5EF4-FFF2-40B4-BE49-F238E27FC236}">
                <a16:creationId xmlns:a16="http://schemas.microsoft.com/office/drawing/2014/main" id="{6154480A-F61C-B187-8C4C-1424CADFBDF1}"/>
              </a:ext>
            </a:extLst>
          </p:cNvPr>
          <p:cNvSpPr txBox="1"/>
          <p:nvPr/>
        </p:nvSpPr>
        <p:spPr>
          <a:xfrm>
            <a:off x="8462732" y="1027460"/>
            <a:ext cx="60921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https://arxiv.org/abs/2205.10643</a:t>
            </a:r>
          </a:p>
        </p:txBody>
      </p:sp>
    </p:spTree>
    <p:extLst>
      <p:ext uri="{BB962C8B-B14F-4D97-AF65-F5344CB8AC3E}">
        <p14:creationId xmlns:p14="http://schemas.microsoft.com/office/powerpoint/2010/main" val="135917976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D94D2-AC67-C8E7-B367-E6FF1CDD5AD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51D8FCF-409C-30D7-D074-13069C2330CD}"/>
              </a:ext>
            </a:extLst>
          </p:cNvPr>
          <p:cNvSpPr>
            <a:spLocks noGrp="1"/>
          </p:cNvSpPr>
          <p:nvPr>
            <p:ph type="title"/>
          </p:nvPr>
        </p:nvSpPr>
        <p:spPr/>
        <p:txBody>
          <a:bodyPr/>
          <a:lstStyle/>
          <a:p>
            <a:r>
              <a:rPr lang="en-US" altLang="zh-TW" dirty="0"/>
              <a:t>Useful Toolkit! </a:t>
            </a:r>
            <a:endParaRPr lang="zh-TW" altLang="en-US" dirty="0"/>
          </a:p>
        </p:txBody>
      </p:sp>
      <p:pic>
        <p:nvPicPr>
          <p:cNvPr id="4" name="Picture 2">
            <a:extLst>
              <a:ext uri="{FF2B5EF4-FFF2-40B4-BE49-F238E27FC236}">
                <a16:creationId xmlns:a16="http://schemas.microsoft.com/office/drawing/2014/main" id="{CEA340D2-89B0-D04E-379C-2AABA80DD3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2902" y="241378"/>
            <a:ext cx="6346533" cy="5686999"/>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29EFDF24-554E-33C4-5770-08931FF7B936}"/>
              </a:ext>
            </a:extLst>
          </p:cNvPr>
          <p:cNvSpPr txBox="1"/>
          <p:nvPr/>
        </p:nvSpPr>
        <p:spPr>
          <a:xfrm>
            <a:off x="564971" y="4821706"/>
            <a:ext cx="1180407"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Creator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6" name="群組 5">
            <a:extLst>
              <a:ext uri="{FF2B5EF4-FFF2-40B4-BE49-F238E27FC236}">
                <a16:creationId xmlns:a16="http://schemas.microsoft.com/office/drawing/2014/main" id="{2A46EE74-1884-D3FD-4785-DF80C18213BD}"/>
              </a:ext>
            </a:extLst>
          </p:cNvPr>
          <p:cNvGrpSpPr/>
          <p:nvPr/>
        </p:nvGrpSpPr>
        <p:grpSpPr>
          <a:xfrm>
            <a:off x="3097226" y="4928698"/>
            <a:ext cx="1664208" cy="1369011"/>
            <a:chOff x="5824515" y="2397194"/>
            <a:chExt cx="1664208" cy="1369011"/>
          </a:xfrm>
        </p:grpSpPr>
        <p:pic>
          <p:nvPicPr>
            <p:cNvPr id="7" name="圖片 6" descr="一張含有 個人, 牆, 室內, 握住 的圖片&#10;&#10;自動產生的描述">
              <a:extLst>
                <a:ext uri="{FF2B5EF4-FFF2-40B4-BE49-F238E27FC236}">
                  <a16:creationId xmlns:a16="http://schemas.microsoft.com/office/drawing/2014/main" id="{9AB536F6-0B50-69F1-5F4B-80B3BEF7A94B}"/>
                </a:ext>
              </a:extLst>
            </p:cNvPr>
            <p:cNvPicPr>
              <a:picLocks noChangeAspect="1"/>
            </p:cNvPicPr>
            <p:nvPr/>
          </p:nvPicPr>
          <p:blipFill>
            <a:blip r:embed="rId4"/>
            <a:stretch>
              <a:fillRect/>
            </a:stretch>
          </p:blipFill>
          <p:spPr>
            <a:xfrm>
              <a:off x="6163056" y="2397194"/>
              <a:ext cx="993600" cy="97251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文字方塊 7">
              <a:extLst>
                <a:ext uri="{FF2B5EF4-FFF2-40B4-BE49-F238E27FC236}">
                  <a16:creationId xmlns:a16="http://schemas.microsoft.com/office/drawing/2014/main" id="{6F2BA65F-BCEE-8A48-6225-D25ECDE139AE}"/>
                </a:ext>
              </a:extLst>
            </p:cNvPr>
            <p:cNvSpPr txBox="1"/>
            <p:nvPr/>
          </p:nvSpPr>
          <p:spPr>
            <a:xfrm>
              <a:off x="5824515" y="3396873"/>
              <a:ext cx="1664208"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1D1C1D"/>
                  </a:solidFill>
                  <a:effectLst/>
                  <a:uLnTx/>
                  <a:uFillTx/>
                  <a:latin typeface="Calibri" panose="020F0502020204030204"/>
                  <a:ea typeface="新細明體" panose="02020500000000000000" pitchFamily="18" charset="-120"/>
                  <a:cs typeface="+mn-cs"/>
                </a:rPr>
                <a:t>Andy T. Liu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nvGrpSpPr>
          <p:cNvPr id="9" name="群組 8">
            <a:extLst>
              <a:ext uri="{FF2B5EF4-FFF2-40B4-BE49-F238E27FC236}">
                <a16:creationId xmlns:a16="http://schemas.microsoft.com/office/drawing/2014/main" id="{457E3436-F40C-5B31-818F-A873BD743209}"/>
              </a:ext>
            </a:extLst>
          </p:cNvPr>
          <p:cNvGrpSpPr/>
          <p:nvPr/>
        </p:nvGrpSpPr>
        <p:grpSpPr>
          <a:xfrm>
            <a:off x="1853307" y="4901292"/>
            <a:ext cx="2758940" cy="1687607"/>
            <a:chOff x="4557785" y="426776"/>
            <a:chExt cx="2758940" cy="1687607"/>
          </a:xfrm>
        </p:grpSpPr>
        <p:pic>
          <p:nvPicPr>
            <p:cNvPr id="10" name="圖片 9" descr="一張含有 文字, 膝上型電腦, 電腦, 桌 的圖片&#10;&#10;自動產生的描述">
              <a:extLst>
                <a:ext uri="{FF2B5EF4-FFF2-40B4-BE49-F238E27FC236}">
                  <a16:creationId xmlns:a16="http://schemas.microsoft.com/office/drawing/2014/main" id="{B823151F-DB0A-D2A6-B7FB-5907B05F4DD4}"/>
                </a:ext>
              </a:extLst>
            </p:cNvPr>
            <p:cNvPicPr>
              <a:picLocks noChangeAspect="1"/>
            </p:cNvPicPr>
            <p:nvPr/>
          </p:nvPicPr>
          <p:blipFill>
            <a:blip r:embed="rId5"/>
            <a:stretch>
              <a:fillRect/>
            </a:stretch>
          </p:blipFill>
          <p:spPr>
            <a:xfrm>
              <a:off x="4606044" y="426776"/>
              <a:ext cx="993600" cy="10412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1" name="文字方塊 10">
              <a:extLst>
                <a:ext uri="{FF2B5EF4-FFF2-40B4-BE49-F238E27FC236}">
                  <a16:creationId xmlns:a16="http://schemas.microsoft.com/office/drawing/2014/main" id="{9F2DA2C3-E427-FFF5-D5CC-7648AEF8D9C8}"/>
                </a:ext>
              </a:extLst>
            </p:cNvPr>
            <p:cNvSpPr txBox="1"/>
            <p:nvPr/>
          </p:nvSpPr>
          <p:spPr>
            <a:xfrm>
              <a:off x="4557785" y="1468052"/>
              <a:ext cx="2758940"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Shu-wen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(Leo) Yang</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3" name="Google Shape;434;p38">
            <a:extLst>
              <a:ext uri="{FF2B5EF4-FFF2-40B4-BE49-F238E27FC236}">
                <a16:creationId xmlns:a16="http://schemas.microsoft.com/office/drawing/2014/main" id="{5D03C1EC-2A67-AB59-9742-05649E2EAD3E}"/>
              </a:ext>
            </a:extLst>
          </p:cNvPr>
          <p:cNvSpPr txBox="1"/>
          <p:nvPr/>
        </p:nvSpPr>
        <p:spPr>
          <a:xfrm>
            <a:off x="838200" y="1258479"/>
            <a:ext cx="3713306" cy="608400"/>
          </a:xfrm>
          <a:prstGeom prst="rect">
            <a:avLst/>
          </a:prstGeom>
          <a:no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PT Sans Narrow"/>
                <a:sym typeface="PT Sans Narrow"/>
              </a:rPr>
              <a:t>The S3PRL toolkit</a:t>
            </a:r>
            <a:endParaRPr kumimoji="0" sz="2800" b="1" i="0" u="sng"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PT Sans Narrow"/>
              <a:sym typeface="PT Sans Narrow"/>
            </a:endParaRPr>
          </a:p>
        </p:txBody>
      </p:sp>
      <p:grpSp>
        <p:nvGrpSpPr>
          <p:cNvPr id="15" name="群組 14">
            <a:extLst>
              <a:ext uri="{FF2B5EF4-FFF2-40B4-BE49-F238E27FC236}">
                <a16:creationId xmlns:a16="http://schemas.microsoft.com/office/drawing/2014/main" id="{C2247C01-533A-DA0D-3A58-298B654F7779}"/>
              </a:ext>
            </a:extLst>
          </p:cNvPr>
          <p:cNvGrpSpPr/>
          <p:nvPr/>
        </p:nvGrpSpPr>
        <p:grpSpPr>
          <a:xfrm>
            <a:off x="1155174" y="1870469"/>
            <a:ext cx="6096000" cy="2529890"/>
            <a:chOff x="1016144" y="1799356"/>
            <a:chExt cx="6096000" cy="2529890"/>
          </a:xfrm>
        </p:grpSpPr>
        <p:pic>
          <p:nvPicPr>
            <p:cNvPr id="4098" name="Picture 2">
              <a:extLst>
                <a:ext uri="{FF2B5EF4-FFF2-40B4-BE49-F238E27FC236}">
                  <a16:creationId xmlns:a16="http://schemas.microsoft.com/office/drawing/2014/main" id="{B2D63B97-C60C-E3DB-CFC8-DC6C761EC1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1779" y="1799356"/>
              <a:ext cx="2280593" cy="2280593"/>
            </a:xfrm>
            <a:prstGeom prst="rect">
              <a:avLst/>
            </a:prstGeom>
            <a:noFill/>
            <a:extLst>
              <a:ext uri="{909E8E84-426E-40DD-AFC4-6F175D3DCCD1}">
                <a14:hiddenFill xmlns:a14="http://schemas.microsoft.com/office/drawing/2010/main">
                  <a:solidFill>
                    <a:srgbClr val="FFFFFF"/>
                  </a:solidFill>
                </a14:hiddenFill>
              </a:ext>
            </a:extLst>
          </p:spPr>
        </p:pic>
        <p:sp>
          <p:nvSpPr>
            <p:cNvPr id="13" name="文字方塊 12">
              <a:extLst>
                <a:ext uri="{FF2B5EF4-FFF2-40B4-BE49-F238E27FC236}">
                  <a16:creationId xmlns:a16="http://schemas.microsoft.com/office/drawing/2014/main" id="{5D1D3C24-2133-196D-73E8-E17316E61BA9}"/>
                </a:ext>
              </a:extLst>
            </p:cNvPr>
            <p:cNvSpPr txBox="1"/>
            <p:nvPr/>
          </p:nvSpPr>
          <p:spPr>
            <a:xfrm>
              <a:off x="1016144" y="395991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https://github.com/s3prl/s3prl</a:t>
              </a:r>
            </a:p>
          </p:txBody>
        </p:sp>
      </p:grpSp>
      <p:sp>
        <p:nvSpPr>
          <p:cNvPr id="14" name="文字方塊 13">
            <a:extLst>
              <a:ext uri="{FF2B5EF4-FFF2-40B4-BE49-F238E27FC236}">
                <a16:creationId xmlns:a16="http://schemas.microsoft.com/office/drawing/2014/main" id="{ABF7BADA-4F1A-E998-9F22-3AC8D4C3E0C6}"/>
              </a:ext>
            </a:extLst>
          </p:cNvPr>
          <p:cNvSpPr txBox="1"/>
          <p:nvPr/>
        </p:nvSpPr>
        <p:spPr>
          <a:xfrm>
            <a:off x="5565541" y="6040981"/>
            <a:ext cx="6096000"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Over </a:t>
            </a:r>
            <a:r>
              <a:rPr kumimoji="0" lang="en-US" altLang="zh-TW" sz="2800" b="0" i="0" u="sng" strike="noStrike" kern="1200" cap="none" spc="0" normalizeH="0" baseline="0" noProof="0" dirty="0">
                <a:ln>
                  <a:noFill/>
                </a:ln>
                <a:effectLst/>
                <a:uLnTx/>
                <a:uFillTx/>
                <a:latin typeface="Calibri" panose="020F0502020204030204"/>
                <a:ea typeface="新細明體" panose="02020500000000000000" pitchFamily="18" charset="-120"/>
                <a:cs typeface="+mn-cs"/>
              </a:rPr>
              <a:t>2.5</a:t>
            </a:r>
            <a:r>
              <a:rPr kumimoji="0" lang="zh-TW" altLang="zh-TW" sz="2800" b="0" i="0" u="sng" strike="noStrike" kern="1200" cap="none" spc="0" normalizeH="0" baseline="0" noProof="0" dirty="0">
                <a:ln>
                  <a:noFill/>
                </a:ln>
                <a:effectLst/>
                <a:uLnTx/>
                <a:uFillTx/>
                <a:latin typeface="Calibri" panose="020F0502020204030204"/>
                <a:ea typeface="新細明體" panose="02020500000000000000" pitchFamily="18" charset="-120"/>
                <a:cs typeface="+mn-cs"/>
              </a:rPr>
              <a:t>k stars</a:t>
            </a:r>
            <a:r>
              <a:rPr kumimoji="0" lang="zh-TW" altLang="zh-TW" sz="2800" b="0" i="0" u="none" strike="noStrike" kern="1200" cap="none" spc="0" normalizeH="0" baseline="0" noProof="0" dirty="0">
                <a:ln>
                  <a:noFill/>
                </a:ln>
                <a:effectLst/>
                <a:uLnTx/>
                <a:uFillTx/>
                <a:latin typeface="Calibri" panose="020F0502020204030204"/>
                <a:ea typeface="新細明體" panose="02020500000000000000" pitchFamily="18" charset="-120"/>
                <a:cs typeface="+mn-cs"/>
              </a:rPr>
              <a:t> </a:t>
            </a:r>
            <a:r>
              <a:rPr kumimoji="0" lang="zh-TW"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&amp; used by over </a:t>
            </a:r>
            <a:r>
              <a:rPr lang="en-US" altLang="zh-TW" sz="2800" u="sng" dirty="0">
                <a:solidFill>
                  <a:prstClr val="black"/>
                </a:solidFill>
                <a:latin typeface="Calibri" panose="020F0502020204030204"/>
                <a:ea typeface="新細明體" panose="02020500000000000000" pitchFamily="18" charset="-120"/>
              </a:rPr>
              <a:t>180</a:t>
            </a:r>
            <a:r>
              <a:rPr kumimoji="0" lang="zh-TW" altLang="zh-TW" sz="2800" b="0"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repos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06200824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C3F212-8F8A-3A27-DCC2-6A67703D233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2" name="Group 11">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3" name="Freeform: Shape 12">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標題 1">
            <a:extLst>
              <a:ext uri="{FF2B5EF4-FFF2-40B4-BE49-F238E27FC236}">
                <a16:creationId xmlns:a16="http://schemas.microsoft.com/office/drawing/2014/main" id="{C29F08CB-019F-540F-7327-FB7B102F6806}"/>
              </a:ext>
            </a:extLst>
          </p:cNvPr>
          <p:cNvSpPr>
            <a:spLocks noGrp="1"/>
          </p:cNvSpPr>
          <p:nvPr>
            <p:ph type="ctrTitle"/>
          </p:nvPr>
        </p:nvSpPr>
        <p:spPr>
          <a:xfrm>
            <a:off x="-305" y="2043663"/>
            <a:ext cx="12191999" cy="2031055"/>
          </a:xfrm>
        </p:spPr>
        <p:txBody>
          <a:bodyPr>
            <a:normAutofit/>
          </a:bodyPr>
          <a:lstStyle/>
          <a:p>
            <a:r>
              <a:rPr lang="en-US" altLang="zh-TW" sz="7200" dirty="0">
                <a:solidFill>
                  <a:schemeClr val="tx2"/>
                </a:solidFill>
                <a:latin typeface="微軟正黑體" panose="020B0604030504040204" pitchFamily="34" charset="-120"/>
                <a:ea typeface="微軟正黑體" panose="020B0604030504040204" pitchFamily="34" charset="-120"/>
              </a:rPr>
              <a:t>2. </a:t>
            </a:r>
            <a:r>
              <a:rPr lang="zh-TW" altLang="en-US" sz="7200" dirty="0">
                <a:solidFill>
                  <a:schemeClr val="tx2"/>
                </a:solidFill>
                <a:latin typeface="微軟正黑體" panose="020B0604030504040204" pitchFamily="34" charset="-120"/>
                <a:ea typeface="微軟正黑體" panose="020B0604030504040204" pitchFamily="34" charset="-120"/>
              </a:rPr>
              <a:t>初代語音語言模型</a:t>
            </a:r>
          </a:p>
        </p:txBody>
      </p:sp>
      <p:sp>
        <p:nvSpPr>
          <p:cNvPr id="3" name="副標題 2">
            <a:extLst>
              <a:ext uri="{FF2B5EF4-FFF2-40B4-BE49-F238E27FC236}">
                <a16:creationId xmlns:a16="http://schemas.microsoft.com/office/drawing/2014/main" id="{EF59780B-8AE1-18F7-B26D-C146ECA579F8}"/>
              </a:ext>
            </a:extLst>
          </p:cNvPr>
          <p:cNvSpPr>
            <a:spLocks noGrp="1"/>
          </p:cNvSpPr>
          <p:nvPr>
            <p:ph type="subTitle" idx="1"/>
          </p:nvPr>
        </p:nvSpPr>
        <p:spPr>
          <a:xfrm>
            <a:off x="3045368" y="4160126"/>
            <a:ext cx="6105194" cy="682079"/>
          </a:xfrm>
        </p:spPr>
        <p:txBody>
          <a:bodyPr>
            <a:normAutofit/>
          </a:bodyPr>
          <a:lstStyle/>
          <a:p>
            <a:endParaRPr lang="zh-TW" altLang="en-US">
              <a:solidFill>
                <a:schemeClr val="tx2"/>
              </a:solidFill>
            </a:endParaRPr>
          </a:p>
        </p:txBody>
      </p:sp>
    </p:spTree>
    <p:extLst>
      <p:ext uri="{BB962C8B-B14F-4D97-AF65-F5344CB8AC3E}">
        <p14:creationId xmlns:p14="http://schemas.microsoft.com/office/powerpoint/2010/main" val="265462732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7900E-7BA5-8D4C-AD14-C22624E8474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C1429D4-3D07-6031-0193-02CE6ECBFFAF}"/>
              </a:ext>
            </a:extLst>
          </p:cNvPr>
          <p:cNvSpPr>
            <a:spLocks noGrp="1"/>
          </p:cNvSpPr>
          <p:nvPr>
            <p:ph type="title"/>
          </p:nvPr>
        </p:nvSpPr>
        <p:spPr/>
        <p:txBody>
          <a:bodyPr/>
          <a:lstStyle/>
          <a:p>
            <a:r>
              <a:rPr lang="en-US" altLang="zh-TW" dirty="0"/>
              <a:t>Speech LLM</a:t>
            </a:r>
            <a:endParaRPr lang="zh-TW" altLang="en-US" dirty="0"/>
          </a:p>
        </p:txBody>
      </p:sp>
      <p:sp>
        <p:nvSpPr>
          <p:cNvPr id="35" name="矩形: 圓角 34">
            <a:extLst>
              <a:ext uri="{FF2B5EF4-FFF2-40B4-BE49-F238E27FC236}">
                <a16:creationId xmlns:a16="http://schemas.microsoft.com/office/drawing/2014/main" id="{9A775D1E-EE23-D920-2861-955547412E1F}"/>
              </a:ext>
            </a:extLst>
          </p:cNvPr>
          <p:cNvSpPr/>
          <p:nvPr/>
        </p:nvSpPr>
        <p:spPr>
          <a:xfrm>
            <a:off x="5142095" y="5060323"/>
            <a:ext cx="1907809"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6" name="直線單箭頭接點 35">
            <a:extLst>
              <a:ext uri="{FF2B5EF4-FFF2-40B4-BE49-F238E27FC236}">
                <a16:creationId xmlns:a16="http://schemas.microsoft.com/office/drawing/2014/main" id="{4E8DAF4A-236E-B080-9AB1-91DB900253AE}"/>
              </a:ext>
            </a:extLst>
          </p:cNvPr>
          <p:cNvCxnSpPr>
            <a:cxnSpLocks/>
          </p:cNvCxnSpPr>
          <p:nvPr/>
        </p:nvCxnSpPr>
        <p:spPr>
          <a:xfrm>
            <a:off x="7164204" y="5652691"/>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81508D9F-E3F6-6A59-6984-C173F03E1796}"/>
              </a:ext>
            </a:extLst>
          </p:cNvPr>
          <p:cNvCxnSpPr>
            <a:cxnSpLocks/>
          </p:cNvCxnSpPr>
          <p:nvPr/>
        </p:nvCxnSpPr>
        <p:spPr>
          <a:xfrm>
            <a:off x="4211454" y="5652691"/>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群組 23">
            <a:extLst>
              <a:ext uri="{FF2B5EF4-FFF2-40B4-BE49-F238E27FC236}">
                <a16:creationId xmlns:a16="http://schemas.microsoft.com/office/drawing/2014/main" id="{15F271A2-2D29-A300-0F63-6EB900EFCC49}"/>
              </a:ext>
            </a:extLst>
          </p:cNvPr>
          <p:cNvGrpSpPr/>
          <p:nvPr/>
        </p:nvGrpSpPr>
        <p:grpSpPr>
          <a:xfrm>
            <a:off x="1388282" y="1810225"/>
            <a:ext cx="4410982" cy="734878"/>
            <a:chOff x="393073" y="5022255"/>
            <a:chExt cx="2117030" cy="878286"/>
          </a:xfrm>
        </p:grpSpPr>
        <p:pic>
          <p:nvPicPr>
            <p:cNvPr id="28"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95A5106E-4969-BDA2-7BE9-CA0B9352315D}"/>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29"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160D9F79-555F-F52C-907B-BBE4005CB607}"/>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32" name="文字方塊 31">
            <a:extLst>
              <a:ext uri="{FF2B5EF4-FFF2-40B4-BE49-F238E27FC236}">
                <a16:creationId xmlns:a16="http://schemas.microsoft.com/office/drawing/2014/main" id="{4AC683DF-A323-9027-4ED2-37D83B8A8A66}"/>
              </a:ext>
            </a:extLst>
          </p:cNvPr>
          <p:cNvSpPr txBox="1"/>
          <p:nvPr/>
        </p:nvSpPr>
        <p:spPr>
          <a:xfrm>
            <a:off x="2333012" y="1542436"/>
            <a:ext cx="238674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Waveform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文字方塊 33">
            <a:extLst>
              <a:ext uri="{FF2B5EF4-FFF2-40B4-BE49-F238E27FC236}">
                <a16:creationId xmlns:a16="http://schemas.microsoft.com/office/drawing/2014/main" id="{75C50FE0-C602-2E5B-B6BA-ED3C40BB4E34}"/>
              </a:ext>
            </a:extLst>
          </p:cNvPr>
          <p:cNvSpPr txBox="1"/>
          <p:nvPr/>
        </p:nvSpPr>
        <p:spPr>
          <a:xfrm>
            <a:off x="2504803" y="4410308"/>
            <a:ext cx="238853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Token Sequence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7" name="直線單箭頭接點 36">
            <a:extLst>
              <a:ext uri="{FF2B5EF4-FFF2-40B4-BE49-F238E27FC236}">
                <a16:creationId xmlns:a16="http://schemas.microsoft.com/office/drawing/2014/main" id="{29868AF4-3EFB-F162-9853-4FCA63B9B8F6}"/>
              </a:ext>
            </a:extLst>
          </p:cNvPr>
          <p:cNvCxnSpPr>
            <a:cxnSpLocks/>
          </p:cNvCxnSpPr>
          <p:nvPr/>
        </p:nvCxnSpPr>
        <p:spPr>
          <a:xfrm>
            <a:off x="2341773"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F0B3A321-C890-B370-D826-DFA8570FD969}"/>
              </a:ext>
            </a:extLst>
          </p:cNvPr>
          <p:cNvCxnSpPr>
            <a:cxnSpLocks/>
          </p:cNvCxnSpPr>
          <p:nvPr/>
        </p:nvCxnSpPr>
        <p:spPr>
          <a:xfrm>
            <a:off x="1743729"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E993A96C-9B28-B52C-F200-AA822321B1F6}"/>
              </a:ext>
            </a:extLst>
          </p:cNvPr>
          <p:cNvCxnSpPr>
            <a:cxnSpLocks/>
          </p:cNvCxnSpPr>
          <p:nvPr/>
        </p:nvCxnSpPr>
        <p:spPr>
          <a:xfrm>
            <a:off x="2939817"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EEA6B6FE-205B-2602-5FCE-348F91F06361}"/>
              </a:ext>
            </a:extLst>
          </p:cNvPr>
          <p:cNvCxnSpPr>
            <a:cxnSpLocks/>
          </p:cNvCxnSpPr>
          <p:nvPr/>
        </p:nvCxnSpPr>
        <p:spPr>
          <a:xfrm>
            <a:off x="3537861"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a:extLst>
              <a:ext uri="{FF2B5EF4-FFF2-40B4-BE49-F238E27FC236}">
                <a16:creationId xmlns:a16="http://schemas.microsoft.com/office/drawing/2014/main" id="{1FFD5DF4-A6A6-F6D2-A428-F9B14FD8F177}"/>
              </a:ext>
            </a:extLst>
          </p:cNvPr>
          <p:cNvCxnSpPr>
            <a:cxnSpLocks/>
          </p:cNvCxnSpPr>
          <p:nvPr/>
        </p:nvCxnSpPr>
        <p:spPr>
          <a:xfrm>
            <a:off x="4135905"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a:extLst>
              <a:ext uri="{FF2B5EF4-FFF2-40B4-BE49-F238E27FC236}">
                <a16:creationId xmlns:a16="http://schemas.microsoft.com/office/drawing/2014/main" id="{42CBA340-103A-2F54-E2B4-D66FC9578AC3}"/>
              </a:ext>
            </a:extLst>
          </p:cNvPr>
          <p:cNvCxnSpPr>
            <a:cxnSpLocks/>
          </p:cNvCxnSpPr>
          <p:nvPr/>
        </p:nvCxnSpPr>
        <p:spPr>
          <a:xfrm>
            <a:off x="4733949"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26518D71-8473-6AB9-79E0-6EB8FA6E8A71}"/>
              </a:ext>
            </a:extLst>
          </p:cNvPr>
          <p:cNvCxnSpPr>
            <a:cxnSpLocks/>
          </p:cNvCxnSpPr>
          <p:nvPr/>
        </p:nvCxnSpPr>
        <p:spPr>
          <a:xfrm>
            <a:off x="5331994"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圓角 50">
            <a:extLst>
              <a:ext uri="{FF2B5EF4-FFF2-40B4-BE49-F238E27FC236}">
                <a16:creationId xmlns:a16="http://schemas.microsoft.com/office/drawing/2014/main" id="{F611219B-0078-3E28-1ADD-DE0478374622}"/>
              </a:ext>
            </a:extLst>
          </p:cNvPr>
          <p:cNvSpPr/>
          <p:nvPr/>
        </p:nvSpPr>
        <p:spPr>
          <a:xfrm>
            <a:off x="1578634" y="3993831"/>
            <a:ext cx="30479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矩形: 圓角 51">
            <a:extLst>
              <a:ext uri="{FF2B5EF4-FFF2-40B4-BE49-F238E27FC236}">
                <a16:creationId xmlns:a16="http://schemas.microsoft.com/office/drawing/2014/main" id="{98F6AD72-E7BB-FC15-FCC7-85F1111F0682}"/>
              </a:ext>
            </a:extLst>
          </p:cNvPr>
          <p:cNvSpPr/>
          <p:nvPr/>
        </p:nvSpPr>
        <p:spPr>
          <a:xfrm>
            <a:off x="2180617" y="3993831"/>
            <a:ext cx="30479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3" name="矩形: 圓角 52">
            <a:extLst>
              <a:ext uri="{FF2B5EF4-FFF2-40B4-BE49-F238E27FC236}">
                <a16:creationId xmlns:a16="http://schemas.microsoft.com/office/drawing/2014/main" id="{6E07586A-38B2-7C8B-D7A5-D2535126BA44}"/>
              </a:ext>
            </a:extLst>
          </p:cNvPr>
          <p:cNvSpPr/>
          <p:nvPr/>
        </p:nvSpPr>
        <p:spPr>
          <a:xfrm>
            <a:off x="2782600" y="3993831"/>
            <a:ext cx="30479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4" name="矩形: 圓角 53">
            <a:extLst>
              <a:ext uri="{FF2B5EF4-FFF2-40B4-BE49-F238E27FC236}">
                <a16:creationId xmlns:a16="http://schemas.microsoft.com/office/drawing/2014/main" id="{0645F680-42EC-E372-B6D2-A2E13CCE0BDA}"/>
              </a:ext>
            </a:extLst>
          </p:cNvPr>
          <p:cNvSpPr/>
          <p:nvPr/>
        </p:nvSpPr>
        <p:spPr>
          <a:xfrm>
            <a:off x="3384583" y="3993831"/>
            <a:ext cx="304790" cy="361950"/>
          </a:xfrm>
          <a:prstGeom prst="roundRect">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5" name="矩形: 圓角 54">
            <a:extLst>
              <a:ext uri="{FF2B5EF4-FFF2-40B4-BE49-F238E27FC236}">
                <a16:creationId xmlns:a16="http://schemas.microsoft.com/office/drawing/2014/main" id="{19345BAD-3FB9-E358-99CF-574E894A015F}"/>
              </a:ext>
            </a:extLst>
          </p:cNvPr>
          <p:cNvSpPr/>
          <p:nvPr/>
        </p:nvSpPr>
        <p:spPr>
          <a:xfrm>
            <a:off x="3986566" y="3993831"/>
            <a:ext cx="304790"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6" name="矩形: 圓角 55">
            <a:extLst>
              <a:ext uri="{FF2B5EF4-FFF2-40B4-BE49-F238E27FC236}">
                <a16:creationId xmlns:a16="http://schemas.microsoft.com/office/drawing/2014/main" id="{C5443850-578D-6919-FB49-00F3DFB3C737}"/>
              </a:ext>
            </a:extLst>
          </p:cNvPr>
          <p:cNvSpPr/>
          <p:nvPr/>
        </p:nvSpPr>
        <p:spPr>
          <a:xfrm>
            <a:off x="4588549" y="3993831"/>
            <a:ext cx="304790" cy="361950"/>
          </a:xfrm>
          <a:prstGeom prst="roundRect">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7" name="矩形: 圓角 56">
            <a:extLst>
              <a:ext uri="{FF2B5EF4-FFF2-40B4-BE49-F238E27FC236}">
                <a16:creationId xmlns:a16="http://schemas.microsoft.com/office/drawing/2014/main" id="{0B75614E-F207-FA68-70F2-9027CCE53764}"/>
              </a:ext>
            </a:extLst>
          </p:cNvPr>
          <p:cNvSpPr/>
          <p:nvPr/>
        </p:nvSpPr>
        <p:spPr>
          <a:xfrm>
            <a:off x="5190532" y="3993831"/>
            <a:ext cx="304790" cy="361950"/>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2" name="矩形: 圓角 61">
            <a:extLst>
              <a:ext uri="{FF2B5EF4-FFF2-40B4-BE49-F238E27FC236}">
                <a16:creationId xmlns:a16="http://schemas.microsoft.com/office/drawing/2014/main" id="{B9C4E631-85B9-1723-85C4-C4E5242052AF}"/>
              </a:ext>
            </a:extLst>
          </p:cNvPr>
          <p:cNvSpPr/>
          <p:nvPr/>
        </p:nvSpPr>
        <p:spPr>
          <a:xfrm>
            <a:off x="3790941" y="5477325"/>
            <a:ext cx="30479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3" name="矩形: 圓角 62">
            <a:extLst>
              <a:ext uri="{FF2B5EF4-FFF2-40B4-BE49-F238E27FC236}">
                <a16:creationId xmlns:a16="http://schemas.microsoft.com/office/drawing/2014/main" id="{569C789A-1A65-371E-7F50-B917023E30D0}"/>
              </a:ext>
            </a:extLst>
          </p:cNvPr>
          <p:cNvSpPr/>
          <p:nvPr/>
        </p:nvSpPr>
        <p:spPr>
          <a:xfrm>
            <a:off x="3219450" y="5477325"/>
            <a:ext cx="30479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4" name="矩形: 圓角 63">
            <a:extLst>
              <a:ext uri="{FF2B5EF4-FFF2-40B4-BE49-F238E27FC236}">
                <a16:creationId xmlns:a16="http://schemas.microsoft.com/office/drawing/2014/main" id="{BE2971FD-D65D-A421-2BE6-CA680A2823C6}"/>
              </a:ext>
            </a:extLst>
          </p:cNvPr>
          <p:cNvSpPr/>
          <p:nvPr/>
        </p:nvSpPr>
        <p:spPr>
          <a:xfrm>
            <a:off x="8118890" y="5478463"/>
            <a:ext cx="30479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矩形: 圓角 2">
            <a:extLst>
              <a:ext uri="{FF2B5EF4-FFF2-40B4-BE49-F238E27FC236}">
                <a16:creationId xmlns:a16="http://schemas.microsoft.com/office/drawing/2014/main" id="{1BFE06A5-54DF-0FD5-634F-0FE2BD7628AC}"/>
              </a:ext>
            </a:extLst>
          </p:cNvPr>
          <p:cNvSpPr/>
          <p:nvPr/>
        </p:nvSpPr>
        <p:spPr>
          <a:xfrm>
            <a:off x="1348947" y="2842114"/>
            <a:ext cx="4387972" cy="673754"/>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Tokenizer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文字方塊 4">
            <a:extLst>
              <a:ext uri="{FF2B5EF4-FFF2-40B4-BE49-F238E27FC236}">
                <a16:creationId xmlns:a16="http://schemas.microsoft.com/office/drawing/2014/main" id="{016316FB-6597-813C-47B4-3A55557F112F}"/>
              </a:ext>
            </a:extLst>
          </p:cNvPr>
          <p:cNvSpPr txBox="1"/>
          <p:nvPr/>
        </p:nvSpPr>
        <p:spPr>
          <a:xfrm>
            <a:off x="7765239" y="877749"/>
            <a:ext cx="3675202" cy="369332"/>
          </a:xfrm>
          <a:prstGeom prst="rect">
            <a:avLst/>
          </a:prstGeom>
          <a:noFill/>
        </p:spPr>
        <p:txBody>
          <a:bodyPr wrap="square">
            <a:spAutoFit/>
          </a:bodyPr>
          <a:lstStyle/>
          <a:p>
            <a:r>
              <a:rPr lang="zh-TW" altLang="en-US" dirty="0"/>
              <a:t>https://arxiv.org/abs/2102.01192</a:t>
            </a:r>
          </a:p>
        </p:txBody>
      </p:sp>
      <p:sp>
        <p:nvSpPr>
          <p:cNvPr id="7" name="文字方塊 6">
            <a:extLst>
              <a:ext uri="{FF2B5EF4-FFF2-40B4-BE49-F238E27FC236}">
                <a16:creationId xmlns:a16="http://schemas.microsoft.com/office/drawing/2014/main" id="{9B9C37FC-8AE6-3540-F248-1CB0DA017DD2}"/>
              </a:ext>
            </a:extLst>
          </p:cNvPr>
          <p:cNvSpPr txBox="1"/>
          <p:nvPr/>
        </p:nvSpPr>
        <p:spPr>
          <a:xfrm>
            <a:off x="5249182" y="349030"/>
            <a:ext cx="6093068" cy="633315"/>
          </a:xfrm>
          <a:prstGeom prst="rect">
            <a:avLst/>
          </a:prstGeom>
          <a:noFill/>
        </p:spPr>
        <p:txBody>
          <a:bodyPr wrap="square">
            <a:spAutoFit/>
          </a:bodyPr>
          <a:lstStyle/>
          <a:p>
            <a:pPr algn="l">
              <a:lnSpc>
                <a:spcPts val="2099"/>
              </a:lnSpc>
              <a:spcAft>
                <a:spcPts val="900"/>
              </a:spcAft>
              <a:buNone/>
            </a:pPr>
            <a:r>
              <a:rPr lang="en-US" altLang="zh-TW" sz="2400" i="0" dirty="0">
                <a:solidFill>
                  <a:srgbClr val="000000"/>
                </a:solidFill>
                <a:effectLst/>
                <a:latin typeface="Lucida Grande"/>
              </a:rPr>
              <a:t>Generative Spoken Language Modeling</a:t>
            </a:r>
            <a:r>
              <a:rPr lang="zh-TW" altLang="en-US" sz="2400" i="0" dirty="0">
                <a:solidFill>
                  <a:srgbClr val="000000"/>
                </a:solidFill>
                <a:effectLst/>
                <a:latin typeface="Lucida Grande"/>
              </a:rPr>
              <a:t> </a:t>
            </a:r>
            <a:r>
              <a:rPr lang="en-US" altLang="zh-TW" sz="2400" i="0" dirty="0">
                <a:solidFill>
                  <a:srgbClr val="000000"/>
                </a:solidFill>
                <a:effectLst/>
                <a:latin typeface="Lucida Grande"/>
              </a:rPr>
              <a:t>(GSLM) from Raw Audio</a:t>
            </a:r>
          </a:p>
        </p:txBody>
      </p:sp>
      <p:grpSp>
        <p:nvGrpSpPr>
          <p:cNvPr id="8" name="群組 7">
            <a:extLst>
              <a:ext uri="{FF2B5EF4-FFF2-40B4-BE49-F238E27FC236}">
                <a16:creationId xmlns:a16="http://schemas.microsoft.com/office/drawing/2014/main" id="{2E153A57-EE55-83D0-B390-FF82A2C0BD1E}"/>
              </a:ext>
            </a:extLst>
          </p:cNvPr>
          <p:cNvGrpSpPr/>
          <p:nvPr/>
        </p:nvGrpSpPr>
        <p:grpSpPr>
          <a:xfrm>
            <a:off x="6560385" y="1810225"/>
            <a:ext cx="4410982" cy="734878"/>
            <a:chOff x="393073" y="5022255"/>
            <a:chExt cx="2117030" cy="878286"/>
          </a:xfrm>
        </p:grpSpPr>
        <p:pic>
          <p:nvPicPr>
            <p:cNvPr id="9"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2D56419B-C669-5F2F-1C09-46733CBBF2A3}"/>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10"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47141EB-1A38-7C1F-BDAA-B16526697F52}"/>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11" name="文字方塊 10">
            <a:extLst>
              <a:ext uri="{FF2B5EF4-FFF2-40B4-BE49-F238E27FC236}">
                <a16:creationId xmlns:a16="http://schemas.microsoft.com/office/drawing/2014/main" id="{61187825-5C74-69B6-720B-4845DD46A45F}"/>
              </a:ext>
            </a:extLst>
          </p:cNvPr>
          <p:cNvSpPr txBox="1"/>
          <p:nvPr/>
        </p:nvSpPr>
        <p:spPr>
          <a:xfrm>
            <a:off x="7505115" y="1542436"/>
            <a:ext cx="238674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Waveform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2" name="直線單箭頭接點 11">
            <a:extLst>
              <a:ext uri="{FF2B5EF4-FFF2-40B4-BE49-F238E27FC236}">
                <a16:creationId xmlns:a16="http://schemas.microsoft.com/office/drawing/2014/main" id="{E8262BEE-83E8-4A9E-B37D-C5A23B04B37D}"/>
              </a:ext>
            </a:extLst>
          </p:cNvPr>
          <p:cNvCxnSpPr>
            <a:cxnSpLocks/>
          </p:cNvCxnSpPr>
          <p:nvPr/>
        </p:nvCxnSpPr>
        <p:spPr>
          <a:xfrm flipV="1">
            <a:off x="7513876"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E5245A88-9EC5-E650-67C3-57AECF0E6008}"/>
              </a:ext>
            </a:extLst>
          </p:cNvPr>
          <p:cNvCxnSpPr>
            <a:cxnSpLocks/>
          </p:cNvCxnSpPr>
          <p:nvPr/>
        </p:nvCxnSpPr>
        <p:spPr>
          <a:xfrm flipV="1">
            <a:off x="6915832"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64962EA8-D983-316E-C8AB-0CDAB56AAD8D}"/>
              </a:ext>
            </a:extLst>
          </p:cNvPr>
          <p:cNvCxnSpPr>
            <a:cxnSpLocks/>
          </p:cNvCxnSpPr>
          <p:nvPr/>
        </p:nvCxnSpPr>
        <p:spPr>
          <a:xfrm flipV="1">
            <a:off x="8111920"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78BC76E8-962B-CBD3-1E1D-892D8C4E6194}"/>
              </a:ext>
            </a:extLst>
          </p:cNvPr>
          <p:cNvCxnSpPr>
            <a:cxnSpLocks/>
          </p:cNvCxnSpPr>
          <p:nvPr/>
        </p:nvCxnSpPr>
        <p:spPr>
          <a:xfrm flipV="1">
            <a:off x="8709964"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72483110-4CAE-8AD2-8675-180010171F77}"/>
              </a:ext>
            </a:extLst>
          </p:cNvPr>
          <p:cNvCxnSpPr>
            <a:cxnSpLocks/>
          </p:cNvCxnSpPr>
          <p:nvPr/>
        </p:nvCxnSpPr>
        <p:spPr>
          <a:xfrm flipV="1">
            <a:off x="9308008"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D9AF1D90-40A8-DC21-E095-01D1CE5B26A5}"/>
              </a:ext>
            </a:extLst>
          </p:cNvPr>
          <p:cNvCxnSpPr>
            <a:cxnSpLocks/>
          </p:cNvCxnSpPr>
          <p:nvPr/>
        </p:nvCxnSpPr>
        <p:spPr>
          <a:xfrm flipV="1">
            <a:off x="9906052"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370556AA-EE7B-885E-E712-4E436EAFDCC8}"/>
              </a:ext>
            </a:extLst>
          </p:cNvPr>
          <p:cNvCxnSpPr>
            <a:cxnSpLocks/>
          </p:cNvCxnSpPr>
          <p:nvPr/>
        </p:nvCxnSpPr>
        <p:spPr>
          <a:xfrm flipV="1">
            <a:off x="10504097" y="2545103"/>
            <a:ext cx="0" cy="1351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圓角 18">
            <a:extLst>
              <a:ext uri="{FF2B5EF4-FFF2-40B4-BE49-F238E27FC236}">
                <a16:creationId xmlns:a16="http://schemas.microsoft.com/office/drawing/2014/main" id="{12FDBDE3-E123-2C0D-2D2A-888A1483C2E5}"/>
              </a:ext>
            </a:extLst>
          </p:cNvPr>
          <p:cNvSpPr/>
          <p:nvPr/>
        </p:nvSpPr>
        <p:spPr>
          <a:xfrm>
            <a:off x="6750737" y="3993831"/>
            <a:ext cx="30479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81C8EB94-E676-5D8F-5B41-8AFAE2B82468}"/>
              </a:ext>
            </a:extLst>
          </p:cNvPr>
          <p:cNvSpPr/>
          <p:nvPr/>
        </p:nvSpPr>
        <p:spPr>
          <a:xfrm>
            <a:off x="7352720" y="3993831"/>
            <a:ext cx="30479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1B6C6FCA-A8D0-5A6A-94DB-A62580EC6B85}"/>
              </a:ext>
            </a:extLst>
          </p:cNvPr>
          <p:cNvSpPr/>
          <p:nvPr/>
        </p:nvSpPr>
        <p:spPr>
          <a:xfrm>
            <a:off x="7954703" y="3993831"/>
            <a:ext cx="30479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07359FA2-D7A0-7E65-CB4B-6550778581E5}"/>
              </a:ext>
            </a:extLst>
          </p:cNvPr>
          <p:cNvSpPr/>
          <p:nvPr/>
        </p:nvSpPr>
        <p:spPr>
          <a:xfrm>
            <a:off x="8556686" y="3993831"/>
            <a:ext cx="304790" cy="361950"/>
          </a:xfrm>
          <a:prstGeom prst="roundRect">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BB908769-B0DA-06CB-7446-B4A13E09B65E}"/>
              </a:ext>
            </a:extLst>
          </p:cNvPr>
          <p:cNvSpPr/>
          <p:nvPr/>
        </p:nvSpPr>
        <p:spPr>
          <a:xfrm>
            <a:off x="9158669" y="3993831"/>
            <a:ext cx="304790"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矩形: 圓角 26">
            <a:extLst>
              <a:ext uri="{FF2B5EF4-FFF2-40B4-BE49-F238E27FC236}">
                <a16:creationId xmlns:a16="http://schemas.microsoft.com/office/drawing/2014/main" id="{E6A411A1-7444-1B20-1821-EC6BF297ED14}"/>
              </a:ext>
            </a:extLst>
          </p:cNvPr>
          <p:cNvSpPr/>
          <p:nvPr/>
        </p:nvSpPr>
        <p:spPr>
          <a:xfrm>
            <a:off x="9760652" y="3993831"/>
            <a:ext cx="304790" cy="361950"/>
          </a:xfrm>
          <a:prstGeom prst="roundRect">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矩形: 圓角 32">
            <a:extLst>
              <a:ext uri="{FF2B5EF4-FFF2-40B4-BE49-F238E27FC236}">
                <a16:creationId xmlns:a16="http://schemas.microsoft.com/office/drawing/2014/main" id="{4BC4E18D-9FB6-E748-6A4D-300D995A4698}"/>
              </a:ext>
            </a:extLst>
          </p:cNvPr>
          <p:cNvSpPr/>
          <p:nvPr/>
        </p:nvSpPr>
        <p:spPr>
          <a:xfrm>
            <a:off x="10362635" y="3993831"/>
            <a:ext cx="304790" cy="361950"/>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矩形: 圓角 38">
            <a:extLst>
              <a:ext uri="{FF2B5EF4-FFF2-40B4-BE49-F238E27FC236}">
                <a16:creationId xmlns:a16="http://schemas.microsoft.com/office/drawing/2014/main" id="{7FBF1776-A8D5-82E4-3CCD-D01897534514}"/>
              </a:ext>
            </a:extLst>
          </p:cNvPr>
          <p:cNvSpPr/>
          <p:nvPr/>
        </p:nvSpPr>
        <p:spPr>
          <a:xfrm>
            <a:off x="6521050" y="2842114"/>
            <a:ext cx="4387972" cy="673754"/>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Detokenizer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文字方塊 42">
            <a:extLst>
              <a:ext uri="{FF2B5EF4-FFF2-40B4-BE49-F238E27FC236}">
                <a16:creationId xmlns:a16="http://schemas.microsoft.com/office/drawing/2014/main" id="{D643E9FE-2AD2-01ED-C32C-0D902DD68C9B}"/>
              </a:ext>
            </a:extLst>
          </p:cNvPr>
          <p:cNvSpPr txBox="1"/>
          <p:nvPr/>
        </p:nvSpPr>
        <p:spPr>
          <a:xfrm>
            <a:off x="7667208" y="4439429"/>
            <a:ext cx="238853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Token Sequence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矩形: 圓角 44">
            <a:extLst>
              <a:ext uri="{FF2B5EF4-FFF2-40B4-BE49-F238E27FC236}">
                <a16:creationId xmlns:a16="http://schemas.microsoft.com/office/drawing/2014/main" id="{CBA96B3F-1C84-165A-F5B6-88878B8EFB20}"/>
              </a:ext>
            </a:extLst>
          </p:cNvPr>
          <p:cNvSpPr/>
          <p:nvPr/>
        </p:nvSpPr>
        <p:spPr>
          <a:xfrm>
            <a:off x="1388216" y="5477325"/>
            <a:ext cx="304790" cy="361950"/>
          </a:xfrm>
          <a:prstGeom prst="roundRect">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矩形: 圓角 45">
            <a:extLst>
              <a:ext uri="{FF2B5EF4-FFF2-40B4-BE49-F238E27FC236}">
                <a16:creationId xmlns:a16="http://schemas.microsoft.com/office/drawing/2014/main" id="{54EA306B-66EA-EE75-E80B-97CAAC8A31AC}"/>
              </a:ext>
            </a:extLst>
          </p:cNvPr>
          <p:cNvSpPr/>
          <p:nvPr/>
        </p:nvSpPr>
        <p:spPr>
          <a:xfrm>
            <a:off x="1990199" y="5477325"/>
            <a:ext cx="304790"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矩形: 圓角 47">
            <a:extLst>
              <a:ext uri="{FF2B5EF4-FFF2-40B4-BE49-F238E27FC236}">
                <a16:creationId xmlns:a16="http://schemas.microsoft.com/office/drawing/2014/main" id="{74357D37-4EED-5BDD-5E8D-EEC8F624EE86}"/>
              </a:ext>
            </a:extLst>
          </p:cNvPr>
          <p:cNvSpPr/>
          <p:nvPr/>
        </p:nvSpPr>
        <p:spPr>
          <a:xfrm>
            <a:off x="2592182" y="5477325"/>
            <a:ext cx="304790" cy="361950"/>
          </a:xfrm>
          <a:prstGeom prst="roundRect">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9" name="矩形: 圓角 58">
            <a:extLst>
              <a:ext uri="{FF2B5EF4-FFF2-40B4-BE49-F238E27FC236}">
                <a16:creationId xmlns:a16="http://schemas.microsoft.com/office/drawing/2014/main" id="{7B97983C-BCAE-7A6E-2B31-59EAEC93BD57}"/>
              </a:ext>
            </a:extLst>
          </p:cNvPr>
          <p:cNvSpPr/>
          <p:nvPr/>
        </p:nvSpPr>
        <p:spPr>
          <a:xfrm>
            <a:off x="8752147" y="5471716"/>
            <a:ext cx="30479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0" name="矩形: 圓角 59">
            <a:extLst>
              <a:ext uri="{FF2B5EF4-FFF2-40B4-BE49-F238E27FC236}">
                <a16:creationId xmlns:a16="http://schemas.microsoft.com/office/drawing/2014/main" id="{3C9D83A9-A18C-E051-D62E-ACCE080A257C}"/>
              </a:ext>
            </a:extLst>
          </p:cNvPr>
          <p:cNvSpPr/>
          <p:nvPr/>
        </p:nvSpPr>
        <p:spPr>
          <a:xfrm>
            <a:off x="9354130" y="5471716"/>
            <a:ext cx="30479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6" name="矩形: 圓角 65">
            <a:extLst>
              <a:ext uri="{FF2B5EF4-FFF2-40B4-BE49-F238E27FC236}">
                <a16:creationId xmlns:a16="http://schemas.microsoft.com/office/drawing/2014/main" id="{30CEBBFE-7F80-3B7A-A786-D2539C621F16}"/>
              </a:ext>
            </a:extLst>
          </p:cNvPr>
          <p:cNvSpPr/>
          <p:nvPr/>
        </p:nvSpPr>
        <p:spPr>
          <a:xfrm>
            <a:off x="9956113" y="5471716"/>
            <a:ext cx="30479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7" name="矩形: 圓角 66">
            <a:extLst>
              <a:ext uri="{FF2B5EF4-FFF2-40B4-BE49-F238E27FC236}">
                <a16:creationId xmlns:a16="http://schemas.microsoft.com/office/drawing/2014/main" id="{5DF6968F-173A-E591-702B-7C8B01A6E1A4}"/>
              </a:ext>
            </a:extLst>
          </p:cNvPr>
          <p:cNvSpPr/>
          <p:nvPr/>
        </p:nvSpPr>
        <p:spPr>
          <a:xfrm>
            <a:off x="10558096" y="5471716"/>
            <a:ext cx="304790" cy="361950"/>
          </a:xfrm>
          <a:prstGeom prst="roundRect">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2298667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2" grpId="0"/>
      <p:bldP spid="34" grpId="0"/>
      <p:bldP spid="51" grpId="0" animBg="1"/>
      <p:bldP spid="52" grpId="0" animBg="1"/>
      <p:bldP spid="53" grpId="0" animBg="1"/>
      <p:bldP spid="54" grpId="0" animBg="1"/>
      <p:bldP spid="55" grpId="0" animBg="1"/>
      <p:bldP spid="56" grpId="0" animBg="1"/>
      <p:bldP spid="57" grpId="0" animBg="1"/>
      <p:bldP spid="62" grpId="0" animBg="1"/>
      <p:bldP spid="63" grpId="0" animBg="1"/>
      <p:bldP spid="64" grpId="0" animBg="1"/>
      <p:bldP spid="3" grpId="0" animBg="1"/>
      <p:bldP spid="11" grpId="0"/>
      <p:bldP spid="19" grpId="0" animBg="1"/>
      <p:bldP spid="20" grpId="0" animBg="1"/>
      <p:bldP spid="21" grpId="0" animBg="1"/>
      <p:bldP spid="22" grpId="0" animBg="1"/>
      <p:bldP spid="23" grpId="0" animBg="1"/>
      <p:bldP spid="27" grpId="0" animBg="1"/>
      <p:bldP spid="33" grpId="0" animBg="1"/>
      <p:bldP spid="39" grpId="0" animBg="1"/>
      <p:bldP spid="43" grpId="0"/>
      <p:bldP spid="45" grpId="0" animBg="1"/>
      <p:bldP spid="46" grpId="0" animBg="1"/>
      <p:bldP spid="48" grpId="0" animBg="1"/>
      <p:bldP spid="59" grpId="0" animBg="1"/>
      <p:bldP spid="60" grpId="0" animBg="1"/>
      <p:bldP spid="66" grpId="0" animBg="1"/>
      <p:bldP spid="6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7A0F8-47E8-3C27-BDE2-A2DF8D48EB3F}"/>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501694B3-E58D-AFA4-8F27-5DB6CBB2D08D}"/>
              </a:ext>
            </a:extLst>
          </p:cNvPr>
          <p:cNvGrpSpPr/>
          <p:nvPr/>
        </p:nvGrpSpPr>
        <p:grpSpPr>
          <a:xfrm>
            <a:off x="1763557" y="191386"/>
            <a:ext cx="4716860" cy="734878"/>
            <a:chOff x="393073" y="5022255"/>
            <a:chExt cx="2117030" cy="878286"/>
          </a:xfrm>
        </p:grpSpPr>
        <p:pic>
          <p:nvPicPr>
            <p:cNvPr id="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C9C92E5B-DEFA-E37D-67D1-33FD195090A1}"/>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8D8997FB-6C88-1D7A-52D1-6F58A7DA7ECB}"/>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7" name="矩形: 圓角 6">
            <a:extLst>
              <a:ext uri="{FF2B5EF4-FFF2-40B4-BE49-F238E27FC236}">
                <a16:creationId xmlns:a16="http://schemas.microsoft.com/office/drawing/2014/main" id="{F2F454F1-745F-4BF6-AE50-04720ED84617}"/>
              </a:ext>
            </a:extLst>
          </p:cNvPr>
          <p:cNvSpPr/>
          <p:nvPr/>
        </p:nvSpPr>
        <p:spPr>
          <a:xfrm>
            <a:off x="1833291" y="1290091"/>
            <a:ext cx="4410982" cy="673753"/>
          </a:xfrm>
          <a:prstGeom prst="roundRect">
            <a:avLst/>
          </a:prstGeom>
          <a:solidFill>
            <a:srgbClr val="5B9BD5">
              <a:lumMod val="20000"/>
              <a:lumOff val="80000"/>
            </a:srgbClr>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Representation Model</a:t>
            </a:r>
            <a:endParaRPr kumimoji="0" lang="zh-TW" altLang="en-US" sz="2400" b="0"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1" name="矩形: 圓角 10">
            <a:extLst>
              <a:ext uri="{FF2B5EF4-FFF2-40B4-BE49-F238E27FC236}">
                <a16:creationId xmlns:a16="http://schemas.microsoft.com/office/drawing/2014/main" id="{D2EDD5BD-C6CC-38C5-7D07-CEB19EE8C380}"/>
              </a:ext>
            </a:extLst>
          </p:cNvPr>
          <p:cNvSpPr/>
          <p:nvPr/>
        </p:nvSpPr>
        <p:spPr>
          <a:xfrm>
            <a:off x="1919556" y="2385625"/>
            <a:ext cx="323850" cy="676924"/>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35FD1445-9267-3A65-34B2-51D2D4886EEC}"/>
              </a:ext>
            </a:extLst>
          </p:cNvPr>
          <p:cNvSpPr/>
          <p:nvPr/>
        </p:nvSpPr>
        <p:spPr>
          <a:xfrm>
            <a:off x="2480479" y="2388966"/>
            <a:ext cx="323850" cy="676924"/>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6E63879A-D277-3B9B-E850-0EDE76192B9F}"/>
              </a:ext>
            </a:extLst>
          </p:cNvPr>
          <p:cNvSpPr/>
          <p:nvPr/>
        </p:nvSpPr>
        <p:spPr>
          <a:xfrm>
            <a:off x="3041402" y="2388966"/>
            <a:ext cx="323850" cy="676924"/>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7AAD8A1F-0FDC-18C3-A565-96FDD520E57B}"/>
              </a:ext>
            </a:extLst>
          </p:cNvPr>
          <p:cNvSpPr/>
          <p:nvPr/>
        </p:nvSpPr>
        <p:spPr>
          <a:xfrm>
            <a:off x="3602325" y="2388966"/>
            <a:ext cx="323850" cy="676924"/>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804D3A8A-787B-0BC8-CD40-F898D5F65CB2}"/>
              </a:ext>
            </a:extLst>
          </p:cNvPr>
          <p:cNvSpPr/>
          <p:nvPr/>
        </p:nvSpPr>
        <p:spPr>
          <a:xfrm>
            <a:off x="4163248" y="2388966"/>
            <a:ext cx="323850" cy="676924"/>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6FDF34B8-6DF1-866C-8D2C-24E8DD9AD8C6}"/>
              </a:ext>
            </a:extLst>
          </p:cNvPr>
          <p:cNvSpPr/>
          <p:nvPr/>
        </p:nvSpPr>
        <p:spPr>
          <a:xfrm>
            <a:off x="4724171" y="2388966"/>
            <a:ext cx="323850" cy="676924"/>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413715F3-8A32-ED5D-9CD7-1B54374FE51F}"/>
              </a:ext>
            </a:extLst>
          </p:cNvPr>
          <p:cNvSpPr/>
          <p:nvPr/>
        </p:nvSpPr>
        <p:spPr>
          <a:xfrm>
            <a:off x="5285094" y="2388966"/>
            <a:ext cx="323850" cy="676924"/>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1CE0DA9D-9660-811E-AECD-DFDECF419213}"/>
              </a:ext>
            </a:extLst>
          </p:cNvPr>
          <p:cNvSpPr/>
          <p:nvPr/>
        </p:nvSpPr>
        <p:spPr>
          <a:xfrm>
            <a:off x="5846020" y="2391907"/>
            <a:ext cx="323850" cy="676924"/>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2EDA00C6-2B32-3024-14C6-BBF967E1BF44}"/>
              </a:ext>
            </a:extLst>
          </p:cNvPr>
          <p:cNvSpPr/>
          <p:nvPr/>
        </p:nvSpPr>
        <p:spPr>
          <a:xfrm>
            <a:off x="1856700" y="3840956"/>
            <a:ext cx="45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2E1A597E-73FC-26CB-C024-1C1F3010D4B8}"/>
              </a:ext>
            </a:extLst>
          </p:cNvPr>
          <p:cNvSpPr/>
          <p:nvPr/>
        </p:nvSpPr>
        <p:spPr>
          <a:xfrm>
            <a:off x="2417592" y="3840956"/>
            <a:ext cx="45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377B9B69-EBF6-9A40-DA16-C5F9306D0F17}"/>
              </a:ext>
            </a:extLst>
          </p:cNvPr>
          <p:cNvSpPr/>
          <p:nvPr/>
        </p:nvSpPr>
        <p:spPr>
          <a:xfrm>
            <a:off x="2978484" y="3840956"/>
            <a:ext cx="45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C2166F9F-7362-EBC1-50C3-676EB8190AA0}"/>
              </a:ext>
            </a:extLst>
          </p:cNvPr>
          <p:cNvSpPr/>
          <p:nvPr/>
        </p:nvSpPr>
        <p:spPr>
          <a:xfrm>
            <a:off x="3539376" y="3840956"/>
            <a:ext cx="45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5EA94597-6727-FC40-369C-84B8D462E939}"/>
              </a:ext>
            </a:extLst>
          </p:cNvPr>
          <p:cNvSpPr/>
          <p:nvPr/>
        </p:nvSpPr>
        <p:spPr>
          <a:xfrm>
            <a:off x="4100268" y="3840956"/>
            <a:ext cx="450000"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FF274198-4AAC-908F-CC77-0C4D5BBCCDBF}"/>
              </a:ext>
            </a:extLst>
          </p:cNvPr>
          <p:cNvSpPr/>
          <p:nvPr/>
        </p:nvSpPr>
        <p:spPr>
          <a:xfrm>
            <a:off x="4661160" y="3840956"/>
            <a:ext cx="45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172886B1-F4A9-E18B-1D68-F1EE1CD0D526}"/>
              </a:ext>
            </a:extLst>
          </p:cNvPr>
          <p:cNvSpPr/>
          <p:nvPr/>
        </p:nvSpPr>
        <p:spPr>
          <a:xfrm>
            <a:off x="5222052" y="3840956"/>
            <a:ext cx="45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3ECE8F7F-2875-3E01-E9CD-B3DA38A82BF8}"/>
              </a:ext>
            </a:extLst>
          </p:cNvPr>
          <p:cNvSpPr/>
          <p:nvPr/>
        </p:nvSpPr>
        <p:spPr>
          <a:xfrm>
            <a:off x="5782945" y="3840956"/>
            <a:ext cx="45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8" name="直線單箭頭接點 27">
            <a:extLst>
              <a:ext uri="{FF2B5EF4-FFF2-40B4-BE49-F238E27FC236}">
                <a16:creationId xmlns:a16="http://schemas.microsoft.com/office/drawing/2014/main" id="{5F099605-2F97-483F-266B-11A3A7AEF4B1}"/>
              </a:ext>
            </a:extLst>
          </p:cNvPr>
          <p:cNvCxnSpPr/>
          <p:nvPr/>
        </p:nvCxnSpPr>
        <p:spPr>
          <a:xfrm>
            <a:off x="4021529" y="776672"/>
            <a:ext cx="0" cy="42178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D258D978-EF59-9C9D-9E6E-6C12F02CEFA4}"/>
              </a:ext>
            </a:extLst>
          </p:cNvPr>
          <p:cNvCxnSpPr/>
          <p:nvPr/>
        </p:nvCxnSpPr>
        <p:spPr>
          <a:xfrm>
            <a:off x="4021529" y="1963844"/>
            <a:ext cx="0" cy="42178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C499E0E2-3FF1-8424-D96A-78E8BEDAFF57}"/>
              </a:ext>
            </a:extLst>
          </p:cNvPr>
          <p:cNvCxnSpPr>
            <a:cxnSpLocks/>
          </p:cNvCxnSpPr>
          <p:nvPr/>
        </p:nvCxnSpPr>
        <p:spPr>
          <a:xfrm>
            <a:off x="4021529" y="3198649"/>
            <a:ext cx="0" cy="49124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9C00F0ED-5795-3048-0FB3-29EF89817453}"/>
              </a:ext>
            </a:extLst>
          </p:cNvPr>
          <p:cNvCxnSpPr>
            <a:cxnSpLocks/>
          </p:cNvCxnSpPr>
          <p:nvPr/>
        </p:nvCxnSpPr>
        <p:spPr>
          <a:xfrm>
            <a:off x="4036043" y="4427410"/>
            <a:ext cx="0" cy="491249"/>
          </a:xfrm>
          <a:prstGeom prst="straightConnector1">
            <a:avLst/>
          </a:prstGeom>
          <a:ln w="762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8" name="矩形: 圓角 37">
            <a:extLst>
              <a:ext uri="{FF2B5EF4-FFF2-40B4-BE49-F238E27FC236}">
                <a16:creationId xmlns:a16="http://schemas.microsoft.com/office/drawing/2014/main" id="{0822ACA1-2171-8433-EDF7-F2A582B843E0}"/>
              </a:ext>
            </a:extLst>
          </p:cNvPr>
          <p:cNvSpPr/>
          <p:nvPr/>
        </p:nvSpPr>
        <p:spPr>
          <a:xfrm>
            <a:off x="1868028" y="5026015"/>
            <a:ext cx="45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矩形: 圓角 38">
            <a:extLst>
              <a:ext uri="{FF2B5EF4-FFF2-40B4-BE49-F238E27FC236}">
                <a16:creationId xmlns:a16="http://schemas.microsoft.com/office/drawing/2014/main" id="{8AC4A021-3D47-3BCD-92B1-3B704145FBB3}"/>
              </a:ext>
            </a:extLst>
          </p:cNvPr>
          <p:cNvSpPr/>
          <p:nvPr/>
        </p:nvSpPr>
        <p:spPr>
          <a:xfrm>
            <a:off x="2428920" y="5026015"/>
            <a:ext cx="45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矩形: 圓角 41">
            <a:extLst>
              <a:ext uri="{FF2B5EF4-FFF2-40B4-BE49-F238E27FC236}">
                <a16:creationId xmlns:a16="http://schemas.microsoft.com/office/drawing/2014/main" id="{BE903D2D-8D38-C242-7AEB-CF00C3672811}"/>
              </a:ext>
            </a:extLst>
          </p:cNvPr>
          <p:cNvSpPr/>
          <p:nvPr/>
        </p:nvSpPr>
        <p:spPr>
          <a:xfrm>
            <a:off x="4111596" y="5026015"/>
            <a:ext cx="450000"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矩形: 圓角 42">
            <a:extLst>
              <a:ext uri="{FF2B5EF4-FFF2-40B4-BE49-F238E27FC236}">
                <a16:creationId xmlns:a16="http://schemas.microsoft.com/office/drawing/2014/main" id="{014B5EDC-5F13-3E98-3315-414D870A72E8}"/>
              </a:ext>
            </a:extLst>
          </p:cNvPr>
          <p:cNvSpPr/>
          <p:nvPr/>
        </p:nvSpPr>
        <p:spPr>
          <a:xfrm>
            <a:off x="4672488" y="5026015"/>
            <a:ext cx="45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矩形: 圓角 44">
            <a:extLst>
              <a:ext uri="{FF2B5EF4-FFF2-40B4-BE49-F238E27FC236}">
                <a16:creationId xmlns:a16="http://schemas.microsoft.com/office/drawing/2014/main" id="{D8215C09-669E-E65C-C98D-228D70533536}"/>
              </a:ext>
            </a:extLst>
          </p:cNvPr>
          <p:cNvSpPr/>
          <p:nvPr/>
        </p:nvSpPr>
        <p:spPr>
          <a:xfrm>
            <a:off x="5794273" y="5026015"/>
            <a:ext cx="45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6" name="直線單箭頭接點 45">
            <a:extLst>
              <a:ext uri="{FF2B5EF4-FFF2-40B4-BE49-F238E27FC236}">
                <a16:creationId xmlns:a16="http://schemas.microsoft.com/office/drawing/2014/main" id="{223EDDF6-9181-0B2D-6926-46C396C75A62}"/>
              </a:ext>
            </a:extLst>
          </p:cNvPr>
          <p:cNvCxnSpPr>
            <a:cxnSpLocks/>
          </p:cNvCxnSpPr>
          <p:nvPr/>
        </p:nvCxnSpPr>
        <p:spPr>
          <a:xfrm>
            <a:off x="4065904" y="5569882"/>
            <a:ext cx="0" cy="491249"/>
          </a:xfrm>
          <a:prstGeom prst="straightConnector1">
            <a:avLst/>
          </a:prstGeom>
          <a:ln w="762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8" name="矩形: 圓角 47">
            <a:extLst>
              <a:ext uri="{FF2B5EF4-FFF2-40B4-BE49-F238E27FC236}">
                <a16:creationId xmlns:a16="http://schemas.microsoft.com/office/drawing/2014/main" id="{703745B4-8302-8C2F-EDCB-9540D8891606}"/>
              </a:ext>
            </a:extLst>
          </p:cNvPr>
          <p:cNvSpPr/>
          <p:nvPr/>
        </p:nvSpPr>
        <p:spPr>
          <a:xfrm>
            <a:off x="3089258" y="6207899"/>
            <a:ext cx="45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5</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矩形: 圓角 48">
            <a:extLst>
              <a:ext uri="{FF2B5EF4-FFF2-40B4-BE49-F238E27FC236}">
                <a16:creationId xmlns:a16="http://schemas.microsoft.com/office/drawing/2014/main" id="{081914BB-0DFD-0609-06BB-C2314184008B}"/>
              </a:ext>
            </a:extLst>
          </p:cNvPr>
          <p:cNvSpPr/>
          <p:nvPr/>
        </p:nvSpPr>
        <p:spPr>
          <a:xfrm>
            <a:off x="3840904" y="6199708"/>
            <a:ext cx="450000"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矩形: 圓角 50">
            <a:extLst>
              <a:ext uri="{FF2B5EF4-FFF2-40B4-BE49-F238E27FC236}">
                <a16:creationId xmlns:a16="http://schemas.microsoft.com/office/drawing/2014/main" id="{B3912443-C250-2E5B-4794-EE11C0B75FC8}"/>
              </a:ext>
            </a:extLst>
          </p:cNvPr>
          <p:cNvSpPr/>
          <p:nvPr/>
        </p:nvSpPr>
        <p:spPr>
          <a:xfrm>
            <a:off x="4598021" y="6207899"/>
            <a:ext cx="45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5</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矩形: 圓角 36">
            <a:extLst>
              <a:ext uri="{FF2B5EF4-FFF2-40B4-BE49-F238E27FC236}">
                <a16:creationId xmlns:a16="http://schemas.microsoft.com/office/drawing/2014/main" id="{3FE78E82-2230-2116-6BB2-EBE1C2FFBE48}"/>
              </a:ext>
            </a:extLst>
          </p:cNvPr>
          <p:cNvSpPr/>
          <p:nvPr/>
        </p:nvSpPr>
        <p:spPr>
          <a:xfrm>
            <a:off x="1769268" y="4952687"/>
            <a:ext cx="1196516" cy="513569"/>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0" name="矩形: 圓角 39">
            <a:extLst>
              <a:ext uri="{FF2B5EF4-FFF2-40B4-BE49-F238E27FC236}">
                <a16:creationId xmlns:a16="http://schemas.microsoft.com/office/drawing/2014/main" id="{016930BB-47C5-4489-C725-BC078B40634C}"/>
              </a:ext>
            </a:extLst>
          </p:cNvPr>
          <p:cNvSpPr/>
          <p:nvPr/>
        </p:nvSpPr>
        <p:spPr>
          <a:xfrm>
            <a:off x="4623793" y="4955953"/>
            <a:ext cx="1715279" cy="513569"/>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1" name="矩形: 圓角 30">
            <a:extLst>
              <a:ext uri="{FF2B5EF4-FFF2-40B4-BE49-F238E27FC236}">
                <a16:creationId xmlns:a16="http://schemas.microsoft.com/office/drawing/2014/main" id="{CAD20E16-AA3D-0A89-F8EB-6F6C79537C22}"/>
              </a:ext>
            </a:extLst>
          </p:cNvPr>
          <p:cNvSpPr/>
          <p:nvPr/>
        </p:nvSpPr>
        <p:spPr>
          <a:xfrm>
            <a:off x="8299077" y="413076"/>
            <a:ext cx="45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5</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矩形: 圓角 33">
            <a:extLst>
              <a:ext uri="{FF2B5EF4-FFF2-40B4-BE49-F238E27FC236}">
                <a16:creationId xmlns:a16="http://schemas.microsoft.com/office/drawing/2014/main" id="{6B8229DF-865B-76B8-A862-C23994BF54D7}"/>
              </a:ext>
            </a:extLst>
          </p:cNvPr>
          <p:cNvSpPr/>
          <p:nvPr/>
        </p:nvSpPr>
        <p:spPr>
          <a:xfrm>
            <a:off x="9050723" y="404885"/>
            <a:ext cx="450000"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1" name="矩形: 圓角 40">
            <a:extLst>
              <a:ext uri="{FF2B5EF4-FFF2-40B4-BE49-F238E27FC236}">
                <a16:creationId xmlns:a16="http://schemas.microsoft.com/office/drawing/2014/main" id="{C8A87E46-E166-091A-56B9-3142BB54C52F}"/>
              </a:ext>
            </a:extLst>
          </p:cNvPr>
          <p:cNvSpPr/>
          <p:nvPr/>
        </p:nvSpPr>
        <p:spPr>
          <a:xfrm>
            <a:off x="9807840" y="413076"/>
            <a:ext cx="45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5</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矩形: 圓角 46">
            <a:extLst>
              <a:ext uri="{FF2B5EF4-FFF2-40B4-BE49-F238E27FC236}">
                <a16:creationId xmlns:a16="http://schemas.microsoft.com/office/drawing/2014/main" id="{6BCFECA8-B7FB-E26F-66C7-835D6696284A}"/>
              </a:ext>
            </a:extLst>
          </p:cNvPr>
          <p:cNvSpPr/>
          <p:nvPr/>
        </p:nvSpPr>
        <p:spPr>
          <a:xfrm>
            <a:off x="7940704" y="1535269"/>
            <a:ext cx="2667612" cy="2091733"/>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Detokenization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Model</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文字方塊 51">
            <a:extLst>
              <a:ext uri="{FF2B5EF4-FFF2-40B4-BE49-F238E27FC236}">
                <a16:creationId xmlns:a16="http://schemas.microsoft.com/office/drawing/2014/main" id="{9502D9AC-942B-C20E-A752-A28AC4FD6408}"/>
              </a:ext>
            </a:extLst>
          </p:cNvPr>
          <p:cNvSpPr txBox="1"/>
          <p:nvPr/>
        </p:nvSpPr>
        <p:spPr>
          <a:xfrm rot="16200000">
            <a:off x="-1175105" y="3287291"/>
            <a:ext cx="389401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Tokenization</a:t>
            </a:r>
          </a:p>
        </p:txBody>
      </p:sp>
      <p:sp>
        <p:nvSpPr>
          <p:cNvPr id="53" name="右大括弧 52">
            <a:extLst>
              <a:ext uri="{FF2B5EF4-FFF2-40B4-BE49-F238E27FC236}">
                <a16:creationId xmlns:a16="http://schemas.microsoft.com/office/drawing/2014/main" id="{B8570CBA-FB61-EB2B-D0F7-48AFFBC038D9}"/>
              </a:ext>
            </a:extLst>
          </p:cNvPr>
          <p:cNvSpPr/>
          <p:nvPr/>
        </p:nvSpPr>
        <p:spPr>
          <a:xfrm flipH="1">
            <a:off x="1105307" y="1144060"/>
            <a:ext cx="514224" cy="4917072"/>
          </a:xfrm>
          <a:prstGeom prst="rightBrace">
            <a:avLst>
              <a:gd name="adj1" fmla="val 51892"/>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pic>
        <p:nvPicPr>
          <p:cNvPr id="55" name="Picture 2">
            <a:extLst>
              <a:ext uri="{FF2B5EF4-FFF2-40B4-BE49-F238E27FC236}">
                <a16:creationId xmlns:a16="http://schemas.microsoft.com/office/drawing/2014/main" id="{228939FF-E1E9-809B-0885-7792B2B79C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869" y="1348045"/>
            <a:ext cx="584151" cy="58415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4">
            <a:extLst>
              <a:ext uri="{FF2B5EF4-FFF2-40B4-BE49-F238E27FC236}">
                <a16:creationId xmlns:a16="http://schemas.microsoft.com/office/drawing/2014/main" id="{145629C9-566C-4F9A-9571-94B6CDDC8C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82961" y="2770288"/>
            <a:ext cx="729025" cy="729025"/>
          </a:xfrm>
          <a:prstGeom prst="rect">
            <a:avLst/>
          </a:prstGeom>
          <a:noFill/>
          <a:extLst>
            <a:ext uri="{909E8E84-426E-40DD-AFC4-6F175D3DCCD1}">
              <a14:hiddenFill xmlns:a14="http://schemas.microsoft.com/office/drawing/2010/main">
                <a:solidFill>
                  <a:srgbClr val="FFFFFF"/>
                </a:solidFill>
              </a14:hiddenFill>
            </a:ext>
          </a:extLst>
        </p:spPr>
      </p:pic>
      <p:cxnSp>
        <p:nvCxnSpPr>
          <p:cNvPr id="57" name="直線單箭頭接點 56">
            <a:extLst>
              <a:ext uri="{FF2B5EF4-FFF2-40B4-BE49-F238E27FC236}">
                <a16:creationId xmlns:a16="http://schemas.microsoft.com/office/drawing/2014/main" id="{FF5CB442-91B0-89C1-4756-7643054904C4}"/>
              </a:ext>
            </a:extLst>
          </p:cNvPr>
          <p:cNvCxnSpPr>
            <a:cxnSpLocks/>
            <a:endCxn id="47" idx="0"/>
          </p:cNvCxnSpPr>
          <p:nvPr/>
        </p:nvCxnSpPr>
        <p:spPr>
          <a:xfrm>
            <a:off x="9274510" y="913947"/>
            <a:ext cx="0" cy="62132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B45E530D-EFCA-AFA0-7300-8BE3B4669210}"/>
              </a:ext>
            </a:extLst>
          </p:cNvPr>
          <p:cNvCxnSpPr>
            <a:cxnSpLocks/>
          </p:cNvCxnSpPr>
          <p:nvPr/>
        </p:nvCxnSpPr>
        <p:spPr>
          <a:xfrm>
            <a:off x="9303082" y="3730904"/>
            <a:ext cx="0" cy="62132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0" name="群組 59">
            <a:extLst>
              <a:ext uri="{FF2B5EF4-FFF2-40B4-BE49-F238E27FC236}">
                <a16:creationId xmlns:a16="http://schemas.microsoft.com/office/drawing/2014/main" id="{6445376C-6C56-F449-5641-AF57018D4B5C}"/>
              </a:ext>
            </a:extLst>
          </p:cNvPr>
          <p:cNvGrpSpPr/>
          <p:nvPr/>
        </p:nvGrpSpPr>
        <p:grpSpPr>
          <a:xfrm>
            <a:off x="6881700" y="5898908"/>
            <a:ext cx="4716860" cy="734878"/>
            <a:chOff x="393073" y="5022255"/>
            <a:chExt cx="2117030" cy="878286"/>
          </a:xfrm>
        </p:grpSpPr>
        <p:pic>
          <p:nvPicPr>
            <p:cNvPr id="61"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B21FA8A-8383-F7CA-38E4-DE6F032E806A}"/>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62"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D7A747D2-A1C4-803B-38D4-D1BFA45A40B2}"/>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63" name="文字方塊 62">
            <a:extLst>
              <a:ext uri="{FF2B5EF4-FFF2-40B4-BE49-F238E27FC236}">
                <a16:creationId xmlns:a16="http://schemas.microsoft.com/office/drawing/2014/main" id="{A996BCD5-57C2-71CE-B50E-C358723A6F85}"/>
              </a:ext>
            </a:extLst>
          </p:cNvPr>
          <p:cNvSpPr txBox="1"/>
          <p:nvPr/>
        </p:nvSpPr>
        <p:spPr>
          <a:xfrm>
            <a:off x="8715822" y="4407542"/>
            <a:ext cx="119651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64" name="直線單箭頭接點 63">
            <a:extLst>
              <a:ext uri="{FF2B5EF4-FFF2-40B4-BE49-F238E27FC236}">
                <a16:creationId xmlns:a16="http://schemas.microsoft.com/office/drawing/2014/main" id="{BD92161C-4325-D241-D7CB-B3D4FC71368B}"/>
              </a:ext>
            </a:extLst>
          </p:cNvPr>
          <p:cNvCxnSpPr>
            <a:cxnSpLocks/>
          </p:cNvCxnSpPr>
          <p:nvPr/>
        </p:nvCxnSpPr>
        <p:spPr>
          <a:xfrm>
            <a:off x="9317040" y="4981966"/>
            <a:ext cx="0" cy="938207"/>
          </a:xfrm>
          <a:prstGeom prst="straightConnector1">
            <a:avLst/>
          </a:prstGeom>
          <a:ln w="76200">
            <a:solidFill>
              <a:schemeClr val="tx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文字方塊 1">
            <a:extLst>
              <a:ext uri="{FF2B5EF4-FFF2-40B4-BE49-F238E27FC236}">
                <a16:creationId xmlns:a16="http://schemas.microsoft.com/office/drawing/2014/main" id="{81DFC6DA-9730-C475-A1E9-0756F1E9B178}"/>
              </a:ext>
            </a:extLst>
          </p:cNvPr>
          <p:cNvSpPr txBox="1"/>
          <p:nvPr/>
        </p:nvSpPr>
        <p:spPr>
          <a:xfrm>
            <a:off x="4267392" y="3213440"/>
            <a:ext cx="287196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K-means</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or VQ-layer</a:t>
            </a:r>
          </a:p>
        </p:txBody>
      </p:sp>
      <p:sp>
        <p:nvSpPr>
          <p:cNvPr id="3" name="文字方塊 2">
            <a:extLst>
              <a:ext uri="{FF2B5EF4-FFF2-40B4-BE49-F238E27FC236}">
                <a16:creationId xmlns:a16="http://schemas.microsoft.com/office/drawing/2014/main" id="{9BB23AA1-6BEB-939D-A216-42FDBE6C6DF7}"/>
              </a:ext>
            </a:extLst>
          </p:cNvPr>
          <p:cNvSpPr txBox="1"/>
          <p:nvPr/>
        </p:nvSpPr>
        <p:spPr>
          <a:xfrm>
            <a:off x="4267392" y="4348597"/>
            <a:ext cx="184652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Deduplicate </a:t>
            </a:r>
          </a:p>
        </p:txBody>
      </p:sp>
      <p:sp>
        <p:nvSpPr>
          <p:cNvPr id="8" name="文字方塊 7">
            <a:extLst>
              <a:ext uri="{FF2B5EF4-FFF2-40B4-BE49-F238E27FC236}">
                <a16:creationId xmlns:a16="http://schemas.microsoft.com/office/drawing/2014/main" id="{54991EBB-9549-8BB0-8109-41F93EF3A57C}"/>
              </a:ext>
            </a:extLst>
          </p:cNvPr>
          <p:cNvSpPr txBox="1"/>
          <p:nvPr/>
        </p:nvSpPr>
        <p:spPr>
          <a:xfrm>
            <a:off x="3602325" y="5593845"/>
            <a:ext cx="38980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BPE (Byte Pair Encoding)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0356788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41" grpId="0" animBg="1"/>
      <p:bldP spid="47" grpId="0" animBg="1"/>
      <p:bldP spid="52" grpId="0"/>
      <p:bldP spid="53" grpId="0" animBg="1"/>
      <p:bldP spid="63" grpId="0"/>
      <p:bldP spid="2" grpId="0"/>
      <p:bldP spid="3" grpId="0"/>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83FAB363-4290-A115-46BB-10EA3503AA9A}"/>
              </a:ext>
            </a:extLst>
          </p:cNvPr>
          <p:cNvGrpSpPr/>
          <p:nvPr/>
        </p:nvGrpSpPr>
        <p:grpSpPr>
          <a:xfrm>
            <a:off x="7137396" y="1167749"/>
            <a:ext cx="4410982" cy="734878"/>
            <a:chOff x="393073" y="5022255"/>
            <a:chExt cx="2117030" cy="878286"/>
          </a:xfrm>
        </p:grpSpPr>
        <p:pic>
          <p:nvPicPr>
            <p:cNvPr id="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53E662D-CA1D-078D-E947-ECD4687DE5A6}"/>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5BAEBF8D-F1E8-0EE3-883A-795595448EF8}"/>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8" name="矩形: 圓角 7">
            <a:extLst>
              <a:ext uri="{FF2B5EF4-FFF2-40B4-BE49-F238E27FC236}">
                <a16:creationId xmlns:a16="http://schemas.microsoft.com/office/drawing/2014/main" id="{80D0EBD8-9197-95CA-AA48-7FE7F9760DD0}"/>
              </a:ext>
            </a:extLst>
          </p:cNvPr>
          <p:cNvSpPr/>
          <p:nvPr/>
        </p:nvSpPr>
        <p:spPr>
          <a:xfrm>
            <a:off x="7194545" y="3493035"/>
            <a:ext cx="1057273"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矩形: 圓角 8">
            <a:extLst>
              <a:ext uri="{FF2B5EF4-FFF2-40B4-BE49-F238E27FC236}">
                <a16:creationId xmlns:a16="http://schemas.microsoft.com/office/drawing/2014/main" id="{47CAA6D3-C3B2-B66D-32A4-DAB5FA9A15B1}"/>
              </a:ext>
            </a:extLst>
          </p:cNvPr>
          <p:cNvSpPr/>
          <p:nvPr/>
        </p:nvSpPr>
        <p:spPr>
          <a:xfrm>
            <a:off x="8251818" y="3488525"/>
            <a:ext cx="1057273"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324AF7EB-68E3-DCB6-6D4B-306C74DDE3CF}"/>
              </a:ext>
            </a:extLst>
          </p:cNvPr>
          <p:cNvSpPr/>
          <p:nvPr/>
        </p:nvSpPr>
        <p:spPr>
          <a:xfrm>
            <a:off x="9309091" y="3488525"/>
            <a:ext cx="105727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74197E75-9019-FD3E-9292-349337DAB2D4}"/>
              </a:ext>
            </a:extLst>
          </p:cNvPr>
          <p:cNvSpPr/>
          <p:nvPr/>
        </p:nvSpPr>
        <p:spPr>
          <a:xfrm>
            <a:off x="10366364" y="3488525"/>
            <a:ext cx="1057273"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文字方塊 20">
            <a:extLst>
              <a:ext uri="{FF2B5EF4-FFF2-40B4-BE49-F238E27FC236}">
                <a16:creationId xmlns:a16="http://schemas.microsoft.com/office/drawing/2014/main" id="{A713B865-0F18-631D-1F61-73E0F4018793}"/>
              </a:ext>
            </a:extLst>
          </p:cNvPr>
          <p:cNvSpPr txBox="1"/>
          <p:nvPr/>
        </p:nvSpPr>
        <p:spPr>
          <a:xfrm>
            <a:off x="417132" y="206462"/>
            <a:ext cx="1015812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32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Another possible pipeline of speech tokenization </a:t>
            </a:r>
            <a:endParaRPr kumimoji="0" lang="zh-TW" altLang="en-US" sz="32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FB3DE85D-D0E9-9554-AF84-C03C57BDA40E}"/>
              </a:ext>
            </a:extLst>
          </p:cNvPr>
          <p:cNvSpPr/>
          <p:nvPr/>
        </p:nvSpPr>
        <p:spPr>
          <a:xfrm>
            <a:off x="7194545" y="2254681"/>
            <a:ext cx="4229092" cy="673753"/>
          </a:xfrm>
          <a:prstGeom prst="roundRect">
            <a:avLst/>
          </a:prstGeom>
          <a:solidFill>
            <a:srgbClr val="5B9BD5">
              <a:lumMod val="20000"/>
              <a:lumOff val="80000"/>
            </a:srgbClr>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Tokenizer</a:t>
            </a:r>
            <a:endParaRPr kumimoji="0" lang="zh-TW" altLang="en-US" sz="2400" b="0"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23" name="矩形: 圓角 22">
            <a:extLst>
              <a:ext uri="{FF2B5EF4-FFF2-40B4-BE49-F238E27FC236}">
                <a16:creationId xmlns:a16="http://schemas.microsoft.com/office/drawing/2014/main" id="{A253F344-9C4E-9333-F0A8-2E656372A8EC}"/>
              </a:ext>
            </a:extLst>
          </p:cNvPr>
          <p:cNvSpPr/>
          <p:nvPr/>
        </p:nvSpPr>
        <p:spPr>
          <a:xfrm>
            <a:off x="7194545" y="4502683"/>
            <a:ext cx="4229092" cy="673753"/>
          </a:xfrm>
          <a:prstGeom prst="roundRect">
            <a:avLst/>
          </a:prstGeom>
          <a:solidFill>
            <a:schemeClr val="accent6">
              <a:lumMod val="20000"/>
              <a:lumOff val="80000"/>
            </a:schemeClr>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err="1">
                <a:ln>
                  <a:noFill/>
                </a:ln>
                <a:solidFill>
                  <a:prstClr val="black"/>
                </a:solidFill>
                <a:effectLst/>
                <a:uLnTx/>
                <a:uFillTx/>
                <a:latin typeface="微軟正黑體" panose="020B0604030504040204" pitchFamily="34" charset="-120"/>
                <a:ea typeface="微軟正黑體" panose="020B0604030504040204" pitchFamily="34" charset="-120"/>
                <a:cs typeface="+mn-cs"/>
              </a:rPr>
              <a:t>Detokenizer</a:t>
            </a:r>
            <a:endParaRPr kumimoji="0" lang="zh-TW" altLang="en-US" sz="2400" b="0"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grpSp>
        <p:nvGrpSpPr>
          <p:cNvPr id="24" name="群組 23">
            <a:extLst>
              <a:ext uri="{FF2B5EF4-FFF2-40B4-BE49-F238E27FC236}">
                <a16:creationId xmlns:a16="http://schemas.microsoft.com/office/drawing/2014/main" id="{C6953AF8-7508-A9D8-1360-45461AE5DBA3}"/>
              </a:ext>
            </a:extLst>
          </p:cNvPr>
          <p:cNvGrpSpPr/>
          <p:nvPr/>
        </p:nvGrpSpPr>
        <p:grpSpPr>
          <a:xfrm>
            <a:off x="7137396" y="5666136"/>
            <a:ext cx="4410982" cy="734878"/>
            <a:chOff x="393073" y="5022255"/>
            <a:chExt cx="2117030" cy="878286"/>
          </a:xfrm>
        </p:grpSpPr>
        <p:pic>
          <p:nvPicPr>
            <p:cNvPr id="2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D0429430-DC5E-76E7-0003-EE75A1E5A679}"/>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2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A4C8FB63-57BB-17A8-BDF1-72BB8B01AED3}"/>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cxnSp>
        <p:nvCxnSpPr>
          <p:cNvPr id="27" name="直線單箭頭接點 26">
            <a:extLst>
              <a:ext uri="{FF2B5EF4-FFF2-40B4-BE49-F238E27FC236}">
                <a16:creationId xmlns:a16="http://schemas.microsoft.com/office/drawing/2014/main" id="{3BB79BC6-2B4D-F9A5-86B3-D903CD412843}"/>
              </a:ext>
            </a:extLst>
          </p:cNvPr>
          <p:cNvCxnSpPr/>
          <p:nvPr/>
        </p:nvCxnSpPr>
        <p:spPr>
          <a:xfrm>
            <a:off x="9309091" y="1844673"/>
            <a:ext cx="0" cy="42178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96B401FC-80E0-DDE4-277A-4AF8A13D0D29}"/>
              </a:ext>
            </a:extLst>
          </p:cNvPr>
          <p:cNvCxnSpPr>
            <a:cxnSpLocks/>
          </p:cNvCxnSpPr>
          <p:nvPr/>
        </p:nvCxnSpPr>
        <p:spPr>
          <a:xfrm>
            <a:off x="9319341" y="2946019"/>
            <a:ext cx="0" cy="39506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06504308-FC77-9C1F-6D4B-6AFF56A08D4C}"/>
              </a:ext>
            </a:extLst>
          </p:cNvPr>
          <p:cNvCxnSpPr>
            <a:cxnSpLocks/>
          </p:cNvCxnSpPr>
          <p:nvPr/>
        </p:nvCxnSpPr>
        <p:spPr>
          <a:xfrm>
            <a:off x="9319341" y="3938400"/>
            <a:ext cx="0" cy="39506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7682E7E2-3720-08C1-E006-AE41577DCF3B}"/>
              </a:ext>
            </a:extLst>
          </p:cNvPr>
          <p:cNvCxnSpPr>
            <a:cxnSpLocks/>
          </p:cNvCxnSpPr>
          <p:nvPr/>
        </p:nvCxnSpPr>
        <p:spPr>
          <a:xfrm>
            <a:off x="9309091" y="5288661"/>
            <a:ext cx="0" cy="39506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F5552A3B-8B48-887D-7FE3-527D51E150FB}"/>
              </a:ext>
            </a:extLst>
          </p:cNvPr>
          <p:cNvCxnSpPr>
            <a:cxnSpLocks/>
          </p:cNvCxnSpPr>
          <p:nvPr/>
        </p:nvCxnSpPr>
        <p:spPr>
          <a:xfrm>
            <a:off x="5673464" y="1627757"/>
            <a:ext cx="0" cy="4474103"/>
          </a:xfrm>
          <a:prstGeom prst="straightConnector1">
            <a:avLst/>
          </a:prstGeom>
          <a:ln w="762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A5E64E58-28FF-0CB2-65B4-557261588601}"/>
              </a:ext>
            </a:extLst>
          </p:cNvPr>
          <p:cNvCxnSpPr>
            <a:cxnSpLocks/>
          </p:cNvCxnSpPr>
          <p:nvPr/>
        </p:nvCxnSpPr>
        <p:spPr>
          <a:xfrm>
            <a:off x="5663801" y="1504662"/>
            <a:ext cx="1245730" cy="0"/>
          </a:xfrm>
          <a:prstGeom prst="straightConnector1">
            <a:avLst/>
          </a:prstGeom>
          <a:ln w="76200">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9939A4DD-DDC1-239A-E817-C125BAD88DAE}"/>
              </a:ext>
            </a:extLst>
          </p:cNvPr>
          <p:cNvCxnSpPr>
            <a:cxnSpLocks/>
          </p:cNvCxnSpPr>
          <p:nvPr/>
        </p:nvCxnSpPr>
        <p:spPr>
          <a:xfrm>
            <a:off x="5663801" y="6158723"/>
            <a:ext cx="1245730" cy="0"/>
          </a:xfrm>
          <a:prstGeom prst="straightConnector1">
            <a:avLst/>
          </a:prstGeom>
          <a:ln w="76200">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A01B8D5F-C914-0055-DB11-161D3C4C5885}"/>
              </a:ext>
            </a:extLst>
          </p:cNvPr>
          <p:cNvSpPr txBox="1"/>
          <p:nvPr/>
        </p:nvSpPr>
        <p:spPr>
          <a:xfrm>
            <a:off x="458782" y="1379407"/>
            <a:ext cx="447305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Neural Speech Codec </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文字方塊 41">
            <a:extLst>
              <a:ext uri="{FF2B5EF4-FFF2-40B4-BE49-F238E27FC236}">
                <a16:creationId xmlns:a16="http://schemas.microsoft.com/office/drawing/2014/main" id="{68333935-CC56-4AB0-CF82-1FFA5C724254}"/>
              </a:ext>
            </a:extLst>
          </p:cNvPr>
          <p:cNvSpPr txBox="1"/>
          <p:nvPr/>
        </p:nvSpPr>
        <p:spPr>
          <a:xfrm>
            <a:off x="755989" y="1991912"/>
            <a:ext cx="4740204"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The tokenizer and detokenizer are learned jointly.</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 name="文字方塊 1">
            <a:extLst>
              <a:ext uri="{FF2B5EF4-FFF2-40B4-BE49-F238E27FC236}">
                <a16:creationId xmlns:a16="http://schemas.microsoft.com/office/drawing/2014/main" id="{B247C4FB-1EB5-3857-8E3C-99D8E087B939}"/>
              </a:ext>
            </a:extLst>
          </p:cNvPr>
          <p:cNvSpPr txBox="1"/>
          <p:nvPr/>
        </p:nvSpPr>
        <p:spPr>
          <a:xfrm>
            <a:off x="1378403" y="4078200"/>
            <a:ext cx="178477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Codec </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文字方塊 2">
            <a:extLst>
              <a:ext uri="{FF2B5EF4-FFF2-40B4-BE49-F238E27FC236}">
                <a16:creationId xmlns:a16="http://schemas.microsoft.com/office/drawing/2014/main" id="{E7A8DABB-532E-7864-E954-2B7ED187323F}"/>
              </a:ext>
            </a:extLst>
          </p:cNvPr>
          <p:cNvSpPr txBox="1"/>
          <p:nvPr/>
        </p:nvSpPr>
        <p:spPr>
          <a:xfrm>
            <a:off x="1509219" y="5678295"/>
            <a:ext cx="17847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compression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文字方塊 6">
            <a:extLst>
              <a:ext uri="{FF2B5EF4-FFF2-40B4-BE49-F238E27FC236}">
                <a16:creationId xmlns:a16="http://schemas.microsoft.com/office/drawing/2014/main" id="{2468855C-482E-DA50-C0FC-DCCCC1420B58}"/>
              </a:ext>
            </a:extLst>
          </p:cNvPr>
          <p:cNvSpPr txBox="1"/>
          <p:nvPr/>
        </p:nvSpPr>
        <p:spPr>
          <a:xfrm>
            <a:off x="3163179" y="4818206"/>
            <a:ext cx="218188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decompression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3" name="直線接點 12">
            <a:extLst>
              <a:ext uri="{FF2B5EF4-FFF2-40B4-BE49-F238E27FC236}">
                <a16:creationId xmlns:a16="http://schemas.microsoft.com/office/drawing/2014/main" id="{1549D91F-7D64-66FC-3355-9892FB8C565E}"/>
              </a:ext>
            </a:extLst>
          </p:cNvPr>
          <p:cNvCxnSpPr/>
          <p:nvPr/>
        </p:nvCxnSpPr>
        <p:spPr>
          <a:xfrm>
            <a:off x="1496519" y="4601420"/>
            <a:ext cx="29215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23162F0D-4816-BAC1-FFBA-2AC981948C6F}"/>
              </a:ext>
            </a:extLst>
          </p:cNvPr>
          <p:cNvCxnSpPr>
            <a:cxnSpLocks/>
          </p:cNvCxnSpPr>
          <p:nvPr/>
        </p:nvCxnSpPr>
        <p:spPr>
          <a:xfrm>
            <a:off x="1852171" y="4593137"/>
            <a:ext cx="5207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94D52B66-43C3-5F87-6AC9-3675C0217143}"/>
              </a:ext>
            </a:extLst>
          </p:cNvPr>
          <p:cNvCxnSpPr/>
          <p:nvPr/>
        </p:nvCxnSpPr>
        <p:spPr>
          <a:xfrm>
            <a:off x="2084020" y="4601420"/>
            <a:ext cx="893135" cy="4476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47316DA1-B626-0303-4D22-CC35F20D8A69}"/>
              </a:ext>
            </a:extLst>
          </p:cNvPr>
          <p:cNvCxnSpPr>
            <a:cxnSpLocks/>
            <a:endCxn id="3" idx="0"/>
          </p:cNvCxnSpPr>
          <p:nvPr/>
        </p:nvCxnSpPr>
        <p:spPr>
          <a:xfrm>
            <a:off x="1612574" y="4601420"/>
            <a:ext cx="789033" cy="10768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31186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22" grpId="0" animBg="1"/>
      <p:bldP spid="23" grpId="0" animBg="1"/>
      <p:bldP spid="42" grpId="0"/>
      <p:bldP spid="2" grpId="0"/>
      <p:bldP spid="3"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D60DE-5F52-730C-4636-1F6D54EDB50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56C872D-FDF8-385D-11A4-06C2F9D770AE}"/>
              </a:ext>
            </a:extLst>
          </p:cNvPr>
          <p:cNvSpPr>
            <a:spLocks noGrp="1"/>
          </p:cNvSpPr>
          <p:nvPr>
            <p:ph type="title"/>
          </p:nvPr>
        </p:nvSpPr>
        <p:spPr/>
        <p:txBody>
          <a:bodyPr/>
          <a:lstStyle/>
          <a:p>
            <a:r>
              <a:rPr lang="en-US" altLang="zh-TW" dirty="0"/>
              <a:t>Various Types of Speech Tokenizers</a:t>
            </a:r>
            <a:endParaRPr lang="zh-TW" altLang="en-US" dirty="0"/>
          </a:p>
        </p:txBody>
      </p:sp>
      <p:grpSp>
        <p:nvGrpSpPr>
          <p:cNvPr id="4" name="群組 3">
            <a:extLst>
              <a:ext uri="{FF2B5EF4-FFF2-40B4-BE49-F238E27FC236}">
                <a16:creationId xmlns:a16="http://schemas.microsoft.com/office/drawing/2014/main" id="{9DBB3636-95F1-13A8-342A-FC66C26C23BE}"/>
              </a:ext>
            </a:extLst>
          </p:cNvPr>
          <p:cNvGrpSpPr/>
          <p:nvPr/>
        </p:nvGrpSpPr>
        <p:grpSpPr>
          <a:xfrm>
            <a:off x="4389631" y="1822609"/>
            <a:ext cx="4508809" cy="734878"/>
            <a:chOff x="393073" y="5022255"/>
            <a:chExt cx="2117030" cy="878286"/>
          </a:xfrm>
        </p:grpSpPr>
        <p:pic>
          <p:nvPicPr>
            <p:cNvPr id="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39269806-E183-7AD5-8972-49B889C3B88D}"/>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E6458DC-BED6-1F1A-90EE-C0B26C043D7E}"/>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grpSp>
        <p:nvGrpSpPr>
          <p:cNvPr id="38" name="群組 37">
            <a:extLst>
              <a:ext uri="{FF2B5EF4-FFF2-40B4-BE49-F238E27FC236}">
                <a16:creationId xmlns:a16="http://schemas.microsoft.com/office/drawing/2014/main" id="{EFE1FEA4-D365-0EEB-C1ED-456CE21E3717}"/>
              </a:ext>
            </a:extLst>
          </p:cNvPr>
          <p:cNvGrpSpPr/>
          <p:nvPr/>
        </p:nvGrpSpPr>
        <p:grpSpPr>
          <a:xfrm>
            <a:off x="3061294" y="4416993"/>
            <a:ext cx="2903472" cy="257059"/>
            <a:chOff x="7419795" y="2323247"/>
            <a:chExt cx="2903472" cy="257059"/>
          </a:xfrm>
          <a:solidFill>
            <a:schemeClr val="accent2">
              <a:lumMod val="20000"/>
              <a:lumOff val="80000"/>
            </a:schemeClr>
          </a:solidFill>
        </p:grpSpPr>
        <p:sp>
          <p:nvSpPr>
            <p:cNvPr id="39" name="矩形: 圓角 38">
              <a:extLst>
                <a:ext uri="{FF2B5EF4-FFF2-40B4-BE49-F238E27FC236}">
                  <a16:creationId xmlns:a16="http://schemas.microsoft.com/office/drawing/2014/main" id="{25379EDC-DAA2-3711-7109-6999750E0B3F}"/>
                </a:ext>
              </a:extLst>
            </p:cNvPr>
            <p:cNvSpPr/>
            <p:nvPr/>
          </p:nvSpPr>
          <p:spPr>
            <a:xfrm>
              <a:off x="7419795" y="2323247"/>
              <a:ext cx="270000" cy="257059"/>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矩形: 圓角 39">
              <a:extLst>
                <a:ext uri="{FF2B5EF4-FFF2-40B4-BE49-F238E27FC236}">
                  <a16:creationId xmlns:a16="http://schemas.microsoft.com/office/drawing/2014/main" id="{4BC14982-1362-BC45-987C-A071FD7AC5CA}"/>
                </a:ext>
              </a:extLst>
            </p:cNvPr>
            <p:cNvSpPr/>
            <p:nvPr/>
          </p:nvSpPr>
          <p:spPr>
            <a:xfrm>
              <a:off x="7858707" y="2323247"/>
              <a:ext cx="270000" cy="257059"/>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1" name="矩形: 圓角 40">
              <a:extLst>
                <a:ext uri="{FF2B5EF4-FFF2-40B4-BE49-F238E27FC236}">
                  <a16:creationId xmlns:a16="http://schemas.microsoft.com/office/drawing/2014/main" id="{8C2D4A9B-E664-5700-3D30-57B16088B4EE}"/>
                </a:ext>
              </a:extLst>
            </p:cNvPr>
            <p:cNvSpPr/>
            <p:nvPr/>
          </p:nvSpPr>
          <p:spPr>
            <a:xfrm>
              <a:off x="8297619" y="2323247"/>
              <a:ext cx="270000" cy="257059"/>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矩形: 圓角 41">
              <a:extLst>
                <a:ext uri="{FF2B5EF4-FFF2-40B4-BE49-F238E27FC236}">
                  <a16:creationId xmlns:a16="http://schemas.microsoft.com/office/drawing/2014/main" id="{9529806E-3E26-747B-5113-B642516B3981}"/>
                </a:ext>
              </a:extLst>
            </p:cNvPr>
            <p:cNvSpPr/>
            <p:nvPr/>
          </p:nvSpPr>
          <p:spPr>
            <a:xfrm>
              <a:off x="8736531" y="2323247"/>
              <a:ext cx="270000" cy="257059"/>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矩形: 圓角 42">
              <a:extLst>
                <a:ext uri="{FF2B5EF4-FFF2-40B4-BE49-F238E27FC236}">
                  <a16:creationId xmlns:a16="http://schemas.microsoft.com/office/drawing/2014/main" id="{AF85ADD5-E83A-2FF2-2398-594CBACAAB20}"/>
                </a:ext>
              </a:extLst>
            </p:cNvPr>
            <p:cNvSpPr/>
            <p:nvPr/>
          </p:nvSpPr>
          <p:spPr>
            <a:xfrm>
              <a:off x="9175443" y="2323247"/>
              <a:ext cx="270000" cy="257059"/>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矩形: 圓角 43">
              <a:extLst>
                <a:ext uri="{FF2B5EF4-FFF2-40B4-BE49-F238E27FC236}">
                  <a16:creationId xmlns:a16="http://schemas.microsoft.com/office/drawing/2014/main" id="{413AA0F1-1C43-4459-6D08-89FA6E628CE5}"/>
                </a:ext>
              </a:extLst>
            </p:cNvPr>
            <p:cNvSpPr/>
            <p:nvPr/>
          </p:nvSpPr>
          <p:spPr>
            <a:xfrm>
              <a:off x="9614355" y="2323247"/>
              <a:ext cx="270000" cy="257059"/>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矩形: 圓角 44">
              <a:extLst>
                <a:ext uri="{FF2B5EF4-FFF2-40B4-BE49-F238E27FC236}">
                  <a16:creationId xmlns:a16="http://schemas.microsoft.com/office/drawing/2014/main" id="{32E7ECCD-D1F8-E925-38B4-34C8EB42F115}"/>
                </a:ext>
              </a:extLst>
            </p:cNvPr>
            <p:cNvSpPr/>
            <p:nvPr/>
          </p:nvSpPr>
          <p:spPr>
            <a:xfrm>
              <a:off x="10053267" y="2323247"/>
              <a:ext cx="270000" cy="257059"/>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nvGrpSpPr>
          <p:cNvPr id="46" name="群組 45">
            <a:extLst>
              <a:ext uri="{FF2B5EF4-FFF2-40B4-BE49-F238E27FC236}">
                <a16:creationId xmlns:a16="http://schemas.microsoft.com/office/drawing/2014/main" id="{E0C85107-D1DA-9156-ED81-BB6DA7312F3A}"/>
              </a:ext>
            </a:extLst>
          </p:cNvPr>
          <p:cNvGrpSpPr/>
          <p:nvPr/>
        </p:nvGrpSpPr>
        <p:grpSpPr>
          <a:xfrm>
            <a:off x="7359269" y="4372240"/>
            <a:ext cx="2903472" cy="257059"/>
            <a:chOff x="7419795" y="2323247"/>
            <a:chExt cx="2903472" cy="257059"/>
          </a:xfrm>
        </p:grpSpPr>
        <p:sp>
          <p:nvSpPr>
            <p:cNvPr id="47" name="矩形: 圓角 46">
              <a:extLst>
                <a:ext uri="{FF2B5EF4-FFF2-40B4-BE49-F238E27FC236}">
                  <a16:creationId xmlns:a16="http://schemas.microsoft.com/office/drawing/2014/main" id="{47126D48-D736-D04E-7A2B-E95CE1D04FCC}"/>
                </a:ext>
              </a:extLst>
            </p:cNvPr>
            <p:cNvSpPr/>
            <p:nvPr/>
          </p:nvSpPr>
          <p:spPr>
            <a:xfrm>
              <a:off x="7419795" y="2323247"/>
              <a:ext cx="270000" cy="257059"/>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矩形: 圓角 47">
              <a:extLst>
                <a:ext uri="{FF2B5EF4-FFF2-40B4-BE49-F238E27FC236}">
                  <a16:creationId xmlns:a16="http://schemas.microsoft.com/office/drawing/2014/main" id="{A7ECDB51-9571-F5C8-E90B-A463AC102FDB}"/>
                </a:ext>
              </a:extLst>
            </p:cNvPr>
            <p:cNvSpPr/>
            <p:nvPr/>
          </p:nvSpPr>
          <p:spPr>
            <a:xfrm>
              <a:off x="7858707" y="2323247"/>
              <a:ext cx="270000" cy="257059"/>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矩形: 圓角 48">
              <a:extLst>
                <a:ext uri="{FF2B5EF4-FFF2-40B4-BE49-F238E27FC236}">
                  <a16:creationId xmlns:a16="http://schemas.microsoft.com/office/drawing/2014/main" id="{F4BA2A7D-DD84-07C9-8477-CD534CE7270E}"/>
                </a:ext>
              </a:extLst>
            </p:cNvPr>
            <p:cNvSpPr/>
            <p:nvPr/>
          </p:nvSpPr>
          <p:spPr>
            <a:xfrm>
              <a:off x="8297619" y="2323247"/>
              <a:ext cx="270000" cy="257059"/>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0" name="矩形: 圓角 49">
              <a:extLst>
                <a:ext uri="{FF2B5EF4-FFF2-40B4-BE49-F238E27FC236}">
                  <a16:creationId xmlns:a16="http://schemas.microsoft.com/office/drawing/2014/main" id="{27D9A1F0-3E26-041A-4732-9ECEADB00498}"/>
                </a:ext>
              </a:extLst>
            </p:cNvPr>
            <p:cNvSpPr/>
            <p:nvPr/>
          </p:nvSpPr>
          <p:spPr>
            <a:xfrm>
              <a:off x="8736531" y="2323247"/>
              <a:ext cx="270000" cy="257059"/>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矩形: 圓角 50">
              <a:extLst>
                <a:ext uri="{FF2B5EF4-FFF2-40B4-BE49-F238E27FC236}">
                  <a16:creationId xmlns:a16="http://schemas.microsoft.com/office/drawing/2014/main" id="{9B621132-D928-0182-B452-AD9F5714F78E}"/>
                </a:ext>
              </a:extLst>
            </p:cNvPr>
            <p:cNvSpPr/>
            <p:nvPr/>
          </p:nvSpPr>
          <p:spPr>
            <a:xfrm>
              <a:off x="9175443" y="2323247"/>
              <a:ext cx="270000" cy="257059"/>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矩形: 圓角 51">
              <a:extLst>
                <a:ext uri="{FF2B5EF4-FFF2-40B4-BE49-F238E27FC236}">
                  <a16:creationId xmlns:a16="http://schemas.microsoft.com/office/drawing/2014/main" id="{5A933703-25E2-6482-E613-5F0BB2D5F125}"/>
                </a:ext>
              </a:extLst>
            </p:cNvPr>
            <p:cNvSpPr/>
            <p:nvPr/>
          </p:nvSpPr>
          <p:spPr>
            <a:xfrm>
              <a:off x="9614355" y="2323247"/>
              <a:ext cx="270000" cy="257059"/>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3" name="矩形: 圓角 52">
              <a:extLst>
                <a:ext uri="{FF2B5EF4-FFF2-40B4-BE49-F238E27FC236}">
                  <a16:creationId xmlns:a16="http://schemas.microsoft.com/office/drawing/2014/main" id="{881F36DD-7BD3-7B82-1672-ECB1654C1F63}"/>
                </a:ext>
              </a:extLst>
            </p:cNvPr>
            <p:cNvSpPr/>
            <p:nvPr/>
          </p:nvSpPr>
          <p:spPr>
            <a:xfrm>
              <a:off x="10053267" y="2323247"/>
              <a:ext cx="270000" cy="257059"/>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3" name="文字方塊 2">
            <a:extLst>
              <a:ext uri="{FF2B5EF4-FFF2-40B4-BE49-F238E27FC236}">
                <a16:creationId xmlns:a16="http://schemas.microsoft.com/office/drawing/2014/main" id="{A224090C-86AA-D20F-D791-9B1C877A4ECD}"/>
              </a:ext>
            </a:extLst>
          </p:cNvPr>
          <p:cNvSpPr txBox="1"/>
          <p:nvPr/>
        </p:nvSpPr>
        <p:spPr>
          <a:xfrm>
            <a:off x="1241520" y="1959000"/>
            <a:ext cx="312597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Two Types of Tokens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矩形: 圓角 7">
            <a:extLst>
              <a:ext uri="{FF2B5EF4-FFF2-40B4-BE49-F238E27FC236}">
                <a16:creationId xmlns:a16="http://schemas.microsoft.com/office/drawing/2014/main" id="{34AE5DA6-2970-96EF-79A8-54CB25C3EEC8}"/>
              </a:ext>
            </a:extLst>
          </p:cNvPr>
          <p:cNvSpPr/>
          <p:nvPr/>
        </p:nvSpPr>
        <p:spPr>
          <a:xfrm>
            <a:off x="7154791" y="3005788"/>
            <a:ext cx="3180190" cy="935052"/>
          </a:xfrm>
          <a:prstGeom prst="roundRect">
            <a:avLst/>
          </a:prstGeom>
          <a:solidFill>
            <a:srgbClr val="5B9BD5">
              <a:lumMod val="20000"/>
              <a:lumOff val="80000"/>
            </a:srgbClr>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Tokenizer</a:t>
            </a:r>
            <a:endParaRPr kumimoji="0" lang="zh-TW" altLang="en-US" sz="2400" b="0"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9" name="矩形: 圓角 8">
            <a:extLst>
              <a:ext uri="{FF2B5EF4-FFF2-40B4-BE49-F238E27FC236}">
                <a16:creationId xmlns:a16="http://schemas.microsoft.com/office/drawing/2014/main" id="{C0309580-1BE8-83AF-687C-0688D9E76FA4}"/>
              </a:ext>
            </a:extLst>
          </p:cNvPr>
          <p:cNvSpPr/>
          <p:nvPr/>
        </p:nvSpPr>
        <p:spPr>
          <a:xfrm>
            <a:off x="2856816" y="3050540"/>
            <a:ext cx="3180190" cy="935052"/>
          </a:xfrm>
          <a:prstGeom prst="roundRect">
            <a:avLst/>
          </a:prstGeom>
          <a:solidFill>
            <a:schemeClr val="accent2">
              <a:lumMod val="20000"/>
              <a:lumOff val="80000"/>
            </a:schemeClr>
          </a:solidFill>
          <a:ln w="2857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Tokenizer</a:t>
            </a:r>
            <a:endParaRPr kumimoji="0" lang="zh-TW" altLang="en-US" sz="2400" b="0"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0" name="文字方塊 9">
            <a:extLst>
              <a:ext uri="{FF2B5EF4-FFF2-40B4-BE49-F238E27FC236}">
                <a16:creationId xmlns:a16="http://schemas.microsoft.com/office/drawing/2014/main" id="{C4F671C9-5C62-610C-2B61-C87B608B5358}"/>
              </a:ext>
            </a:extLst>
          </p:cNvPr>
          <p:cNvSpPr txBox="1"/>
          <p:nvPr/>
        </p:nvSpPr>
        <p:spPr>
          <a:xfrm>
            <a:off x="350056" y="3019529"/>
            <a:ext cx="2473626" cy="95410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Representation</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B1310F72-0A85-013C-E226-67467B456795}"/>
              </a:ext>
            </a:extLst>
          </p:cNvPr>
          <p:cNvSpPr txBox="1"/>
          <p:nvPr/>
        </p:nvSpPr>
        <p:spPr>
          <a:xfrm>
            <a:off x="10456606" y="2983846"/>
            <a:ext cx="137160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Neural Codec</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文字方塊 11">
            <a:extLst>
              <a:ext uri="{FF2B5EF4-FFF2-40B4-BE49-F238E27FC236}">
                <a16:creationId xmlns:a16="http://schemas.microsoft.com/office/drawing/2014/main" id="{2126B598-038A-A7D1-B187-B55161A3195D}"/>
              </a:ext>
            </a:extLst>
          </p:cNvPr>
          <p:cNvSpPr txBox="1"/>
          <p:nvPr/>
        </p:nvSpPr>
        <p:spPr>
          <a:xfrm>
            <a:off x="3145451" y="4740720"/>
            <a:ext cx="2602919"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“Sematic Token”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文字方塊 12">
            <a:extLst>
              <a:ext uri="{FF2B5EF4-FFF2-40B4-BE49-F238E27FC236}">
                <a16:creationId xmlns:a16="http://schemas.microsoft.com/office/drawing/2014/main" id="{A4718051-B1E7-56F0-49DC-BC49B2F3C458}"/>
              </a:ext>
            </a:extLst>
          </p:cNvPr>
          <p:cNvSpPr txBox="1"/>
          <p:nvPr/>
        </p:nvSpPr>
        <p:spPr>
          <a:xfrm>
            <a:off x="7509545" y="4694428"/>
            <a:ext cx="2602919"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“Acoustic Token”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文字方塊 13">
            <a:extLst>
              <a:ext uri="{FF2B5EF4-FFF2-40B4-BE49-F238E27FC236}">
                <a16:creationId xmlns:a16="http://schemas.microsoft.com/office/drawing/2014/main" id="{9F1693F8-0F3F-5732-9AB5-74E80467B5BF}"/>
              </a:ext>
            </a:extLst>
          </p:cNvPr>
          <p:cNvSpPr txBox="1"/>
          <p:nvPr/>
        </p:nvSpPr>
        <p:spPr>
          <a:xfrm>
            <a:off x="1014965" y="5772984"/>
            <a:ext cx="10813241" cy="523220"/>
          </a:xfrm>
          <a:prstGeom prst="rect">
            <a:avLst/>
          </a:prstGeom>
          <a:noFill/>
        </p:spPr>
        <p:txBody>
          <a:bodyPr wrap="square" rtlCol="0">
            <a:spAutoFit/>
          </a:bodyPr>
          <a:lstStyle/>
          <a:p>
            <a:pPr lvl="0" algn="ctr">
              <a:defRPr/>
            </a:pPr>
            <a:r>
              <a:rPr lang="en-US" altLang="zh-TW" sz="2800" b="1" dirty="0"/>
              <a:t>Which one is the best choice?</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p:cxnSp>
        <p:nvCxnSpPr>
          <p:cNvPr id="17" name="直線單箭頭接點 16">
            <a:extLst>
              <a:ext uri="{FF2B5EF4-FFF2-40B4-BE49-F238E27FC236}">
                <a16:creationId xmlns:a16="http://schemas.microsoft.com/office/drawing/2014/main" id="{6A24DEE4-5F69-5979-80B6-976757AF91E4}"/>
              </a:ext>
            </a:extLst>
          </p:cNvPr>
          <p:cNvCxnSpPr/>
          <p:nvPr/>
        </p:nvCxnSpPr>
        <p:spPr>
          <a:xfrm flipH="1">
            <a:off x="4648030" y="2482220"/>
            <a:ext cx="1773555" cy="5016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AC7C801B-64B8-FE88-9568-B454AB2F7085}"/>
              </a:ext>
            </a:extLst>
          </p:cNvPr>
          <p:cNvCxnSpPr>
            <a:cxnSpLocks/>
          </p:cNvCxnSpPr>
          <p:nvPr/>
        </p:nvCxnSpPr>
        <p:spPr>
          <a:xfrm>
            <a:off x="6684454" y="2443654"/>
            <a:ext cx="1773555" cy="5016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4F8A05BF-0AD6-5A22-3CF4-C46433C4699C}"/>
              </a:ext>
            </a:extLst>
          </p:cNvPr>
          <p:cNvCxnSpPr>
            <a:cxnSpLocks/>
          </p:cNvCxnSpPr>
          <p:nvPr/>
        </p:nvCxnSpPr>
        <p:spPr>
          <a:xfrm>
            <a:off x="4513030" y="4030623"/>
            <a:ext cx="0" cy="3416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a:extLst>
              <a:ext uri="{FF2B5EF4-FFF2-40B4-BE49-F238E27FC236}">
                <a16:creationId xmlns:a16="http://schemas.microsoft.com/office/drawing/2014/main" id="{368969E8-AB60-E6CF-4134-4494F1A0BA18}"/>
              </a:ext>
            </a:extLst>
          </p:cNvPr>
          <p:cNvCxnSpPr>
            <a:cxnSpLocks/>
          </p:cNvCxnSpPr>
          <p:nvPr/>
        </p:nvCxnSpPr>
        <p:spPr>
          <a:xfrm>
            <a:off x="8789258" y="3937953"/>
            <a:ext cx="0" cy="3416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47401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一張含有 文字, 字型, 行, 螢幕擷取畫面 的圖片&#10;&#10;AI 產生的內容可能不正確。">
            <a:extLst>
              <a:ext uri="{FF2B5EF4-FFF2-40B4-BE49-F238E27FC236}">
                <a16:creationId xmlns:a16="http://schemas.microsoft.com/office/drawing/2014/main" id="{096BBF6F-E30C-1C1C-C84C-75A8CA806FD0}"/>
              </a:ext>
            </a:extLst>
          </p:cNvPr>
          <p:cNvPicPr>
            <a:picLocks noChangeAspect="1"/>
          </p:cNvPicPr>
          <p:nvPr/>
        </p:nvPicPr>
        <p:blipFill>
          <a:blip r:embed="rId2"/>
          <a:stretch>
            <a:fillRect/>
          </a:stretch>
        </p:blipFill>
        <p:spPr>
          <a:xfrm>
            <a:off x="1633277" y="780133"/>
            <a:ext cx="10113871" cy="1894898"/>
          </a:xfrm>
          <a:prstGeom prst="rect">
            <a:avLst/>
          </a:prstGeom>
        </p:spPr>
      </p:pic>
      <p:sp>
        <p:nvSpPr>
          <p:cNvPr id="6" name="文字方塊 5">
            <a:extLst>
              <a:ext uri="{FF2B5EF4-FFF2-40B4-BE49-F238E27FC236}">
                <a16:creationId xmlns:a16="http://schemas.microsoft.com/office/drawing/2014/main" id="{67ECB530-BF87-2A10-27A5-5FBA8607CAB7}"/>
              </a:ext>
            </a:extLst>
          </p:cNvPr>
          <p:cNvSpPr txBox="1"/>
          <p:nvPr/>
        </p:nvSpPr>
        <p:spPr>
          <a:xfrm>
            <a:off x="7177453" y="256913"/>
            <a:ext cx="5014547" cy="46166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Audio</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LM</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https://arxiv.org/abs/2209.03143</a:t>
            </a:r>
          </a:p>
        </p:txBody>
      </p:sp>
      <p:pic>
        <p:nvPicPr>
          <p:cNvPr id="8" name="圖片 7" descr="一張含有 文字, 螢幕擷取畫面, 圖表, 鮮豔 的圖片&#10;&#10;AI 產生的內容可能不正確。">
            <a:extLst>
              <a:ext uri="{FF2B5EF4-FFF2-40B4-BE49-F238E27FC236}">
                <a16:creationId xmlns:a16="http://schemas.microsoft.com/office/drawing/2014/main" id="{958B2A8F-00F5-AAEC-7FF1-8A0500A701D5}"/>
              </a:ext>
            </a:extLst>
          </p:cNvPr>
          <p:cNvPicPr>
            <a:picLocks noChangeAspect="1"/>
          </p:cNvPicPr>
          <p:nvPr/>
        </p:nvPicPr>
        <p:blipFill>
          <a:blip r:embed="rId3"/>
          <a:stretch>
            <a:fillRect/>
          </a:stretch>
        </p:blipFill>
        <p:spPr>
          <a:xfrm>
            <a:off x="4237890" y="2842414"/>
            <a:ext cx="7091135" cy="3867891"/>
          </a:xfrm>
          <a:prstGeom prst="rect">
            <a:avLst/>
          </a:prstGeom>
        </p:spPr>
      </p:pic>
      <p:sp>
        <p:nvSpPr>
          <p:cNvPr id="10" name="文字方塊 9">
            <a:extLst>
              <a:ext uri="{FF2B5EF4-FFF2-40B4-BE49-F238E27FC236}">
                <a16:creationId xmlns:a16="http://schemas.microsoft.com/office/drawing/2014/main" id="{BFE47F2E-3A26-B7D6-4BCC-81D46B3C0F51}"/>
              </a:ext>
            </a:extLst>
          </p:cNvPr>
          <p:cNvSpPr txBox="1"/>
          <p:nvPr/>
        </p:nvSpPr>
        <p:spPr>
          <a:xfrm>
            <a:off x="356089" y="195358"/>
            <a:ext cx="6093068" cy="584775"/>
          </a:xfrm>
          <a:prstGeom prst="rect">
            <a:avLst/>
          </a:prstGeom>
          <a:noFill/>
        </p:spPr>
        <p:txBody>
          <a:bodyPr wrap="square">
            <a:spAutoFit/>
          </a:bodyPr>
          <a:lstStyle/>
          <a:p>
            <a:r>
              <a:rPr lang="en-US" altLang="zh-TW" sz="3200" dirty="0"/>
              <a:t>Just use all of them!</a:t>
            </a:r>
            <a:endParaRPr lang="zh-TW" altLang="en-US" sz="3200" dirty="0"/>
          </a:p>
        </p:txBody>
      </p:sp>
      <p:sp>
        <p:nvSpPr>
          <p:cNvPr id="12" name="文字方塊 11">
            <a:extLst>
              <a:ext uri="{FF2B5EF4-FFF2-40B4-BE49-F238E27FC236}">
                <a16:creationId xmlns:a16="http://schemas.microsoft.com/office/drawing/2014/main" id="{83569FC0-C327-6B63-1B18-410568AB605A}"/>
              </a:ext>
            </a:extLst>
          </p:cNvPr>
          <p:cNvSpPr txBox="1"/>
          <p:nvPr/>
        </p:nvSpPr>
        <p:spPr>
          <a:xfrm>
            <a:off x="496766" y="2807058"/>
            <a:ext cx="3231173" cy="1569660"/>
          </a:xfrm>
          <a:prstGeom prst="rect">
            <a:avLst/>
          </a:prstGeom>
          <a:noFill/>
        </p:spPr>
        <p:txBody>
          <a:bodyPr wrap="square">
            <a:spAutoFit/>
          </a:bodyPr>
          <a:lstStyle/>
          <a:p>
            <a:r>
              <a:rPr lang="en-US" altLang="zh-TW" sz="3200" dirty="0"/>
              <a:t>How to arrange the order of their generation</a:t>
            </a:r>
            <a:endParaRPr lang="zh-TW" altLang="en-US" sz="3200" dirty="0"/>
          </a:p>
        </p:txBody>
      </p:sp>
      <p:sp>
        <p:nvSpPr>
          <p:cNvPr id="14" name="文字方塊 13">
            <a:extLst>
              <a:ext uri="{FF2B5EF4-FFF2-40B4-BE49-F238E27FC236}">
                <a16:creationId xmlns:a16="http://schemas.microsoft.com/office/drawing/2014/main" id="{D5690D7C-F2AE-47B6-73C8-46650EBBE716}"/>
              </a:ext>
            </a:extLst>
          </p:cNvPr>
          <p:cNvSpPr txBox="1"/>
          <p:nvPr/>
        </p:nvSpPr>
        <p:spPr>
          <a:xfrm>
            <a:off x="496766" y="4544101"/>
            <a:ext cx="6093068" cy="369332"/>
          </a:xfrm>
          <a:prstGeom prst="rect">
            <a:avLst/>
          </a:prstGeom>
          <a:noFill/>
        </p:spPr>
        <p:txBody>
          <a:bodyPr wrap="square">
            <a:spAutoFit/>
          </a:bodyPr>
          <a:lstStyle/>
          <a:p>
            <a:r>
              <a:rPr lang="zh-TW" altLang="en-US" dirty="0"/>
              <a:t>https://arxiv.org/abs/2306.05284</a:t>
            </a:r>
          </a:p>
        </p:txBody>
      </p:sp>
    </p:spTree>
    <p:extLst>
      <p:ext uri="{BB962C8B-B14F-4D97-AF65-F5344CB8AC3E}">
        <p14:creationId xmlns:p14="http://schemas.microsoft.com/office/powerpoint/2010/main" val="356533094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01E50C-A673-27FF-8DA9-DD5A5589C814}"/>
              </a:ext>
            </a:extLst>
          </p:cNvPr>
          <p:cNvSpPr>
            <a:spLocks noGrp="1"/>
          </p:cNvSpPr>
          <p:nvPr>
            <p:ph type="title"/>
          </p:nvPr>
        </p:nvSpPr>
        <p:spPr/>
        <p:txBody>
          <a:bodyPr/>
          <a:lstStyle/>
          <a:p>
            <a:endParaRPr lang="zh-TW" altLang="en-US" dirty="0"/>
          </a:p>
        </p:txBody>
      </p:sp>
      <p:pic>
        <p:nvPicPr>
          <p:cNvPr id="5" name="圖片 4" descr="一張含有 文字, 卡通, 圖畫, 寫生 的圖片&#10;&#10;AI 產生的內容可能不正確。">
            <a:extLst>
              <a:ext uri="{FF2B5EF4-FFF2-40B4-BE49-F238E27FC236}">
                <a16:creationId xmlns:a16="http://schemas.microsoft.com/office/drawing/2014/main" id="{4267C0DC-8E36-2BD8-AF49-966210A42742}"/>
              </a:ext>
            </a:extLst>
          </p:cNvPr>
          <p:cNvPicPr>
            <a:picLocks noChangeAspect="1"/>
          </p:cNvPicPr>
          <p:nvPr/>
        </p:nvPicPr>
        <p:blipFill>
          <a:blip r:embed="rId2"/>
          <a:stretch>
            <a:fillRect/>
          </a:stretch>
        </p:blipFill>
        <p:spPr>
          <a:xfrm>
            <a:off x="1680969" y="528094"/>
            <a:ext cx="8802713" cy="5279537"/>
          </a:xfrm>
          <a:prstGeom prst="rect">
            <a:avLst/>
          </a:prstGeom>
        </p:spPr>
      </p:pic>
      <p:sp>
        <p:nvSpPr>
          <p:cNvPr id="7" name="文字方塊 6">
            <a:extLst>
              <a:ext uri="{FF2B5EF4-FFF2-40B4-BE49-F238E27FC236}">
                <a16:creationId xmlns:a16="http://schemas.microsoft.com/office/drawing/2014/main" id="{F88E09D4-7E74-63F9-9ADD-96D8EAF6A352}"/>
              </a:ext>
            </a:extLst>
          </p:cNvPr>
          <p:cNvSpPr txBox="1"/>
          <p:nvPr/>
        </p:nvSpPr>
        <p:spPr>
          <a:xfrm>
            <a:off x="1680969" y="5852271"/>
            <a:ext cx="6093068" cy="369332"/>
          </a:xfrm>
          <a:prstGeom prst="rect">
            <a:avLst/>
          </a:prstGeom>
          <a:noFill/>
        </p:spPr>
        <p:txBody>
          <a:bodyPr wrap="square">
            <a:spAutoFit/>
          </a:bodyPr>
          <a:lstStyle/>
          <a:p>
            <a:r>
              <a:rPr lang="zh-TW" altLang="en-US" dirty="0"/>
              <a:t>https://www.youtube.com/watch?v=gkAyqoQkOSk </a:t>
            </a:r>
          </a:p>
        </p:txBody>
      </p:sp>
      <p:sp>
        <p:nvSpPr>
          <p:cNvPr id="8" name="文字方塊 7">
            <a:extLst>
              <a:ext uri="{FF2B5EF4-FFF2-40B4-BE49-F238E27FC236}">
                <a16:creationId xmlns:a16="http://schemas.microsoft.com/office/drawing/2014/main" id="{D2771CE2-1DA9-F9ED-CA03-552D8331DC78}"/>
              </a:ext>
            </a:extLst>
          </p:cNvPr>
          <p:cNvSpPr txBox="1"/>
          <p:nvPr/>
        </p:nvSpPr>
        <p:spPr>
          <a:xfrm>
            <a:off x="8283991" y="6010977"/>
            <a:ext cx="2934994" cy="523220"/>
          </a:xfrm>
          <a:prstGeom prst="rect">
            <a:avLst/>
          </a:prstGeom>
          <a:noFill/>
        </p:spPr>
        <p:txBody>
          <a:bodyPr wrap="square" rtlCol="0">
            <a:spAutoFit/>
          </a:bodyPr>
          <a:lstStyle/>
          <a:p>
            <a:r>
              <a:rPr lang="en-US" altLang="zh-TW" sz="2800" dirty="0"/>
              <a:t>27:00 – 39:00 </a:t>
            </a:r>
            <a:endParaRPr lang="zh-TW" altLang="en-US" sz="2800" dirty="0"/>
          </a:p>
        </p:txBody>
      </p:sp>
    </p:spTree>
    <p:extLst>
      <p:ext uri="{BB962C8B-B14F-4D97-AF65-F5344CB8AC3E}">
        <p14:creationId xmlns:p14="http://schemas.microsoft.com/office/powerpoint/2010/main" val="22146156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0FAA7-7344-3467-6946-D94FE810C1E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5417426-A49E-27EA-4745-EED4487F9283}"/>
              </a:ext>
            </a:extLst>
          </p:cNvPr>
          <p:cNvSpPr>
            <a:spLocks noGrp="1"/>
          </p:cNvSpPr>
          <p:nvPr>
            <p:ph type="title"/>
          </p:nvPr>
        </p:nvSpPr>
        <p:spPr/>
        <p:txBody>
          <a:bodyPr/>
          <a:lstStyle/>
          <a:p>
            <a:r>
              <a:rPr lang="en-US" altLang="zh-TW" dirty="0"/>
              <a:t>Very challenging!</a:t>
            </a:r>
            <a:endParaRPr lang="zh-TW" altLang="en-US" b="1" dirty="0"/>
          </a:p>
        </p:txBody>
      </p:sp>
      <p:sp>
        <p:nvSpPr>
          <p:cNvPr id="16" name="矩形: 圓角 15">
            <a:extLst>
              <a:ext uri="{FF2B5EF4-FFF2-40B4-BE49-F238E27FC236}">
                <a16:creationId xmlns:a16="http://schemas.microsoft.com/office/drawing/2014/main" id="{DD1172AD-94A2-E8E6-BD08-6D1C181EC8E8}"/>
              </a:ext>
            </a:extLst>
          </p:cNvPr>
          <p:cNvSpPr/>
          <p:nvPr/>
        </p:nvSpPr>
        <p:spPr>
          <a:xfrm>
            <a:off x="5245719" y="1878646"/>
            <a:ext cx="1907809"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LLM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a:solidFill>
                  <a:prstClr val="black"/>
                </a:solidFill>
                <a:latin typeface="Calibri" panose="020F0502020204030204"/>
                <a:ea typeface="新細明體" panose="02020500000000000000" pitchFamily="18" charset="-120"/>
              </a:rPr>
              <a:t>(speech token only)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7" name="直線單箭頭接點 16">
            <a:extLst>
              <a:ext uri="{FF2B5EF4-FFF2-40B4-BE49-F238E27FC236}">
                <a16:creationId xmlns:a16="http://schemas.microsoft.com/office/drawing/2014/main" id="{40F2D797-F6A4-E7B9-E7FD-991B7588EFB4}"/>
              </a:ext>
            </a:extLst>
          </p:cNvPr>
          <p:cNvCxnSpPr>
            <a:cxnSpLocks/>
          </p:cNvCxnSpPr>
          <p:nvPr/>
        </p:nvCxnSpPr>
        <p:spPr>
          <a:xfrm>
            <a:off x="4295731" y="2496811"/>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3"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AA402CB2-B105-C4E9-24ED-26F8C0CD52E0}"/>
              </a:ext>
            </a:extLst>
          </p:cNvPr>
          <p:cNvPicPr preferRelativeResize="0"/>
          <p:nvPr/>
        </p:nvPicPr>
        <p:blipFill rotWithShape="1">
          <a:blip r:embed="rId7">
            <a:alphaModFix/>
          </a:blip>
          <a:srcRect l="39924" t="74586" r="38724" b="15732"/>
          <a:stretch/>
        </p:blipFill>
        <p:spPr>
          <a:xfrm>
            <a:off x="1516937" y="2099613"/>
            <a:ext cx="2807922" cy="676924"/>
          </a:xfrm>
          <a:prstGeom prst="rect">
            <a:avLst/>
          </a:prstGeom>
          <a:noFill/>
          <a:ln>
            <a:noFill/>
          </a:ln>
        </p:spPr>
      </p:pic>
      <p:pic>
        <p:nvPicPr>
          <p:cNvPr id="25"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7D49CFC5-FAE4-296D-7929-715404929850}"/>
              </a:ext>
            </a:extLst>
          </p:cNvPr>
          <p:cNvPicPr preferRelativeResize="0"/>
          <p:nvPr/>
        </p:nvPicPr>
        <p:blipFill rotWithShape="1">
          <a:blip r:embed="rId7">
            <a:alphaModFix/>
          </a:blip>
          <a:srcRect l="35083" t="84591" r="35071" b="1174"/>
          <a:stretch/>
        </p:blipFill>
        <p:spPr>
          <a:xfrm>
            <a:off x="8093438" y="2159934"/>
            <a:ext cx="1946247" cy="673753"/>
          </a:xfrm>
          <a:prstGeom prst="rect">
            <a:avLst/>
          </a:prstGeom>
          <a:noFill/>
          <a:ln>
            <a:noFill/>
          </a:ln>
        </p:spPr>
      </p:pic>
      <p:cxnSp>
        <p:nvCxnSpPr>
          <p:cNvPr id="26" name="直線單箭頭接點 25">
            <a:extLst>
              <a:ext uri="{FF2B5EF4-FFF2-40B4-BE49-F238E27FC236}">
                <a16:creationId xmlns:a16="http://schemas.microsoft.com/office/drawing/2014/main" id="{3F670B1D-E569-BEBE-7CCF-E9F0E1B99FCB}"/>
              </a:ext>
            </a:extLst>
          </p:cNvPr>
          <p:cNvCxnSpPr>
            <a:cxnSpLocks/>
          </p:cNvCxnSpPr>
          <p:nvPr/>
        </p:nvCxnSpPr>
        <p:spPr>
          <a:xfrm>
            <a:off x="7275710" y="2496811"/>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文字方塊 3">
            <a:extLst>
              <a:ext uri="{FF2B5EF4-FFF2-40B4-BE49-F238E27FC236}">
                <a16:creationId xmlns:a16="http://schemas.microsoft.com/office/drawing/2014/main" id="{635C0C1C-6540-D4DD-5E2A-532C6F8802F9}"/>
              </a:ext>
            </a:extLst>
          </p:cNvPr>
          <p:cNvSpPr txBox="1"/>
          <p:nvPr/>
        </p:nvSpPr>
        <p:spPr>
          <a:xfrm>
            <a:off x="453167" y="3471116"/>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https://arxiv.org/abs/2306.02207</a:t>
            </a:r>
          </a:p>
        </p:txBody>
      </p:sp>
      <p:pic>
        <p:nvPicPr>
          <p:cNvPr id="5" name="LJ040-0043">
            <a:hlinkClick r:id="" action="ppaction://media"/>
            <a:extLst>
              <a:ext uri="{FF2B5EF4-FFF2-40B4-BE49-F238E27FC236}">
                <a16:creationId xmlns:a16="http://schemas.microsoft.com/office/drawing/2014/main" id="{65BE71EF-60CF-F7F9-E8B8-5FDF27A65849}"/>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01953" y="2205027"/>
            <a:ext cx="609600" cy="609600"/>
          </a:xfrm>
          <a:prstGeom prst="rect">
            <a:avLst/>
          </a:prstGeom>
        </p:spPr>
      </p:pic>
      <p:sp>
        <p:nvSpPr>
          <p:cNvPr id="6" name="文字方塊 5">
            <a:extLst>
              <a:ext uri="{FF2B5EF4-FFF2-40B4-BE49-F238E27FC236}">
                <a16:creationId xmlns:a16="http://schemas.microsoft.com/office/drawing/2014/main" id="{762879BF-C287-388D-77CA-D65C3E110955}"/>
              </a:ext>
            </a:extLst>
          </p:cNvPr>
          <p:cNvSpPr txBox="1"/>
          <p:nvPr/>
        </p:nvSpPr>
        <p:spPr>
          <a:xfrm>
            <a:off x="1524441" y="2798092"/>
            <a:ext cx="609858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344854"/>
                </a:solidFill>
                <a:effectLst/>
                <a:uLnTx/>
                <a:uFillTx/>
                <a:latin typeface="Optimistic Text, Helvetica, Helvetica Neue, Arial, sans-serif"/>
                <a:ea typeface="新細明體" panose="02020500000000000000" pitchFamily="18" charset="-120"/>
                <a:cs typeface="+mn-cs"/>
              </a:rPr>
              <a:t>He assassinated the president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3D194B98-BD80-7F9C-A774-7BBEDDED6D69}"/>
              </a:ext>
            </a:extLst>
          </p:cNvPr>
          <p:cNvSpPr/>
          <p:nvPr/>
        </p:nvSpPr>
        <p:spPr>
          <a:xfrm>
            <a:off x="709191" y="2097835"/>
            <a:ext cx="720000" cy="7200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C16766C4-E6FE-BF9B-5D94-C0C35D5363F4}"/>
              </a:ext>
            </a:extLst>
          </p:cNvPr>
          <p:cNvSpPr txBox="1"/>
          <p:nvPr/>
        </p:nvSpPr>
        <p:spPr>
          <a:xfrm>
            <a:off x="7343698" y="2916354"/>
            <a:ext cx="4776316"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344854"/>
                </a:solidFill>
                <a:effectLst/>
                <a:uLnTx/>
                <a:uFillTx/>
                <a:latin typeface="Optimistic Text, Helvetica, Helvetica Neue, Arial, sans-serif"/>
                <a:ea typeface="新細明體" panose="02020500000000000000" pitchFamily="18" charset="-120"/>
                <a:cs typeface="+mn-cs"/>
              </a:rPr>
              <a:t>He assassinated the president </a:t>
            </a:r>
            <a:r>
              <a:rPr kumimoji="0" lang="en-US" altLang="zh-TW" sz="1800" b="0" i="0" u="none" strike="noStrike" kern="1200" cap="none" spc="0" normalizeH="0" baseline="0" noProof="0" dirty="0">
                <a:ln>
                  <a:noFill/>
                </a:ln>
                <a:solidFill>
                  <a:srgbClr val="FF0000"/>
                </a:solidFill>
                <a:effectLst/>
                <a:uLnTx/>
                <a:uFillTx/>
                <a:latin typeface="Optimistic Text, Helvetica, Helvetica Neue, Arial, sans-serif"/>
                <a:ea typeface="新細明體" panose="02020500000000000000" pitchFamily="18" charset="-120"/>
                <a:cs typeface="+mn-cs"/>
              </a:rPr>
              <a:t>and gave mister </a:t>
            </a:r>
            <a:r>
              <a:rPr kumimoji="0" lang="en-US" altLang="zh-TW" sz="1800" b="0" i="0" u="none" strike="noStrike" kern="1200" cap="none" spc="0" normalizeH="0" baseline="0" noProof="0" dirty="0" err="1">
                <a:ln>
                  <a:noFill/>
                </a:ln>
                <a:solidFill>
                  <a:srgbClr val="FF0000"/>
                </a:solidFill>
                <a:effectLst/>
                <a:uLnTx/>
                <a:uFillTx/>
                <a:latin typeface="Optimistic Text, Helvetica, Helvetica Neue, Arial, sans-serif"/>
                <a:ea typeface="新細明體" panose="02020500000000000000" pitchFamily="18" charset="-120"/>
                <a:cs typeface="+mn-cs"/>
              </a:rPr>
              <a:t>johnson</a:t>
            </a:r>
            <a:r>
              <a:rPr kumimoji="0" lang="en-US" altLang="zh-TW" sz="1800" b="0" i="0" u="none" strike="noStrike" kern="1200" cap="none" spc="0" normalizeH="0" baseline="0" noProof="0" dirty="0">
                <a:ln>
                  <a:noFill/>
                </a:ln>
                <a:solidFill>
                  <a:srgbClr val="FF0000"/>
                </a:solidFill>
                <a:effectLst/>
                <a:uLnTx/>
                <a:uFillTx/>
                <a:latin typeface="Optimistic Text, Helvetica, Helvetica Neue, Arial, sans-serif"/>
                <a:ea typeface="新細明體" panose="02020500000000000000" pitchFamily="18" charset="-120"/>
                <a:cs typeface="+mn-cs"/>
              </a:rPr>
              <a:t> the last charge of improvement in his writing possible three point eight nine.</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11DBE6F7-226B-741C-6684-AB745FD2FFBB}"/>
              </a:ext>
            </a:extLst>
          </p:cNvPr>
          <p:cNvSpPr/>
          <p:nvPr/>
        </p:nvSpPr>
        <p:spPr>
          <a:xfrm>
            <a:off x="10085080" y="2073627"/>
            <a:ext cx="720000" cy="7200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9" name="文字方塊 18">
            <a:extLst>
              <a:ext uri="{FF2B5EF4-FFF2-40B4-BE49-F238E27FC236}">
                <a16:creationId xmlns:a16="http://schemas.microsoft.com/office/drawing/2014/main" id="{C88314BD-94EF-411A-6F69-6FD1F0C07C19}"/>
              </a:ext>
            </a:extLst>
          </p:cNvPr>
          <p:cNvSpPr txBox="1"/>
          <p:nvPr/>
        </p:nvSpPr>
        <p:spPr>
          <a:xfrm>
            <a:off x="2157436" y="5137464"/>
            <a:ext cx="980132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374151"/>
                </a:solidFill>
                <a:effectLst/>
                <a:uLnTx/>
                <a:uFillTx/>
                <a:latin typeface="Söhne"/>
                <a:ea typeface="新細明體" panose="02020500000000000000" pitchFamily="18" charset="-120"/>
                <a:cs typeface="+mn-cs"/>
              </a:rPr>
              <a:t>… while the sentence has recognizable English words and phrases, as it is currently constructed, </a:t>
            </a:r>
            <a:r>
              <a:rPr kumimoji="0" lang="en-US" altLang="zh-TW" sz="2400" b="1" i="0" u="none" strike="noStrike" kern="1200" cap="none" spc="0" normalizeH="0" baseline="0" noProof="0" dirty="0">
                <a:ln>
                  <a:noFill/>
                </a:ln>
                <a:solidFill>
                  <a:srgbClr val="374151"/>
                </a:solidFill>
                <a:effectLst/>
                <a:uLnTx/>
                <a:uFillTx/>
                <a:latin typeface="Söhne"/>
                <a:ea typeface="新細明體" panose="02020500000000000000" pitchFamily="18" charset="-120"/>
                <a:cs typeface="+mn-cs"/>
              </a:rPr>
              <a:t>it doesn't coherently communicate a clear, singular idea or sequence of connected ideas</a:t>
            </a:r>
            <a:r>
              <a:rPr kumimoji="0" lang="en-US" altLang="zh-TW" sz="2400" b="0" i="0" u="none" strike="noStrike" kern="1200" cap="none" spc="0" normalizeH="0" baseline="0" noProof="0" dirty="0">
                <a:ln>
                  <a:noFill/>
                </a:ln>
                <a:solidFill>
                  <a:srgbClr val="374151"/>
                </a:solidFill>
                <a:effectLst/>
                <a:uLnTx/>
                <a:uFillTx/>
                <a:latin typeface="Söhne"/>
                <a:ea typeface="新細明體" panose="02020500000000000000" pitchFamily="18" charset="-120"/>
                <a:cs typeface="+mn-cs"/>
              </a:rPr>
              <a:t>.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20" name="圖片 19">
            <a:extLst>
              <a:ext uri="{FF2B5EF4-FFF2-40B4-BE49-F238E27FC236}">
                <a16:creationId xmlns:a16="http://schemas.microsoft.com/office/drawing/2014/main" id="{13F530D0-4094-3BEC-9A02-7044C725BFE3}"/>
              </a:ext>
            </a:extLst>
          </p:cNvPr>
          <p:cNvPicPr>
            <a:picLocks noChangeAspect="1"/>
          </p:cNvPicPr>
          <p:nvPr/>
        </p:nvPicPr>
        <p:blipFill>
          <a:blip r:embed="rId9"/>
          <a:stretch>
            <a:fillRect/>
          </a:stretch>
        </p:blipFill>
        <p:spPr>
          <a:xfrm>
            <a:off x="909764" y="5231605"/>
            <a:ext cx="804518" cy="804518"/>
          </a:xfrm>
          <a:prstGeom prst="rect">
            <a:avLst/>
          </a:prstGeom>
        </p:spPr>
      </p:pic>
      <p:sp>
        <p:nvSpPr>
          <p:cNvPr id="21" name="文字方塊 20">
            <a:extLst>
              <a:ext uri="{FF2B5EF4-FFF2-40B4-BE49-F238E27FC236}">
                <a16:creationId xmlns:a16="http://schemas.microsoft.com/office/drawing/2014/main" id="{641EDC4A-2A8A-E594-528A-703E6B6FB321}"/>
              </a:ext>
            </a:extLst>
          </p:cNvPr>
          <p:cNvSpPr txBox="1"/>
          <p:nvPr/>
        </p:nvSpPr>
        <p:spPr>
          <a:xfrm>
            <a:off x="692091" y="6036123"/>
            <a:ext cx="12398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Chat</a:t>
            </a:r>
            <a:r>
              <a:rPr kumimoji="0" lang="en-US" altLang="zh-TW" sz="1800" b="0" i="0" u="none" strike="noStrike" kern="1200" cap="none" spc="0" normalizeH="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GPT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語音泡泡: 圓角矩形 21">
            <a:extLst>
              <a:ext uri="{FF2B5EF4-FFF2-40B4-BE49-F238E27FC236}">
                <a16:creationId xmlns:a16="http://schemas.microsoft.com/office/drawing/2014/main" id="{927E5A9A-E497-A6AE-44E7-8F2C4EF0775F}"/>
              </a:ext>
            </a:extLst>
          </p:cNvPr>
          <p:cNvSpPr/>
          <p:nvPr/>
        </p:nvSpPr>
        <p:spPr>
          <a:xfrm>
            <a:off x="1931955" y="5137464"/>
            <a:ext cx="9608673" cy="1223313"/>
          </a:xfrm>
          <a:prstGeom prst="wedgeRoundRectCallout">
            <a:avLst>
              <a:gd name="adj1" fmla="val -51984"/>
              <a:gd name="adj2" fmla="val -12248"/>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 name="語音泡泡: 圓角矩形 23">
            <a:extLst>
              <a:ext uri="{FF2B5EF4-FFF2-40B4-BE49-F238E27FC236}">
                <a16:creationId xmlns:a16="http://schemas.microsoft.com/office/drawing/2014/main" id="{F813CF1A-C49E-D5B4-5706-1C1884F8F409}"/>
              </a:ext>
            </a:extLst>
          </p:cNvPr>
          <p:cNvSpPr/>
          <p:nvPr/>
        </p:nvSpPr>
        <p:spPr>
          <a:xfrm>
            <a:off x="6341700" y="4161624"/>
            <a:ext cx="4922635" cy="778158"/>
          </a:xfrm>
          <a:prstGeom prst="wedgeRoundRectCallout">
            <a:avLst>
              <a:gd name="adj1" fmla="val 62228"/>
              <a:gd name="adj2" fmla="val 26001"/>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Does this sentence make sense?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9" name="gslm (mp3cut.net)">
            <a:hlinkClick r:id="" action="ppaction://media"/>
            <a:extLst>
              <a:ext uri="{FF2B5EF4-FFF2-40B4-BE49-F238E27FC236}">
                <a16:creationId xmlns:a16="http://schemas.microsoft.com/office/drawing/2014/main" id="{E0513DCC-7F73-66BC-F58F-D90CCCC907AC}"/>
              </a:ext>
            </a:extLst>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10195480" y="2153035"/>
            <a:ext cx="609600" cy="609600"/>
          </a:xfrm>
          <a:prstGeom prst="rect">
            <a:avLst/>
          </a:prstGeom>
        </p:spPr>
      </p:pic>
    </p:spTree>
    <p:extLst>
      <p:ext uri="{BB962C8B-B14F-4D97-AF65-F5344CB8AC3E}">
        <p14:creationId xmlns:p14="http://schemas.microsoft.com/office/powerpoint/2010/main" val="29522006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33" fill="hold"/>
                                        <p:tgtEl>
                                          <p:spTgt spid="5"/>
                                        </p:tgtEl>
                                      </p:cBhvr>
                                    </p:cmd>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mediacall" presetSubtype="0" fill="hold" nodeType="withEffect">
                                  <p:stCondLst>
                                    <p:cond delay="0"/>
                                  </p:stCondLst>
                                  <p:childTnLst>
                                    <p:cmd type="call" cmd="playFrom(0.0)">
                                      <p:cBhvr>
                                        <p:cTn id="16" dur="5928" fill="hold"/>
                                        <p:tgtEl>
                                          <p:spTgt spid="9"/>
                                        </p:tgtEl>
                                      </p:cBhvr>
                                    </p:cmd>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35" fill="hold" display="0">
                  <p:stCondLst>
                    <p:cond delay="indefinite"/>
                  </p:stCondLst>
                  <p:endCondLst>
                    <p:cond evt="onStopAudio" delay="0">
                      <p:tgtEl>
                        <p:sldTgt/>
                      </p:tgtEl>
                    </p:cond>
                  </p:endCondLst>
                </p:cTn>
                <p:tgtEl>
                  <p:spTgt spid="5"/>
                </p:tgtEl>
              </p:cMediaNode>
            </p:audio>
            <p:audio>
              <p:cMediaNode vol="80000">
                <p:cTn id="36" fill="hold" display="0">
                  <p:stCondLst>
                    <p:cond delay="indefinite"/>
                  </p:stCondLst>
                  <p:endCondLst>
                    <p:cond evt="onStopAudio" delay="0">
                      <p:tgtEl>
                        <p:sldTgt/>
                      </p:tgtEl>
                    </p:cond>
                  </p:endCondLst>
                </p:cTn>
                <p:tgtEl>
                  <p:spTgt spid="9"/>
                </p:tgtEl>
              </p:cMediaNode>
            </p:audio>
          </p:childTnLst>
        </p:cTn>
      </p:par>
    </p:tnLst>
    <p:bldLst>
      <p:bldP spid="6" grpId="0"/>
      <p:bldP spid="10" grpId="0" animBg="1"/>
      <p:bldP spid="10" grpId="1" animBg="1"/>
      <p:bldP spid="11" grpId="0"/>
      <p:bldP spid="18" grpId="0" animBg="1"/>
      <p:bldP spid="19" grpId="0"/>
      <p:bldP spid="21" grpId="0"/>
      <p:bldP spid="22" grpId="0" animBg="1"/>
      <p:bldP spid="2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圓角 3">
            <a:extLst>
              <a:ext uri="{FF2B5EF4-FFF2-40B4-BE49-F238E27FC236}">
                <a16:creationId xmlns:a16="http://schemas.microsoft.com/office/drawing/2014/main" id="{3DF3A81B-9FF3-8EC5-DE40-40458F83D62F}"/>
              </a:ext>
            </a:extLst>
          </p:cNvPr>
          <p:cNvSpPr/>
          <p:nvPr/>
        </p:nvSpPr>
        <p:spPr>
          <a:xfrm>
            <a:off x="753377" y="1910503"/>
            <a:ext cx="10769756" cy="1220697"/>
          </a:xfrm>
          <a:prstGeom prst="roundRect">
            <a:avLst/>
          </a:prstGeom>
          <a:solidFill>
            <a:schemeClr val="accent4">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Language Model</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25" name="Google Shape;249;p25">
            <a:extLst>
              <a:ext uri="{FF2B5EF4-FFF2-40B4-BE49-F238E27FC236}">
                <a16:creationId xmlns:a16="http://schemas.microsoft.com/office/drawing/2014/main" id="{93C1E170-9FF6-91BF-BC19-FBCA6C2EBE0A}"/>
              </a:ext>
            </a:extLst>
          </p:cNvPr>
          <p:cNvPicPr preferRelativeResize="0"/>
          <p:nvPr/>
        </p:nvPicPr>
        <p:blipFill rotWithShape="1">
          <a:blip r:embed="rId2">
            <a:alphaModFix/>
            <a:duotone>
              <a:schemeClr val="accent2">
                <a:shade val="45000"/>
                <a:satMod val="135000"/>
              </a:schemeClr>
              <a:prstClr val="white"/>
            </a:duotone>
          </a:blip>
          <a:srcRect l="30260"/>
          <a:stretch/>
        </p:blipFill>
        <p:spPr>
          <a:xfrm>
            <a:off x="800515" y="3480913"/>
            <a:ext cx="2158853" cy="615600"/>
          </a:xfrm>
          <a:prstGeom prst="rect">
            <a:avLst/>
          </a:prstGeom>
          <a:noFill/>
          <a:ln>
            <a:noFill/>
          </a:ln>
        </p:spPr>
      </p:pic>
      <p:pic>
        <p:nvPicPr>
          <p:cNvPr id="26" name="Google Shape;249;p25">
            <a:extLst>
              <a:ext uri="{FF2B5EF4-FFF2-40B4-BE49-F238E27FC236}">
                <a16:creationId xmlns:a16="http://schemas.microsoft.com/office/drawing/2014/main" id="{23170226-354E-9361-16E4-CA3519AACD93}"/>
              </a:ext>
            </a:extLst>
          </p:cNvPr>
          <p:cNvPicPr preferRelativeResize="0"/>
          <p:nvPr/>
        </p:nvPicPr>
        <p:blipFill rotWithShape="1">
          <a:blip r:embed="rId2">
            <a:alphaModFix/>
            <a:duotone>
              <a:schemeClr val="accent6">
                <a:shade val="45000"/>
                <a:satMod val="135000"/>
              </a:schemeClr>
              <a:prstClr val="white"/>
            </a:duotone>
          </a:blip>
          <a:srcRect l="30260"/>
          <a:stretch/>
        </p:blipFill>
        <p:spPr>
          <a:xfrm>
            <a:off x="4696164" y="3480913"/>
            <a:ext cx="2158853" cy="615600"/>
          </a:xfrm>
          <a:prstGeom prst="rect">
            <a:avLst/>
          </a:prstGeom>
          <a:noFill/>
          <a:ln>
            <a:noFill/>
          </a:ln>
        </p:spPr>
      </p:pic>
      <p:pic>
        <p:nvPicPr>
          <p:cNvPr id="29" name="Google Shape;249;p25">
            <a:extLst>
              <a:ext uri="{FF2B5EF4-FFF2-40B4-BE49-F238E27FC236}">
                <a16:creationId xmlns:a16="http://schemas.microsoft.com/office/drawing/2014/main" id="{6B297D9A-4E6F-ABA1-B5C9-55D3B4F696E1}"/>
              </a:ext>
            </a:extLst>
          </p:cNvPr>
          <p:cNvPicPr preferRelativeResize="0"/>
          <p:nvPr/>
        </p:nvPicPr>
        <p:blipFill rotWithShape="1">
          <a:blip r:embed="rId2">
            <a:alphaModFix/>
            <a:duotone>
              <a:schemeClr val="accent2">
                <a:shade val="45000"/>
                <a:satMod val="135000"/>
              </a:schemeClr>
              <a:prstClr val="white"/>
            </a:duotone>
          </a:blip>
          <a:srcRect l="30260"/>
          <a:stretch/>
        </p:blipFill>
        <p:spPr>
          <a:xfrm flipV="1">
            <a:off x="8629423" y="3480913"/>
            <a:ext cx="2158853" cy="615600"/>
          </a:xfrm>
          <a:prstGeom prst="rect">
            <a:avLst/>
          </a:prstGeom>
          <a:noFill/>
          <a:ln>
            <a:noFill/>
          </a:ln>
        </p:spPr>
      </p:pic>
      <p:sp>
        <p:nvSpPr>
          <p:cNvPr id="30" name="矩形: 圓角 29">
            <a:extLst>
              <a:ext uri="{FF2B5EF4-FFF2-40B4-BE49-F238E27FC236}">
                <a16:creationId xmlns:a16="http://schemas.microsoft.com/office/drawing/2014/main" id="{202E8392-39AF-DCAC-A585-0CDA489EA320}"/>
              </a:ext>
            </a:extLst>
          </p:cNvPr>
          <p:cNvSpPr/>
          <p:nvPr/>
        </p:nvSpPr>
        <p:spPr>
          <a:xfrm>
            <a:off x="10475426" y="864541"/>
            <a:ext cx="1020536" cy="534551"/>
          </a:xfrm>
          <a:prstGeom prst="roundRect">
            <a:avLst/>
          </a:prstGeom>
          <a:solidFill>
            <a:schemeClr val="accent2">
              <a:lumMod val="40000"/>
              <a:lumOff val="60000"/>
            </a:schemeClr>
          </a:solidFill>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happy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cxnSp>
        <p:nvCxnSpPr>
          <p:cNvPr id="85" name="Google Shape;3383;p292">
            <a:extLst>
              <a:ext uri="{FF2B5EF4-FFF2-40B4-BE49-F238E27FC236}">
                <a16:creationId xmlns:a16="http://schemas.microsoft.com/office/drawing/2014/main" id="{36FD73A1-48C6-1656-8267-3DB67A15C20A}"/>
              </a:ext>
            </a:extLst>
          </p:cNvPr>
          <p:cNvCxnSpPr>
            <a:cxnSpLocks/>
          </p:cNvCxnSpPr>
          <p:nvPr/>
        </p:nvCxnSpPr>
        <p:spPr>
          <a:xfrm flipV="1">
            <a:off x="11000208" y="1429791"/>
            <a:ext cx="0" cy="437170"/>
          </a:xfrm>
          <a:prstGeom prst="straightConnector1">
            <a:avLst/>
          </a:prstGeom>
          <a:noFill/>
          <a:ln w="38100" cap="flat" cmpd="sng">
            <a:solidFill>
              <a:srgbClr val="000000"/>
            </a:solidFill>
            <a:prstDash val="solid"/>
            <a:miter lim="800000"/>
            <a:headEnd type="none" w="sm" len="sm"/>
            <a:tailEnd type="triangle" w="med" len="med"/>
          </a:ln>
        </p:spPr>
      </p:cxnSp>
      <p:sp>
        <p:nvSpPr>
          <p:cNvPr id="2" name="標題 1">
            <a:extLst>
              <a:ext uri="{FF2B5EF4-FFF2-40B4-BE49-F238E27FC236}">
                <a16:creationId xmlns:a16="http://schemas.microsoft.com/office/drawing/2014/main" id="{0C72F132-6213-B786-7202-E58E7683AC86}"/>
              </a:ext>
            </a:extLst>
          </p:cNvPr>
          <p:cNvSpPr>
            <a:spLocks noGrp="1"/>
          </p:cNvSpPr>
          <p:nvPr>
            <p:ph type="title"/>
          </p:nvPr>
        </p:nvSpPr>
        <p:spPr>
          <a:xfrm>
            <a:off x="668867" y="433909"/>
            <a:ext cx="10515600" cy="1325563"/>
          </a:xfrm>
        </p:spPr>
        <p:txBody>
          <a:bodyPr/>
          <a:lstStyle/>
          <a:p>
            <a:r>
              <a:rPr lang="en-US" altLang="zh-TW" dirty="0"/>
              <a:t>In-context Learning</a:t>
            </a:r>
            <a:endParaRPr lang="zh-TW" altLang="en-US" dirty="0"/>
          </a:p>
        </p:txBody>
      </p:sp>
      <p:sp>
        <p:nvSpPr>
          <p:cNvPr id="104" name="文字方塊 103">
            <a:extLst>
              <a:ext uri="{FF2B5EF4-FFF2-40B4-BE49-F238E27FC236}">
                <a16:creationId xmlns:a16="http://schemas.microsoft.com/office/drawing/2014/main" id="{1D8628CE-FA0A-DAB5-71A0-BD90706A26B8}"/>
              </a:ext>
            </a:extLst>
          </p:cNvPr>
          <p:cNvSpPr txBox="1"/>
          <p:nvPr/>
        </p:nvSpPr>
        <p:spPr>
          <a:xfrm>
            <a:off x="950372" y="5131558"/>
            <a:ext cx="10634422" cy="95410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LLM usually has the in-context learning capability, but speech LM (GSLM) has not shown similar capability.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02" name="Google Shape;3383;p292">
            <a:extLst>
              <a:ext uri="{FF2B5EF4-FFF2-40B4-BE49-F238E27FC236}">
                <a16:creationId xmlns:a16="http://schemas.microsoft.com/office/drawing/2014/main" id="{EE781FA3-0F6A-8F34-C4C6-A0C608E43601}"/>
              </a:ext>
            </a:extLst>
          </p:cNvPr>
          <p:cNvCxnSpPr>
            <a:cxnSpLocks/>
          </p:cNvCxnSpPr>
          <p:nvPr/>
        </p:nvCxnSpPr>
        <p:spPr>
          <a:xfrm flipV="1">
            <a:off x="9599580" y="3175680"/>
            <a:ext cx="0" cy="437170"/>
          </a:xfrm>
          <a:prstGeom prst="straightConnector1">
            <a:avLst/>
          </a:prstGeom>
          <a:noFill/>
          <a:ln w="38100" cap="flat" cmpd="sng">
            <a:solidFill>
              <a:srgbClr val="000000"/>
            </a:solidFill>
            <a:prstDash val="solid"/>
            <a:miter lim="800000"/>
            <a:headEnd type="none" w="sm" len="sm"/>
            <a:tailEnd type="triangle" w="med" len="med"/>
          </a:ln>
        </p:spPr>
      </p:cxnSp>
      <p:cxnSp>
        <p:nvCxnSpPr>
          <p:cNvPr id="105" name="Google Shape;3383;p292">
            <a:extLst>
              <a:ext uri="{FF2B5EF4-FFF2-40B4-BE49-F238E27FC236}">
                <a16:creationId xmlns:a16="http://schemas.microsoft.com/office/drawing/2014/main" id="{CB26ACB6-D686-EF96-E774-A000DD9BDE90}"/>
              </a:ext>
            </a:extLst>
          </p:cNvPr>
          <p:cNvCxnSpPr>
            <a:cxnSpLocks/>
          </p:cNvCxnSpPr>
          <p:nvPr/>
        </p:nvCxnSpPr>
        <p:spPr>
          <a:xfrm flipV="1">
            <a:off x="5775590" y="3175680"/>
            <a:ext cx="0" cy="437170"/>
          </a:xfrm>
          <a:prstGeom prst="straightConnector1">
            <a:avLst/>
          </a:prstGeom>
          <a:noFill/>
          <a:ln w="38100" cap="flat" cmpd="sng">
            <a:solidFill>
              <a:srgbClr val="000000"/>
            </a:solidFill>
            <a:prstDash val="solid"/>
            <a:miter lim="800000"/>
            <a:headEnd type="none" w="sm" len="sm"/>
            <a:tailEnd type="triangle" w="med" len="med"/>
          </a:ln>
        </p:spPr>
      </p:cxnSp>
      <p:cxnSp>
        <p:nvCxnSpPr>
          <p:cNvPr id="107" name="Google Shape;3383;p292">
            <a:extLst>
              <a:ext uri="{FF2B5EF4-FFF2-40B4-BE49-F238E27FC236}">
                <a16:creationId xmlns:a16="http://schemas.microsoft.com/office/drawing/2014/main" id="{7C4581E1-B318-11D0-3D69-006FE076F3ED}"/>
              </a:ext>
            </a:extLst>
          </p:cNvPr>
          <p:cNvCxnSpPr>
            <a:cxnSpLocks/>
          </p:cNvCxnSpPr>
          <p:nvPr/>
        </p:nvCxnSpPr>
        <p:spPr>
          <a:xfrm flipV="1">
            <a:off x="1879941" y="3131200"/>
            <a:ext cx="0" cy="437170"/>
          </a:xfrm>
          <a:prstGeom prst="straightConnector1">
            <a:avLst/>
          </a:prstGeom>
          <a:noFill/>
          <a:ln w="38100" cap="flat" cmpd="sng">
            <a:solidFill>
              <a:srgbClr val="000000"/>
            </a:solidFill>
            <a:prstDash val="solid"/>
            <a:miter lim="800000"/>
            <a:headEnd type="none" w="sm" len="sm"/>
            <a:tailEnd type="triangle" w="med" len="med"/>
          </a:ln>
        </p:spPr>
      </p:cxnSp>
      <p:cxnSp>
        <p:nvCxnSpPr>
          <p:cNvPr id="108" name="Google Shape;3383;p292">
            <a:extLst>
              <a:ext uri="{FF2B5EF4-FFF2-40B4-BE49-F238E27FC236}">
                <a16:creationId xmlns:a16="http://schemas.microsoft.com/office/drawing/2014/main" id="{493BF163-06F7-81E8-840F-71D681E058FA}"/>
              </a:ext>
            </a:extLst>
          </p:cNvPr>
          <p:cNvCxnSpPr>
            <a:cxnSpLocks/>
          </p:cNvCxnSpPr>
          <p:nvPr/>
        </p:nvCxnSpPr>
        <p:spPr>
          <a:xfrm flipV="1">
            <a:off x="3743684" y="3139781"/>
            <a:ext cx="0" cy="565985"/>
          </a:xfrm>
          <a:prstGeom prst="straightConnector1">
            <a:avLst/>
          </a:prstGeom>
          <a:noFill/>
          <a:ln w="38100" cap="flat" cmpd="sng">
            <a:solidFill>
              <a:srgbClr val="000000"/>
            </a:solidFill>
            <a:prstDash val="solid"/>
            <a:miter lim="800000"/>
            <a:headEnd type="none" w="sm" len="sm"/>
            <a:tailEnd type="triangle" w="med" len="med"/>
          </a:ln>
        </p:spPr>
      </p:cxnSp>
      <p:cxnSp>
        <p:nvCxnSpPr>
          <p:cNvPr id="111" name="Google Shape;3383;p292">
            <a:extLst>
              <a:ext uri="{FF2B5EF4-FFF2-40B4-BE49-F238E27FC236}">
                <a16:creationId xmlns:a16="http://schemas.microsoft.com/office/drawing/2014/main" id="{EC75A989-1A1C-1C88-A7B1-2579C4C42811}"/>
              </a:ext>
            </a:extLst>
          </p:cNvPr>
          <p:cNvCxnSpPr>
            <a:cxnSpLocks/>
          </p:cNvCxnSpPr>
          <p:nvPr/>
        </p:nvCxnSpPr>
        <p:spPr>
          <a:xfrm flipV="1">
            <a:off x="7671739" y="3157033"/>
            <a:ext cx="0" cy="565985"/>
          </a:xfrm>
          <a:prstGeom prst="straightConnector1">
            <a:avLst/>
          </a:prstGeom>
          <a:noFill/>
          <a:ln w="38100" cap="flat" cmpd="sng">
            <a:solidFill>
              <a:srgbClr val="000000"/>
            </a:solidFill>
            <a:prstDash val="solid"/>
            <a:miter lim="800000"/>
            <a:headEnd type="none" w="sm" len="sm"/>
            <a:tailEnd type="triangle" w="med" len="med"/>
          </a:ln>
        </p:spPr>
      </p:cxnSp>
      <p:sp>
        <p:nvSpPr>
          <p:cNvPr id="27" name="矩形: 圓角 26">
            <a:extLst>
              <a:ext uri="{FF2B5EF4-FFF2-40B4-BE49-F238E27FC236}">
                <a16:creationId xmlns:a16="http://schemas.microsoft.com/office/drawing/2014/main" id="{8F6143A5-E154-275F-5B65-29667D91366B}"/>
              </a:ext>
            </a:extLst>
          </p:cNvPr>
          <p:cNvSpPr/>
          <p:nvPr/>
        </p:nvSpPr>
        <p:spPr>
          <a:xfrm>
            <a:off x="3233416" y="3521437"/>
            <a:ext cx="1020536" cy="534551"/>
          </a:xfrm>
          <a:prstGeom prst="roundRect">
            <a:avLst/>
          </a:prstGeom>
          <a:solidFill>
            <a:schemeClr val="accent2">
              <a:lumMod val="40000"/>
              <a:lumOff val="60000"/>
            </a:schemeClr>
          </a:solidFill>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happy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sp>
        <p:nvSpPr>
          <p:cNvPr id="28" name="矩形: 圓角 27">
            <a:extLst>
              <a:ext uri="{FF2B5EF4-FFF2-40B4-BE49-F238E27FC236}">
                <a16:creationId xmlns:a16="http://schemas.microsoft.com/office/drawing/2014/main" id="{A47611A3-DE94-D5A5-451C-5A63354A127B}"/>
              </a:ext>
            </a:extLst>
          </p:cNvPr>
          <p:cNvSpPr/>
          <p:nvPr/>
        </p:nvSpPr>
        <p:spPr>
          <a:xfrm>
            <a:off x="7161471" y="3547301"/>
            <a:ext cx="1020536" cy="534551"/>
          </a:xfrm>
          <a:prstGeom prst="roundRect">
            <a:avLst/>
          </a:prstGeom>
          <a:solidFill>
            <a:schemeClr val="accent6">
              <a:lumMod val="20000"/>
              <a:lumOff val="80000"/>
            </a:schemeClr>
          </a:solidFill>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sad</a:t>
            </a:r>
            <a:endPar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12" name="文字方塊 111">
            <a:extLst>
              <a:ext uri="{FF2B5EF4-FFF2-40B4-BE49-F238E27FC236}">
                <a16:creationId xmlns:a16="http://schemas.microsoft.com/office/drawing/2014/main" id="{AE7E472D-77F0-E3DB-E274-DEFC662CCCC7}"/>
              </a:ext>
            </a:extLst>
          </p:cNvPr>
          <p:cNvSpPr txBox="1"/>
          <p:nvPr/>
        </p:nvSpPr>
        <p:spPr>
          <a:xfrm>
            <a:off x="2164914" y="4332163"/>
            <a:ext cx="50625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Demonstration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3" name="右大括弧 112">
            <a:extLst>
              <a:ext uri="{FF2B5EF4-FFF2-40B4-BE49-F238E27FC236}">
                <a16:creationId xmlns:a16="http://schemas.microsoft.com/office/drawing/2014/main" id="{9B5B197D-3855-F1BE-0B1D-B485E1677573}"/>
              </a:ext>
            </a:extLst>
          </p:cNvPr>
          <p:cNvSpPr/>
          <p:nvPr/>
        </p:nvSpPr>
        <p:spPr>
          <a:xfrm rot="16200000" flipH="1">
            <a:off x="4365614" y="396808"/>
            <a:ext cx="364590" cy="7626639"/>
          </a:xfrm>
          <a:prstGeom prst="rightBrace">
            <a:avLst>
              <a:gd name="adj1" fmla="val 33199"/>
              <a:gd name="adj2" fmla="val 5268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文字方塊 4">
            <a:extLst>
              <a:ext uri="{FF2B5EF4-FFF2-40B4-BE49-F238E27FC236}">
                <a16:creationId xmlns:a16="http://schemas.microsoft.com/office/drawing/2014/main" id="{DD25B887-E1BD-1E4F-8AE0-8368EF0C86BE}"/>
              </a:ext>
            </a:extLst>
          </p:cNvPr>
          <p:cNvSpPr txBox="1"/>
          <p:nvPr/>
        </p:nvSpPr>
        <p:spPr>
          <a:xfrm>
            <a:off x="8243668" y="5993459"/>
            <a:ext cx="3341126" cy="369332"/>
          </a:xfrm>
          <a:prstGeom prst="rect">
            <a:avLst/>
          </a:prstGeom>
          <a:noFill/>
        </p:spPr>
        <p:txBody>
          <a:bodyPr wrap="square">
            <a:spAutoFit/>
          </a:bodyPr>
          <a:lstStyle/>
          <a:p>
            <a:r>
              <a:rPr lang="zh-TW" altLang="en-US" dirty="0"/>
              <a:t>https://arxiv.org/abs/2310.12477</a:t>
            </a:r>
          </a:p>
        </p:txBody>
      </p:sp>
    </p:spTree>
    <p:extLst>
      <p:ext uri="{BB962C8B-B14F-4D97-AF65-F5344CB8AC3E}">
        <p14:creationId xmlns:p14="http://schemas.microsoft.com/office/powerpoint/2010/main" val="12460874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104" grpId="0"/>
      <p:bldP spid="27" grpId="0" animBg="1"/>
      <p:bldP spid="28" grpId="0" animBg="1"/>
      <p:bldP spid="112" grpId="0"/>
      <p:bldP spid="1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01;p16">
            <a:extLst>
              <a:ext uri="{FF2B5EF4-FFF2-40B4-BE49-F238E27FC236}">
                <a16:creationId xmlns:a16="http://schemas.microsoft.com/office/drawing/2014/main" id="{389C2A07-85B9-03AE-EA97-A9C53394ACEF}"/>
              </a:ext>
            </a:extLst>
          </p:cNvPr>
          <p:cNvPicPr preferRelativeResize="0"/>
          <p:nvPr/>
        </p:nvPicPr>
        <p:blipFill>
          <a:blip r:embed="rId3">
            <a:alphaModFix/>
          </a:blip>
          <a:stretch>
            <a:fillRect/>
          </a:stretch>
        </p:blipFill>
        <p:spPr>
          <a:xfrm>
            <a:off x="2448476" y="1506022"/>
            <a:ext cx="9079592" cy="4731787"/>
          </a:xfrm>
          <a:prstGeom prst="rect">
            <a:avLst/>
          </a:prstGeom>
          <a:noFill/>
          <a:ln>
            <a:noFill/>
          </a:ln>
        </p:spPr>
      </p:pic>
      <p:sp>
        <p:nvSpPr>
          <p:cNvPr id="2" name="標題 1">
            <a:extLst>
              <a:ext uri="{FF2B5EF4-FFF2-40B4-BE49-F238E27FC236}">
                <a16:creationId xmlns:a16="http://schemas.microsoft.com/office/drawing/2014/main" id="{E97E3F85-C39B-A091-95AF-9FAE062E1851}"/>
              </a:ext>
            </a:extLst>
          </p:cNvPr>
          <p:cNvSpPr>
            <a:spLocks noGrp="1"/>
          </p:cNvSpPr>
          <p:nvPr>
            <p:ph type="title"/>
          </p:nvPr>
        </p:nvSpPr>
        <p:spPr/>
        <p:txBody>
          <a:bodyPr/>
          <a:lstStyle/>
          <a:p>
            <a:r>
              <a:rPr lang="en-US" altLang="zh-TW" dirty="0"/>
              <a:t>Prompting Speech LLM for Different Tasks </a:t>
            </a:r>
            <a:endParaRPr lang="zh-TW" altLang="en-US" dirty="0"/>
          </a:p>
        </p:txBody>
      </p:sp>
      <p:sp>
        <p:nvSpPr>
          <p:cNvPr id="5" name="文字方塊 4">
            <a:extLst>
              <a:ext uri="{FF2B5EF4-FFF2-40B4-BE49-F238E27FC236}">
                <a16:creationId xmlns:a16="http://schemas.microsoft.com/office/drawing/2014/main" id="{A05ECFDD-DBAA-0AAE-16C2-38911913AE58}"/>
              </a:ext>
            </a:extLst>
          </p:cNvPr>
          <p:cNvSpPr txBox="1"/>
          <p:nvPr/>
        </p:nvSpPr>
        <p:spPr>
          <a:xfrm>
            <a:off x="838200" y="1506022"/>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https://ga642381.github.io/SpeechPrompt/</a:t>
            </a:r>
          </a:p>
        </p:txBody>
      </p:sp>
      <p:sp>
        <p:nvSpPr>
          <p:cNvPr id="6" name="文字方塊 5">
            <a:extLst>
              <a:ext uri="{FF2B5EF4-FFF2-40B4-BE49-F238E27FC236}">
                <a16:creationId xmlns:a16="http://schemas.microsoft.com/office/drawing/2014/main" id="{A24CAAD2-0881-F0E5-D486-7C6A229B03DC}"/>
              </a:ext>
            </a:extLst>
          </p:cNvPr>
          <p:cNvSpPr txBox="1"/>
          <p:nvPr/>
        </p:nvSpPr>
        <p:spPr>
          <a:xfrm>
            <a:off x="489664" y="3161100"/>
            <a:ext cx="22098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Kai-Wei Chang</a:t>
            </a:r>
          </a:p>
        </p:txBody>
      </p:sp>
      <p:pic>
        <p:nvPicPr>
          <p:cNvPr id="8" name="圖片 7" descr="一張含有 人員, 人的臉孔, 戶外, 天空 的圖片&#10;&#10;自動產生的描述">
            <a:extLst>
              <a:ext uri="{FF2B5EF4-FFF2-40B4-BE49-F238E27FC236}">
                <a16:creationId xmlns:a16="http://schemas.microsoft.com/office/drawing/2014/main" id="{6B7A7DBE-761C-5DFB-83E0-560D3A53FF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066370"/>
            <a:ext cx="1512729" cy="1134547"/>
          </a:xfrm>
          <a:prstGeom prst="rect">
            <a:avLst/>
          </a:prstGeom>
        </p:spPr>
      </p:pic>
    </p:spTree>
    <p:extLst>
      <p:ext uri="{BB962C8B-B14F-4D97-AF65-F5344CB8AC3E}">
        <p14:creationId xmlns:p14="http://schemas.microsoft.com/office/powerpoint/2010/main" val="40938845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BCDA3-6387-6B10-6181-1CA048A39BE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21C6A56-E838-6302-A3D0-BB15032E1C3F}"/>
              </a:ext>
            </a:extLst>
          </p:cNvPr>
          <p:cNvSpPr>
            <a:spLocks noGrp="1"/>
          </p:cNvSpPr>
          <p:nvPr>
            <p:ph type="title"/>
          </p:nvPr>
        </p:nvSpPr>
        <p:spPr>
          <a:xfrm>
            <a:off x="838200" y="365126"/>
            <a:ext cx="10515600" cy="1325563"/>
          </a:xfrm>
        </p:spPr>
        <p:txBody>
          <a:bodyPr/>
          <a:lstStyle/>
          <a:p>
            <a:r>
              <a:rPr lang="en-US" altLang="zh-TW" b="1" dirty="0"/>
              <a:t>Why is training speech LM so challenging?</a:t>
            </a:r>
            <a:endParaRPr lang="zh-TW" altLang="en-US" dirty="0"/>
          </a:p>
        </p:txBody>
      </p:sp>
      <p:sp>
        <p:nvSpPr>
          <p:cNvPr id="27" name="矩形: 圓角 26">
            <a:extLst>
              <a:ext uri="{FF2B5EF4-FFF2-40B4-BE49-F238E27FC236}">
                <a16:creationId xmlns:a16="http://schemas.microsoft.com/office/drawing/2014/main" id="{0E215138-336A-B5D6-970F-CE068E89D665}"/>
              </a:ext>
            </a:extLst>
          </p:cNvPr>
          <p:cNvSpPr/>
          <p:nvPr/>
        </p:nvSpPr>
        <p:spPr>
          <a:xfrm>
            <a:off x="7490107" y="2147889"/>
            <a:ext cx="1907809"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Pre-trained Speech 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28" name="Picture 3">
            <a:extLst>
              <a:ext uri="{FF2B5EF4-FFF2-40B4-BE49-F238E27FC236}">
                <a16:creationId xmlns:a16="http://schemas.microsoft.com/office/drawing/2014/main" id="{442B2FA7-EB47-C90D-84D1-2EB431079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6023" y="2165018"/>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29" name="文字方塊 28">
            <a:extLst>
              <a:ext uri="{FF2B5EF4-FFF2-40B4-BE49-F238E27FC236}">
                <a16:creationId xmlns:a16="http://schemas.microsoft.com/office/drawing/2014/main" id="{1C4C6F55-B110-2C66-5491-0A1EA52C3EAF}"/>
              </a:ext>
            </a:extLst>
          </p:cNvPr>
          <p:cNvSpPr txBox="1"/>
          <p:nvPr/>
        </p:nvSpPr>
        <p:spPr>
          <a:xfrm>
            <a:off x="1867382" y="3327069"/>
            <a:ext cx="341648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1M hours of speech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0" name="直線單箭頭接點 29">
            <a:extLst>
              <a:ext uri="{FF2B5EF4-FFF2-40B4-BE49-F238E27FC236}">
                <a16:creationId xmlns:a16="http://schemas.microsoft.com/office/drawing/2014/main" id="{F9A022AB-800D-49AD-4AE0-27BE025C1054}"/>
              </a:ext>
            </a:extLst>
          </p:cNvPr>
          <p:cNvCxnSpPr/>
          <p:nvPr/>
        </p:nvCxnSpPr>
        <p:spPr>
          <a:xfrm>
            <a:off x="4684654" y="2774618"/>
            <a:ext cx="254625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5FE54E9B-303F-F4A8-29FD-9014D0625758}"/>
              </a:ext>
            </a:extLst>
          </p:cNvPr>
          <p:cNvSpPr txBox="1"/>
          <p:nvPr/>
        </p:nvSpPr>
        <p:spPr>
          <a:xfrm>
            <a:off x="1275786" y="3800987"/>
            <a:ext cx="2239833"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a:ln>
                  <a:noFill/>
                </a:ln>
                <a:solidFill>
                  <a:srgbClr val="1C2B33"/>
                </a:solidFill>
                <a:effectLst/>
                <a:highlight>
                  <a:srgbClr val="FFFFFF"/>
                </a:highlight>
                <a:uLnTx/>
                <a:uFillTx/>
                <a:latin typeface="Optimistic Text Normal"/>
                <a:ea typeface="新細明體" panose="02020500000000000000" pitchFamily="18" charset="-120"/>
                <a:cs typeface="+mn-cs"/>
              </a:rPr>
              <a:t>100 text </a:t>
            </a:r>
            <a:r>
              <a:rPr kumimoji="0" lang="en-US" altLang="zh-TW" sz="2400" b="0" i="0" u="none" strike="noStrike" kern="1200" cap="none" spc="0" normalizeH="0" baseline="0" noProof="0" dirty="0">
                <a:ln>
                  <a:noFill/>
                </a:ln>
                <a:solidFill>
                  <a:srgbClr val="1C2B33"/>
                </a:solidFill>
                <a:effectLst/>
                <a:highlight>
                  <a:srgbClr val="FFFFFF"/>
                </a:highlight>
                <a:uLnTx/>
                <a:uFillTx/>
                <a:latin typeface="Optimistic Text Normal"/>
                <a:ea typeface="新細明體" panose="02020500000000000000" pitchFamily="18" charset="-120"/>
                <a:cs typeface="+mn-cs"/>
              </a:rPr>
              <a:t>tokens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1C2B33"/>
                </a:solidFill>
                <a:effectLst/>
                <a:highlight>
                  <a:srgbClr val="FFFFFF"/>
                </a:highlight>
                <a:uLnTx/>
                <a:uFillTx/>
                <a:latin typeface="Optimistic Text Normal"/>
                <a:ea typeface="新細明體" panose="02020500000000000000" pitchFamily="18" charset="-120"/>
                <a:cs typeface="+mn-cs"/>
              </a:rPr>
              <a:t>per minute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32" name="Picture 2">
            <a:extLst>
              <a:ext uri="{FF2B5EF4-FFF2-40B4-BE49-F238E27FC236}">
                <a16:creationId xmlns:a16="http://schemas.microsoft.com/office/drawing/2014/main" id="{43EB2B0B-5BEA-3A91-1513-DB4F6B9495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6019" y="4696467"/>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直線單箭頭接點 32">
            <a:extLst>
              <a:ext uri="{FF2B5EF4-FFF2-40B4-BE49-F238E27FC236}">
                <a16:creationId xmlns:a16="http://schemas.microsoft.com/office/drawing/2014/main" id="{D7C14BAA-B6EF-3640-6D28-6C926AB651DE}"/>
              </a:ext>
            </a:extLst>
          </p:cNvPr>
          <p:cNvCxnSpPr>
            <a:cxnSpLocks/>
          </p:cNvCxnSpPr>
          <p:nvPr/>
        </p:nvCxnSpPr>
        <p:spPr>
          <a:xfrm>
            <a:off x="3548444" y="3832071"/>
            <a:ext cx="0" cy="73543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F03221E2-E76D-4F7C-B044-87DA7EC3FC8F}"/>
              </a:ext>
            </a:extLst>
          </p:cNvPr>
          <p:cNvSpPr txBox="1"/>
          <p:nvPr/>
        </p:nvSpPr>
        <p:spPr>
          <a:xfrm>
            <a:off x="4087819" y="5106127"/>
            <a:ext cx="238646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6B text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8943C0F4-B8CF-842D-B508-6E768C8DA929}"/>
              </a:ext>
            </a:extLst>
          </p:cNvPr>
          <p:cNvSpPr txBox="1"/>
          <p:nvPr/>
        </p:nvSpPr>
        <p:spPr>
          <a:xfrm>
            <a:off x="7090455" y="4219413"/>
            <a:ext cx="3313385"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err="1">
                <a:ln>
                  <a:noFill/>
                </a:ln>
                <a:solidFill>
                  <a:srgbClr val="1C2B33"/>
                </a:solidFill>
                <a:effectLst/>
                <a:highlight>
                  <a:srgbClr val="FFFFFF"/>
                </a:highlight>
                <a:uLnTx/>
                <a:uFillTx/>
                <a:latin typeface="Optimistic Text Normal"/>
                <a:ea typeface="新細明體" panose="02020500000000000000" pitchFamily="18" charset="-120"/>
                <a:cs typeface="+mn-cs"/>
              </a:rPr>
              <a:t>LLaMA</a:t>
            </a:r>
            <a:r>
              <a:rPr kumimoji="0" lang="en-US" altLang="zh-TW" sz="2800" b="0" i="0" u="none" strike="noStrike" kern="1200" cap="none" spc="0" normalizeH="0" baseline="0" noProof="0" dirty="0">
                <a:ln>
                  <a:noFill/>
                </a:ln>
                <a:solidFill>
                  <a:srgbClr val="1C2B33"/>
                </a:solidFill>
                <a:effectLst/>
                <a:highlight>
                  <a:srgbClr val="FFFFFF"/>
                </a:highlight>
                <a:uLnTx/>
                <a:uFillTx/>
                <a:latin typeface="Optimistic Text Normal"/>
                <a:ea typeface="新細明體" panose="02020500000000000000" pitchFamily="18" charset="-120"/>
                <a:cs typeface="+mn-cs"/>
              </a:rPr>
              <a:t> 3 pre-trained on 15T text tokens …</a:t>
            </a:r>
            <a:endParaRPr kumimoji="0" lang="zh-TW" altLang="en-US" sz="2800" b="0" i="0" u="none" strike="noStrike" kern="1200" cap="none" spc="0" normalizeH="0" baseline="0" noProof="0" dirty="0">
              <a:ln>
                <a:noFill/>
              </a:ln>
              <a:solidFill>
                <a:prstClr val="black"/>
              </a:solidFill>
              <a:effectLst/>
              <a:highlight>
                <a:srgbClr val="FFFFFF"/>
              </a:highlight>
              <a:uLnTx/>
              <a:uFillTx/>
              <a:latin typeface="Calibri" panose="020F0502020204030204"/>
              <a:ea typeface="新細明體" panose="02020500000000000000" pitchFamily="18" charset="-120"/>
              <a:cs typeface="+mn-cs"/>
            </a:endParaRPr>
          </a:p>
        </p:txBody>
      </p:sp>
      <p:sp>
        <p:nvSpPr>
          <p:cNvPr id="3" name="文字方塊 2">
            <a:extLst>
              <a:ext uri="{FF2B5EF4-FFF2-40B4-BE49-F238E27FC236}">
                <a16:creationId xmlns:a16="http://schemas.microsoft.com/office/drawing/2014/main" id="{BEACE482-DB0F-DA3C-211A-2E3D7483C242}"/>
              </a:ext>
            </a:extLst>
          </p:cNvPr>
          <p:cNvSpPr txBox="1"/>
          <p:nvPr/>
        </p:nvSpPr>
        <p:spPr>
          <a:xfrm>
            <a:off x="6918669" y="5209987"/>
            <a:ext cx="4435131"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srgbClr val="1C2B33"/>
                </a:solidFill>
                <a:effectLst/>
                <a:highlight>
                  <a:srgbClr val="FFFFFF"/>
                </a:highlight>
                <a:uLnTx/>
                <a:uFillTx/>
                <a:latin typeface="Optimistic Text Normal"/>
                <a:ea typeface="新細明體" panose="02020500000000000000" pitchFamily="18" charset="-120"/>
                <a:cs typeface="+mn-cs"/>
              </a:rPr>
              <a:t>285k years </a:t>
            </a: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of speech data</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21836510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4" grpId="0"/>
      <p:bldP spid="35" grpId="0"/>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E20998-A69A-2126-54AB-191D16C12797}"/>
              </a:ext>
            </a:extLst>
          </p:cNvPr>
          <p:cNvSpPr>
            <a:spLocks noGrp="1"/>
          </p:cNvSpPr>
          <p:nvPr>
            <p:ph type="title"/>
          </p:nvPr>
        </p:nvSpPr>
        <p:spPr/>
        <p:txBody>
          <a:bodyPr/>
          <a:lstStyle/>
          <a:p>
            <a:r>
              <a:rPr lang="en-US" altLang="zh-TW" b="1" dirty="0"/>
              <a:t>Why is training speech LM so challenging?</a:t>
            </a:r>
            <a:endParaRPr lang="zh-TW" altLang="en-US" dirty="0"/>
          </a:p>
        </p:txBody>
      </p:sp>
      <p:pic>
        <p:nvPicPr>
          <p:cNvPr id="5" name="圖片 4">
            <a:extLst>
              <a:ext uri="{FF2B5EF4-FFF2-40B4-BE49-F238E27FC236}">
                <a16:creationId xmlns:a16="http://schemas.microsoft.com/office/drawing/2014/main" id="{2DA45F02-7CC9-CC3A-2DC9-B7B85107BB8B}"/>
              </a:ext>
            </a:extLst>
          </p:cNvPr>
          <p:cNvPicPr>
            <a:picLocks noChangeAspect="1"/>
          </p:cNvPicPr>
          <p:nvPr/>
        </p:nvPicPr>
        <p:blipFill>
          <a:blip r:embed="rId3"/>
          <a:stretch>
            <a:fillRect/>
          </a:stretch>
        </p:blipFill>
        <p:spPr>
          <a:xfrm>
            <a:off x="225857" y="1944383"/>
            <a:ext cx="11740286" cy="3074542"/>
          </a:xfrm>
          <a:prstGeom prst="rect">
            <a:avLst/>
          </a:prstGeom>
        </p:spPr>
      </p:pic>
      <p:sp>
        <p:nvSpPr>
          <p:cNvPr id="7" name="文字方塊 6">
            <a:extLst>
              <a:ext uri="{FF2B5EF4-FFF2-40B4-BE49-F238E27FC236}">
                <a16:creationId xmlns:a16="http://schemas.microsoft.com/office/drawing/2014/main" id="{20A85A06-7686-FC3F-3AB0-6563A79FB630}"/>
              </a:ext>
            </a:extLst>
          </p:cNvPr>
          <p:cNvSpPr txBox="1"/>
          <p:nvPr/>
        </p:nvSpPr>
        <p:spPr>
          <a:xfrm>
            <a:off x="8613286" y="1523399"/>
            <a:ext cx="357871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https://arxiv.org/abs/2404.00685</a:t>
            </a:r>
          </a:p>
        </p:txBody>
      </p:sp>
      <p:sp>
        <p:nvSpPr>
          <p:cNvPr id="4" name="文字方塊 3">
            <a:extLst>
              <a:ext uri="{FF2B5EF4-FFF2-40B4-BE49-F238E27FC236}">
                <a16:creationId xmlns:a16="http://schemas.microsoft.com/office/drawing/2014/main" id="{007A9741-D8F6-D667-8E5D-48852C9046B0}"/>
              </a:ext>
            </a:extLst>
          </p:cNvPr>
          <p:cNvSpPr txBox="1"/>
          <p:nvPr/>
        </p:nvSpPr>
        <p:spPr>
          <a:xfrm>
            <a:off x="9654830" y="2109914"/>
            <a:ext cx="2005142"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1C2B33"/>
                </a:solidFill>
                <a:effectLst/>
                <a:highlight>
                  <a:srgbClr val="FFFFFF"/>
                </a:highlight>
                <a:uLnTx/>
                <a:uFillTx/>
                <a:latin typeface="Optimistic Text Normal"/>
                <a:ea typeface="新細明體" panose="02020500000000000000" pitchFamily="18" charset="-120"/>
                <a:cs typeface="+mn-cs"/>
              </a:rPr>
              <a:t>Text 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文字方塊 5">
            <a:extLst>
              <a:ext uri="{FF2B5EF4-FFF2-40B4-BE49-F238E27FC236}">
                <a16:creationId xmlns:a16="http://schemas.microsoft.com/office/drawing/2014/main" id="{2E4EE2EE-7BC6-8643-788B-2B719D33C6AD}"/>
              </a:ext>
            </a:extLst>
          </p:cNvPr>
          <p:cNvSpPr txBox="1"/>
          <p:nvPr/>
        </p:nvSpPr>
        <p:spPr>
          <a:xfrm>
            <a:off x="10610084" y="3379753"/>
            <a:ext cx="200514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1C2B33"/>
                </a:solidFill>
                <a:effectLst/>
                <a:highlight>
                  <a:srgbClr val="FFFFFF"/>
                </a:highlight>
                <a:uLnTx/>
                <a:uFillTx/>
                <a:latin typeface="Optimistic Text Normal"/>
                <a:ea typeface="新細明體" panose="02020500000000000000" pitchFamily="18" charset="-120"/>
                <a:cs typeface="+mn-cs"/>
              </a:rPr>
              <a:t>Speech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1C2B33"/>
                </a:solidFill>
                <a:effectLst/>
                <a:highlight>
                  <a:srgbClr val="FFFFFF"/>
                </a:highlight>
                <a:uLnTx/>
                <a:uFillTx/>
                <a:latin typeface="Optimistic Text Normal"/>
                <a:ea typeface="新細明體" panose="02020500000000000000" pitchFamily="18" charset="-120"/>
                <a:cs typeface="+mn-cs"/>
              </a:rPr>
              <a:t>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文字方塊 36">
            <a:extLst>
              <a:ext uri="{FF2B5EF4-FFF2-40B4-BE49-F238E27FC236}">
                <a16:creationId xmlns:a16="http://schemas.microsoft.com/office/drawing/2014/main" id="{FA2F4D3C-D7FD-7DA4-B275-DFDE45CA1D60}"/>
              </a:ext>
            </a:extLst>
          </p:cNvPr>
          <p:cNvSpPr txBox="1"/>
          <p:nvPr/>
        </p:nvSpPr>
        <p:spPr>
          <a:xfrm>
            <a:off x="991206" y="5411600"/>
            <a:ext cx="10668766"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Besides content, speech LLMs also have to learn to understand other information (such as speaker identity, emotion, etc.) that text LLMs do not have to.</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7264999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8599EF-614B-0444-232C-EA663FD5854B}"/>
              </a:ext>
            </a:extLst>
          </p:cNvPr>
          <p:cNvSpPr>
            <a:spLocks noGrp="1"/>
          </p:cNvSpPr>
          <p:nvPr>
            <p:ph type="title"/>
          </p:nvPr>
        </p:nvSpPr>
        <p:spPr/>
        <p:txBody>
          <a:bodyPr/>
          <a:lstStyle/>
          <a:p>
            <a:r>
              <a:rPr lang="en-US" altLang="zh-TW" dirty="0"/>
              <a:t>Until …….</a:t>
            </a:r>
            <a:endParaRPr lang="zh-TW" altLang="en-US" dirty="0"/>
          </a:p>
        </p:txBody>
      </p:sp>
      <p:pic>
        <p:nvPicPr>
          <p:cNvPr id="4" name="圖片 3">
            <a:extLst>
              <a:ext uri="{FF2B5EF4-FFF2-40B4-BE49-F238E27FC236}">
                <a16:creationId xmlns:a16="http://schemas.microsoft.com/office/drawing/2014/main" id="{9E45F453-C889-DC19-30FF-CBD4910BA9DE}"/>
              </a:ext>
            </a:extLst>
          </p:cNvPr>
          <p:cNvPicPr>
            <a:picLocks noChangeAspect="1"/>
          </p:cNvPicPr>
          <p:nvPr/>
        </p:nvPicPr>
        <p:blipFill>
          <a:blip r:embed="rId3"/>
          <a:stretch>
            <a:fillRect/>
          </a:stretch>
        </p:blipFill>
        <p:spPr>
          <a:xfrm>
            <a:off x="3505910" y="1561839"/>
            <a:ext cx="7278116" cy="3734321"/>
          </a:xfrm>
          <a:prstGeom prst="rect">
            <a:avLst/>
          </a:prstGeom>
        </p:spPr>
      </p:pic>
      <p:sp>
        <p:nvSpPr>
          <p:cNvPr id="5" name="文字方塊 4">
            <a:extLst>
              <a:ext uri="{FF2B5EF4-FFF2-40B4-BE49-F238E27FC236}">
                <a16:creationId xmlns:a16="http://schemas.microsoft.com/office/drawing/2014/main" id="{4A3B7CA0-4EC1-89B0-1B0F-EE1EB1A5D922}"/>
              </a:ext>
            </a:extLst>
          </p:cNvPr>
          <p:cNvSpPr txBox="1"/>
          <p:nvPr/>
        </p:nvSpPr>
        <p:spPr>
          <a:xfrm>
            <a:off x="3438698" y="5856749"/>
            <a:ext cx="8753302" cy="369332"/>
          </a:xfrm>
          <a:prstGeom prst="rect">
            <a:avLst/>
          </a:prstGeom>
          <a:noFill/>
        </p:spPr>
        <p:txBody>
          <a:bodyPr wrap="square">
            <a:spAutoFit/>
          </a:bodyPr>
          <a:lstStyle/>
          <a:p>
            <a:r>
              <a:rPr lang="en-US" altLang="zh-TW" dirty="0"/>
              <a:t>Source of image: </a:t>
            </a:r>
            <a:r>
              <a:rPr lang="zh-TW" altLang="en-US" dirty="0"/>
              <a:t>https://www.youtube.com/watch?v=DQacCB9tDaw</a:t>
            </a:r>
          </a:p>
        </p:txBody>
      </p:sp>
      <p:sp>
        <p:nvSpPr>
          <p:cNvPr id="6" name="文字方塊 5">
            <a:extLst>
              <a:ext uri="{FF2B5EF4-FFF2-40B4-BE49-F238E27FC236}">
                <a16:creationId xmlns:a16="http://schemas.microsoft.com/office/drawing/2014/main" id="{1F5E9B5E-CD26-E033-7908-83817F67A646}"/>
              </a:ext>
            </a:extLst>
          </p:cNvPr>
          <p:cNvSpPr txBox="1"/>
          <p:nvPr/>
        </p:nvSpPr>
        <p:spPr>
          <a:xfrm>
            <a:off x="3438698" y="5395084"/>
            <a:ext cx="8753302" cy="461665"/>
          </a:xfrm>
          <a:prstGeom prst="rect">
            <a:avLst/>
          </a:prstGeom>
          <a:noFill/>
        </p:spPr>
        <p:txBody>
          <a:bodyPr wrap="square">
            <a:spAutoFit/>
          </a:bodyPr>
          <a:lstStyle/>
          <a:p>
            <a:r>
              <a:rPr lang="en-US" altLang="zh-TW" sz="2400" dirty="0">
                <a:latin typeface="微軟正黑體" panose="020B0604030504040204" pitchFamily="34" charset="-120"/>
                <a:ea typeface="微軟正黑體" panose="020B0604030504040204" pitchFamily="34" charset="-120"/>
              </a:rPr>
              <a:t>GPT-4o</a:t>
            </a:r>
            <a:r>
              <a:rPr lang="zh-TW" altLang="en-US" sz="2400" dirty="0">
                <a:latin typeface="微軟正黑體" panose="020B0604030504040204" pitchFamily="34" charset="-120"/>
                <a:ea typeface="微軟正黑體" panose="020B0604030504040204" pitchFamily="34" charset="-120"/>
              </a:rPr>
              <a:t> </a:t>
            </a:r>
            <a:r>
              <a:rPr lang="en-US" altLang="zh-TW" sz="2400" dirty="0">
                <a:latin typeface="微軟正黑體" panose="020B0604030504040204" pitchFamily="34" charset="-120"/>
                <a:ea typeface="微軟正黑體" panose="020B0604030504040204" pitchFamily="34" charset="-120"/>
              </a:rPr>
              <a:t>Voice Mode</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7761955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0C2944-7EB2-D460-C6C7-EE7BA81DAFD3}"/>
              </a:ext>
            </a:extLst>
          </p:cNvPr>
          <p:cNvSpPr>
            <a:spLocks noGrp="1"/>
          </p:cNvSpPr>
          <p:nvPr>
            <p:ph type="title"/>
          </p:nvPr>
        </p:nvSpPr>
        <p:spPr/>
        <p:txBody>
          <a:bodyPr/>
          <a:lstStyle/>
          <a:p>
            <a:r>
              <a:rPr lang="en-US" altLang="zh-TW" dirty="0"/>
              <a:t>Moshi</a:t>
            </a:r>
            <a:endParaRPr lang="zh-TW" altLang="en-US" dirty="0"/>
          </a:p>
        </p:txBody>
      </p:sp>
      <p:pic>
        <p:nvPicPr>
          <p:cNvPr id="7" name="圖片 6" descr="一張含有 螢幕擷取畫面, 文字, 圖表, 設計 的圖片&#10;&#10;AI 產生的內容可能不正確。">
            <a:extLst>
              <a:ext uri="{FF2B5EF4-FFF2-40B4-BE49-F238E27FC236}">
                <a16:creationId xmlns:a16="http://schemas.microsoft.com/office/drawing/2014/main" id="{C6A2FDC1-1968-0811-6F25-0615CCA80E52}"/>
              </a:ext>
            </a:extLst>
          </p:cNvPr>
          <p:cNvPicPr>
            <a:picLocks noChangeAspect="1"/>
          </p:cNvPicPr>
          <p:nvPr/>
        </p:nvPicPr>
        <p:blipFill>
          <a:blip r:embed="rId3"/>
          <a:stretch>
            <a:fillRect/>
          </a:stretch>
        </p:blipFill>
        <p:spPr>
          <a:xfrm>
            <a:off x="2671377" y="1228165"/>
            <a:ext cx="8810423" cy="4870870"/>
          </a:xfrm>
          <a:prstGeom prst="rect">
            <a:avLst/>
          </a:prstGeom>
        </p:spPr>
      </p:pic>
      <p:sp>
        <p:nvSpPr>
          <p:cNvPr id="9" name="文字方塊 8">
            <a:extLst>
              <a:ext uri="{FF2B5EF4-FFF2-40B4-BE49-F238E27FC236}">
                <a16:creationId xmlns:a16="http://schemas.microsoft.com/office/drawing/2014/main" id="{9903C69D-F714-0796-E644-B35C1FCBCEC2}"/>
              </a:ext>
            </a:extLst>
          </p:cNvPr>
          <p:cNvSpPr txBox="1"/>
          <p:nvPr/>
        </p:nvSpPr>
        <p:spPr>
          <a:xfrm>
            <a:off x="573740" y="5729703"/>
            <a:ext cx="6096000" cy="369332"/>
          </a:xfrm>
          <a:prstGeom prst="rect">
            <a:avLst/>
          </a:prstGeom>
          <a:noFill/>
        </p:spPr>
        <p:txBody>
          <a:bodyPr wrap="square">
            <a:spAutoFit/>
          </a:bodyPr>
          <a:lstStyle/>
          <a:p>
            <a:r>
              <a:rPr lang="zh-TW" altLang="en-US" dirty="0"/>
              <a:t>https://moshi.chat/</a:t>
            </a:r>
          </a:p>
        </p:txBody>
      </p:sp>
    </p:spTree>
    <p:extLst>
      <p:ext uri="{BB962C8B-B14F-4D97-AF65-F5344CB8AC3E}">
        <p14:creationId xmlns:p14="http://schemas.microsoft.com/office/powerpoint/2010/main" val="35653821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F89299-A084-275C-7E02-D5E209737B0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標題 1">
            <a:extLst>
              <a:ext uri="{FF2B5EF4-FFF2-40B4-BE49-F238E27FC236}">
                <a16:creationId xmlns:a16="http://schemas.microsoft.com/office/drawing/2014/main" id="{4BF0DF7B-CA66-79BB-BC63-11386E3472C7}"/>
              </a:ext>
            </a:extLst>
          </p:cNvPr>
          <p:cNvSpPr>
            <a:spLocks noGrp="1"/>
          </p:cNvSpPr>
          <p:nvPr>
            <p:ph type="ctrTitle"/>
          </p:nvPr>
        </p:nvSpPr>
        <p:spPr>
          <a:xfrm>
            <a:off x="-306" y="1764407"/>
            <a:ext cx="12192305" cy="2310312"/>
          </a:xfrm>
        </p:spPr>
        <p:txBody>
          <a:bodyPr>
            <a:noAutofit/>
          </a:bodyPr>
          <a:lstStyle/>
          <a:p>
            <a:r>
              <a:rPr lang="en-US" altLang="zh-TW" sz="7200" dirty="0">
                <a:solidFill>
                  <a:schemeClr val="tx2"/>
                </a:solidFill>
                <a:latin typeface="微軟正黑體" panose="020B0604030504040204" pitchFamily="34" charset="-120"/>
                <a:ea typeface="微軟正黑體" panose="020B0604030504040204" pitchFamily="34" charset="-120"/>
              </a:rPr>
              <a:t>3. </a:t>
            </a:r>
            <a:r>
              <a:rPr lang="zh-TW" altLang="en-US" sz="7200" dirty="0">
                <a:solidFill>
                  <a:schemeClr val="tx2"/>
                </a:solidFill>
                <a:latin typeface="微軟正黑體" panose="020B0604030504040204" pitchFamily="34" charset="-120"/>
                <a:ea typeface="微軟正黑體" panose="020B0604030504040204" pitchFamily="34" charset="-120"/>
              </a:rPr>
              <a:t>如何利用強大的文字模型</a:t>
            </a:r>
          </a:p>
        </p:txBody>
      </p:sp>
    </p:spTree>
    <p:extLst>
      <p:ext uri="{BB962C8B-B14F-4D97-AF65-F5344CB8AC3E}">
        <p14:creationId xmlns:p14="http://schemas.microsoft.com/office/powerpoint/2010/main" val="433104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一張含有 文字, 螢幕擷取畫面, 字型, 圖表 的圖片&#10;&#10;AI 產生的內容可能不正確。">
            <a:extLst>
              <a:ext uri="{FF2B5EF4-FFF2-40B4-BE49-F238E27FC236}">
                <a16:creationId xmlns:a16="http://schemas.microsoft.com/office/drawing/2014/main" id="{85017749-0D35-6A83-C261-43D42A623ACA}"/>
              </a:ext>
            </a:extLst>
          </p:cNvPr>
          <p:cNvPicPr>
            <a:picLocks noChangeAspect="1"/>
          </p:cNvPicPr>
          <p:nvPr/>
        </p:nvPicPr>
        <p:blipFill>
          <a:blip r:embed="rId3"/>
          <a:stretch>
            <a:fillRect/>
          </a:stretch>
        </p:blipFill>
        <p:spPr>
          <a:xfrm>
            <a:off x="2055840" y="645867"/>
            <a:ext cx="8502351" cy="50810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文字方塊 6">
            <a:extLst>
              <a:ext uri="{FF2B5EF4-FFF2-40B4-BE49-F238E27FC236}">
                <a16:creationId xmlns:a16="http://schemas.microsoft.com/office/drawing/2014/main" id="{50F3BD95-9D57-A042-BA9B-DF3989585762}"/>
              </a:ext>
            </a:extLst>
          </p:cNvPr>
          <p:cNvSpPr txBox="1"/>
          <p:nvPr/>
        </p:nvSpPr>
        <p:spPr>
          <a:xfrm>
            <a:off x="4465123" y="5921959"/>
            <a:ext cx="6093068" cy="369332"/>
          </a:xfrm>
          <a:prstGeom prst="rect">
            <a:avLst/>
          </a:prstGeom>
          <a:noFill/>
        </p:spPr>
        <p:txBody>
          <a:bodyPr wrap="square">
            <a:spAutoFit/>
          </a:bodyPr>
          <a:lstStyle/>
          <a:p>
            <a:pPr algn="r"/>
            <a:r>
              <a:rPr lang="zh-TW" altLang="en-US" dirty="0"/>
              <a:t>https://youtu.be/CgQ3lUOpXgc?si=LhzquKSJTdOTjZCw</a:t>
            </a:r>
          </a:p>
        </p:txBody>
      </p:sp>
    </p:spTree>
    <p:extLst>
      <p:ext uri="{BB962C8B-B14F-4D97-AF65-F5344CB8AC3E}">
        <p14:creationId xmlns:p14="http://schemas.microsoft.com/office/powerpoint/2010/main" val="25871248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932CA9-1CF3-0F4C-09FF-E87E24897241}"/>
              </a:ext>
            </a:extLst>
          </p:cNvPr>
          <p:cNvSpPr>
            <a:spLocks noGrp="1"/>
          </p:cNvSpPr>
          <p:nvPr>
            <p:ph type="title"/>
          </p:nvPr>
        </p:nvSpPr>
        <p:spPr/>
        <p:txBody>
          <a:bodyPr/>
          <a:lstStyle/>
          <a:p>
            <a:r>
              <a:rPr lang="en-US" altLang="zh-TW" dirty="0"/>
              <a:t>Starting from Text LLM </a:t>
            </a:r>
            <a:endParaRPr lang="zh-TW" altLang="en-US" dirty="0"/>
          </a:p>
        </p:txBody>
      </p:sp>
      <p:sp>
        <p:nvSpPr>
          <p:cNvPr id="7" name="文字方塊 6">
            <a:extLst>
              <a:ext uri="{FF2B5EF4-FFF2-40B4-BE49-F238E27FC236}">
                <a16:creationId xmlns:a16="http://schemas.microsoft.com/office/drawing/2014/main" id="{38D88DFC-F353-B4B4-919A-4DD1245D0534}"/>
              </a:ext>
            </a:extLst>
          </p:cNvPr>
          <p:cNvSpPr txBox="1"/>
          <p:nvPr/>
        </p:nvSpPr>
        <p:spPr>
          <a:xfrm>
            <a:off x="676991" y="4949161"/>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https://arxiv.org/abs/2203.04911</a:t>
            </a:r>
          </a:p>
        </p:txBody>
      </p:sp>
      <p:sp>
        <p:nvSpPr>
          <p:cNvPr id="9" name="文字方塊 8">
            <a:extLst>
              <a:ext uri="{FF2B5EF4-FFF2-40B4-BE49-F238E27FC236}">
                <a16:creationId xmlns:a16="http://schemas.microsoft.com/office/drawing/2014/main" id="{E68E7C54-DF29-4365-771E-C9AB72FBBA3F}"/>
              </a:ext>
            </a:extLst>
          </p:cNvPr>
          <p:cNvSpPr txBox="1"/>
          <p:nvPr/>
        </p:nvSpPr>
        <p:spPr>
          <a:xfrm>
            <a:off x="676991" y="5807631"/>
            <a:ext cx="34671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https://arxiv.org/abs/2312.09781</a:t>
            </a:r>
          </a:p>
        </p:txBody>
      </p:sp>
      <p:sp>
        <p:nvSpPr>
          <p:cNvPr id="10" name="文字方塊 9">
            <a:extLst>
              <a:ext uri="{FF2B5EF4-FFF2-40B4-BE49-F238E27FC236}">
                <a16:creationId xmlns:a16="http://schemas.microsoft.com/office/drawing/2014/main" id="{B443AF5E-FF89-4B88-1D5E-3E9234A3BF10}"/>
              </a:ext>
            </a:extLst>
          </p:cNvPr>
          <p:cNvSpPr txBox="1"/>
          <p:nvPr/>
        </p:nvSpPr>
        <p:spPr>
          <a:xfrm>
            <a:off x="676991" y="4583603"/>
            <a:ext cx="15670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DUAL</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5EBB2973-E960-4834-8CF7-F300482F36D9}"/>
              </a:ext>
            </a:extLst>
          </p:cNvPr>
          <p:cNvSpPr txBox="1"/>
          <p:nvPr/>
        </p:nvSpPr>
        <p:spPr>
          <a:xfrm>
            <a:off x="676991" y="5453430"/>
            <a:ext cx="15670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GSQA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 name="直線單箭頭接點 3">
            <a:extLst>
              <a:ext uri="{FF2B5EF4-FFF2-40B4-BE49-F238E27FC236}">
                <a16:creationId xmlns:a16="http://schemas.microsoft.com/office/drawing/2014/main" id="{DAA4C7A3-423D-470F-DFA7-AC180DD574D9}"/>
              </a:ext>
            </a:extLst>
          </p:cNvPr>
          <p:cNvCxnSpPr>
            <a:cxnSpLocks/>
          </p:cNvCxnSpPr>
          <p:nvPr/>
        </p:nvCxnSpPr>
        <p:spPr>
          <a:xfrm flipV="1">
            <a:off x="10551716" y="1161570"/>
            <a:ext cx="0" cy="642236"/>
          </a:xfrm>
          <a:prstGeom prst="straightConnector1">
            <a:avLst/>
          </a:prstGeom>
          <a:noFill/>
          <a:ln w="57150" cap="flat" cmpd="sng" algn="ctr">
            <a:solidFill>
              <a:srgbClr val="002060"/>
            </a:solidFill>
            <a:prstDash val="solid"/>
            <a:miter lim="800000"/>
            <a:tailEnd type="triangle"/>
          </a:ln>
          <a:effectLst/>
        </p:spPr>
      </p:cxnSp>
      <p:sp>
        <p:nvSpPr>
          <p:cNvPr id="6" name="文字方塊 5">
            <a:extLst>
              <a:ext uri="{FF2B5EF4-FFF2-40B4-BE49-F238E27FC236}">
                <a16:creationId xmlns:a16="http://schemas.microsoft.com/office/drawing/2014/main" id="{BE739AC2-794A-0448-1311-07926C58C7B7}"/>
              </a:ext>
            </a:extLst>
          </p:cNvPr>
          <p:cNvSpPr txBox="1"/>
          <p:nvPr/>
        </p:nvSpPr>
        <p:spPr>
          <a:xfrm>
            <a:off x="8770822" y="681037"/>
            <a:ext cx="3552092" cy="461665"/>
          </a:xfrm>
          <a:prstGeom prst="rect">
            <a:avLst/>
          </a:prstGeom>
          <a:noFill/>
        </p:spPr>
        <p:txBody>
          <a:bodyPr wrap="square" rtlCol="0">
            <a:spAutoFit/>
          </a:bodyPr>
          <a:lstStyle/>
          <a:p>
            <a:pPr algn="ctr"/>
            <a:r>
              <a:rPr lang="en-US" altLang="zh-TW" sz="2400" dirty="0"/>
              <a:t>Answer</a:t>
            </a:r>
            <a:endParaRPr lang="zh-TW" altLang="en-US" sz="2400" dirty="0"/>
          </a:p>
        </p:txBody>
      </p:sp>
      <p:sp>
        <p:nvSpPr>
          <p:cNvPr id="8" name="Google Shape;3236;p288">
            <a:extLst>
              <a:ext uri="{FF2B5EF4-FFF2-40B4-BE49-F238E27FC236}">
                <a16:creationId xmlns:a16="http://schemas.microsoft.com/office/drawing/2014/main" id="{0E5D7F05-D92B-F553-5DAC-5AA368EEA0D7}"/>
              </a:ext>
            </a:extLst>
          </p:cNvPr>
          <p:cNvSpPr/>
          <p:nvPr/>
        </p:nvSpPr>
        <p:spPr>
          <a:xfrm>
            <a:off x="4305300" y="3018556"/>
            <a:ext cx="7315814" cy="1859412"/>
          </a:xfrm>
          <a:prstGeom prst="roundRect">
            <a:avLst>
              <a:gd name="adj" fmla="val 16667"/>
            </a:avLst>
          </a:prstGeom>
          <a:solidFill>
            <a:schemeClr val="accent1">
              <a:lumMod val="20000"/>
              <a:lumOff val="80000"/>
            </a:schemeClr>
          </a:solidFill>
          <a:ln w="57150"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Speech Representation Model </a:t>
            </a:r>
          </a:p>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lang="en-US" altLang="zh-TW" sz="2800" kern="0" dirty="0">
                <a:solidFill>
                  <a:prstClr val="black"/>
                </a:solidFill>
                <a:latin typeface="Calibri" panose="020F0502020204030204"/>
                <a:cs typeface="Arial"/>
                <a:sym typeface="Arial"/>
              </a:rPr>
              <a:t>(</a:t>
            </a:r>
            <a:r>
              <a:rPr lang="en-US" altLang="zh-TW" sz="2800" kern="0" dirty="0" err="1">
                <a:solidFill>
                  <a:prstClr val="black"/>
                </a:solidFill>
                <a:latin typeface="Calibri" panose="020F0502020204030204"/>
                <a:cs typeface="Arial"/>
                <a:sym typeface="Arial"/>
              </a:rPr>
              <a:t>HuBERT</a:t>
            </a:r>
            <a:r>
              <a:rPr lang="en-US" altLang="zh-TW" sz="2800" kern="0" dirty="0">
                <a:solidFill>
                  <a:prstClr val="black"/>
                </a:solidFill>
                <a:latin typeface="Calibri" panose="020F0502020204030204"/>
                <a:cs typeface="Arial"/>
                <a:sym typeface="Arial"/>
              </a:rPr>
              <a:t>)</a:t>
            </a:r>
            <a:endPar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endParaRPr>
          </a:p>
        </p:txBody>
      </p:sp>
      <p:pic>
        <p:nvPicPr>
          <p:cNvPr id="12" name="Google Shape;106;p16">
            <a:extLst>
              <a:ext uri="{FF2B5EF4-FFF2-40B4-BE49-F238E27FC236}">
                <a16:creationId xmlns:a16="http://schemas.microsoft.com/office/drawing/2014/main" id="{E2DF0D4C-8AC0-08E6-5898-BA7C6BF8DF9C}"/>
              </a:ext>
            </a:extLst>
          </p:cNvPr>
          <p:cNvPicPr preferRelativeResize="0"/>
          <p:nvPr/>
        </p:nvPicPr>
        <p:blipFill>
          <a:blip r:embed="rId2">
            <a:alphaModFix/>
          </a:blip>
          <a:stretch>
            <a:fillRect/>
          </a:stretch>
        </p:blipFill>
        <p:spPr>
          <a:xfrm>
            <a:off x="4305300" y="5557058"/>
            <a:ext cx="4908137" cy="665501"/>
          </a:xfrm>
          <a:prstGeom prst="rect">
            <a:avLst/>
          </a:prstGeom>
          <a:noFill/>
          <a:ln>
            <a:noFill/>
          </a:ln>
        </p:spPr>
      </p:pic>
      <p:sp>
        <p:nvSpPr>
          <p:cNvPr id="14" name="文字方塊 13">
            <a:extLst>
              <a:ext uri="{FF2B5EF4-FFF2-40B4-BE49-F238E27FC236}">
                <a16:creationId xmlns:a16="http://schemas.microsoft.com/office/drawing/2014/main" id="{1FDCBAF3-89B3-6103-8BD0-A102CC06A270}"/>
              </a:ext>
            </a:extLst>
          </p:cNvPr>
          <p:cNvSpPr txBox="1"/>
          <p:nvPr/>
        </p:nvSpPr>
        <p:spPr>
          <a:xfrm>
            <a:off x="8729945" y="6136815"/>
            <a:ext cx="3552092" cy="461665"/>
          </a:xfrm>
          <a:prstGeom prst="rect">
            <a:avLst/>
          </a:prstGeom>
          <a:noFill/>
        </p:spPr>
        <p:txBody>
          <a:bodyPr wrap="square" rtlCol="0">
            <a:spAutoFit/>
          </a:bodyPr>
          <a:lstStyle/>
          <a:p>
            <a:pPr algn="ctr"/>
            <a:r>
              <a:rPr lang="en-US" altLang="zh-TW" sz="2400" dirty="0"/>
              <a:t>Question</a:t>
            </a:r>
            <a:endParaRPr lang="zh-TW" altLang="en-US" sz="2400" dirty="0"/>
          </a:p>
        </p:txBody>
      </p:sp>
      <p:pic>
        <p:nvPicPr>
          <p:cNvPr id="15" name="Google Shape;106;p16">
            <a:extLst>
              <a:ext uri="{FF2B5EF4-FFF2-40B4-BE49-F238E27FC236}">
                <a16:creationId xmlns:a16="http://schemas.microsoft.com/office/drawing/2014/main" id="{EDDC0B78-C5F5-2DE4-6C4A-EE6D062F40A3}"/>
              </a:ext>
            </a:extLst>
          </p:cNvPr>
          <p:cNvPicPr preferRelativeResize="0"/>
          <p:nvPr/>
        </p:nvPicPr>
        <p:blipFill>
          <a:blip r:embed="rId2">
            <a:alphaModFix/>
          </a:blip>
          <a:stretch>
            <a:fillRect/>
          </a:stretch>
        </p:blipFill>
        <p:spPr>
          <a:xfrm>
            <a:off x="9276996" y="5539072"/>
            <a:ext cx="2312850" cy="665501"/>
          </a:xfrm>
          <a:prstGeom prst="rect">
            <a:avLst/>
          </a:prstGeom>
          <a:noFill/>
          <a:ln>
            <a:noFill/>
          </a:ln>
        </p:spPr>
      </p:pic>
      <p:sp>
        <p:nvSpPr>
          <p:cNvPr id="16" name="文字方塊 15">
            <a:extLst>
              <a:ext uri="{FF2B5EF4-FFF2-40B4-BE49-F238E27FC236}">
                <a16:creationId xmlns:a16="http://schemas.microsoft.com/office/drawing/2014/main" id="{315B82C5-6F4B-95A1-8D6D-6865F7226859}"/>
              </a:ext>
            </a:extLst>
          </p:cNvPr>
          <p:cNvSpPr txBox="1"/>
          <p:nvPr/>
        </p:nvSpPr>
        <p:spPr>
          <a:xfrm>
            <a:off x="5032713" y="6118885"/>
            <a:ext cx="3552092" cy="461665"/>
          </a:xfrm>
          <a:prstGeom prst="rect">
            <a:avLst/>
          </a:prstGeom>
          <a:noFill/>
        </p:spPr>
        <p:txBody>
          <a:bodyPr wrap="square" rtlCol="0">
            <a:spAutoFit/>
          </a:bodyPr>
          <a:lstStyle/>
          <a:p>
            <a:pPr algn="ctr"/>
            <a:r>
              <a:rPr lang="en-US" altLang="zh-TW" sz="2400" dirty="0"/>
              <a:t>Spoken Document</a:t>
            </a:r>
            <a:endParaRPr lang="zh-TW" altLang="en-US" sz="2400" dirty="0"/>
          </a:p>
        </p:txBody>
      </p:sp>
      <p:cxnSp>
        <p:nvCxnSpPr>
          <p:cNvPr id="17" name="直線單箭頭接點 16">
            <a:extLst>
              <a:ext uri="{FF2B5EF4-FFF2-40B4-BE49-F238E27FC236}">
                <a16:creationId xmlns:a16="http://schemas.microsoft.com/office/drawing/2014/main" id="{6AEF6222-665B-75B6-65B7-DFC1009DC85A}"/>
              </a:ext>
            </a:extLst>
          </p:cNvPr>
          <p:cNvCxnSpPr>
            <a:cxnSpLocks/>
          </p:cNvCxnSpPr>
          <p:nvPr/>
        </p:nvCxnSpPr>
        <p:spPr>
          <a:xfrm flipV="1">
            <a:off x="6925601" y="4877968"/>
            <a:ext cx="0" cy="642236"/>
          </a:xfrm>
          <a:prstGeom prst="straightConnector1">
            <a:avLst/>
          </a:prstGeom>
          <a:noFill/>
          <a:ln w="57150" cap="flat" cmpd="sng" algn="ctr">
            <a:solidFill>
              <a:srgbClr val="002060"/>
            </a:solidFill>
            <a:prstDash val="solid"/>
            <a:miter lim="800000"/>
            <a:tailEnd type="triangle"/>
          </a:ln>
          <a:effectLst/>
        </p:spPr>
      </p:cxnSp>
      <p:cxnSp>
        <p:nvCxnSpPr>
          <p:cNvPr id="18" name="直線單箭頭接點 17">
            <a:extLst>
              <a:ext uri="{FF2B5EF4-FFF2-40B4-BE49-F238E27FC236}">
                <a16:creationId xmlns:a16="http://schemas.microsoft.com/office/drawing/2014/main" id="{13DC8632-B0C2-5DAE-6EDA-6052E5E66EC2}"/>
              </a:ext>
            </a:extLst>
          </p:cNvPr>
          <p:cNvCxnSpPr>
            <a:cxnSpLocks/>
          </p:cNvCxnSpPr>
          <p:nvPr/>
        </p:nvCxnSpPr>
        <p:spPr>
          <a:xfrm flipV="1">
            <a:off x="10520448" y="4914822"/>
            <a:ext cx="0" cy="642236"/>
          </a:xfrm>
          <a:prstGeom prst="straightConnector1">
            <a:avLst/>
          </a:prstGeom>
          <a:noFill/>
          <a:ln w="57150" cap="flat" cmpd="sng" algn="ctr">
            <a:solidFill>
              <a:srgbClr val="002060"/>
            </a:solidFill>
            <a:prstDash val="solid"/>
            <a:miter lim="800000"/>
            <a:tailEnd type="triangle"/>
          </a:ln>
          <a:effectLst/>
        </p:spPr>
      </p:cxnSp>
      <p:sp>
        <p:nvSpPr>
          <p:cNvPr id="19" name="Google Shape;3236;p288">
            <a:extLst>
              <a:ext uri="{FF2B5EF4-FFF2-40B4-BE49-F238E27FC236}">
                <a16:creationId xmlns:a16="http://schemas.microsoft.com/office/drawing/2014/main" id="{DE43374A-1A00-5AF8-FE68-3B1AB63A54AE}"/>
              </a:ext>
            </a:extLst>
          </p:cNvPr>
          <p:cNvSpPr/>
          <p:nvPr/>
        </p:nvSpPr>
        <p:spPr>
          <a:xfrm>
            <a:off x="4336568" y="1753658"/>
            <a:ext cx="7284546" cy="461666"/>
          </a:xfrm>
          <a:prstGeom prst="roundRect">
            <a:avLst>
              <a:gd name="adj" fmla="val 16667"/>
            </a:avLst>
          </a:prstGeom>
          <a:solidFill>
            <a:srgbClr val="FFC000">
              <a:lumMod val="20000"/>
              <a:lumOff val="80000"/>
            </a:srgbClr>
          </a:solidFill>
          <a:ln w="57150" cap="flat" cmpd="sng">
            <a:solidFill>
              <a:sysClr val="windowText" lastClr="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Downstream Head</a:t>
            </a:r>
          </a:p>
        </p:txBody>
      </p:sp>
      <p:grpSp>
        <p:nvGrpSpPr>
          <p:cNvPr id="20" name="群組 19">
            <a:extLst>
              <a:ext uri="{FF2B5EF4-FFF2-40B4-BE49-F238E27FC236}">
                <a16:creationId xmlns:a16="http://schemas.microsoft.com/office/drawing/2014/main" id="{9B84F51C-2B43-0D37-E279-07152AEF45E4}"/>
              </a:ext>
            </a:extLst>
          </p:cNvPr>
          <p:cNvGrpSpPr/>
          <p:nvPr/>
        </p:nvGrpSpPr>
        <p:grpSpPr>
          <a:xfrm>
            <a:off x="4445441" y="2404656"/>
            <a:ext cx="3533400" cy="360000"/>
            <a:chOff x="4191927" y="3797552"/>
            <a:chExt cx="3533400" cy="431100"/>
          </a:xfrm>
        </p:grpSpPr>
        <p:sp>
          <p:nvSpPr>
            <p:cNvPr id="21" name="Google Shape;117;p16">
              <a:extLst>
                <a:ext uri="{FF2B5EF4-FFF2-40B4-BE49-F238E27FC236}">
                  <a16:creationId xmlns:a16="http://schemas.microsoft.com/office/drawing/2014/main" id="{7CBE123A-D7A9-9D96-D9F1-49CD501FFFA2}"/>
                </a:ext>
              </a:extLst>
            </p:cNvPr>
            <p:cNvSpPr/>
            <p:nvPr/>
          </p:nvSpPr>
          <p:spPr>
            <a:xfrm>
              <a:off x="4191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2" name="Google Shape;118;p16">
              <a:extLst>
                <a:ext uri="{FF2B5EF4-FFF2-40B4-BE49-F238E27FC236}">
                  <a16:creationId xmlns:a16="http://schemas.microsoft.com/office/drawing/2014/main" id="{F81AEAB6-6D10-3393-CB2B-A5F2D06F690F}"/>
                </a:ext>
              </a:extLst>
            </p:cNvPr>
            <p:cNvSpPr/>
            <p:nvPr/>
          </p:nvSpPr>
          <p:spPr>
            <a:xfrm>
              <a:off x="4420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3" name="Google Shape;119;p16">
              <a:extLst>
                <a:ext uri="{FF2B5EF4-FFF2-40B4-BE49-F238E27FC236}">
                  <a16:creationId xmlns:a16="http://schemas.microsoft.com/office/drawing/2014/main" id="{E1CD6E2D-312B-39D2-A709-92A85B26E432}"/>
                </a:ext>
              </a:extLst>
            </p:cNvPr>
            <p:cNvSpPr/>
            <p:nvPr/>
          </p:nvSpPr>
          <p:spPr>
            <a:xfrm>
              <a:off x="4649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Google Shape;120;p16">
              <a:extLst>
                <a:ext uri="{FF2B5EF4-FFF2-40B4-BE49-F238E27FC236}">
                  <a16:creationId xmlns:a16="http://schemas.microsoft.com/office/drawing/2014/main" id="{46E4FD24-56E5-A9DA-DD10-D6B53177641D}"/>
                </a:ext>
              </a:extLst>
            </p:cNvPr>
            <p:cNvSpPr/>
            <p:nvPr/>
          </p:nvSpPr>
          <p:spPr>
            <a:xfrm>
              <a:off x="4877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Google Shape;121;p16">
              <a:extLst>
                <a:ext uri="{FF2B5EF4-FFF2-40B4-BE49-F238E27FC236}">
                  <a16:creationId xmlns:a16="http://schemas.microsoft.com/office/drawing/2014/main" id="{23A6F805-14EC-195C-4EDC-C425B34BCF83}"/>
                </a:ext>
              </a:extLst>
            </p:cNvPr>
            <p:cNvSpPr/>
            <p:nvPr/>
          </p:nvSpPr>
          <p:spPr>
            <a:xfrm>
              <a:off x="5106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 name="Google Shape;122;p16">
              <a:extLst>
                <a:ext uri="{FF2B5EF4-FFF2-40B4-BE49-F238E27FC236}">
                  <a16:creationId xmlns:a16="http://schemas.microsoft.com/office/drawing/2014/main" id="{DF0A35F4-111B-76F6-BAA9-19967C543200}"/>
                </a:ext>
              </a:extLst>
            </p:cNvPr>
            <p:cNvSpPr/>
            <p:nvPr/>
          </p:nvSpPr>
          <p:spPr>
            <a:xfrm>
              <a:off x="5334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 name="Google Shape;123;p16">
              <a:extLst>
                <a:ext uri="{FF2B5EF4-FFF2-40B4-BE49-F238E27FC236}">
                  <a16:creationId xmlns:a16="http://schemas.microsoft.com/office/drawing/2014/main" id="{8E35AF81-0E11-44F6-FAE5-00BA658B1724}"/>
                </a:ext>
              </a:extLst>
            </p:cNvPr>
            <p:cNvSpPr/>
            <p:nvPr/>
          </p:nvSpPr>
          <p:spPr>
            <a:xfrm>
              <a:off x="5563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 name="Google Shape;124;p16">
              <a:extLst>
                <a:ext uri="{FF2B5EF4-FFF2-40B4-BE49-F238E27FC236}">
                  <a16:creationId xmlns:a16="http://schemas.microsoft.com/office/drawing/2014/main" id="{23A3FA5F-DA43-E6A2-47EC-075918A91D08}"/>
                </a:ext>
              </a:extLst>
            </p:cNvPr>
            <p:cNvSpPr/>
            <p:nvPr/>
          </p:nvSpPr>
          <p:spPr>
            <a:xfrm>
              <a:off x="5792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 name="Google Shape;146;p16">
              <a:extLst>
                <a:ext uri="{FF2B5EF4-FFF2-40B4-BE49-F238E27FC236}">
                  <a16:creationId xmlns:a16="http://schemas.microsoft.com/office/drawing/2014/main" id="{680D1F30-0CCD-9E36-77A5-30CC6427EBD3}"/>
                </a:ext>
              </a:extLst>
            </p:cNvPr>
            <p:cNvSpPr/>
            <p:nvPr/>
          </p:nvSpPr>
          <p:spPr>
            <a:xfrm>
              <a:off x="6020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0" name="Google Shape;147;p16">
              <a:extLst>
                <a:ext uri="{FF2B5EF4-FFF2-40B4-BE49-F238E27FC236}">
                  <a16:creationId xmlns:a16="http://schemas.microsoft.com/office/drawing/2014/main" id="{D2C5C213-2A92-E388-6E38-C7EFABBA9D5C}"/>
                </a:ext>
              </a:extLst>
            </p:cNvPr>
            <p:cNvSpPr/>
            <p:nvPr/>
          </p:nvSpPr>
          <p:spPr>
            <a:xfrm>
              <a:off x="6249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1" name="Google Shape;148;p16">
              <a:extLst>
                <a:ext uri="{FF2B5EF4-FFF2-40B4-BE49-F238E27FC236}">
                  <a16:creationId xmlns:a16="http://schemas.microsoft.com/office/drawing/2014/main" id="{4740793C-DD6C-3E58-117E-F714BBCC3331}"/>
                </a:ext>
              </a:extLst>
            </p:cNvPr>
            <p:cNvSpPr/>
            <p:nvPr/>
          </p:nvSpPr>
          <p:spPr>
            <a:xfrm>
              <a:off x="6477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 name="Google Shape;149;p16">
              <a:extLst>
                <a:ext uri="{FF2B5EF4-FFF2-40B4-BE49-F238E27FC236}">
                  <a16:creationId xmlns:a16="http://schemas.microsoft.com/office/drawing/2014/main" id="{E2AAA158-150B-CA6D-A912-F1934BD9F657}"/>
                </a:ext>
              </a:extLst>
            </p:cNvPr>
            <p:cNvSpPr/>
            <p:nvPr/>
          </p:nvSpPr>
          <p:spPr>
            <a:xfrm>
              <a:off x="6706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Google Shape;150;p16">
              <a:extLst>
                <a:ext uri="{FF2B5EF4-FFF2-40B4-BE49-F238E27FC236}">
                  <a16:creationId xmlns:a16="http://schemas.microsoft.com/office/drawing/2014/main" id="{AA66F304-1762-A323-2059-DC8359771F92}"/>
                </a:ext>
              </a:extLst>
            </p:cNvPr>
            <p:cNvSpPr/>
            <p:nvPr/>
          </p:nvSpPr>
          <p:spPr>
            <a:xfrm>
              <a:off x="6935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 name="Google Shape;151;p16">
              <a:extLst>
                <a:ext uri="{FF2B5EF4-FFF2-40B4-BE49-F238E27FC236}">
                  <a16:creationId xmlns:a16="http://schemas.microsoft.com/office/drawing/2014/main" id="{64CD3A62-A334-EEB1-53F8-2C6D315D05E2}"/>
                </a:ext>
              </a:extLst>
            </p:cNvPr>
            <p:cNvSpPr/>
            <p:nvPr/>
          </p:nvSpPr>
          <p:spPr>
            <a:xfrm>
              <a:off x="7163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 name="Google Shape;152;p16">
              <a:extLst>
                <a:ext uri="{FF2B5EF4-FFF2-40B4-BE49-F238E27FC236}">
                  <a16:creationId xmlns:a16="http://schemas.microsoft.com/office/drawing/2014/main" id="{F35C049F-7465-8061-3E6A-DB49260F2C1F}"/>
                </a:ext>
              </a:extLst>
            </p:cNvPr>
            <p:cNvSpPr/>
            <p:nvPr/>
          </p:nvSpPr>
          <p:spPr>
            <a:xfrm>
              <a:off x="7392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 name="Google Shape;153;p16">
              <a:extLst>
                <a:ext uri="{FF2B5EF4-FFF2-40B4-BE49-F238E27FC236}">
                  <a16:creationId xmlns:a16="http://schemas.microsoft.com/office/drawing/2014/main" id="{D7EA32B5-1910-A777-FE07-F3F153956E9B}"/>
                </a:ext>
              </a:extLst>
            </p:cNvPr>
            <p:cNvSpPr/>
            <p:nvPr/>
          </p:nvSpPr>
          <p:spPr>
            <a:xfrm>
              <a:off x="7620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37" name="群組 36">
            <a:extLst>
              <a:ext uri="{FF2B5EF4-FFF2-40B4-BE49-F238E27FC236}">
                <a16:creationId xmlns:a16="http://schemas.microsoft.com/office/drawing/2014/main" id="{C27D01BA-FBAF-4F25-57D1-324561AFFD75}"/>
              </a:ext>
            </a:extLst>
          </p:cNvPr>
          <p:cNvGrpSpPr/>
          <p:nvPr/>
        </p:nvGrpSpPr>
        <p:grpSpPr>
          <a:xfrm>
            <a:off x="8117580" y="2392198"/>
            <a:ext cx="3304800" cy="360000"/>
            <a:chOff x="4191927" y="3797552"/>
            <a:chExt cx="3304800" cy="431100"/>
          </a:xfrm>
        </p:grpSpPr>
        <p:sp>
          <p:nvSpPr>
            <p:cNvPr id="38" name="Google Shape;117;p16">
              <a:extLst>
                <a:ext uri="{FF2B5EF4-FFF2-40B4-BE49-F238E27FC236}">
                  <a16:creationId xmlns:a16="http://schemas.microsoft.com/office/drawing/2014/main" id="{94DCA043-68AE-FE89-7919-8D526029D709}"/>
                </a:ext>
              </a:extLst>
            </p:cNvPr>
            <p:cNvSpPr/>
            <p:nvPr/>
          </p:nvSpPr>
          <p:spPr>
            <a:xfrm>
              <a:off x="4191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 name="Google Shape;118;p16">
              <a:extLst>
                <a:ext uri="{FF2B5EF4-FFF2-40B4-BE49-F238E27FC236}">
                  <a16:creationId xmlns:a16="http://schemas.microsoft.com/office/drawing/2014/main" id="{D773590C-5132-BCE7-9E72-88AAA8049AE9}"/>
                </a:ext>
              </a:extLst>
            </p:cNvPr>
            <p:cNvSpPr/>
            <p:nvPr/>
          </p:nvSpPr>
          <p:spPr>
            <a:xfrm>
              <a:off x="4420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 name="Google Shape;119;p16">
              <a:extLst>
                <a:ext uri="{FF2B5EF4-FFF2-40B4-BE49-F238E27FC236}">
                  <a16:creationId xmlns:a16="http://schemas.microsoft.com/office/drawing/2014/main" id="{49F15FB3-CAA5-E669-F4E0-37010DACE87F}"/>
                </a:ext>
              </a:extLst>
            </p:cNvPr>
            <p:cNvSpPr/>
            <p:nvPr/>
          </p:nvSpPr>
          <p:spPr>
            <a:xfrm>
              <a:off x="4649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 name="Google Shape;120;p16">
              <a:extLst>
                <a:ext uri="{FF2B5EF4-FFF2-40B4-BE49-F238E27FC236}">
                  <a16:creationId xmlns:a16="http://schemas.microsoft.com/office/drawing/2014/main" id="{D9CBF249-D003-4A29-883F-A5AEE013F12A}"/>
                </a:ext>
              </a:extLst>
            </p:cNvPr>
            <p:cNvSpPr/>
            <p:nvPr/>
          </p:nvSpPr>
          <p:spPr>
            <a:xfrm>
              <a:off x="4877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2" name="Google Shape;121;p16">
              <a:extLst>
                <a:ext uri="{FF2B5EF4-FFF2-40B4-BE49-F238E27FC236}">
                  <a16:creationId xmlns:a16="http://schemas.microsoft.com/office/drawing/2014/main" id="{B06C4ABC-C623-907A-4EA0-7F1F410F5362}"/>
                </a:ext>
              </a:extLst>
            </p:cNvPr>
            <p:cNvSpPr/>
            <p:nvPr/>
          </p:nvSpPr>
          <p:spPr>
            <a:xfrm>
              <a:off x="5106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3" name="Google Shape;122;p16">
              <a:extLst>
                <a:ext uri="{FF2B5EF4-FFF2-40B4-BE49-F238E27FC236}">
                  <a16:creationId xmlns:a16="http://schemas.microsoft.com/office/drawing/2014/main" id="{19D9554E-E808-89FA-A096-B3EAF194DF4B}"/>
                </a:ext>
              </a:extLst>
            </p:cNvPr>
            <p:cNvSpPr/>
            <p:nvPr/>
          </p:nvSpPr>
          <p:spPr>
            <a:xfrm>
              <a:off x="5334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4" name="Google Shape;123;p16">
              <a:extLst>
                <a:ext uri="{FF2B5EF4-FFF2-40B4-BE49-F238E27FC236}">
                  <a16:creationId xmlns:a16="http://schemas.microsoft.com/office/drawing/2014/main" id="{492F072A-74DE-736B-444A-F98038EFF5EB}"/>
                </a:ext>
              </a:extLst>
            </p:cNvPr>
            <p:cNvSpPr/>
            <p:nvPr/>
          </p:nvSpPr>
          <p:spPr>
            <a:xfrm>
              <a:off x="5563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5" name="Google Shape;124;p16">
              <a:extLst>
                <a:ext uri="{FF2B5EF4-FFF2-40B4-BE49-F238E27FC236}">
                  <a16:creationId xmlns:a16="http://schemas.microsoft.com/office/drawing/2014/main" id="{4E3F0896-3DB5-D811-B282-853F4BA67C7C}"/>
                </a:ext>
              </a:extLst>
            </p:cNvPr>
            <p:cNvSpPr/>
            <p:nvPr/>
          </p:nvSpPr>
          <p:spPr>
            <a:xfrm>
              <a:off x="5792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6" name="Google Shape;146;p16">
              <a:extLst>
                <a:ext uri="{FF2B5EF4-FFF2-40B4-BE49-F238E27FC236}">
                  <a16:creationId xmlns:a16="http://schemas.microsoft.com/office/drawing/2014/main" id="{30DC9383-B78E-FDB1-111F-CAE58AC020F8}"/>
                </a:ext>
              </a:extLst>
            </p:cNvPr>
            <p:cNvSpPr/>
            <p:nvPr/>
          </p:nvSpPr>
          <p:spPr>
            <a:xfrm>
              <a:off x="6020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7" name="Google Shape;147;p16">
              <a:extLst>
                <a:ext uri="{FF2B5EF4-FFF2-40B4-BE49-F238E27FC236}">
                  <a16:creationId xmlns:a16="http://schemas.microsoft.com/office/drawing/2014/main" id="{6016E4B6-F739-EC6F-F344-0834D8470AF7}"/>
                </a:ext>
              </a:extLst>
            </p:cNvPr>
            <p:cNvSpPr/>
            <p:nvPr/>
          </p:nvSpPr>
          <p:spPr>
            <a:xfrm>
              <a:off x="6249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Google Shape;148;p16">
              <a:extLst>
                <a:ext uri="{FF2B5EF4-FFF2-40B4-BE49-F238E27FC236}">
                  <a16:creationId xmlns:a16="http://schemas.microsoft.com/office/drawing/2014/main" id="{D76FFAD6-F293-9C01-2905-CA4BC64B4C82}"/>
                </a:ext>
              </a:extLst>
            </p:cNvPr>
            <p:cNvSpPr/>
            <p:nvPr/>
          </p:nvSpPr>
          <p:spPr>
            <a:xfrm>
              <a:off x="64779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9" name="Google Shape;149;p16">
              <a:extLst>
                <a:ext uri="{FF2B5EF4-FFF2-40B4-BE49-F238E27FC236}">
                  <a16:creationId xmlns:a16="http://schemas.microsoft.com/office/drawing/2014/main" id="{EDE21ACA-D3D1-AB3A-22C1-990DD1A6FD7E}"/>
                </a:ext>
              </a:extLst>
            </p:cNvPr>
            <p:cNvSpPr/>
            <p:nvPr/>
          </p:nvSpPr>
          <p:spPr>
            <a:xfrm>
              <a:off x="67065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 name="Google Shape;150;p16">
              <a:extLst>
                <a:ext uri="{FF2B5EF4-FFF2-40B4-BE49-F238E27FC236}">
                  <a16:creationId xmlns:a16="http://schemas.microsoft.com/office/drawing/2014/main" id="{2B3BBA6D-AE37-BA66-624F-64C44AEC6D8D}"/>
                </a:ext>
              </a:extLst>
            </p:cNvPr>
            <p:cNvSpPr/>
            <p:nvPr/>
          </p:nvSpPr>
          <p:spPr>
            <a:xfrm>
              <a:off x="69351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 name="Google Shape;151;p16">
              <a:extLst>
                <a:ext uri="{FF2B5EF4-FFF2-40B4-BE49-F238E27FC236}">
                  <a16:creationId xmlns:a16="http://schemas.microsoft.com/office/drawing/2014/main" id="{5463E719-D051-8623-509C-BF2DF90EA91F}"/>
                </a:ext>
              </a:extLst>
            </p:cNvPr>
            <p:cNvSpPr/>
            <p:nvPr/>
          </p:nvSpPr>
          <p:spPr>
            <a:xfrm>
              <a:off x="71637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2" name="Google Shape;152;p16">
              <a:extLst>
                <a:ext uri="{FF2B5EF4-FFF2-40B4-BE49-F238E27FC236}">
                  <a16:creationId xmlns:a16="http://schemas.microsoft.com/office/drawing/2014/main" id="{5D11DCAC-FA01-9B1C-B2AF-D4F7F0B10D5B}"/>
                </a:ext>
              </a:extLst>
            </p:cNvPr>
            <p:cNvSpPr/>
            <p:nvPr/>
          </p:nvSpPr>
          <p:spPr>
            <a:xfrm>
              <a:off x="7392327" y="3797552"/>
              <a:ext cx="104400" cy="431100"/>
            </a:xfrm>
            <a:prstGeom prst="roundRect">
              <a:avLst>
                <a:gd name="adj" fmla="val 16667"/>
              </a:avLst>
            </a:prstGeom>
            <a:solidFill>
              <a:srgbClr val="FFD966"/>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54" name="文字方塊 53">
            <a:extLst>
              <a:ext uri="{FF2B5EF4-FFF2-40B4-BE49-F238E27FC236}">
                <a16:creationId xmlns:a16="http://schemas.microsoft.com/office/drawing/2014/main" id="{A0CAA024-6FB1-322D-834B-E37B492E45BF}"/>
              </a:ext>
            </a:extLst>
          </p:cNvPr>
          <p:cNvSpPr txBox="1"/>
          <p:nvPr/>
        </p:nvSpPr>
        <p:spPr>
          <a:xfrm>
            <a:off x="1076994" y="2404656"/>
            <a:ext cx="2956178" cy="954107"/>
          </a:xfrm>
          <a:prstGeom prst="rect">
            <a:avLst/>
          </a:prstGeom>
          <a:noFill/>
        </p:spPr>
        <p:txBody>
          <a:bodyPr wrap="square">
            <a:spAutoFit/>
          </a:bodyPr>
          <a:lstStyle/>
          <a:p>
            <a:pPr marL="0" marR="0" lvl="0" indent="0" algn="ctr" defTabSz="457189" eaLnBrk="1" fontAlgn="auto" latinLnBrk="0" hangingPunct="1">
              <a:lnSpc>
                <a:spcPct val="100000"/>
              </a:lnSpc>
              <a:spcBef>
                <a:spcPts val="0"/>
              </a:spcBef>
              <a:spcAft>
                <a:spcPts val="0"/>
              </a:spcAft>
              <a:buClr>
                <a:prstClr val="black"/>
              </a:buClr>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cs typeface="Arial"/>
                <a:sym typeface="Arial"/>
              </a:rPr>
              <a:t>Initialized by text LLM (BERT)</a:t>
            </a:r>
          </a:p>
        </p:txBody>
      </p:sp>
      <p:cxnSp>
        <p:nvCxnSpPr>
          <p:cNvPr id="55" name="直線單箭頭接點 54">
            <a:extLst>
              <a:ext uri="{FF2B5EF4-FFF2-40B4-BE49-F238E27FC236}">
                <a16:creationId xmlns:a16="http://schemas.microsoft.com/office/drawing/2014/main" id="{EEC7CCF7-0112-85C2-02D5-9D5D00B4AC7B}"/>
              </a:ext>
            </a:extLst>
          </p:cNvPr>
          <p:cNvCxnSpPr>
            <a:cxnSpLocks/>
          </p:cNvCxnSpPr>
          <p:nvPr/>
        </p:nvCxnSpPr>
        <p:spPr>
          <a:xfrm flipV="1">
            <a:off x="3205248" y="1984491"/>
            <a:ext cx="938843" cy="407707"/>
          </a:xfrm>
          <a:prstGeom prst="straightConnector1">
            <a:avLst/>
          </a:prstGeom>
          <a:noFill/>
          <a:ln w="57150" cap="flat" cmpd="sng" algn="ctr">
            <a:solidFill>
              <a:srgbClr val="002060"/>
            </a:solidFill>
            <a:prstDash val="sysDot"/>
            <a:miter lim="800000"/>
            <a:tailEnd type="triangle"/>
          </a:ln>
          <a:effectLst/>
        </p:spPr>
      </p:cxnSp>
    </p:spTree>
    <p:extLst>
      <p:ext uri="{BB962C8B-B14F-4D97-AF65-F5344CB8AC3E}">
        <p14:creationId xmlns:p14="http://schemas.microsoft.com/office/powerpoint/2010/main" val="39963539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80B1EA-A551-B7D4-F8BA-A0A0C23E7815}"/>
              </a:ext>
            </a:extLst>
          </p:cNvPr>
          <p:cNvSpPr>
            <a:spLocks noGrp="1"/>
          </p:cNvSpPr>
          <p:nvPr>
            <p:ph type="title"/>
          </p:nvPr>
        </p:nvSpPr>
        <p:spPr/>
        <p:txBody>
          <a:bodyPr/>
          <a:lstStyle/>
          <a:p>
            <a:r>
              <a:rPr lang="en-US" altLang="zh-TW" dirty="0"/>
              <a:t>Starting from Text LLM  </a:t>
            </a:r>
            <a:endParaRPr lang="zh-TW" altLang="en-US" dirty="0"/>
          </a:p>
        </p:txBody>
      </p:sp>
      <p:sp>
        <p:nvSpPr>
          <p:cNvPr id="4" name="矩形: 圓角 3">
            <a:extLst>
              <a:ext uri="{FF2B5EF4-FFF2-40B4-BE49-F238E27FC236}">
                <a16:creationId xmlns:a16="http://schemas.microsoft.com/office/drawing/2014/main" id="{57E30784-DCA9-D207-81AA-2F760BA23DF6}"/>
              </a:ext>
            </a:extLst>
          </p:cNvPr>
          <p:cNvSpPr/>
          <p:nvPr/>
        </p:nvSpPr>
        <p:spPr>
          <a:xfrm>
            <a:off x="5123045" y="2238744"/>
            <a:ext cx="1907809" cy="1236330"/>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文字方塊 5">
            <a:extLst>
              <a:ext uri="{FF2B5EF4-FFF2-40B4-BE49-F238E27FC236}">
                <a16:creationId xmlns:a16="http://schemas.microsoft.com/office/drawing/2014/main" id="{440EB86A-F14E-D038-1B05-680C14794D39}"/>
              </a:ext>
            </a:extLst>
          </p:cNvPr>
          <p:cNvSpPr txBox="1"/>
          <p:nvPr/>
        </p:nvSpPr>
        <p:spPr>
          <a:xfrm>
            <a:off x="8534400" y="6176963"/>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https://arxiv.org/abs/2305.13009</a:t>
            </a:r>
          </a:p>
        </p:txBody>
      </p:sp>
      <p:sp>
        <p:nvSpPr>
          <p:cNvPr id="7" name="矩形: 圓角 6">
            <a:extLst>
              <a:ext uri="{FF2B5EF4-FFF2-40B4-BE49-F238E27FC236}">
                <a16:creationId xmlns:a16="http://schemas.microsoft.com/office/drawing/2014/main" id="{F4E62707-5811-E1D4-74F6-8F975E173321}"/>
              </a:ext>
            </a:extLst>
          </p:cNvPr>
          <p:cNvSpPr/>
          <p:nvPr/>
        </p:nvSpPr>
        <p:spPr>
          <a:xfrm>
            <a:off x="5142095" y="4392578"/>
            <a:ext cx="1907809"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Spoken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箭號: 向下 7">
            <a:extLst>
              <a:ext uri="{FF2B5EF4-FFF2-40B4-BE49-F238E27FC236}">
                <a16:creationId xmlns:a16="http://schemas.microsoft.com/office/drawing/2014/main" id="{CB8868B7-5DEF-6E0C-96DA-08670BDAB316}"/>
              </a:ext>
            </a:extLst>
          </p:cNvPr>
          <p:cNvSpPr/>
          <p:nvPr/>
        </p:nvSpPr>
        <p:spPr>
          <a:xfrm>
            <a:off x="5812935" y="3514726"/>
            <a:ext cx="590550" cy="80010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id="{EB5AA193-635B-493E-51C9-1C75B04EC22E}"/>
              </a:ext>
            </a:extLst>
          </p:cNvPr>
          <p:cNvSpPr txBox="1"/>
          <p:nvPr/>
        </p:nvSpPr>
        <p:spPr>
          <a:xfrm>
            <a:off x="6471441" y="3630322"/>
            <a:ext cx="207645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Initialization </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0" name="直線單箭頭接點 9">
            <a:extLst>
              <a:ext uri="{FF2B5EF4-FFF2-40B4-BE49-F238E27FC236}">
                <a16:creationId xmlns:a16="http://schemas.microsoft.com/office/drawing/2014/main" id="{46DBA8E8-C4DB-BAC8-974B-37A6AF67613F}"/>
              </a:ext>
            </a:extLst>
          </p:cNvPr>
          <p:cNvCxnSpPr>
            <a:cxnSpLocks/>
          </p:cNvCxnSpPr>
          <p:nvPr/>
        </p:nvCxnSpPr>
        <p:spPr>
          <a:xfrm>
            <a:off x="4165175" y="2831112"/>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48E0ED34-C60B-F33E-9ECD-84AD71BA49F6}"/>
              </a:ext>
            </a:extLst>
          </p:cNvPr>
          <p:cNvCxnSpPr>
            <a:cxnSpLocks/>
          </p:cNvCxnSpPr>
          <p:nvPr/>
        </p:nvCxnSpPr>
        <p:spPr>
          <a:xfrm>
            <a:off x="7145154" y="2831112"/>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B9991CBF-6364-FC9E-DF87-EBB39AAA7D2D}"/>
              </a:ext>
            </a:extLst>
          </p:cNvPr>
          <p:cNvCxnSpPr>
            <a:cxnSpLocks/>
          </p:cNvCxnSpPr>
          <p:nvPr/>
        </p:nvCxnSpPr>
        <p:spPr>
          <a:xfrm>
            <a:off x="4165175" y="5021862"/>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2FD56B7D-2C6E-E7CE-A461-038AF5456524}"/>
              </a:ext>
            </a:extLst>
          </p:cNvPr>
          <p:cNvCxnSpPr>
            <a:cxnSpLocks/>
          </p:cNvCxnSpPr>
          <p:nvPr/>
        </p:nvCxnSpPr>
        <p:spPr>
          <a:xfrm>
            <a:off x="7145154" y="5021862"/>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E85F5773-2C68-4DFD-90C3-B1EB52E52EA0}"/>
              </a:ext>
            </a:extLst>
          </p:cNvPr>
          <p:cNvSpPr txBox="1"/>
          <p:nvPr/>
        </p:nvSpPr>
        <p:spPr>
          <a:xfrm>
            <a:off x="2001617" y="2596363"/>
            <a:ext cx="411076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   are   you?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文字方塊 14">
            <a:extLst>
              <a:ext uri="{FF2B5EF4-FFF2-40B4-BE49-F238E27FC236}">
                <a16:creationId xmlns:a16="http://schemas.microsoft.com/office/drawing/2014/main" id="{BE28AB09-F7B0-BA76-B259-9C28D69C47FD}"/>
              </a:ext>
            </a:extLst>
          </p:cNvPr>
          <p:cNvSpPr txBox="1"/>
          <p:nvPr/>
        </p:nvSpPr>
        <p:spPr>
          <a:xfrm>
            <a:off x="8077182" y="2559947"/>
            <a:ext cx="411076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I   am   good.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53784608-8981-B741-AC18-16A11C88A033}"/>
              </a:ext>
            </a:extLst>
          </p:cNvPr>
          <p:cNvSpPr/>
          <p:nvPr/>
        </p:nvSpPr>
        <p:spPr>
          <a:xfrm>
            <a:off x="1731629" y="4835331"/>
            <a:ext cx="54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2B798C26-742F-08CE-027B-C43AF97E398A}"/>
              </a:ext>
            </a:extLst>
          </p:cNvPr>
          <p:cNvSpPr/>
          <p:nvPr/>
        </p:nvSpPr>
        <p:spPr>
          <a:xfrm>
            <a:off x="2309747" y="4835331"/>
            <a:ext cx="54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4D8228AD-5DF2-1B89-4B81-1251DE177C2E}"/>
              </a:ext>
            </a:extLst>
          </p:cNvPr>
          <p:cNvSpPr/>
          <p:nvPr/>
        </p:nvSpPr>
        <p:spPr>
          <a:xfrm>
            <a:off x="2887865" y="4835331"/>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CC9B5C00-D8C4-41C4-354A-CADEC542DE51}"/>
              </a:ext>
            </a:extLst>
          </p:cNvPr>
          <p:cNvSpPr/>
          <p:nvPr/>
        </p:nvSpPr>
        <p:spPr>
          <a:xfrm>
            <a:off x="3465983" y="4835331"/>
            <a:ext cx="540000"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B903CE9A-9F31-36F0-35C5-7D38D6BC61D8}"/>
              </a:ext>
            </a:extLst>
          </p:cNvPr>
          <p:cNvSpPr/>
          <p:nvPr/>
        </p:nvSpPr>
        <p:spPr>
          <a:xfrm>
            <a:off x="8077182" y="4835331"/>
            <a:ext cx="540000" cy="361950"/>
          </a:xfrm>
          <a:prstGeom prst="roundRect">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435B579F-397C-B57A-7FF1-251CC325CA1A}"/>
              </a:ext>
            </a:extLst>
          </p:cNvPr>
          <p:cNvSpPr/>
          <p:nvPr/>
        </p:nvSpPr>
        <p:spPr>
          <a:xfrm>
            <a:off x="8655300" y="4835331"/>
            <a:ext cx="540000"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2D247580-FD42-BE2A-00C1-6E26DB247493}"/>
              </a:ext>
            </a:extLst>
          </p:cNvPr>
          <p:cNvSpPr/>
          <p:nvPr/>
        </p:nvSpPr>
        <p:spPr>
          <a:xfrm>
            <a:off x="9233418" y="4835331"/>
            <a:ext cx="54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500398E0-8819-E807-0530-07ABC9ADB80C}"/>
              </a:ext>
            </a:extLst>
          </p:cNvPr>
          <p:cNvSpPr/>
          <p:nvPr/>
        </p:nvSpPr>
        <p:spPr>
          <a:xfrm>
            <a:off x="9811534" y="4835331"/>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文字方塊 27">
            <a:extLst>
              <a:ext uri="{FF2B5EF4-FFF2-40B4-BE49-F238E27FC236}">
                <a16:creationId xmlns:a16="http://schemas.microsoft.com/office/drawing/2014/main" id="{B8722009-CD3E-B5BF-2DA4-011CDADF2EFD}"/>
              </a:ext>
            </a:extLst>
          </p:cNvPr>
          <p:cNvSpPr txBox="1"/>
          <p:nvPr/>
        </p:nvSpPr>
        <p:spPr>
          <a:xfrm>
            <a:off x="8547891" y="5729614"/>
            <a:ext cx="180364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TWIST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4542232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圖片 28">
            <a:extLst>
              <a:ext uri="{FF2B5EF4-FFF2-40B4-BE49-F238E27FC236}">
                <a16:creationId xmlns:a16="http://schemas.microsoft.com/office/drawing/2014/main" id="{E5EE1142-A8B1-1C4B-B7C0-719AE9C3DA4F}"/>
              </a:ext>
            </a:extLst>
          </p:cNvPr>
          <p:cNvPicPr>
            <a:picLocks noChangeAspect="1"/>
          </p:cNvPicPr>
          <p:nvPr/>
        </p:nvPicPr>
        <p:blipFill>
          <a:blip r:embed="rId2"/>
          <a:stretch>
            <a:fillRect/>
          </a:stretch>
        </p:blipFill>
        <p:spPr>
          <a:xfrm>
            <a:off x="5890824" y="2509348"/>
            <a:ext cx="4610743" cy="3286584"/>
          </a:xfrm>
          <a:prstGeom prst="rect">
            <a:avLst/>
          </a:prstGeom>
        </p:spPr>
      </p:pic>
      <p:sp>
        <p:nvSpPr>
          <p:cNvPr id="2" name="標題 1">
            <a:extLst>
              <a:ext uri="{FF2B5EF4-FFF2-40B4-BE49-F238E27FC236}">
                <a16:creationId xmlns:a16="http://schemas.microsoft.com/office/drawing/2014/main" id="{240C0072-63BC-AB6E-31D0-290168E82EB3}"/>
              </a:ext>
            </a:extLst>
          </p:cNvPr>
          <p:cNvSpPr>
            <a:spLocks noGrp="1"/>
          </p:cNvSpPr>
          <p:nvPr>
            <p:ph type="title"/>
          </p:nvPr>
        </p:nvSpPr>
        <p:spPr/>
        <p:txBody>
          <a:bodyPr/>
          <a:lstStyle/>
          <a:p>
            <a:r>
              <a:rPr lang="en-US" altLang="zh-TW" dirty="0"/>
              <a:t>Jointly learned from the speech and text</a:t>
            </a:r>
            <a:endParaRPr lang="zh-TW" altLang="en-US" dirty="0"/>
          </a:p>
        </p:txBody>
      </p:sp>
      <p:sp>
        <p:nvSpPr>
          <p:cNvPr id="4" name="矩形: 圓角 3">
            <a:extLst>
              <a:ext uri="{FF2B5EF4-FFF2-40B4-BE49-F238E27FC236}">
                <a16:creationId xmlns:a16="http://schemas.microsoft.com/office/drawing/2014/main" id="{13D064FF-8215-A3D2-F6CF-6EF2B0991DC6}"/>
              </a:ext>
            </a:extLst>
          </p:cNvPr>
          <p:cNvSpPr/>
          <p:nvPr/>
        </p:nvSpPr>
        <p:spPr>
          <a:xfrm>
            <a:off x="3300756" y="2953478"/>
            <a:ext cx="1907809"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5" name="Picture 2">
            <a:extLst>
              <a:ext uri="{FF2B5EF4-FFF2-40B4-BE49-F238E27FC236}">
                <a16:creationId xmlns:a16="http://schemas.microsoft.com/office/drawing/2014/main" id="{191790B8-2690-3EB7-8657-63E1E296A7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535" y="3808627"/>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680C73A0-AD66-441D-B9CC-E306DC3447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7383" y="1766888"/>
            <a:ext cx="1563505" cy="156350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單箭頭接點 6">
            <a:extLst>
              <a:ext uri="{FF2B5EF4-FFF2-40B4-BE49-F238E27FC236}">
                <a16:creationId xmlns:a16="http://schemas.microsoft.com/office/drawing/2014/main" id="{CFF5A174-B7BD-D2CB-6616-16637AE7A4A1}"/>
              </a:ext>
            </a:extLst>
          </p:cNvPr>
          <p:cNvCxnSpPr>
            <a:cxnSpLocks/>
          </p:cNvCxnSpPr>
          <p:nvPr/>
        </p:nvCxnSpPr>
        <p:spPr>
          <a:xfrm>
            <a:off x="2570888" y="2840489"/>
            <a:ext cx="688324" cy="625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a:extLst>
              <a:ext uri="{FF2B5EF4-FFF2-40B4-BE49-F238E27FC236}">
                <a16:creationId xmlns:a16="http://schemas.microsoft.com/office/drawing/2014/main" id="{A66FFD20-D4A5-9E1C-B570-F7CD6A8D42DC}"/>
              </a:ext>
            </a:extLst>
          </p:cNvPr>
          <p:cNvCxnSpPr>
            <a:cxnSpLocks/>
          </p:cNvCxnSpPr>
          <p:nvPr/>
        </p:nvCxnSpPr>
        <p:spPr>
          <a:xfrm rot="16200000">
            <a:off x="2570889" y="3642630"/>
            <a:ext cx="688324" cy="625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67640E1C-FA9D-2065-7D8E-0266ECBAF421}"/>
              </a:ext>
            </a:extLst>
          </p:cNvPr>
          <p:cNvSpPr txBox="1"/>
          <p:nvPr/>
        </p:nvSpPr>
        <p:spPr>
          <a:xfrm>
            <a:off x="1179535" y="5523195"/>
            <a:ext cx="4787489"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 to better alignment between speech and text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文字方塊 19">
            <a:extLst>
              <a:ext uri="{FF2B5EF4-FFF2-40B4-BE49-F238E27FC236}">
                <a16:creationId xmlns:a16="http://schemas.microsoft.com/office/drawing/2014/main" id="{01000613-DF05-7FBE-53CA-02E213F072EC}"/>
              </a:ext>
            </a:extLst>
          </p:cNvPr>
          <p:cNvSpPr txBox="1"/>
          <p:nvPr/>
        </p:nvSpPr>
        <p:spPr>
          <a:xfrm>
            <a:off x="8572500" y="5729536"/>
            <a:ext cx="335280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https://arxiv.org/abs/2110.10329</a:t>
            </a:r>
            <a:endPar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https://arxiv.org/abs/2110.07205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https://arxiv.org/abs/2204.03409</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文字方塊 23">
            <a:extLst>
              <a:ext uri="{FF2B5EF4-FFF2-40B4-BE49-F238E27FC236}">
                <a16:creationId xmlns:a16="http://schemas.microsoft.com/office/drawing/2014/main" id="{20691275-2D72-C8E2-7FB6-6E5EAECC6293}"/>
              </a:ext>
            </a:extLst>
          </p:cNvPr>
          <p:cNvSpPr txBox="1"/>
          <p:nvPr/>
        </p:nvSpPr>
        <p:spPr>
          <a:xfrm>
            <a:off x="5121267" y="1858054"/>
            <a:ext cx="707073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Widely studied in the era of shared encoder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文字方塊 33">
            <a:extLst>
              <a:ext uri="{FF2B5EF4-FFF2-40B4-BE49-F238E27FC236}">
                <a16:creationId xmlns:a16="http://schemas.microsoft.com/office/drawing/2014/main" id="{74061323-844D-1445-349A-D2D9BDF50C5E}"/>
              </a:ext>
            </a:extLst>
          </p:cNvPr>
          <p:cNvSpPr txBox="1"/>
          <p:nvPr/>
        </p:nvSpPr>
        <p:spPr>
          <a:xfrm>
            <a:off x="10763250" y="4873708"/>
            <a:ext cx="202878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Source: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speechT5</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3795805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4" grpId="0"/>
      <p:bldP spid="3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AFF6B4-5FCA-EACE-17C9-2F26E063C792}"/>
              </a:ext>
            </a:extLst>
          </p:cNvPr>
          <p:cNvSpPr>
            <a:spLocks noGrp="1"/>
          </p:cNvSpPr>
          <p:nvPr>
            <p:ph type="title"/>
          </p:nvPr>
        </p:nvSpPr>
        <p:spPr/>
        <p:txBody>
          <a:bodyPr>
            <a:normAutofit/>
          </a:bodyPr>
          <a:lstStyle/>
          <a:p>
            <a:r>
              <a:rPr lang="en-US" altLang="zh-TW" dirty="0"/>
              <a:t>Jointly learned from the speech and text</a:t>
            </a:r>
            <a:endParaRPr lang="zh-TW" altLang="en-US" dirty="0"/>
          </a:p>
        </p:txBody>
      </p:sp>
      <p:sp>
        <p:nvSpPr>
          <p:cNvPr id="3" name="內容版面配置區 2">
            <a:extLst>
              <a:ext uri="{FF2B5EF4-FFF2-40B4-BE49-F238E27FC236}">
                <a16:creationId xmlns:a16="http://schemas.microsoft.com/office/drawing/2014/main" id="{968196AD-A761-A7B0-4525-0451E1955FB5}"/>
              </a:ext>
            </a:extLst>
          </p:cNvPr>
          <p:cNvSpPr>
            <a:spLocks noGrp="1"/>
          </p:cNvSpPr>
          <p:nvPr>
            <p:ph idx="1"/>
          </p:nvPr>
        </p:nvSpPr>
        <p:spPr/>
        <p:txBody>
          <a:bodyPr/>
          <a:lstStyle/>
          <a:p>
            <a:r>
              <a:rPr lang="en-US" altLang="zh-TW" dirty="0"/>
              <a:t>Methods for spoken LM</a:t>
            </a:r>
            <a:endParaRPr lang="zh-TW" altLang="en-US" dirty="0"/>
          </a:p>
        </p:txBody>
      </p:sp>
      <p:sp>
        <p:nvSpPr>
          <p:cNvPr id="4" name="文字方塊 3">
            <a:extLst>
              <a:ext uri="{FF2B5EF4-FFF2-40B4-BE49-F238E27FC236}">
                <a16:creationId xmlns:a16="http://schemas.microsoft.com/office/drawing/2014/main" id="{F6BE355D-1F8B-2952-CC69-5E710E1B3E5F}"/>
              </a:ext>
            </a:extLst>
          </p:cNvPr>
          <p:cNvSpPr txBox="1"/>
          <p:nvPr/>
        </p:nvSpPr>
        <p:spPr>
          <a:xfrm>
            <a:off x="6455941" y="4970904"/>
            <a:ext cx="5669768" cy="1754326"/>
          </a:xfrm>
          <a:prstGeom prst="rect">
            <a:avLst/>
          </a:prstGeom>
          <a:noFill/>
        </p:spPr>
        <p:txBody>
          <a:bodyPr wrap="square">
            <a:spAutoFit/>
          </a:bodyPr>
          <a:lstStyle/>
          <a:p>
            <a:pPr>
              <a:defRPr/>
            </a:pPr>
            <a:r>
              <a:rPr lang="en-US" altLang="zh-TW" sz="2400" dirty="0"/>
              <a:t>Toward Joint Language Modeling for Speech Units and Text</a:t>
            </a:r>
            <a:endParaRPr kumimoji="0" lang="en-US" altLang="zh-TW" sz="240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TW" sz="180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rPr>
              <a:t>https://arxiv.org/abs/2310.08715</a:t>
            </a:r>
          </a:p>
          <a:p>
            <a:pPr>
              <a:defRPr/>
            </a:pPr>
            <a:r>
              <a:rPr lang="en-US" altLang="zh-TW" sz="2400" dirty="0"/>
              <a:t>Spirit LM</a:t>
            </a:r>
          </a:p>
          <a:p>
            <a:pPr marL="0" marR="0" lvl="0" indent="0" defTabSz="914400" rtl="0" eaLnBrk="1" fontAlgn="auto" latinLnBrk="0" hangingPunct="1">
              <a:lnSpc>
                <a:spcPct val="100000"/>
              </a:lnSpc>
              <a:spcBef>
                <a:spcPts val="0"/>
              </a:spcBef>
              <a:spcAft>
                <a:spcPts val="0"/>
              </a:spcAft>
              <a:buClrTx/>
              <a:buSzTx/>
              <a:buFontTx/>
              <a:buNone/>
              <a:tabLst/>
              <a:defRPr/>
            </a:pPr>
            <a:r>
              <a:rPr kumimoji="0" lang="zh-TW" altLang="en-US" sz="180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rPr>
              <a:t>https://arxiv.org/abs/2402.05755</a:t>
            </a:r>
          </a:p>
        </p:txBody>
      </p:sp>
      <p:grpSp>
        <p:nvGrpSpPr>
          <p:cNvPr id="5" name="群組 4">
            <a:extLst>
              <a:ext uri="{FF2B5EF4-FFF2-40B4-BE49-F238E27FC236}">
                <a16:creationId xmlns:a16="http://schemas.microsoft.com/office/drawing/2014/main" id="{E3A2F392-D061-8104-8BEF-2FF3F513478A}"/>
              </a:ext>
            </a:extLst>
          </p:cNvPr>
          <p:cNvGrpSpPr/>
          <p:nvPr/>
        </p:nvGrpSpPr>
        <p:grpSpPr>
          <a:xfrm>
            <a:off x="1011314" y="4594952"/>
            <a:ext cx="4772974" cy="800588"/>
            <a:chOff x="458638" y="5022255"/>
            <a:chExt cx="2441389" cy="878286"/>
          </a:xfrm>
        </p:grpSpPr>
        <p:pic>
          <p:nvPicPr>
            <p:cNvPr id="6"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3EF8A42-947E-254D-ADE5-487959999DF2}"/>
                </a:ext>
              </a:extLst>
            </p:cNvPr>
            <p:cNvPicPr preferRelativeResize="0"/>
            <p:nvPr/>
          </p:nvPicPr>
          <p:blipFill rotWithShape="1">
            <a:blip r:embed="rId3">
              <a:alphaModFix/>
              <a:duotone>
                <a:schemeClr val="accent6">
                  <a:shade val="45000"/>
                  <a:satMod val="135000"/>
                </a:schemeClr>
                <a:prstClr val="white"/>
              </a:duotone>
            </a:blip>
            <a:srcRect l="39924" t="74586" r="38724" b="15732"/>
            <a:stretch/>
          </p:blipFill>
          <p:spPr>
            <a:xfrm>
              <a:off x="458638" y="5022255"/>
              <a:ext cx="1282084" cy="809021"/>
            </a:xfrm>
            <a:prstGeom prst="rect">
              <a:avLst/>
            </a:prstGeom>
            <a:noFill/>
            <a:ln>
              <a:noFill/>
            </a:ln>
          </p:spPr>
        </p:pic>
        <p:pic>
          <p:nvPicPr>
            <p:cNvPr id="7"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5D12406C-6AD5-C27D-10D2-2A725C79E4B6}"/>
                </a:ext>
              </a:extLst>
            </p:cNvPr>
            <p:cNvPicPr preferRelativeResize="0"/>
            <p:nvPr/>
          </p:nvPicPr>
          <p:blipFill rotWithShape="1">
            <a:blip r:embed="rId3">
              <a:alphaModFix/>
              <a:duotone>
                <a:schemeClr val="accent6">
                  <a:shade val="45000"/>
                  <a:satMod val="135000"/>
                </a:schemeClr>
                <a:prstClr val="white"/>
              </a:duotone>
            </a:blip>
            <a:srcRect l="35083" t="84591" r="35071" b="1174"/>
            <a:stretch/>
          </p:blipFill>
          <p:spPr>
            <a:xfrm>
              <a:off x="1576011" y="5095308"/>
              <a:ext cx="1324016" cy="805233"/>
            </a:xfrm>
            <a:prstGeom prst="rect">
              <a:avLst/>
            </a:prstGeom>
            <a:noFill/>
            <a:ln>
              <a:noFill/>
            </a:ln>
          </p:spPr>
        </p:pic>
      </p:grpSp>
      <p:grpSp>
        <p:nvGrpSpPr>
          <p:cNvPr id="9" name="群組 8">
            <a:extLst>
              <a:ext uri="{FF2B5EF4-FFF2-40B4-BE49-F238E27FC236}">
                <a16:creationId xmlns:a16="http://schemas.microsoft.com/office/drawing/2014/main" id="{68ED6E62-1F90-9537-7AF2-3EAB3AE1CB2D}"/>
              </a:ext>
            </a:extLst>
          </p:cNvPr>
          <p:cNvGrpSpPr/>
          <p:nvPr/>
        </p:nvGrpSpPr>
        <p:grpSpPr>
          <a:xfrm>
            <a:off x="1011314" y="4471713"/>
            <a:ext cx="4586824" cy="361950"/>
            <a:chOff x="6515176" y="5058218"/>
            <a:chExt cx="4586824" cy="361950"/>
          </a:xfrm>
        </p:grpSpPr>
        <p:sp>
          <p:nvSpPr>
            <p:cNvPr id="10" name="矩形: 圓角 9">
              <a:extLst>
                <a:ext uri="{FF2B5EF4-FFF2-40B4-BE49-F238E27FC236}">
                  <a16:creationId xmlns:a16="http://schemas.microsoft.com/office/drawing/2014/main" id="{7FCC9601-57E7-F706-67C2-104FBF86BBCC}"/>
                </a:ext>
              </a:extLst>
            </p:cNvPr>
            <p:cNvSpPr/>
            <p:nvPr/>
          </p:nvSpPr>
          <p:spPr>
            <a:xfrm>
              <a:off x="6515176" y="5058218"/>
              <a:ext cx="54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371F3060-FFA1-4B62-D867-57C1EE1F3F75}"/>
                </a:ext>
              </a:extLst>
            </p:cNvPr>
            <p:cNvSpPr/>
            <p:nvPr/>
          </p:nvSpPr>
          <p:spPr>
            <a:xfrm>
              <a:off x="7093294" y="5058218"/>
              <a:ext cx="54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4A17B917-B2AA-9170-F415-74D7A2C81F89}"/>
                </a:ext>
              </a:extLst>
            </p:cNvPr>
            <p:cNvSpPr/>
            <p:nvPr/>
          </p:nvSpPr>
          <p:spPr>
            <a:xfrm>
              <a:off x="7671412" y="505821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F52FF5F4-3F96-3B9F-3B7F-59C13A8D898E}"/>
                </a:ext>
              </a:extLst>
            </p:cNvPr>
            <p:cNvSpPr/>
            <p:nvPr/>
          </p:nvSpPr>
          <p:spPr>
            <a:xfrm>
              <a:off x="8249530" y="5058218"/>
              <a:ext cx="540000"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431EDEAD-DF7D-0B8B-2088-8E89692DB1DC}"/>
                </a:ext>
              </a:extLst>
            </p:cNvPr>
            <p:cNvSpPr/>
            <p:nvPr/>
          </p:nvSpPr>
          <p:spPr>
            <a:xfrm>
              <a:off x="8827648" y="5058218"/>
              <a:ext cx="540000" cy="361950"/>
            </a:xfrm>
            <a:prstGeom prst="roundRect">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6BA60704-2070-7F98-6A02-6628762727E3}"/>
                </a:ext>
              </a:extLst>
            </p:cNvPr>
            <p:cNvSpPr/>
            <p:nvPr/>
          </p:nvSpPr>
          <p:spPr>
            <a:xfrm>
              <a:off x="9405766" y="5058218"/>
              <a:ext cx="540000"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A9500F62-C022-E249-E50C-9681540C9F0F}"/>
                </a:ext>
              </a:extLst>
            </p:cNvPr>
            <p:cNvSpPr/>
            <p:nvPr/>
          </p:nvSpPr>
          <p:spPr>
            <a:xfrm>
              <a:off x="9983884" y="5058218"/>
              <a:ext cx="54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DA9DBB1D-2F0D-2ECA-BCB4-EFCB9DA721F0}"/>
                </a:ext>
              </a:extLst>
            </p:cNvPr>
            <p:cNvSpPr/>
            <p:nvPr/>
          </p:nvSpPr>
          <p:spPr>
            <a:xfrm>
              <a:off x="10562000" y="505821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20" name="矩形: 圓角 19">
            <a:extLst>
              <a:ext uri="{FF2B5EF4-FFF2-40B4-BE49-F238E27FC236}">
                <a16:creationId xmlns:a16="http://schemas.microsoft.com/office/drawing/2014/main" id="{88D38C3B-72C6-37AF-28C4-E2A2667DBAE2}"/>
              </a:ext>
            </a:extLst>
          </p:cNvPr>
          <p:cNvSpPr/>
          <p:nvPr/>
        </p:nvSpPr>
        <p:spPr>
          <a:xfrm>
            <a:off x="978136" y="2431438"/>
            <a:ext cx="1729413"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FBA682F9-41E1-82FC-5836-AF854F17D58D}"/>
              </a:ext>
            </a:extLst>
          </p:cNvPr>
          <p:cNvSpPr/>
          <p:nvPr/>
        </p:nvSpPr>
        <p:spPr>
          <a:xfrm>
            <a:off x="2779131" y="2431438"/>
            <a:ext cx="1648259"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1CE1999E-77F1-0254-5FE5-FA602A5312C7}"/>
              </a:ext>
            </a:extLst>
          </p:cNvPr>
          <p:cNvSpPr/>
          <p:nvPr/>
        </p:nvSpPr>
        <p:spPr>
          <a:xfrm>
            <a:off x="4480023" y="2428956"/>
            <a:ext cx="1118116"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4" name="直線單箭頭接點 23">
            <a:extLst>
              <a:ext uri="{FF2B5EF4-FFF2-40B4-BE49-F238E27FC236}">
                <a16:creationId xmlns:a16="http://schemas.microsoft.com/office/drawing/2014/main" id="{93A704D0-E4D3-296A-08EB-FA5490A70664}"/>
              </a:ext>
            </a:extLst>
          </p:cNvPr>
          <p:cNvCxnSpPr>
            <a:cxnSpLocks/>
          </p:cNvCxnSpPr>
          <p:nvPr/>
        </p:nvCxnSpPr>
        <p:spPr>
          <a:xfrm>
            <a:off x="760184" y="2913568"/>
            <a:ext cx="0" cy="1558145"/>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文字方塊 24">
            <a:extLst>
              <a:ext uri="{FF2B5EF4-FFF2-40B4-BE49-F238E27FC236}">
                <a16:creationId xmlns:a16="http://schemas.microsoft.com/office/drawing/2014/main" id="{D4FDB75F-ACED-0634-3B92-A5DAB5B43672}"/>
              </a:ext>
            </a:extLst>
          </p:cNvPr>
          <p:cNvSpPr txBox="1"/>
          <p:nvPr/>
        </p:nvSpPr>
        <p:spPr>
          <a:xfrm>
            <a:off x="856128" y="3067812"/>
            <a:ext cx="325248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paired data available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58310D8C-89CA-319D-9F2A-3BADFD65C818}"/>
              </a:ext>
            </a:extLst>
          </p:cNvPr>
          <p:cNvSpPr/>
          <p:nvPr/>
        </p:nvSpPr>
        <p:spPr>
          <a:xfrm>
            <a:off x="6946068" y="2442759"/>
            <a:ext cx="1729413"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E535E9AF-8384-0FB5-20E9-155C6E3C876D}"/>
              </a:ext>
            </a:extLst>
          </p:cNvPr>
          <p:cNvSpPr/>
          <p:nvPr/>
        </p:nvSpPr>
        <p:spPr>
          <a:xfrm>
            <a:off x="10447955" y="2440277"/>
            <a:ext cx="1118116"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圓角 28">
            <a:extLst>
              <a:ext uri="{FF2B5EF4-FFF2-40B4-BE49-F238E27FC236}">
                <a16:creationId xmlns:a16="http://schemas.microsoft.com/office/drawing/2014/main" id="{C102B7A4-9371-4F5A-31E0-E3AF675C6D6B}"/>
              </a:ext>
            </a:extLst>
          </p:cNvPr>
          <p:cNvSpPr/>
          <p:nvPr/>
        </p:nvSpPr>
        <p:spPr>
          <a:xfrm>
            <a:off x="8713600" y="2428956"/>
            <a:ext cx="540000"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0E655F18-F90B-E5B5-49EB-850795814443}"/>
              </a:ext>
            </a:extLst>
          </p:cNvPr>
          <p:cNvSpPr/>
          <p:nvPr/>
        </p:nvSpPr>
        <p:spPr>
          <a:xfrm>
            <a:off x="9291718" y="2428956"/>
            <a:ext cx="540000" cy="361950"/>
          </a:xfrm>
          <a:prstGeom prst="roundRect">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矩形: 圓角 30">
            <a:extLst>
              <a:ext uri="{FF2B5EF4-FFF2-40B4-BE49-F238E27FC236}">
                <a16:creationId xmlns:a16="http://schemas.microsoft.com/office/drawing/2014/main" id="{8CCE25BD-477D-21D5-4724-DEAF350BB341}"/>
              </a:ext>
            </a:extLst>
          </p:cNvPr>
          <p:cNvSpPr/>
          <p:nvPr/>
        </p:nvSpPr>
        <p:spPr>
          <a:xfrm>
            <a:off x="9869836" y="2428956"/>
            <a:ext cx="540000"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矩形: 圓角 32">
            <a:extLst>
              <a:ext uri="{FF2B5EF4-FFF2-40B4-BE49-F238E27FC236}">
                <a16:creationId xmlns:a16="http://schemas.microsoft.com/office/drawing/2014/main" id="{2E0CEE29-16D4-3988-F1A3-CDD34B6624C6}"/>
              </a:ext>
            </a:extLst>
          </p:cNvPr>
          <p:cNvSpPr/>
          <p:nvPr/>
        </p:nvSpPr>
        <p:spPr>
          <a:xfrm>
            <a:off x="6974702" y="4480567"/>
            <a:ext cx="54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矩形: 圓角 33">
            <a:extLst>
              <a:ext uri="{FF2B5EF4-FFF2-40B4-BE49-F238E27FC236}">
                <a16:creationId xmlns:a16="http://schemas.microsoft.com/office/drawing/2014/main" id="{0E52C912-659D-8CF4-E142-E6FF901613A5}"/>
              </a:ext>
            </a:extLst>
          </p:cNvPr>
          <p:cNvSpPr/>
          <p:nvPr/>
        </p:nvSpPr>
        <p:spPr>
          <a:xfrm>
            <a:off x="7552820" y="4480567"/>
            <a:ext cx="54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矩形: 圓角 34">
            <a:extLst>
              <a:ext uri="{FF2B5EF4-FFF2-40B4-BE49-F238E27FC236}">
                <a16:creationId xmlns:a16="http://schemas.microsoft.com/office/drawing/2014/main" id="{F9D6804B-FFB1-F7CA-4933-6333E27C947C}"/>
              </a:ext>
            </a:extLst>
          </p:cNvPr>
          <p:cNvSpPr/>
          <p:nvPr/>
        </p:nvSpPr>
        <p:spPr>
          <a:xfrm>
            <a:off x="8130938" y="4480567"/>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矩形: 圓角 38">
            <a:extLst>
              <a:ext uri="{FF2B5EF4-FFF2-40B4-BE49-F238E27FC236}">
                <a16:creationId xmlns:a16="http://schemas.microsoft.com/office/drawing/2014/main" id="{9F8945B1-5BF0-A62A-6FC9-70A9DF873D4E}"/>
              </a:ext>
            </a:extLst>
          </p:cNvPr>
          <p:cNvSpPr/>
          <p:nvPr/>
        </p:nvSpPr>
        <p:spPr>
          <a:xfrm>
            <a:off x="10443410" y="4480567"/>
            <a:ext cx="54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矩形: 圓角 39">
            <a:extLst>
              <a:ext uri="{FF2B5EF4-FFF2-40B4-BE49-F238E27FC236}">
                <a16:creationId xmlns:a16="http://schemas.microsoft.com/office/drawing/2014/main" id="{8761962F-51C3-D20A-F2D0-9558BC014D1F}"/>
              </a:ext>
            </a:extLst>
          </p:cNvPr>
          <p:cNvSpPr/>
          <p:nvPr/>
        </p:nvSpPr>
        <p:spPr>
          <a:xfrm>
            <a:off x="11021526" y="4480567"/>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1" name="矩形: 圓角 40">
            <a:extLst>
              <a:ext uri="{FF2B5EF4-FFF2-40B4-BE49-F238E27FC236}">
                <a16:creationId xmlns:a16="http://schemas.microsoft.com/office/drawing/2014/main" id="{F936BFEE-0C48-F30E-B3FA-1FDE7C5B4B40}"/>
              </a:ext>
            </a:extLst>
          </p:cNvPr>
          <p:cNvSpPr/>
          <p:nvPr/>
        </p:nvSpPr>
        <p:spPr>
          <a:xfrm>
            <a:off x="8737588" y="4480567"/>
            <a:ext cx="1648259" cy="36195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44" name="群組 43">
            <a:extLst>
              <a:ext uri="{FF2B5EF4-FFF2-40B4-BE49-F238E27FC236}">
                <a16:creationId xmlns:a16="http://schemas.microsoft.com/office/drawing/2014/main" id="{4973AD28-127D-E48C-5E36-FF63812358FD}"/>
              </a:ext>
            </a:extLst>
          </p:cNvPr>
          <p:cNvGrpSpPr/>
          <p:nvPr/>
        </p:nvGrpSpPr>
        <p:grpSpPr>
          <a:xfrm>
            <a:off x="5270641" y="3061910"/>
            <a:ext cx="2244061" cy="1122716"/>
            <a:chOff x="5096487" y="3587131"/>
            <a:chExt cx="2244061" cy="1122716"/>
          </a:xfrm>
        </p:grpSpPr>
        <p:sp>
          <p:nvSpPr>
            <p:cNvPr id="43" name="箭號: 向右 42">
              <a:extLst>
                <a:ext uri="{FF2B5EF4-FFF2-40B4-BE49-F238E27FC236}">
                  <a16:creationId xmlns:a16="http://schemas.microsoft.com/office/drawing/2014/main" id="{2CEC81C8-BF23-452F-46FD-86EC8C8B5AD3}"/>
                </a:ext>
              </a:extLst>
            </p:cNvPr>
            <p:cNvSpPr/>
            <p:nvPr/>
          </p:nvSpPr>
          <p:spPr>
            <a:xfrm>
              <a:off x="5165182" y="3587131"/>
              <a:ext cx="2175366" cy="1122716"/>
            </a:xfrm>
            <a:prstGeom prst="rightArrow">
              <a:avLst>
                <a:gd name="adj1" fmla="val 65513"/>
                <a:gd name="adj2"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文字方塊 41">
              <a:extLst>
                <a:ext uri="{FF2B5EF4-FFF2-40B4-BE49-F238E27FC236}">
                  <a16:creationId xmlns:a16="http://schemas.microsoft.com/office/drawing/2014/main" id="{B0D0DD4E-407D-1E98-7411-5D0A1C24F601}"/>
                </a:ext>
              </a:extLst>
            </p:cNvPr>
            <p:cNvSpPr txBox="1"/>
            <p:nvPr/>
          </p:nvSpPr>
          <p:spPr>
            <a:xfrm>
              <a:off x="5096487" y="3864394"/>
              <a:ext cx="202805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interleaving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46" name="文字方塊 45">
            <a:extLst>
              <a:ext uri="{FF2B5EF4-FFF2-40B4-BE49-F238E27FC236}">
                <a16:creationId xmlns:a16="http://schemas.microsoft.com/office/drawing/2014/main" id="{B0ED0551-6517-7432-E1A6-A84DAAA2E7F0}"/>
              </a:ext>
            </a:extLst>
          </p:cNvPr>
          <p:cNvSpPr txBox="1"/>
          <p:nvPr/>
        </p:nvSpPr>
        <p:spPr>
          <a:xfrm>
            <a:off x="8559618" y="3140133"/>
            <a:ext cx="3217435"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Pre-training on hybrid sequences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文字方塊 17">
            <a:extLst>
              <a:ext uri="{FF2B5EF4-FFF2-40B4-BE49-F238E27FC236}">
                <a16:creationId xmlns:a16="http://schemas.microsoft.com/office/drawing/2014/main" id="{F04249D7-D23E-64AE-B73D-F8205405988E}"/>
              </a:ext>
            </a:extLst>
          </p:cNvPr>
          <p:cNvSpPr txBox="1"/>
          <p:nvPr/>
        </p:nvSpPr>
        <p:spPr>
          <a:xfrm>
            <a:off x="856128" y="3504138"/>
            <a:ext cx="424836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(Unlike typical pre-training, some labeling is required here.)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6247352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P spid="28" grpId="0" animBg="1"/>
      <p:bldP spid="29" grpId="0" animBg="1"/>
      <p:bldP spid="30" grpId="0" animBg="1"/>
      <p:bldP spid="31" grpId="0" animBg="1"/>
      <p:bldP spid="33" grpId="0" animBg="1"/>
      <p:bldP spid="34" grpId="0" animBg="1"/>
      <p:bldP spid="35" grpId="0" animBg="1"/>
      <p:bldP spid="39" grpId="0" animBg="1"/>
      <p:bldP spid="40" grpId="0" animBg="1"/>
      <p:bldP spid="41" grpId="0" animBg="1"/>
      <p:bldP spid="46" grpId="0"/>
      <p:bldP spid="1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749079-E256-29C6-EA41-6C2E57C378E0}"/>
              </a:ext>
            </a:extLst>
          </p:cNvPr>
          <p:cNvSpPr>
            <a:spLocks noGrp="1"/>
          </p:cNvSpPr>
          <p:nvPr>
            <p:ph type="title"/>
          </p:nvPr>
        </p:nvSpPr>
        <p:spPr/>
        <p:txBody>
          <a:bodyPr/>
          <a:lstStyle/>
          <a:p>
            <a:r>
              <a:rPr lang="en-US" altLang="zh-TW" dirty="0"/>
              <a:t>Text-Speech</a:t>
            </a:r>
            <a:r>
              <a:rPr lang="zh-TW" altLang="en-US" dirty="0"/>
              <a:t> </a:t>
            </a:r>
            <a:r>
              <a:rPr lang="en-US" altLang="zh-TW" dirty="0"/>
              <a:t>Hybrid Generation </a:t>
            </a:r>
            <a:endParaRPr lang="zh-TW" altLang="en-US" dirty="0"/>
          </a:p>
        </p:txBody>
      </p:sp>
      <p:sp>
        <p:nvSpPr>
          <p:cNvPr id="11" name="矩形: 圓角 10">
            <a:extLst>
              <a:ext uri="{FF2B5EF4-FFF2-40B4-BE49-F238E27FC236}">
                <a16:creationId xmlns:a16="http://schemas.microsoft.com/office/drawing/2014/main" id="{FCC072A1-2159-F326-5D54-7192A75B4874}"/>
              </a:ext>
            </a:extLst>
          </p:cNvPr>
          <p:cNvSpPr/>
          <p:nvPr/>
        </p:nvSpPr>
        <p:spPr>
          <a:xfrm>
            <a:off x="1386560" y="1527543"/>
            <a:ext cx="1907809" cy="1236330"/>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A5AD8907-0580-5194-70F7-47BE7F64E0EF}"/>
              </a:ext>
            </a:extLst>
          </p:cNvPr>
          <p:cNvSpPr/>
          <p:nvPr/>
        </p:nvSpPr>
        <p:spPr>
          <a:xfrm>
            <a:off x="1405610" y="3429000"/>
            <a:ext cx="1907809"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箭號: 向下 12">
            <a:extLst>
              <a:ext uri="{FF2B5EF4-FFF2-40B4-BE49-F238E27FC236}">
                <a16:creationId xmlns:a16="http://schemas.microsoft.com/office/drawing/2014/main" id="{C5A010F3-1E4D-47D1-3B0C-C7BBAAC7F3B7}"/>
              </a:ext>
            </a:extLst>
          </p:cNvPr>
          <p:cNvSpPr/>
          <p:nvPr/>
        </p:nvSpPr>
        <p:spPr>
          <a:xfrm>
            <a:off x="2076450" y="2803525"/>
            <a:ext cx="590550" cy="64210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4" name="文字方塊 13">
            <a:extLst>
              <a:ext uri="{FF2B5EF4-FFF2-40B4-BE49-F238E27FC236}">
                <a16:creationId xmlns:a16="http://schemas.microsoft.com/office/drawing/2014/main" id="{7ED11F90-B96B-1DDF-D1D0-775E0F8E0853}"/>
              </a:ext>
            </a:extLst>
          </p:cNvPr>
          <p:cNvSpPr txBox="1"/>
          <p:nvPr/>
        </p:nvSpPr>
        <p:spPr>
          <a:xfrm>
            <a:off x="0" y="2803525"/>
            <a:ext cx="207645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Initialization </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5" name="直線單箭頭接點 14">
            <a:extLst>
              <a:ext uri="{FF2B5EF4-FFF2-40B4-BE49-F238E27FC236}">
                <a16:creationId xmlns:a16="http://schemas.microsoft.com/office/drawing/2014/main" id="{44D77FF6-E0F8-4422-6EE5-3B0AAA825B77}"/>
              </a:ext>
            </a:extLst>
          </p:cNvPr>
          <p:cNvCxnSpPr>
            <a:cxnSpLocks/>
          </p:cNvCxnSpPr>
          <p:nvPr/>
        </p:nvCxnSpPr>
        <p:spPr>
          <a:xfrm>
            <a:off x="3510269" y="2163454"/>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圓角 17">
            <a:extLst>
              <a:ext uri="{FF2B5EF4-FFF2-40B4-BE49-F238E27FC236}">
                <a16:creationId xmlns:a16="http://schemas.microsoft.com/office/drawing/2014/main" id="{319537F7-BBE0-A4E6-7948-3AEF717453AD}"/>
              </a:ext>
            </a:extLst>
          </p:cNvPr>
          <p:cNvSpPr/>
          <p:nvPr/>
        </p:nvSpPr>
        <p:spPr>
          <a:xfrm>
            <a:off x="4543897" y="1972260"/>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BD428F4D-17E4-DBE7-5E17-E80F0E165D35}"/>
              </a:ext>
            </a:extLst>
          </p:cNvPr>
          <p:cNvSpPr/>
          <p:nvPr/>
        </p:nvSpPr>
        <p:spPr>
          <a:xfrm>
            <a:off x="5479797" y="1972260"/>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FD2AEBA0-69B4-6FDF-89CC-F3962C4621BE}"/>
              </a:ext>
            </a:extLst>
          </p:cNvPr>
          <p:cNvSpPr/>
          <p:nvPr/>
        </p:nvSpPr>
        <p:spPr>
          <a:xfrm>
            <a:off x="6415697" y="1972260"/>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1" name="直線單箭頭接點 20">
            <a:extLst>
              <a:ext uri="{FF2B5EF4-FFF2-40B4-BE49-F238E27FC236}">
                <a16:creationId xmlns:a16="http://schemas.microsoft.com/office/drawing/2014/main" id="{A89A77BF-FC23-3D20-4CDD-7A8FCCEE70FF}"/>
              </a:ext>
            </a:extLst>
          </p:cNvPr>
          <p:cNvCxnSpPr>
            <a:cxnSpLocks/>
          </p:cNvCxnSpPr>
          <p:nvPr/>
        </p:nvCxnSpPr>
        <p:spPr>
          <a:xfrm>
            <a:off x="3510269" y="4047165"/>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圓角 21">
            <a:extLst>
              <a:ext uri="{FF2B5EF4-FFF2-40B4-BE49-F238E27FC236}">
                <a16:creationId xmlns:a16="http://schemas.microsoft.com/office/drawing/2014/main" id="{F0578D75-835A-C300-4919-AE657559AE13}"/>
              </a:ext>
            </a:extLst>
          </p:cNvPr>
          <p:cNvSpPr/>
          <p:nvPr/>
        </p:nvSpPr>
        <p:spPr>
          <a:xfrm>
            <a:off x="4543897" y="3867165"/>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08159B2E-F6CB-3CAE-E9AA-90D34D65B0AF}"/>
              </a:ext>
            </a:extLst>
          </p:cNvPr>
          <p:cNvSpPr/>
          <p:nvPr/>
        </p:nvSpPr>
        <p:spPr>
          <a:xfrm>
            <a:off x="7072269" y="3867165"/>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697C8E51-ACFC-7126-A4BD-887C4ACFD8BA}"/>
              </a:ext>
            </a:extLst>
          </p:cNvPr>
          <p:cNvSpPr/>
          <p:nvPr/>
        </p:nvSpPr>
        <p:spPr>
          <a:xfrm>
            <a:off x="8986623" y="3867165"/>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468A72B9-6942-80CA-3E3F-838115BFC2E0}"/>
              </a:ext>
            </a:extLst>
          </p:cNvPr>
          <p:cNvSpPr/>
          <p:nvPr/>
        </p:nvSpPr>
        <p:spPr>
          <a:xfrm>
            <a:off x="5337450" y="3867165"/>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矩形: 圓角 26">
            <a:extLst>
              <a:ext uri="{FF2B5EF4-FFF2-40B4-BE49-F238E27FC236}">
                <a16:creationId xmlns:a16="http://schemas.microsoft.com/office/drawing/2014/main" id="{7986A2F4-F4B0-CCA1-55B4-3C43493BAA90}"/>
              </a:ext>
            </a:extLst>
          </p:cNvPr>
          <p:cNvSpPr/>
          <p:nvPr/>
        </p:nvSpPr>
        <p:spPr>
          <a:xfrm>
            <a:off x="5915568" y="3867165"/>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0D06A8A3-BCEF-031A-84AE-5755385D6190}"/>
              </a:ext>
            </a:extLst>
          </p:cNvPr>
          <p:cNvSpPr/>
          <p:nvPr/>
        </p:nvSpPr>
        <p:spPr>
          <a:xfrm>
            <a:off x="6493686" y="3867165"/>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圓角 28">
            <a:extLst>
              <a:ext uri="{FF2B5EF4-FFF2-40B4-BE49-F238E27FC236}">
                <a16:creationId xmlns:a16="http://schemas.microsoft.com/office/drawing/2014/main" id="{534FFBB5-9DB6-A92B-B0D2-390D2647F68F}"/>
              </a:ext>
            </a:extLst>
          </p:cNvPr>
          <p:cNvSpPr/>
          <p:nvPr/>
        </p:nvSpPr>
        <p:spPr>
          <a:xfrm>
            <a:off x="7830387" y="3867165"/>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AD53AAF1-8B37-ACB9-157C-4E41B6D80A58}"/>
              </a:ext>
            </a:extLst>
          </p:cNvPr>
          <p:cNvSpPr/>
          <p:nvPr/>
        </p:nvSpPr>
        <p:spPr>
          <a:xfrm>
            <a:off x="8408505" y="3867165"/>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矩形: 圓角 30">
            <a:extLst>
              <a:ext uri="{FF2B5EF4-FFF2-40B4-BE49-F238E27FC236}">
                <a16:creationId xmlns:a16="http://schemas.microsoft.com/office/drawing/2014/main" id="{1B938E4E-ADD5-EDB3-DDD6-FADB515D9799}"/>
              </a:ext>
            </a:extLst>
          </p:cNvPr>
          <p:cNvSpPr/>
          <p:nvPr/>
        </p:nvSpPr>
        <p:spPr>
          <a:xfrm>
            <a:off x="9744741" y="3865215"/>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矩形: 圓角 31">
            <a:extLst>
              <a:ext uri="{FF2B5EF4-FFF2-40B4-BE49-F238E27FC236}">
                <a16:creationId xmlns:a16="http://schemas.microsoft.com/office/drawing/2014/main" id="{0AEFDFF8-0697-F471-D539-76D9EEDADE4A}"/>
              </a:ext>
            </a:extLst>
          </p:cNvPr>
          <p:cNvSpPr/>
          <p:nvPr/>
        </p:nvSpPr>
        <p:spPr>
          <a:xfrm>
            <a:off x="10322859" y="3865215"/>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矩形: 圓角 32">
            <a:extLst>
              <a:ext uri="{FF2B5EF4-FFF2-40B4-BE49-F238E27FC236}">
                <a16:creationId xmlns:a16="http://schemas.microsoft.com/office/drawing/2014/main" id="{713F6276-7310-486E-FAEA-40495666458D}"/>
              </a:ext>
            </a:extLst>
          </p:cNvPr>
          <p:cNvSpPr/>
          <p:nvPr/>
        </p:nvSpPr>
        <p:spPr>
          <a:xfrm>
            <a:off x="10900975" y="3865215"/>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矩形: 圓角 33">
            <a:extLst>
              <a:ext uri="{FF2B5EF4-FFF2-40B4-BE49-F238E27FC236}">
                <a16:creationId xmlns:a16="http://schemas.microsoft.com/office/drawing/2014/main" id="{C378DAFB-35D6-C074-5E6E-9154BBB3A57D}"/>
              </a:ext>
            </a:extLst>
          </p:cNvPr>
          <p:cNvSpPr/>
          <p:nvPr/>
        </p:nvSpPr>
        <p:spPr>
          <a:xfrm>
            <a:off x="6889241" y="5113515"/>
            <a:ext cx="2625087" cy="687241"/>
          </a:xfrm>
          <a:prstGeom prst="roundRect">
            <a:avLst/>
          </a:prstGeom>
          <a:solidFill>
            <a:schemeClr val="accent6">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Detokenization</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35" name="群組 34">
            <a:extLst>
              <a:ext uri="{FF2B5EF4-FFF2-40B4-BE49-F238E27FC236}">
                <a16:creationId xmlns:a16="http://schemas.microsoft.com/office/drawing/2014/main" id="{A1151DC3-4CED-4E11-8652-78444A5246F6}"/>
              </a:ext>
            </a:extLst>
          </p:cNvPr>
          <p:cNvGrpSpPr/>
          <p:nvPr/>
        </p:nvGrpSpPr>
        <p:grpSpPr>
          <a:xfrm flipH="1">
            <a:off x="6672362" y="5988636"/>
            <a:ext cx="3058844" cy="830012"/>
            <a:chOff x="393073" y="5022255"/>
            <a:chExt cx="2117030" cy="878286"/>
          </a:xfrm>
        </p:grpSpPr>
        <p:pic>
          <p:nvPicPr>
            <p:cNvPr id="36"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4827CC8-A0D7-0234-07FC-621BBDC28C52}"/>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37"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C9DF61D0-98EE-D5E7-9E5B-E727776C83D4}"/>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cxnSp>
        <p:nvCxnSpPr>
          <p:cNvPr id="38" name="直線單箭頭接點 37">
            <a:extLst>
              <a:ext uri="{FF2B5EF4-FFF2-40B4-BE49-F238E27FC236}">
                <a16:creationId xmlns:a16="http://schemas.microsoft.com/office/drawing/2014/main" id="{A0C7370D-0040-E866-0CAC-F7FA12CB312A}"/>
              </a:ext>
            </a:extLst>
          </p:cNvPr>
          <p:cNvCxnSpPr>
            <a:cxnSpLocks/>
          </p:cNvCxnSpPr>
          <p:nvPr/>
        </p:nvCxnSpPr>
        <p:spPr>
          <a:xfrm>
            <a:off x="8216298" y="5842968"/>
            <a:ext cx="0" cy="34232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右大括弧 39">
            <a:extLst>
              <a:ext uri="{FF2B5EF4-FFF2-40B4-BE49-F238E27FC236}">
                <a16:creationId xmlns:a16="http://schemas.microsoft.com/office/drawing/2014/main" id="{43BEEDB7-4564-C412-46A2-C125BB3F7B9A}"/>
              </a:ext>
            </a:extLst>
          </p:cNvPr>
          <p:cNvSpPr/>
          <p:nvPr/>
        </p:nvSpPr>
        <p:spPr>
          <a:xfrm rot="5400000">
            <a:off x="6088353" y="3509456"/>
            <a:ext cx="194430" cy="1696236"/>
          </a:xfrm>
          <a:prstGeom prst="rightBrace">
            <a:avLst>
              <a:gd name="adj1" fmla="val 3538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1" name="右大括弧 40">
            <a:extLst>
              <a:ext uri="{FF2B5EF4-FFF2-40B4-BE49-F238E27FC236}">
                <a16:creationId xmlns:a16="http://schemas.microsoft.com/office/drawing/2014/main" id="{A0563ABA-F833-B11C-68F7-E19B401062B2}"/>
              </a:ext>
            </a:extLst>
          </p:cNvPr>
          <p:cNvSpPr/>
          <p:nvPr/>
        </p:nvSpPr>
        <p:spPr>
          <a:xfrm rot="5400000">
            <a:off x="10482109" y="3509456"/>
            <a:ext cx="194430" cy="1696236"/>
          </a:xfrm>
          <a:prstGeom prst="rightBrace">
            <a:avLst>
              <a:gd name="adj1" fmla="val 3538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2" name="右大括弧 41">
            <a:extLst>
              <a:ext uri="{FF2B5EF4-FFF2-40B4-BE49-F238E27FC236}">
                <a16:creationId xmlns:a16="http://schemas.microsoft.com/office/drawing/2014/main" id="{23237CC4-0762-E4A6-A68F-D4561A85D0E5}"/>
              </a:ext>
            </a:extLst>
          </p:cNvPr>
          <p:cNvSpPr/>
          <p:nvPr/>
        </p:nvSpPr>
        <p:spPr>
          <a:xfrm rot="5400000">
            <a:off x="8292231" y="3800233"/>
            <a:ext cx="194430" cy="1118118"/>
          </a:xfrm>
          <a:prstGeom prst="rightBrace">
            <a:avLst>
              <a:gd name="adj1" fmla="val 3538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44" name="直線接點 43">
            <a:extLst>
              <a:ext uri="{FF2B5EF4-FFF2-40B4-BE49-F238E27FC236}">
                <a16:creationId xmlns:a16="http://schemas.microsoft.com/office/drawing/2014/main" id="{F44808B3-13C9-D99B-4A80-947CB10DC76C}"/>
              </a:ext>
            </a:extLst>
          </p:cNvPr>
          <p:cNvCxnSpPr/>
          <p:nvPr/>
        </p:nvCxnSpPr>
        <p:spPr>
          <a:xfrm>
            <a:off x="6172571" y="4766930"/>
            <a:ext cx="439563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DD51F1A5-AC9A-AE9D-85CF-7603A913206B}"/>
              </a:ext>
            </a:extLst>
          </p:cNvPr>
          <p:cNvCxnSpPr>
            <a:cxnSpLocks/>
          </p:cNvCxnSpPr>
          <p:nvPr/>
        </p:nvCxnSpPr>
        <p:spPr>
          <a:xfrm>
            <a:off x="8202996" y="4766930"/>
            <a:ext cx="0" cy="346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5CBEC4BC-5881-A784-E704-4FE41356B861}"/>
              </a:ext>
            </a:extLst>
          </p:cNvPr>
          <p:cNvCxnSpPr>
            <a:cxnSpLocks/>
          </p:cNvCxnSpPr>
          <p:nvPr/>
        </p:nvCxnSpPr>
        <p:spPr>
          <a:xfrm>
            <a:off x="6185283" y="4420345"/>
            <a:ext cx="0" cy="346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1E9E759A-5D75-8B12-35F3-FD15C735795E}"/>
              </a:ext>
            </a:extLst>
          </p:cNvPr>
          <p:cNvCxnSpPr>
            <a:cxnSpLocks/>
          </p:cNvCxnSpPr>
          <p:nvPr/>
        </p:nvCxnSpPr>
        <p:spPr>
          <a:xfrm>
            <a:off x="8393991" y="4440275"/>
            <a:ext cx="0" cy="346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F1860A53-7E6C-712E-9044-A038C49EB2D3}"/>
              </a:ext>
            </a:extLst>
          </p:cNvPr>
          <p:cNvCxnSpPr>
            <a:cxnSpLocks/>
          </p:cNvCxnSpPr>
          <p:nvPr/>
        </p:nvCxnSpPr>
        <p:spPr>
          <a:xfrm>
            <a:off x="10582717" y="4439262"/>
            <a:ext cx="0" cy="346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文字方塊 50">
            <a:extLst>
              <a:ext uri="{FF2B5EF4-FFF2-40B4-BE49-F238E27FC236}">
                <a16:creationId xmlns:a16="http://schemas.microsoft.com/office/drawing/2014/main" id="{7BE3FA95-33E2-8AB1-F13D-DED3FDEDAE1A}"/>
              </a:ext>
            </a:extLst>
          </p:cNvPr>
          <p:cNvSpPr txBox="1"/>
          <p:nvPr/>
        </p:nvSpPr>
        <p:spPr>
          <a:xfrm>
            <a:off x="5121127" y="2857097"/>
            <a:ext cx="6161314" cy="461665"/>
          </a:xfrm>
          <a:prstGeom prst="rect">
            <a:avLst/>
          </a:prstGeom>
          <a:noFill/>
        </p:spPr>
        <p:txBody>
          <a:bodyPr wrap="square">
            <a:spAutoFit/>
          </a:bodyPr>
          <a:lstStyle/>
          <a:p>
            <a:r>
              <a:rPr lang="en-US" altLang="zh-TW" sz="2400" dirty="0"/>
              <a:t>Prevent forgetting the text LLM's capabilities.</a:t>
            </a:r>
            <a:endParaRPr lang="zh-TW" altLang="en-US" sz="2400" dirty="0"/>
          </a:p>
        </p:txBody>
      </p:sp>
      <p:cxnSp>
        <p:nvCxnSpPr>
          <p:cNvPr id="52" name="直線單箭頭接點 51">
            <a:extLst>
              <a:ext uri="{FF2B5EF4-FFF2-40B4-BE49-F238E27FC236}">
                <a16:creationId xmlns:a16="http://schemas.microsoft.com/office/drawing/2014/main" id="{54390F44-9B41-087D-2DCB-23F28A996471}"/>
              </a:ext>
            </a:extLst>
          </p:cNvPr>
          <p:cNvCxnSpPr>
            <a:cxnSpLocks/>
          </p:cNvCxnSpPr>
          <p:nvPr/>
        </p:nvCxnSpPr>
        <p:spPr>
          <a:xfrm flipV="1">
            <a:off x="4952237" y="3318762"/>
            <a:ext cx="655213" cy="546453"/>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3AF7C94A-28F0-09B7-9978-CEE1CD448F69}"/>
              </a:ext>
            </a:extLst>
          </p:cNvPr>
          <p:cNvCxnSpPr>
            <a:cxnSpLocks/>
          </p:cNvCxnSpPr>
          <p:nvPr/>
        </p:nvCxnSpPr>
        <p:spPr>
          <a:xfrm flipV="1">
            <a:off x="7398273" y="3305149"/>
            <a:ext cx="341591" cy="519804"/>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ED22A481-7A9A-94BB-B6B4-458CBB7B1DF6}"/>
              </a:ext>
            </a:extLst>
          </p:cNvPr>
          <p:cNvCxnSpPr>
            <a:cxnSpLocks/>
          </p:cNvCxnSpPr>
          <p:nvPr/>
        </p:nvCxnSpPr>
        <p:spPr>
          <a:xfrm flipH="1" flipV="1">
            <a:off x="8948505" y="3311956"/>
            <a:ext cx="430345" cy="519804"/>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88341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4" grpId="0" animBg="1"/>
      <p:bldP spid="40" grpId="0" animBg="1"/>
      <p:bldP spid="41" grpId="0" animBg="1"/>
      <p:bldP spid="42" grpId="0" animBg="1"/>
      <p:bldP spid="5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5F05C-61FC-D6FD-335D-A871EBD5C01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E08B897-CA6F-1C1A-6EAF-77876FA5E9D3}"/>
              </a:ext>
            </a:extLst>
          </p:cNvPr>
          <p:cNvSpPr>
            <a:spLocks noGrp="1"/>
          </p:cNvSpPr>
          <p:nvPr>
            <p:ph type="title"/>
          </p:nvPr>
        </p:nvSpPr>
        <p:spPr/>
        <p:txBody>
          <a:bodyPr/>
          <a:lstStyle/>
          <a:p>
            <a:r>
              <a:rPr lang="en-US" altLang="zh-TW" dirty="0"/>
              <a:t>Text-Speech</a:t>
            </a:r>
            <a:r>
              <a:rPr lang="zh-TW" altLang="en-US" dirty="0"/>
              <a:t> </a:t>
            </a:r>
            <a:r>
              <a:rPr lang="en-US" altLang="zh-TW" dirty="0"/>
              <a:t>Hybrid Generation  </a:t>
            </a:r>
            <a:endParaRPr lang="zh-TW" altLang="en-US" dirty="0"/>
          </a:p>
        </p:txBody>
      </p:sp>
      <p:grpSp>
        <p:nvGrpSpPr>
          <p:cNvPr id="35" name="群組 34">
            <a:extLst>
              <a:ext uri="{FF2B5EF4-FFF2-40B4-BE49-F238E27FC236}">
                <a16:creationId xmlns:a16="http://schemas.microsoft.com/office/drawing/2014/main" id="{7CE87A42-2D10-2750-A2D4-B7B0E4B79E20}"/>
              </a:ext>
            </a:extLst>
          </p:cNvPr>
          <p:cNvGrpSpPr/>
          <p:nvPr/>
        </p:nvGrpSpPr>
        <p:grpSpPr>
          <a:xfrm>
            <a:off x="2665383" y="5164435"/>
            <a:ext cx="2303649" cy="363217"/>
            <a:chOff x="2145432" y="4959987"/>
            <a:chExt cx="2303649" cy="363217"/>
          </a:xfrm>
        </p:grpSpPr>
        <p:sp>
          <p:nvSpPr>
            <p:cNvPr id="17" name="矩形: 圓角 16">
              <a:extLst>
                <a:ext uri="{FF2B5EF4-FFF2-40B4-BE49-F238E27FC236}">
                  <a16:creationId xmlns:a16="http://schemas.microsoft.com/office/drawing/2014/main" id="{821E0C54-D926-0AAE-B6E2-05F3419A46C3}"/>
                </a:ext>
              </a:extLst>
            </p:cNvPr>
            <p:cNvSpPr/>
            <p:nvPr/>
          </p:nvSpPr>
          <p:spPr>
            <a:xfrm>
              <a:off x="2145432" y="4959987"/>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EF9F183B-5B78-9A12-C7B4-77796F9EB795}"/>
                </a:ext>
              </a:extLst>
            </p:cNvPr>
            <p:cNvSpPr/>
            <p:nvPr/>
          </p:nvSpPr>
          <p:spPr>
            <a:xfrm>
              <a:off x="2939414" y="4959987"/>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1FFDF554-F848-B139-9546-6980184FD937}"/>
                </a:ext>
              </a:extLst>
            </p:cNvPr>
            <p:cNvSpPr/>
            <p:nvPr/>
          </p:nvSpPr>
          <p:spPr>
            <a:xfrm>
              <a:off x="3729081" y="4965244"/>
              <a:ext cx="720000" cy="35796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23" name="文字方塊 22">
            <a:extLst>
              <a:ext uri="{FF2B5EF4-FFF2-40B4-BE49-F238E27FC236}">
                <a16:creationId xmlns:a16="http://schemas.microsoft.com/office/drawing/2014/main" id="{09212ECD-8857-63D2-0426-3D2B6CB88430}"/>
              </a:ext>
            </a:extLst>
          </p:cNvPr>
          <p:cNvSpPr txBox="1"/>
          <p:nvPr/>
        </p:nvSpPr>
        <p:spPr>
          <a:xfrm>
            <a:off x="2635774" y="2201818"/>
            <a:ext cx="3743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文字方塊 27">
            <a:extLst>
              <a:ext uri="{FF2B5EF4-FFF2-40B4-BE49-F238E27FC236}">
                <a16:creationId xmlns:a16="http://schemas.microsoft.com/office/drawing/2014/main" id="{1726D56B-9440-B6FE-980D-C9DD082A6CA3}"/>
              </a:ext>
            </a:extLst>
          </p:cNvPr>
          <p:cNvSpPr txBox="1"/>
          <p:nvPr/>
        </p:nvSpPr>
        <p:spPr>
          <a:xfrm>
            <a:off x="2669267" y="5589023"/>
            <a:ext cx="3743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文字方塊 6">
            <a:extLst>
              <a:ext uri="{FF2B5EF4-FFF2-40B4-BE49-F238E27FC236}">
                <a16:creationId xmlns:a16="http://schemas.microsoft.com/office/drawing/2014/main" id="{91938426-DE8D-3691-B5DD-411F0984CC91}"/>
              </a:ext>
            </a:extLst>
          </p:cNvPr>
          <p:cNvSpPr txBox="1"/>
          <p:nvPr/>
        </p:nvSpPr>
        <p:spPr>
          <a:xfrm>
            <a:off x="4609032" y="1691305"/>
            <a:ext cx="775392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Each corresponds to a fixed period of time, such as 0.02s.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4" name="直線單箭頭接點 23">
            <a:extLst>
              <a:ext uri="{FF2B5EF4-FFF2-40B4-BE49-F238E27FC236}">
                <a16:creationId xmlns:a16="http://schemas.microsoft.com/office/drawing/2014/main" id="{12230E3F-48E5-EC60-8218-68B93E1C7E78}"/>
              </a:ext>
            </a:extLst>
          </p:cNvPr>
          <p:cNvCxnSpPr>
            <a:cxnSpLocks/>
          </p:cNvCxnSpPr>
          <p:nvPr/>
        </p:nvCxnSpPr>
        <p:spPr>
          <a:xfrm flipV="1">
            <a:off x="8310253" y="2248054"/>
            <a:ext cx="510398" cy="433225"/>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 name="矩形: 圓角 8">
            <a:extLst>
              <a:ext uri="{FF2B5EF4-FFF2-40B4-BE49-F238E27FC236}">
                <a16:creationId xmlns:a16="http://schemas.microsoft.com/office/drawing/2014/main" id="{30BEFAF5-0100-DC10-D6FE-579E92C31A91}"/>
              </a:ext>
            </a:extLst>
          </p:cNvPr>
          <p:cNvSpPr/>
          <p:nvPr/>
        </p:nvSpPr>
        <p:spPr>
          <a:xfrm>
            <a:off x="2665383"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78649272-B515-F974-04CE-9B491A5C6944}"/>
              </a:ext>
            </a:extLst>
          </p:cNvPr>
          <p:cNvSpPr/>
          <p:nvPr/>
        </p:nvSpPr>
        <p:spPr>
          <a:xfrm>
            <a:off x="3333237"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8CA0B82F-97E0-06A8-3EBC-1DB00CC21823}"/>
              </a:ext>
            </a:extLst>
          </p:cNvPr>
          <p:cNvSpPr/>
          <p:nvPr/>
        </p:nvSpPr>
        <p:spPr>
          <a:xfrm>
            <a:off x="4001091"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E216C364-5E99-F342-C0F0-52F39C7DD5D5}"/>
              </a:ext>
            </a:extLst>
          </p:cNvPr>
          <p:cNvSpPr/>
          <p:nvPr/>
        </p:nvSpPr>
        <p:spPr>
          <a:xfrm>
            <a:off x="4668945"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314B1C93-0E26-9057-2C66-66227C20070C}"/>
              </a:ext>
            </a:extLst>
          </p:cNvPr>
          <p:cNvSpPr/>
          <p:nvPr/>
        </p:nvSpPr>
        <p:spPr>
          <a:xfrm>
            <a:off x="9343923"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734747A2-E4BF-F70E-EA05-C539AFD7F6C5}"/>
              </a:ext>
            </a:extLst>
          </p:cNvPr>
          <p:cNvSpPr/>
          <p:nvPr/>
        </p:nvSpPr>
        <p:spPr>
          <a:xfrm>
            <a:off x="10011777"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0824C87D-15C1-C30B-B405-0B1A933EB32C}"/>
              </a:ext>
            </a:extLst>
          </p:cNvPr>
          <p:cNvSpPr/>
          <p:nvPr/>
        </p:nvSpPr>
        <p:spPr>
          <a:xfrm>
            <a:off x="10679632"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7556CACA-7182-95EE-2A5A-7494045D2F8E}"/>
              </a:ext>
            </a:extLst>
          </p:cNvPr>
          <p:cNvSpPr/>
          <p:nvPr/>
        </p:nvSpPr>
        <p:spPr>
          <a:xfrm>
            <a:off x="5336799"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E2FEFA41-D6C7-9917-A0EE-F62B3DAB72A2}"/>
              </a:ext>
            </a:extLst>
          </p:cNvPr>
          <p:cNvSpPr/>
          <p:nvPr/>
        </p:nvSpPr>
        <p:spPr>
          <a:xfrm>
            <a:off x="6004653"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圓角 28">
            <a:extLst>
              <a:ext uri="{FF2B5EF4-FFF2-40B4-BE49-F238E27FC236}">
                <a16:creationId xmlns:a16="http://schemas.microsoft.com/office/drawing/2014/main" id="{A10C3350-8FC1-1616-98FD-93AD55EBE2F9}"/>
              </a:ext>
            </a:extLst>
          </p:cNvPr>
          <p:cNvSpPr/>
          <p:nvPr/>
        </p:nvSpPr>
        <p:spPr>
          <a:xfrm>
            <a:off x="6672507"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3F713707-FF0D-21CE-D913-F8D12140A5E5}"/>
              </a:ext>
            </a:extLst>
          </p:cNvPr>
          <p:cNvSpPr/>
          <p:nvPr/>
        </p:nvSpPr>
        <p:spPr>
          <a:xfrm>
            <a:off x="7340361"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矩形: 圓角 30">
            <a:extLst>
              <a:ext uri="{FF2B5EF4-FFF2-40B4-BE49-F238E27FC236}">
                <a16:creationId xmlns:a16="http://schemas.microsoft.com/office/drawing/2014/main" id="{47D83749-740E-BFFB-30EF-3D74C06B2C05}"/>
              </a:ext>
            </a:extLst>
          </p:cNvPr>
          <p:cNvSpPr/>
          <p:nvPr/>
        </p:nvSpPr>
        <p:spPr>
          <a:xfrm>
            <a:off x="8008215"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矩形: 圓角 31">
            <a:extLst>
              <a:ext uri="{FF2B5EF4-FFF2-40B4-BE49-F238E27FC236}">
                <a16:creationId xmlns:a16="http://schemas.microsoft.com/office/drawing/2014/main" id="{AB43B177-2987-4C0D-5066-3C07F9CF9EA1}"/>
              </a:ext>
            </a:extLst>
          </p:cNvPr>
          <p:cNvSpPr/>
          <p:nvPr/>
        </p:nvSpPr>
        <p:spPr>
          <a:xfrm>
            <a:off x="8676069" y="27063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文字方塊 32">
            <a:extLst>
              <a:ext uri="{FF2B5EF4-FFF2-40B4-BE49-F238E27FC236}">
                <a16:creationId xmlns:a16="http://schemas.microsoft.com/office/drawing/2014/main" id="{02665208-2DF8-DA67-4A8A-0F9AD18CD330}"/>
              </a:ext>
            </a:extLst>
          </p:cNvPr>
          <p:cNvSpPr txBox="1"/>
          <p:nvPr/>
        </p:nvSpPr>
        <p:spPr>
          <a:xfrm>
            <a:off x="11305331" y="2526523"/>
            <a:ext cx="90723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文字方塊 36">
            <a:extLst>
              <a:ext uri="{FF2B5EF4-FFF2-40B4-BE49-F238E27FC236}">
                <a16:creationId xmlns:a16="http://schemas.microsoft.com/office/drawing/2014/main" id="{A74F566F-8B87-18FD-8C2D-303C36336A2D}"/>
              </a:ext>
            </a:extLst>
          </p:cNvPr>
          <p:cNvSpPr txBox="1"/>
          <p:nvPr/>
        </p:nvSpPr>
        <p:spPr>
          <a:xfrm>
            <a:off x="10594627" y="2178305"/>
            <a:ext cx="133570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longer</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文字方塊 37">
            <a:extLst>
              <a:ext uri="{FF2B5EF4-FFF2-40B4-BE49-F238E27FC236}">
                <a16:creationId xmlns:a16="http://schemas.microsoft.com/office/drawing/2014/main" id="{D989958E-7F88-63F9-2AEA-F363A20975E2}"/>
              </a:ext>
            </a:extLst>
          </p:cNvPr>
          <p:cNvSpPr txBox="1"/>
          <p:nvPr/>
        </p:nvSpPr>
        <p:spPr>
          <a:xfrm>
            <a:off x="4938944" y="5608296"/>
            <a:ext cx="133570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shorter</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39" name="群組 38">
            <a:extLst>
              <a:ext uri="{FF2B5EF4-FFF2-40B4-BE49-F238E27FC236}">
                <a16:creationId xmlns:a16="http://schemas.microsoft.com/office/drawing/2014/main" id="{D9F42C77-33A6-F0AD-BFE3-3C666746F70F}"/>
              </a:ext>
            </a:extLst>
          </p:cNvPr>
          <p:cNvGrpSpPr/>
          <p:nvPr/>
        </p:nvGrpSpPr>
        <p:grpSpPr>
          <a:xfrm flipH="1">
            <a:off x="274905" y="3429000"/>
            <a:ext cx="2360869" cy="830012"/>
            <a:chOff x="393073" y="5022255"/>
            <a:chExt cx="2117030" cy="878286"/>
          </a:xfrm>
        </p:grpSpPr>
        <p:pic>
          <p:nvPicPr>
            <p:cNvPr id="40"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7F945CC-9013-98EE-01C7-0115061D916D}"/>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42"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1486586-93D9-D16F-F374-A71C8393BB3C}"/>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43" name="文字方塊 42">
            <a:extLst>
              <a:ext uri="{FF2B5EF4-FFF2-40B4-BE49-F238E27FC236}">
                <a16:creationId xmlns:a16="http://schemas.microsoft.com/office/drawing/2014/main" id="{B4372A10-FB2F-ECDC-AFFB-C2D36D0B0D00}"/>
              </a:ext>
            </a:extLst>
          </p:cNvPr>
          <p:cNvSpPr txBox="1"/>
          <p:nvPr/>
        </p:nvSpPr>
        <p:spPr>
          <a:xfrm>
            <a:off x="597356" y="3962722"/>
            <a:ext cx="171430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 are you</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4" name="直線單箭頭接點 43">
            <a:extLst>
              <a:ext uri="{FF2B5EF4-FFF2-40B4-BE49-F238E27FC236}">
                <a16:creationId xmlns:a16="http://schemas.microsoft.com/office/drawing/2014/main" id="{9EBBDEC7-D371-4A15-C94D-9DB552AA2203}"/>
              </a:ext>
            </a:extLst>
          </p:cNvPr>
          <p:cNvCxnSpPr>
            <a:cxnSpLocks/>
          </p:cNvCxnSpPr>
          <p:nvPr/>
        </p:nvCxnSpPr>
        <p:spPr>
          <a:xfrm flipV="1">
            <a:off x="2055396" y="2907096"/>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349C8BA8-7660-DBA5-713F-F464B3D4AC38}"/>
              </a:ext>
            </a:extLst>
          </p:cNvPr>
          <p:cNvCxnSpPr>
            <a:cxnSpLocks/>
          </p:cNvCxnSpPr>
          <p:nvPr/>
        </p:nvCxnSpPr>
        <p:spPr>
          <a:xfrm>
            <a:off x="2055396" y="4536646"/>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B21CAD0B-54A4-B60B-3A4D-058017456DB6}"/>
              </a:ext>
            </a:extLst>
          </p:cNvPr>
          <p:cNvCxnSpPr>
            <a:cxnSpLocks/>
          </p:cNvCxnSpPr>
          <p:nvPr/>
        </p:nvCxnSpPr>
        <p:spPr>
          <a:xfrm flipH="1" flipV="1">
            <a:off x="2719197" y="3111159"/>
            <a:ext cx="7763" cy="1994524"/>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線單箭頭接點 48">
            <a:extLst>
              <a:ext uri="{FF2B5EF4-FFF2-40B4-BE49-F238E27FC236}">
                <a16:creationId xmlns:a16="http://schemas.microsoft.com/office/drawing/2014/main" id="{5839717A-585C-02D2-09BA-47FB6CEC23BE}"/>
              </a:ext>
            </a:extLst>
          </p:cNvPr>
          <p:cNvCxnSpPr>
            <a:cxnSpLocks/>
          </p:cNvCxnSpPr>
          <p:nvPr/>
        </p:nvCxnSpPr>
        <p:spPr>
          <a:xfrm flipV="1">
            <a:off x="3416707" y="3163380"/>
            <a:ext cx="3795800" cy="2027368"/>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9521CC8F-EA7B-3DE4-0F75-B826A9E20E6E}"/>
              </a:ext>
            </a:extLst>
          </p:cNvPr>
          <p:cNvCxnSpPr>
            <a:cxnSpLocks/>
          </p:cNvCxnSpPr>
          <p:nvPr/>
        </p:nvCxnSpPr>
        <p:spPr>
          <a:xfrm flipV="1">
            <a:off x="4242866" y="3235272"/>
            <a:ext cx="4322586" cy="1889126"/>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線單箭頭接點 52">
            <a:extLst>
              <a:ext uri="{FF2B5EF4-FFF2-40B4-BE49-F238E27FC236}">
                <a16:creationId xmlns:a16="http://schemas.microsoft.com/office/drawing/2014/main" id="{7BE96275-FF65-7490-23DA-F833EDAE909C}"/>
              </a:ext>
            </a:extLst>
          </p:cNvPr>
          <p:cNvCxnSpPr>
            <a:cxnSpLocks/>
          </p:cNvCxnSpPr>
          <p:nvPr/>
        </p:nvCxnSpPr>
        <p:spPr>
          <a:xfrm flipV="1">
            <a:off x="4971846" y="3198812"/>
            <a:ext cx="6208619" cy="1968500"/>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文字方塊 55">
            <a:extLst>
              <a:ext uri="{FF2B5EF4-FFF2-40B4-BE49-F238E27FC236}">
                <a16:creationId xmlns:a16="http://schemas.microsoft.com/office/drawing/2014/main" id="{78A350CA-5EA4-06A1-5FF2-8BAEF60DF616}"/>
              </a:ext>
            </a:extLst>
          </p:cNvPr>
          <p:cNvSpPr txBox="1"/>
          <p:nvPr/>
        </p:nvSpPr>
        <p:spPr>
          <a:xfrm>
            <a:off x="6861280" y="4926220"/>
            <a:ext cx="5505286"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Complex Alignment: Each text token corresponds to a different number of speech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8187105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5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E2FE3-2C7D-5CA7-E518-F4CF90C68185}"/>
            </a:ext>
          </a:extLst>
        </p:cNvPr>
        <p:cNvGrpSpPr/>
        <p:nvPr/>
      </p:nvGrpSpPr>
      <p:grpSpPr>
        <a:xfrm>
          <a:off x="0" y="0"/>
          <a:ext cx="0" cy="0"/>
          <a:chOff x="0" y="0"/>
          <a:chExt cx="0" cy="0"/>
        </a:xfrm>
      </p:grpSpPr>
      <p:sp>
        <p:nvSpPr>
          <p:cNvPr id="7" name="文字方塊 6">
            <a:extLst>
              <a:ext uri="{FF2B5EF4-FFF2-40B4-BE49-F238E27FC236}">
                <a16:creationId xmlns:a16="http://schemas.microsoft.com/office/drawing/2014/main" id="{21265D84-4AF1-A97E-664A-73BF0B27569B}"/>
              </a:ext>
            </a:extLst>
          </p:cNvPr>
          <p:cNvSpPr txBox="1"/>
          <p:nvPr/>
        </p:nvSpPr>
        <p:spPr>
          <a:xfrm>
            <a:off x="395058" y="695994"/>
            <a:ext cx="34315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https://arxiv.org/abs/2305.15255</a:t>
            </a:r>
          </a:p>
        </p:txBody>
      </p:sp>
      <p:grpSp>
        <p:nvGrpSpPr>
          <p:cNvPr id="8" name="群組 7">
            <a:extLst>
              <a:ext uri="{FF2B5EF4-FFF2-40B4-BE49-F238E27FC236}">
                <a16:creationId xmlns:a16="http://schemas.microsoft.com/office/drawing/2014/main" id="{73CBFF64-D6B5-863D-E27C-068382E9BAE4}"/>
              </a:ext>
            </a:extLst>
          </p:cNvPr>
          <p:cNvGrpSpPr/>
          <p:nvPr/>
        </p:nvGrpSpPr>
        <p:grpSpPr>
          <a:xfrm>
            <a:off x="6455432" y="1446409"/>
            <a:ext cx="4586824" cy="361950"/>
            <a:chOff x="6515176" y="5058218"/>
            <a:chExt cx="4586824" cy="361950"/>
          </a:xfrm>
          <a:solidFill>
            <a:schemeClr val="accent2">
              <a:lumMod val="20000"/>
              <a:lumOff val="80000"/>
            </a:schemeClr>
          </a:solidFill>
        </p:grpSpPr>
        <p:sp>
          <p:nvSpPr>
            <p:cNvPr id="9" name="矩形: 圓角 8">
              <a:extLst>
                <a:ext uri="{FF2B5EF4-FFF2-40B4-BE49-F238E27FC236}">
                  <a16:creationId xmlns:a16="http://schemas.microsoft.com/office/drawing/2014/main" id="{63AED4B4-723F-E5A7-2215-F2421DDA523D}"/>
                </a:ext>
              </a:extLst>
            </p:cNvPr>
            <p:cNvSpPr/>
            <p:nvPr/>
          </p:nvSpPr>
          <p:spPr>
            <a:xfrm>
              <a:off x="6515176" y="5058218"/>
              <a:ext cx="540000"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807432C3-639A-E017-8494-E4F1387B7120}"/>
                </a:ext>
              </a:extLst>
            </p:cNvPr>
            <p:cNvSpPr/>
            <p:nvPr/>
          </p:nvSpPr>
          <p:spPr>
            <a:xfrm>
              <a:off x="7093294" y="5058218"/>
              <a:ext cx="540000"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0A34F706-B375-4D54-4EF7-BF1ECB79C959}"/>
                </a:ext>
              </a:extLst>
            </p:cNvPr>
            <p:cNvSpPr/>
            <p:nvPr/>
          </p:nvSpPr>
          <p:spPr>
            <a:xfrm>
              <a:off x="7671412" y="5058218"/>
              <a:ext cx="540000"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04843E6D-C947-DABA-9529-73AD758DA636}"/>
                </a:ext>
              </a:extLst>
            </p:cNvPr>
            <p:cNvSpPr/>
            <p:nvPr/>
          </p:nvSpPr>
          <p:spPr>
            <a:xfrm>
              <a:off x="8249530" y="5058218"/>
              <a:ext cx="540000"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047168A0-1D89-961A-23E8-02F96EACDCD6}"/>
                </a:ext>
              </a:extLst>
            </p:cNvPr>
            <p:cNvSpPr/>
            <p:nvPr/>
          </p:nvSpPr>
          <p:spPr>
            <a:xfrm>
              <a:off x="8827648" y="5058218"/>
              <a:ext cx="540000"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90490E25-7604-DC71-DE96-876D97A00EF3}"/>
                </a:ext>
              </a:extLst>
            </p:cNvPr>
            <p:cNvSpPr/>
            <p:nvPr/>
          </p:nvSpPr>
          <p:spPr>
            <a:xfrm>
              <a:off x="9405766" y="5058218"/>
              <a:ext cx="540000"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ED4FC05F-047A-AAFA-0CF7-164043A5174E}"/>
                </a:ext>
              </a:extLst>
            </p:cNvPr>
            <p:cNvSpPr/>
            <p:nvPr/>
          </p:nvSpPr>
          <p:spPr>
            <a:xfrm>
              <a:off x="9983884" y="5058218"/>
              <a:ext cx="540000"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CF7648BB-D9E3-6AC8-31CB-7424E62AE0C4}"/>
                </a:ext>
              </a:extLst>
            </p:cNvPr>
            <p:cNvSpPr/>
            <p:nvPr/>
          </p:nvSpPr>
          <p:spPr>
            <a:xfrm>
              <a:off x="10562000" y="5058218"/>
              <a:ext cx="540000"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nvGrpSpPr>
          <p:cNvPr id="20" name="群組 19">
            <a:extLst>
              <a:ext uri="{FF2B5EF4-FFF2-40B4-BE49-F238E27FC236}">
                <a16:creationId xmlns:a16="http://schemas.microsoft.com/office/drawing/2014/main" id="{912C08E4-BAA8-9AD8-3153-46A332C8889B}"/>
              </a:ext>
            </a:extLst>
          </p:cNvPr>
          <p:cNvGrpSpPr/>
          <p:nvPr/>
        </p:nvGrpSpPr>
        <p:grpSpPr>
          <a:xfrm>
            <a:off x="1628262" y="1446409"/>
            <a:ext cx="4620003" cy="364432"/>
            <a:chOff x="902908" y="1690688"/>
            <a:chExt cx="4620003" cy="364432"/>
          </a:xfrm>
          <a:solidFill>
            <a:schemeClr val="accent4">
              <a:lumMod val="20000"/>
              <a:lumOff val="80000"/>
            </a:schemeClr>
          </a:solidFill>
        </p:grpSpPr>
        <p:sp>
          <p:nvSpPr>
            <p:cNvPr id="17" name="矩形: 圓角 16">
              <a:extLst>
                <a:ext uri="{FF2B5EF4-FFF2-40B4-BE49-F238E27FC236}">
                  <a16:creationId xmlns:a16="http://schemas.microsoft.com/office/drawing/2014/main" id="{261B751C-A1D4-27B9-45B5-D863B3F183FE}"/>
                </a:ext>
              </a:extLst>
            </p:cNvPr>
            <p:cNvSpPr/>
            <p:nvPr/>
          </p:nvSpPr>
          <p:spPr>
            <a:xfrm>
              <a:off x="902908" y="1693170"/>
              <a:ext cx="1729413"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3AA3D89D-7777-5D48-F57F-2981E9D621D4}"/>
                </a:ext>
              </a:extLst>
            </p:cNvPr>
            <p:cNvSpPr/>
            <p:nvPr/>
          </p:nvSpPr>
          <p:spPr>
            <a:xfrm>
              <a:off x="2703903" y="1693170"/>
              <a:ext cx="1648259"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D7AC424D-EF15-AF1D-E6D7-8E834D3BC360}"/>
                </a:ext>
              </a:extLst>
            </p:cNvPr>
            <p:cNvSpPr/>
            <p:nvPr/>
          </p:nvSpPr>
          <p:spPr>
            <a:xfrm>
              <a:off x="4404795" y="1690688"/>
              <a:ext cx="1118116" cy="361950"/>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21" name="文字方塊 20">
            <a:extLst>
              <a:ext uri="{FF2B5EF4-FFF2-40B4-BE49-F238E27FC236}">
                <a16:creationId xmlns:a16="http://schemas.microsoft.com/office/drawing/2014/main" id="{96003087-79A4-4D03-23C3-E11D0E2B8CE7}"/>
              </a:ext>
            </a:extLst>
          </p:cNvPr>
          <p:cNvSpPr txBox="1"/>
          <p:nvPr/>
        </p:nvSpPr>
        <p:spPr>
          <a:xfrm>
            <a:off x="399380" y="261804"/>
            <a:ext cx="999915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then speech</a:t>
            </a:r>
            <a:r>
              <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(sentence-level):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文字方塊 21">
            <a:extLst>
              <a:ext uri="{FF2B5EF4-FFF2-40B4-BE49-F238E27FC236}">
                <a16:creationId xmlns:a16="http://schemas.microsoft.com/office/drawing/2014/main" id="{5D704C59-400A-C2B5-6183-AA958F94CACB}"/>
              </a:ext>
            </a:extLst>
          </p:cNvPr>
          <p:cNvSpPr txBox="1"/>
          <p:nvPr/>
        </p:nvSpPr>
        <p:spPr>
          <a:xfrm>
            <a:off x="8056134" y="1979166"/>
            <a:ext cx="397699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Drawback: cannot streaming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文字方塊 22">
            <a:extLst>
              <a:ext uri="{FF2B5EF4-FFF2-40B4-BE49-F238E27FC236}">
                <a16:creationId xmlns:a16="http://schemas.microsoft.com/office/drawing/2014/main" id="{B0AF2126-6902-1E89-A027-78E218B99B64}"/>
              </a:ext>
            </a:extLst>
          </p:cNvPr>
          <p:cNvSpPr txBox="1"/>
          <p:nvPr/>
        </p:nvSpPr>
        <p:spPr>
          <a:xfrm>
            <a:off x="399380" y="2256504"/>
            <a:ext cx="999915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then speech (</a:t>
            </a:r>
            <a:r>
              <a:rPr lang="en-US" altLang="zh-TW" sz="2800" dirty="0">
                <a:solidFill>
                  <a:prstClr val="black"/>
                </a:solidFill>
                <a:latin typeface="Calibri" panose="020F0502020204030204"/>
                <a:ea typeface="新細明體" panose="02020500000000000000" pitchFamily="18" charset="-120"/>
              </a:rPr>
              <a:t>word</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-level):</a:t>
            </a:r>
            <a:r>
              <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p>
        </p:txBody>
      </p:sp>
      <p:sp>
        <p:nvSpPr>
          <p:cNvPr id="25" name="矩形: 圓角 24">
            <a:extLst>
              <a:ext uri="{FF2B5EF4-FFF2-40B4-BE49-F238E27FC236}">
                <a16:creationId xmlns:a16="http://schemas.microsoft.com/office/drawing/2014/main" id="{859EB76A-0005-129E-AF7F-0544A1D9BB7A}"/>
              </a:ext>
            </a:extLst>
          </p:cNvPr>
          <p:cNvSpPr/>
          <p:nvPr/>
        </p:nvSpPr>
        <p:spPr>
          <a:xfrm>
            <a:off x="1594425" y="3468670"/>
            <a:ext cx="1729413"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D3F4C714-930B-3F33-99FF-8DCD520B5AEC}"/>
              </a:ext>
            </a:extLst>
          </p:cNvPr>
          <p:cNvSpPr/>
          <p:nvPr/>
        </p:nvSpPr>
        <p:spPr>
          <a:xfrm>
            <a:off x="5130149" y="3468670"/>
            <a:ext cx="1648259"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矩形: 圓角 26">
            <a:extLst>
              <a:ext uri="{FF2B5EF4-FFF2-40B4-BE49-F238E27FC236}">
                <a16:creationId xmlns:a16="http://schemas.microsoft.com/office/drawing/2014/main" id="{631C130C-A93D-BFD0-E52C-18C22A0A1DD8}"/>
              </a:ext>
            </a:extLst>
          </p:cNvPr>
          <p:cNvSpPr/>
          <p:nvPr/>
        </p:nvSpPr>
        <p:spPr>
          <a:xfrm>
            <a:off x="8616946" y="3466188"/>
            <a:ext cx="1118116"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圓角 28">
            <a:extLst>
              <a:ext uri="{FF2B5EF4-FFF2-40B4-BE49-F238E27FC236}">
                <a16:creationId xmlns:a16="http://schemas.microsoft.com/office/drawing/2014/main" id="{463F5ADF-CCEB-EB8A-742A-4759F9D83235}"/>
              </a:ext>
            </a:extLst>
          </p:cNvPr>
          <p:cNvSpPr/>
          <p:nvPr/>
        </p:nvSpPr>
        <p:spPr>
          <a:xfrm>
            <a:off x="3395795" y="3468670"/>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C843F2EF-9E91-5674-0C8C-94DF4CD51714}"/>
              </a:ext>
            </a:extLst>
          </p:cNvPr>
          <p:cNvSpPr/>
          <p:nvPr/>
        </p:nvSpPr>
        <p:spPr>
          <a:xfrm>
            <a:off x="3973913" y="3468670"/>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矩形: 圓角 30">
            <a:extLst>
              <a:ext uri="{FF2B5EF4-FFF2-40B4-BE49-F238E27FC236}">
                <a16:creationId xmlns:a16="http://schemas.microsoft.com/office/drawing/2014/main" id="{99E5418F-8CA9-73FF-FB09-545469BBF98F}"/>
              </a:ext>
            </a:extLst>
          </p:cNvPr>
          <p:cNvSpPr/>
          <p:nvPr/>
        </p:nvSpPr>
        <p:spPr>
          <a:xfrm>
            <a:off x="4552031" y="3468670"/>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矩形: 圓角 31">
            <a:extLst>
              <a:ext uri="{FF2B5EF4-FFF2-40B4-BE49-F238E27FC236}">
                <a16:creationId xmlns:a16="http://schemas.microsoft.com/office/drawing/2014/main" id="{3FED7700-E65A-DDEF-96C5-CA5BB4891FE5}"/>
              </a:ext>
            </a:extLst>
          </p:cNvPr>
          <p:cNvSpPr/>
          <p:nvPr/>
        </p:nvSpPr>
        <p:spPr>
          <a:xfrm>
            <a:off x="6848753" y="346618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矩形: 圓角 32">
            <a:extLst>
              <a:ext uri="{FF2B5EF4-FFF2-40B4-BE49-F238E27FC236}">
                <a16:creationId xmlns:a16="http://schemas.microsoft.com/office/drawing/2014/main" id="{C3C50B87-9FCD-0BCB-6CDD-8F5C98818B56}"/>
              </a:ext>
            </a:extLst>
          </p:cNvPr>
          <p:cNvSpPr/>
          <p:nvPr/>
        </p:nvSpPr>
        <p:spPr>
          <a:xfrm>
            <a:off x="7426871" y="346618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矩形: 圓角 33">
            <a:extLst>
              <a:ext uri="{FF2B5EF4-FFF2-40B4-BE49-F238E27FC236}">
                <a16:creationId xmlns:a16="http://schemas.microsoft.com/office/drawing/2014/main" id="{CD1F0A97-A951-806D-618B-B6C9CFA62F00}"/>
              </a:ext>
            </a:extLst>
          </p:cNvPr>
          <p:cNvSpPr/>
          <p:nvPr/>
        </p:nvSpPr>
        <p:spPr>
          <a:xfrm>
            <a:off x="8004989" y="346618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矩形: 圓角 34">
            <a:extLst>
              <a:ext uri="{FF2B5EF4-FFF2-40B4-BE49-F238E27FC236}">
                <a16:creationId xmlns:a16="http://schemas.microsoft.com/office/drawing/2014/main" id="{9E84C43C-5C7A-F344-8A43-BC55D7AB93BF}"/>
              </a:ext>
            </a:extLst>
          </p:cNvPr>
          <p:cNvSpPr/>
          <p:nvPr/>
        </p:nvSpPr>
        <p:spPr>
          <a:xfrm>
            <a:off x="9786583" y="346618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矩形: 圓角 35">
            <a:extLst>
              <a:ext uri="{FF2B5EF4-FFF2-40B4-BE49-F238E27FC236}">
                <a16:creationId xmlns:a16="http://schemas.microsoft.com/office/drawing/2014/main" id="{B9374F5A-FF30-97F5-E5D9-02C9798BBEB2}"/>
              </a:ext>
            </a:extLst>
          </p:cNvPr>
          <p:cNvSpPr/>
          <p:nvPr/>
        </p:nvSpPr>
        <p:spPr>
          <a:xfrm>
            <a:off x="10364699" y="346618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文字方塊 5">
            <a:extLst>
              <a:ext uri="{FF2B5EF4-FFF2-40B4-BE49-F238E27FC236}">
                <a16:creationId xmlns:a16="http://schemas.microsoft.com/office/drawing/2014/main" id="{9A55959D-A679-B2CC-ADB0-43344DDDCB1F}"/>
              </a:ext>
            </a:extLst>
          </p:cNvPr>
          <p:cNvSpPr txBox="1"/>
          <p:nvPr/>
        </p:nvSpPr>
        <p:spPr>
          <a:xfrm>
            <a:off x="4086932" y="3888710"/>
            <a:ext cx="812947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We need alignment between text and speech during training.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文字方塊 23">
            <a:extLst>
              <a:ext uri="{FF2B5EF4-FFF2-40B4-BE49-F238E27FC236}">
                <a16:creationId xmlns:a16="http://schemas.microsoft.com/office/drawing/2014/main" id="{A71F4CC5-1E9E-4DBA-A983-7845D95DAE7B}"/>
              </a:ext>
            </a:extLst>
          </p:cNvPr>
          <p:cNvSpPr txBox="1"/>
          <p:nvPr/>
        </p:nvSpPr>
        <p:spPr>
          <a:xfrm>
            <a:off x="7236439" y="785024"/>
            <a:ext cx="274108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This is almost TTS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7" name="直線單箭頭接點 36">
            <a:extLst>
              <a:ext uri="{FF2B5EF4-FFF2-40B4-BE49-F238E27FC236}">
                <a16:creationId xmlns:a16="http://schemas.microsoft.com/office/drawing/2014/main" id="{B5B65EF1-7D6E-C6A8-AEDF-22C1F5E89174}"/>
              </a:ext>
            </a:extLst>
          </p:cNvPr>
          <p:cNvCxnSpPr>
            <a:cxnSpLocks/>
          </p:cNvCxnSpPr>
          <p:nvPr/>
        </p:nvCxnSpPr>
        <p:spPr>
          <a:xfrm flipV="1">
            <a:off x="5634065" y="900398"/>
            <a:ext cx="271107" cy="443982"/>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9B93A951-2C04-17A5-74D8-4639A126A0F1}"/>
              </a:ext>
            </a:extLst>
          </p:cNvPr>
          <p:cNvCxnSpPr>
            <a:cxnSpLocks/>
          </p:cNvCxnSpPr>
          <p:nvPr/>
        </p:nvCxnSpPr>
        <p:spPr>
          <a:xfrm>
            <a:off x="6769061" y="900398"/>
            <a:ext cx="271107" cy="44398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C481A97E-E6E6-55D1-A9E6-54536F119F14}"/>
              </a:ext>
            </a:extLst>
          </p:cNvPr>
          <p:cNvCxnSpPr/>
          <p:nvPr/>
        </p:nvCxnSpPr>
        <p:spPr>
          <a:xfrm>
            <a:off x="5905172" y="929296"/>
            <a:ext cx="8612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字方塊 3">
            <a:extLst>
              <a:ext uri="{FF2B5EF4-FFF2-40B4-BE49-F238E27FC236}">
                <a16:creationId xmlns:a16="http://schemas.microsoft.com/office/drawing/2014/main" id="{C99C4C80-3809-69CC-F17F-E005FE007370}"/>
              </a:ext>
            </a:extLst>
          </p:cNvPr>
          <p:cNvSpPr txBox="1"/>
          <p:nvPr/>
        </p:nvSpPr>
        <p:spPr>
          <a:xfrm>
            <a:off x="434295" y="2737421"/>
            <a:ext cx="6098874" cy="646331"/>
          </a:xfrm>
          <a:prstGeom prst="rect">
            <a:avLst/>
          </a:prstGeom>
          <a:noFill/>
        </p:spPr>
        <p:txBody>
          <a:bodyPr wrap="square">
            <a:spAutoFit/>
          </a:bodyPr>
          <a:lstStyle/>
          <a:p>
            <a:r>
              <a:rPr lang="en-US" altLang="zh-TW" dirty="0"/>
              <a:t>https://arxiv.org/abs/2411.07111</a:t>
            </a:r>
          </a:p>
          <a:p>
            <a:r>
              <a:rPr lang="zh-TW" altLang="en-US" dirty="0"/>
              <a:t>https://arxiv.org/abs/2505.17496</a:t>
            </a:r>
          </a:p>
        </p:txBody>
      </p:sp>
      <p:sp>
        <p:nvSpPr>
          <p:cNvPr id="2" name="文字方塊 1">
            <a:extLst>
              <a:ext uri="{FF2B5EF4-FFF2-40B4-BE49-F238E27FC236}">
                <a16:creationId xmlns:a16="http://schemas.microsoft.com/office/drawing/2014/main" id="{9EA0504F-3804-DFFC-579B-FBAA08F8C7E6}"/>
              </a:ext>
            </a:extLst>
          </p:cNvPr>
          <p:cNvSpPr txBox="1"/>
          <p:nvPr/>
        </p:nvSpPr>
        <p:spPr>
          <a:xfrm>
            <a:off x="399380" y="4518141"/>
            <a:ext cx="999915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then speech (</a:t>
            </a:r>
            <a:r>
              <a:rPr lang="en-US" altLang="zh-TW" sz="2800" dirty="0">
                <a:solidFill>
                  <a:prstClr val="black"/>
                </a:solidFill>
                <a:latin typeface="Calibri" panose="020F0502020204030204"/>
                <a:ea typeface="新細明體" panose="02020500000000000000" pitchFamily="18" charset="-120"/>
              </a:rPr>
              <a:t>chunk</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-level):</a:t>
            </a:r>
            <a:r>
              <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p>
        </p:txBody>
      </p:sp>
      <p:sp>
        <p:nvSpPr>
          <p:cNvPr id="3" name="矩形: 圓角 2">
            <a:extLst>
              <a:ext uri="{FF2B5EF4-FFF2-40B4-BE49-F238E27FC236}">
                <a16:creationId xmlns:a16="http://schemas.microsoft.com/office/drawing/2014/main" id="{94E774B0-E596-0EF5-4701-3BAEE581F12C}"/>
              </a:ext>
            </a:extLst>
          </p:cNvPr>
          <p:cNvSpPr/>
          <p:nvPr/>
        </p:nvSpPr>
        <p:spPr>
          <a:xfrm>
            <a:off x="1042648" y="5636254"/>
            <a:ext cx="180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矩形: 圓角 4">
            <a:extLst>
              <a:ext uri="{FF2B5EF4-FFF2-40B4-BE49-F238E27FC236}">
                <a16:creationId xmlns:a16="http://schemas.microsoft.com/office/drawing/2014/main" id="{21550703-3AD5-EC86-F2E7-98F7C27D10E5}"/>
              </a:ext>
            </a:extLst>
          </p:cNvPr>
          <p:cNvSpPr/>
          <p:nvPr/>
        </p:nvSpPr>
        <p:spPr>
          <a:xfrm>
            <a:off x="4059413" y="5633772"/>
            <a:ext cx="180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矩形: 圓角 41">
            <a:extLst>
              <a:ext uri="{FF2B5EF4-FFF2-40B4-BE49-F238E27FC236}">
                <a16:creationId xmlns:a16="http://schemas.microsoft.com/office/drawing/2014/main" id="{FBBB0DF5-0993-64FF-7344-FE2B32009B94}"/>
              </a:ext>
            </a:extLst>
          </p:cNvPr>
          <p:cNvSpPr/>
          <p:nvPr/>
        </p:nvSpPr>
        <p:spPr>
          <a:xfrm>
            <a:off x="7104989" y="5627526"/>
            <a:ext cx="180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矩形: 圓角 42">
            <a:extLst>
              <a:ext uri="{FF2B5EF4-FFF2-40B4-BE49-F238E27FC236}">
                <a16:creationId xmlns:a16="http://schemas.microsoft.com/office/drawing/2014/main" id="{4ACA770E-4A8F-F32E-6B24-0CD4AF24FA4E}"/>
              </a:ext>
            </a:extLst>
          </p:cNvPr>
          <p:cNvSpPr/>
          <p:nvPr/>
        </p:nvSpPr>
        <p:spPr>
          <a:xfrm>
            <a:off x="2878524" y="5636254"/>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矩形: 圓角 43">
            <a:extLst>
              <a:ext uri="{FF2B5EF4-FFF2-40B4-BE49-F238E27FC236}">
                <a16:creationId xmlns:a16="http://schemas.microsoft.com/office/drawing/2014/main" id="{D80C8316-29B9-C029-2E89-A18F36D441CA}"/>
              </a:ext>
            </a:extLst>
          </p:cNvPr>
          <p:cNvSpPr/>
          <p:nvPr/>
        </p:nvSpPr>
        <p:spPr>
          <a:xfrm>
            <a:off x="3456642" y="5636254"/>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矩形: 圓角 44">
            <a:extLst>
              <a:ext uri="{FF2B5EF4-FFF2-40B4-BE49-F238E27FC236}">
                <a16:creationId xmlns:a16="http://schemas.microsoft.com/office/drawing/2014/main" id="{3064B852-8FFE-E7E9-D80B-04AE2ECEACF8}"/>
              </a:ext>
            </a:extLst>
          </p:cNvPr>
          <p:cNvSpPr/>
          <p:nvPr/>
        </p:nvSpPr>
        <p:spPr>
          <a:xfrm>
            <a:off x="5938252" y="5633772"/>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矩形: 圓角 45">
            <a:extLst>
              <a:ext uri="{FF2B5EF4-FFF2-40B4-BE49-F238E27FC236}">
                <a16:creationId xmlns:a16="http://schemas.microsoft.com/office/drawing/2014/main" id="{D5904AEC-19A2-3466-5BA0-7C35A217210E}"/>
              </a:ext>
            </a:extLst>
          </p:cNvPr>
          <p:cNvSpPr/>
          <p:nvPr/>
        </p:nvSpPr>
        <p:spPr>
          <a:xfrm>
            <a:off x="6504012" y="5633772"/>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矩形: 圓角 46">
            <a:extLst>
              <a:ext uri="{FF2B5EF4-FFF2-40B4-BE49-F238E27FC236}">
                <a16:creationId xmlns:a16="http://schemas.microsoft.com/office/drawing/2014/main" id="{FE456D7A-F0FD-A4B2-738B-68D15F9433A9}"/>
              </a:ext>
            </a:extLst>
          </p:cNvPr>
          <p:cNvSpPr/>
          <p:nvPr/>
        </p:nvSpPr>
        <p:spPr>
          <a:xfrm>
            <a:off x="8955357" y="5633292"/>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矩形: 圓角 47">
            <a:extLst>
              <a:ext uri="{FF2B5EF4-FFF2-40B4-BE49-F238E27FC236}">
                <a16:creationId xmlns:a16="http://schemas.microsoft.com/office/drawing/2014/main" id="{D1739EDE-708D-7EF0-4315-790874A3C4A1}"/>
              </a:ext>
            </a:extLst>
          </p:cNvPr>
          <p:cNvSpPr/>
          <p:nvPr/>
        </p:nvSpPr>
        <p:spPr>
          <a:xfrm>
            <a:off x="9533475" y="5633292"/>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矩形: 圓角 48">
            <a:extLst>
              <a:ext uri="{FF2B5EF4-FFF2-40B4-BE49-F238E27FC236}">
                <a16:creationId xmlns:a16="http://schemas.microsoft.com/office/drawing/2014/main" id="{B9BEC3DF-A5A1-D5E5-D04E-E3DEC1033B0F}"/>
              </a:ext>
            </a:extLst>
          </p:cNvPr>
          <p:cNvSpPr/>
          <p:nvPr/>
        </p:nvSpPr>
        <p:spPr>
          <a:xfrm>
            <a:off x="10171241" y="5630810"/>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0" name="矩形: 圓角 49">
            <a:extLst>
              <a:ext uri="{FF2B5EF4-FFF2-40B4-BE49-F238E27FC236}">
                <a16:creationId xmlns:a16="http://schemas.microsoft.com/office/drawing/2014/main" id="{598D99EB-C818-E582-6A40-05A5DDB6BC2F}"/>
              </a:ext>
            </a:extLst>
          </p:cNvPr>
          <p:cNvSpPr/>
          <p:nvPr/>
        </p:nvSpPr>
        <p:spPr>
          <a:xfrm>
            <a:off x="10749357" y="5630810"/>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文字方塊 50">
            <a:extLst>
              <a:ext uri="{FF2B5EF4-FFF2-40B4-BE49-F238E27FC236}">
                <a16:creationId xmlns:a16="http://schemas.microsoft.com/office/drawing/2014/main" id="{5A8A6924-8DC2-74B0-4FDA-90895D6370DF}"/>
              </a:ext>
            </a:extLst>
          </p:cNvPr>
          <p:cNvSpPr txBox="1"/>
          <p:nvPr/>
        </p:nvSpPr>
        <p:spPr>
          <a:xfrm>
            <a:off x="11297011" y="5480619"/>
            <a:ext cx="741872" cy="461665"/>
          </a:xfrm>
          <a:prstGeom prst="rect">
            <a:avLst/>
          </a:prstGeom>
          <a:noFill/>
        </p:spPr>
        <p:txBody>
          <a:bodyPr wrap="square" rtlCol="0">
            <a:spAutoFit/>
          </a:bodyPr>
          <a:lstStyle/>
          <a:p>
            <a:r>
              <a:rPr lang="en-US" altLang="zh-TW" sz="2400" dirty="0"/>
              <a:t>……</a:t>
            </a:r>
            <a:endParaRPr lang="zh-TW" altLang="en-US" sz="2400" dirty="0"/>
          </a:p>
        </p:txBody>
      </p:sp>
      <p:sp>
        <p:nvSpPr>
          <p:cNvPr id="52" name="文字方塊 51">
            <a:extLst>
              <a:ext uri="{FF2B5EF4-FFF2-40B4-BE49-F238E27FC236}">
                <a16:creationId xmlns:a16="http://schemas.microsoft.com/office/drawing/2014/main" id="{5CC51ED1-4CCE-1DBA-966D-8EB280FCB430}"/>
              </a:ext>
            </a:extLst>
          </p:cNvPr>
          <p:cNvSpPr txBox="1"/>
          <p:nvPr/>
        </p:nvSpPr>
        <p:spPr>
          <a:xfrm>
            <a:off x="434295" y="5041361"/>
            <a:ext cx="6098874" cy="369332"/>
          </a:xfrm>
          <a:prstGeom prst="rect">
            <a:avLst/>
          </a:prstGeom>
          <a:noFill/>
        </p:spPr>
        <p:txBody>
          <a:bodyPr wrap="square">
            <a:spAutoFit/>
          </a:bodyPr>
          <a:lstStyle/>
          <a:p>
            <a:r>
              <a:rPr lang="zh-TW" altLang="en-US" dirty="0"/>
              <a:t>https://arxiv.org/abs/2412.02612</a:t>
            </a:r>
          </a:p>
        </p:txBody>
      </p:sp>
    </p:spTree>
    <p:extLst>
      <p:ext uri="{BB962C8B-B14F-4D97-AF65-F5344CB8AC3E}">
        <p14:creationId xmlns:p14="http://schemas.microsoft.com/office/powerpoint/2010/main" val="25058326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1" grpId="0"/>
      <p:bldP spid="22" grpId="0"/>
      <p:bldP spid="23" grpId="0"/>
      <p:bldP spid="25" grpId="0" animBg="1"/>
      <p:bldP spid="26" grpId="0" animBg="1"/>
      <p:bldP spid="27" grpId="0" animBg="1"/>
      <p:bldP spid="29" grpId="0" animBg="1"/>
      <p:bldP spid="30" grpId="0" animBg="1"/>
      <p:bldP spid="31" grpId="0" animBg="1"/>
      <p:bldP spid="32" grpId="0" animBg="1"/>
      <p:bldP spid="33" grpId="0" animBg="1"/>
      <p:bldP spid="34" grpId="0" animBg="1"/>
      <p:bldP spid="35" grpId="0" animBg="1"/>
      <p:bldP spid="36" grpId="0" animBg="1"/>
      <p:bldP spid="6" grpId="0"/>
      <p:bldP spid="24" grpId="0"/>
      <p:bldP spid="2" grpId="0"/>
      <p:bldP spid="3" grpId="0" animBg="1"/>
      <p:bldP spid="5"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AB2318-50AA-B645-8DF5-E809D2259FE2}"/>
              </a:ext>
            </a:extLst>
          </p:cNvPr>
          <p:cNvSpPr>
            <a:spLocks noGrp="1"/>
          </p:cNvSpPr>
          <p:nvPr>
            <p:ph type="title"/>
          </p:nvPr>
        </p:nvSpPr>
        <p:spPr/>
        <p:txBody>
          <a:bodyPr/>
          <a:lstStyle/>
          <a:p>
            <a:r>
              <a:rPr lang="en-US" altLang="zh-TW" dirty="0"/>
              <a:t>Text-Speech</a:t>
            </a:r>
            <a:r>
              <a:rPr lang="zh-TW" altLang="en-US" dirty="0"/>
              <a:t> </a:t>
            </a:r>
            <a:r>
              <a:rPr lang="en-US" altLang="zh-TW" dirty="0"/>
              <a:t>Hybrid Generation </a:t>
            </a:r>
            <a:endParaRPr lang="zh-TW" altLang="en-US" dirty="0"/>
          </a:p>
        </p:txBody>
      </p:sp>
      <p:sp>
        <p:nvSpPr>
          <p:cNvPr id="4" name="文字方塊 3">
            <a:extLst>
              <a:ext uri="{FF2B5EF4-FFF2-40B4-BE49-F238E27FC236}">
                <a16:creationId xmlns:a16="http://schemas.microsoft.com/office/drawing/2014/main" id="{54A767D0-EFBB-2CD1-4098-C79F40D2EB4A}"/>
              </a:ext>
            </a:extLst>
          </p:cNvPr>
          <p:cNvSpPr txBox="1"/>
          <p:nvPr/>
        </p:nvSpPr>
        <p:spPr>
          <a:xfrm>
            <a:off x="838200" y="1855035"/>
            <a:ext cx="999915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and speech at the same time</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矩形: 圓角 4">
            <a:extLst>
              <a:ext uri="{FF2B5EF4-FFF2-40B4-BE49-F238E27FC236}">
                <a16:creationId xmlns:a16="http://schemas.microsoft.com/office/drawing/2014/main" id="{8102ED43-B5B2-CAFC-EBA4-A2D5017EDC52}"/>
              </a:ext>
            </a:extLst>
          </p:cNvPr>
          <p:cNvSpPr/>
          <p:nvPr/>
        </p:nvSpPr>
        <p:spPr>
          <a:xfrm>
            <a:off x="3098414" y="3955585"/>
            <a:ext cx="7917128"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Spoken 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2" name="直線單箭頭接點 21">
            <a:extLst>
              <a:ext uri="{FF2B5EF4-FFF2-40B4-BE49-F238E27FC236}">
                <a16:creationId xmlns:a16="http://schemas.microsoft.com/office/drawing/2014/main" id="{E53F7876-0EC3-4D9C-52C8-34ED91A3BB49}"/>
              </a:ext>
            </a:extLst>
          </p:cNvPr>
          <p:cNvCxnSpPr>
            <a:cxnSpLocks/>
          </p:cNvCxnSpPr>
          <p:nvPr/>
        </p:nvCxnSpPr>
        <p:spPr>
          <a:xfrm flipH="1" flipV="1">
            <a:off x="3682051" y="3250735"/>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3C011288-C238-BB1C-7321-115EADC85C3A}"/>
              </a:ext>
            </a:extLst>
          </p:cNvPr>
          <p:cNvCxnSpPr>
            <a:cxnSpLocks/>
          </p:cNvCxnSpPr>
          <p:nvPr/>
        </p:nvCxnSpPr>
        <p:spPr>
          <a:xfrm flipV="1">
            <a:off x="4112725" y="3268018"/>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圓角 26">
            <a:extLst>
              <a:ext uri="{FF2B5EF4-FFF2-40B4-BE49-F238E27FC236}">
                <a16:creationId xmlns:a16="http://schemas.microsoft.com/office/drawing/2014/main" id="{60C41D5C-A754-90D3-545B-5E1A6192BCFE}"/>
              </a:ext>
            </a:extLst>
          </p:cNvPr>
          <p:cNvSpPr/>
          <p:nvPr/>
        </p:nvSpPr>
        <p:spPr>
          <a:xfrm>
            <a:off x="3322051" y="2803060"/>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773D1519-CE44-F898-197F-50F4154C50C6}"/>
              </a:ext>
            </a:extLst>
          </p:cNvPr>
          <p:cNvSpPr/>
          <p:nvPr/>
        </p:nvSpPr>
        <p:spPr>
          <a:xfrm>
            <a:off x="4262497" y="280511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1" name="直線單箭頭接點 30">
            <a:extLst>
              <a:ext uri="{FF2B5EF4-FFF2-40B4-BE49-F238E27FC236}">
                <a16:creationId xmlns:a16="http://schemas.microsoft.com/office/drawing/2014/main" id="{0CDDA496-2834-3BC2-0F2D-BD47907A6772}"/>
              </a:ext>
            </a:extLst>
          </p:cNvPr>
          <p:cNvCxnSpPr>
            <a:cxnSpLocks/>
          </p:cNvCxnSpPr>
          <p:nvPr/>
        </p:nvCxnSpPr>
        <p:spPr>
          <a:xfrm flipH="1" flipV="1">
            <a:off x="5600567" y="3233452"/>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49EB4651-4230-09FF-F2D3-7B9F6FB24253}"/>
              </a:ext>
            </a:extLst>
          </p:cNvPr>
          <p:cNvCxnSpPr>
            <a:cxnSpLocks/>
          </p:cNvCxnSpPr>
          <p:nvPr/>
        </p:nvCxnSpPr>
        <p:spPr>
          <a:xfrm flipV="1">
            <a:off x="6031241" y="3250735"/>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圓角 32">
            <a:extLst>
              <a:ext uri="{FF2B5EF4-FFF2-40B4-BE49-F238E27FC236}">
                <a16:creationId xmlns:a16="http://schemas.microsoft.com/office/drawing/2014/main" id="{F339AC46-5138-A2F3-270D-5E295C8893C7}"/>
              </a:ext>
            </a:extLst>
          </p:cNvPr>
          <p:cNvSpPr/>
          <p:nvPr/>
        </p:nvSpPr>
        <p:spPr>
          <a:xfrm>
            <a:off x="5240567" y="2785777"/>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矩形: 圓角 33">
            <a:extLst>
              <a:ext uri="{FF2B5EF4-FFF2-40B4-BE49-F238E27FC236}">
                <a16:creationId xmlns:a16="http://schemas.microsoft.com/office/drawing/2014/main" id="{E3BB94B2-B655-DCEE-6646-68B64C941A6D}"/>
              </a:ext>
            </a:extLst>
          </p:cNvPr>
          <p:cNvSpPr/>
          <p:nvPr/>
        </p:nvSpPr>
        <p:spPr>
          <a:xfrm>
            <a:off x="6181013" y="2787830"/>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5" name="直線單箭頭接點 34">
            <a:extLst>
              <a:ext uri="{FF2B5EF4-FFF2-40B4-BE49-F238E27FC236}">
                <a16:creationId xmlns:a16="http://schemas.microsoft.com/office/drawing/2014/main" id="{6E620463-0391-4188-F596-83F5A1C0EEE3}"/>
              </a:ext>
            </a:extLst>
          </p:cNvPr>
          <p:cNvCxnSpPr>
            <a:cxnSpLocks/>
          </p:cNvCxnSpPr>
          <p:nvPr/>
        </p:nvCxnSpPr>
        <p:spPr>
          <a:xfrm flipH="1" flipV="1">
            <a:off x="7654364" y="3250735"/>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4E25FC10-ED09-7424-3AA9-7861372A61AF}"/>
              </a:ext>
            </a:extLst>
          </p:cNvPr>
          <p:cNvCxnSpPr>
            <a:cxnSpLocks/>
          </p:cNvCxnSpPr>
          <p:nvPr/>
        </p:nvCxnSpPr>
        <p:spPr>
          <a:xfrm flipV="1">
            <a:off x="8085038" y="3268018"/>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圓角 36">
            <a:extLst>
              <a:ext uri="{FF2B5EF4-FFF2-40B4-BE49-F238E27FC236}">
                <a16:creationId xmlns:a16="http://schemas.microsoft.com/office/drawing/2014/main" id="{5B35E8F0-4EA2-CD36-607E-AEBDA6955C62}"/>
              </a:ext>
            </a:extLst>
          </p:cNvPr>
          <p:cNvSpPr/>
          <p:nvPr/>
        </p:nvSpPr>
        <p:spPr>
          <a:xfrm>
            <a:off x="7294364" y="2803060"/>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矩形: 圓角 37">
            <a:extLst>
              <a:ext uri="{FF2B5EF4-FFF2-40B4-BE49-F238E27FC236}">
                <a16:creationId xmlns:a16="http://schemas.microsoft.com/office/drawing/2014/main" id="{DE23E69D-4B96-5859-D1A9-D06DCDFC5716}"/>
              </a:ext>
            </a:extLst>
          </p:cNvPr>
          <p:cNvSpPr/>
          <p:nvPr/>
        </p:nvSpPr>
        <p:spPr>
          <a:xfrm>
            <a:off x="8234810" y="280511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6E5ED584-E1BE-794C-D8AB-E0588350FFA0}"/>
              </a:ext>
            </a:extLst>
          </p:cNvPr>
          <p:cNvSpPr txBox="1"/>
          <p:nvPr/>
        </p:nvSpPr>
        <p:spPr>
          <a:xfrm>
            <a:off x="9626031" y="2624507"/>
            <a:ext cx="9144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文字方塊 45">
            <a:extLst>
              <a:ext uri="{FF2B5EF4-FFF2-40B4-BE49-F238E27FC236}">
                <a16:creationId xmlns:a16="http://schemas.microsoft.com/office/drawing/2014/main" id="{775659CB-B884-B55A-7B7A-59AFE408AC86}"/>
              </a:ext>
            </a:extLst>
          </p:cNvPr>
          <p:cNvSpPr txBox="1"/>
          <p:nvPr/>
        </p:nvSpPr>
        <p:spPr>
          <a:xfrm>
            <a:off x="4812041" y="5600108"/>
            <a:ext cx="657617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The text token and speech token do not have the same scale (their lengths differ significantly).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文字方塊 2">
            <a:extLst>
              <a:ext uri="{FF2B5EF4-FFF2-40B4-BE49-F238E27FC236}">
                <a16:creationId xmlns:a16="http://schemas.microsoft.com/office/drawing/2014/main" id="{82A09702-5BC3-C975-3E77-973B9E6A9444}"/>
              </a:ext>
            </a:extLst>
          </p:cNvPr>
          <p:cNvSpPr txBox="1"/>
          <p:nvPr/>
        </p:nvSpPr>
        <p:spPr>
          <a:xfrm>
            <a:off x="1692420" y="3170378"/>
            <a:ext cx="1575823"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Two LM heads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矩形: 圓角 5">
            <a:extLst>
              <a:ext uri="{FF2B5EF4-FFF2-40B4-BE49-F238E27FC236}">
                <a16:creationId xmlns:a16="http://schemas.microsoft.com/office/drawing/2014/main" id="{051435E7-2EEF-A1A5-6FE2-8C21B504A0A9}"/>
              </a:ext>
            </a:extLst>
          </p:cNvPr>
          <p:cNvSpPr/>
          <p:nvPr/>
        </p:nvSpPr>
        <p:spPr>
          <a:xfrm>
            <a:off x="3497667" y="3219335"/>
            <a:ext cx="1189091" cy="650525"/>
          </a:xfrm>
          <a:prstGeom prst="roundRect">
            <a:avLst/>
          </a:prstGeom>
          <a:noFill/>
          <a:ln w="571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2178647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 grpId="0"/>
      <p:bldP spid="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圓角 3">
            <a:extLst>
              <a:ext uri="{FF2B5EF4-FFF2-40B4-BE49-F238E27FC236}">
                <a16:creationId xmlns:a16="http://schemas.microsoft.com/office/drawing/2014/main" id="{44A12C77-4E02-0267-CAC1-6B9F1B9A4593}"/>
              </a:ext>
            </a:extLst>
          </p:cNvPr>
          <p:cNvSpPr/>
          <p:nvPr/>
        </p:nvSpPr>
        <p:spPr>
          <a:xfrm>
            <a:off x="884786" y="1395880"/>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矩形: 圓角 4">
            <a:extLst>
              <a:ext uri="{FF2B5EF4-FFF2-40B4-BE49-F238E27FC236}">
                <a16:creationId xmlns:a16="http://schemas.microsoft.com/office/drawing/2014/main" id="{13C56832-3905-024B-4739-D66EFF195FB1}"/>
              </a:ext>
            </a:extLst>
          </p:cNvPr>
          <p:cNvSpPr/>
          <p:nvPr/>
        </p:nvSpPr>
        <p:spPr>
          <a:xfrm>
            <a:off x="974786" y="75023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矩形: 圓角 5">
            <a:extLst>
              <a:ext uri="{FF2B5EF4-FFF2-40B4-BE49-F238E27FC236}">
                <a16:creationId xmlns:a16="http://schemas.microsoft.com/office/drawing/2014/main" id="{8AD6FE22-2F61-B005-BBFD-76FBABD3FEE7}"/>
              </a:ext>
            </a:extLst>
          </p:cNvPr>
          <p:cNvSpPr/>
          <p:nvPr/>
        </p:nvSpPr>
        <p:spPr>
          <a:xfrm>
            <a:off x="1919429" y="1395880"/>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矩形: 圓角 6">
            <a:extLst>
              <a:ext uri="{FF2B5EF4-FFF2-40B4-BE49-F238E27FC236}">
                <a16:creationId xmlns:a16="http://schemas.microsoft.com/office/drawing/2014/main" id="{EA768E6F-AA3E-9A32-D7F1-A345F2F957BA}"/>
              </a:ext>
            </a:extLst>
          </p:cNvPr>
          <p:cNvSpPr/>
          <p:nvPr/>
        </p:nvSpPr>
        <p:spPr>
          <a:xfrm>
            <a:off x="2012060" y="75023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矩形: 圓角 7">
            <a:extLst>
              <a:ext uri="{FF2B5EF4-FFF2-40B4-BE49-F238E27FC236}">
                <a16:creationId xmlns:a16="http://schemas.microsoft.com/office/drawing/2014/main" id="{12E0422F-13B0-4368-2B5E-EDE96E174495}"/>
              </a:ext>
            </a:extLst>
          </p:cNvPr>
          <p:cNvSpPr/>
          <p:nvPr/>
        </p:nvSpPr>
        <p:spPr>
          <a:xfrm>
            <a:off x="2954072" y="1395880"/>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矩形: 圓角 8">
            <a:extLst>
              <a:ext uri="{FF2B5EF4-FFF2-40B4-BE49-F238E27FC236}">
                <a16:creationId xmlns:a16="http://schemas.microsoft.com/office/drawing/2014/main" id="{8FC2EEFA-3CDA-FBB7-6A0B-E7D49E80AB30}"/>
              </a:ext>
            </a:extLst>
          </p:cNvPr>
          <p:cNvSpPr/>
          <p:nvPr/>
        </p:nvSpPr>
        <p:spPr>
          <a:xfrm>
            <a:off x="3049334" y="75023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16656335-1D99-E373-78AB-B6DBE0A41155}"/>
              </a:ext>
            </a:extLst>
          </p:cNvPr>
          <p:cNvSpPr/>
          <p:nvPr/>
        </p:nvSpPr>
        <p:spPr>
          <a:xfrm>
            <a:off x="4086608" y="75023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3F2C48C3-E290-54FC-7217-5B15E79012F0}"/>
              </a:ext>
            </a:extLst>
          </p:cNvPr>
          <p:cNvSpPr/>
          <p:nvPr/>
        </p:nvSpPr>
        <p:spPr>
          <a:xfrm>
            <a:off x="5123882" y="75023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EF99BC6F-F4EA-40A3-7561-0893163F9E79}"/>
              </a:ext>
            </a:extLst>
          </p:cNvPr>
          <p:cNvSpPr/>
          <p:nvPr/>
        </p:nvSpPr>
        <p:spPr>
          <a:xfrm>
            <a:off x="6161156" y="75023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9391004A-AF02-E1DD-C141-E66040F3A8B6}"/>
              </a:ext>
            </a:extLst>
          </p:cNvPr>
          <p:cNvSpPr/>
          <p:nvPr/>
        </p:nvSpPr>
        <p:spPr>
          <a:xfrm>
            <a:off x="7198430" y="75023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E263F8A9-26BF-592E-E825-CCB205A9852F}"/>
              </a:ext>
            </a:extLst>
          </p:cNvPr>
          <p:cNvSpPr/>
          <p:nvPr/>
        </p:nvSpPr>
        <p:spPr>
          <a:xfrm>
            <a:off x="8235705" y="75023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文字方塊 19">
            <a:extLst>
              <a:ext uri="{FF2B5EF4-FFF2-40B4-BE49-F238E27FC236}">
                <a16:creationId xmlns:a16="http://schemas.microsoft.com/office/drawing/2014/main" id="{0DB47BA9-22A5-F601-82A9-95ACEE02E795}"/>
              </a:ext>
            </a:extLst>
          </p:cNvPr>
          <p:cNvSpPr txBox="1"/>
          <p:nvPr/>
        </p:nvSpPr>
        <p:spPr>
          <a:xfrm>
            <a:off x="9430238" y="2551602"/>
            <a:ext cx="255617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err="1">
                <a:ln>
                  <a:noFill/>
                </a:ln>
                <a:solidFill>
                  <a:srgbClr val="000000"/>
                </a:solidFill>
                <a:effectLst/>
                <a:uLnTx/>
                <a:uFillTx/>
                <a:latin typeface="Lucida Grande"/>
                <a:ea typeface="新細明體" panose="02020500000000000000" pitchFamily="18" charset="-120"/>
                <a:cs typeface="+mn-cs"/>
              </a:rPr>
              <a:t>LLaMA</a:t>
            </a:r>
            <a:r>
              <a:rPr kumimoji="0" lang="en-US" altLang="zh-TW" sz="2400" b="0" i="0" u="none" strike="noStrike" kern="1200" cap="none" spc="0" normalizeH="0" baseline="0" noProof="0" dirty="0">
                <a:ln>
                  <a:noFill/>
                </a:ln>
                <a:solidFill>
                  <a:srgbClr val="000000"/>
                </a:solidFill>
                <a:effectLst/>
                <a:uLnTx/>
                <a:uFillTx/>
                <a:latin typeface="Lucida Grande"/>
                <a:ea typeface="新細明體" panose="02020500000000000000" pitchFamily="18" charset="-120"/>
                <a:cs typeface="+mn-cs"/>
              </a:rPr>
              <a:t>-Omni</a:t>
            </a:r>
          </a:p>
        </p:txBody>
      </p:sp>
      <p:sp>
        <p:nvSpPr>
          <p:cNvPr id="22" name="文字方塊 21">
            <a:extLst>
              <a:ext uri="{FF2B5EF4-FFF2-40B4-BE49-F238E27FC236}">
                <a16:creationId xmlns:a16="http://schemas.microsoft.com/office/drawing/2014/main" id="{33C1404B-6A84-F16A-F541-99666652ABDD}"/>
              </a:ext>
            </a:extLst>
          </p:cNvPr>
          <p:cNvSpPr txBox="1"/>
          <p:nvPr/>
        </p:nvSpPr>
        <p:spPr>
          <a:xfrm>
            <a:off x="9430238" y="3067932"/>
            <a:ext cx="2219326" cy="6565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https://arxiv.org/abs/2409.06666</a:t>
            </a:r>
          </a:p>
        </p:txBody>
      </p:sp>
      <p:sp>
        <p:nvSpPr>
          <p:cNvPr id="24" name="文字方塊 23">
            <a:extLst>
              <a:ext uri="{FF2B5EF4-FFF2-40B4-BE49-F238E27FC236}">
                <a16:creationId xmlns:a16="http://schemas.microsoft.com/office/drawing/2014/main" id="{2D1A7FB4-BD52-8521-E33F-379CA013D16F}"/>
              </a:ext>
            </a:extLst>
          </p:cNvPr>
          <p:cNvSpPr txBox="1"/>
          <p:nvPr/>
        </p:nvSpPr>
        <p:spPr>
          <a:xfrm>
            <a:off x="9452322" y="1157664"/>
            <a:ext cx="22479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https://arxiv.org/abs/2408.16725</a:t>
            </a:r>
          </a:p>
        </p:txBody>
      </p:sp>
      <p:sp>
        <p:nvSpPr>
          <p:cNvPr id="26" name="文字方塊 25">
            <a:extLst>
              <a:ext uri="{FF2B5EF4-FFF2-40B4-BE49-F238E27FC236}">
                <a16:creationId xmlns:a16="http://schemas.microsoft.com/office/drawing/2014/main" id="{25B1206D-F374-7679-1F70-E05EA180306F}"/>
              </a:ext>
            </a:extLst>
          </p:cNvPr>
          <p:cNvSpPr txBox="1"/>
          <p:nvPr/>
        </p:nvSpPr>
        <p:spPr>
          <a:xfrm>
            <a:off x="9452322" y="650518"/>
            <a:ext cx="612457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00"/>
                </a:solidFill>
                <a:effectLst/>
                <a:uLnTx/>
                <a:uFillTx/>
                <a:latin typeface="Lucida Grande"/>
                <a:ea typeface="新細明體" panose="02020500000000000000" pitchFamily="18" charset="-120"/>
                <a:cs typeface="+mn-cs"/>
              </a:rPr>
              <a:t>Mini-Omni</a:t>
            </a:r>
          </a:p>
        </p:txBody>
      </p:sp>
      <p:sp>
        <p:nvSpPr>
          <p:cNvPr id="28" name="文字方塊 27">
            <a:extLst>
              <a:ext uri="{FF2B5EF4-FFF2-40B4-BE49-F238E27FC236}">
                <a16:creationId xmlns:a16="http://schemas.microsoft.com/office/drawing/2014/main" id="{31C65A52-DF3C-CC0D-EA07-F31694C34064}"/>
              </a:ext>
            </a:extLst>
          </p:cNvPr>
          <p:cNvSpPr txBox="1"/>
          <p:nvPr/>
        </p:nvSpPr>
        <p:spPr>
          <a:xfrm>
            <a:off x="9463381" y="5465591"/>
            <a:ext cx="2247900" cy="6565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https://arxiv.org/abs/2410.00037</a:t>
            </a:r>
          </a:p>
        </p:txBody>
      </p:sp>
      <p:sp>
        <p:nvSpPr>
          <p:cNvPr id="30" name="文字方塊 29">
            <a:extLst>
              <a:ext uri="{FF2B5EF4-FFF2-40B4-BE49-F238E27FC236}">
                <a16:creationId xmlns:a16="http://schemas.microsoft.com/office/drawing/2014/main" id="{0E9B30AA-3FE7-F866-5207-A95862EFB12E}"/>
              </a:ext>
            </a:extLst>
          </p:cNvPr>
          <p:cNvSpPr txBox="1"/>
          <p:nvPr/>
        </p:nvSpPr>
        <p:spPr>
          <a:xfrm>
            <a:off x="9267853" y="4977495"/>
            <a:ext cx="144504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00"/>
                </a:solidFill>
                <a:effectLst/>
                <a:uLnTx/>
                <a:uFillTx/>
                <a:latin typeface="Lucida Grande"/>
                <a:ea typeface="新細明體" panose="02020500000000000000" pitchFamily="18" charset="-120"/>
                <a:cs typeface="+mn-cs"/>
              </a:rPr>
              <a:t>Moshi</a:t>
            </a:r>
          </a:p>
        </p:txBody>
      </p:sp>
      <mc:AlternateContent xmlns:mc="http://schemas.openxmlformats.org/markup-compatibility/2006" xmlns:a14="http://schemas.microsoft.com/office/drawing/2010/main">
        <mc:Choice Requires="a14">
          <p:sp>
            <p:nvSpPr>
              <p:cNvPr id="31" name="矩形: 圓角 30">
                <a:extLst>
                  <a:ext uri="{FF2B5EF4-FFF2-40B4-BE49-F238E27FC236}">
                    <a16:creationId xmlns:a16="http://schemas.microsoft.com/office/drawing/2014/main" id="{5AD9919C-6848-C3F9-1FBC-D4775C025F29}"/>
                  </a:ext>
                </a:extLst>
              </p:cNvPr>
              <p:cNvSpPr/>
              <p:nvPr/>
            </p:nvSpPr>
            <p:spPr>
              <a:xfrm>
                <a:off x="3965588" y="1395880"/>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1" name="矩形: 圓角 30">
                <a:extLst>
                  <a:ext uri="{FF2B5EF4-FFF2-40B4-BE49-F238E27FC236}">
                    <a16:creationId xmlns:a16="http://schemas.microsoft.com/office/drawing/2014/main" id="{5AD9919C-6848-C3F9-1FBC-D4775C025F29}"/>
                  </a:ext>
                </a:extLst>
              </p:cNvPr>
              <p:cNvSpPr>
                <a:spLocks noRot="1" noChangeAspect="1" noMove="1" noResize="1" noEditPoints="1" noAdjustHandles="1" noChangeArrowheads="1" noChangeShapeType="1" noTextEdit="1"/>
              </p:cNvSpPr>
              <p:nvPr/>
            </p:nvSpPr>
            <p:spPr>
              <a:xfrm>
                <a:off x="3965588" y="1395880"/>
                <a:ext cx="720000" cy="361950"/>
              </a:xfrm>
              <a:prstGeom prst="roundRect">
                <a:avLst/>
              </a:prstGeom>
              <a:blipFill>
                <a:blip r:embed="rId2"/>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矩形: 圓角 31">
                <a:extLst>
                  <a:ext uri="{FF2B5EF4-FFF2-40B4-BE49-F238E27FC236}">
                    <a16:creationId xmlns:a16="http://schemas.microsoft.com/office/drawing/2014/main" id="{4D6DE84D-7620-B531-DF36-6F9F993D316D}"/>
                  </a:ext>
                </a:extLst>
              </p:cNvPr>
              <p:cNvSpPr/>
              <p:nvPr/>
            </p:nvSpPr>
            <p:spPr>
              <a:xfrm>
                <a:off x="5013248" y="1395880"/>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2" name="矩形: 圓角 31">
                <a:extLst>
                  <a:ext uri="{FF2B5EF4-FFF2-40B4-BE49-F238E27FC236}">
                    <a16:creationId xmlns:a16="http://schemas.microsoft.com/office/drawing/2014/main" id="{4D6DE84D-7620-B531-DF36-6F9F993D316D}"/>
                  </a:ext>
                </a:extLst>
              </p:cNvPr>
              <p:cNvSpPr>
                <a:spLocks noRot="1" noChangeAspect="1" noMove="1" noResize="1" noEditPoints="1" noAdjustHandles="1" noChangeArrowheads="1" noChangeShapeType="1" noTextEdit="1"/>
              </p:cNvSpPr>
              <p:nvPr/>
            </p:nvSpPr>
            <p:spPr>
              <a:xfrm>
                <a:off x="5013248" y="1395880"/>
                <a:ext cx="720000" cy="361950"/>
              </a:xfrm>
              <a:prstGeom prst="roundRect">
                <a:avLst/>
              </a:prstGeom>
              <a:blipFill>
                <a:blip r:embed="rId3"/>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矩形: 圓角 32">
                <a:extLst>
                  <a:ext uri="{FF2B5EF4-FFF2-40B4-BE49-F238E27FC236}">
                    <a16:creationId xmlns:a16="http://schemas.microsoft.com/office/drawing/2014/main" id="{A59AEDE9-74CC-B6F3-C6C6-1E6F5652C1C7}"/>
                  </a:ext>
                </a:extLst>
              </p:cNvPr>
              <p:cNvSpPr/>
              <p:nvPr/>
            </p:nvSpPr>
            <p:spPr>
              <a:xfrm>
                <a:off x="6060908" y="1395880"/>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3" name="矩形: 圓角 32">
                <a:extLst>
                  <a:ext uri="{FF2B5EF4-FFF2-40B4-BE49-F238E27FC236}">
                    <a16:creationId xmlns:a16="http://schemas.microsoft.com/office/drawing/2014/main" id="{A59AEDE9-74CC-B6F3-C6C6-1E6F5652C1C7}"/>
                  </a:ext>
                </a:extLst>
              </p:cNvPr>
              <p:cNvSpPr>
                <a:spLocks noRot="1" noChangeAspect="1" noMove="1" noResize="1" noEditPoints="1" noAdjustHandles="1" noChangeArrowheads="1" noChangeShapeType="1" noTextEdit="1"/>
              </p:cNvSpPr>
              <p:nvPr/>
            </p:nvSpPr>
            <p:spPr>
              <a:xfrm>
                <a:off x="6060908" y="1395880"/>
                <a:ext cx="720000" cy="361950"/>
              </a:xfrm>
              <a:prstGeom prst="roundRect">
                <a:avLst/>
              </a:prstGeom>
              <a:blipFill>
                <a:blip r:embed="rId4"/>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矩形: 圓角 33">
                <a:extLst>
                  <a:ext uri="{FF2B5EF4-FFF2-40B4-BE49-F238E27FC236}">
                    <a16:creationId xmlns:a16="http://schemas.microsoft.com/office/drawing/2014/main" id="{D148BD47-4D64-442B-92C3-9288B5A7B078}"/>
                  </a:ext>
                </a:extLst>
              </p:cNvPr>
              <p:cNvSpPr/>
              <p:nvPr/>
            </p:nvSpPr>
            <p:spPr>
              <a:xfrm>
                <a:off x="7108568" y="1395880"/>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4" name="矩形: 圓角 33">
                <a:extLst>
                  <a:ext uri="{FF2B5EF4-FFF2-40B4-BE49-F238E27FC236}">
                    <a16:creationId xmlns:a16="http://schemas.microsoft.com/office/drawing/2014/main" id="{D148BD47-4D64-442B-92C3-9288B5A7B078}"/>
                  </a:ext>
                </a:extLst>
              </p:cNvPr>
              <p:cNvSpPr>
                <a:spLocks noRot="1" noChangeAspect="1" noMove="1" noResize="1" noEditPoints="1" noAdjustHandles="1" noChangeArrowheads="1" noChangeShapeType="1" noTextEdit="1"/>
              </p:cNvSpPr>
              <p:nvPr/>
            </p:nvSpPr>
            <p:spPr>
              <a:xfrm>
                <a:off x="7108568" y="1395880"/>
                <a:ext cx="720000" cy="361950"/>
              </a:xfrm>
              <a:prstGeom prst="roundRect">
                <a:avLst/>
              </a:prstGeom>
              <a:blipFill>
                <a:blip r:embed="rId5"/>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矩形: 圓角 34">
                <a:extLst>
                  <a:ext uri="{FF2B5EF4-FFF2-40B4-BE49-F238E27FC236}">
                    <a16:creationId xmlns:a16="http://schemas.microsoft.com/office/drawing/2014/main" id="{C8074084-1C56-22EF-A9E1-BB5DB2FC91B5}"/>
                  </a:ext>
                </a:extLst>
              </p:cNvPr>
              <p:cNvSpPr/>
              <p:nvPr/>
            </p:nvSpPr>
            <p:spPr>
              <a:xfrm>
                <a:off x="8156228" y="1395880"/>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5" name="矩形: 圓角 34">
                <a:extLst>
                  <a:ext uri="{FF2B5EF4-FFF2-40B4-BE49-F238E27FC236}">
                    <a16:creationId xmlns:a16="http://schemas.microsoft.com/office/drawing/2014/main" id="{C8074084-1C56-22EF-A9E1-BB5DB2FC91B5}"/>
                  </a:ext>
                </a:extLst>
              </p:cNvPr>
              <p:cNvSpPr>
                <a:spLocks noRot="1" noChangeAspect="1" noMove="1" noResize="1" noEditPoints="1" noAdjustHandles="1" noChangeArrowheads="1" noChangeShapeType="1" noTextEdit="1"/>
              </p:cNvSpPr>
              <p:nvPr/>
            </p:nvSpPr>
            <p:spPr>
              <a:xfrm>
                <a:off x="8156228" y="1395880"/>
                <a:ext cx="720000" cy="361950"/>
              </a:xfrm>
              <a:prstGeom prst="roundRect">
                <a:avLst/>
              </a:prstGeom>
              <a:blipFill>
                <a:blip r:embed="rId6"/>
                <a:stretch>
                  <a:fillRect/>
                </a:stretch>
              </a:blipFill>
              <a:ln>
                <a:solidFill>
                  <a:schemeClr val="tx1"/>
                </a:solidFill>
              </a:ln>
            </p:spPr>
            <p:txBody>
              <a:bodyPr/>
              <a:lstStyle/>
              <a:p>
                <a:r>
                  <a:rPr lang="zh-TW" altLang="en-US">
                    <a:noFill/>
                  </a:rPr>
                  <a:t> </a:t>
                </a:r>
              </a:p>
            </p:txBody>
          </p:sp>
        </mc:Fallback>
      </mc:AlternateContent>
      <p:sp>
        <p:nvSpPr>
          <p:cNvPr id="36" name="矩形: 圓角 35">
            <a:extLst>
              <a:ext uri="{FF2B5EF4-FFF2-40B4-BE49-F238E27FC236}">
                <a16:creationId xmlns:a16="http://schemas.microsoft.com/office/drawing/2014/main" id="{BBD63D50-FE0C-062D-1DD1-27F9C53EEC3A}"/>
              </a:ext>
            </a:extLst>
          </p:cNvPr>
          <p:cNvSpPr/>
          <p:nvPr/>
        </p:nvSpPr>
        <p:spPr>
          <a:xfrm>
            <a:off x="879178" y="3320111"/>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矩形: 圓角 36">
            <a:extLst>
              <a:ext uri="{FF2B5EF4-FFF2-40B4-BE49-F238E27FC236}">
                <a16:creationId xmlns:a16="http://schemas.microsoft.com/office/drawing/2014/main" id="{A0093AA6-A7A7-B285-797B-6994F3619349}"/>
              </a:ext>
            </a:extLst>
          </p:cNvPr>
          <p:cNvSpPr/>
          <p:nvPr/>
        </p:nvSpPr>
        <p:spPr>
          <a:xfrm>
            <a:off x="5033586" y="3320111"/>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39" name="矩形: 圓角 38">
                <a:extLst>
                  <a:ext uri="{FF2B5EF4-FFF2-40B4-BE49-F238E27FC236}">
                    <a16:creationId xmlns:a16="http://schemas.microsoft.com/office/drawing/2014/main" id="{D3314EDF-BE76-2839-7792-1506B7CDE699}"/>
                  </a:ext>
                </a:extLst>
              </p:cNvPr>
              <p:cNvSpPr/>
              <p:nvPr/>
            </p:nvSpPr>
            <p:spPr>
              <a:xfrm>
                <a:off x="1917780" y="3320111"/>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9" name="矩形: 圓角 38">
                <a:extLst>
                  <a:ext uri="{FF2B5EF4-FFF2-40B4-BE49-F238E27FC236}">
                    <a16:creationId xmlns:a16="http://schemas.microsoft.com/office/drawing/2014/main" id="{D3314EDF-BE76-2839-7792-1506B7CDE699}"/>
                  </a:ext>
                </a:extLst>
              </p:cNvPr>
              <p:cNvSpPr>
                <a:spLocks noRot="1" noChangeAspect="1" noMove="1" noResize="1" noEditPoints="1" noAdjustHandles="1" noChangeArrowheads="1" noChangeShapeType="1" noTextEdit="1"/>
              </p:cNvSpPr>
              <p:nvPr/>
            </p:nvSpPr>
            <p:spPr>
              <a:xfrm>
                <a:off x="1917780" y="3320111"/>
                <a:ext cx="720000" cy="361950"/>
              </a:xfrm>
              <a:prstGeom prst="roundRect">
                <a:avLst/>
              </a:prstGeom>
              <a:blipFill>
                <a:blip r:embed="rId7"/>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矩形: 圓角 39">
                <a:extLst>
                  <a:ext uri="{FF2B5EF4-FFF2-40B4-BE49-F238E27FC236}">
                    <a16:creationId xmlns:a16="http://schemas.microsoft.com/office/drawing/2014/main" id="{DC4FC176-BA4D-BBDB-A87A-02CC7833B0E1}"/>
                  </a:ext>
                </a:extLst>
              </p:cNvPr>
              <p:cNvSpPr/>
              <p:nvPr/>
            </p:nvSpPr>
            <p:spPr>
              <a:xfrm>
                <a:off x="2956382" y="3320111"/>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0" name="矩形: 圓角 39">
                <a:extLst>
                  <a:ext uri="{FF2B5EF4-FFF2-40B4-BE49-F238E27FC236}">
                    <a16:creationId xmlns:a16="http://schemas.microsoft.com/office/drawing/2014/main" id="{DC4FC176-BA4D-BBDB-A87A-02CC7833B0E1}"/>
                  </a:ext>
                </a:extLst>
              </p:cNvPr>
              <p:cNvSpPr>
                <a:spLocks noRot="1" noChangeAspect="1" noMove="1" noResize="1" noEditPoints="1" noAdjustHandles="1" noChangeArrowheads="1" noChangeShapeType="1" noTextEdit="1"/>
              </p:cNvSpPr>
              <p:nvPr/>
            </p:nvSpPr>
            <p:spPr>
              <a:xfrm>
                <a:off x="2956382" y="3320111"/>
                <a:ext cx="720000" cy="361950"/>
              </a:xfrm>
              <a:prstGeom prst="roundRect">
                <a:avLst/>
              </a:prstGeom>
              <a:blipFill>
                <a:blip r:embed="rId8"/>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矩形: 圓角 40">
                <a:extLst>
                  <a:ext uri="{FF2B5EF4-FFF2-40B4-BE49-F238E27FC236}">
                    <a16:creationId xmlns:a16="http://schemas.microsoft.com/office/drawing/2014/main" id="{89740AC9-7650-FFF7-6151-A055E1F5771D}"/>
                  </a:ext>
                </a:extLst>
              </p:cNvPr>
              <p:cNvSpPr/>
              <p:nvPr/>
            </p:nvSpPr>
            <p:spPr>
              <a:xfrm>
                <a:off x="8149392" y="3320111"/>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1" name="矩形: 圓角 40">
                <a:extLst>
                  <a:ext uri="{FF2B5EF4-FFF2-40B4-BE49-F238E27FC236}">
                    <a16:creationId xmlns:a16="http://schemas.microsoft.com/office/drawing/2014/main" id="{89740AC9-7650-FFF7-6151-A055E1F5771D}"/>
                  </a:ext>
                </a:extLst>
              </p:cNvPr>
              <p:cNvSpPr>
                <a:spLocks noRot="1" noChangeAspect="1" noMove="1" noResize="1" noEditPoints="1" noAdjustHandles="1" noChangeArrowheads="1" noChangeShapeType="1" noTextEdit="1"/>
              </p:cNvSpPr>
              <p:nvPr/>
            </p:nvSpPr>
            <p:spPr>
              <a:xfrm>
                <a:off x="8149392" y="3320111"/>
                <a:ext cx="720000" cy="361950"/>
              </a:xfrm>
              <a:prstGeom prst="roundRect">
                <a:avLst/>
              </a:prstGeom>
              <a:blipFill>
                <a:blip r:embed="rId9"/>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矩形: 圓角 43">
                <a:extLst>
                  <a:ext uri="{FF2B5EF4-FFF2-40B4-BE49-F238E27FC236}">
                    <a16:creationId xmlns:a16="http://schemas.microsoft.com/office/drawing/2014/main" id="{89AC744E-4DCD-DCD0-2CF7-5D2545CAF955}"/>
                  </a:ext>
                </a:extLst>
              </p:cNvPr>
              <p:cNvSpPr/>
              <p:nvPr/>
            </p:nvSpPr>
            <p:spPr>
              <a:xfrm>
                <a:off x="6072188" y="3320111"/>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4" name="矩形: 圓角 43">
                <a:extLst>
                  <a:ext uri="{FF2B5EF4-FFF2-40B4-BE49-F238E27FC236}">
                    <a16:creationId xmlns:a16="http://schemas.microsoft.com/office/drawing/2014/main" id="{89AC744E-4DCD-DCD0-2CF7-5D2545CAF955}"/>
                  </a:ext>
                </a:extLst>
              </p:cNvPr>
              <p:cNvSpPr>
                <a:spLocks noRot="1" noChangeAspect="1" noMove="1" noResize="1" noEditPoints="1" noAdjustHandles="1" noChangeArrowheads="1" noChangeShapeType="1" noTextEdit="1"/>
              </p:cNvSpPr>
              <p:nvPr/>
            </p:nvSpPr>
            <p:spPr>
              <a:xfrm>
                <a:off x="6072188" y="3320111"/>
                <a:ext cx="720000" cy="361950"/>
              </a:xfrm>
              <a:prstGeom prst="roundRect">
                <a:avLst/>
              </a:prstGeom>
              <a:blipFill>
                <a:blip r:embed="rId10"/>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矩形: 圓角 44">
                <a:extLst>
                  <a:ext uri="{FF2B5EF4-FFF2-40B4-BE49-F238E27FC236}">
                    <a16:creationId xmlns:a16="http://schemas.microsoft.com/office/drawing/2014/main" id="{58C96314-FA3F-B335-75BB-4A23F57FCA23}"/>
                  </a:ext>
                </a:extLst>
              </p:cNvPr>
              <p:cNvSpPr/>
              <p:nvPr/>
            </p:nvSpPr>
            <p:spPr>
              <a:xfrm>
                <a:off x="7110790" y="3320111"/>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5" name="矩形: 圓角 44">
                <a:extLst>
                  <a:ext uri="{FF2B5EF4-FFF2-40B4-BE49-F238E27FC236}">
                    <a16:creationId xmlns:a16="http://schemas.microsoft.com/office/drawing/2014/main" id="{58C96314-FA3F-B335-75BB-4A23F57FCA23}"/>
                  </a:ext>
                </a:extLst>
              </p:cNvPr>
              <p:cNvSpPr>
                <a:spLocks noRot="1" noChangeAspect="1" noMove="1" noResize="1" noEditPoints="1" noAdjustHandles="1" noChangeArrowheads="1" noChangeShapeType="1" noTextEdit="1"/>
              </p:cNvSpPr>
              <p:nvPr/>
            </p:nvSpPr>
            <p:spPr>
              <a:xfrm>
                <a:off x="7110790" y="3320111"/>
                <a:ext cx="720000" cy="361950"/>
              </a:xfrm>
              <a:prstGeom prst="roundRect">
                <a:avLst/>
              </a:prstGeom>
              <a:blipFill>
                <a:blip r:embed="rId11"/>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矩形: 圓角 48">
                <a:extLst>
                  <a:ext uri="{FF2B5EF4-FFF2-40B4-BE49-F238E27FC236}">
                    <a16:creationId xmlns:a16="http://schemas.microsoft.com/office/drawing/2014/main" id="{8B9E906F-17DA-94EA-4BBD-BDDFFDD0D7E7}"/>
                  </a:ext>
                </a:extLst>
              </p:cNvPr>
              <p:cNvSpPr/>
              <p:nvPr/>
            </p:nvSpPr>
            <p:spPr>
              <a:xfrm>
                <a:off x="3994984" y="3320111"/>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9" name="矩形: 圓角 48">
                <a:extLst>
                  <a:ext uri="{FF2B5EF4-FFF2-40B4-BE49-F238E27FC236}">
                    <a16:creationId xmlns:a16="http://schemas.microsoft.com/office/drawing/2014/main" id="{8B9E906F-17DA-94EA-4BBD-BDDFFDD0D7E7}"/>
                  </a:ext>
                </a:extLst>
              </p:cNvPr>
              <p:cNvSpPr>
                <a:spLocks noRot="1" noChangeAspect="1" noMove="1" noResize="1" noEditPoints="1" noAdjustHandles="1" noChangeArrowheads="1" noChangeShapeType="1" noTextEdit="1"/>
              </p:cNvSpPr>
              <p:nvPr/>
            </p:nvSpPr>
            <p:spPr>
              <a:xfrm>
                <a:off x="3994984" y="3320111"/>
                <a:ext cx="720000" cy="361950"/>
              </a:xfrm>
              <a:prstGeom prst="roundRect">
                <a:avLst/>
              </a:prstGeom>
              <a:blipFill>
                <a:blip r:embed="rId12"/>
                <a:stretch>
                  <a:fillRect/>
                </a:stretch>
              </a:blipFill>
              <a:ln>
                <a:solidFill>
                  <a:schemeClr val="tx1"/>
                </a:solidFill>
              </a:ln>
            </p:spPr>
            <p:txBody>
              <a:bodyPr/>
              <a:lstStyle/>
              <a:p>
                <a:r>
                  <a:rPr lang="zh-TW" altLang="en-US">
                    <a:noFill/>
                  </a:rPr>
                  <a:t> </a:t>
                </a:r>
              </a:p>
            </p:txBody>
          </p:sp>
        </mc:Fallback>
      </mc:AlternateContent>
      <p:sp>
        <p:nvSpPr>
          <p:cNvPr id="50" name="矩形: 圓角 49">
            <a:extLst>
              <a:ext uri="{FF2B5EF4-FFF2-40B4-BE49-F238E27FC236}">
                <a16:creationId xmlns:a16="http://schemas.microsoft.com/office/drawing/2014/main" id="{954EE8A1-0BCF-2BB9-AB39-5485DB7238FC}"/>
              </a:ext>
            </a:extLst>
          </p:cNvPr>
          <p:cNvSpPr/>
          <p:nvPr/>
        </p:nvSpPr>
        <p:spPr>
          <a:xfrm>
            <a:off x="2006383" y="264136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矩形: 圓角 50">
            <a:extLst>
              <a:ext uri="{FF2B5EF4-FFF2-40B4-BE49-F238E27FC236}">
                <a16:creationId xmlns:a16="http://schemas.microsoft.com/office/drawing/2014/main" id="{2F2AFFA5-C58C-B9FD-EAF5-60AEDC74451F}"/>
              </a:ext>
            </a:extLst>
          </p:cNvPr>
          <p:cNvSpPr/>
          <p:nvPr/>
        </p:nvSpPr>
        <p:spPr>
          <a:xfrm>
            <a:off x="3047660" y="2651442"/>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矩形: 圓角 51">
            <a:extLst>
              <a:ext uri="{FF2B5EF4-FFF2-40B4-BE49-F238E27FC236}">
                <a16:creationId xmlns:a16="http://schemas.microsoft.com/office/drawing/2014/main" id="{17AE8D95-5937-9F8E-2F80-E721AB138CBA}"/>
              </a:ext>
            </a:extLst>
          </p:cNvPr>
          <p:cNvSpPr/>
          <p:nvPr/>
        </p:nvSpPr>
        <p:spPr>
          <a:xfrm>
            <a:off x="5130214" y="2632685"/>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3" name="矩形: 圓角 52">
            <a:extLst>
              <a:ext uri="{FF2B5EF4-FFF2-40B4-BE49-F238E27FC236}">
                <a16:creationId xmlns:a16="http://schemas.microsoft.com/office/drawing/2014/main" id="{4842F61D-3537-543C-90C4-45DBE8DFB904}"/>
              </a:ext>
            </a:extLst>
          </p:cNvPr>
          <p:cNvSpPr/>
          <p:nvPr/>
        </p:nvSpPr>
        <p:spPr>
          <a:xfrm>
            <a:off x="7212768" y="266034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4" name="矩形: 圓角 53">
            <a:extLst>
              <a:ext uri="{FF2B5EF4-FFF2-40B4-BE49-F238E27FC236}">
                <a16:creationId xmlns:a16="http://schemas.microsoft.com/office/drawing/2014/main" id="{5029FF4C-FAC3-C75E-7133-9D34604F3C05}"/>
              </a:ext>
            </a:extLst>
          </p:cNvPr>
          <p:cNvSpPr/>
          <p:nvPr/>
        </p:nvSpPr>
        <p:spPr>
          <a:xfrm>
            <a:off x="8254042" y="266034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55" name="矩形: 圓角 54">
                <a:extLst>
                  <a:ext uri="{FF2B5EF4-FFF2-40B4-BE49-F238E27FC236}">
                    <a16:creationId xmlns:a16="http://schemas.microsoft.com/office/drawing/2014/main" id="{DBA9B654-C757-3A1B-B1E1-BA6A3605F8D8}"/>
                  </a:ext>
                </a:extLst>
              </p:cNvPr>
              <p:cNvSpPr/>
              <p:nvPr/>
            </p:nvSpPr>
            <p:spPr>
              <a:xfrm>
                <a:off x="965106" y="2647664"/>
                <a:ext cx="540000" cy="361950"/>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5" name="矩形: 圓角 54">
                <a:extLst>
                  <a:ext uri="{FF2B5EF4-FFF2-40B4-BE49-F238E27FC236}">
                    <a16:creationId xmlns:a16="http://schemas.microsoft.com/office/drawing/2014/main" id="{DBA9B654-C757-3A1B-B1E1-BA6A3605F8D8}"/>
                  </a:ext>
                </a:extLst>
              </p:cNvPr>
              <p:cNvSpPr>
                <a:spLocks noRot="1" noChangeAspect="1" noMove="1" noResize="1" noEditPoints="1" noAdjustHandles="1" noChangeArrowheads="1" noChangeShapeType="1" noTextEdit="1"/>
              </p:cNvSpPr>
              <p:nvPr/>
            </p:nvSpPr>
            <p:spPr>
              <a:xfrm>
                <a:off x="965106" y="2647664"/>
                <a:ext cx="540000" cy="361950"/>
              </a:xfrm>
              <a:prstGeom prst="roundRect">
                <a:avLst/>
              </a:prstGeom>
              <a:blipFill>
                <a:blip r:embed="rId13"/>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矩形: 圓角 55">
                <a:extLst>
                  <a:ext uri="{FF2B5EF4-FFF2-40B4-BE49-F238E27FC236}">
                    <a16:creationId xmlns:a16="http://schemas.microsoft.com/office/drawing/2014/main" id="{8F629470-3727-7EB7-A1D9-892E8C9F9AC5}"/>
                  </a:ext>
                </a:extLst>
              </p:cNvPr>
              <p:cNvSpPr/>
              <p:nvPr/>
            </p:nvSpPr>
            <p:spPr>
              <a:xfrm>
                <a:off x="4088937" y="2641363"/>
                <a:ext cx="540000" cy="361950"/>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6" name="矩形: 圓角 55">
                <a:extLst>
                  <a:ext uri="{FF2B5EF4-FFF2-40B4-BE49-F238E27FC236}">
                    <a16:creationId xmlns:a16="http://schemas.microsoft.com/office/drawing/2014/main" id="{8F629470-3727-7EB7-A1D9-892E8C9F9AC5}"/>
                  </a:ext>
                </a:extLst>
              </p:cNvPr>
              <p:cNvSpPr>
                <a:spLocks noRot="1" noChangeAspect="1" noMove="1" noResize="1" noEditPoints="1" noAdjustHandles="1" noChangeArrowheads="1" noChangeShapeType="1" noTextEdit="1"/>
              </p:cNvSpPr>
              <p:nvPr/>
            </p:nvSpPr>
            <p:spPr>
              <a:xfrm>
                <a:off x="4088937" y="2641363"/>
                <a:ext cx="540000" cy="361950"/>
              </a:xfrm>
              <a:prstGeom prst="roundRect">
                <a:avLst/>
              </a:prstGeom>
              <a:blipFill>
                <a:blip r:embed="rId14"/>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矩形: 圓角 56">
                <a:extLst>
                  <a:ext uri="{FF2B5EF4-FFF2-40B4-BE49-F238E27FC236}">
                    <a16:creationId xmlns:a16="http://schemas.microsoft.com/office/drawing/2014/main" id="{B6C200CB-A794-EFDF-EE71-A530057CD3ED}"/>
                  </a:ext>
                </a:extLst>
              </p:cNvPr>
              <p:cNvSpPr/>
              <p:nvPr/>
            </p:nvSpPr>
            <p:spPr>
              <a:xfrm>
                <a:off x="6171491" y="2651442"/>
                <a:ext cx="540000" cy="361950"/>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7" name="矩形: 圓角 56">
                <a:extLst>
                  <a:ext uri="{FF2B5EF4-FFF2-40B4-BE49-F238E27FC236}">
                    <a16:creationId xmlns:a16="http://schemas.microsoft.com/office/drawing/2014/main" id="{B6C200CB-A794-EFDF-EE71-A530057CD3ED}"/>
                  </a:ext>
                </a:extLst>
              </p:cNvPr>
              <p:cNvSpPr>
                <a:spLocks noRot="1" noChangeAspect="1" noMove="1" noResize="1" noEditPoints="1" noAdjustHandles="1" noChangeArrowheads="1" noChangeShapeType="1" noTextEdit="1"/>
              </p:cNvSpPr>
              <p:nvPr/>
            </p:nvSpPr>
            <p:spPr>
              <a:xfrm>
                <a:off x="6171491" y="2651442"/>
                <a:ext cx="540000" cy="361950"/>
              </a:xfrm>
              <a:prstGeom prst="roundRect">
                <a:avLst/>
              </a:prstGeom>
              <a:blipFill>
                <a:blip r:embed="rId15"/>
                <a:stretch>
                  <a:fillRect/>
                </a:stretch>
              </a:blipFill>
              <a:ln>
                <a:solidFill>
                  <a:schemeClr val="tx1"/>
                </a:solidFill>
              </a:ln>
            </p:spPr>
            <p:txBody>
              <a:bodyPr/>
              <a:lstStyle/>
              <a:p>
                <a:r>
                  <a:rPr lang="zh-TW" altLang="en-US">
                    <a:noFill/>
                  </a:rPr>
                  <a:t> </a:t>
                </a:r>
              </a:p>
            </p:txBody>
          </p:sp>
        </mc:Fallback>
      </mc:AlternateContent>
      <p:sp>
        <p:nvSpPr>
          <p:cNvPr id="58" name="矩形: 圓角 57">
            <a:extLst>
              <a:ext uri="{FF2B5EF4-FFF2-40B4-BE49-F238E27FC236}">
                <a16:creationId xmlns:a16="http://schemas.microsoft.com/office/drawing/2014/main" id="{AB53C5EC-A605-2EE3-1077-501D6B6E106A}"/>
              </a:ext>
            </a:extLst>
          </p:cNvPr>
          <p:cNvSpPr/>
          <p:nvPr/>
        </p:nvSpPr>
        <p:spPr>
          <a:xfrm>
            <a:off x="879659" y="5675873"/>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9" name="矩形: 圓角 58">
            <a:extLst>
              <a:ext uri="{FF2B5EF4-FFF2-40B4-BE49-F238E27FC236}">
                <a16:creationId xmlns:a16="http://schemas.microsoft.com/office/drawing/2014/main" id="{8F39D51D-C61C-34A9-D819-4206C825B5CA}"/>
              </a:ext>
            </a:extLst>
          </p:cNvPr>
          <p:cNvSpPr/>
          <p:nvPr/>
        </p:nvSpPr>
        <p:spPr>
          <a:xfrm>
            <a:off x="969659" y="508737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0" name="矩形: 圓角 59">
            <a:extLst>
              <a:ext uri="{FF2B5EF4-FFF2-40B4-BE49-F238E27FC236}">
                <a16:creationId xmlns:a16="http://schemas.microsoft.com/office/drawing/2014/main" id="{CA37DAB2-FCB1-72B1-6344-546ABADFA5C6}"/>
              </a:ext>
            </a:extLst>
          </p:cNvPr>
          <p:cNvSpPr/>
          <p:nvPr/>
        </p:nvSpPr>
        <p:spPr>
          <a:xfrm>
            <a:off x="3995990" y="5675873"/>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1" name="矩形: 圓角 60">
            <a:extLst>
              <a:ext uri="{FF2B5EF4-FFF2-40B4-BE49-F238E27FC236}">
                <a16:creationId xmlns:a16="http://schemas.microsoft.com/office/drawing/2014/main" id="{7438571F-7EE5-18C0-E1FF-D0425FFABAC1}"/>
              </a:ext>
            </a:extLst>
          </p:cNvPr>
          <p:cNvSpPr/>
          <p:nvPr/>
        </p:nvSpPr>
        <p:spPr>
          <a:xfrm>
            <a:off x="2006933" y="508737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2" name="矩形: 圓角 61">
            <a:extLst>
              <a:ext uri="{FF2B5EF4-FFF2-40B4-BE49-F238E27FC236}">
                <a16:creationId xmlns:a16="http://schemas.microsoft.com/office/drawing/2014/main" id="{84BDB31E-430F-A70B-3244-32804FE92D3B}"/>
              </a:ext>
            </a:extLst>
          </p:cNvPr>
          <p:cNvSpPr/>
          <p:nvPr/>
        </p:nvSpPr>
        <p:spPr>
          <a:xfrm>
            <a:off x="6073544" y="5675873"/>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3" name="矩形: 圓角 62">
            <a:extLst>
              <a:ext uri="{FF2B5EF4-FFF2-40B4-BE49-F238E27FC236}">
                <a16:creationId xmlns:a16="http://schemas.microsoft.com/office/drawing/2014/main" id="{91C02A93-E24C-91B3-85D7-2402B2498F3F}"/>
              </a:ext>
            </a:extLst>
          </p:cNvPr>
          <p:cNvSpPr/>
          <p:nvPr/>
        </p:nvSpPr>
        <p:spPr>
          <a:xfrm>
            <a:off x="3044207" y="508737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4" name="矩形: 圓角 63">
            <a:extLst>
              <a:ext uri="{FF2B5EF4-FFF2-40B4-BE49-F238E27FC236}">
                <a16:creationId xmlns:a16="http://schemas.microsoft.com/office/drawing/2014/main" id="{466F07FD-46CC-8F24-4F2C-E8A42FD6A4FA}"/>
              </a:ext>
            </a:extLst>
          </p:cNvPr>
          <p:cNvSpPr/>
          <p:nvPr/>
        </p:nvSpPr>
        <p:spPr>
          <a:xfrm>
            <a:off x="4081481" y="508737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5" name="矩形: 圓角 64">
            <a:extLst>
              <a:ext uri="{FF2B5EF4-FFF2-40B4-BE49-F238E27FC236}">
                <a16:creationId xmlns:a16="http://schemas.microsoft.com/office/drawing/2014/main" id="{AC7B3C25-8A9B-B0B2-C85E-BC2547152D15}"/>
              </a:ext>
            </a:extLst>
          </p:cNvPr>
          <p:cNvSpPr/>
          <p:nvPr/>
        </p:nvSpPr>
        <p:spPr>
          <a:xfrm>
            <a:off x="5118755" y="508737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6" name="矩形: 圓角 65">
            <a:extLst>
              <a:ext uri="{FF2B5EF4-FFF2-40B4-BE49-F238E27FC236}">
                <a16:creationId xmlns:a16="http://schemas.microsoft.com/office/drawing/2014/main" id="{DE84C10C-6367-86D8-C6D2-9C224FAFDBB4}"/>
              </a:ext>
            </a:extLst>
          </p:cNvPr>
          <p:cNvSpPr/>
          <p:nvPr/>
        </p:nvSpPr>
        <p:spPr>
          <a:xfrm>
            <a:off x="6156029" y="508737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7" name="矩形: 圓角 66">
            <a:extLst>
              <a:ext uri="{FF2B5EF4-FFF2-40B4-BE49-F238E27FC236}">
                <a16:creationId xmlns:a16="http://schemas.microsoft.com/office/drawing/2014/main" id="{18BF2F0B-9A3D-5149-FB06-298E9F8D6F89}"/>
              </a:ext>
            </a:extLst>
          </p:cNvPr>
          <p:cNvSpPr/>
          <p:nvPr/>
        </p:nvSpPr>
        <p:spPr>
          <a:xfrm>
            <a:off x="7193303" y="508737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8" name="矩形: 圓角 67">
            <a:extLst>
              <a:ext uri="{FF2B5EF4-FFF2-40B4-BE49-F238E27FC236}">
                <a16:creationId xmlns:a16="http://schemas.microsoft.com/office/drawing/2014/main" id="{93398288-ACC8-C5A0-572B-A65004064533}"/>
              </a:ext>
            </a:extLst>
          </p:cNvPr>
          <p:cNvSpPr/>
          <p:nvPr/>
        </p:nvSpPr>
        <p:spPr>
          <a:xfrm>
            <a:off x="8230578" y="508737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69" name="矩形: 圓角 68">
                <a:extLst>
                  <a:ext uri="{FF2B5EF4-FFF2-40B4-BE49-F238E27FC236}">
                    <a16:creationId xmlns:a16="http://schemas.microsoft.com/office/drawing/2014/main" id="{809E60FC-E4F2-D908-1FE1-FA398BAA47F9}"/>
                  </a:ext>
                </a:extLst>
              </p:cNvPr>
              <p:cNvSpPr/>
              <p:nvPr/>
            </p:nvSpPr>
            <p:spPr>
              <a:xfrm>
                <a:off x="1918436" y="5675873"/>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69" name="矩形: 圓角 68">
                <a:extLst>
                  <a:ext uri="{FF2B5EF4-FFF2-40B4-BE49-F238E27FC236}">
                    <a16:creationId xmlns:a16="http://schemas.microsoft.com/office/drawing/2014/main" id="{809E60FC-E4F2-D908-1FE1-FA398BAA47F9}"/>
                  </a:ext>
                </a:extLst>
              </p:cNvPr>
              <p:cNvSpPr>
                <a:spLocks noRot="1" noChangeAspect="1" noMove="1" noResize="1" noEditPoints="1" noAdjustHandles="1" noChangeArrowheads="1" noChangeShapeType="1" noTextEdit="1"/>
              </p:cNvSpPr>
              <p:nvPr/>
            </p:nvSpPr>
            <p:spPr>
              <a:xfrm>
                <a:off x="1918436" y="5675873"/>
                <a:ext cx="720000" cy="361950"/>
              </a:xfrm>
              <a:prstGeom prst="roundRect">
                <a:avLst/>
              </a:prstGeom>
              <a:blipFill>
                <a:blip r:embed="rId16"/>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0" name="矩形: 圓角 69">
                <a:extLst>
                  <a:ext uri="{FF2B5EF4-FFF2-40B4-BE49-F238E27FC236}">
                    <a16:creationId xmlns:a16="http://schemas.microsoft.com/office/drawing/2014/main" id="{F604D70B-A66C-C44A-41E0-6AB18EB79790}"/>
                  </a:ext>
                </a:extLst>
              </p:cNvPr>
              <p:cNvSpPr/>
              <p:nvPr/>
            </p:nvSpPr>
            <p:spPr>
              <a:xfrm>
                <a:off x="2957213" y="5675873"/>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70" name="矩形: 圓角 69">
                <a:extLst>
                  <a:ext uri="{FF2B5EF4-FFF2-40B4-BE49-F238E27FC236}">
                    <a16:creationId xmlns:a16="http://schemas.microsoft.com/office/drawing/2014/main" id="{F604D70B-A66C-C44A-41E0-6AB18EB79790}"/>
                  </a:ext>
                </a:extLst>
              </p:cNvPr>
              <p:cNvSpPr>
                <a:spLocks noRot="1" noChangeAspect="1" noMove="1" noResize="1" noEditPoints="1" noAdjustHandles="1" noChangeArrowheads="1" noChangeShapeType="1" noTextEdit="1"/>
              </p:cNvSpPr>
              <p:nvPr/>
            </p:nvSpPr>
            <p:spPr>
              <a:xfrm>
                <a:off x="2957213" y="5675873"/>
                <a:ext cx="720000" cy="361950"/>
              </a:xfrm>
              <a:prstGeom prst="roundRect">
                <a:avLst/>
              </a:prstGeom>
              <a:blipFill>
                <a:blip r:embed="rId17"/>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1" name="矩形: 圓角 70">
                <a:extLst>
                  <a:ext uri="{FF2B5EF4-FFF2-40B4-BE49-F238E27FC236}">
                    <a16:creationId xmlns:a16="http://schemas.microsoft.com/office/drawing/2014/main" id="{96F8F37E-490F-D207-5DFF-EF5CEE288C1A}"/>
                  </a:ext>
                </a:extLst>
              </p:cNvPr>
              <p:cNvSpPr/>
              <p:nvPr/>
            </p:nvSpPr>
            <p:spPr>
              <a:xfrm>
                <a:off x="5034767" y="5675873"/>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71" name="矩形: 圓角 70">
                <a:extLst>
                  <a:ext uri="{FF2B5EF4-FFF2-40B4-BE49-F238E27FC236}">
                    <a16:creationId xmlns:a16="http://schemas.microsoft.com/office/drawing/2014/main" id="{96F8F37E-490F-D207-5DFF-EF5CEE288C1A}"/>
                  </a:ext>
                </a:extLst>
              </p:cNvPr>
              <p:cNvSpPr>
                <a:spLocks noRot="1" noChangeAspect="1" noMove="1" noResize="1" noEditPoints="1" noAdjustHandles="1" noChangeArrowheads="1" noChangeShapeType="1" noTextEdit="1"/>
              </p:cNvSpPr>
              <p:nvPr/>
            </p:nvSpPr>
            <p:spPr>
              <a:xfrm>
                <a:off x="5034767" y="5675873"/>
                <a:ext cx="720000" cy="361950"/>
              </a:xfrm>
              <a:prstGeom prst="roundRect">
                <a:avLst/>
              </a:prstGeom>
              <a:blipFill>
                <a:blip r:embed="rId18"/>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2" name="矩形: 圓角 71">
                <a:extLst>
                  <a:ext uri="{FF2B5EF4-FFF2-40B4-BE49-F238E27FC236}">
                    <a16:creationId xmlns:a16="http://schemas.microsoft.com/office/drawing/2014/main" id="{94A00F72-A54B-FC48-8346-72B8D25B1C73}"/>
                  </a:ext>
                </a:extLst>
              </p:cNvPr>
              <p:cNvSpPr/>
              <p:nvPr/>
            </p:nvSpPr>
            <p:spPr>
              <a:xfrm>
                <a:off x="7112321" y="5675873"/>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72" name="矩形: 圓角 71">
                <a:extLst>
                  <a:ext uri="{FF2B5EF4-FFF2-40B4-BE49-F238E27FC236}">
                    <a16:creationId xmlns:a16="http://schemas.microsoft.com/office/drawing/2014/main" id="{94A00F72-A54B-FC48-8346-72B8D25B1C73}"/>
                  </a:ext>
                </a:extLst>
              </p:cNvPr>
              <p:cNvSpPr>
                <a:spLocks noRot="1" noChangeAspect="1" noMove="1" noResize="1" noEditPoints="1" noAdjustHandles="1" noChangeArrowheads="1" noChangeShapeType="1" noTextEdit="1"/>
              </p:cNvSpPr>
              <p:nvPr/>
            </p:nvSpPr>
            <p:spPr>
              <a:xfrm>
                <a:off x="7112321" y="5675873"/>
                <a:ext cx="720000" cy="361950"/>
              </a:xfrm>
              <a:prstGeom prst="roundRect">
                <a:avLst/>
              </a:prstGeom>
              <a:blipFill>
                <a:blip r:embed="rId19"/>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矩形: 圓角 72">
                <a:extLst>
                  <a:ext uri="{FF2B5EF4-FFF2-40B4-BE49-F238E27FC236}">
                    <a16:creationId xmlns:a16="http://schemas.microsoft.com/office/drawing/2014/main" id="{12E84954-448F-9E87-8234-0F87EEFAD739}"/>
                  </a:ext>
                </a:extLst>
              </p:cNvPr>
              <p:cNvSpPr/>
              <p:nvPr/>
            </p:nvSpPr>
            <p:spPr>
              <a:xfrm>
                <a:off x="8151101" y="5675873"/>
                <a:ext cx="720000" cy="36195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𝜀</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73" name="矩形: 圓角 72">
                <a:extLst>
                  <a:ext uri="{FF2B5EF4-FFF2-40B4-BE49-F238E27FC236}">
                    <a16:creationId xmlns:a16="http://schemas.microsoft.com/office/drawing/2014/main" id="{12E84954-448F-9E87-8234-0F87EEFAD739}"/>
                  </a:ext>
                </a:extLst>
              </p:cNvPr>
              <p:cNvSpPr>
                <a:spLocks noRot="1" noChangeAspect="1" noMove="1" noResize="1" noEditPoints="1" noAdjustHandles="1" noChangeArrowheads="1" noChangeShapeType="1" noTextEdit="1"/>
              </p:cNvSpPr>
              <p:nvPr/>
            </p:nvSpPr>
            <p:spPr>
              <a:xfrm>
                <a:off x="8151101" y="5675873"/>
                <a:ext cx="720000" cy="361950"/>
              </a:xfrm>
              <a:prstGeom prst="roundRect">
                <a:avLst/>
              </a:prstGeom>
              <a:blipFill>
                <a:blip r:embed="rId20"/>
                <a:stretch>
                  <a:fillRect/>
                </a:stretch>
              </a:blipFill>
              <a:ln>
                <a:solidFill>
                  <a:schemeClr val="tx1"/>
                </a:solidFill>
              </a:ln>
            </p:spPr>
            <p:txBody>
              <a:bodyPr/>
              <a:lstStyle/>
              <a:p>
                <a:r>
                  <a:rPr lang="zh-TW" altLang="en-US">
                    <a:noFill/>
                  </a:rPr>
                  <a:t> </a:t>
                </a:r>
              </a:p>
            </p:txBody>
          </p:sp>
        </mc:Fallback>
      </mc:AlternateContent>
      <p:sp>
        <p:nvSpPr>
          <p:cNvPr id="3" name="文字方塊 2">
            <a:extLst>
              <a:ext uri="{FF2B5EF4-FFF2-40B4-BE49-F238E27FC236}">
                <a16:creationId xmlns:a16="http://schemas.microsoft.com/office/drawing/2014/main" id="{CE7B6F47-BE30-3486-EA8C-F286CADFBABC}"/>
              </a:ext>
            </a:extLst>
          </p:cNvPr>
          <p:cNvSpPr txBox="1"/>
          <p:nvPr/>
        </p:nvSpPr>
        <p:spPr>
          <a:xfrm>
            <a:off x="6421710" y="4149673"/>
            <a:ext cx="2155494"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fixed number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右大括弧 9">
            <a:extLst>
              <a:ext uri="{FF2B5EF4-FFF2-40B4-BE49-F238E27FC236}">
                <a16:creationId xmlns:a16="http://schemas.microsoft.com/office/drawing/2014/main" id="{B366D104-A93F-F0DA-9181-8A4D0FFD5F42}"/>
              </a:ext>
            </a:extLst>
          </p:cNvPr>
          <p:cNvSpPr/>
          <p:nvPr/>
        </p:nvSpPr>
        <p:spPr>
          <a:xfrm rot="5400000">
            <a:off x="7238895" y="2502365"/>
            <a:ext cx="531527" cy="2890919"/>
          </a:xfrm>
          <a:prstGeom prst="rightBrace">
            <a:avLst>
              <a:gd name="adj1" fmla="val 40792"/>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C0687010-AB99-CD95-22F7-7E6812D19D8B}"/>
              </a:ext>
            </a:extLst>
          </p:cNvPr>
          <p:cNvSpPr txBox="1"/>
          <p:nvPr/>
        </p:nvSpPr>
        <p:spPr>
          <a:xfrm>
            <a:off x="2256113" y="4149673"/>
            <a:ext cx="2155494"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fixed number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右大括弧 11">
            <a:extLst>
              <a:ext uri="{FF2B5EF4-FFF2-40B4-BE49-F238E27FC236}">
                <a16:creationId xmlns:a16="http://schemas.microsoft.com/office/drawing/2014/main" id="{FE2C0E13-2150-D4CD-00D0-CAC85B265BA2}"/>
              </a:ext>
            </a:extLst>
          </p:cNvPr>
          <p:cNvSpPr/>
          <p:nvPr/>
        </p:nvSpPr>
        <p:spPr>
          <a:xfrm rot="5400000">
            <a:off x="3073298" y="2502365"/>
            <a:ext cx="531527" cy="2890919"/>
          </a:xfrm>
          <a:prstGeom prst="rightBrace">
            <a:avLst>
              <a:gd name="adj1" fmla="val 40792"/>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 name="文字方塊 1">
            <a:extLst>
              <a:ext uri="{FF2B5EF4-FFF2-40B4-BE49-F238E27FC236}">
                <a16:creationId xmlns:a16="http://schemas.microsoft.com/office/drawing/2014/main" id="{247AE911-19FE-E1EE-F11E-90F715F67797}"/>
              </a:ext>
            </a:extLst>
          </p:cNvPr>
          <p:cNvSpPr txBox="1"/>
          <p:nvPr/>
        </p:nvSpPr>
        <p:spPr>
          <a:xfrm>
            <a:off x="389428" y="2151988"/>
            <a:ext cx="155644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CTC</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loss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文字方塊 18">
            <a:extLst>
              <a:ext uri="{FF2B5EF4-FFF2-40B4-BE49-F238E27FC236}">
                <a16:creationId xmlns:a16="http://schemas.microsoft.com/office/drawing/2014/main" id="{86CE87C3-95FF-0AE3-09FA-CF74AC120D1F}"/>
              </a:ext>
            </a:extLst>
          </p:cNvPr>
          <p:cNvSpPr txBox="1"/>
          <p:nvPr/>
        </p:nvSpPr>
        <p:spPr>
          <a:xfrm>
            <a:off x="1417689" y="6231954"/>
            <a:ext cx="781594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This is similar to a duration model.</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75086970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80;p15">
            <a:extLst>
              <a:ext uri="{FF2B5EF4-FFF2-40B4-BE49-F238E27FC236}">
                <a16:creationId xmlns:a16="http://schemas.microsoft.com/office/drawing/2014/main" id="{05819C30-99C7-6792-E2AC-8791D9D9C9A2}"/>
              </a:ext>
            </a:extLst>
          </p:cNvPr>
          <p:cNvGraphicFramePr/>
          <p:nvPr>
            <p:extLst>
              <p:ext uri="{D42A27DB-BD31-4B8C-83A1-F6EECF244321}">
                <p14:modId xmlns:p14="http://schemas.microsoft.com/office/powerpoint/2010/main" val="3877902930"/>
              </p:ext>
            </p:extLst>
          </p:nvPr>
        </p:nvGraphicFramePr>
        <p:xfrm>
          <a:off x="981119" y="4319930"/>
          <a:ext cx="10229762" cy="1828770"/>
        </p:xfrm>
        <a:graphic>
          <a:graphicData uri="http://schemas.openxmlformats.org/drawingml/2006/table">
            <a:tbl>
              <a:tblPr>
                <a:noFill/>
              </a:tblPr>
              <a:tblGrid>
                <a:gridCol w="669018">
                  <a:extLst>
                    <a:ext uri="{9D8B030D-6E8A-4147-A177-3AD203B41FA5}">
                      <a16:colId xmlns:a16="http://schemas.microsoft.com/office/drawing/2014/main" val="20000"/>
                    </a:ext>
                  </a:extLst>
                </a:gridCol>
                <a:gridCol w="3786701">
                  <a:extLst>
                    <a:ext uri="{9D8B030D-6E8A-4147-A177-3AD203B41FA5}">
                      <a16:colId xmlns:a16="http://schemas.microsoft.com/office/drawing/2014/main" val="20001"/>
                    </a:ext>
                  </a:extLst>
                </a:gridCol>
                <a:gridCol w="659162">
                  <a:extLst>
                    <a:ext uri="{9D8B030D-6E8A-4147-A177-3AD203B41FA5}">
                      <a16:colId xmlns:a16="http://schemas.microsoft.com/office/drawing/2014/main" val="20002"/>
                    </a:ext>
                  </a:extLst>
                </a:gridCol>
                <a:gridCol w="5114881">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zh-TW"/>
                        <a:t>I am hungry now. Can you give me some ideas?</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zh-TW" dirty="0"/>
                        <a:t>I'd be happy to help you with some ideas for something to eat. What kind of food are you in the mood for? Are you craving something sweet, savory, or something else? Do you have any dietary restrictions or preferences? Let me know and I can suggest some options for you.</a:t>
                      </a:r>
                      <a:endParaRPr dirty="0"/>
                    </a:p>
                  </a:txBody>
                  <a:tcPr marL="91425" marR="91425" marT="91425" marB="91425"/>
                </a:tc>
                <a:extLst>
                  <a:ext uri="{0D108BD9-81ED-4DB2-BD59-A6C34878D82A}">
                    <a16:rowId xmlns:a16="http://schemas.microsoft.com/office/drawing/2014/main" val="10001"/>
                  </a:ext>
                </a:extLst>
              </a:tr>
            </a:tbl>
          </a:graphicData>
        </a:graphic>
      </p:graphicFrame>
      <p:pic>
        <p:nvPicPr>
          <p:cNvPr id="5" name="good_1">
            <a:hlinkClick r:id="" action="ppaction://media"/>
            <a:extLst>
              <a:ext uri="{FF2B5EF4-FFF2-40B4-BE49-F238E27FC236}">
                <a16:creationId xmlns:a16="http://schemas.microsoft.com/office/drawing/2014/main" id="{DCF77775-FDE4-D4D0-49AD-E2858D9F4B1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5495090" y="5039078"/>
            <a:ext cx="609600" cy="609600"/>
          </a:xfrm>
          <a:prstGeom prst="rect">
            <a:avLst/>
          </a:prstGeom>
        </p:spPr>
      </p:pic>
      <p:pic>
        <p:nvPicPr>
          <p:cNvPr id="6" name="good_q_1">
            <a:hlinkClick r:id="" action="ppaction://media"/>
            <a:extLst>
              <a:ext uri="{FF2B5EF4-FFF2-40B4-BE49-F238E27FC236}">
                <a16:creationId xmlns:a16="http://schemas.microsoft.com/office/drawing/2014/main" id="{0C2D31FC-5572-C46E-E1E6-6187E2610A7A}"/>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1053446" y="5039078"/>
            <a:ext cx="609600" cy="609600"/>
          </a:xfrm>
          <a:prstGeom prst="rect">
            <a:avLst/>
          </a:prstGeom>
        </p:spPr>
      </p:pic>
      <p:sp>
        <p:nvSpPr>
          <p:cNvPr id="7" name="文字方塊 6">
            <a:extLst>
              <a:ext uri="{FF2B5EF4-FFF2-40B4-BE49-F238E27FC236}">
                <a16:creationId xmlns:a16="http://schemas.microsoft.com/office/drawing/2014/main" id="{176DB07C-5ED7-3092-BA68-6F523C4B46DD}"/>
              </a:ext>
            </a:extLst>
          </p:cNvPr>
          <p:cNvSpPr txBox="1"/>
          <p:nvPr/>
        </p:nvSpPr>
        <p:spPr>
          <a:xfrm>
            <a:off x="8284072" y="3856892"/>
            <a:ext cx="3638845" cy="369332"/>
          </a:xfrm>
          <a:prstGeom prst="rect">
            <a:avLst/>
          </a:prstGeom>
          <a:noFill/>
        </p:spPr>
        <p:txBody>
          <a:bodyPr wrap="square">
            <a:spAutoFit/>
          </a:bodyPr>
          <a:lstStyle/>
          <a:p>
            <a:r>
              <a:rPr lang="zh-TW" altLang="en-US" dirty="0"/>
              <a:t>https://arxiv.org/abs/2505.17496</a:t>
            </a:r>
          </a:p>
        </p:txBody>
      </p:sp>
      <p:sp>
        <p:nvSpPr>
          <p:cNvPr id="8" name="文字方塊 7">
            <a:extLst>
              <a:ext uri="{FF2B5EF4-FFF2-40B4-BE49-F238E27FC236}">
                <a16:creationId xmlns:a16="http://schemas.microsoft.com/office/drawing/2014/main" id="{06C3C070-1DD7-8AC8-DA36-BF9FB7D302E6}"/>
              </a:ext>
            </a:extLst>
          </p:cNvPr>
          <p:cNvSpPr txBox="1"/>
          <p:nvPr/>
        </p:nvSpPr>
        <p:spPr>
          <a:xfrm>
            <a:off x="6321178" y="6240507"/>
            <a:ext cx="5000041" cy="369332"/>
          </a:xfrm>
          <a:prstGeom prst="rect">
            <a:avLst/>
          </a:prstGeom>
          <a:noFill/>
        </p:spPr>
        <p:txBody>
          <a:bodyPr wrap="square" rtlCol="0">
            <a:spAutoFit/>
          </a:bodyPr>
          <a:lstStyle/>
          <a:p>
            <a:pPr algn="r"/>
            <a:r>
              <a:rPr lang="zh-TW" altLang="en-US" dirty="0"/>
              <a:t>音檔由蕭淇元同學提供 </a:t>
            </a:r>
          </a:p>
        </p:txBody>
      </p:sp>
      <p:pic>
        <p:nvPicPr>
          <p:cNvPr id="10" name="圖片 9" descr="一張含有 文字, 螢幕擷取畫面, 圖表, 字型 的圖片&#10;&#10;AI 產生的內容可能不正確。">
            <a:extLst>
              <a:ext uri="{FF2B5EF4-FFF2-40B4-BE49-F238E27FC236}">
                <a16:creationId xmlns:a16="http://schemas.microsoft.com/office/drawing/2014/main" id="{DEBE6A11-89A3-24E2-9455-0BB8F4BE36C3}"/>
              </a:ext>
            </a:extLst>
          </p:cNvPr>
          <p:cNvPicPr>
            <a:picLocks noChangeAspect="1"/>
          </p:cNvPicPr>
          <p:nvPr/>
        </p:nvPicPr>
        <p:blipFill>
          <a:blip r:embed="rId8"/>
          <a:stretch>
            <a:fillRect/>
          </a:stretch>
        </p:blipFill>
        <p:spPr>
          <a:xfrm>
            <a:off x="577063" y="491290"/>
            <a:ext cx="5610207" cy="3302156"/>
          </a:xfrm>
          <a:prstGeom prst="rect">
            <a:avLst/>
          </a:prstGeom>
        </p:spPr>
      </p:pic>
      <p:sp>
        <p:nvSpPr>
          <p:cNvPr id="12" name="文字方塊 11">
            <a:extLst>
              <a:ext uri="{FF2B5EF4-FFF2-40B4-BE49-F238E27FC236}">
                <a16:creationId xmlns:a16="http://schemas.microsoft.com/office/drawing/2014/main" id="{2EDF6836-63E0-0A7F-C6CF-31C764FA0104}"/>
              </a:ext>
            </a:extLst>
          </p:cNvPr>
          <p:cNvSpPr txBox="1"/>
          <p:nvPr/>
        </p:nvSpPr>
        <p:spPr>
          <a:xfrm>
            <a:off x="2548425" y="3858791"/>
            <a:ext cx="3638845" cy="369332"/>
          </a:xfrm>
          <a:prstGeom prst="rect">
            <a:avLst/>
          </a:prstGeom>
          <a:noFill/>
        </p:spPr>
        <p:txBody>
          <a:bodyPr wrap="square">
            <a:spAutoFit/>
          </a:bodyPr>
          <a:lstStyle/>
          <a:p>
            <a:r>
              <a:rPr lang="zh-TW" altLang="en-US" dirty="0"/>
              <a:t>https://arxiv.org/abs/2411.07111</a:t>
            </a:r>
          </a:p>
        </p:txBody>
      </p:sp>
      <p:pic>
        <p:nvPicPr>
          <p:cNvPr id="14" name="圖片 13" descr="一張含有 文字, 螢幕擷取畫面, 字型, 圖表 的圖片&#10;&#10;AI 產生的內容可能不正確。">
            <a:extLst>
              <a:ext uri="{FF2B5EF4-FFF2-40B4-BE49-F238E27FC236}">
                <a16:creationId xmlns:a16="http://schemas.microsoft.com/office/drawing/2014/main" id="{B23503F4-8DE1-2409-B176-E392C9767CE9}"/>
              </a:ext>
            </a:extLst>
          </p:cNvPr>
          <p:cNvPicPr>
            <a:picLocks noChangeAspect="1"/>
          </p:cNvPicPr>
          <p:nvPr/>
        </p:nvPicPr>
        <p:blipFill>
          <a:blip r:embed="rId9"/>
          <a:stretch>
            <a:fillRect/>
          </a:stretch>
        </p:blipFill>
        <p:spPr>
          <a:xfrm>
            <a:off x="6431518" y="697958"/>
            <a:ext cx="4779363" cy="3173893"/>
          </a:xfrm>
          <a:prstGeom prst="rect">
            <a:avLst/>
          </a:prstGeom>
        </p:spPr>
      </p:pic>
      <p:sp>
        <p:nvSpPr>
          <p:cNvPr id="2" name="文字方塊 1">
            <a:extLst>
              <a:ext uri="{FF2B5EF4-FFF2-40B4-BE49-F238E27FC236}">
                <a16:creationId xmlns:a16="http://schemas.microsoft.com/office/drawing/2014/main" id="{8B50B161-1A1A-976B-FD86-64554366118B}"/>
              </a:ext>
            </a:extLst>
          </p:cNvPr>
          <p:cNvSpPr txBox="1"/>
          <p:nvPr/>
        </p:nvSpPr>
        <p:spPr>
          <a:xfrm>
            <a:off x="263193" y="0"/>
            <a:ext cx="999915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then speech (</a:t>
            </a:r>
            <a:r>
              <a:rPr lang="en-US" altLang="zh-TW" sz="2800" dirty="0">
                <a:solidFill>
                  <a:prstClr val="black"/>
                </a:solidFill>
                <a:latin typeface="Calibri" panose="020F0502020204030204"/>
                <a:ea typeface="新細明體" panose="02020500000000000000" pitchFamily="18" charset="-120"/>
              </a:rPr>
              <a:t>word</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-level)</a:t>
            </a:r>
            <a:r>
              <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p>
        </p:txBody>
      </p:sp>
      <p:sp>
        <p:nvSpPr>
          <p:cNvPr id="3" name="文字方塊 2">
            <a:extLst>
              <a:ext uri="{FF2B5EF4-FFF2-40B4-BE49-F238E27FC236}">
                <a16:creationId xmlns:a16="http://schemas.microsoft.com/office/drawing/2014/main" id="{EB2686F6-126D-4B93-B0C6-1A4C3B1127CF}"/>
              </a:ext>
            </a:extLst>
          </p:cNvPr>
          <p:cNvSpPr txBox="1"/>
          <p:nvPr/>
        </p:nvSpPr>
        <p:spPr>
          <a:xfrm>
            <a:off x="1771648" y="5039078"/>
            <a:ext cx="3614840" cy="830997"/>
          </a:xfrm>
          <a:prstGeom prst="rect">
            <a:avLst/>
          </a:prstGeom>
          <a:noFill/>
        </p:spPr>
        <p:txBody>
          <a:bodyPr wrap="square" rtlCol="0">
            <a:spAutoFit/>
          </a:bodyPr>
          <a:lstStyle/>
          <a:p>
            <a:r>
              <a:rPr lang="en-US" altLang="zh-TW" sz="2400" dirty="0"/>
              <a:t>The training data is approximately 1,000 hours.</a:t>
            </a:r>
            <a:endParaRPr lang="zh-TW" altLang="en-US" sz="2400" dirty="0"/>
          </a:p>
        </p:txBody>
      </p:sp>
    </p:spTree>
    <p:extLst>
      <p:ext uri="{BB962C8B-B14F-4D97-AF65-F5344CB8AC3E}">
        <p14:creationId xmlns:p14="http://schemas.microsoft.com/office/powerpoint/2010/main" val="31386067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12"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7460"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5"/>
                </p:tgtEl>
              </p:cMediaNode>
            </p:audio>
            <p:audio>
              <p:cMediaNode vol="80000">
                <p:cTn id="16" fill="hold" display="0">
                  <p:stCondLst>
                    <p:cond delay="indefinite"/>
                  </p:stCondLst>
                  <p:endCondLst>
                    <p:cond evt="onStopAudio" delay="0">
                      <p:tgtEl>
                        <p:sldTgt/>
                      </p:tgtEl>
                    </p:cond>
                  </p:endCondLst>
                </p:cTn>
                <p:tgtEl>
                  <p:spTgt spid="6"/>
                </p:tgtEl>
              </p:cMediaNode>
            </p:audio>
          </p:childTnLst>
        </p:cTn>
      </p:par>
    </p:tnLst>
    <p:bldLst>
      <p:bldP spid="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圓角 3">
            <a:extLst>
              <a:ext uri="{FF2B5EF4-FFF2-40B4-BE49-F238E27FC236}">
                <a16:creationId xmlns:a16="http://schemas.microsoft.com/office/drawing/2014/main" id="{3BA4093F-477C-2505-41DB-320F349C8EAB}"/>
              </a:ext>
            </a:extLst>
          </p:cNvPr>
          <p:cNvSpPr/>
          <p:nvPr/>
        </p:nvSpPr>
        <p:spPr>
          <a:xfrm>
            <a:off x="1620021" y="1352446"/>
            <a:ext cx="1907809" cy="1236330"/>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矩形: 圓角 4">
            <a:extLst>
              <a:ext uri="{FF2B5EF4-FFF2-40B4-BE49-F238E27FC236}">
                <a16:creationId xmlns:a16="http://schemas.microsoft.com/office/drawing/2014/main" id="{828EDEE0-ED17-6C46-069D-B6DD0BD2E093}"/>
              </a:ext>
            </a:extLst>
          </p:cNvPr>
          <p:cNvSpPr/>
          <p:nvPr/>
        </p:nvSpPr>
        <p:spPr>
          <a:xfrm>
            <a:off x="1639071" y="3253903"/>
            <a:ext cx="1907809" cy="1236330"/>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箭號: 向下 5">
            <a:extLst>
              <a:ext uri="{FF2B5EF4-FFF2-40B4-BE49-F238E27FC236}">
                <a16:creationId xmlns:a16="http://schemas.microsoft.com/office/drawing/2014/main" id="{C705CAA2-C396-DAC3-9F7A-0BFFE7441CBD}"/>
              </a:ext>
            </a:extLst>
          </p:cNvPr>
          <p:cNvSpPr/>
          <p:nvPr/>
        </p:nvSpPr>
        <p:spPr>
          <a:xfrm>
            <a:off x="2309911" y="2628428"/>
            <a:ext cx="590550" cy="64210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7" name="文字方塊 6">
            <a:extLst>
              <a:ext uri="{FF2B5EF4-FFF2-40B4-BE49-F238E27FC236}">
                <a16:creationId xmlns:a16="http://schemas.microsoft.com/office/drawing/2014/main" id="{608D3C83-F9F8-DA9D-F4C3-748A50D259AA}"/>
              </a:ext>
            </a:extLst>
          </p:cNvPr>
          <p:cNvSpPr txBox="1"/>
          <p:nvPr/>
        </p:nvSpPr>
        <p:spPr>
          <a:xfrm>
            <a:off x="233461" y="2628428"/>
            <a:ext cx="207645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Initialization </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 name="直線單箭頭接點 7">
            <a:extLst>
              <a:ext uri="{FF2B5EF4-FFF2-40B4-BE49-F238E27FC236}">
                <a16:creationId xmlns:a16="http://schemas.microsoft.com/office/drawing/2014/main" id="{1F0455B1-236C-A24E-624A-9897841F2D03}"/>
              </a:ext>
            </a:extLst>
          </p:cNvPr>
          <p:cNvCxnSpPr>
            <a:cxnSpLocks/>
          </p:cNvCxnSpPr>
          <p:nvPr/>
        </p:nvCxnSpPr>
        <p:spPr>
          <a:xfrm>
            <a:off x="3743730" y="1988357"/>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圓角 8">
            <a:extLst>
              <a:ext uri="{FF2B5EF4-FFF2-40B4-BE49-F238E27FC236}">
                <a16:creationId xmlns:a16="http://schemas.microsoft.com/office/drawing/2014/main" id="{B1D21EAC-4C43-2B41-361D-5A400A5769CB}"/>
              </a:ext>
            </a:extLst>
          </p:cNvPr>
          <p:cNvSpPr/>
          <p:nvPr/>
        </p:nvSpPr>
        <p:spPr>
          <a:xfrm>
            <a:off x="4777358" y="1797163"/>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D8C16133-1106-8754-776F-5600DA7B37E8}"/>
              </a:ext>
            </a:extLst>
          </p:cNvPr>
          <p:cNvSpPr/>
          <p:nvPr/>
        </p:nvSpPr>
        <p:spPr>
          <a:xfrm>
            <a:off x="5713258" y="1797163"/>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83220B9A-EA7B-C260-75DB-51B1E4EB1191}"/>
              </a:ext>
            </a:extLst>
          </p:cNvPr>
          <p:cNvSpPr/>
          <p:nvPr/>
        </p:nvSpPr>
        <p:spPr>
          <a:xfrm>
            <a:off x="6649158" y="1797163"/>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2" name="直線單箭頭接點 11">
            <a:extLst>
              <a:ext uri="{FF2B5EF4-FFF2-40B4-BE49-F238E27FC236}">
                <a16:creationId xmlns:a16="http://schemas.microsoft.com/office/drawing/2014/main" id="{A44BDD07-600F-9A52-B8D0-02908436103B}"/>
              </a:ext>
            </a:extLst>
          </p:cNvPr>
          <p:cNvCxnSpPr>
            <a:cxnSpLocks/>
          </p:cNvCxnSpPr>
          <p:nvPr/>
        </p:nvCxnSpPr>
        <p:spPr>
          <a:xfrm>
            <a:off x="3743730" y="3872068"/>
            <a:ext cx="8177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圓角 12">
            <a:extLst>
              <a:ext uri="{FF2B5EF4-FFF2-40B4-BE49-F238E27FC236}">
                <a16:creationId xmlns:a16="http://schemas.microsoft.com/office/drawing/2014/main" id="{F0378B77-85E9-4564-1915-3A49056F5A36}"/>
              </a:ext>
            </a:extLst>
          </p:cNvPr>
          <p:cNvSpPr/>
          <p:nvPr/>
        </p:nvSpPr>
        <p:spPr>
          <a:xfrm>
            <a:off x="4777358" y="3692068"/>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FB053310-15DE-7A5C-9DB4-5C8F25DD70BD}"/>
              </a:ext>
            </a:extLst>
          </p:cNvPr>
          <p:cNvSpPr/>
          <p:nvPr/>
        </p:nvSpPr>
        <p:spPr>
          <a:xfrm>
            <a:off x="7305730" y="3692068"/>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C3F57F8F-7318-4EDB-36A7-B1E80B81BF6A}"/>
              </a:ext>
            </a:extLst>
          </p:cNvPr>
          <p:cNvSpPr/>
          <p:nvPr/>
        </p:nvSpPr>
        <p:spPr>
          <a:xfrm>
            <a:off x="9220084" y="3692068"/>
            <a:ext cx="720000"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2DE79911-55C2-95D3-975E-87ECBD1A5734}"/>
              </a:ext>
            </a:extLst>
          </p:cNvPr>
          <p:cNvSpPr/>
          <p:nvPr/>
        </p:nvSpPr>
        <p:spPr>
          <a:xfrm>
            <a:off x="5570911" y="369206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00903E10-9E86-2DB6-AC1A-4E4C0268B96C}"/>
              </a:ext>
            </a:extLst>
          </p:cNvPr>
          <p:cNvSpPr/>
          <p:nvPr/>
        </p:nvSpPr>
        <p:spPr>
          <a:xfrm>
            <a:off x="6149029" y="369206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A2BDDEB6-8ABD-3D94-B805-B3B7AC9B76DC}"/>
              </a:ext>
            </a:extLst>
          </p:cNvPr>
          <p:cNvSpPr/>
          <p:nvPr/>
        </p:nvSpPr>
        <p:spPr>
          <a:xfrm>
            <a:off x="6727147" y="369206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EC8FA2C0-6DC1-93CC-228D-5DB452F45951}"/>
              </a:ext>
            </a:extLst>
          </p:cNvPr>
          <p:cNvSpPr/>
          <p:nvPr/>
        </p:nvSpPr>
        <p:spPr>
          <a:xfrm>
            <a:off x="8063848" y="369206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B0F44A45-7392-3EFE-E1DD-637BFF671070}"/>
              </a:ext>
            </a:extLst>
          </p:cNvPr>
          <p:cNvSpPr/>
          <p:nvPr/>
        </p:nvSpPr>
        <p:spPr>
          <a:xfrm>
            <a:off x="8641966" y="369206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71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3CC7C122-238B-D5FE-036D-94D8BC224487}"/>
              </a:ext>
            </a:extLst>
          </p:cNvPr>
          <p:cNvSpPr/>
          <p:nvPr/>
        </p:nvSpPr>
        <p:spPr>
          <a:xfrm>
            <a:off x="9978202" y="369011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34</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CF4507F0-15E6-390F-493C-C6C8BEFCE572}"/>
              </a:ext>
            </a:extLst>
          </p:cNvPr>
          <p:cNvSpPr/>
          <p:nvPr/>
        </p:nvSpPr>
        <p:spPr>
          <a:xfrm>
            <a:off x="10556320" y="369011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60299884-E3AB-51D4-1FD6-3CCCCB4C4BC6}"/>
              </a:ext>
            </a:extLst>
          </p:cNvPr>
          <p:cNvSpPr/>
          <p:nvPr/>
        </p:nvSpPr>
        <p:spPr>
          <a:xfrm>
            <a:off x="11134436" y="3690118"/>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5" name="直線單箭頭接點 34">
            <a:extLst>
              <a:ext uri="{FF2B5EF4-FFF2-40B4-BE49-F238E27FC236}">
                <a16:creationId xmlns:a16="http://schemas.microsoft.com/office/drawing/2014/main" id="{D4EDA1A7-2338-63B4-C774-9BBBC80D1CBB}"/>
              </a:ext>
            </a:extLst>
          </p:cNvPr>
          <p:cNvCxnSpPr>
            <a:cxnSpLocks/>
          </p:cNvCxnSpPr>
          <p:nvPr/>
        </p:nvCxnSpPr>
        <p:spPr>
          <a:xfrm flipH="1">
            <a:off x="7008614" y="822799"/>
            <a:ext cx="594231" cy="875489"/>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17387AA4-6022-1B62-2619-71ED1B56DBED}"/>
              </a:ext>
            </a:extLst>
          </p:cNvPr>
          <p:cNvSpPr txBox="1"/>
          <p:nvPr/>
        </p:nvSpPr>
        <p:spPr>
          <a:xfrm>
            <a:off x="7251330" y="361134"/>
            <a:ext cx="2083613" cy="461665"/>
          </a:xfrm>
          <a:prstGeom prst="rect">
            <a:avLst/>
          </a:prstGeom>
          <a:noFill/>
        </p:spPr>
        <p:txBody>
          <a:bodyPr wrap="square" rtlCol="0">
            <a:spAutoFit/>
          </a:bodyPr>
          <a:lstStyle/>
          <a:p>
            <a:r>
              <a:rPr lang="en-US" altLang="zh-TW" sz="2400" dirty="0"/>
              <a:t>3 – 4 Hz</a:t>
            </a:r>
            <a:endParaRPr lang="zh-TW" altLang="en-US" sz="2400" dirty="0"/>
          </a:p>
        </p:txBody>
      </p:sp>
      <p:cxnSp>
        <p:nvCxnSpPr>
          <p:cNvPr id="37" name="直線單箭頭接點 36">
            <a:extLst>
              <a:ext uri="{FF2B5EF4-FFF2-40B4-BE49-F238E27FC236}">
                <a16:creationId xmlns:a16="http://schemas.microsoft.com/office/drawing/2014/main" id="{3E225A68-F2BF-E652-4FBE-5F9A51DF5C17}"/>
              </a:ext>
            </a:extLst>
          </p:cNvPr>
          <p:cNvCxnSpPr>
            <a:cxnSpLocks/>
          </p:cNvCxnSpPr>
          <p:nvPr/>
        </p:nvCxnSpPr>
        <p:spPr>
          <a:xfrm>
            <a:off x="7812669" y="822799"/>
            <a:ext cx="1764990" cy="2686572"/>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66B8662D-D07C-A536-5F83-03FAB71E8699}"/>
              </a:ext>
            </a:extLst>
          </p:cNvPr>
          <p:cNvSpPr txBox="1"/>
          <p:nvPr/>
        </p:nvSpPr>
        <p:spPr>
          <a:xfrm>
            <a:off x="7562041" y="4551611"/>
            <a:ext cx="2083613" cy="461665"/>
          </a:xfrm>
          <a:prstGeom prst="rect">
            <a:avLst/>
          </a:prstGeom>
          <a:noFill/>
        </p:spPr>
        <p:txBody>
          <a:bodyPr wrap="square" rtlCol="0">
            <a:spAutoFit/>
          </a:bodyPr>
          <a:lstStyle/>
          <a:p>
            <a:r>
              <a:rPr lang="en-US" altLang="zh-TW" sz="2400" dirty="0"/>
              <a:t>50 Hz</a:t>
            </a:r>
            <a:endParaRPr lang="zh-TW" altLang="en-US" sz="2400" dirty="0"/>
          </a:p>
        </p:txBody>
      </p:sp>
      <p:cxnSp>
        <p:nvCxnSpPr>
          <p:cNvPr id="41" name="直線單箭頭接點 40">
            <a:extLst>
              <a:ext uri="{FF2B5EF4-FFF2-40B4-BE49-F238E27FC236}">
                <a16:creationId xmlns:a16="http://schemas.microsoft.com/office/drawing/2014/main" id="{C017E5F2-1C87-5F74-CFF9-DEFFD017FF18}"/>
              </a:ext>
            </a:extLst>
          </p:cNvPr>
          <p:cNvCxnSpPr>
            <a:cxnSpLocks/>
          </p:cNvCxnSpPr>
          <p:nvPr/>
        </p:nvCxnSpPr>
        <p:spPr>
          <a:xfrm flipH="1" flipV="1">
            <a:off x="6975409" y="4064515"/>
            <a:ext cx="431062" cy="656898"/>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B39BDB5D-F1F1-5FEE-C234-81D791F64AAD}"/>
              </a:ext>
            </a:extLst>
          </p:cNvPr>
          <p:cNvSpPr txBox="1"/>
          <p:nvPr/>
        </p:nvSpPr>
        <p:spPr>
          <a:xfrm>
            <a:off x="1386560" y="5367662"/>
            <a:ext cx="9848212" cy="954107"/>
          </a:xfrm>
          <a:prstGeom prst="rect">
            <a:avLst/>
          </a:prstGeom>
          <a:noFill/>
        </p:spPr>
        <p:txBody>
          <a:bodyPr wrap="square">
            <a:spAutoFit/>
          </a:bodyPr>
          <a:lstStyle/>
          <a:p>
            <a:pPr>
              <a:buNone/>
            </a:pPr>
            <a:r>
              <a:rPr lang="en-US" altLang="zh-TW" sz="2800" b="1" dirty="0"/>
              <a:t>Ten</a:t>
            </a:r>
            <a:r>
              <a:rPr lang="en-US" altLang="zh-TW" sz="2800" dirty="0"/>
              <a:t> times the length and </a:t>
            </a:r>
            <a:r>
              <a:rPr lang="en-US" altLang="zh-TW" sz="2800" b="1" dirty="0"/>
              <a:t>one hundred </a:t>
            </a:r>
            <a:r>
              <a:rPr lang="en-US" altLang="zh-TW" sz="2800" dirty="0"/>
              <a:t>times the computational cost for attention...</a:t>
            </a:r>
          </a:p>
        </p:txBody>
      </p:sp>
    </p:spTree>
    <p:extLst>
      <p:ext uri="{BB962C8B-B14F-4D97-AF65-F5344CB8AC3E}">
        <p14:creationId xmlns:p14="http://schemas.microsoft.com/office/powerpoint/2010/main" val="41699181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0" grpId="0"/>
      <p:bldP spid="43" grpId="0"/>
    </p:bld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C3B0EA-6777-9B0E-0830-7CE8D5CEB3D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C62F834-EBCB-466C-9985-37E44F435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451"/>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6AEFB2E-B831-4AD1-B72D-3027EA244C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3229" y="1332680"/>
            <a:ext cx="9545542" cy="3585866"/>
          </a:xfrm>
          <a:custGeom>
            <a:avLst/>
            <a:gdLst>
              <a:gd name="connsiteX0" fmla="*/ 0 w 9545542"/>
              <a:gd name="connsiteY0" fmla="*/ 0 h 3585866"/>
              <a:gd name="connsiteX1" fmla="*/ 9545542 w 9545542"/>
              <a:gd name="connsiteY1" fmla="*/ 0 h 3585866"/>
              <a:gd name="connsiteX2" fmla="*/ 9545542 w 9545542"/>
              <a:gd name="connsiteY2" fmla="*/ 3142906 h 3585866"/>
              <a:gd name="connsiteX3" fmla="*/ 9465926 w 9545542"/>
              <a:gd name="connsiteY3" fmla="*/ 3164182 h 3585866"/>
              <a:gd name="connsiteX4" fmla="*/ 9294857 w 9545542"/>
              <a:gd name="connsiteY4" fmla="*/ 3164299 h 3585866"/>
              <a:gd name="connsiteX5" fmla="*/ 9180444 w 9545542"/>
              <a:gd name="connsiteY5" fmla="*/ 3157864 h 3585866"/>
              <a:gd name="connsiteX6" fmla="*/ 9106019 w 9545542"/>
              <a:gd name="connsiteY6" fmla="*/ 3152135 h 3585866"/>
              <a:gd name="connsiteX7" fmla="*/ 9049036 w 9545542"/>
              <a:gd name="connsiteY7" fmla="*/ 3146819 h 3585866"/>
              <a:gd name="connsiteX8" fmla="*/ 8973142 w 9545542"/>
              <a:gd name="connsiteY8" fmla="*/ 3146856 h 3585866"/>
              <a:gd name="connsiteX9" fmla="*/ 8849178 w 9545542"/>
              <a:gd name="connsiteY9" fmla="*/ 3196893 h 3585866"/>
              <a:gd name="connsiteX10" fmla="*/ 8654822 w 9545542"/>
              <a:gd name="connsiteY10" fmla="*/ 3240734 h 3585866"/>
              <a:gd name="connsiteX11" fmla="*/ 8498334 w 9545542"/>
              <a:gd name="connsiteY11" fmla="*/ 3247156 h 3585866"/>
              <a:gd name="connsiteX12" fmla="*/ 8460890 w 9545542"/>
              <a:gd name="connsiteY12" fmla="*/ 3255812 h 3585866"/>
              <a:gd name="connsiteX13" fmla="*/ 8276867 w 9545542"/>
              <a:gd name="connsiteY13" fmla="*/ 3253903 h 3585866"/>
              <a:gd name="connsiteX14" fmla="*/ 8006421 w 9545542"/>
              <a:gd name="connsiteY14" fmla="*/ 3271628 h 3585866"/>
              <a:gd name="connsiteX15" fmla="*/ 7712599 w 9545542"/>
              <a:gd name="connsiteY15" fmla="*/ 3252671 h 3585866"/>
              <a:gd name="connsiteX16" fmla="*/ 7374530 w 9545542"/>
              <a:gd name="connsiteY16" fmla="*/ 3245192 h 3585866"/>
              <a:gd name="connsiteX17" fmla="*/ 7157547 w 9545542"/>
              <a:gd name="connsiteY17" fmla="*/ 3238559 h 3585866"/>
              <a:gd name="connsiteX18" fmla="*/ 6937241 w 9545542"/>
              <a:gd name="connsiteY18" fmla="*/ 3273268 h 3585866"/>
              <a:gd name="connsiteX19" fmla="*/ 6692993 w 9545542"/>
              <a:gd name="connsiteY19" fmla="*/ 3298845 h 3585866"/>
              <a:gd name="connsiteX20" fmla="*/ 6470348 w 9545542"/>
              <a:gd name="connsiteY20" fmla="*/ 3301118 h 3585866"/>
              <a:gd name="connsiteX21" fmla="*/ 6338595 w 9545542"/>
              <a:gd name="connsiteY21" fmla="*/ 3308643 h 3585866"/>
              <a:gd name="connsiteX22" fmla="*/ 6290841 w 9545542"/>
              <a:gd name="connsiteY22" fmla="*/ 3321185 h 3585866"/>
              <a:gd name="connsiteX23" fmla="*/ 6222611 w 9545542"/>
              <a:gd name="connsiteY23" fmla="*/ 3332190 h 3585866"/>
              <a:gd name="connsiteX24" fmla="*/ 6103974 w 9545542"/>
              <a:gd name="connsiteY24" fmla="*/ 3359104 h 3585866"/>
              <a:gd name="connsiteX25" fmla="*/ 5951751 w 9545542"/>
              <a:gd name="connsiteY25" fmla="*/ 3369893 h 3585866"/>
              <a:gd name="connsiteX26" fmla="*/ 5813362 w 9545542"/>
              <a:gd name="connsiteY26" fmla="*/ 3357730 h 3585866"/>
              <a:gd name="connsiteX27" fmla="*/ 5720775 w 9545542"/>
              <a:gd name="connsiteY27" fmla="*/ 3352890 h 3585866"/>
              <a:gd name="connsiteX28" fmla="*/ 5496239 w 9545542"/>
              <a:gd name="connsiteY28" fmla="*/ 3350411 h 3585866"/>
              <a:gd name="connsiteX29" fmla="*/ 5253234 w 9545542"/>
              <a:gd name="connsiteY29" fmla="*/ 3338147 h 3585866"/>
              <a:gd name="connsiteX30" fmla="*/ 5197143 w 9545542"/>
              <a:gd name="connsiteY30" fmla="*/ 3348937 h 3585866"/>
              <a:gd name="connsiteX31" fmla="*/ 5103055 w 9545542"/>
              <a:gd name="connsiteY31" fmla="*/ 3366515 h 3585866"/>
              <a:gd name="connsiteX32" fmla="*/ 5037223 w 9545542"/>
              <a:gd name="connsiteY32" fmla="*/ 3399463 h 3585866"/>
              <a:gd name="connsiteX33" fmla="*/ 4956772 w 9545542"/>
              <a:gd name="connsiteY33" fmla="*/ 3406312 h 3585866"/>
              <a:gd name="connsiteX34" fmla="*/ 4848099 w 9545542"/>
              <a:gd name="connsiteY34" fmla="*/ 3397926 h 3585866"/>
              <a:gd name="connsiteX35" fmla="*/ 4721047 w 9545542"/>
              <a:gd name="connsiteY35" fmla="*/ 3424464 h 3585866"/>
              <a:gd name="connsiteX36" fmla="*/ 4646270 w 9545542"/>
              <a:gd name="connsiteY36" fmla="*/ 3433154 h 3585866"/>
              <a:gd name="connsiteX37" fmla="*/ 4443643 w 9545542"/>
              <a:gd name="connsiteY37" fmla="*/ 3464075 h 3585866"/>
              <a:gd name="connsiteX38" fmla="*/ 4355784 w 9545542"/>
              <a:gd name="connsiteY38" fmla="*/ 3493545 h 3585866"/>
              <a:gd name="connsiteX39" fmla="*/ 4210879 w 9545542"/>
              <a:gd name="connsiteY39" fmla="*/ 3514212 h 3585866"/>
              <a:gd name="connsiteX40" fmla="*/ 4107410 w 9545542"/>
              <a:gd name="connsiteY40" fmla="*/ 3525304 h 3585866"/>
              <a:gd name="connsiteX41" fmla="*/ 4078085 w 9545542"/>
              <a:gd name="connsiteY41" fmla="*/ 3547095 h 3585866"/>
              <a:gd name="connsiteX42" fmla="*/ 4077665 w 9545542"/>
              <a:gd name="connsiteY42" fmla="*/ 3547500 h 3585866"/>
              <a:gd name="connsiteX43" fmla="*/ 4014783 w 9545542"/>
              <a:gd name="connsiteY43" fmla="*/ 3550510 h 3585866"/>
              <a:gd name="connsiteX44" fmla="*/ 3877006 w 9545542"/>
              <a:gd name="connsiteY44" fmla="*/ 3574175 h 3585866"/>
              <a:gd name="connsiteX45" fmla="*/ 3833600 w 9545542"/>
              <a:gd name="connsiteY45" fmla="*/ 3580368 h 3585866"/>
              <a:gd name="connsiteX46" fmla="*/ 3810470 w 9545542"/>
              <a:gd name="connsiteY46" fmla="*/ 3585866 h 3585866"/>
              <a:gd name="connsiteX47" fmla="*/ 3775797 w 9545542"/>
              <a:gd name="connsiteY47" fmla="*/ 3571623 h 3585866"/>
              <a:gd name="connsiteX48" fmla="*/ 3732435 w 9545542"/>
              <a:gd name="connsiteY48" fmla="*/ 3577800 h 3585866"/>
              <a:gd name="connsiteX49" fmla="*/ 3722337 w 9545542"/>
              <a:gd name="connsiteY49" fmla="*/ 3579797 h 3585866"/>
              <a:gd name="connsiteX50" fmla="*/ 3646487 w 9545542"/>
              <a:gd name="connsiteY50" fmla="*/ 3565931 h 3585866"/>
              <a:gd name="connsiteX51" fmla="*/ 3639092 w 9545542"/>
              <a:gd name="connsiteY51" fmla="*/ 3560366 h 3585866"/>
              <a:gd name="connsiteX52" fmla="*/ 3601057 w 9545542"/>
              <a:gd name="connsiteY52" fmla="*/ 3557947 h 3585866"/>
              <a:gd name="connsiteX53" fmla="*/ 3596731 w 9545542"/>
              <a:gd name="connsiteY53" fmla="*/ 3559424 h 3585866"/>
              <a:gd name="connsiteX54" fmla="*/ 3565211 w 9545542"/>
              <a:gd name="connsiteY54" fmla="*/ 3550905 h 3585866"/>
              <a:gd name="connsiteX55" fmla="*/ 3438818 w 9545542"/>
              <a:gd name="connsiteY55" fmla="*/ 3535884 h 3585866"/>
              <a:gd name="connsiteX56" fmla="*/ 3195787 w 9545542"/>
              <a:gd name="connsiteY56" fmla="*/ 3528000 h 3585866"/>
              <a:gd name="connsiteX57" fmla="*/ 2942689 w 9545542"/>
              <a:gd name="connsiteY57" fmla="*/ 3505496 h 3585866"/>
              <a:gd name="connsiteX58" fmla="*/ 2702702 w 9545542"/>
              <a:gd name="connsiteY58" fmla="*/ 3514208 h 3585866"/>
              <a:gd name="connsiteX59" fmla="*/ 2266673 w 9545542"/>
              <a:gd name="connsiteY59" fmla="*/ 3490122 h 3585866"/>
              <a:gd name="connsiteX60" fmla="*/ 2117084 w 9545542"/>
              <a:gd name="connsiteY60" fmla="*/ 3487966 h 3585866"/>
              <a:gd name="connsiteX61" fmla="*/ 2016859 w 9545542"/>
              <a:gd name="connsiteY61" fmla="*/ 3487150 h 3585866"/>
              <a:gd name="connsiteX62" fmla="*/ 2009912 w 9545542"/>
              <a:gd name="connsiteY62" fmla="*/ 3489437 h 3585866"/>
              <a:gd name="connsiteX63" fmla="*/ 1981919 w 9545542"/>
              <a:gd name="connsiteY63" fmla="*/ 3490787 h 3585866"/>
              <a:gd name="connsiteX64" fmla="*/ 1974255 w 9545542"/>
              <a:gd name="connsiteY64" fmla="*/ 3500921 h 3585866"/>
              <a:gd name="connsiteX65" fmla="*/ 1880702 w 9545542"/>
              <a:gd name="connsiteY65" fmla="*/ 3509706 h 3585866"/>
              <a:gd name="connsiteX66" fmla="*/ 1655539 w 9545542"/>
              <a:gd name="connsiteY66" fmla="*/ 3513685 h 3585866"/>
              <a:gd name="connsiteX67" fmla="*/ 1488909 w 9545542"/>
              <a:gd name="connsiteY67" fmla="*/ 3496703 h 3585866"/>
              <a:gd name="connsiteX68" fmla="*/ 1433160 w 9545542"/>
              <a:gd name="connsiteY68" fmla="*/ 3506093 h 3585866"/>
              <a:gd name="connsiteX69" fmla="*/ 1355329 w 9545542"/>
              <a:gd name="connsiteY69" fmla="*/ 3512642 h 3585866"/>
              <a:gd name="connsiteX70" fmla="*/ 1105234 w 9545542"/>
              <a:gd name="connsiteY70" fmla="*/ 3507283 h 3585866"/>
              <a:gd name="connsiteX71" fmla="*/ 899152 w 9545542"/>
              <a:gd name="connsiteY71" fmla="*/ 3511753 h 3585866"/>
              <a:gd name="connsiteX72" fmla="*/ 781223 w 9545542"/>
              <a:gd name="connsiteY72" fmla="*/ 3520899 h 3585866"/>
              <a:gd name="connsiteX73" fmla="*/ 531952 w 9545542"/>
              <a:gd name="connsiteY73" fmla="*/ 3495843 h 3585866"/>
              <a:gd name="connsiteX74" fmla="*/ 289151 w 9545542"/>
              <a:gd name="connsiteY74" fmla="*/ 3484386 h 3585866"/>
              <a:gd name="connsiteX75" fmla="*/ 158179 w 9545542"/>
              <a:gd name="connsiteY75" fmla="*/ 3471499 h 3585866"/>
              <a:gd name="connsiteX76" fmla="*/ 28728 w 9545542"/>
              <a:gd name="connsiteY76" fmla="*/ 3479386 h 3585866"/>
              <a:gd name="connsiteX77" fmla="*/ 0 w 9545542"/>
              <a:gd name="connsiteY77" fmla="*/ 3481059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545542" h="3585866">
                <a:moveTo>
                  <a:pt x="0" y="0"/>
                </a:moveTo>
                <a:lnTo>
                  <a:pt x="9545542" y="0"/>
                </a:lnTo>
                <a:lnTo>
                  <a:pt x="9545542" y="3142906"/>
                </a:lnTo>
                <a:lnTo>
                  <a:pt x="9465926" y="3164182"/>
                </a:lnTo>
                <a:cubicBezTo>
                  <a:pt x="9403693" y="3162781"/>
                  <a:pt x="9355150" y="3173454"/>
                  <a:pt x="9294857" y="3164299"/>
                </a:cubicBezTo>
                <a:cubicBezTo>
                  <a:pt x="9268190" y="3155904"/>
                  <a:pt x="9211726" y="3180906"/>
                  <a:pt x="9180444" y="3157864"/>
                </a:cubicBezTo>
                <a:cubicBezTo>
                  <a:pt x="9178118" y="3174606"/>
                  <a:pt x="9119079" y="3159909"/>
                  <a:pt x="9106019" y="3152135"/>
                </a:cubicBezTo>
                <a:cubicBezTo>
                  <a:pt x="9090870" y="3159441"/>
                  <a:pt x="9065418" y="3146109"/>
                  <a:pt x="9049036" y="3146819"/>
                </a:cubicBezTo>
                <a:cubicBezTo>
                  <a:pt x="9016631" y="3110204"/>
                  <a:pt x="9013030" y="3167659"/>
                  <a:pt x="8973142" y="3146856"/>
                </a:cubicBezTo>
                <a:cubicBezTo>
                  <a:pt x="8955617" y="3159285"/>
                  <a:pt x="8896199" y="3185652"/>
                  <a:pt x="8849178" y="3196893"/>
                </a:cubicBezTo>
                <a:cubicBezTo>
                  <a:pt x="8756681" y="3221445"/>
                  <a:pt x="8750285" y="3250654"/>
                  <a:pt x="8654822" y="3240734"/>
                </a:cubicBezTo>
                <a:cubicBezTo>
                  <a:pt x="8641392" y="3264436"/>
                  <a:pt x="8477867" y="3204738"/>
                  <a:pt x="8498334" y="3247156"/>
                </a:cubicBezTo>
                <a:cubicBezTo>
                  <a:pt x="8466475" y="3245083"/>
                  <a:pt x="8443131" y="3228203"/>
                  <a:pt x="8460890" y="3255812"/>
                </a:cubicBezTo>
                <a:lnTo>
                  <a:pt x="8276867" y="3253903"/>
                </a:lnTo>
                <a:cubicBezTo>
                  <a:pt x="8174863" y="3261603"/>
                  <a:pt x="8111167" y="3281921"/>
                  <a:pt x="8006421" y="3271628"/>
                </a:cubicBezTo>
                <a:cubicBezTo>
                  <a:pt x="7903825" y="3270395"/>
                  <a:pt x="7852061" y="3252297"/>
                  <a:pt x="7712599" y="3252671"/>
                </a:cubicBezTo>
                <a:cubicBezTo>
                  <a:pt x="7614385" y="3250277"/>
                  <a:pt x="7473879" y="3236234"/>
                  <a:pt x="7374530" y="3245192"/>
                </a:cubicBezTo>
                <a:cubicBezTo>
                  <a:pt x="7255601" y="3223769"/>
                  <a:pt x="7285029" y="3250265"/>
                  <a:pt x="7157547" y="3238559"/>
                </a:cubicBezTo>
                <a:cubicBezTo>
                  <a:pt x="7101811" y="3284865"/>
                  <a:pt x="7004597" y="3261794"/>
                  <a:pt x="6937241" y="3273268"/>
                </a:cubicBezTo>
                <a:cubicBezTo>
                  <a:pt x="6859816" y="3283316"/>
                  <a:pt x="6770809" y="3294204"/>
                  <a:pt x="6692993" y="3298845"/>
                </a:cubicBezTo>
                <a:cubicBezTo>
                  <a:pt x="6631360" y="3277980"/>
                  <a:pt x="6546821" y="3329199"/>
                  <a:pt x="6470348" y="3301118"/>
                </a:cubicBezTo>
                <a:cubicBezTo>
                  <a:pt x="6442211" y="3294355"/>
                  <a:pt x="6355089" y="3295209"/>
                  <a:pt x="6338595" y="3308643"/>
                </a:cubicBezTo>
                <a:cubicBezTo>
                  <a:pt x="6320427" y="3311557"/>
                  <a:pt x="6299238" y="3306799"/>
                  <a:pt x="6290841" y="3321185"/>
                </a:cubicBezTo>
                <a:cubicBezTo>
                  <a:pt x="6276968" y="3338498"/>
                  <a:pt x="6213589" y="3311765"/>
                  <a:pt x="6222611" y="3332190"/>
                </a:cubicBezTo>
                <a:cubicBezTo>
                  <a:pt x="6177609" y="3313871"/>
                  <a:pt x="6141812" y="3350141"/>
                  <a:pt x="6103974" y="3359104"/>
                </a:cubicBezTo>
                <a:cubicBezTo>
                  <a:pt x="6068529" y="3340930"/>
                  <a:pt x="6034349" y="3365323"/>
                  <a:pt x="5951751" y="3369893"/>
                </a:cubicBezTo>
                <a:cubicBezTo>
                  <a:pt x="5912772" y="3348876"/>
                  <a:pt x="5885870" y="3385599"/>
                  <a:pt x="5813362" y="3357730"/>
                </a:cubicBezTo>
                <a:cubicBezTo>
                  <a:pt x="5774866" y="3357562"/>
                  <a:pt x="5786933" y="3357443"/>
                  <a:pt x="5720775" y="3352890"/>
                </a:cubicBezTo>
                <a:cubicBezTo>
                  <a:pt x="5619828" y="3348000"/>
                  <a:pt x="5589238" y="3356166"/>
                  <a:pt x="5496239" y="3350411"/>
                </a:cubicBezTo>
                <a:cubicBezTo>
                  <a:pt x="5391898" y="3348356"/>
                  <a:pt x="5389660" y="3372469"/>
                  <a:pt x="5253234" y="3338147"/>
                </a:cubicBezTo>
                <a:cubicBezTo>
                  <a:pt x="5242496" y="3354508"/>
                  <a:pt x="5226272" y="3355753"/>
                  <a:pt x="5197143" y="3348937"/>
                </a:cubicBezTo>
                <a:cubicBezTo>
                  <a:pt x="5146679" y="3349130"/>
                  <a:pt x="5158614" y="3389131"/>
                  <a:pt x="5103055" y="3366515"/>
                </a:cubicBezTo>
                <a:cubicBezTo>
                  <a:pt x="5116481" y="3387794"/>
                  <a:pt x="5009512" y="3377760"/>
                  <a:pt x="5037223" y="3399463"/>
                </a:cubicBezTo>
                <a:cubicBezTo>
                  <a:pt x="5008477" y="3420094"/>
                  <a:pt x="4985798" y="3388256"/>
                  <a:pt x="4956772" y="3406312"/>
                </a:cubicBezTo>
                <a:cubicBezTo>
                  <a:pt x="4925249" y="3406056"/>
                  <a:pt x="4887384" y="3394901"/>
                  <a:pt x="4848099" y="3397926"/>
                </a:cubicBezTo>
                <a:cubicBezTo>
                  <a:pt x="4794214" y="3387476"/>
                  <a:pt x="4788879" y="3410487"/>
                  <a:pt x="4721047" y="3424464"/>
                </a:cubicBezTo>
                <a:cubicBezTo>
                  <a:pt x="4689058" y="3412969"/>
                  <a:pt x="4666768" y="3420063"/>
                  <a:pt x="4646270" y="3433154"/>
                </a:cubicBezTo>
                <a:cubicBezTo>
                  <a:pt x="4577277" y="3432601"/>
                  <a:pt x="4518857" y="3453569"/>
                  <a:pt x="4443643" y="3464075"/>
                </a:cubicBezTo>
                <a:cubicBezTo>
                  <a:pt x="4361028" y="3483394"/>
                  <a:pt x="4406548" y="3479019"/>
                  <a:pt x="4355784" y="3493545"/>
                </a:cubicBezTo>
                <a:lnTo>
                  <a:pt x="4210879" y="3514212"/>
                </a:lnTo>
                <a:lnTo>
                  <a:pt x="4107410" y="3525304"/>
                </a:lnTo>
                <a:lnTo>
                  <a:pt x="4078085" y="3547095"/>
                </a:lnTo>
                <a:lnTo>
                  <a:pt x="4077665" y="3547500"/>
                </a:lnTo>
                <a:lnTo>
                  <a:pt x="4014783" y="3550510"/>
                </a:lnTo>
                <a:cubicBezTo>
                  <a:pt x="3981341" y="3554957"/>
                  <a:pt x="3914964" y="3568533"/>
                  <a:pt x="3877006" y="3574175"/>
                </a:cubicBezTo>
                <a:cubicBezTo>
                  <a:pt x="3842559" y="3570074"/>
                  <a:pt x="3821366" y="3551815"/>
                  <a:pt x="3833600" y="3580368"/>
                </a:cubicBezTo>
                <a:cubicBezTo>
                  <a:pt x="3822285" y="3579831"/>
                  <a:pt x="3815372" y="3582151"/>
                  <a:pt x="3810470" y="3585866"/>
                </a:cubicBezTo>
                <a:lnTo>
                  <a:pt x="3775797" y="3571623"/>
                </a:lnTo>
                <a:lnTo>
                  <a:pt x="3732435" y="3577800"/>
                </a:lnTo>
                <a:lnTo>
                  <a:pt x="3722337" y="3579797"/>
                </a:lnTo>
                <a:lnTo>
                  <a:pt x="3646487" y="3565931"/>
                </a:lnTo>
                <a:lnTo>
                  <a:pt x="3639092" y="3560366"/>
                </a:lnTo>
                <a:cubicBezTo>
                  <a:pt x="3631159" y="3556940"/>
                  <a:pt x="3619869" y="3555355"/>
                  <a:pt x="3601057" y="3557947"/>
                </a:cubicBezTo>
                <a:lnTo>
                  <a:pt x="3596731" y="3559424"/>
                </a:lnTo>
                <a:lnTo>
                  <a:pt x="3565211" y="3550905"/>
                </a:lnTo>
                <a:cubicBezTo>
                  <a:pt x="3555038" y="3547029"/>
                  <a:pt x="3446194" y="3542149"/>
                  <a:pt x="3438818" y="3535884"/>
                </a:cubicBezTo>
                <a:cubicBezTo>
                  <a:pt x="3319631" y="3551394"/>
                  <a:pt x="3311426" y="3523871"/>
                  <a:pt x="3195787" y="3528000"/>
                </a:cubicBezTo>
                <a:cubicBezTo>
                  <a:pt x="3095636" y="3486061"/>
                  <a:pt x="3032466" y="3511605"/>
                  <a:pt x="2942689" y="3505496"/>
                </a:cubicBezTo>
                <a:cubicBezTo>
                  <a:pt x="2857180" y="3501198"/>
                  <a:pt x="2817588" y="3514769"/>
                  <a:pt x="2702702" y="3514208"/>
                </a:cubicBezTo>
                <a:cubicBezTo>
                  <a:pt x="2580976" y="3505062"/>
                  <a:pt x="2403597" y="3509922"/>
                  <a:pt x="2266673" y="3490122"/>
                </a:cubicBezTo>
                <a:cubicBezTo>
                  <a:pt x="2159091" y="3483748"/>
                  <a:pt x="2158719" y="3488460"/>
                  <a:pt x="2117084" y="3487966"/>
                </a:cubicBezTo>
                <a:cubicBezTo>
                  <a:pt x="2103238" y="3490683"/>
                  <a:pt x="2030113" y="3482739"/>
                  <a:pt x="2016859" y="3487150"/>
                </a:cubicBezTo>
                <a:lnTo>
                  <a:pt x="2009912" y="3489437"/>
                </a:lnTo>
                <a:lnTo>
                  <a:pt x="1981919" y="3490787"/>
                </a:lnTo>
                <a:lnTo>
                  <a:pt x="1974255" y="3500921"/>
                </a:lnTo>
                <a:lnTo>
                  <a:pt x="1880702" y="3509706"/>
                </a:lnTo>
                <a:cubicBezTo>
                  <a:pt x="1818507" y="3485036"/>
                  <a:pt x="1765403" y="3514467"/>
                  <a:pt x="1655539" y="3513685"/>
                </a:cubicBezTo>
                <a:cubicBezTo>
                  <a:pt x="1626425" y="3505164"/>
                  <a:pt x="1510560" y="3484421"/>
                  <a:pt x="1488909" y="3496703"/>
                </a:cubicBezTo>
                <a:cubicBezTo>
                  <a:pt x="1468188" y="3498430"/>
                  <a:pt x="1446170" y="3492347"/>
                  <a:pt x="1433160" y="3506093"/>
                </a:cubicBezTo>
                <a:cubicBezTo>
                  <a:pt x="1413367" y="3522393"/>
                  <a:pt x="1350799" y="3491785"/>
                  <a:pt x="1355329" y="3512642"/>
                </a:cubicBezTo>
                <a:cubicBezTo>
                  <a:pt x="1300675" y="3512841"/>
                  <a:pt x="1181263" y="3507431"/>
                  <a:pt x="1105234" y="3507283"/>
                </a:cubicBezTo>
                <a:cubicBezTo>
                  <a:pt x="1067959" y="3483915"/>
                  <a:pt x="958140" y="3516071"/>
                  <a:pt x="899152" y="3511753"/>
                </a:cubicBezTo>
                <a:cubicBezTo>
                  <a:pt x="847367" y="3513355"/>
                  <a:pt x="842424" y="3525551"/>
                  <a:pt x="781223" y="3520899"/>
                </a:cubicBezTo>
                <a:cubicBezTo>
                  <a:pt x="672113" y="3516943"/>
                  <a:pt x="632573" y="3507522"/>
                  <a:pt x="531952" y="3495843"/>
                </a:cubicBezTo>
                <a:cubicBezTo>
                  <a:pt x="417900" y="3487112"/>
                  <a:pt x="416636" y="3499212"/>
                  <a:pt x="289151" y="3484386"/>
                </a:cubicBezTo>
                <a:cubicBezTo>
                  <a:pt x="259746" y="3479943"/>
                  <a:pt x="188372" y="3480136"/>
                  <a:pt x="158179" y="3471499"/>
                </a:cubicBezTo>
                <a:cubicBezTo>
                  <a:pt x="137066" y="3473876"/>
                  <a:pt x="83165" y="3476495"/>
                  <a:pt x="28728" y="3479386"/>
                </a:cubicBezTo>
                <a:lnTo>
                  <a:pt x="0" y="348105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標題 1">
            <a:extLst>
              <a:ext uri="{FF2B5EF4-FFF2-40B4-BE49-F238E27FC236}">
                <a16:creationId xmlns:a16="http://schemas.microsoft.com/office/drawing/2014/main" id="{D20EBC46-A3FD-19A5-5C95-42821704ED0B}"/>
              </a:ext>
            </a:extLst>
          </p:cNvPr>
          <p:cNvSpPr>
            <a:spLocks noGrp="1"/>
          </p:cNvSpPr>
          <p:nvPr>
            <p:ph type="ctrTitle"/>
          </p:nvPr>
        </p:nvSpPr>
        <p:spPr>
          <a:xfrm>
            <a:off x="0" y="1891117"/>
            <a:ext cx="12192000" cy="1612321"/>
          </a:xfrm>
        </p:spPr>
        <p:txBody>
          <a:bodyPr anchor="b">
            <a:noAutofit/>
          </a:bodyPr>
          <a:lstStyle/>
          <a:p>
            <a:r>
              <a:rPr lang="en-US" altLang="zh-TW" sz="5400" dirty="0">
                <a:solidFill>
                  <a:schemeClr val="tx1">
                    <a:lumMod val="85000"/>
                    <a:lumOff val="15000"/>
                  </a:schemeClr>
                </a:solidFill>
                <a:latin typeface="微軟正黑體" panose="020B0604030504040204" pitchFamily="34" charset="-120"/>
                <a:ea typeface="微軟正黑體" panose="020B0604030504040204" pitchFamily="34" charset="-120"/>
              </a:rPr>
              <a:t>4. </a:t>
            </a:r>
            <a:r>
              <a:rPr lang="zh-TW" altLang="en-US" sz="5400" dirty="0">
                <a:solidFill>
                  <a:schemeClr val="tx1">
                    <a:lumMod val="85000"/>
                    <a:lumOff val="15000"/>
                  </a:schemeClr>
                </a:solidFill>
                <a:latin typeface="微軟正黑體" panose="020B0604030504040204" pitchFamily="34" charset="-120"/>
                <a:ea typeface="微軟正黑體" panose="020B0604030504040204" pitchFamily="34" charset="-120"/>
              </a:rPr>
              <a:t>尋找更合適的語音表示方式</a:t>
            </a:r>
          </a:p>
        </p:txBody>
      </p:sp>
      <p:sp>
        <p:nvSpPr>
          <p:cNvPr id="3" name="副標題 2">
            <a:extLst>
              <a:ext uri="{FF2B5EF4-FFF2-40B4-BE49-F238E27FC236}">
                <a16:creationId xmlns:a16="http://schemas.microsoft.com/office/drawing/2014/main" id="{0B5275A8-16F2-E930-4DAC-91B9F53A49D2}"/>
              </a:ext>
            </a:extLst>
          </p:cNvPr>
          <p:cNvSpPr>
            <a:spLocks noGrp="1"/>
          </p:cNvSpPr>
          <p:nvPr>
            <p:ph type="subTitle" idx="1"/>
          </p:nvPr>
        </p:nvSpPr>
        <p:spPr>
          <a:xfrm>
            <a:off x="2733675" y="3734088"/>
            <a:ext cx="6724650" cy="664700"/>
          </a:xfrm>
        </p:spPr>
        <p:txBody>
          <a:bodyPr anchor="t">
            <a:normAutofit/>
          </a:bodyPr>
          <a:lstStyle/>
          <a:p>
            <a:endParaRPr lang="zh-TW" altLang="en-US" sz="1800">
              <a:solidFill>
                <a:schemeClr val="tx1">
                  <a:lumMod val="85000"/>
                  <a:lumOff val="15000"/>
                </a:schemeClr>
              </a:solidFill>
            </a:endParaRPr>
          </a:p>
        </p:txBody>
      </p:sp>
      <p:sp>
        <p:nvSpPr>
          <p:cNvPr id="21" name="Rectangle 6">
            <a:extLst>
              <a:ext uri="{FF2B5EF4-FFF2-40B4-BE49-F238E27FC236}">
                <a16:creationId xmlns:a16="http://schemas.microsoft.com/office/drawing/2014/main" id="{099F2679-BBAB-4AFA-A29E-42740114DB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1185614"/>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02298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73B82E-4193-B021-02D7-A22D32562BEF}"/>
              </a:ext>
            </a:extLst>
          </p:cNvPr>
          <p:cNvSpPr>
            <a:spLocks noGrp="1"/>
          </p:cNvSpPr>
          <p:nvPr>
            <p:ph type="title"/>
          </p:nvPr>
        </p:nvSpPr>
        <p:spPr/>
        <p:txBody>
          <a:bodyPr/>
          <a:lstStyle/>
          <a:p>
            <a:endParaRPr lang="zh-TW" altLang="en-US"/>
          </a:p>
        </p:txBody>
      </p:sp>
      <p:sp>
        <p:nvSpPr>
          <p:cNvPr id="5" name="文字方塊 4">
            <a:extLst>
              <a:ext uri="{FF2B5EF4-FFF2-40B4-BE49-F238E27FC236}">
                <a16:creationId xmlns:a16="http://schemas.microsoft.com/office/drawing/2014/main" id="{3ADAFEB5-D581-A8A3-D347-7B74EDC14375}"/>
              </a:ext>
            </a:extLst>
          </p:cNvPr>
          <p:cNvSpPr txBox="1"/>
          <p:nvPr/>
        </p:nvSpPr>
        <p:spPr>
          <a:xfrm>
            <a:off x="1018328" y="5625584"/>
            <a:ext cx="38862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https://arxiv.org/abs/2504.07053</a:t>
            </a:r>
          </a:p>
        </p:txBody>
      </p:sp>
      <p:pic>
        <p:nvPicPr>
          <p:cNvPr id="7" name="圖片 6">
            <a:extLst>
              <a:ext uri="{FF2B5EF4-FFF2-40B4-BE49-F238E27FC236}">
                <a16:creationId xmlns:a16="http://schemas.microsoft.com/office/drawing/2014/main" id="{9985C7E3-A35F-0B63-B442-8FA9D89F4D6F}"/>
              </a:ext>
            </a:extLst>
          </p:cNvPr>
          <p:cNvPicPr>
            <a:picLocks noChangeAspect="1"/>
          </p:cNvPicPr>
          <p:nvPr/>
        </p:nvPicPr>
        <p:blipFill>
          <a:blip r:embed="rId3"/>
          <a:stretch>
            <a:fillRect/>
          </a:stretch>
        </p:blipFill>
        <p:spPr>
          <a:xfrm>
            <a:off x="1018328" y="365125"/>
            <a:ext cx="10155343" cy="3867944"/>
          </a:xfrm>
          <a:prstGeom prst="rect">
            <a:avLst/>
          </a:prstGeom>
        </p:spPr>
      </p:pic>
      <p:pic>
        <p:nvPicPr>
          <p:cNvPr id="1026" name="Picture 2" descr="未提供相片說明。">
            <a:extLst>
              <a:ext uri="{FF2B5EF4-FFF2-40B4-BE49-F238E27FC236}">
                <a16:creationId xmlns:a16="http://schemas.microsoft.com/office/drawing/2014/main" id="{33522A7C-36C8-5E23-ED48-7913826AD7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7348" y="4487446"/>
            <a:ext cx="1440000" cy="1451762"/>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a:extLst>
              <a:ext uri="{FF2B5EF4-FFF2-40B4-BE49-F238E27FC236}">
                <a16:creationId xmlns:a16="http://schemas.microsoft.com/office/drawing/2014/main" id="{BC9A65C3-343F-1C28-515D-9001BB924EA1}"/>
              </a:ext>
            </a:extLst>
          </p:cNvPr>
          <p:cNvSpPr txBox="1"/>
          <p:nvPr/>
        </p:nvSpPr>
        <p:spPr>
          <a:xfrm>
            <a:off x="5344374" y="5994916"/>
            <a:ext cx="215370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Liang-Hsuan Tseng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(NTU)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11" name="圖片 10" descr="一張含有 人員, 人的臉孔, 服裝, 麥克風 的圖片&#10;&#10;AI 產生的內容可能不正確。">
            <a:extLst>
              <a:ext uri="{FF2B5EF4-FFF2-40B4-BE49-F238E27FC236}">
                <a16:creationId xmlns:a16="http://schemas.microsoft.com/office/drawing/2014/main" id="{C258DC5B-A6F0-EECF-9D4D-965865F604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26782" y="4487446"/>
            <a:ext cx="1440000" cy="1440000"/>
          </a:xfrm>
          <a:prstGeom prst="rect">
            <a:avLst/>
          </a:prstGeom>
        </p:spPr>
      </p:pic>
      <p:sp>
        <p:nvSpPr>
          <p:cNvPr id="13" name="文字方塊 12">
            <a:extLst>
              <a:ext uri="{FF2B5EF4-FFF2-40B4-BE49-F238E27FC236}">
                <a16:creationId xmlns:a16="http://schemas.microsoft.com/office/drawing/2014/main" id="{EC95347D-860E-85B4-5580-DB8FE0E67B16}"/>
              </a:ext>
            </a:extLst>
          </p:cNvPr>
          <p:cNvSpPr txBox="1"/>
          <p:nvPr/>
        </p:nvSpPr>
        <p:spPr>
          <a:xfrm>
            <a:off x="7498080" y="5987713"/>
            <a:ext cx="209740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Yi-Chang Chen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(MediaTek)</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1028" name="Picture 4" descr="未提供相片說明。">
            <a:extLst>
              <a:ext uri="{FF2B5EF4-FFF2-40B4-BE49-F238E27FC236}">
                <a16:creationId xmlns:a16="http://schemas.microsoft.com/office/drawing/2014/main" id="{B4FA32B1-D956-9FED-1988-F3610FC0F3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86950" y="4487446"/>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5" name="文字方塊 14">
            <a:extLst>
              <a:ext uri="{FF2B5EF4-FFF2-40B4-BE49-F238E27FC236}">
                <a16:creationId xmlns:a16="http://schemas.microsoft.com/office/drawing/2014/main" id="{544B918E-1AB5-27E3-6719-AFDCB4B1846A}"/>
              </a:ext>
            </a:extLst>
          </p:cNvPr>
          <p:cNvSpPr txBox="1"/>
          <p:nvPr/>
        </p:nvSpPr>
        <p:spPr>
          <a:xfrm>
            <a:off x="9864759" y="5994916"/>
            <a:ext cx="1519341"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Kuan-Yi Lee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(NTU)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816984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41E33-0892-7408-E336-85FFE4B5323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AE52119-8B1C-815D-8A19-16D3EC62D159}"/>
              </a:ext>
            </a:extLst>
          </p:cNvPr>
          <p:cNvSpPr>
            <a:spLocks noGrp="1"/>
          </p:cNvSpPr>
          <p:nvPr>
            <p:ph type="title"/>
          </p:nvPr>
        </p:nvSpPr>
        <p:spPr/>
        <p:txBody>
          <a:bodyPr/>
          <a:lstStyle/>
          <a:p>
            <a:r>
              <a:rPr lang="en-US" altLang="zh-TW" dirty="0"/>
              <a:t>Can we have speech tokens designed for text-speech hybrid generation?</a:t>
            </a:r>
            <a:endParaRPr lang="en-US" altLang="zh-TW" b="1" dirty="0"/>
          </a:p>
        </p:txBody>
      </p:sp>
      <p:sp>
        <p:nvSpPr>
          <p:cNvPr id="4" name="文字方塊 3">
            <a:extLst>
              <a:ext uri="{FF2B5EF4-FFF2-40B4-BE49-F238E27FC236}">
                <a16:creationId xmlns:a16="http://schemas.microsoft.com/office/drawing/2014/main" id="{9E79B5C8-D87A-E3C5-20E3-866E0735230D}"/>
              </a:ext>
            </a:extLst>
          </p:cNvPr>
          <p:cNvSpPr txBox="1"/>
          <p:nvPr/>
        </p:nvSpPr>
        <p:spPr>
          <a:xfrm>
            <a:off x="838200" y="1855538"/>
            <a:ext cx="1092049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 Straightforward relationship with text (cannot be fixed duration)</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79" name="群組 78">
            <a:extLst>
              <a:ext uri="{FF2B5EF4-FFF2-40B4-BE49-F238E27FC236}">
                <a16:creationId xmlns:a16="http://schemas.microsoft.com/office/drawing/2014/main" id="{AD1A7B1D-B183-243A-737B-9EA7113612DF}"/>
              </a:ext>
            </a:extLst>
          </p:cNvPr>
          <p:cNvGrpSpPr/>
          <p:nvPr/>
        </p:nvGrpSpPr>
        <p:grpSpPr>
          <a:xfrm>
            <a:off x="1935016" y="3040336"/>
            <a:ext cx="3058844" cy="3163465"/>
            <a:chOff x="2058067" y="3106046"/>
            <a:chExt cx="3058844" cy="3163465"/>
          </a:xfrm>
        </p:grpSpPr>
        <p:sp>
          <p:nvSpPr>
            <p:cNvPr id="6" name="矩形: 圓角 5">
              <a:extLst>
                <a:ext uri="{FF2B5EF4-FFF2-40B4-BE49-F238E27FC236}">
                  <a16:creationId xmlns:a16="http://schemas.microsoft.com/office/drawing/2014/main" id="{D5ECF108-E6E4-0FBB-8E73-E367596CB7D9}"/>
                </a:ext>
              </a:extLst>
            </p:cNvPr>
            <p:cNvSpPr/>
            <p:nvPr/>
          </p:nvSpPr>
          <p:spPr>
            <a:xfrm>
              <a:off x="2710839" y="31060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矩形: 圓角 6">
              <a:extLst>
                <a:ext uri="{FF2B5EF4-FFF2-40B4-BE49-F238E27FC236}">
                  <a16:creationId xmlns:a16="http://schemas.microsoft.com/office/drawing/2014/main" id="{CAB38984-7942-9315-7B31-42D669B44C40}"/>
                </a:ext>
              </a:extLst>
            </p:cNvPr>
            <p:cNvSpPr/>
            <p:nvPr/>
          </p:nvSpPr>
          <p:spPr>
            <a:xfrm>
              <a:off x="3282555" y="31060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矩形: 圓角 7">
              <a:extLst>
                <a:ext uri="{FF2B5EF4-FFF2-40B4-BE49-F238E27FC236}">
                  <a16:creationId xmlns:a16="http://schemas.microsoft.com/office/drawing/2014/main" id="{0C893B37-BE41-F0AE-9952-20AEF981E88C}"/>
                </a:ext>
              </a:extLst>
            </p:cNvPr>
            <p:cNvSpPr/>
            <p:nvPr/>
          </p:nvSpPr>
          <p:spPr>
            <a:xfrm>
              <a:off x="3854271" y="31060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矩形: 圓角 8">
              <a:extLst>
                <a:ext uri="{FF2B5EF4-FFF2-40B4-BE49-F238E27FC236}">
                  <a16:creationId xmlns:a16="http://schemas.microsoft.com/office/drawing/2014/main" id="{10A0E6C1-8574-8FE5-2CBC-82EC4F6FE6D0}"/>
                </a:ext>
              </a:extLst>
            </p:cNvPr>
            <p:cNvSpPr/>
            <p:nvPr/>
          </p:nvSpPr>
          <p:spPr>
            <a:xfrm>
              <a:off x="4425988" y="31060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10" name="群組 9">
              <a:extLst>
                <a:ext uri="{FF2B5EF4-FFF2-40B4-BE49-F238E27FC236}">
                  <a16:creationId xmlns:a16="http://schemas.microsoft.com/office/drawing/2014/main" id="{6FC9541B-49C7-BDDA-8B93-1ADBF1430B23}"/>
                </a:ext>
              </a:extLst>
            </p:cNvPr>
            <p:cNvGrpSpPr/>
            <p:nvPr/>
          </p:nvGrpSpPr>
          <p:grpSpPr>
            <a:xfrm>
              <a:off x="2058067" y="5439499"/>
              <a:ext cx="3058844" cy="830012"/>
              <a:chOff x="393073" y="5022255"/>
              <a:chExt cx="2117030" cy="878286"/>
            </a:xfrm>
          </p:grpSpPr>
          <p:pic>
            <p:nvPicPr>
              <p:cNvPr id="11"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15FFCE3A-F101-F7EF-3CED-F2CBF19DDAA4}"/>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12"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E0799A0F-A741-3BDE-0F87-AB1A9EC3FEA5}"/>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sp>
          <p:nvSpPr>
            <p:cNvPr id="13" name="矩形: 圓角 12">
              <a:extLst>
                <a:ext uri="{FF2B5EF4-FFF2-40B4-BE49-F238E27FC236}">
                  <a16:creationId xmlns:a16="http://schemas.microsoft.com/office/drawing/2014/main" id="{D33E80EE-0C21-FE8D-800B-27A6A92FF6EE}"/>
                </a:ext>
              </a:extLst>
            </p:cNvPr>
            <p:cNvSpPr/>
            <p:nvPr/>
          </p:nvSpPr>
          <p:spPr>
            <a:xfrm>
              <a:off x="2144555" y="4056261"/>
              <a:ext cx="2849304" cy="988183"/>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Tokenizer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2F3C71AF-2D40-05A0-9416-ECB0F8755DF2}"/>
                </a:ext>
              </a:extLst>
            </p:cNvPr>
            <p:cNvSpPr/>
            <p:nvPr/>
          </p:nvSpPr>
          <p:spPr>
            <a:xfrm>
              <a:off x="2139123" y="310604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0" name="直線單箭頭接點 29">
              <a:extLst>
                <a:ext uri="{FF2B5EF4-FFF2-40B4-BE49-F238E27FC236}">
                  <a16:creationId xmlns:a16="http://schemas.microsoft.com/office/drawing/2014/main" id="{5A5D6505-64D0-2900-E43C-8E03B8691F80}"/>
                </a:ext>
              </a:extLst>
            </p:cNvPr>
            <p:cNvCxnSpPr>
              <a:cxnSpLocks/>
            </p:cNvCxnSpPr>
            <p:nvPr/>
          </p:nvCxnSpPr>
          <p:spPr>
            <a:xfrm flipV="1">
              <a:off x="3567069" y="3511460"/>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7CB30491-DDF6-0050-85FC-6F210EE35527}"/>
                </a:ext>
              </a:extLst>
            </p:cNvPr>
            <p:cNvCxnSpPr>
              <a:cxnSpLocks/>
            </p:cNvCxnSpPr>
            <p:nvPr/>
          </p:nvCxnSpPr>
          <p:spPr>
            <a:xfrm flipV="1">
              <a:off x="3541787" y="5111576"/>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5" name="群組 54">
            <a:extLst>
              <a:ext uri="{FF2B5EF4-FFF2-40B4-BE49-F238E27FC236}">
                <a16:creationId xmlns:a16="http://schemas.microsoft.com/office/drawing/2014/main" id="{7222335E-3ECE-F677-DF2D-1DA66E221DCE}"/>
              </a:ext>
            </a:extLst>
          </p:cNvPr>
          <p:cNvGrpSpPr/>
          <p:nvPr/>
        </p:nvGrpSpPr>
        <p:grpSpPr>
          <a:xfrm>
            <a:off x="6703058" y="5354739"/>
            <a:ext cx="3058844" cy="830012"/>
            <a:chOff x="393073" y="5022255"/>
            <a:chExt cx="2117030" cy="878286"/>
          </a:xfrm>
        </p:grpSpPr>
        <p:pic>
          <p:nvPicPr>
            <p:cNvPr id="56"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4FFCD51-586B-6A76-B1E5-15A57B40221C}"/>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58"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32EFD42-09BD-F988-0E65-405AF29D148A}"/>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sp>
        <p:nvSpPr>
          <p:cNvPr id="59" name="矩形: 圓角 58">
            <a:extLst>
              <a:ext uri="{FF2B5EF4-FFF2-40B4-BE49-F238E27FC236}">
                <a16:creationId xmlns:a16="http://schemas.microsoft.com/office/drawing/2014/main" id="{FE54B247-5140-7884-532D-3A7AE190CA3D}"/>
              </a:ext>
            </a:extLst>
          </p:cNvPr>
          <p:cNvSpPr/>
          <p:nvPr/>
        </p:nvSpPr>
        <p:spPr>
          <a:xfrm>
            <a:off x="6789546" y="3971501"/>
            <a:ext cx="2849304" cy="988183"/>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lvl="0" algn="ctr">
              <a:defRPr/>
            </a:pPr>
            <a:r>
              <a:rPr lang="en-US" altLang="zh-TW" sz="2800" dirty="0">
                <a:solidFill>
                  <a:prstClr val="black"/>
                </a:solidFill>
              </a:rPr>
              <a:t>Tokenizer</a:t>
            </a:r>
            <a:endParaRPr lang="zh-TW" altLang="en-US" sz="2800" dirty="0">
              <a:solidFill>
                <a:prstClr val="black"/>
              </a:solidFill>
            </a:endParaRPr>
          </a:p>
        </p:txBody>
      </p:sp>
      <p:cxnSp>
        <p:nvCxnSpPr>
          <p:cNvPr id="61" name="直線單箭頭接點 60">
            <a:extLst>
              <a:ext uri="{FF2B5EF4-FFF2-40B4-BE49-F238E27FC236}">
                <a16:creationId xmlns:a16="http://schemas.microsoft.com/office/drawing/2014/main" id="{35EF2FE9-242C-04BB-CCCB-8CBDB336920D}"/>
              </a:ext>
            </a:extLst>
          </p:cNvPr>
          <p:cNvCxnSpPr>
            <a:cxnSpLocks/>
          </p:cNvCxnSpPr>
          <p:nvPr/>
        </p:nvCxnSpPr>
        <p:spPr>
          <a:xfrm flipV="1">
            <a:off x="8212060" y="3426700"/>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72788C36-2812-275E-01D9-12899F894F08}"/>
              </a:ext>
            </a:extLst>
          </p:cNvPr>
          <p:cNvCxnSpPr>
            <a:cxnSpLocks/>
          </p:cNvCxnSpPr>
          <p:nvPr/>
        </p:nvCxnSpPr>
        <p:spPr>
          <a:xfrm flipV="1">
            <a:off x="8186778" y="5026816"/>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圓角 62">
            <a:extLst>
              <a:ext uri="{FF2B5EF4-FFF2-40B4-BE49-F238E27FC236}">
                <a16:creationId xmlns:a16="http://schemas.microsoft.com/office/drawing/2014/main" id="{8E950299-EE53-EAE9-FAC8-54E422EEB005}"/>
              </a:ext>
            </a:extLst>
          </p:cNvPr>
          <p:cNvSpPr/>
          <p:nvPr/>
        </p:nvSpPr>
        <p:spPr>
          <a:xfrm>
            <a:off x="6868197" y="6131814"/>
            <a:ext cx="72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4" name="矩形: 圓角 63">
            <a:extLst>
              <a:ext uri="{FF2B5EF4-FFF2-40B4-BE49-F238E27FC236}">
                <a16:creationId xmlns:a16="http://schemas.microsoft.com/office/drawing/2014/main" id="{A0A47D14-613F-9A4D-47A9-417DE0039DB0}"/>
              </a:ext>
            </a:extLst>
          </p:cNvPr>
          <p:cNvSpPr/>
          <p:nvPr/>
        </p:nvSpPr>
        <p:spPr>
          <a:xfrm>
            <a:off x="7610387" y="6131814"/>
            <a:ext cx="1195469"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5" name="矩形: 圓角 64">
            <a:extLst>
              <a:ext uri="{FF2B5EF4-FFF2-40B4-BE49-F238E27FC236}">
                <a16:creationId xmlns:a16="http://schemas.microsoft.com/office/drawing/2014/main" id="{1B943785-989E-BD3E-36FE-14A4FA4F20CC}"/>
              </a:ext>
            </a:extLst>
          </p:cNvPr>
          <p:cNvSpPr/>
          <p:nvPr/>
        </p:nvSpPr>
        <p:spPr>
          <a:xfrm>
            <a:off x="8822220" y="6138344"/>
            <a:ext cx="869588"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66" name="直線單箭頭接點 65">
            <a:extLst>
              <a:ext uri="{FF2B5EF4-FFF2-40B4-BE49-F238E27FC236}">
                <a16:creationId xmlns:a16="http://schemas.microsoft.com/office/drawing/2014/main" id="{89355152-A4D4-C3C6-3EA7-C0F57F06D40B}"/>
              </a:ext>
            </a:extLst>
          </p:cNvPr>
          <p:cNvCxnSpPr>
            <a:cxnSpLocks/>
          </p:cNvCxnSpPr>
          <p:nvPr/>
        </p:nvCxnSpPr>
        <p:spPr>
          <a:xfrm flipH="1">
            <a:off x="9826935" y="3168405"/>
            <a:ext cx="713056" cy="0"/>
          </a:xfrm>
          <a:prstGeom prst="straightConnector1">
            <a:avLst/>
          </a:prstGeom>
          <a:ln w="57150">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直線單箭頭接點 66">
            <a:extLst>
              <a:ext uri="{FF2B5EF4-FFF2-40B4-BE49-F238E27FC236}">
                <a16:creationId xmlns:a16="http://schemas.microsoft.com/office/drawing/2014/main" id="{35BF7113-7D9B-F8D5-705E-F2F72613B3EB}"/>
              </a:ext>
            </a:extLst>
          </p:cNvPr>
          <p:cNvCxnSpPr>
            <a:cxnSpLocks/>
          </p:cNvCxnSpPr>
          <p:nvPr/>
        </p:nvCxnSpPr>
        <p:spPr>
          <a:xfrm flipH="1">
            <a:off x="9789839" y="6331083"/>
            <a:ext cx="750152" cy="0"/>
          </a:xfrm>
          <a:prstGeom prst="straightConnector1">
            <a:avLst/>
          </a:prstGeom>
          <a:ln w="57150">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8" name="文字方塊 67">
            <a:extLst>
              <a:ext uri="{FF2B5EF4-FFF2-40B4-BE49-F238E27FC236}">
                <a16:creationId xmlns:a16="http://schemas.microsoft.com/office/drawing/2014/main" id="{6DE287DE-EE8F-D97C-354B-158B453F63F5}"/>
              </a:ext>
            </a:extLst>
          </p:cNvPr>
          <p:cNvSpPr txBox="1"/>
          <p:nvPr/>
        </p:nvSpPr>
        <p:spPr>
          <a:xfrm rot="5400000">
            <a:off x="9578139" y="4548278"/>
            <a:ext cx="265691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same number</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5" name="矩形: 圓角 74">
            <a:extLst>
              <a:ext uri="{FF2B5EF4-FFF2-40B4-BE49-F238E27FC236}">
                <a16:creationId xmlns:a16="http://schemas.microsoft.com/office/drawing/2014/main" id="{2B815A96-D213-4FC3-8A8B-2E3D0E00272C}"/>
              </a:ext>
            </a:extLst>
          </p:cNvPr>
          <p:cNvSpPr/>
          <p:nvPr/>
        </p:nvSpPr>
        <p:spPr>
          <a:xfrm>
            <a:off x="6789546" y="3040336"/>
            <a:ext cx="72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6" name="矩形: 圓角 75">
            <a:extLst>
              <a:ext uri="{FF2B5EF4-FFF2-40B4-BE49-F238E27FC236}">
                <a16:creationId xmlns:a16="http://schemas.microsoft.com/office/drawing/2014/main" id="{7D397172-B2C2-482D-F036-771EE348E9CB}"/>
              </a:ext>
            </a:extLst>
          </p:cNvPr>
          <p:cNvSpPr/>
          <p:nvPr/>
        </p:nvSpPr>
        <p:spPr>
          <a:xfrm>
            <a:off x="7531736" y="3040336"/>
            <a:ext cx="1195469"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7" name="矩形: 圓角 76">
            <a:extLst>
              <a:ext uri="{FF2B5EF4-FFF2-40B4-BE49-F238E27FC236}">
                <a16:creationId xmlns:a16="http://schemas.microsoft.com/office/drawing/2014/main" id="{DBA9E172-B6EA-AE5E-9DEA-F13474A4777C}"/>
              </a:ext>
            </a:extLst>
          </p:cNvPr>
          <p:cNvSpPr/>
          <p:nvPr/>
        </p:nvSpPr>
        <p:spPr>
          <a:xfrm>
            <a:off x="8758083" y="3040336"/>
            <a:ext cx="869588"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78" name="直線單箭頭接點 77">
            <a:extLst>
              <a:ext uri="{FF2B5EF4-FFF2-40B4-BE49-F238E27FC236}">
                <a16:creationId xmlns:a16="http://schemas.microsoft.com/office/drawing/2014/main" id="{32C92770-5317-E196-1A95-11319610EF35}"/>
              </a:ext>
            </a:extLst>
          </p:cNvPr>
          <p:cNvCxnSpPr>
            <a:cxnSpLocks/>
          </p:cNvCxnSpPr>
          <p:nvPr/>
        </p:nvCxnSpPr>
        <p:spPr>
          <a:xfrm>
            <a:off x="10539991" y="3168405"/>
            <a:ext cx="0" cy="3119828"/>
          </a:xfrm>
          <a:prstGeom prst="straightConnector1">
            <a:avLst/>
          </a:prstGeom>
          <a:ln w="5715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文字方塊 79">
            <a:extLst>
              <a:ext uri="{FF2B5EF4-FFF2-40B4-BE49-F238E27FC236}">
                <a16:creationId xmlns:a16="http://schemas.microsoft.com/office/drawing/2014/main" id="{17F482BF-2315-5221-7319-D76A5EE7137F}"/>
              </a:ext>
            </a:extLst>
          </p:cNvPr>
          <p:cNvSpPr txBox="1"/>
          <p:nvPr/>
        </p:nvSpPr>
        <p:spPr>
          <a:xfrm>
            <a:off x="650987" y="3378350"/>
            <a:ext cx="119546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0.02s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1" name="直線單箭頭接點 80">
            <a:extLst>
              <a:ext uri="{FF2B5EF4-FFF2-40B4-BE49-F238E27FC236}">
                <a16:creationId xmlns:a16="http://schemas.microsoft.com/office/drawing/2014/main" id="{829E1C23-01B8-A53A-AF86-94BD08BCF73E}"/>
              </a:ext>
            </a:extLst>
          </p:cNvPr>
          <p:cNvCxnSpPr>
            <a:cxnSpLocks/>
          </p:cNvCxnSpPr>
          <p:nvPr/>
        </p:nvCxnSpPr>
        <p:spPr>
          <a:xfrm flipH="1">
            <a:off x="1543050" y="3221311"/>
            <a:ext cx="473022" cy="260121"/>
          </a:xfrm>
          <a:prstGeom prst="straightConnector1">
            <a:avLst/>
          </a:prstGeom>
          <a:ln w="57150">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3" name="箭號: 向右 82">
            <a:extLst>
              <a:ext uri="{FF2B5EF4-FFF2-40B4-BE49-F238E27FC236}">
                <a16:creationId xmlns:a16="http://schemas.microsoft.com/office/drawing/2014/main" id="{CE87DD93-CE64-68DA-4D4C-6AE78E4B89A9}"/>
              </a:ext>
            </a:extLst>
          </p:cNvPr>
          <p:cNvSpPr/>
          <p:nvPr/>
        </p:nvSpPr>
        <p:spPr>
          <a:xfrm>
            <a:off x="5512189" y="3990551"/>
            <a:ext cx="853266" cy="82461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 name="文字方塊 4">
            <a:extLst>
              <a:ext uri="{FF2B5EF4-FFF2-40B4-BE49-F238E27FC236}">
                <a16:creationId xmlns:a16="http://schemas.microsoft.com/office/drawing/2014/main" id="{C82DA164-66F9-E478-0D35-3B5838B62083}"/>
              </a:ext>
            </a:extLst>
          </p:cNvPr>
          <p:cNvSpPr txBox="1"/>
          <p:nvPr/>
        </p:nvSpPr>
        <p:spPr>
          <a:xfrm>
            <a:off x="1134658" y="2301303"/>
            <a:ext cx="849301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e.g., one speech token corresponds to one text token</a:t>
            </a:r>
          </a:p>
        </p:txBody>
      </p:sp>
      <p:cxnSp>
        <p:nvCxnSpPr>
          <p:cNvPr id="16" name="直線接點 15">
            <a:extLst>
              <a:ext uri="{FF2B5EF4-FFF2-40B4-BE49-F238E27FC236}">
                <a16:creationId xmlns:a16="http://schemas.microsoft.com/office/drawing/2014/main" id="{9B5AB3AD-A944-FA2B-48A0-ADDA1A6B1C5A}"/>
              </a:ext>
            </a:extLst>
          </p:cNvPr>
          <p:cNvCxnSpPr>
            <a:cxnSpLocks/>
          </p:cNvCxnSpPr>
          <p:nvPr/>
        </p:nvCxnSpPr>
        <p:spPr>
          <a:xfrm>
            <a:off x="633895" y="3278268"/>
            <a:ext cx="1128574" cy="6391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214D407E-1576-CC87-EB12-22C8C391CB09}"/>
              </a:ext>
            </a:extLst>
          </p:cNvPr>
          <p:cNvCxnSpPr>
            <a:cxnSpLocks/>
          </p:cNvCxnSpPr>
          <p:nvPr/>
        </p:nvCxnSpPr>
        <p:spPr>
          <a:xfrm flipV="1">
            <a:off x="646571" y="3402286"/>
            <a:ext cx="975342" cy="4765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76125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3" grpId="0" animBg="1"/>
      <p:bldP spid="64" grpId="0" animBg="1"/>
      <p:bldP spid="65" grpId="0" animBg="1"/>
      <p:bldP spid="68" grpId="0"/>
      <p:bldP spid="75" grpId="0" animBg="1"/>
      <p:bldP spid="76" grpId="0" animBg="1"/>
      <p:bldP spid="77" grpId="0" animBg="1"/>
      <p:bldP spid="83" grpId="0" animBg="1"/>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4804E-2DEB-2AC3-E04D-561B989FB0D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2AD18FA-A01F-E3A7-8095-645E228D9C1E}"/>
              </a:ext>
            </a:extLst>
          </p:cNvPr>
          <p:cNvSpPr>
            <a:spLocks noGrp="1"/>
          </p:cNvSpPr>
          <p:nvPr>
            <p:ph type="title"/>
          </p:nvPr>
        </p:nvSpPr>
        <p:spPr/>
        <p:txBody>
          <a:bodyPr/>
          <a:lstStyle/>
          <a:p>
            <a:r>
              <a:rPr lang="en-US" altLang="zh-TW" dirty="0"/>
              <a:t>Can we have speech tokens designed for text-speech hybrid generation?</a:t>
            </a:r>
            <a:endParaRPr lang="zh-TW" altLang="en-US" dirty="0"/>
          </a:p>
        </p:txBody>
      </p:sp>
      <p:grpSp>
        <p:nvGrpSpPr>
          <p:cNvPr id="45" name="群組 44">
            <a:extLst>
              <a:ext uri="{FF2B5EF4-FFF2-40B4-BE49-F238E27FC236}">
                <a16:creationId xmlns:a16="http://schemas.microsoft.com/office/drawing/2014/main" id="{640BE826-CD43-21D5-42C1-533803D70E97}"/>
              </a:ext>
            </a:extLst>
          </p:cNvPr>
          <p:cNvGrpSpPr/>
          <p:nvPr/>
        </p:nvGrpSpPr>
        <p:grpSpPr>
          <a:xfrm>
            <a:off x="3162222" y="4504633"/>
            <a:ext cx="864706" cy="722133"/>
            <a:chOff x="4525120" y="1657550"/>
            <a:chExt cx="864706" cy="722133"/>
          </a:xfrm>
        </p:grpSpPr>
        <p:cxnSp>
          <p:nvCxnSpPr>
            <p:cNvPr id="43" name="直線單箭頭接點 42">
              <a:extLst>
                <a:ext uri="{FF2B5EF4-FFF2-40B4-BE49-F238E27FC236}">
                  <a16:creationId xmlns:a16="http://schemas.microsoft.com/office/drawing/2014/main" id="{C6D458DD-9E22-936C-0A41-0E44395FB02F}"/>
                </a:ext>
              </a:extLst>
            </p:cNvPr>
            <p:cNvCxnSpPr>
              <a:cxnSpLocks/>
            </p:cNvCxnSpPr>
            <p:nvPr/>
          </p:nvCxnSpPr>
          <p:spPr>
            <a:xfrm flipH="1" flipV="1">
              <a:off x="4525120" y="1657550"/>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4B5A5BDA-2751-6E49-682B-410ADD0855E7}"/>
                </a:ext>
              </a:extLst>
            </p:cNvPr>
            <p:cNvCxnSpPr>
              <a:cxnSpLocks/>
            </p:cNvCxnSpPr>
            <p:nvPr/>
          </p:nvCxnSpPr>
          <p:spPr>
            <a:xfrm flipV="1">
              <a:off x="4955794" y="1674833"/>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6" name="矩形: 圓角 45">
            <a:extLst>
              <a:ext uri="{FF2B5EF4-FFF2-40B4-BE49-F238E27FC236}">
                <a16:creationId xmlns:a16="http://schemas.microsoft.com/office/drawing/2014/main" id="{C7C3BA4D-4C4F-90A1-4BC4-57FE5B0746FB}"/>
              </a:ext>
            </a:extLst>
          </p:cNvPr>
          <p:cNvSpPr/>
          <p:nvPr/>
        </p:nvSpPr>
        <p:spPr>
          <a:xfrm>
            <a:off x="2523711" y="4056672"/>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矩形: 圓角 46">
            <a:extLst>
              <a:ext uri="{FF2B5EF4-FFF2-40B4-BE49-F238E27FC236}">
                <a16:creationId xmlns:a16="http://schemas.microsoft.com/office/drawing/2014/main" id="{76174F10-AA64-0265-A72A-EF1EBA9386A6}"/>
              </a:ext>
            </a:extLst>
          </p:cNvPr>
          <p:cNvSpPr/>
          <p:nvPr/>
        </p:nvSpPr>
        <p:spPr>
          <a:xfrm>
            <a:off x="3612491" y="4056672"/>
            <a:ext cx="108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56</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55" name="群組 54">
            <a:extLst>
              <a:ext uri="{FF2B5EF4-FFF2-40B4-BE49-F238E27FC236}">
                <a16:creationId xmlns:a16="http://schemas.microsoft.com/office/drawing/2014/main" id="{D77B9BE6-8AFB-496F-763C-8DD853F567D6}"/>
              </a:ext>
            </a:extLst>
          </p:cNvPr>
          <p:cNvGrpSpPr/>
          <p:nvPr/>
        </p:nvGrpSpPr>
        <p:grpSpPr>
          <a:xfrm>
            <a:off x="5709416" y="4491855"/>
            <a:ext cx="864706" cy="722133"/>
            <a:chOff x="4525120" y="1657550"/>
            <a:chExt cx="864706" cy="722133"/>
          </a:xfrm>
        </p:grpSpPr>
        <p:cxnSp>
          <p:nvCxnSpPr>
            <p:cNvPr id="56" name="直線單箭頭接點 55">
              <a:extLst>
                <a:ext uri="{FF2B5EF4-FFF2-40B4-BE49-F238E27FC236}">
                  <a16:creationId xmlns:a16="http://schemas.microsoft.com/office/drawing/2014/main" id="{AC2304EF-960A-2FE2-74C0-A135A010F9AF}"/>
                </a:ext>
              </a:extLst>
            </p:cNvPr>
            <p:cNvCxnSpPr>
              <a:cxnSpLocks/>
            </p:cNvCxnSpPr>
            <p:nvPr/>
          </p:nvCxnSpPr>
          <p:spPr>
            <a:xfrm flipH="1" flipV="1">
              <a:off x="4525120" y="1657550"/>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780A90D5-4D86-9A9E-16D2-60E5C772F213}"/>
                </a:ext>
              </a:extLst>
            </p:cNvPr>
            <p:cNvCxnSpPr>
              <a:cxnSpLocks/>
            </p:cNvCxnSpPr>
            <p:nvPr/>
          </p:nvCxnSpPr>
          <p:spPr>
            <a:xfrm flipV="1">
              <a:off x="4955794" y="1674833"/>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8" name="矩形: 圓角 57">
            <a:extLst>
              <a:ext uri="{FF2B5EF4-FFF2-40B4-BE49-F238E27FC236}">
                <a16:creationId xmlns:a16="http://schemas.microsoft.com/office/drawing/2014/main" id="{0F3228A1-28E6-C999-2189-8E235428BF6B}"/>
              </a:ext>
            </a:extLst>
          </p:cNvPr>
          <p:cNvSpPr/>
          <p:nvPr/>
        </p:nvSpPr>
        <p:spPr>
          <a:xfrm>
            <a:off x="5070905" y="4043894"/>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9" name="矩形: 圓角 58">
            <a:extLst>
              <a:ext uri="{FF2B5EF4-FFF2-40B4-BE49-F238E27FC236}">
                <a16:creationId xmlns:a16="http://schemas.microsoft.com/office/drawing/2014/main" id="{6B5B7534-B32B-A0BD-6E48-2146A23A75A5}"/>
              </a:ext>
            </a:extLst>
          </p:cNvPr>
          <p:cNvSpPr/>
          <p:nvPr/>
        </p:nvSpPr>
        <p:spPr>
          <a:xfrm>
            <a:off x="6159685" y="4043894"/>
            <a:ext cx="108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64" name="群組 63">
            <a:extLst>
              <a:ext uri="{FF2B5EF4-FFF2-40B4-BE49-F238E27FC236}">
                <a16:creationId xmlns:a16="http://schemas.microsoft.com/office/drawing/2014/main" id="{632AC4F9-0888-1F45-6109-B41D7078B41B}"/>
              </a:ext>
            </a:extLst>
          </p:cNvPr>
          <p:cNvGrpSpPr/>
          <p:nvPr/>
        </p:nvGrpSpPr>
        <p:grpSpPr>
          <a:xfrm>
            <a:off x="8226866" y="4500130"/>
            <a:ext cx="864706" cy="722133"/>
            <a:chOff x="4525120" y="1657550"/>
            <a:chExt cx="864706" cy="722133"/>
          </a:xfrm>
        </p:grpSpPr>
        <p:cxnSp>
          <p:nvCxnSpPr>
            <p:cNvPr id="65" name="直線單箭頭接點 64">
              <a:extLst>
                <a:ext uri="{FF2B5EF4-FFF2-40B4-BE49-F238E27FC236}">
                  <a16:creationId xmlns:a16="http://schemas.microsoft.com/office/drawing/2014/main" id="{657C2874-FC4A-DFDE-CC8E-DD553E9154E7}"/>
                </a:ext>
              </a:extLst>
            </p:cNvPr>
            <p:cNvCxnSpPr>
              <a:cxnSpLocks/>
            </p:cNvCxnSpPr>
            <p:nvPr/>
          </p:nvCxnSpPr>
          <p:spPr>
            <a:xfrm flipH="1" flipV="1">
              <a:off x="4525120" y="1657550"/>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BCF04C57-B1E4-1C98-5F0F-D99736E845D6}"/>
                </a:ext>
              </a:extLst>
            </p:cNvPr>
            <p:cNvCxnSpPr>
              <a:cxnSpLocks/>
            </p:cNvCxnSpPr>
            <p:nvPr/>
          </p:nvCxnSpPr>
          <p:spPr>
            <a:xfrm flipV="1">
              <a:off x="4955794" y="1674833"/>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7" name="矩形: 圓角 66">
            <a:extLst>
              <a:ext uri="{FF2B5EF4-FFF2-40B4-BE49-F238E27FC236}">
                <a16:creationId xmlns:a16="http://schemas.microsoft.com/office/drawing/2014/main" id="{618AFACB-6670-F398-F49E-F0271B2B8DD0}"/>
              </a:ext>
            </a:extLst>
          </p:cNvPr>
          <p:cNvSpPr/>
          <p:nvPr/>
        </p:nvSpPr>
        <p:spPr>
          <a:xfrm>
            <a:off x="7588355" y="4052169"/>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8" name="矩形: 圓角 67">
            <a:extLst>
              <a:ext uri="{FF2B5EF4-FFF2-40B4-BE49-F238E27FC236}">
                <a16:creationId xmlns:a16="http://schemas.microsoft.com/office/drawing/2014/main" id="{85982B7A-29F0-6CAD-C3D8-590E960B2371}"/>
              </a:ext>
            </a:extLst>
          </p:cNvPr>
          <p:cNvSpPr/>
          <p:nvPr/>
        </p:nvSpPr>
        <p:spPr>
          <a:xfrm>
            <a:off x="8677135" y="4052169"/>
            <a:ext cx="108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162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B4FF6AA5-3D41-4E10-E225-69AA26F16A61}"/>
              </a:ext>
            </a:extLst>
          </p:cNvPr>
          <p:cNvSpPr/>
          <p:nvPr/>
        </p:nvSpPr>
        <p:spPr>
          <a:xfrm>
            <a:off x="2398148" y="4888257"/>
            <a:ext cx="7800600" cy="712182"/>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 name="文字方塊 3">
            <a:extLst>
              <a:ext uri="{FF2B5EF4-FFF2-40B4-BE49-F238E27FC236}">
                <a16:creationId xmlns:a16="http://schemas.microsoft.com/office/drawing/2014/main" id="{33BA449E-0FEF-8B84-3B54-B1BF955F66E2}"/>
              </a:ext>
            </a:extLst>
          </p:cNvPr>
          <p:cNvSpPr txBox="1"/>
          <p:nvPr/>
        </p:nvSpPr>
        <p:spPr>
          <a:xfrm>
            <a:off x="838200" y="1855538"/>
            <a:ext cx="1092049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 Straightforward relationship with text (cannot be fixed duration)</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文字方塊 4">
            <a:extLst>
              <a:ext uri="{FF2B5EF4-FFF2-40B4-BE49-F238E27FC236}">
                <a16:creationId xmlns:a16="http://schemas.microsoft.com/office/drawing/2014/main" id="{2BFAD5F8-CB2A-ADDA-EF56-478487F71CDA}"/>
              </a:ext>
            </a:extLst>
          </p:cNvPr>
          <p:cNvSpPr txBox="1"/>
          <p:nvPr/>
        </p:nvSpPr>
        <p:spPr>
          <a:xfrm>
            <a:off x="1134658" y="2301303"/>
            <a:ext cx="849301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e.g., one speech token corresponds to one text token</a:t>
            </a:r>
          </a:p>
        </p:txBody>
      </p:sp>
      <p:sp>
        <p:nvSpPr>
          <p:cNvPr id="7" name="文字方塊 6">
            <a:extLst>
              <a:ext uri="{FF2B5EF4-FFF2-40B4-BE49-F238E27FC236}">
                <a16:creationId xmlns:a16="http://schemas.microsoft.com/office/drawing/2014/main" id="{62679665-AED6-5E10-8115-CE59B650E150}"/>
              </a:ext>
            </a:extLst>
          </p:cNvPr>
          <p:cNvSpPr txBox="1"/>
          <p:nvPr/>
        </p:nvSpPr>
        <p:spPr>
          <a:xfrm>
            <a:off x="1813917" y="2766714"/>
            <a:ext cx="8305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Text-speech hybrid generation can be so simple.</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4280324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76018-B9E8-09F3-7221-CC13C0BEB6F8}"/>
            </a:ext>
          </a:extLst>
        </p:cNvPr>
        <p:cNvGrpSpPr/>
        <p:nvPr/>
      </p:nvGrpSpPr>
      <p:grpSpPr>
        <a:xfrm>
          <a:off x="0" y="0"/>
          <a:ext cx="0" cy="0"/>
          <a:chOff x="0" y="0"/>
          <a:chExt cx="0" cy="0"/>
        </a:xfrm>
      </p:grpSpPr>
      <p:cxnSp>
        <p:nvCxnSpPr>
          <p:cNvPr id="48" name="直線單箭頭接點 47">
            <a:extLst>
              <a:ext uri="{FF2B5EF4-FFF2-40B4-BE49-F238E27FC236}">
                <a16:creationId xmlns:a16="http://schemas.microsoft.com/office/drawing/2014/main" id="{1B785877-3520-86B4-CB48-B48A19DE14B5}"/>
              </a:ext>
            </a:extLst>
          </p:cNvPr>
          <p:cNvCxnSpPr>
            <a:cxnSpLocks/>
          </p:cNvCxnSpPr>
          <p:nvPr/>
        </p:nvCxnSpPr>
        <p:spPr>
          <a:xfrm>
            <a:off x="2669618" y="4198388"/>
            <a:ext cx="0" cy="511989"/>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618045A3-6032-1FF0-A6AE-FC9757028E08}"/>
              </a:ext>
            </a:extLst>
          </p:cNvPr>
          <p:cNvCxnSpPr>
            <a:cxnSpLocks/>
          </p:cNvCxnSpPr>
          <p:nvPr/>
        </p:nvCxnSpPr>
        <p:spPr>
          <a:xfrm>
            <a:off x="6641931" y="4236487"/>
            <a:ext cx="0" cy="511989"/>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6222BCCB-1F02-9CF1-F1B8-A39D3CCA8355}"/>
              </a:ext>
            </a:extLst>
          </p:cNvPr>
          <p:cNvCxnSpPr>
            <a:cxnSpLocks/>
          </p:cNvCxnSpPr>
          <p:nvPr/>
        </p:nvCxnSpPr>
        <p:spPr>
          <a:xfrm>
            <a:off x="4575265" y="4263883"/>
            <a:ext cx="0" cy="511989"/>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標題 1">
            <a:extLst>
              <a:ext uri="{FF2B5EF4-FFF2-40B4-BE49-F238E27FC236}">
                <a16:creationId xmlns:a16="http://schemas.microsoft.com/office/drawing/2014/main" id="{9542833C-D2C4-1897-B2FB-2C2F96B02408}"/>
              </a:ext>
            </a:extLst>
          </p:cNvPr>
          <p:cNvSpPr>
            <a:spLocks noGrp="1"/>
          </p:cNvSpPr>
          <p:nvPr>
            <p:ph type="title"/>
          </p:nvPr>
        </p:nvSpPr>
        <p:spPr/>
        <p:txBody>
          <a:bodyPr/>
          <a:lstStyle/>
          <a:p>
            <a:r>
              <a:rPr lang="en-US" altLang="zh-TW" dirty="0"/>
              <a:t>Can we have speech tokens designed for text-speech hybrid generation?</a:t>
            </a:r>
          </a:p>
        </p:txBody>
      </p:sp>
      <p:sp>
        <p:nvSpPr>
          <p:cNvPr id="4" name="文字方塊 3">
            <a:extLst>
              <a:ext uri="{FF2B5EF4-FFF2-40B4-BE49-F238E27FC236}">
                <a16:creationId xmlns:a16="http://schemas.microsoft.com/office/drawing/2014/main" id="{705FB737-BFB7-E671-7090-7F7F21E38E44}"/>
              </a:ext>
            </a:extLst>
          </p:cNvPr>
          <p:cNvSpPr txBox="1"/>
          <p:nvPr/>
        </p:nvSpPr>
        <p:spPr>
          <a:xfrm>
            <a:off x="921833" y="1981879"/>
            <a:ext cx="658480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 No need to include content information.</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5" name="直線單箭頭接點 4">
            <a:extLst>
              <a:ext uri="{FF2B5EF4-FFF2-40B4-BE49-F238E27FC236}">
                <a16:creationId xmlns:a16="http://schemas.microsoft.com/office/drawing/2014/main" id="{E038A146-5310-AE91-86E9-84A89345F154}"/>
              </a:ext>
            </a:extLst>
          </p:cNvPr>
          <p:cNvCxnSpPr>
            <a:cxnSpLocks/>
          </p:cNvCxnSpPr>
          <p:nvPr/>
        </p:nvCxnSpPr>
        <p:spPr>
          <a:xfrm>
            <a:off x="3520064" y="4198388"/>
            <a:ext cx="0" cy="511989"/>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線單箭頭接點 5">
            <a:extLst>
              <a:ext uri="{FF2B5EF4-FFF2-40B4-BE49-F238E27FC236}">
                <a16:creationId xmlns:a16="http://schemas.microsoft.com/office/drawing/2014/main" id="{5A998AD4-35E8-C654-97EB-050660AE8430}"/>
              </a:ext>
            </a:extLst>
          </p:cNvPr>
          <p:cNvCxnSpPr>
            <a:cxnSpLocks/>
          </p:cNvCxnSpPr>
          <p:nvPr/>
        </p:nvCxnSpPr>
        <p:spPr>
          <a:xfrm>
            <a:off x="5452840" y="4236487"/>
            <a:ext cx="0" cy="511989"/>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單箭頭接點 6">
            <a:extLst>
              <a:ext uri="{FF2B5EF4-FFF2-40B4-BE49-F238E27FC236}">
                <a16:creationId xmlns:a16="http://schemas.microsoft.com/office/drawing/2014/main" id="{09BAD99C-9222-8A4E-9EF4-3C9BBA435580}"/>
              </a:ext>
            </a:extLst>
          </p:cNvPr>
          <p:cNvCxnSpPr>
            <a:cxnSpLocks/>
          </p:cNvCxnSpPr>
          <p:nvPr/>
        </p:nvCxnSpPr>
        <p:spPr>
          <a:xfrm>
            <a:off x="7506637" y="4236487"/>
            <a:ext cx="0" cy="511989"/>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 name="群組 7">
            <a:extLst>
              <a:ext uri="{FF2B5EF4-FFF2-40B4-BE49-F238E27FC236}">
                <a16:creationId xmlns:a16="http://schemas.microsoft.com/office/drawing/2014/main" id="{09119991-6CD4-4B0A-4ADD-9FF41B631D62}"/>
              </a:ext>
            </a:extLst>
          </p:cNvPr>
          <p:cNvGrpSpPr/>
          <p:nvPr/>
        </p:nvGrpSpPr>
        <p:grpSpPr>
          <a:xfrm flipH="1">
            <a:off x="7938637" y="1636144"/>
            <a:ext cx="3058844" cy="830012"/>
            <a:chOff x="393073" y="5022255"/>
            <a:chExt cx="2117030" cy="878286"/>
          </a:xfrm>
        </p:grpSpPr>
        <p:pic>
          <p:nvPicPr>
            <p:cNvPr id="9"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34B57D6-BD96-5259-E1B6-83B00C682934}"/>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10"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A2CFEFA4-4A24-DAF6-DFD5-E8F0584C7141}"/>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cxnSp>
        <p:nvCxnSpPr>
          <p:cNvPr id="11" name="直線單箭頭接點 10">
            <a:extLst>
              <a:ext uri="{FF2B5EF4-FFF2-40B4-BE49-F238E27FC236}">
                <a16:creationId xmlns:a16="http://schemas.microsoft.com/office/drawing/2014/main" id="{5B3D1E5F-C8CF-D421-3C6E-851DAA792FBC}"/>
              </a:ext>
            </a:extLst>
          </p:cNvPr>
          <p:cNvCxnSpPr>
            <a:cxnSpLocks/>
          </p:cNvCxnSpPr>
          <p:nvPr/>
        </p:nvCxnSpPr>
        <p:spPr>
          <a:xfrm flipV="1">
            <a:off x="9429940" y="2351558"/>
            <a:ext cx="0" cy="55475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2024FF6A-E0EA-B215-AE6F-87CAAE151217}"/>
              </a:ext>
            </a:extLst>
          </p:cNvPr>
          <p:cNvCxnSpPr>
            <a:cxnSpLocks/>
          </p:cNvCxnSpPr>
          <p:nvPr/>
        </p:nvCxnSpPr>
        <p:spPr>
          <a:xfrm flipH="1" flipV="1">
            <a:off x="2669618" y="5005888"/>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38D1865A-6E62-D440-DF48-6A80D1A839CA}"/>
              </a:ext>
            </a:extLst>
          </p:cNvPr>
          <p:cNvCxnSpPr>
            <a:cxnSpLocks/>
          </p:cNvCxnSpPr>
          <p:nvPr/>
        </p:nvCxnSpPr>
        <p:spPr>
          <a:xfrm flipV="1">
            <a:off x="3100292" y="5023171"/>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圓角 13">
            <a:extLst>
              <a:ext uri="{FF2B5EF4-FFF2-40B4-BE49-F238E27FC236}">
                <a16:creationId xmlns:a16="http://schemas.microsoft.com/office/drawing/2014/main" id="{15FF0D21-0FAD-ABF7-5C3F-974F7E846921}"/>
              </a:ext>
            </a:extLst>
          </p:cNvPr>
          <p:cNvSpPr/>
          <p:nvPr/>
        </p:nvSpPr>
        <p:spPr>
          <a:xfrm>
            <a:off x="2309618" y="4558213"/>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20B2DB74-D1E4-7F31-3F88-1D8B49C34AA7}"/>
              </a:ext>
            </a:extLst>
          </p:cNvPr>
          <p:cNvSpPr/>
          <p:nvPr/>
        </p:nvSpPr>
        <p:spPr>
          <a:xfrm>
            <a:off x="3250064" y="456026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6" name="直線單箭頭接點 15">
            <a:extLst>
              <a:ext uri="{FF2B5EF4-FFF2-40B4-BE49-F238E27FC236}">
                <a16:creationId xmlns:a16="http://schemas.microsoft.com/office/drawing/2014/main" id="{B95020F2-483F-A570-1C74-DE5FD96E4157}"/>
              </a:ext>
            </a:extLst>
          </p:cNvPr>
          <p:cNvCxnSpPr>
            <a:cxnSpLocks/>
          </p:cNvCxnSpPr>
          <p:nvPr/>
        </p:nvCxnSpPr>
        <p:spPr>
          <a:xfrm flipH="1" flipV="1">
            <a:off x="4588134" y="4988605"/>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831B34A5-DA42-FB4C-4C72-AC752A3E826B}"/>
              </a:ext>
            </a:extLst>
          </p:cNvPr>
          <p:cNvCxnSpPr>
            <a:cxnSpLocks/>
          </p:cNvCxnSpPr>
          <p:nvPr/>
        </p:nvCxnSpPr>
        <p:spPr>
          <a:xfrm flipV="1">
            <a:off x="5018808" y="5005888"/>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圓角 17">
            <a:extLst>
              <a:ext uri="{FF2B5EF4-FFF2-40B4-BE49-F238E27FC236}">
                <a16:creationId xmlns:a16="http://schemas.microsoft.com/office/drawing/2014/main" id="{EE8A284F-C319-03B2-E740-DD3C2416AFEF}"/>
              </a:ext>
            </a:extLst>
          </p:cNvPr>
          <p:cNvSpPr/>
          <p:nvPr/>
        </p:nvSpPr>
        <p:spPr>
          <a:xfrm>
            <a:off x="4228134" y="4540930"/>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19BD7919-5612-589A-4D12-C1DA972AC98A}"/>
              </a:ext>
            </a:extLst>
          </p:cNvPr>
          <p:cNvSpPr/>
          <p:nvPr/>
        </p:nvSpPr>
        <p:spPr>
          <a:xfrm>
            <a:off x="5168580" y="4542983"/>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0" name="直線單箭頭接點 19">
            <a:extLst>
              <a:ext uri="{FF2B5EF4-FFF2-40B4-BE49-F238E27FC236}">
                <a16:creationId xmlns:a16="http://schemas.microsoft.com/office/drawing/2014/main" id="{D29E0D95-79D6-ABEB-DF69-88358705CBAE}"/>
              </a:ext>
            </a:extLst>
          </p:cNvPr>
          <p:cNvCxnSpPr>
            <a:cxnSpLocks/>
          </p:cNvCxnSpPr>
          <p:nvPr/>
        </p:nvCxnSpPr>
        <p:spPr>
          <a:xfrm flipH="1" flipV="1">
            <a:off x="6641931" y="5005888"/>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B8D66B10-4B0A-1A18-81BA-0772B74BB579}"/>
              </a:ext>
            </a:extLst>
          </p:cNvPr>
          <p:cNvCxnSpPr>
            <a:cxnSpLocks/>
          </p:cNvCxnSpPr>
          <p:nvPr/>
        </p:nvCxnSpPr>
        <p:spPr>
          <a:xfrm flipV="1">
            <a:off x="7072605" y="5023171"/>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圓角 21">
            <a:extLst>
              <a:ext uri="{FF2B5EF4-FFF2-40B4-BE49-F238E27FC236}">
                <a16:creationId xmlns:a16="http://schemas.microsoft.com/office/drawing/2014/main" id="{E54413BB-8093-7458-37DB-A6AE2D816C80}"/>
              </a:ext>
            </a:extLst>
          </p:cNvPr>
          <p:cNvSpPr/>
          <p:nvPr/>
        </p:nvSpPr>
        <p:spPr>
          <a:xfrm>
            <a:off x="6281931" y="4558213"/>
            <a:ext cx="72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FE52EE52-3EF9-7637-0E0A-0819299E8B02}"/>
              </a:ext>
            </a:extLst>
          </p:cNvPr>
          <p:cNvSpPr/>
          <p:nvPr/>
        </p:nvSpPr>
        <p:spPr>
          <a:xfrm>
            <a:off x="7222377" y="4560266"/>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C9BCE098-E517-8C45-963D-51634DB737ED}"/>
              </a:ext>
            </a:extLst>
          </p:cNvPr>
          <p:cNvSpPr/>
          <p:nvPr/>
        </p:nvSpPr>
        <p:spPr>
          <a:xfrm>
            <a:off x="522828" y="5486249"/>
            <a:ext cx="11347786" cy="877032"/>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文字方塊 24">
            <a:extLst>
              <a:ext uri="{FF2B5EF4-FFF2-40B4-BE49-F238E27FC236}">
                <a16:creationId xmlns:a16="http://schemas.microsoft.com/office/drawing/2014/main" id="{5272BC4B-FCD3-EBC7-F14A-7D30CCD81D7C}"/>
              </a:ext>
            </a:extLst>
          </p:cNvPr>
          <p:cNvSpPr txBox="1"/>
          <p:nvPr/>
        </p:nvSpPr>
        <p:spPr>
          <a:xfrm>
            <a:off x="7938637" y="4409735"/>
            <a:ext cx="175663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A98DD3D3-A350-CE5D-F3C8-FF212DE6B7DA}"/>
              </a:ext>
            </a:extLst>
          </p:cNvPr>
          <p:cNvSpPr/>
          <p:nvPr/>
        </p:nvSpPr>
        <p:spPr>
          <a:xfrm>
            <a:off x="8117396" y="2815171"/>
            <a:ext cx="2625087" cy="988183"/>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Det</a:t>
            </a:r>
            <a:r>
              <a:rPr lang="en-US" altLang="zh-TW" sz="2800" dirty="0" err="1">
                <a:solidFill>
                  <a:prstClr val="black"/>
                </a:solidFill>
              </a:rPr>
              <a:t>okenizer</a:t>
            </a:r>
            <a:endParaRPr lang="zh-TW" altLang="en-US" sz="2800" dirty="0">
              <a:solidFill>
                <a:prstClr val="black"/>
              </a:solidFill>
            </a:endParaRPr>
          </a:p>
        </p:txBody>
      </p:sp>
      <p:cxnSp>
        <p:nvCxnSpPr>
          <p:cNvPr id="27" name="直線單箭頭接點 26">
            <a:extLst>
              <a:ext uri="{FF2B5EF4-FFF2-40B4-BE49-F238E27FC236}">
                <a16:creationId xmlns:a16="http://schemas.microsoft.com/office/drawing/2014/main" id="{D6330821-4FE1-FD46-A358-37DC0CDECE35}"/>
              </a:ext>
            </a:extLst>
          </p:cNvPr>
          <p:cNvCxnSpPr>
            <a:cxnSpLocks/>
          </p:cNvCxnSpPr>
          <p:nvPr/>
        </p:nvCxnSpPr>
        <p:spPr>
          <a:xfrm flipV="1">
            <a:off x="9429939" y="3854979"/>
            <a:ext cx="0" cy="40890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62B1AE46-BD95-A00D-DEB8-EE1A3CCA983A}"/>
              </a:ext>
            </a:extLst>
          </p:cNvPr>
          <p:cNvCxnSpPr>
            <a:cxnSpLocks/>
          </p:cNvCxnSpPr>
          <p:nvPr/>
        </p:nvCxnSpPr>
        <p:spPr>
          <a:xfrm>
            <a:off x="3520064" y="4243383"/>
            <a:ext cx="5909875" cy="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線單箭頭接點 48">
            <a:extLst>
              <a:ext uri="{FF2B5EF4-FFF2-40B4-BE49-F238E27FC236}">
                <a16:creationId xmlns:a16="http://schemas.microsoft.com/office/drawing/2014/main" id="{2203D9B1-56E1-B9AE-53DB-90AC7B7EC9A7}"/>
              </a:ext>
            </a:extLst>
          </p:cNvPr>
          <p:cNvCxnSpPr>
            <a:cxnSpLocks/>
          </p:cNvCxnSpPr>
          <p:nvPr/>
        </p:nvCxnSpPr>
        <p:spPr>
          <a:xfrm flipH="1">
            <a:off x="2669618" y="4223789"/>
            <a:ext cx="810452" cy="6895"/>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a16="http://schemas.microsoft.com/office/drawing/2014/main" id="{344C7BBA-970F-6226-2F6C-C94BFB81BDFE}"/>
              </a:ext>
            </a:extLst>
          </p:cNvPr>
          <p:cNvSpPr txBox="1"/>
          <p:nvPr/>
        </p:nvSpPr>
        <p:spPr>
          <a:xfrm>
            <a:off x="1177579" y="2811453"/>
            <a:ext cx="546435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tokens focus on information that cannot be expressed by text.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84643533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5277F-02DE-62D7-7523-12D6BACB08FF}"/>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AED93A74-B624-EEB5-3421-5ACDC0A34C25}"/>
              </a:ext>
            </a:extLst>
          </p:cNvPr>
          <p:cNvGrpSpPr/>
          <p:nvPr/>
        </p:nvGrpSpPr>
        <p:grpSpPr>
          <a:xfrm>
            <a:off x="5720460" y="5894175"/>
            <a:ext cx="5373356" cy="830012"/>
            <a:chOff x="393073" y="5022255"/>
            <a:chExt cx="2117030" cy="878286"/>
          </a:xfrm>
        </p:grpSpPr>
        <p:pic>
          <p:nvPicPr>
            <p:cNvPr id="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4E4596C-A59D-ABA3-E1CC-2E992F53B134}"/>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E32002D6-8406-ABDC-BC9A-69A33EDF5804}"/>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sp>
        <p:nvSpPr>
          <p:cNvPr id="7" name="矩形: 圓角 6">
            <a:extLst>
              <a:ext uri="{FF2B5EF4-FFF2-40B4-BE49-F238E27FC236}">
                <a16:creationId xmlns:a16="http://schemas.microsoft.com/office/drawing/2014/main" id="{1C862B7E-2DC2-51F1-7AFD-4CFC9221C67A}"/>
              </a:ext>
            </a:extLst>
          </p:cNvPr>
          <p:cNvSpPr/>
          <p:nvPr/>
        </p:nvSpPr>
        <p:spPr>
          <a:xfrm>
            <a:off x="5869208" y="4875757"/>
            <a:ext cx="5075388" cy="574184"/>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Pre-trained Speech Encoder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 name="直線單箭頭接點 7">
            <a:extLst>
              <a:ext uri="{FF2B5EF4-FFF2-40B4-BE49-F238E27FC236}">
                <a16:creationId xmlns:a16="http://schemas.microsoft.com/office/drawing/2014/main" id="{CC37430B-28DF-799B-F8D5-E57562A656A9}"/>
              </a:ext>
            </a:extLst>
          </p:cNvPr>
          <p:cNvCxnSpPr>
            <a:cxnSpLocks/>
          </p:cNvCxnSpPr>
          <p:nvPr/>
        </p:nvCxnSpPr>
        <p:spPr>
          <a:xfrm flipV="1">
            <a:off x="8412129" y="5504368"/>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圓角 8">
            <a:extLst>
              <a:ext uri="{FF2B5EF4-FFF2-40B4-BE49-F238E27FC236}">
                <a16:creationId xmlns:a16="http://schemas.microsoft.com/office/drawing/2014/main" id="{46B1CD95-E823-F452-C598-EA461BB8453E}"/>
              </a:ext>
            </a:extLst>
          </p:cNvPr>
          <p:cNvSpPr/>
          <p:nvPr/>
        </p:nvSpPr>
        <p:spPr>
          <a:xfrm>
            <a:off x="5899861"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5EDEFD5C-B042-35FF-210B-107FB1E13774}"/>
              </a:ext>
            </a:extLst>
          </p:cNvPr>
          <p:cNvSpPr/>
          <p:nvPr/>
        </p:nvSpPr>
        <p:spPr>
          <a:xfrm>
            <a:off x="6332042"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8A6717EB-361D-350A-56C3-7EBB96C9C9B7}"/>
              </a:ext>
            </a:extLst>
          </p:cNvPr>
          <p:cNvSpPr/>
          <p:nvPr/>
        </p:nvSpPr>
        <p:spPr>
          <a:xfrm>
            <a:off x="6764223"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82F026EA-53C5-97A5-02C6-862142F0785C}"/>
              </a:ext>
            </a:extLst>
          </p:cNvPr>
          <p:cNvSpPr/>
          <p:nvPr/>
        </p:nvSpPr>
        <p:spPr>
          <a:xfrm>
            <a:off x="7196404"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6883AFE5-9005-6BCF-7E53-C6B5517FE66F}"/>
              </a:ext>
            </a:extLst>
          </p:cNvPr>
          <p:cNvSpPr/>
          <p:nvPr/>
        </p:nvSpPr>
        <p:spPr>
          <a:xfrm>
            <a:off x="7628585"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E3C46D9F-7E82-3C20-937F-94D2E3E8362D}"/>
              </a:ext>
            </a:extLst>
          </p:cNvPr>
          <p:cNvSpPr/>
          <p:nvPr/>
        </p:nvSpPr>
        <p:spPr>
          <a:xfrm>
            <a:off x="8060766"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2DCD6825-DA37-F9A4-2B72-6638745FFD4D}"/>
              </a:ext>
            </a:extLst>
          </p:cNvPr>
          <p:cNvSpPr/>
          <p:nvPr/>
        </p:nvSpPr>
        <p:spPr>
          <a:xfrm>
            <a:off x="8492947"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0D0B3DE5-6C15-BC39-BB71-7438C12A5012}"/>
              </a:ext>
            </a:extLst>
          </p:cNvPr>
          <p:cNvSpPr/>
          <p:nvPr/>
        </p:nvSpPr>
        <p:spPr>
          <a:xfrm>
            <a:off x="8925128"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690971EB-DF60-94C5-101F-3BEB8DBFABDC}"/>
              </a:ext>
            </a:extLst>
          </p:cNvPr>
          <p:cNvSpPr/>
          <p:nvPr/>
        </p:nvSpPr>
        <p:spPr>
          <a:xfrm>
            <a:off x="9357309"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0CCB518B-DB4B-A66A-A7F4-ADAE3F978942}"/>
              </a:ext>
            </a:extLst>
          </p:cNvPr>
          <p:cNvSpPr/>
          <p:nvPr/>
        </p:nvSpPr>
        <p:spPr>
          <a:xfrm>
            <a:off x="9789490"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2B3A9597-7439-0983-2D88-E3857B3EE08D}"/>
              </a:ext>
            </a:extLst>
          </p:cNvPr>
          <p:cNvSpPr/>
          <p:nvPr/>
        </p:nvSpPr>
        <p:spPr>
          <a:xfrm>
            <a:off x="10221671"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D0119674-553C-31EA-9593-352EEEE5C503}"/>
              </a:ext>
            </a:extLst>
          </p:cNvPr>
          <p:cNvSpPr/>
          <p:nvPr/>
        </p:nvSpPr>
        <p:spPr>
          <a:xfrm>
            <a:off x="10653850"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5" name="直線單箭頭接點 34">
            <a:extLst>
              <a:ext uri="{FF2B5EF4-FFF2-40B4-BE49-F238E27FC236}">
                <a16:creationId xmlns:a16="http://schemas.microsoft.com/office/drawing/2014/main" id="{11E785B4-1BFA-5DDA-6F3A-D666B8F3703F}"/>
              </a:ext>
            </a:extLst>
          </p:cNvPr>
          <p:cNvCxnSpPr>
            <a:cxnSpLocks/>
          </p:cNvCxnSpPr>
          <p:nvPr/>
        </p:nvCxnSpPr>
        <p:spPr>
          <a:xfrm flipV="1">
            <a:off x="8397615" y="4350006"/>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文字方塊 77">
            <a:extLst>
              <a:ext uri="{FF2B5EF4-FFF2-40B4-BE49-F238E27FC236}">
                <a16:creationId xmlns:a16="http://schemas.microsoft.com/office/drawing/2014/main" id="{32594C9F-0408-487E-BB98-B48F3096DEFA}"/>
              </a:ext>
            </a:extLst>
          </p:cNvPr>
          <p:cNvSpPr txBox="1"/>
          <p:nvPr/>
        </p:nvSpPr>
        <p:spPr>
          <a:xfrm>
            <a:off x="8956892" y="5525532"/>
            <a:ext cx="23851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e.g., Whisper Encoder</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 name="矩形: 圓角 1">
            <a:extLst>
              <a:ext uri="{FF2B5EF4-FFF2-40B4-BE49-F238E27FC236}">
                <a16:creationId xmlns:a16="http://schemas.microsoft.com/office/drawing/2014/main" id="{FA992DD8-572D-74AC-46B3-F11B6F03E154}"/>
              </a:ext>
            </a:extLst>
          </p:cNvPr>
          <p:cNvSpPr/>
          <p:nvPr/>
        </p:nvSpPr>
        <p:spPr>
          <a:xfrm>
            <a:off x="5899861"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矩形: 圓角 2">
            <a:extLst>
              <a:ext uri="{FF2B5EF4-FFF2-40B4-BE49-F238E27FC236}">
                <a16:creationId xmlns:a16="http://schemas.microsoft.com/office/drawing/2014/main" id="{BD127344-693D-754B-3B19-73ADAB245A19}"/>
              </a:ext>
            </a:extLst>
          </p:cNvPr>
          <p:cNvSpPr/>
          <p:nvPr/>
        </p:nvSpPr>
        <p:spPr>
          <a:xfrm>
            <a:off x="6332042"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矩形: 圓角 41">
            <a:extLst>
              <a:ext uri="{FF2B5EF4-FFF2-40B4-BE49-F238E27FC236}">
                <a16:creationId xmlns:a16="http://schemas.microsoft.com/office/drawing/2014/main" id="{94F59B03-4FC7-C824-8BA9-52318C8501E5}"/>
              </a:ext>
            </a:extLst>
          </p:cNvPr>
          <p:cNvSpPr/>
          <p:nvPr/>
        </p:nvSpPr>
        <p:spPr>
          <a:xfrm>
            <a:off x="6764223"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矩形: 圓角 42">
            <a:extLst>
              <a:ext uri="{FF2B5EF4-FFF2-40B4-BE49-F238E27FC236}">
                <a16:creationId xmlns:a16="http://schemas.microsoft.com/office/drawing/2014/main" id="{715FFA0F-9A39-6478-0001-924C67FE0C23}"/>
              </a:ext>
            </a:extLst>
          </p:cNvPr>
          <p:cNvSpPr/>
          <p:nvPr/>
        </p:nvSpPr>
        <p:spPr>
          <a:xfrm>
            <a:off x="7196404"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8" name="矩形: 圓角 57">
            <a:extLst>
              <a:ext uri="{FF2B5EF4-FFF2-40B4-BE49-F238E27FC236}">
                <a16:creationId xmlns:a16="http://schemas.microsoft.com/office/drawing/2014/main" id="{4ACBFB83-B720-4C88-39F4-52B1B72212EB}"/>
              </a:ext>
            </a:extLst>
          </p:cNvPr>
          <p:cNvSpPr/>
          <p:nvPr/>
        </p:nvSpPr>
        <p:spPr>
          <a:xfrm>
            <a:off x="7628585"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1" name="矩形: 圓角 60">
            <a:extLst>
              <a:ext uri="{FF2B5EF4-FFF2-40B4-BE49-F238E27FC236}">
                <a16:creationId xmlns:a16="http://schemas.microsoft.com/office/drawing/2014/main" id="{6CC29867-D9A6-4884-842A-3E0ED339BB28}"/>
              </a:ext>
            </a:extLst>
          </p:cNvPr>
          <p:cNvSpPr/>
          <p:nvPr/>
        </p:nvSpPr>
        <p:spPr>
          <a:xfrm>
            <a:off x="8060766"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7" name="矩形: 圓角 66">
            <a:extLst>
              <a:ext uri="{FF2B5EF4-FFF2-40B4-BE49-F238E27FC236}">
                <a16:creationId xmlns:a16="http://schemas.microsoft.com/office/drawing/2014/main" id="{D4AD514A-8FC9-3177-2528-F5A896C722F9}"/>
              </a:ext>
            </a:extLst>
          </p:cNvPr>
          <p:cNvSpPr/>
          <p:nvPr/>
        </p:nvSpPr>
        <p:spPr>
          <a:xfrm>
            <a:off x="8492947"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3" name="矩形: 圓角 72">
            <a:extLst>
              <a:ext uri="{FF2B5EF4-FFF2-40B4-BE49-F238E27FC236}">
                <a16:creationId xmlns:a16="http://schemas.microsoft.com/office/drawing/2014/main" id="{65C66F96-EC41-F111-DAD3-52060FE3760F}"/>
              </a:ext>
            </a:extLst>
          </p:cNvPr>
          <p:cNvSpPr/>
          <p:nvPr/>
        </p:nvSpPr>
        <p:spPr>
          <a:xfrm>
            <a:off x="8925128"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4" name="矩形: 圓角 73">
            <a:extLst>
              <a:ext uri="{FF2B5EF4-FFF2-40B4-BE49-F238E27FC236}">
                <a16:creationId xmlns:a16="http://schemas.microsoft.com/office/drawing/2014/main" id="{39B8ED2C-9CFE-2FE1-795E-0360983B1F0E}"/>
              </a:ext>
            </a:extLst>
          </p:cNvPr>
          <p:cNvSpPr/>
          <p:nvPr/>
        </p:nvSpPr>
        <p:spPr>
          <a:xfrm>
            <a:off x="9357309"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5" name="矩形: 圓角 74">
            <a:extLst>
              <a:ext uri="{FF2B5EF4-FFF2-40B4-BE49-F238E27FC236}">
                <a16:creationId xmlns:a16="http://schemas.microsoft.com/office/drawing/2014/main" id="{9076721C-D730-E92A-3DD4-980DD75BE6A0}"/>
              </a:ext>
            </a:extLst>
          </p:cNvPr>
          <p:cNvSpPr/>
          <p:nvPr/>
        </p:nvSpPr>
        <p:spPr>
          <a:xfrm>
            <a:off x="9789490"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0" name="矩形: 圓角 79">
            <a:extLst>
              <a:ext uri="{FF2B5EF4-FFF2-40B4-BE49-F238E27FC236}">
                <a16:creationId xmlns:a16="http://schemas.microsoft.com/office/drawing/2014/main" id="{68274080-C828-59C4-2CCF-8E233A0D9870}"/>
              </a:ext>
            </a:extLst>
          </p:cNvPr>
          <p:cNvSpPr/>
          <p:nvPr/>
        </p:nvSpPr>
        <p:spPr>
          <a:xfrm>
            <a:off x="10221671"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1" name="矩形: 圓角 80">
            <a:extLst>
              <a:ext uri="{FF2B5EF4-FFF2-40B4-BE49-F238E27FC236}">
                <a16:creationId xmlns:a16="http://schemas.microsoft.com/office/drawing/2014/main" id="{CD92B695-62CB-8D8E-9372-BBEF7F6FC286}"/>
              </a:ext>
            </a:extLst>
          </p:cNvPr>
          <p:cNvSpPr/>
          <p:nvPr/>
        </p:nvSpPr>
        <p:spPr>
          <a:xfrm>
            <a:off x="10653850"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87" name="群組 86">
            <a:extLst>
              <a:ext uri="{FF2B5EF4-FFF2-40B4-BE49-F238E27FC236}">
                <a16:creationId xmlns:a16="http://schemas.microsoft.com/office/drawing/2014/main" id="{0042679B-A142-8801-72C7-31A13FBE79F5}"/>
              </a:ext>
            </a:extLst>
          </p:cNvPr>
          <p:cNvGrpSpPr/>
          <p:nvPr/>
        </p:nvGrpSpPr>
        <p:grpSpPr>
          <a:xfrm>
            <a:off x="2350977" y="4309453"/>
            <a:ext cx="3499606" cy="1216079"/>
            <a:chOff x="2350977" y="4309453"/>
            <a:chExt cx="3499606" cy="1216079"/>
          </a:xfrm>
        </p:grpSpPr>
        <p:sp>
          <p:nvSpPr>
            <p:cNvPr id="79" name="文字方塊 78">
              <a:extLst>
                <a:ext uri="{FF2B5EF4-FFF2-40B4-BE49-F238E27FC236}">
                  <a16:creationId xmlns:a16="http://schemas.microsoft.com/office/drawing/2014/main" id="{872BA075-8F46-1BFD-490F-6ECB49242644}"/>
                </a:ext>
              </a:extLst>
            </p:cNvPr>
            <p:cNvSpPr txBox="1"/>
            <p:nvPr/>
          </p:nvSpPr>
          <p:spPr>
            <a:xfrm>
              <a:off x="2350977" y="4694535"/>
              <a:ext cx="2973469"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Each corresponds to a fixed period of time.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3" name="直線單箭頭接點 82">
              <a:extLst>
                <a:ext uri="{FF2B5EF4-FFF2-40B4-BE49-F238E27FC236}">
                  <a16:creationId xmlns:a16="http://schemas.microsoft.com/office/drawing/2014/main" id="{3F326296-A60D-F9F6-D333-780C5BBD95CB}"/>
                </a:ext>
              </a:extLst>
            </p:cNvPr>
            <p:cNvCxnSpPr>
              <a:cxnSpLocks/>
            </p:cNvCxnSpPr>
            <p:nvPr/>
          </p:nvCxnSpPr>
          <p:spPr>
            <a:xfrm flipH="1">
              <a:off x="5280265" y="4309453"/>
              <a:ext cx="570318" cy="608487"/>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88" name="文字方塊 87">
            <a:extLst>
              <a:ext uri="{FF2B5EF4-FFF2-40B4-BE49-F238E27FC236}">
                <a16:creationId xmlns:a16="http://schemas.microsoft.com/office/drawing/2014/main" id="{AB1EDC29-D990-6A87-457E-C98D8E4D667B}"/>
              </a:ext>
            </a:extLst>
          </p:cNvPr>
          <p:cNvSpPr txBox="1"/>
          <p:nvPr/>
        </p:nvSpPr>
        <p:spPr>
          <a:xfrm>
            <a:off x="1985717" y="3365796"/>
            <a:ext cx="2973469" cy="46166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different layers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9" name="左大括弧 88">
            <a:extLst>
              <a:ext uri="{FF2B5EF4-FFF2-40B4-BE49-F238E27FC236}">
                <a16:creationId xmlns:a16="http://schemas.microsoft.com/office/drawing/2014/main" id="{D704DEAE-21FF-F7E3-4B5A-56E007E0036F}"/>
              </a:ext>
            </a:extLst>
          </p:cNvPr>
          <p:cNvSpPr/>
          <p:nvPr/>
        </p:nvSpPr>
        <p:spPr>
          <a:xfrm>
            <a:off x="5065828" y="3089107"/>
            <a:ext cx="361950" cy="1043165"/>
          </a:xfrm>
          <a:prstGeom prst="leftBrace">
            <a:avLst>
              <a:gd name="adj1" fmla="val 1785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29116964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78" grpId="0"/>
      <p:bldP spid="2" grpId="0" animBg="1"/>
      <p:bldP spid="3" grpId="0" animBg="1"/>
      <p:bldP spid="42" grpId="0" animBg="1"/>
      <p:bldP spid="43" grpId="0" animBg="1"/>
      <p:bldP spid="58" grpId="0" animBg="1"/>
      <p:bldP spid="61" grpId="0" animBg="1"/>
      <p:bldP spid="67" grpId="0" animBg="1"/>
      <p:bldP spid="73" grpId="0" animBg="1"/>
      <p:bldP spid="74" grpId="0" animBg="1"/>
      <p:bldP spid="75" grpId="0" animBg="1"/>
      <p:bldP spid="80" grpId="0" animBg="1"/>
      <p:bldP spid="81" grpId="0" animBg="1"/>
      <p:bldP spid="88" grpId="0"/>
      <p:bldP spid="8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3D428A10-F326-3952-DF90-8B77124215A2}"/>
              </a:ext>
            </a:extLst>
          </p:cNvPr>
          <p:cNvGrpSpPr/>
          <p:nvPr/>
        </p:nvGrpSpPr>
        <p:grpSpPr>
          <a:xfrm>
            <a:off x="5720460" y="5894175"/>
            <a:ext cx="5373356" cy="830012"/>
            <a:chOff x="393073" y="5022255"/>
            <a:chExt cx="2117030" cy="878286"/>
          </a:xfrm>
        </p:grpSpPr>
        <p:pic>
          <p:nvPicPr>
            <p:cNvPr id="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8B016EF6-78A5-5602-F04A-045189EDB0E2}"/>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C1D8EE18-89A1-4273-DFA6-6F342B8DBBC9}"/>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sp>
        <p:nvSpPr>
          <p:cNvPr id="7" name="矩形: 圓角 6">
            <a:extLst>
              <a:ext uri="{FF2B5EF4-FFF2-40B4-BE49-F238E27FC236}">
                <a16:creationId xmlns:a16="http://schemas.microsoft.com/office/drawing/2014/main" id="{92F9AF5E-D145-6265-CC7A-0F13DB5BB62B}"/>
              </a:ext>
            </a:extLst>
          </p:cNvPr>
          <p:cNvSpPr/>
          <p:nvPr/>
        </p:nvSpPr>
        <p:spPr>
          <a:xfrm>
            <a:off x="5869208" y="4875757"/>
            <a:ext cx="5075388" cy="574184"/>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Pre-trained Speech Encoder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 name="直線單箭頭接點 7">
            <a:extLst>
              <a:ext uri="{FF2B5EF4-FFF2-40B4-BE49-F238E27FC236}">
                <a16:creationId xmlns:a16="http://schemas.microsoft.com/office/drawing/2014/main" id="{5DD4AC71-F9F4-CAD5-A215-1334AE639C21}"/>
              </a:ext>
            </a:extLst>
          </p:cNvPr>
          <p:cNvCxnSpPr>
            <a:cxnSpLocks/>
          </p:cNvCxnSpPr>
          <p:nvPr/>
        </p:nvCxnSpPr>
        <p:spPr>
          <a:xfrm flipV="1">
            <a:off x="8412129" y="5504368"/>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圓角 8">
            <a:extLst>
              <a:ext uri="{FF2B5EF4-FFF2-40B4-BE49-F238E27FC236}">
                <a16:creationId xmlns:a16="http://schemas.microsoft.com/office/drawing/2014/main" id="{96CD2E2F-CDCD-62A3-713F-0C4493DE18A9}"/>
              </a:ext>
            </a:extLst>
          </p:cNvPr>
          <p:cNvSpPr/>
          <p:nvPr/>
        </p:nvSpPr>
        <p:spPr>
          <a:xfrm>
            <a:off x="5899861"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08E94634-B1BB-C35F-45EE-993664ABEFE1}"/>
              </a:ext>
            </a:extLst>
          </p:cNvPr>
          <p:cNvSpPr/>
          <p:nvPr/>
        </p:nvSpPr>
        <p:spPr>
          <a:xfrm>
            <a:off x="6332042"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F1EDADA6-D481-06CC-3091-93EB9055ED30}"/>
              </a:ext>
            </a:extLst>
          </p:cNvPr>
          <p:cNvSpPr/>
          <p:nvPr/>
        </p:nvSpPr>
        <p:spPr>
          <a:xfrm>
            <a:off x="6764223"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29271152-37BF-A0AC-B842-A11048022AB4}"/>
              </a:ext>
            </a:extLst>
          </p:cNvPr>
          <p:cNvSpPr/>
          <p:nvPr/>
        </p:nvSpPr>
        <p:spPr>
          <a:xfrm>
            <a:off x="7196404"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25526A3A-665D-D6B1-CF31-2F13EA59A10D}"/>
              </a:ext>
            </a:extLst>
          </p:cNvPr>
          <p:cNvSpPr/>
          <p:nvPr/>
        </p:nvSpPr>
        <p:spPr>
          <a:xfrm>
            <a:off x="7628585"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035561A9-3B7F-788C-02B9-BF263EE55027}"/>
              </a:ext>
            </a:extLst>
          </p:cNvPr>
          <p:cNvSpPr/>
          <p:nvPr/>
        </p:nvSpPr>
        <p:spPr>
          <a:xfrm>
            <a:off x="8060766"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554EFF31-F3BA-CB11-FF09-585A7D5026D0}"/>
              </a:ext>
            </a:extLst>
          </p:cNvPr>
          <p:cNvSpPr/>
          <p:nvPr/>
        </p:nvSpPr>
        <p:spPr>
          <a:xfrm>
            <a:off x="8492947"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D4DA6A9F-9C0C-48E3-B27E-78092347FD42}"/>
              </a:ext>
            </a:extLst>
          </p:cNvPr>
          <p:cNvSpPr/>
          <p:nvPr/>
        </p:nvSpPr>
        <p:spPr>
          <a:xfrm>
            <a:off x="8925128"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5D89153A-58F0-507F-E167-6F3A45F513DC}"/>
              </a:ext>
            </a:extLst>
          </p:cNvPr>
          <p:cNvSpPr/>
          <p:nvPr/>
        </p:nvSpPr>
        <p:spPr>
          <a:xfrm>
            <a:off x="9357309"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0CA3AF78-D05F-9982-8689-5890F732FC74}"/>
              </a:ext>
            </a:extLst>
          </p:cNvPr>
          <p:cNvSpPr/>
          <p:nvPr/>
        </p:nvSpPr>
        <p:spPr>
          <a:xfrm>
            <a:off x="9789490"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B524A1A8-9C98-D3CF-ECA4-1607DF498E00}"/>
              </a:ext>
            </a:extLst>
          </p:cNvPr>
          <p:cNvSpPr/>
          <p:nvPr/>
        </p:nvSpPr>
        <p:spPr>
          <a:xfrm>
            <a:off x="10221671"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20DE2F66-5B67-A9A0-E449-B4E793E22125}"/>
              </a:ext>
            </a:extLst>
          </p:cNvPr>
          <p:cNvSpPr/>
          <p:nvPr/>
        </p:nvSpPr>
        <p:spPr>
          <a:xfrm>
            <a:off x="10653850"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1A2897D3-562C-CDD5-7B50-B7B5F11D0617}"/>
              </a:ext>
            </a:extLst>
          </p:cNvPr>
          <p:cNvSpPr/>
          <p:nvPr/>
        </p:nvSpPr>
        <p:spPr>
          <a:xfrm>
            <a:off x="5899861"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37C37F02-906D-E94D-CF53-7248510E46FE}"/>
              </a:ext>
            </a:extLst>
          </p:cNvPr>
          <p:cNvSpPr/>
          <p:nvPr/>
        </p:nvSpPr>
        <p:spPr>
          <a:xfrm>
            <a:off x="6332042"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B84F051C-0699-D88A-3BAB-E9DE749D6145}"/>
              </a:ext>
            </a:extLst>
          </p:cNvPr>
          <p:cNvSpPr/>
          <p:nvPr/>
        </p:nvSpPr>
        <p:spPr>
          <a:xfrm>
            <a:off x="6764223"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74A6897D-6E3E-2E95-722B-F825DCE548B6}"/>
              </a:ext>
            </a:extLst>
          </p:cNvPr>
          <p:cNvSpPr/>
          <p:nvPr/>
        </p:nvSpPr>
        <p:spPr>
          <a:xfrm>
            <a:off x="7196404"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2DA91905-37B4-3CA5-050E-FD4FA0F49905}"/>
              </a:ext>
            </a:extLst>
          </p:cNvPr>
          <p:cNvSpPr/>
          <p:nvPr/>
        </p:nvSpPr>
        <p:spPr>
          <a:xfrm>
            <a:off x="7628585"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356DEDE5-864D-BC76-044E-F576F1A7953D}"/>
              </a:ext>
            </a:extLst>
          </p:cNvPr>
          <p:cNvSpPr/>
          <p:nvPr/>
        </p:nvSpPr>
        <p:spPr>
          <a:xfrm>
            <a:off x="8060766"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矩形: 圓角 26">
            <a:extLst>
              <a:ext uri="{FF2B5EF4-FFF2-40B4-BE49-F238E27FC236}">
                <a16:creationId xmlns:a16="http://schemas.microsoft.com/office/drawing/2014/main" id="{2B2B5C82-386D-1065-3434-90EC4101748D}"/>
              </a:ext>
            </a:extLst>
          </p:cNvPr>
          <p:cNvSpPr/>
          <p:nvPr/>
        </p:nvSpPr>
        <p:spPr>
          <a:xfrm>
            <a:off x="8492947"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2D22E36F-6832-4237-6A69-2FD1CCB7F5EB}"/>
              </a:ext>
            </a:extLst>
          </p:cNvPr>
          <p:cNvSpPr/>
          <p:nvPr/>
        </p:nvSpPr>
        <p:spPr>
          <a:xfrm>
            <a:off x="8925128"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圓角 28">
            <a:extLst>
              <a:ext uri="{FF2B5EF4-FFF2-40B4-BE49-F238E27FC236}">
                <a16:creationId xmlns:a16="http://schemas.microsoft.com/office/drawing/2014/main" id="{7DE7769A-3981-FC91-76AE-968D53B7731A}"/>
              </a:ext>
            </a:extLst>
          </p:cNvPr>
          <p:cNvSpPr/>
          <p:nvPr/>
        </p:nvSpPr>
        <p:spPr>
          <a:xfrm>
            <a:off x="9357309"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DB542778-3045-9DA5-BBA8-D548619853F5}"/>
              </a:ext>
            </a:extLst>
          </p:cNvPr>
          <p:cNvSpPr/>
          <p:nvPr/>
        </p:nvSpPr>
        <p:spPr>
          <a:xfrm>
            <a:off x="9789490"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矩形: 圓角 30">
            <a:extLst>
              <a:ext uri="{FF2B5EF4-FFF2-40B4-BE49-F238E27FC236}">
                <a16:creationId xmlns:a16="http://schemas.microsoft.com/office/drawing/2014/main" id="{B3E12816-1E9F-0F9F-942B-2C470CBE0294}"/>
              </a:ext>
            </a:extLst>
          </p:cNvPr>
          <p:cNvSpPr/>
          <p:nvPr/>
        </p:nvSpPr>
        <p:spPr>
          <a:xfrm>
            <a:off x="10221671"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矩形: 圓角 31">
            <a:extLst>
              <a:ext uri="{FF2B5EF4-FFF2-40B4-BE49-F238E27FC236}">
                <a16:creationId xmlns:a16="http://schemas.microsoft.com/office/drawing/2014/main" id="{010B7757-FCA5-1F40-2459-BF97497D518B}"/>
              </a:ext>
            </a:extLst>
          </p:cNvPr>
          <p:cNvSpPr/>
          <p:nvPr/>
        </p:nvSpPr>
        <p:spPr>
          <a:xfrm>
            <a:off x="10653850"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文字方塊 32">
            <a:extLst>
              <a:ext uri="{FF2B5EF4-FFF2-40B4-BE49-F238E27FC236}">
                <a16:creationId xmlns:a16="http://schemas.microsoft.com/office/drawing/2014/main" id="{6C2E241C-62FB-F9AC-C0B5-1065883F7E36}"/>
              </a:ext>
            </a:extLst>
          </p:cNvPr>
          <p:cNvSpPr txBox="1"/>
          <p:nvPr/>
        </p:nvSpPr>
        <p:spPr>
          <a:xfrm>
            <a:off x="11039472" y="3112209"/>
            <a:ext cx="60507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key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文字方塊 33">
            <a:extLst>
              <a:ext uri="{FF2B5EF4-FFF2-40B4-BE49-F238E27FC236}">
                <a16:creationId xmlns:a16="http://schemas.microsoft.com/office/drawing/2014/main" id="{805B4BEE-D1E9-DBA1-6F6E-6EF3DCF24161}"/>
              </a:ext>
            </a:extLst>
          </p:cNvPr>
          <p:cNvSpPr txBox="1"/>
          <p:nvPr/>
        </p:nvSpPr>
        <p:spPr>
          <a:xfrm>
            <a:off x="11017576" y="3737124"/>
            <a:ext cx="11744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value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5" name="直線單箭頭接點 34">
            <a:extLst>
              <a:ext uri="{FF2B5EF4-FFF2-40B4-BE49-F238E27FC236}">
                <a16:creationId xmlns:a16="http://schemas.microsoft.com/office/drawing/2014/main" id="{0CFB4493-0C82-E227-A790-C70D22E58B56}"/>
              </a:ext>
            </a:extLst>
          </p:cNvPr>
          <p:cNvCxnSpPr>
            <a:cxnSpLocks/>
          </p:cNvCxnSpPr>
          <p:nvPr/>
        </p:nvCxnSpPr>
        <p:spPr>
          <a:xfrm flipV="1">
            <a:off x="8397615" y="4350006"/>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31A002FD-57BD-CA0C-8A7E-D48022489444}"/>
              </a:ext>
            </a:extLst>
          </p:cNvPr>
          <p:cNvSpPr txBox="1"/>
          <p:nvPr/>
        </p:nvSpPr>
        <p:spPr>
          <a:xfrm>
            <a:off x="2161384" y="3029546"/>
            <a:ext cx="2474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          are       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矩形: 圓角 36">
            <a:extLst>
              <a:ext uri="{FF2B5EF4-FFF2-40B4-BE49-F238E27FC236}">
                <a16:creationId xmlns:a16="http://schemas.microsoft.com/office/drawing/2014/main" id="{F327B794-53F8-9958-42A9-A7A6DC44820D}"/>
              </a:ext>
            </a:extLst>
          </p:cNvPr>
          <p:cNvSpPr/>
          <p:nvPr/>
        </p:nvSpPr>
        <p:spPr>
          <a:xfrm>
            <a:off x="2262216" y="4065369"/>
            <a:ext cx="2385116" cy="1620776"/>
          </a:xfrm>
          <a:prstGeom prst="roundRect">
            <a:avLst/>
          </a:prstGeom>
          <a:solidFill>
            <a:schemeClr val="accent1">
              <a:lumMod val="20000"/>
              <a:lumOff val="80000"/>
            </a:schemeClr>
          </a:solidFill>
          <a:ln w="57150">
            <a:solidFill>
              <a:schemeClr val="tx1"/>
            </a:solidFill>
            <a:prstDash val="sysDot"/>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9" name="直線單箭頭接點 38">
            <a:extLst>
              <a:ext uri="{FF2B5EF4-FFF2-40B4-BE49-F238E27FC236}">
                <a16:creationId xmlns:a16="http://schemas.microsoft.com/office/drawing/2014/main" id="{E02E6F61-6D1C-98C7-D829-BEE3EB6DB2D3}"/>
              </a:ext>
            </a:extLst>
          </p:cNvPr>
          <p:cNvCxnSpPr>
            <a:cxnSpLocks/>
          </p:cNvCxnSpPr>
          <p:nvPr/>
        </p:nvCxnSpPr>
        <p:spPr>
          <a:xfrm flipV="1">
            <a:off x="3454774" y="3474249"/>
            <a:ext cx="0" cy="525751"/>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A00739F8-C148-32A9-14B4-839DF24829D4}"/>
              </a:ext>
            </a:extLst>
          </p:cNvPr>
          <p:cNvCxnSpPr>
            <a:cxnSpLocks/>
          </p:cNvCxnSpPr>
          <p:nvPr/>
        </p:nvCxnSpPr>
        <p:spPr>
          <a:xfrm flipV="1">
            <a:off x="3443258" y="5700950"/>
            <a:ext cx="0" cy="639478"/>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FBAA6089-5832-15A1-4B39-599CCED29D6E}"/>
              </a:ext>
            </a:extLst>
          </p:cNvPr>
          <p:cNvCxnSpPr>
            <a:cxnSpLocks/>
          </p:cNvCxnSpPr>
          <p:nvPr/>
        </p:nvCxnSpPr>
        <p:spPr>
          <a:xfrm>
            <a:off x="3430592" y="6340428"/>
            <a:ext cx="2078113" cy="1"/>
          </a:xfrm>
          <a:prstGeom prst="straightConnector1">
            <a:avLst/>
          </a:prstGeom>
          <a:ln w="5715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矩形: 圓角 43">
            <a:extLst>
              <a:ext uri="{FF2B5EF4-FFF2-40B4-BE49-F238E27FC236}">
                <a16:creationId xmlns:a16="http://schemas.microsoft.com/office/drawing/2014/main" id="{4AC3B2CA-9AC8-32E1-A411-485F77ABF87C}"/>
              </a:ext>
            </a:extLst>
          </p:cNvPr>
          <p:cNvSpPr/>
          <p:nvPr/>
        </p:nvSpPr>
        <p:spPr>
          <a:xfrm>
            <a:off x="2158106" y="2043080"/>
            <a:ext cx="9027979" cy="518896"/>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Aggregator</a:t>
            </a:r>
            <a:r>
              <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(several attention layers)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52F94227-AE2C-8CE7-EB62-A949A43662CB}"/>
              </a:ext>
            </a:extLst>
          </p:cNvPr>
          <p:cNvSpPr txBox="1"/>
          <p:nvPr/>
        </p:nvSpPr>
        <p:spPr>
          <a:xfrm>
            <a:off x="1071342" y="2946913"/>
            <a:ext cx="1086764"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query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矩形: 圓角 45">
            <a:extLst>
              <a:ext uri="{FF2B5EF4-FFF2-40B4-BE49-F238E27FC236}">
                <a16:creationId xmlns:a16="http://schemas.microsoft.com/office/drawing/2014/main" id="{D3E9CF4B-C7C9-CCCC-95B3-1B887277C61D}"/>
              </a:ext>
            </a:extLst>
          </p:cNvPr>
          <p:cNvSpPr/>
          <p:nvPr/>
        </p:nvSpPr>
        <p:spPr>
          <a:xfrm>
            <a:off x="6758565" y="1282097"/>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矩形: 圓角 46">
            <a:extLst>
              <a:ext uri="{FF2B5EF4-FFF2-40B4-BE49-F238E27FC236}">
                <a16:creationId xmlns:a16="http://schemas.microsoft.com/office/drawing/2014/main" id="{DB0E040A-57EB-8A55-9C46-BB43D9E4277F}"/>
              </a:ext>
            </a:extLst>
          </p:cNvPr>
          <p:cNvSpPr/>
          <p:nvPr/>
        </p:nvSpPr>
        <p:spPr>
          <a:xfrm>
            <a:off x="8496260" y="1288192"/>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矩形: 圓角 47">
            <a:extLst>
              <a:ext uri="{FF2B5EF4-FFF2-40B4-BE49-F238E27FC236}">
                <a16:creationId xmlns:a16="http://schemas.microsoft.com/office/drawing/2014/main" id="{787EDBE8-19C0-C413-C697-8028B30C6248}"/>
              </a:ext>
            </a:extLst>
          </p:cNvPr>
          <p:cNvSpPr/>
          <p:nvPr/>
        </p:nvSpPr>
        <p:spPr>
          <a:xfrm>
            <a:off x="10242230" y="1287921"/>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矩形: 圓角 48">
            <a:extLst>
              <a:ext uri="{FF2B5EF4-FFF2-40B4-BE49-F238E27FC236}">
                <a16:creationId xmlns:a16="http://schemas.microsoft.com/office/drawing/2014/main" id="{C49313DA-7BFF-1B80-AEB8-BB1D57CF18D7}"/>
              </a:ext>
            </a:extLst>
          </p:cNvPr>
          <p:cNvSpPr/>
          <p:nvPr/>
        </p:nvSpPr>
        <p:spPr>
          <a:xfrm>
            <a:off x="5985639" y="216860"/>
            <a:ext cx="5188122" cy="698391"/>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lang="en-US" altLang="zh-TW" sz="2800" dirty="0">
                <a:solidFill>
                  <a:prstClr val="black"/>
                </a:solidFill>
                <a:latin typeface="Calibri" panose="020F0502020204030204"/>
                <a:ea typeface="新細明體" panose="02020500000000000000" pitchFamily="18" charset="-120"/>
              </a:rPr>
              <a:t>Det</a:t>
            </a:r>
            <a:r>
              <a:rPr lang="en-US" altLang="zh-TW" sz="2800" dirty="0" err="1">
                <a:solidFill>
                  <a:prstClr val="black"/>
                </a:solidFill>
                <a:latin typeface="Calibri" panose="020F0502020204030204"/>
                <a:ea typeface="新細明體" panose="02020500000000000000" pitchFamily="18" charset="-120"/>
              </a:rPr>
              <a:t>okenizer</a:t>
            </a:r>
            <a:endParaRPr lang="zh-TW" altLang="en-US" sz="2800" dirty="0">
              <a:solidFill>
                <a:prstClr val="black"/>
              </a:solidFill>
              <a:latin typeface="Calibri" panose="020F0502020204030204"/>
              <a:ea typeface="新細明體" panose="02020500000000000000" pitchFamily="18" charset="-120"/>
            </a:endParaRPr>
          </a:p>
        </p:txBody>
      </p:sp>
      <p:sp>
        <p:nvSpPr>
          <p:cNvPr id="50" name="文字方塊 49">
            <a:extLst>
              <a:ext uri="{FF2B5EF4-FFF2-40B4-BE49-F238E27FC236}">
                <a16:creationId xmlns:a16="http://schemas.microsoft.com/office/drawing/2014/main" id="{2FAA9B43-6D28-767D-C9D9-181450D69A50}"/>
              </a:ext>
            </a:extLst>
          </p:cNvPr>
          <p:cNvSpPr txBox="1"/>
          <p:nvPr/>
        </p:nvSpPr>
        <p:spPr>
          <a:xfrm>
            <a:off x="6021752" y="1246875"/>
            <a:ext cx="6992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文字方塊 50">
            <a:extLst>
              <a:ext uri="{FF2B5EF4-FFF2-40B4-BE49-F238E27FC236}">
                <a16:creationId xmlns:a16="http://schemas.microsoft.com/office/drawing/2014/main" id="{F058D520-DAA5-0216-2190-35D5C49A5C7A}"/>
              </a:ext>
            </a:extLst>
          </p:cNvPr>
          <p:cNvSpPr txBox="1"/>
          <p:nvPr/>
        </p:nvSpPr>
        <p:spPr>
          <a:xfrm>
            <a:off x="7725236" y="1255268"/>
            <a:ext cx="6992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文字方塊 51">
            <a:extLst>
              <a:ext uri="{FF2B5EF4-FFF2-40B4-BE49-F238E27FC236}">
                <a16:creationId xmlns:a16="http://schemas.microsoft.com/office/drawing/2014/main" id="{4CB79B4F-BF03-594D-A0A7-EF3DD35C90BC}"/>
              </a:ext>
            </a:extLst>
          </p:cNvPr>
          <p:cNvSpPr txBox="1"/>
          <p:nvPr/>
        </p:nvSpPr>
        <p:spPr>
          <a:xfrm>
            <a:off x="9479200" y="1248267"/>
            <a:ext cx="6992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53" name="群組 52">
            <a:extLst>
              <a:ext uri="{FF2B5EF4-FFF2-40B4-BE49-F238E27FC236}">
                <a16:creationId xmlns:a16="http://schemas.microsoft.com/office/drawing/2014/main" id="{2B35EA5B-31C9-F063-9D8E-1A853FFBDC7A}"/>
              </a:ext>
            </a:extLst>
          </p:cNvPr>
          <p:cNvGrpSpPr/>
          <p:nvPr/>
        </p:nvGrpSpPr>
        <p:grpSpPr>
          <a:xfrm>
            <a:off x="216432" y="102565"/>
            <a:ext cx="5373356" cy="830012"/>
            <a:chOff x="393073" y="5022255"/>
            <a:chExt cx="2117030" cy="878286"/>
          </a:xfrm>
        </p:grpSpPr>
        <p:pic>
          <p:nvPicPr>
            <p:cNvPr id="54"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CF288CB8-C595-3A18-4988-5D6CCFB8275D}"/>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55"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5D1580E0-CC68-9A09-BE1F-0A70F443F11C}"/>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cxnSp>
        <p:nvCxnSpPr>
          <p:cNvPr id="56" name="直線單箭頭接點 55">
            <a:extLst>
              <a:ext uri="{FF2B5EF4-FFF2-40B4-BE49-F238E27FC236}">
                <a16:creationId xmlns:a16="http://schemas.microsoft.com/office/drawing/2014/main" id="{730F16E7-5F4A-A125-EDA7-E4FF9DC18B24}"/>
              </a:ext>
            </a:extLst>
          </p:cNvPr>
          <p:cNvCxnSpPr>
            <a:cxnSpLocks/>
          </p:cNvCxnSpPr>
          <p:nvPr/>
        </p:nvCxnSpPr>
        <p:spPr>
          <a:xfrm rot="16200000" flipV="1">
            <a:off x="5722763" y="286050"/>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190B30A4-D736-E7D7-0EAE-711D9C84B0F3}"/>
              </a:ext>
            </a:extLst>
          </p:cNvPr>
          <p:cNvCxnSpPr>
            <a:cxnSpLocks/>
          </p:cNvCxnSpPr>
          <p:nvPr/>
        </p:nvCxnSpPr>
        <p:spPr>
          <a:xfrm flipV="1">
            <a:off x="8397615" y="2526294"/>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28D23C68-EDEF-6161-5148-D299DC9C4593}"/>
              </a:ext>
            </a:extLst>
          </p:cNvPr>
          <p:cNvCxnSpPr>
            <a:cxnSpLocks/>
          </p:cNvCxnSpPr>
          <p:nvPr/>
        </p:nvCxnSpPr>
        <p:spPr>
          <a:xfrm flipV="1">
            <a:off x="2619115" y="2538994"/>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4C9D67B0-23B1-BFB9-F393-B8B96F662E2C}"/>
              </a:ext>
            </a:extLst>
          </p:cNvPr>
          <p:cNvCxnSpPr>
            <a:cxnSpLocks/>
          </p:cNvCxnSpPr>
          <p:nvPr/>
        </p:nvCxnSpPr>
        <p:spPr>
          <a:xfrm flipV="1">
            <a:off x="7041085" y="1644047"/>
            <a:ext cx="0" cy="3847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FBCBE344-BDA0-8CC9-DBBD-86CAF8106E6C}"/>
              </a:ext>
            </a:extLst>
          </p:cNvPr>
          <p:cNvCxnSpPr>
            <a:cxnSpLocks/>
          </p:cNvCxnSpPr>
          <p:nvPr/>
        </p:nvCxnSpPr>
        <p:spPr>
          <a:xfrm flipV="1">
            <a:off x="8778960" y="1677083"/>
            <a:ext cx="0" cy="3847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F16769CD-C60C-2A46-C213-E62AFF17C365}"/>
              </a:ext>
            </a:extLst>
          </p:cNvPr>
          <p:cNvCxnSpPr>
            <a:cxnSpLocks/>
          </p:cNvCxnSpPr>
          <p:nvPr/>
        </p:nvCxnSpPr>
        <p:spPr>
          <a:xfrm flipV="1">
            <a:off x="10512230" y="1644047"/>
            <a:ext cx="0" cy="3847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9BF4A256-944C-F23D-81FF-3B4351A4F42C}"/>
              </a:ext>
            </a:extLst>
          </p:cNvPr>
          <p:cNvCxnSpPr>
            <a:cxnSpLocks/>
          </p:cNvCxnSpPr>
          <p:nvPr/>
        </p:nvCxnSpPr>
        <p:spPr>
          <a:xfrm flipV="1">
            <a:off x="3492874" y="2561976"/>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E46D618A-9D1A-CB79-8479-7373D968A12F}"/>
              </a:ext>
            </a:extLst>
          </p:cNvPr>
          <p:cNvCxnSpPr>
            <a:cxnSpLocks/>
          </p:cNvCxnSpPr>
          <p:nvPr/>
        </p:nvCxnSpPr>
        <p:spPr>
          <a:xfrm flipV="1">
            <a:off x="4191374" y="2580835"/>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33BA1BEF-DCA0-817E-1A48-A80EE704A25A}"/>
              </a:ext>
            </a:extLst>
          </p:cNvPr>
          <p:cNvCxnSpPr>
            <a:cxnSpLocks/>
          </p:cNvCxnSpPr>
          <p:nvPr/>
        </p:nvCxnSpPr>
        <p:spPr>
          <a:xfrm flipV="1">
            <a:off x="6332042" y="932577"/>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3D1210FF-5614-40F0-F0B8-0A7797BC60ED}"/>
              </a:ext>
            </a:extLst>
          </p:cNvPr>
          <p:cNvCxnSpPr>
            <a:cxnSpLocks/>
          </p:cNvCxnSpPr>
          <p:nvPr/>
        </p:nvCxnSpPr>
        <p:spPr>
          <a:xfrm flipV="1">
            <a:off x="7036480" y="915251"/>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E61F90E8-2B40-5351-558A-988B2E948B6A}"/>
              </a:ext>
            </a:extLst>
          </p:cNvPr>
          <p:cNvCxnSpPr>
            <a:cxnSpLocks/>
          </p:cNvCxnSpPr>
          <p:nvPr/>
        </p:nvCxnSpPr>
        <p:spPr>
          <a:xfrm flipV="1">
            <a:off x="8060766" y="910118"/>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a:extLst>
              <a:ext uri="{FF2B5EF4-FFF2-40B4-BE49-F238E27FC236}">
                <a16:creationId xmlns:a16="http://schemas.microsoft.com/office/drawing/2014/main" id="{BC2F8371-842C-725F-7D84-733C7C3443F6}"/>
              </a:ext>
            </a:extLst>
          </p:cNvPr>
          <p:cNvCxnSpPr>
            <a:cxnSpLocks/>
          </p:cNvCxnSpPr>
          <p:nvPr/>
        </p:nvCxnSpPr>
        <p:spPr>
          <a:xfrm flipV="1">
            <a:off x="8778960" y="932577"/>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8A9A48DF-DD85-400D-FEC3-391B0C1A76F4}"/>
              </a:ext>
            </a:extLst>
          </p:cNvPr>
          <p:cNvCxnSpPr>
            <a:cxnSpLocks/>
          </p:cNvCxnSpPr>
          <p:nvPr/>
        </p:nvCxnSpPr>
        <p:spPr>
          <a:xfrm flipV="1">
            <a:off x="9785335" y="939730"/>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a16="http://schemas.microsoft.com/office/drawing/2014/main" id="{C9C15FA0-B98D-184F-AF42-2F21F73ECB4A}"/>
              </a:ext>
            </a:extLst>
          </p:cNvPr>
          <p:cNvCxnSpPr>
            <a:cxnSpLocks/>
          </p:cNvCxnSpPr>
          <p:nvPr/>
        </p:nvCxnSpPr>
        <p:spPr>
          <a:xfrm flipV="1">
            <a:off x="10528190" y="958229"/>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文字方塊 75">
            <a:extLst>
              <a:ext uri="{FF2B5EF4-FFF2-40B4-BE49-F238E27FC236}">
                <a16:creationId xmlns:a16="http://schemas.microsoft.com/office/drawing/2014/main" id="{992D77C4-5417-EE67-CA52-39F2DB310B7C}"/>
              </a:ext>
            </a:extLst>
          </p:cNvPr>
          <p:cNvSpPr txBox="1"/>
          <p:nvPr/>
        </p:nvSpPr>
        <p:spPr>
          <a:xfrm>
            <a:off x="1491730" y="958229"/>
            <a:ext cx="395416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Use the network architecture of the TTS model (</a:t>
            </a: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CozyVoice</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77" name="直線單箭頭接點 76">
            <a:extLst>
              <a:ext uri="{FF2B5EF4-FFF2-40B4-BE49-F238E27FC236}">
                <a16:creationId xmlns:a16="http://schemas.microsoft.com/office/drawing/2014/main" id="{01A0D35C-23AC-EA74-6C4E-B0C9FF99D1BA}"/>
              </a:ext>
            </a:extLst>
          </p:cNvPr>
          <p:cNvCxnSpPr>
            <a:cxnSpLocks/>
          </p:cNvCxnSpPr>
          <p:nvPr/>
        </p:nvCxnSpPr>
        <p:spPr>
          <a:xfrm flipH="1">
            <a:off x="5325151" y="764429"/>
            <a:ext cx="875381" cy="468434"/>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8" name="文字方塊 77">
            <a:extLst>
              <a:ext uri="{FF2B5EF4-FFF2-40B4-BE49-F238E27FC236}">
                <a16:creationId xmlns:a16="http://schemas.microsoft.com/office/drawing/2014/main" id="{44440AB7-1DCE-AF37-E07C-3C72F1ECE9F8}"/>
              </a:ext>
            </a:extLst>
          </p:cNvPr>
          <p:cNvSpPr txBox="1"/>
          <p:nvPr/>
        </p:nvSpPr>
        <p:spPr>
          <a:xfrm>
            <a:off x="8956892" y="5525532"/>
            <a:ext cx="23851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e.g., Whisper Encoder</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 name="文字方塊 1">
            <a:extLst>
              <a:ext uri="{FF2B5EF4-FFF2-40B4-BE49-F238E27FC236}">
                <a16:creationId xmlns:a16="http://schemas.microsoft.com/office/drawing/2014/main" id="{31484412-BD93-1533-9E5B-A149EFFFB04E}"/>
              </a:ext>
            </a:extLst>
          </p:cNvPr>
          <p:cNvSpPr txBox="1"/>
          <p:nvPr/>
        </p:nvSpPr>
        <p:spPr>
          <a:xfrm rot="16200000">
            <a:off x="-1299763" y="4067835"/>
            <a:ext cx="3894015" cy="523220"/>
          </a:xfrm>
          <a:prstGeom prst="rect">
            <a:avLst/>
          </a:prstGeom>
          <a:noFill/>
        </p:spPr>
        <p:txBody>
          <a:bodyPr wrap="square">
            <a:spAutoFit/>
          </a:bodyPr>
          <a:lstStyle/>
          <a:p>
            <a:pPr lvl="0" algn="ctr">
              <a:defRPr/>
            </a:pPr>
            <a:r>
              <a:rPr lang="en-US" altLang="zh-TW" sz="2800" dirty="0">
                <a:solidFill>
                  <a:prstClr val="black"/>
                </a:solidFill>
              </a:rPr>
              <a:t>Tokenizer</a:t>
            </a:r>
            <a:endParaRPr lang="zh-TW" altLang="en-US" sz="2800" dirty="0">
              <a:solidFill>
                <a:prstClr val="black"/>
              </a:solidFill>
            </a:endParaRPr>
          </a:p>
        </p:txBody>
      </p:sp>
      <p:sp>
        <p:nvSpPr>
          <p:cNvPr id="3" name="右大括弧 2">
            <a:extLst>
              <a:ext uri="{FF2B5EF4-FFF2-40B4-BE49-F238E27FC236}">
                <a16:creationId xmlns:a16="http://schemas.microsoft.com/office/drawing/2014/main" id="{78CB4567-7D28-B770-D558-727B26297314}"/>
              </a:ext>
            </a:extLst>
          </p:cNvPr>
          <p:cNvSpPr/>
          <p:nvPr/>
        </p:nvSpPr>
        <p:spPr>
          <a:xfrm flipH="1">
            <a:off x="907008" y="2194205"/>
            <a:ext cx="552840" cy="4311601"/>
          </a:xfrm>
          <a:prstGeom prst="rightBrace">
            <a:avLst>
              <a:gd name="adj1" fmla="val 51892"/>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5755236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6" grpId="0"/>
      <p:bldP spid="37" grpId="0" animBg="1"/>
      <p:bldP spid="44" grpId="0" animBg="1"/>
      <p:bldP spid="45" grpId="0"/>
      <p:bldP spid="46" grpId="0" animBg="1"/>
      <p:bldP spid="47" grpId="0" animBg="1"/>
      <p:bldP spid="48" grpId="0" animBg="1"/>
      <p:bldP spid="49" grpId="0" animBg="1"/>
      <p:bldP spid="50" grpId="0"/>
      <p:bldP spid="51" grpId="0"/>
      <p:bldP spid="52" grpId="0"/>
      <p:bldP spid="76" grpId="0"/>
      <p:bldP spid="2" grpId="0"/>
      <p:bldP spid="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1DA9C-AE10-723A-97E9-7DE31D1956AE}"/>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2E039CC6-CED6-967E-B543-135BCCF87E5E}"/>
              </a:ext>
            </a:extLst>
          </p:cNvPr>
          <p:cNvGrpSpPr/>
          <p:nvPr/>
        </p:nvGrpSpPr>
        <p:grpSpPr>
          <a:xfrm>
            <a:off x="5720460" y="5894175"/>
            <a:ext cx="5373356" cy="830012"/>
            <a:chOff x="393073" y="5022255"/>
            <a:chExt cx="2117030" cy="878286"/>
          </a:xfrm>
        </p:grpSpPr>
        <p:pic>
          <p:nvPicPr>
            <p:cNvPr id="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7042EF9B-CEBF-8C71-B29C-A6BE0FAB2F8F}"/>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E3CD1D54-34E7-A57A-648E-F8CDB5B4136C}"/>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sp>
        <p:nvSpPr>
          <p:cNvPr id="7" name="矩形: 圓角 6">
            <a:extLst>
              <a:ext uri="{FF2B5EF4-FFF2-40B4-BE49-F238E27FC236}">
                <a16:creationId xmlns:a16="http://schemas.microsoft.com/office/drawing/2014/main" id="{742A3015-5045-3FDA-D1F6-E467AFC8997A}"/>
              </a:ext>
            </a:extLst>
          </p:cNvPr>
          <p:cNvSpPr/>
          <p:nvPr/>
        </p:nvSpPr>
        <p:spPr>
          <a:xfrm>
            <a:off x="5869208" y="4875757"/>
            <a:ext cx="5075388" cy="574184"/>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Pre-trained Speech Encoder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 name="直線單箭頭接點 7">
            <a:extLst>
              <a:ext uri="{FF2B5EF4-FFF2-40B4-BE49-F238E27FC236}">
                <a16:creationId xmlns:a16="http://schemas.microsoft.com/office/drawing/2014/main" id="{C0135163-8911-82C9-5745-302DC62225CC}"/>
              </a:ext>
            </a:extLst>
          </p:cNvPr>
          <p:cNvCxnSpPr>
            <a:cxnSpLocks/>
          </p:cNvCxnSpPr>
          <p:nvPr/>
        </p:nvCxnSpPr>
        <p:spPr>
          <a:xfrm flipV="1">
            <a:off x="8412129" y="5504368"/>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圓角 8">
            <a:extLst>
              <a:ext uri="{FF2B5EF4-FFF2-40B4-BE49-F238E27FC236}">
                <a16:creationId xmlns:a16="http://schemas.microsoft.com/office/drawing/2014/main" id="{E3356C86-56AC-654B-D361-00035A0D4A00}"/>
              </a:ext>
            </a:extLst>
          </p:cNvPr>
          <p:cNvSpPr/>
          <p:nvPr/>
        </p:nvSpPr>
        <p:spPr>
          <a:xfrm>
            <a:off x="5899861"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50EFC46F-EE2B-1D3C-904D-FB85633F22CC}"/>
              </a:ext>
            </a:extLst>
          </p:cNvPr>
          <p:cNvSpPr/>
          <p:nvPr/>
        </p:nvSpPr>
        <p:spPr>
          <a:xfrm>
            <a:off x="6332042"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F2767F51-9030-C432-4683-0F1F52D97C8C}"/>
              </a:ext>
            </a:extLst>
          </p:cNvPr>
          <p:cNvSpPr/>
          <p:nvPr/>
        </p:nvSpPr>
        <p:spPr>
          <a:xfrm>
            <a:off x="6764223"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E488BEEE-0F16-9349-3EA8-1423EA1A306A}"/>
              </a:ext>
            </a:extLst>
          </p:cNvPr>
          <p:cNvSpPr/>
          <p:nvPr/>
        </p:nvSpPr>
        <p:spPr>
          <a:xfrm>
            <a:off x="7196404"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91383756-459D-8DD5-A89C-B032046CA450}"/>
              </a:ext>
            </a:extLst>
          </p:cNvPr>
          <p:cNvSpPr/>
          <p:nvPr/>
        </p:nvSpPr>
        <p:spPr>
          <a:xfrm>
            <a:off x="7628585"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888EE34B-72D1-9862-1CF2-91BA79B83F6F}"/>
              </a:ext>
            </a:extLst>
          </p:cNvPr>
          <p:cNvSpPr/>
          <p:nvPr/>
        </p:nvSpPr>
        <p:spPr>
          <a:xfrm>
            <a:off x="8060766"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334C3F2E-1151-E9CD-2B27-7A691EC2B36E}"/>
              </a:ext>
            </a:extLst>
          </p:cNvPr>
          <p:cNvSpPr/>
          <p:nvPr/>
        </p:nvSpPr>
        <p:spPr>
          <a:xfrm>
            <a:off x="8492947"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2625BC31-8827-94AB-F3C2-E4F4A91A2B6D}"/>
              </a:ext>
            </a:extLst>
          </p:cNvPr>
          <p:cNvSpPr/>
          <p:nvPr/>
        </p:nvSpPr>
        <p:spPr>
          <a:xfrm>
            <a:off x="8925128"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2DEC5A41-EFA6-28F9-8926-E8737951F54E}"/>
              </a:ext>
            </a:extLst>
          </p:cNvPr>
          <p:cNvSpPr/>
          <p:nvPr/>
        </p:nvSpPr>
        <p:spPr>
          <a:xfrm>
            <a:off x="9357309"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E5D9B77E-A36F-6BA1-1460-B0D55308E26C}"/>
              </a:ext>
            </a:extLst>
          </p:cNvPr>
          <p:cNvSpPr/>
          <p:nvPr/>
        </p:nvSpPr>
        <p:spPr>
          <a:xfrm>
            <a:off x="9789490"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8E28BDA7-D80B-6C60-B8CA-684CC1C5D0E5}"/>
              </a:ext>
            </a:extLst>
          </p:cNvPr>
          <p:cNvSpPr/>
          <p:nvPr/>
        </p:nvSpPr>
        <p:spPr>
          <a:xfrm>
            <a:off x="10221671"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2D22F07C-200E-1FE6-0746-2A39BBACE6BE}"/>
              </a:ext>
            </a:extLst>
          </p:cNvPr>
          <p:cNvSpPr/>
          <p:nvPr/>
        </p:nvSpPr>
        <p:spPr>
          <a:xfrm>
            <a:off x="10653850"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2E7E43B7-0014-10C0-5D19-2C33E7AA0131}"/>
              </a:ext>
            </a:extLst>
          </p:cNvPr>
          <p:cNvSpPr/>
          <p:nvPr/>
        </p:nvSpPr>
        <p:spPr>
          <a:xfrm>
            <a:off x="5899861"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A63A7E0B-BE05-BB10-36BC-B37944A4D3F9}"/>
              </a:ext>
            </a:extLst>
          </p:cNvPr>
          <p:cNvSpPr/>
          <p:nvPr/>
        </p:nvSpPr>
        <p:spPr>
          <a:xfrm>
            <a:off x="6332042"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B4009E5C-BBC7-DB51-1760-F0B81A1480C8}"/>
              </a:ext>
            </a:extLst>
          </p:cNvPr>
          <p:cNvSpPr/>
          <p:nvPr/>
        </p:nvSpPr>
        <p:spPr>
          <a:xfrm>
            <a:off x="6764223"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49B075D8-BEAC-D3DF-7449-1DEB5A6AC218}"/>
              </a:ext>
            </a:extLst>
          </p:cNvPr>
          <p:cNvSpPr/>
          <p:nvPr/>
        </p:nvSpPr>
        <p:spPr>
          <a:xfrm>
            <a:off x="7196404"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6F5A8145-4F52-03F0-2704-0301381CDBF7}"/>
              </a:ext>
            </a:extLst>
          </p:cNvPr>
          <p:cNvSpPr/>
          <p:nvPr/>
        </p:nvSpPr>
        <p:spPr>
          <a:xfrm>
            <a:off x="7628585"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17C6EEB2-BAB7-0985-7F92-98A89DC4EE0F}"/>
              </a:ext>
            </a:extLst>
          </p:cNvPr>
          <p:cNvSpPr/>
          <p:nvPr/>
        </p:nvSpPr>
        <p:spPr>
          <a:xfrm>
            <a:off x="8060766"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矩形: 圓角 26">
            <a:extLst>
              <a:ext uri="{FF2B5EF4-FFF2-40B4-BE49-F238E27FC236}">
                <a16:creationId xmlns:a16="http://schemas.microsoft.com/office/drawing/2014/main" id="{8BA15B36-11C8-66F2-D0AB-4F9A72CCD780}"/>
              </a:ext>
            </a:extLst>
          </p:cNvPr>
          <p:cNvSpPr/>
          <p:nvPr/>
        </p:nvSpPr>
        <p:spPr>
          <a:xfrm>
            <a:off x="8492947"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23E597BD-B546-06A2-F18A-8452CB394011}"/>
              </a:ext>
            </a:extLst>
          </p:cNvPr>
          <p:cNvSpPr/>
          <p:nvPr/>
        </p:nvSpPr>
        <p:spPr>
          <a:xfrm>
            <a:off x="8925128"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圓角 28">
            <a:extLst>
              <a:ext uri="{FF2B5EF4-FFF2-40B4-BE49-F238E27FC236}">
                <a16:creationId xmlns:a16="http://schemas.microsoft.com/office/drawing/2014/main" id="{76294F60-8023-BFD0-255D-061D6326CC2F}"/>
              </a:ext>
            </a:extLst>
          </p:cNvPr>
          <p:cNvSpPr/>
          <p:nvPr/>
        </p:nvSpPr>
        <p:spPr>
          <a:xfrm>
            <a:off x="9357309"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733B52AA-8919-25F3-641D-9A81423A0CE3}"/>
              </a:ext>
            </a:extLst>
          </p:cNvPr>
          <p:cNvSpPr/>
          <p:nvPr/>
        </p:nvSpPr>
        <p:spPr>
          <a:xfrm>
            <a:off x="9789490"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矩形: 圓角 30">
            <a:extLst>
              <a:ext uri="{FF2B5EF4-FFF2-40B4-BE49-F238E27FC236}">
                <a16:creationId xmlns:a16="http://schemas.microsoft.com/office/drawing/2014/main" id="{5DFDADC2-C2B2-5EC1-903F-E19A2F43F150}"/>
              </a:ext>
            </a:extLst>
          </p:cNvPr>
          <p:cNvSpPr/>
          <p:nvPr/>
        </p:nvSpPr>
        <p:spPr>
          <a:xfrm>
            <a:off x="10221671"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矩形: 圓角 31">
            <a:extLst>
              <a:ext uri="{FF2B5EF4-FFF2-40B4-BE49-F238E27FC236}">
                <a16:creationId xmlns:a16="http://schemas.microsoft.com/office/drawing/2014/main" id="{4E928BF9-0B00-E69C-4D13-718516BADD3C}"/>
              </a:ext>
            </a:extLst>
          </p:cNvPr>
          <p:cNvSpPr/>
          <p:nvPr/>
        </p:nvSpPr>
        <p:spPr>
          <a:xfrm>
            <a:off x="10653850"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文字方塊 32">
            <a:extLst>
              <a:ext uri="{FF2B5EF4-FFF2-40B4-BE49-F238E27FC236}">
                <a16:creationId xmlns:a16="http://schemas.microsoft.com/office/drawing/2014/main" id="{C69D05F5-F2FB-1CA2-FBB0-E8B0EA4287DC}"/>
              </a:ext>
            </a:extLst>
          </p:cNvPr>
          <p:cNvSpPr txBox="1"/>
          <p:nvPr/>
        </p:nvSpPr>
        <p:spPr>
          <a:xfrm>
            <a:off x="11039472" y="3112209"/>
            <a:ext cx="60507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key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文字方塊 33">
            <a:extLst>
              <a:ext uri="{FF2B5EF4-FFF2-40B4-BE49-F238E27FC236}">
                <a16:creationId xmlns:a16="http://schemas.microsoft.com/office/drawing/2014/main" id="{8F408163-39A5-FEA0-AB27-7B502AD54B95}"/>
              </a:ext>
            </a:extLst>
          </p:cNvPr>
          <p:cNvSpPr txBox="1"/>
          <p:nvPr/>
        </p:nvSpPr>
        <p:spPr>
          <a:xfrm>
            <a:off x="11017576" y="3737124"/>
            <a:ext cx="11744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value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5" name="直線單箭頭接點 34">
            <a:extLst>
              <a:ext uri="{FF2B5EF4-FFF2-40B4-BE49-F238E27FC236}">
                <a16:creationId xmlns:a16="http://schemas.microsoft.com/office/drawing/2014/main" id="{19385755-8814-8B8C-A909-3910210E09BF}"/>
              </a:ext>
            </a:extLst>
          </p:cNvPr>
          <p:cNvCxnSpPr>
            <a:cxnSpLocks/>
          </p:cNvCxnSpPr>
          <p:nvPr/>
        </p:nvCxnSpPr>
        <p:spPr>
          <a:xfrm flipV="1">
            <a:off x="8397615" y="4350006"/>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3E13EA8B-649B-D6A4-4BA0-FE2F62A95D1D}"/>
              </a:ext>
            </a:extLst>
          </p:cNvPr>
          <p:cNvSpPr txBox="1"/>
          <p:nvPr/>
        </p:nvSpPr>
        <p:spPr>
          <a:xfrm>
            <a:off x="2161384" y="3029546"/>
            <a:ext cx="2474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          are       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矩形: 圓角 36">
            <a:extLst>
              <a:ext uri="{FF2B5EF4-FFF2-40B4-BE49-F238E27FC236}">
                <a16:creationId xmlns:a16="http://schemas.microsoft.com/office/drawing/2014/main" id="{75E0724B-59FA-304E-B416-4F5D6E3FE9B2}"/>
              </a:ext>
            </a:extLst>
          </p:cNvPr>
          <p:cNvSpPr/>
          <p:nvPr/>
        </p:nvSpPr>
        <p:spPr>
          <a:xfrm>
            <a:off x="2262216" y="4065369"/>
            <a:ext cx="2385116" cy="1620776"/>
          </a:xfrm>
          <a:prstGeom prst="roundRect">
            <a:avLst/>
          </a:prstGeom>
          <a:solidFill>
            <a:schemeClr val="accent1">
              <a:lumMod val="20000"/>
              <a:lumOff val="80000"/>
            </a:schemeClr>
          </a:solidFill>
          <a:ln w="57150">
            <a:solidFill>
              <a:schemeClr val="tx1"/>
            </a:solidFill>
            <a:prstDash val="sysDot"/>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9" name="直線單箭頭接點 38">
            <a:extLst>
              <a:ext uri="{FF2B5EF4-FFF2-40B4-BE49-F238E27FC236}">
                <a16:creationId xmlns:a16="http://schemas.microsoft.com/office/drawing/2014/main" id="{E35C110F-E0C4-0AEA-EB61-50D8EAC3D0E4}"/>
              </a:ext>
            </a:extLst>
          </p:cNvPr>
          <p:cNvCxnSpPr>
            <a:cxnSpLocks/>
          </p:cNvCxnSpPr>
          <p:nvPr/>
        </p:nvCxnSpPr>
        <p:spPr>
          <a:xfrm flipV="1">
            <a:off x="3454774" y="3474249"/>
            <a:ext cx="0" cy="525751"/>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46F528F0-2AEA-0AA0-A2FA-137FF0174F74}"/>
              </a:ext>
            </a:extLst>
          </p:cNvPr>
          <p:cNvCxnSpPr>
            <a:cxnSpLocks/>
          </p:cNvCxnSpPr>
          <p:nvPr/>
        </p:nvCxnSpPr>
        <p:spPr>
          <a:xfrm flipV="1">
            <a:off x="3443258" y="5700950"/>
            <a:ext cx="0" cy="639478"/>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69E612A4-D154-497B-6201-5E5A25075D5B}"/>
              </a:ext>
            </a:extLst>
          </p:cNvPr>
          <p:cNvCxnSpPr>
            <a:cxnSpLocks/>
          </p:cNvCxnSpPr>
          <p:nvPr/>
        </p:nvCxnSpPr>
        <p:spPr>
          <a:xfrm>
            <a:off x="3430592" y="6340428"/>
            <a:ext cx="2078113" cy="1"/>
          </a:xfrm>
          <a:prstGeom prst="straightConnector1">
            <a:avLst/>
          </a:prstGeom>
          <a:ln w="5715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矩形: 圓角 43">
            <a:extLst>
              <a:ext uri="{FF2B5EF4-FFF2-40B4-BE49-F238E27FC236}">
                <a16:creationId xmlns:a16="http://schemas.microsoft.com/office/drawing/2014/main" id="{7A5576F4-85B5-C805-8673-6102F14CBA15}"/>
              </a:ext>
            </a:extLst>
          </p:cNvPr>
          <p:cNvSpPr/>
          <p:nvPr/>
        </p:nvSpPr>
        <p:spPr>
          <a:xfrm>
            <a:off x="2158106" y="2043080"/>
            <a:ext cx="9027979" cy="518896"/>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Aggregator</a:t>
            </a:r>
            <a:r>
              <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(several attention layers)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4F9E45FC-E781-8B10-BFE9-0419ABE6464F}"/>
              </a:ext>
            </a:extLst>
          </p:cNvPr>
          <p:cNvSpPr txBox="1"/>
          <p:nvPr/>
        </p:nvSpPr>
        <p:spPr>
          <a:xfrm>
            <a:off x="1071342" y="2946913"/>
            <a:ext cx="1086764"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query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矩形: 圓角 45">
            <a:extLst>
              <a:ext uri="{FF2B5EF4-FFF2-40B4-BE49-F238E27FC236}">
                <a16:creationId xmlns:a16="http://schemas.microsoft.com/office/drawing/2014/main" id="{3DA9B90D-2D7B-7FC0-9886-83D4F9A4B943}"/>
              </a:ext>
            </a:extLst>
          </p:cNvPr>
          <p:cNvSpPr/>
          <p:nvPr/>
        </p:nvSpPr>
        <p:spPr>
          <a:xfrm>
            <a:off x="6758565" y="1282097"/>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矩形: 圓角 46">
            <a:extLst>
              <a:ext uri="{FF2B5EF4-FFF2-40B4-BE49-F238E27FC236}">
                <a16:creationId xmlns:a16="http://schemas.microsoft.com/office/drawing/2014/main" id="{B5D3FF35-FD8B-BBE8-0BFF-FB0D45386B14}"/>
              </a:ext>
            </a:extLst>
          </p:cNvPr>
          <p:cNvSpPr/>
          <p:nvPr/>
        </p:nvSpPr>
        <p:spPr>
          <a:xfrm>
            <a:off x="8496260" y="1288192"/>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矩形: 圓角 47">
            <a:extLst>
              <a:ext uri="{FF2B5EF4-FFF2-40B4-BE49-F238E27FC236}">
                <a16:creationId xmlns:a16="http://schemas.microsoft.com/office/drawing/2014/main" id="{5DC5AAEE-6356-4FD8-69CC-8758AE3AD9ED}"/>
              </a:ext>
            </a:extLst>
          </p:cNvPr>
          <p:cNvSpPr/>
          <p:nvPr/>
        </p:nvSpPr>
        <p:spPr>
          <a:xfrm>
            <a:off x="10242230" y="1287921"/>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矩形: 圓角 48">
            <a:extLst>
              <a:ext uri="{FF2B5EF4-FFF2-40B4-BE49-F238E27FC236}">
                <a16:creationId xmlns:a16="http://schemas.microsoft.com/office/drawing/2014/main" id="{2B9D4DF0-DC89-FB71-9235-171F635F7A9F}"/>
              </a:ext>
            </a:extLst>
          </p:cNvPr>
          <p:cNvSpPr/>
          <p:nvPr/>
        </p:nvSpPr>
        <p:spPr>
          <a:xfrm>
            <a:off x="5985639" y="216860"/>
            <a:ext cx="5188122" cy="698391"/>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lang="en-US" altLang="zh-TW" sz="2800" dirty="0" err="1">
                <a:solidFill>
                  <a:prstClr val="black"/>
                </a:solidFill>
              </a:rPr>
              <a:t>Detokenizer</a:t>
            </a:r>
            <a:endParaRPr lang="zh-TW" altLang="en-US" sz="2800" dirty="0">
              <a:solidFill>
                <a:prstClr val="black"/>
              </a:solidFill>
            </a:endParaRPr>
          </a:p>
        </p:txBody>
      </p:sp>
      <p:sp>
        <p:nvSpPr>
          <p:cNvPr id="50" name="文字方塊 49">
            <a:extLst>
              <a:ext uri="{FF2B5EF4-FFF2-40B4-BE49-F238E27FC236}">
                <a16:creationId xmlns:a16="http://schemas.microsoft.com/office/drawing/2014/main" id="{9A2AA1FA-B69B-89B7-09A2-E82C3F1DF9E4}"/>
              </a:ext>
            </a:extLst>
          </p:cNvPr>
          <p:cNvSpPr txBox="1"/>
          <p:nvPr/>
        </p:nvSpPr>
        <p:spPr>
          <a:xfrm>
            <a:off x="6021752" y="1246875"/>
            <a:ext cx="6992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文字方塊 50">
            <a:extLst>
              <a:ext uri="{FF2B5EF4-FFF2-40B4-BE49-F238E27FC236}">
                <a16:creationId xmlns:a16="http://schemas.microsoft.com/office/drawing/2014/main" id="{B1547B50-1E67-104D-3AC1-A2F8071E1476}"/>
              </a:ext>
            </a:extLst>
          </p:cNvPr>
          <p:cNvSpPr txBox="1"/>
          <p:nvPr/>
        </p:nvSpPr>
        <p:spPr>
          <a:xfrm>
            <a:off x="7725236" y="1255268"/>
            <a:ext cx="6992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文字方塊 51">
            <a:extLst>
              <a:ext uri="{FF2B5EF4-FFF2-40B4-BE49-F238E27FC236}">
                <a16:creationId xmlns:a16="http://schemas.microsoft.com/office/drawing/2014/main" id="{7D7074A8-E390-06BB-7B28-E9065153819C}"/>
              </a:ext>
            </a:extLst>
          </p:cNvPr>
          <p:cNvSpPr txBox="1"/>
          <p:nvPr/>
        </p:nvSpPr>
        <p:spPr>
          <a:xfrm>
            <a:off x="9479200" y="1248267"/>
            <a:ext cx="6992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53" name="群組 52">
            <a:extLst>
              <a:ext uri="{FF2B5EF4-FFF2-40B4-BE49-F238E27FC236}">
                <a16:creationId xmlns:a16="http://schemas.microsoft.com/office/drawing/2014/main" id="{97253BB0-E305-8A7F-39CC-829D3C210145}"/>
              </a:ext>
            </a:extLst>
          </p:cNvPr>
          <p:cNvGrpSpPr/>
          <p:nvPr/>
        </p:nvGrpSpPr>
        <p:grpSpPr>
          <a:xfrm>
            <a:off x="216432" y="102565"/>
            <a:ext cx="5373356" cy="830012"/>
            <a:chOff x="393073" y="5022255"/>
            <a:chExt cx="2117030" cy="878286"/>
          </a:xfrm>
        </p:grpSpPr>
        <p:pic>
          <p:nvPicPr>
            <p:cNvPr id="54"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A6FFA809-C64B-98DD-E553-236BB5BDEBA9}"/>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55"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37897029-6B8D-4936-1920-30563B81778B}"/>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cxnSp>
        <p:nvCxnSpPr>
          <p:cNvPr id="56" name="直線單箭頭接點 55">
            <a:extLst>
              <a:ext uri="{FF2B5EF4-FFF2-40B4-BE49-F238E27FC236}">
                <a16:creationId xmlns:a16="http://schemas.microsoft.com/office/drawing/2014/main" id="{54404B18-0CB1-07A8-FFB8-29BE4DDEA5A4}"/>
              </a:ext>
            </a:extLst>
          </p:cNvPr>
          <p:cNvCxnSpPr>
            <a:cxnSpLocks/>
          </p:cNvCxnSpPr>
          <p:nvPr/>
        </p:nvCxnSpPr>
        <p:spPr>
          <a:xfrm rot="16200000" flipV="1">
            <a:off x="5722763" y="286050"/>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0C47E067-2D86-5444-9BC4-797707977668}"/>
              </a:ext>
            </a:extLst>
          </p:cNvPr>
          <p:cNvCxnSpPr>
            <a:cxnSpLocks/>
          </p:cNvCxnSpPr>
          <p:nvPr/>
        </p:nvCxnSpPr>
        <p:spPr>
          <a:xfrm flipV="1">
            <a:off x="8397615" y="2526294"/>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03684230-2D22-DB4E-63C0-C88C41932D67}"/>
              </a:ext>
            </a:extLst>
          </p:cNvPr>
          <p:cNvCxnSpPr>
            <a:cxnSpLocks/>
          </p:cNvCxnSpPr>
          <p:nvPr/>
        </p:nvCxnSpPr>
        <p:spPr>
          <a:xfrm flipV="1">
            <a:off x="2619115" y="2538994"/>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73836944-291A-6440-F01F-E5970E5B1A91}"/>
              </a:ext>
            </a:extLst>
          </p:cNvPr>
          <p:cNvCxnSpPr>
            <a:cxnSpLocks/>
          </p:cNvCxnSpPr>
          <p:nvPr/>
        </p:nvCxnSpPr>
        <p:spPr>
          <a:xfrm flipV="1">
            <a:off x="7041085" y="1644047"/>
            <a:ext cx="0" cy="3847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37BBD328-5804-11E1-48FF-84D145B31BD9}"/>
              </a:ext>
            </a:extLst>
          </p:cNvPr>
          <p:cNvCxnSpPr>
            <a:cxnSpLocks/>
          </p:cNvCxnSpPr>
          <p:nvPr/>
        </p:nvCxnSpPr>
        <p:spPr>
          <a:xfrm flipV="1">
            <a:off x="8778960" y="1677083"/>
            <a:ext cx="0" cy="3847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357E1D9F-F3DD-940D-110A-84ECCD803F70}"/>
              </a:ext>
            </a:extLst>
          </p:cNvPr>
          <p:cNvCxnSpPr>
            <a:cxnSpLocks/>
          </p:cNvCxnSpPr>
          <p:nvPr/>
        </p:nvCxnSpPr>
        <p:spPr>
          <a:xfrm flipV="1">
            <a:off x="10512230" y="1644047"/>
            <a:ext cx="0" cy="3847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30C086EC-ECF0-C4FF-2274-32D357C86EEB}"/>
              </a:ext>
            </a:extLst>
          </p:cNvPr>
          <p:cNvCxnSpPr>
            <a:cxnSpLocks/>
          </p:cNvCxnSpPr>
          <p:nvPr/>
        </p:nvCxnSpPr>
        <p:spPr>
          <a:xfrm flipV="1">
            <a:off x="3492874" y="2561976"/>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D158C665-9824-1838-9891-0351D63BFE02}"/>
              </a:ext>
            </a:extLst>
          </p:cNvPr>
          <p:cNvCxnSpPr>
            <a:cxnSpLocks/>
          </p:cNvCxnSpPr>
          <p:nvPr/>
        </p:nvCxnSpPr>
        <p:spPr>
          <a:xfrm flipV="1">
            <a:off x="4191374" y="2580835"/>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CF1960B6-76F9-2028-1651-B17DC94F163A}"/>
              </a:ext>
            </a:extLst>
          </p:cNvPr>
          <p:cNvCxnSpPr>
            <a:cxnSpLocks/>
          </p:cNvCxnSpPr>
          <p:nvPr/>
        </p:nvCxnSpPr>
        <p:spPr>
          <a:xfrm flipV="1">
            <a:off x="6332042" y="932577"/>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B50A96A4-4F08-6423-C362-B431467E946A}"/>
              </a:ext>
            </a:extLst>
          </p:cNvPr>
          <p:cNvCxnSpPr>
            <a:cxnSpLocks/>
          </p:cNvCxnSpPr>
          <p:nvPr/>
        </p:nvCxnSpPr>
        <p:spPr>
          <a:xfrm flipV="1">
            <a:off x="7036480" y="915251"/>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DD54D038-3261-A03F-B853-850DC36D758F}"/>
              </a:ext>
            </a:extLst>
          </p:cNvPr>
          <p:cNvCxnSpPr>
            <a:cxnSpLocks/>
          </p:cNvCxnSpPr>
          <p:nvPr/>
        </p:nvCxnSpPr>
        <p:spPr>
          <a:xfrm flipV="1">
            <a:off x="8060766" y="910118"/>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a:extLst>
              <a:ext uri="{FF2B5EF4-FFF2-40B4-BE49-F238E27FC236}">
                <a16:creationId xmlns:a16="http://schemas.microsoft.com/office/drawing/2014/main" id="{244F8960-6602-6BBC-50C3-A6C43347BFA6}"/>
              </a:ext>
            </a:extLst>
          </p:cNvPr>
          <p:cNvCxnSpPr>
            <a:cxnSpLocks/>
          </p:cNvCxnSpPr>
          <p:nvPr/>
        </p:nvCxnSpPr>
        <p:spPr>
          <a:xfrm flipV="1">
            <a:off x="8778960" y="932577"/>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C62F7FDD-AFA9-63DF-41EA-AEAC6E3DDABC}"/>
              </a:ext>
            </a:extLst>
          </p:cNvPr>
          <p:cNvCxnSpPr>
            <a:cxnSpLocks/>
          </p:cNvCxnSpPr>
          <p:nvPr/>
        </p:nvCxnSpPr>
        <p:spPr>
          <a:xfrm flipV="1">
            <a:off x="9785335" y="939730"/>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a16="http://schemas.microsoft.com/office/drawing/2014/main" id="{1D4CB2DA-878E-6557-8358-302164A0A6F5}"/>
              </a:ext>
            </a:extLst>
          </p:cNvPr>
          <p:cNvCxnSpPr>
            <a:cxnSpLocks/>
          </p:cNvCxnSpPr>
          <p:nvPr/>
        </p:nvCxnSpPr>
        <p:spPr>
          <a:xfrm flipV="1">
            <a:off x="10528190" y="958229"/>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文字方塊 77">
            <a:extLst>
              <a:ext uri="{FF2B5EF4-FFF2-40B4-BE49-F238E27FC236}">
                <a16:creationId xmlns:a16="http://schemas.microsoft.com/office/drawing/2014/main" id="{759C4889-4875-ECEF-F38C-17E33BE86495}"/>
              </a:ext>
            </a:extLst>
          </p:cNvPr>
          <p:cNvSpPr txBox="1"/>
          <p:nvPr/>
        </p:nvSpPr>
        <p:spPr>
          <a:xfrm>
            <a:off x="8956892" y="5525532"/>
            <a:ext cx="23851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e.g., Whisper Encoder</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 name="文字方塊 1">
            <a:extLst>
              <a:ext uri="{FF2B5EF4-FFF2-40B4-BE49-F238E27FC236}">
                <a16:creationId xmlns:a16="http://schemas.microsoft.com/office/drawing/2014/main" id="{CE0290F5-5B23-5E34-33B4-D47062ED7E26}"/>
              </a:ext>
            </a:extLst>
          </p:cNvPr>
          <p:cNvSpPr txBox="1"/>
          <p:nvPr/>
        </p:nvSpPr>
        <p:spPr>
          <a:xfrm>
            <a:off x="1353776" y="1143231"/>
            <a:ext cx="4163137" cy="46166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 to pronounce a text token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手繪多邊形: 圖案 2">
            <a:extLst>
              <a:ext uri="{FF2B5EF4-FFF2-40B4-BE49-F238E27FC236}">
                <a16:creationId xmlns:a16="http://schemas.microsoft.com/office/drawing/2014/main" id="{68EF45FD-2461-5C46-1546-CD70BA8B8DFE}"/>
              </a:ext>
            </a:extLst>
          </p:cNvPr>
          <p:cNvSpPr/>
          <p:nvPr/>
        </p:nvSpPr>
        <p:spPr>
          <a:xfrm>
            <a:off x="4704732" y="1544121"/>
            <a:ext cx="2000250" cy="306301"/>
          </a:xfrm>
          <a:custGeom>
            <a:avLst/>
            <a:gdLst>
              <a:gd name="connsiteX0" fmla="*/ 0 w 2000250"/>
              <a:gd name="connsiteY0" fmla="*/ 0 h 306301"/>
              <a:gd name="connsiteX1" fmla="*/ 952500 w 2000250"/>
              <a:gd name="connsiteY1" fmla="*/ 304800 h 306301"/>
              <a:gd name="connsiteX2" fmla="*/ 2000250 w 2000250"/>
              <a:gd name="connsiteY2" fmla="*/ 95250 h 306301"/>
            </a:gdLst>
            <a:ahLst/>
            <a:cxnLst>
              <a:cxn ang="0">
                <a:pos x="connsiteX0" y="connsiteY0"/>
              </a:cxn>
              <a:cxn ang="0">
                <a:pos x="connsiteX1" y="connsiteY1"/>
              </a:cxn>
              <a:cxn ang="0">
                <a:pos x="connsiteX2" y="connsiteY2"/>
              </a:cxn>
            </a:cxnLst>
            <a:rect l="l" t="t" r="r" b="b"/>
            <a:pathLst>
              <a:path w="2000250" h="306301">
                <a:moveTo>
                  <a:pt x="0" y="0"/>
                </a:moveTo>
                <a:cubicBezTo>
                  <a:pt x="309562" y="144462"/>
                  <a:pt x="619125" y="288925"/>
                  <a:pt x="952500" y="304800"/>
                </a:cubicBezTo>
                <a:cubicBezTo>
                  <a:pt x="1285875" y="320675"/>
                  <a:pt x="1643062" y="207962"/>
                  <a:pt x="2000250" y="95250"/>
                </a:cubicBezTo>
              </a:path>
            </a:pathLst>
          </a:custGeom>
          <a:noFill/>
          <a:ln w="57150">
            <a:solidFill>
              <a:schemeClr val="tx1"/>
            </a:solidFill>
            <a:prstDash val="sysDot"/>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 name="文字方塊 37">
            <a:extLst>
              <a:ext uri="{FF2B5EF4-FFF2-40B4-BE49-F238E27FC236}">
                <a16:creationId xmlns:a16="http://schemas.microsoft.com/office/drawing/2014/main" id="{0C83D78D-A6C1-E180-0A36-F15ACF8E1048}"/>
              </a:ext>
            </a:extLst>
          </p:cNvPr>
          <p:cNvSpPr txBox="1"/>
          <p:nvPr/>
        </p:nvSpPr>
        <p:spPr>
          <a:xfrm rot="16200000">
            <a:off x="-1299763" y="4067835"/>
            <a:ext cx="3894015" cy="523220"/>
          </a:xfrm>
          <a:prstGeom prst="rect">
            <a:avLst/>
          </a:prstGeom>
          <a:noFill/>
        </p:spPr>
        <p:txBody>
          <a:bodyPr wrap="square">
            <a:spAutoFit/>
          </a:bodyPr>
          <a:lstStyle/>
          <a:p>
            <a:pPr lvl="0" algn="ctr">
              <a:defRPr/>
            </a:pPr>
            <a:r>
              <a:rPr lang="en-US" altLang="zh-TW" sz="2800" dirty="0">
                <a:solidFill>
                  <a:prstClr val="black"/>
                </a:solidFill>
              </a:rPr>
              <a:t>Tokenizer</a:t>
            </a:r>
            <a:endParaRPr lang="zh-TW" altLang="en-US" sz="2800" dirty="0">
              <a:solidFill>
                <a:prstClr val="black"/>
              </a:solidFill>
            </a:endParaRPr>
          </a:p>
        </p:txBody>
      </p:sp>
      <p:sp>
        <p:nvSpPr>
          <p:cNvPr id="42" name="右大括弧 41">
            <a:extLst>
              <a:ext uri="{FF2B5EF4-FFF2-40B4-BE49-F238E27FC236}">
                <a16:creationId xmlns:a16="http://schemas.microsoft.com/office/drawing/2014/main" id="{91EB83F1-D06F-2372-6A25-A03B0821A287}"/>
              </a:ext>
            </a:extLst>
          </p:cNvPr>
          <p:cNvSpPr/>
          <p:nvPr/>
        </p:nvSpPr>
        <p:spPr>
          <a:xfrm flipH="1">
            <a:off x="907008" y="2194205"/>
            <a:ext cx="552840" cy="4311601"/>
          </a:xfrm>
          <a:prstGeom prst="rightBrace">
            <a:avLst>
              <a:gd name="adj1" fmla="val 51892"/>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14789709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407C6-2562-B6DE-0CD6-9BED4426756C}"/>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976E38FD-DBB2-D3FE-AA78-9BF3941B3F0C}"/>
              </a:ext>
            </a:extLst>
          </p:cNvPr>
          <p:cNvGrpSpPr/>
          <p:nvPr/>
        </p:nvGrpSpPr>
        <p:grpSpPr>
          <a:xfrm>
            <a:off x="5720460" y="5894175"/>
            <a:ext cx="5373356" cy="830012"/>
            <a:chOff x="393073" y="5022255"/>
            <a:chExt cx="2117030" cy="878286"/>
          </a:xfrm>
        </p:grpSpPr>
        <p:pic>
          <p:nvPicPr>
            <p:cNvPr id="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7F930F5-518B-8706-2E0A-4764C21649A7}"/>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8DD0F02-69C6-5173-EBF9-83D2034E477F}"/>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7" name="矩形: 圓角 6">
            <a:extLst>
              <a:ext uri="{FF2B5EF4-FFF2-40B4-BE49-F238E27FC236}">
                <a16:creationId xmlns:a16="http://schemas.microsoft.com/office/drawing/2014/main" id="{27B1C613-EFF7-EF8E-0A4F-40F440A29426}"/>
              </a:ext>
            </a:extLst>
          </p:cNvPr>
          <p:cNvSpPr/>
          <p:nvPr/>
        </p:nvSpPr>
        <p:spPr>
          <a:xfrm>
            <a:off x="5869208" y="4875757"/>
            <a:ext cx="5075388" cy="574184"/>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Pre-trained Speech Encoder</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 name="直線單箭頭接點 7">
            <a:extLst>
              <a:ext uri="{FF2B5EF4-FFF2-40B4-BE49-F238E27FC236}">
                <a16:creationId xmlns:a16="http://schemas.microsoft.com/office/drawing/2014/main" id="{89F544A9-0820-72B9-C33B-09F5C30A7B16}"/>
              </a:ext>
            </a:extLst>
          </p:cNvPr>
          <p:cNvCxnSpPr>
            <a:cxnSpLocks/>
          </p:cNvCxnSpPr>
          <p:nvPr/>
        </p:nvCxnSpPr>
        <p:spPr>
          <a:xfrm flipV="1">
            <a:off x="8412129" y="5504368"/>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圓角 8">
            <a:extLst>
              <a:ext uri="{FF2B5EF4-FFF2-40B4-BE49-F238E27FC236}">
                <a16:creationId xmlns:a16="http://schemas.microsoft.com/office/drawing/2014/main" id="{D5FC3BD5-8EC0-E668-D6F8-9729C64B8752}"/>
              </a:ext>
            </a:extLst>
          </p:cNvPr>
          <p:cNvSpPr/>
          <p:nvPr/>
        </p:nvSpPr>
        <p:spPr>
          <a:xfrm>
            <a:off x="5899861"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051B7AE2-2403-D63A-294B-D27E8441903D}"/>
              </a:ext>
            </a:extLst>
          </p:cNvPr>
          <p:cNvSpPr/>
          <p:nvPr/>
        </p:nvSpPr>
        <p:spPr>
          <a:xfrm>
            <a:off x="6332042"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9892FDAC-B036-9EAE-5F81-91E1A82986CB}"/>
              </a:ext>
            </a:extLst>
          </p:cNvPr>
          <p:cNvSpPr/>
          <p:nvPr/>
        </p:nvSpPr>
        <p:spPr>
          <a:xfrm>
            <a:off x="6764223"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44FE0914-5030-EC27-06FD-F85B0A09118D}"/>
              </a:ext>
            </a:extLst>
          </p:cNvPr>
          <p:cNvSpPr/>
          <p:nvPr/>
        </p:nvSpPr>
        <p:spPr>
          <a:xfrm>
            <a:off x="7196404"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C41E40BE-2849-2D6D-DCEC-316DD04EA2F9}"/>
              </a:ext>
            </a:extLst>
          </p:cNvPr>
          <p:cNvSpPr/>
          <p:nvPr/>
        </p:nvSpPr>
        <p:spPr>
          <a:xfrm>
            <a:off x="7628585"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C2253BBB-862B-0E02-83CE-4EFFF2B6D37E}"/>
              </a:ext>
            </a:extLst>
          </p:cNvPr>
          <p:cNvSpPr/>
          <p:nvPr/>
        </p:nvSpPr>
        <p:spPr>
          <a:xfrm>
            <a:off x="8060766"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832D3444-EDF0-3295-043B-8C86E873FFE9}"/>
              </a:ext>
            </a:extLst>
          </p:cNvPr>
          <p:cNvSpPr/>
          <p:nvPr/>
        </p:nvSpPr>
        <p:spPr>
          <a:xfrm>
            <a:off x="8492947"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FF65A869-EBAE-E017-3F29-7779210FDC9F}"/>
              </a:ext>
            </a:extLst>
          </p:cNvPr>
          <p:cNvSpPr/>
          <p:nvPr/>
        </p:nvSpPr>
        <p:spPr>
          <a:xfrm>
            <a:off x="8925128"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0EEF9B38-0948-E9B3-37EE-AB9B9E38B387}"/>
              </a:ext>
            </a:extLst>
          </p:cNvPr>
          <p:cNvSpPr/>
          <p:nvPr/>
        </p:nvSpPr>
        <p:spPr>
          <a:xfrm>
            <a:off x="9357309"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9A2AA93D-F2C4-AF23-96E6-57F6BAFAA867}"/>
              </a:ext>
            </a:extLst>
          </p:cNvPr>
          <p:cNvSpPr/>
          <p:nvPr/>
        </p:nvSpPr>
        <p:spPr>
          <a:xfrm>
            <a:off x="9789490"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CD95C693-5ADD-904D-AD8D-30683F136A3C}"/>
              </a:ext>
            </a:extLst>
          </p:cNvPr>
          <p:cNvSpPr/>
          <p:nvPr/>
        </p:nvSpPr>
        <p:spPr>
          <a:xfrm>
            <a:off x="10221671"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90C48DFE-6BF7-EE6E-B829-6F14CE028B7F}"/>
              </a:ext>
            </a:extLst>
          </p:cNvPr>
          <p:cNvSpPr/>
          <p:nvPr/>
        </p:nvSpPr>
        <p:spPr>
          <a:xfrm>
            <a:off x="10653850" y="3700896"/>
            <a:ext cx="243783" cy="525751"/>
          </a:xfrm>
          <a:prstGeom prst="roundRect">
            <a:avLst/>
          </a:prstGeom>
          <a:solidFill>
            <a:schemeClr val="accent5">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82C6FCEA-9F69-2055-E720-6B3F4108F517}"/>
              </a:ext>
            </a:extLst>
          </p:cNvPr>
          <p:cNvSpPr/>
          <p:nvPr/>
        </p:nvSpPr>
        <p:spPr>
          <a:xfrm>
            <a:off x="5899861"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C71F1E59-52EC-832C-786C-0050891D7B85}"/>
              </a:ext>
            </a:extLst>
          </p:cNvPr>
          <p:cNvSpPr/>
          <p:nvPr/>
        </p:nvSpPr>
        <p:spPr>
          <a:xfrm>
            <a:off x="6332042"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F9E221C8-3AE5-D9E7-74A2-0BBCEFD662ED}"/>
              </a:ext>
            </a:extLst>
          </p:cNvPr>
          <p:cNvSpPr/>
          <p:nvPr/>
        </p:nvSpPr>
        <p:spPr>
          <a:xfrm>
            <a:off x="6764223"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6D2E2F56-55ED-EC84-F57D-AF842A9079C2}"/>
              </a:ext>
            </a:extLst>
          </p:cNvPr>
          <p:cNvSpPr/>
          <p:nvPr/>
        </p:nvSpPr>
        <p:spPr>
          <a:xfrm>
            <a:off x="7196404"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8AE0B908-96DF-A881-BF6D-F9CFB80300FC}"/>
              </a:ext>
            </a:extLst>
          </p:cNvPr>
          <p:cNvSpPr/>
          <p:nvPr/>
        </p:nvSpPr>
        <p:spPr>
          <a:xfrm>
            <a:off x="7628585"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7791334C-F69B-8C38-E7D2-9493883FC754}"/>
              </a:ext>
            </a:extLst>
          </p:cNvPr>
          <p:cNvSpPr/>
          <p:nvPr/>
        </p:nvSpPr>
        <p:spPr>
          <a:xfrm>
            <a:off x="8060766"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矩形: 圓角 26">
            <a:extLst>
              <a:ext uri="{FF2B5EF4-FFF2-40B4-BE49-F238E27FC236}">
                <a16:creationId xmlns:a16="http://schemas.microsoft.com/office/drawing/2014/main" id="{02039206-3B99-6B6E-0A57-4EE375035D3C}"/>
              </a:ext>
            </a:extLst>
          </p:cNvPr>
          <p:cNvSpPr/>
          <p:nvPr/>
        </p:nvSpPr>
        <p:spPr>
          <a:xfrm>
            <a:off x="8492947"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6F5F32F0-8502-C989-C473-0E8F09D3B8C7}"/>
              </a:ext>
            </a:extLst>
          </p:cNvPr>
          <p:cNvSpPr/>
          <p:nvPr/>
        </p:nvSpPr>
        <p:spPr>
          <a:xfrm>
            <a:off x="8925128"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圓角 28">
            <a:extLst>
              <a:ext uri="{FF2B5EF4-FFF2-40B4-BE49-F238E27FC236}">
                <a16:creationId xmlns:a16="http://schemas.microsoft.com/office/drawing/2014/main" id="{CA939D0D-5DCD-B550-4D11-7DC0628169FA}"/>
              </a:ext>
            </a:extLst>
          </p:cNvPr>
          <p:cNvSpPr/>
          <p:nvPr/>
        </p:nvSpPr>
        <p:spPr>
          <a:xfrm>
            <a:off x="9357309"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55AB5BE5-B39D-F777-0703-7689F82A41A9}"/>
              </a:ext>
            </a:extLst>
          </p:cNvPr>
          <p:cNvSpPr/>
          <p:nvPr/>
        </p:nvSpPr>
        <p:spPr>
          <a:xfrm>
            <a:off x="9789490"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矩形: 圓角 30">
            <a:extLst>
              <a:ext uri="{FF2B5EF4-FFF2-40B4-BE49-F238E27FC236}">
                <a16:creationId xmlns:a16="http://schemas.microsoft.com/office/drawing/2014/main" id="{6EBFA84F-4F4D-A3FB-A5BC-914B5A8D63BE}"/>
              </a:ext>
            </a:extLst>
          </p:cNvPr>
          <p:cNvSpPr/>
          <p:nvPr/>
        </p:nvSpPr>
        <p:spPr>
          <a:xfrm>
            <a:off x="10221671"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矩形: 圓角 31">
            <a:extLst>
              <a:ext uri="{FF2B5EF4-FFF2-40B4-BE49-F238E27FC236}">
                <a16:creationId xmlns:a16="http://schemas.microsoft.com/office/drawing/2014/main" id="{23C846BF-EE88-F40D-AF21-75D5788FE88D}"/>
              </a:ext>
            </a:extLst>
          </p:cNvPr>
          <p:cNvSpPr/>
          <p:nvPr/>
        </p:nvSpPr>
        <p:spPr>
          <a:xfrm>
            <a:off x="10653850" y="3052045"/>
            <a:ext cx="243783" cy="525751"/>
          </a:xfrm>
          <a:prstGeom prst="roundRect">
            <a:avLst/>
          </a:prstGeom>
          <a:solidFill>
            <a:schemeClr val="accent6">
              <a:lumMod val="20000"/>
              <a:lumOff val="80000"/>
            </a:schemeClr>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5" name="直線單箭頭接點 34">
            <a:extLst>
              <a:ext uri="{FF2B5EF4-FFF2-40B4-BE49-F238E27FC236}">
                <a16:creationId xmlns:a16="http://schemas.microsoft.com/office/drawing/2014/main" id="{EDBB640F-1541-F4F4-B959-68E0EEB94BB7}"/>
              </a:ext>
            </a:extLst>
          </p:cNvPr>
          <p:cNvCxnSpPr>
            <a:cxnSpLocks/>
          </p:cNvCxnSpPr>
          <p:nvPr/>
        </p:nvCxnSpPr>
        <p:spPr>
          <a:xfrm flipV="1">
            <a:off x="8397615" y="4350006"/>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0EAE4E45-971E-69D2-FBF1-7EE2D38BE53E}"/>
              </a:ext>
            </a:extLst>
          </p:cNvPr>
          <p:cNvSpPr txBox="1"/>
          <p:nvPr/>
        </p:nvSpPr>
        <p:spPr>
          <a:xfrm>
            <a:off x="2161384" y="3029546"/>
            <a:ext cx="2474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          are       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矩形: 圓角 43">
            <a:extLst>
              <a:ext uri="{FF2B5EF4-FFF2-40B4-BE49-F238E27FC236}">
                <a16:creationId xmlns:a16="http://schemas.microsoft.com/office/drawing/2014/main" id="{78762FC2-A5F9-80D8-7542-17441ABA43DF}"/>
              </a:ext>
            </a:extLst>
          </p:cNvPr>
          <p:cNvSpPr/>
          <p:nvPr/>
        </p:nvSpPr>
        <p:spPr>
          <a:xfrm>
            <a:off x="2158106" y="2043080"/>
            <a:ext cx="9027979" cy="518896"/>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Aggregator</a:t>
            </a:r>
            <a:r>
              <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(several attention layers)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EE3FEF9C-0D4B-F536-D2FE-49FBDA76B3FC}"/>
              </a:ext>
            </a:extLst>
          </p:cNvPr>
          <p:cNvSpPr txBox="1"/>
          <p:nvPr/>
        </p:nvSpPr>
        <p:spPr>
          <a:xfrm>
            <a:off x="1071342" y="2946913"/>
            <a:ext cx="1086764"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query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矩形: 圓角 45">
            <a:extLst>
              <a:ext uri="{FF2B5EF4-FFF2-40B4-BE49-F238E27FC236}">
                <a16:creationId xmlns:a16="http://schemas.microsoft.com/office/drawing/2014/main" id="{3F5540F0-4417-B6EC-A22B-E0593954CDCD}"/>
              </a:ext>
            </a:extLst>
          </p:cNvPr>
          <p:cNvSpPr/>
          <p:nvPr/>
        </p:nvSpPr>
        <p:spPr>
          <a:xfrm>
            <a:off x="6758565" y="1282097"/>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矩形: 圓角 46">
            <a:extLst>
              <a:ext uri="{FF2B5EF4-FFF2-40B4-BE49-F238E27FC236}">
                <a16:creationId xmlns:a16="http://schemas.microsoft.com/office/drawing/2014/main" id="{37F3EEBE-5A04-B9E9-845D-962E1B7E9262}"/>
              </a:ext>
            </a:extLst>
          </p:cNvPr>
          <p:cNvSpPr/>
          <p:nvPr/>
        </p:nvSpPr>
        <p:spPr>
          <a:xfrm>
            <a:off x="8496260" y="1288192"/>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矩形: 圓角 47">
            <a:extLst>
              <a:ext uri="{FF2B5EF4-FFF2-40B4-BE49-F238E27FC236}">
                <a16:creationId xmlns:a16="http://schemas.microsoft.com/office/drawing/2014/main" id="{C7CA8D36-5BA3-2F9A-736A-1AC48293F4F8}"/>
              </a:ext>
            </a:extLst>
          </p:cNvPr>
          <p:cNvSpPr/>
          <p:nvPr/>
        </p:nvSpPr>
        <p:spPr>
          <a:xfrm>
            <a:off x="10242230" y="1287921"/>
            <a:ext cx="540000"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9" name="矩形: 圓角 48">
            <a:extLst>
              <a:ext uri="{FF2B5EF4-FFF2-40B4-BE49-F238E27FC236}">
                <a16:creationId xmlns:a16="http://schemas.microsoft.com/office/drawing/2014/main" id="{49E863DE-1B1E-CA68-B4FB-A9DA969033F0}"/>
              </a:ext>
            </a:extLst>
          </p:cNvPr>
          <p:cNvSpPr/>
          <p:nvPr/>
        </p:nvSpPr>
        <p:spPr>
          <a:xfrm>
            <a:off x="5985639" y="216860"/>
            <a:ext cx="5188122" cy="698391"/>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lang="en-US" altLang="zh-TW" sz="2800" dirty="0" err="1">
                <a:solidFill>
                  <a:prstClr val="black"/>
                </a:solidFill>
              </a:rPr>
              <a:t>Detokenizer</a:t>
            </a:r>
            <a:endParaRPr lang="zh-TW" altLang="en-US" sz="2800" dirty="0">
              <a:solidFill>
                <a:prstClr val="black"/>
              </a:solidFill>
            </a:endParaRPr>
          </a:p>
        </p:txBody>
      </p:sp>
      <p:sp>
        <p:nvSpPr>
          <p:cNvPr id="50" name="文字方塊 49">
            <a:extLst>
              <a:ext uri="{FF2B5EF4-FFF2-40B4-BE49-F238E27FC236}">
                <a16:creationId xmlns:a16="http://schemas.microsoft.com/office/drawing/2014/main" id="{FC536196-3F9D-4BCC-CAB7-6E30D48D4489}"/>
              </a:ext>
            </a:extLst>
          </p:cNvPr>
          <p:cNvSpPr txBox="1"/>
          <p:nvPr/>
        </p:nvSpPr>
        <p:spPr>
          <a:xfrm>
            <a:off x="6021752" y="1246875"/>
            <a:ext cx="6992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how</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文字方塊 50">
            <a:extLst>
              <a:ext uri="{FF2B5EF4-FFF2-40B4-BE49-F238E27FC236}">
                <a16:creationId xmlns:a16="http://schemas.microsoft.com/office/drawing/2014/main" id="{E4142447-2DC7-A3E7-D93A-80BE468690ED}"/>
              </a:ext>
            </a:extLst>
          </p:cNvPr>
          <p:cNvSpPr txBox="1"/>
          <p:nvPr/>
        </p:nvSpPr>
        <p:spPr>
          <a:xfrm>
            <a:off x="7725236" y="1255268"/>
            <a:ext cx="6992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are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文字方塊 51">
            <a:extLst>
              <a:ext uri="{FF2B5EF4-FFF2-40B4-BE49-F238E27FC236}">
                <a16:creationId xmlns:a16="http://schemas.microsoft.com/office/drawing/2014/main" id="{997D8650-5675-E8E7-718A-C3B79E86E37C}"/>
              </a:ext>
            </a:extLst>
          </p:cNvPr>
          <p:cNvSpPr txBox="1"/>
          <p:nvPr/>
        </p:nvSpPr>
        <p:spPr>
          <a:xfrm>
            <a:off x="9479200" y="1248267"/>
            <a:ext cx="6992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you</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53" name="群組 52">
            <a:extLst>
              <a:ext uri="{FF2B5EF4-FFF2-40B4-BE49-F238E27FC236}">
                <a16:creationId xmlns:a16="http://schemas.microsoft.com/office/drawing/2014/main" id="{D502048B-6C2C-46E9-5294-F7F17E3C6C1F}"/>
              </a:ext>
            </a:extLst>
          </p:cNvPr>
          <p:cNvGrpSpPr/>
          <p:nvPr/>
        </p:nvGrpSpPr>
        <p:grpSpPr>
          <a:xfrm>
            <a:off x="216432" y="102565"/>
            <a:ext cx="5373356" cy="830012"/>
            <a:chOff x="393073" y="5022255"/>
            <a:chExt cx="2117030" cy="878286"/>
          </a:xfrm>
        </p:grpSpPr>
        <p:pic>
          <p:nvPicPr>
            <p:cNvPr id="54"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EB15E6EB-9B51-6788-4CE0-8180527D8730}"/>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55"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94F1D58-5C5D-D87F-0666-3D5CD658302E}"/>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cxnSp>
        <p:nvCxnSpPr>
          <p:cNvPr id="56" name="直線單箭頭接點 55">
            <a:extLst>
              <a:ext uri="{FF2B5EF4-FFF2-40B4-BE49-F238E27FC236}">
                <a16:creationId xmlns:a16="http://schemas.microsoft.com/office/drawing/2014/main" id="{FA8FF949-FBAC-C6D1-5041-37745D7A26BD}"/>
              </a:ext>
            </a:extLst>
          </p:cNvPr>
          <p:cNvCxnSpPr>
            <a:cxnSpLocks/>
          </p:cNvCxnSpPr>
          <p:nvPr/>
        </p:nvCxnSpPr>
        <p:spPr>
          <a:xfrm rot="16200000" flipV="1">
            <a:off x="5722763" y="286050"/>
            <a:ext cx="0" cy="52575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22CF183A-5B19-3B0B-B8C0-B0628ACCD233}"/>
              </a:ext>
            </a:extLst>
          </p:cNvPr>
          <p:cNvCxnSpPr>
            <a:cxnSpLocks/>
          </p:cNvCxnSpPr>
          <p:nvPr/>
        </p:nvCxnSpPr>
        <p:spPr>
          <a:xfrm flipV="1">
            <a:off x="8397615" y="2526294"/>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1FD20317-2454-8EB4-1E6A-9F3439E63C52}"/>
              </a:ext>
            </a:extLst>
          </p:cNvPr>
          <p:cNvCxnSpPr>
            <a:cxnSpLocks/>
          </p:cNvCxnSpPr>
          <p:nvPr/>
        </p:nvCxnSpPr>
        <p:spPr>
          <a:xfrm flipV="1">
            <a:off x="2619115" y="2538994"/>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545499EF-7CBB-F165-706E-407DA106FD65}"/>
              </a:ext>
            </a:extLst>
          </p:cNvPr>
          <p:cNvCxnSpPr>
            <a:cxnSpLocks/>
          </p:cNvCxnSpPr>
          <p:nvPr/>
        </p:nvCxnSpPr>
        <p:spPr>
          <a:xfrm flipV="1">
            <a:off x="7041085" y="1644047"/>
            <a:ext cx="0" cy="3847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1DC1AE62-6784-DE9D-2F12-15D51F668A24}"/>
              </a:ext>
            </a:extLst>
          </p:cNvPr>
          <p:cNvCxnSpPr>
            <a:cxnSpLocks/>
          </p:cNvCxnSpPr>
          <p:nvPr/>
        </p:nvCxnSpPr>
        <p:spPr>
          <a:xfrm flipV="1">
            <a:off x="8778960" y="1677083"/>
            <a:ext cx="0" cy="3847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2852A56B-CCF6-1E88-09B4-08A1F7297FAE}"/>
              </a:ext>
            </a:extLst>
          </p:cNvPr>
          <p:cNvCxnSpPr>
            <a:cxnSpLocks/>
          </p:cNvCxnSpPr>
          <p:nvPr/>
        </p:nvCxnSpPr>
        <p:spPr>
          <a:xfrm flipV="1">
            <a:off x="10512230" y="1644047"/>
            <a:ext cx="0" cy="3847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E761BB56-728D-4171-DDE6-DCCED1C5F243}"/>
              </a:ext>
            </a:extLst>
          </p:cNvPr>
          <p:cNvCxnSpPr>
            <a:cxnSpLocks/>
          </p:cNvCxnSpPr>
          <p:nvPr/>
        </p:nvCxnSpPr>
        <p:spPr>
          <a:xfrm flipV="1">
            <a:off x="3492874" y="2561976"/>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275C934E-7082-CA0E-2A4C-D4785D5B691D}"/>
              </a:ext>
            </a:extLst>
          </p:cNvPr>
          <p:cNvCxnSpPr>
            <a:cxnSpLocks/>
          </p:cNvCxnSpPr>
          <p:nvPr/>
        </p:nvCxnSpPr>
        <p:spPr>
          <a:xfrm flipV="1">
            <a:off x="4191374" y="2580835"/>
            <a:ext cx="0" cy="50325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5FF5CE5A-B3E0-31FD-B9AE-5D2DAA6D3782}"/>
              </a:ext>
            </a:extLst>
          </p:cNvPr>
          <p:cNvCxnSpPr>
            <a:cxnSpLocks/>
          </p:cNvCxnSpPr>
          <p:nvPr/>
        </p:nvCxnSpPr>
        <p:spPr>
          <a:xfrm flipV="1">
            <a:off x="6332042" y="932577"/>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D8CA6A9E-295A-D8DC-F548-42DB5A0118BB}"/>
              </a:ext>
            </a:extLst>
          </p:cNvPr>
          <p:cNvCxnSpPr>
            <a:cxnSpLocks/>
          </p:cNvCxnSpPr>
          <p:nvPr/>
        </p:nvCxnSpPr>
        <p:spPr>
          <a:xfrm flipV="1">
            <a:off x="7036480" y="915251"/>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DC7BAE36-E9A5-47FB-6B19-954E957297A5}"/>
              </a:ext>
            </a:extLst>
          </p:cNvPr>
          <p:cNvCxnSpPr>
            <a:cxnSpLocks/>
          </p:cNvCxnSpPr>
          <p:nvPr/>
        </p:nvCxnSpPr>
        <p:spPr>
          <a:xfrm flipV="1">
            <a:off x="8060766" y="910118"/>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a:extLst>
              <a:ext uri="{FF2B5EF4-FFF2-40B4-BE49-F238E27FC236}">
                <a16:creationId xmlns:a16="http://schemas.microsoft.com/office/drawing/2014/main" id="{2DF2D415-951F-A0D4-1412-DA0BB711279A}"/>
              </a:ext>
            </a:extLst>
          </p:cNvPr>
          <p:cNvCxnSpPr>
            <a:cxnSpLocks/>
          </p:cNvCxnSpPr>
          <p:nvPr/>
        </p:nvCxnSpPr>
        <p:spPr>
          <a:xfrm flipV="1">
            <a:off x="8778960" y="932577"/>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A2D9281B-47CB-0B98-18A6-F974D00052BB}"/>
              </a:ext>
            </a:extLst>
          </p:cNvPr>
          <p:cNvCxnSpPr>
            <a:cxnSpLocks/>
          </p:cNvCxnSpPr>
          <p:nvPr/>
        </p:nvCxnSpPr>
        <p:spPr>
          <a:xfrm flipV="1">
            <a:off x="9785335" y="939730"/>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a16="http://schemas.microsoft.com/office/drawing/2014/main" id="{E02C2962-172A-8A28-C10B-73BFB5B1ABD1}"/>
              </a:ext>
            </a:extLst>
          </p:cNvPr>
          <p:cNvCxnSpPr>
            <a:cxnSpLocks/>
          </p:cNvCxnSpPr>
          <p:nvPr/>
        </p:nvCxnSpPr>
        <p:spPr>
          <a:xfrm flipV="1">
            <a:off x="10528190" y="958229"/>
            <a:ext cx="0" cy="3451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 name="直線單箭頭接點 1">
            <a:extLst>
              <a:ext uri="{FF2B5EF4-FFF2-40B4-BE49-F238E27FC236}">
                <a16:creationId xmlns:a16="http://schemas.microsoft.com/office/drawing/2014/main" id="{1D3F458C-105F-B356-F753-8BC89F4CE04A}"/>
              </a:ext>
            </a:extLst>
          </p:cNvPr>
          <p:cNvCxnSpPr>
            <a:cxnSpLocks/>
          </p:cNvCxnSpPr>
          <p:nvPr/>
        </p:nvCxnSpPr>
        <p:spPr>
          <a:xfrm flipV="1">
            <a:off x="684499" y="919586"/>
            <a:ext cx="0" cy="5434513"/>
          </a:xfrm>
          <a:prstGeom prst="straightConnector1">
            <a:avLst/>
          </a:prstGeom>
          <a:ln w="57150">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82A89420-1C08-D929-E910-61F72B386500}"/>
              </a:ext>
            </a:extLst>
          </p:cNvPr>
          <p:cNvCxnSpPr>
            <a:cxnSpLocks/>
          </p:cNvCxnSpPr>
          <p:nvPr/>
        </p:nvCxnSpPr>
        <p:spPr>
          <a:xfrm>
            <a:off x="652393" y="6354099"/>
            <a:ext cx="4937395" cy="0"/>
          </a:xfrm>
          <a:prstGeom prst="straightConnector1">
            <a:avLst/>
          </a:prstGeom>
          <a:ln w="57150">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7" name="文字方塊 76">
            <a:extLst>
              <a:ext uri="{FF2B5EF4-FFF2-40B4-BE49-F238E27FC236}">
                <a16:creationId xmlns:a16="http://schemas.microsoft.com/office/drawing/2014/main" id="{3DD43E68-9B14-AFF2-703C-17DA919DA98E}"/>
              </a:ext>
            </a:extLst>
          </p:cNvPr>
          <p:cNvSpPr txBox="1"/>
          <p:nvPr/>
        </p:nvSpPr>
        <p:spPr>
          <a:xfrm>
            <a:off x="1055985" y="3770593"/>
            <a:ext cx="4813223"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TASTE (Text-Aligned Speech Tokenization and Embedding)</a:t>
            </a:r>
            <a:endParaRPr kumimoji="0" lang="zh-TW" altLang="en-US"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9" name="文字方塊 78">
            <a:extLst>
              <a:ext uri="{FF2B5EF4-FFF2-40B4-BE49-F238E27FC236}">
                <a16:creationId xmlns:a16="http://schemas.microsoft.com/office/drawing/2014/main" id="{AF151700-1FDE-FD29-E554-2ADA9BA2BD99}"/>
              </a:ext>
            </a:extLst>
          </p:cNvPr>
          <p:cNvSpPr txBox="1"/>
          <p:nvPr/>
        </p:nvSpPr>
        <p:spPr>
          <a:xfrm>
            <a:off x="996723" y="5814787"/>
            <a:ext cx="39948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Minimize reconstruction error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文字方塊 2">
            <a:extLst>
              <a:ext uri="{FF2B5EF4-FFF2-40B4-BE49-F238E27FC236}">
                <a16:creationId xmlns:a16="http://schemas.microsoft.com/office/drawing/2014/main" id="{4E145F74-BC69-38E8-5781-CDEF2A43F6BD}"/>
              </a:ext>
            </a:extLst>
          </p:cNvPr>
          <p:cNvSpPr txBox="1"/>
          <p:nvPr/>
        </p:nvSpPr>
        <p:spPr>
          <a:xfrm>
            <a:off x="11039472" y="3112209"/>
            <a:ext cx="60507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key</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文字方塊 36">
            <a:extLst>
              <a:ext uri="{FF2B5EF4-FFF2-40B4-BE49-F238E27FC236}">
                <a16:creationId xmlns:a16="http://schemas.microsoft.com/office/drawing/2014/main" id="{8F5193A4-725A-E514-D711-BD53848FADF1}"/>
              </a:ext>
            </a:extLst>
          </p:cNvPr>
          <p:cNvSpPr txBox="1"/>
          <p:nvPr/>
        </p:nvSpPr>
        <p:spPr>
          <a:xfrm>
            <a:off x="11017576" y="3737124"/>
            <a:ext cx="11744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value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6892512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字方塊 15">
            <a:extLst>
              <a:ext uri="{FF2B5EF4-FFF2-40B4-BE49-F238E27FC236}">
                <a16:creationId xmlns:a16="http://schemas.microsoft.com/office/drawing/2014/main" id="{B42396F2-06D8-7AB8-B28C-1DFD2776814E}"/>
              </a:ext>
            </a:extLst>
          </p:cNvPr>
          <p:cNvSpPr txBox="1"/>
          <p:nvPr/>
        </p:nvSpPr>
        <p:spPr>
          <a:xfrm>
            <a:off x="467777" y="6159484"/>
            <a:ext cx="603845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 but now Murdoch </a:t>
            </a:r>
            <a:r>
              <a:rPr kumimoji="0" lang="en-US" altLang="zh-TW" sz="1800" b="1"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came around to</a:t>
            </a: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 stare at the gang …</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endParaRPr>
          </a:p>
        </p:txBody>
      </p:sp>
      <p:sp>
        <p:nvSpPr>
          <p:cNvPr id="17" name="文字方塊 16">
            <a:extLst>
              <a:ext uri="{FF2B5EF4-FFF2-40B4-BE49-F238E27FC236}">
                <a16:creationId xmlns:a16="http://schemas.microsoft.com/office/drawing/2014/main" id="{286D9622-BFA0-FC2B-46BB-2A95A38D058E}"/>
              </a:ext>
            </a:extLst>
          </p:cNvPr>
          <p:cNvSpPr txBox="1"/>
          <p:nvPr/>
        </p:nvSpPr>
        <p:spPr>
          <a:xfrm>
            <a:off x="6263992" y="6262993"/>
            <a:ext cx="5603488" cy="3795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Any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news</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on </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the</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dancer‘s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assault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case?</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sp>
        <p:nvSpPr>
          <p:cNvPr id="21" name="文字方塊 20">
            <a:extLst>
              <a:ext uri="{FF2B5EF4-FFF2-40B4-BE49-F238E27FC236}">
                <a16:creationId xmlns:a16="http://schemas.microsoft.com/office/drawing/2014/main" id="{5935E8E5-982B-5A35-BF80-F9F7DEB986D4}"/>
              </a:ext>
            </a:extLst>
          </p:cNvPr>
          <p:cNvSpPr txBox="1"/>
          <p:nvPr/>
        </p:nvSpPr>
        <p:spPr>
          <a:xfrm>
            <a:off x="411504" y="2676801"/>
            <a:ext cx="603845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 but now Murdoch </a:t>
            </a:r>
            <a:r>
              <a:rPr kumimoji="0" lang="en-US" altLang="zh-TW" sz="1800" b="1"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came around to</a:t>
            </a: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 stare at the gang …</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endParaRPr>
          </a:p>
        </p:txBody>
      </p:sp>
      <p:sp>
        <p:nvSpPr>
          <p:cNvPr id="51" name="矩形: 圓角 50">
            <a:extLst>
              <a:ext uri="{FF2B5EF4-FFF2-40B4-BE49-F238E27FC236}">
                <a16:creationId xmlns:a16="http://schemas.microsoft.com/office/drawing/2014/main" id="{F9F95249-E230-9886-3DAF-C9090AF8F15D}"/>
              </a:ext>
            </a:extLst>
          </p:cNvPr>
          <p:cNvSpPr/>
          <p:nvPr/>
        </p:nvSpPr>
        <p:spPr>
          <a:xfrm>
            <a:off x="924827"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矩形: 圓角 51">
            <a:extLst>
              <a:ext uri="{FF2B5EF4-FFF2-40B4-BE49-F238E27FC236}">
                <a16:creationId xmlns:a16="http://schemas.microsoft.com/office/drawing/2014/main" id="{5220E124-49E8-4E3D-8814-2E472BE11190}"/>
              </a:ext>
            </a:extLst>
          </p:cNvPr>
          <p:cNvSpPr/>
          <p:nvPr/>
        </p:nvSpPr>
        <p:spPr>
          <a:xfrm>
            <a:off x="1478916"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3" name="矩形: 圓角 52">
            <a:extLst>
              <a:ext uri="{FF2B5EF4-FFF2-40B4-BE49-F238E27FC236}">
                <a16:creationId xmlns:a16="http://schemas.microsoft.com/office/drawing/2014/main" id="{1D276573-AE72-5388-80D1-81347D6D1CBB}"/>
              </a:ext>
            </a:extLst>
          </p:cNvPr>
          <p:cNvSpPr/>
          <p:nvPr/>
        </p:nvSpPr>
        <p:spPr>
          <a:xfrm>
            <a:off x="2033005"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4" name="矩形: 圓角 53">
            <a:extLst>
              <a:ext uri="{FF2B5EF4-FFF2-40B4-BE49-F238E27FC236}">
                <a16:creationId xmlns:a16="http://schemas.microsoft.com/office/drawing/2014/main" id="{85644576-F999-3C20-D488-8013F052CDAA}"/>
              </a:ext>
            </a:extLst>
          </p:cNvPr>
          <p:cNvSpPr/>
          <p:nvPr/>
        </p:nvSpPr>
        <p:spPr>
          <a:xfrm>
            <a:off x="2587094"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5" name="矩形: 圓角 54">
            <a:extLst>
              <a:ext uri="{FF2B5EF4-FFF2-40B4-BE49-F238E27FC236}">
                <a16:creationId xmlns:a16="http://schemas.microsoft.com/office/drawing/2014/main" id="{EA417A23-3DD9-ED08-65A8-0774DE15A3FB}"/>
              </a:ext>
            </a:extLst>
          </p:cNvPr>
          <p:cNvSpPr/>
          <p:nvPr/>
        </p:nvSpPr>
        <p:spPr>
          <a:xfrm>
            <a:off x="3141183"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6" name="矩形: 圓角 55">
            <a:extLst>
              <a:ext uri="{FF2B5EF4-FFF2-40B4-BE49-F238E27FC236}">
                <a16:creationId xmlns:a16="http://schemas.microsoft.com/office/drawing/2014/main" id="{8B5FA5C9-77F3-F376-E73F-D3A93C8DEB60}"/>
              </a:ext>
            </a:extLst>
          </p:cNvPr>
          <p:cNvSpPr/>
          <p:nvPr/>
        </p:nvSpPr>
        <p:spPr>
          <a:xfrm>
            <a:off x="3695272"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7" name="矩形: 圓角 56">
            <a:extLst>
              <a:ext uri="{FF2B5EF4-FFF2-40B4-BE49-F238E27FC236}">
                <a16:creationId xmlns:a16="http://schemas.microsoft.com/office/drawing/2014/main" id="{2857A404-4EEC-D4B6-A785-87BA4BCF6E1E}"/>
              </a:ext>
            </a:extLst>
          </p:cNvPr>
          <p:cNvSpPr/>
          <p:nvPr/>
        </p:nvSpPr>
        <p:spPr>
          <a:xfrm>
            <a:off x="4249361"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8" name="矩形: 圓角 57">
            <a:extLst>
              <a:ext uri="{FF2B5EF4-FFF2-40B4-BE49-F238E27FC236}">
                <a16:creationId xmlns:a16="http://schemas.microsoft.com/office/drawing/2014/main" id="{8A18AE83-1DD9-F635-B9D3-A0DE6B4275F1}"/>
              </a:ext>
            </a:extLst>
          </p:cNvPr>
          <p:cNvSpPr/>
          <p:nvPr/>
        </p:nvSpPr>
        <p:spPr>
          <a:xfrm>
            <a:off x="4803450"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62" name="群組 61">
            <a:extLst>
              <a:ext uri="{FF2B5EF4-FFF2-40B4-BE49-F238E27FC236}">
                <a16:creationId xmlns:a16="http://schemas.microsoft.com/office/drawing/2014/main" id="{C1482719-74E5-B849-03D9-5B810D4A2352}"/>
              </a:ext>
            </a:extLst>
          </p:cNvPr>
          <p:cNvGrpSpPr/>
          <p:nvPr/>
        </p:nvGrpSpPr>
        <p:grpSpPr>
          <a:xfrm>
            <a:off x="554654" y="5598840"/>
            <a:ext cx="5373356" cy="664153"/>
            <a:chOff x="393073" y="5022255"/>
            <a:chExt cx="2117030" cy="878286"/>
          </a:xfrm>
        </p:grpSpPr>
        <p:pic>
          <p:nvPicPr>
            <p:cNvPr id="63"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26DC502-4468-70B8-3273-2211731193A8}"/>
                </a:ext>
              </a:extLst>
            </p:cNvPr>
            <p:cNvPicPr preferRelativeResize="0"/>
            <p:nvPr/>
          </p:nvPicPr>
          <p:blipFill rotWithShape="1">
            <a:blip r:embed="rId6">
              <a:alphaModFix/>
            </a:blip>
            <a:srcRect l="39924" t="74586" r="38724" b="15732"/>
            <a:stretch/>
          </p:blipFill>
          <p:spPr>
            <a:xfrm>
              <a:off x="393073" y="5022255"/>
              <a:ext cx="1347649" cy="809022"/>
            </a:xfrm>
            <a:prstGeom prst="rect">
              <a:avLst/>
            </a:prstGeom>
            <a:noFill/>
            <a:ln>
              <a:noFill/>
            </a:ln>
          </p:spPr>
        </p:pic>
        <p:pic>
          <p:nvPicPr>
            <p:cNvPr id="64"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4914DB1-4C4D-99FA-EDE1-3323DC1524F4}"/>
                </a:ext>
              </a:extLst>
            </p:cNvPr>
            <p:cNvPicPr preferRelativeResize="0"/>
            <p:nvPr/>
          </p:nvPicPr>
          <p:blipFill rotWithShape="1">
            <a:blip r:embed="rId6">
              <a:alphaModFix/>
            </a:blip>
            <a:srcRect l="35083" t="84591" r="35071" b="1174"/>
            <a:stretch/>
          </p:blipFill>
          <p:spPr>
            <a:xfrm>
              <a:off x="1576011" y="5095308"/>
              <a:ext cx="934092" cy="805233"/>
            </a:xfrm>
            <a:prstGeom prst="rect">
              <a:avLst/>
            </a:prstGeom>
            <a:noFill/>
            <a:ln>
              <a:noFill/>
            </a:ln>
          </p:spPr>
        </p:pic>
      </p:grpSp>
      <p:grpSp>
        <p:nvGrpSpPr>
          <p:cNvPr id="65" name="群組 64">
            <a:extLst>
              <a:ext uri="{FF2B5EF4-FFF2-40B4-BE49-F238E27FC236}">
                <a16:creationId xmlns:a16="http://schemas.microsoft.com/office/drawing/2014/main" id="{6E1245F2-0C9B-345B-692B-66EFE54D77CC}"/>
              </a:ext>
            </a:extLst>
          </p:cNvPr>
          <p:cNvGrpSpPr/>
          <p:nvPr/>
        </p:nvGrpSpPr>
        <p:grpSpPr>
          <a:xfrm>
            <a:off x="607578" y="48764"/>
            <a:ext cx="5373356" cy="664153"/>
            <a:chOff x="393073" y="5022255"/>
            <a:chExt cx="2117030" cy="878286"/>
          </a:xfrm>
        </p:grpSpPr>
        <p:pic>
          <p:nvPicPr>
            <p:cNvPr id="66"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BBF1C91-55F0-28E4-525F-6AD66F9D7B79}"/>
                </a:ext>
              </a:extLst>
            </p:cNvPr>
            <p:cNvPicPr preferRelativeResize="0"/>
            <p:nvPr/>
          </p:nvPicPr>
          <p:blipFill rotWithShape="1">
            <a:blip r:embed="rId6">
              <a:alphaModFix/>
            </a:blip>
            <a:srcRect l="39924" t="74586" r="38724" b="15732"/>
            <a:stretch/>
          </p:blipFill>
          <p:spPr>
            <a:xfrm>
              <a:off x="393073" y="5022255"/>
              <a:ext cx="1347649" cy="809022"/>
            </a:xfrm>
            <a:prstGeom prst="rect">
              <a:avLst/>
            </a:prstGeom>
            <a:noFill/>
            <a:ln>
              <a:noFill/>
            </a:ln>
          </p:spPr>
        </p:pic>
        <p:pic>
          <p:nvPicPr>
            <p:cNvPr id="67"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1AF044E8-931E-1080-52B5-C84A6A2CEF33}"/>
                </a:ext>
              </a:extLst>
            </p:cNvPr>
            <p:cNvPicPr preferRelativeResize="0"/>
            <p:nvPr/>
          </p:nvPicPr>
          <p:blipFill rotWithShape="1">
            <a:blip r:embed="rId6">
              <a:alphaModFix/>
            </a:blip>
            <a:srcRect l="35083" t="84591" r="35071" b="1174"/>
            <a:stretch/>
          </p:blipFill>
          <p:spPr>
            <a:xfrm>
              <a:off x="1576011" y="5095308"/>
              <a:ext cx="934092" cy="805233"/>
            </a:xfrm>
            <a:prstGeom prst="rect">
              <a:avLst/>
            </a:prstGeom>
            <a:noFill/>
            <a:ln>
              <a:noFill/>
            </a:ln>
          </p:spPr>
        </p:pic>
      </p:grpSp>
      <p:grpSp>
        <p:nvGrpSpPr>
          <p:cNvPr id="68" name="群組 67">
            <a:extLst>
              <a:ext uri="{FF2B5EF4-FFF2-40B4-BE49-F238E27FC236}">
                <a16:creationId xmlns:a16="http://schemas.microsoft.com/office/drawing/2014/main" id="{28CAC2F5-F2D7-D42D-5042-88DC9DCA975C}"/>
              </a:ext>
            </a:extLst>
          </p:cNvPr>
          <p:cNvGrpSpPr/>
          <p:nvPr/>
        </p:nvGrpSpPr>
        <p:grpSpPr>
          <a:xfrm>
            <a:off x="7708926" y="5696289"/>
            <a:ext cx="2857015" cy="664153"/>
            <a:chOff x="393073" y="5022255"/>
            <a:chExt cx="2117030" cy="878286"/>
          </a:xfrm>
        </p:grpSpPr>
        <p:pic>
          <p:nvPicPr>
            <p:cNvPr id="69"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8E42588-FF3F-309C-3413-C206B9016F45}"/>
                </a:ext>
              </a:extLst>
            </p:cNvPr>
            <p:cNvPicPr preferRelativeResize="0"/>
            <p:nvPr/>
          </p:nvPicPr>
          <p:blipFill rotWithShape="1">
            <a:blip r:embed="rId6">
              <a:alphaModFix/>
            </a:blip>
            <a:srcRect l="39924" t="74586" r="38724" b="15732"/>
            <a:stretch/>
          </p:blipFill>
          <p:spPr>
            <a:xfrm>
              <a:off x="393073" y="5022255"/>
              <a:ext cx="1347649" cy="809022"/>
            </a:xfrm>
            <a:prstGeom prst="rect">
              <a:avLst/>
            </a:prstGeom>
            <a:noFill/>
            <a:ln>
              <a:noFill/>
            </a:ln>
          </p:spPr>
        </p:pic>
        <p:pic>
          <p:nvPicPr>
            <p:cNvPr id="70"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1AE9271-BB1C-1701-F854-53F228CD8519}"/>
                </a:ext>
              </a:extLst>
            </p:cNvPr>
            <p:cNvPicPr preferRelativeResize="0"/>
            <p:nvPr/>
          </p:nvPicPr>
          <p:blipFill rotWithShape="1">
            <a:blip r:embed="rId6">
              <a:alphaModFix/>
            </a:blip>
            <a:srcRect l="35083" t="84591" r="35071" b="1174"/>
            <a:stretch/>
          </p:blipFill>
          <p:spPr>
            <a:xfrm>
              <a:off x="1576011" y="5095308"/>
              <a:ext cx="934092" cy="805233"/>
            </a:xfrm>
            <a:prstGeom prst="rect">
              <a:avLst/>
            </a:prstGeom>
            <a:noFill/>
            <a:ln>
              <a:noFill/>
            </a:ln>
          </p:spPr>
        </p:pic>
      </p:grpSp>
      <p:grpSp>
        <p:nvGrpSpPr>
          <p:cNvPr id="91" name="群組 90">
            <a:extLst>
              <a:ext uri="{FF2B5EF4-FFF2-40B4-BE49-F238E27FC236}">
                <a16:creationId xmlns:a16="http://schemas.microsoft.com/office/drawing/2014/main" id="{BDEBCABB-781C-B09D-CA46-3C6036E9F425}"/>
              </a:ext>
            </a:extLst>
          </p:cNvPr>
          <p:cNvGrpSpPr/>
          <p:nvPr/>
        </p:nvGrpSpPr>
        <p:grpSpPr>
          <a:xfrm>
            <a:off x="7853199" y="74953"/>
            <a:ext cx="2857015" cy="664153"/>
            <a:chOff x="393073" y="5022255"/>
            <a:chExt cx="2117030" cy="878286"/>
          </a:xfrm>
        </p:grpSpPr>
        <p:pic>
          <p:nvPicPr>
            <p:cNvPr id="92"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B1EB9B8-B86A-F1B6-C191-B2387193ECD1}"/>
                </a:ext>
              </a:extLst>
            </p:cNvPr>
            <p:cNvPicPr preferRelativeResize="0"/>
            <p:nvPr/>
          </p:nvPicPr>
          <p:blipFill rotWithShape="1">
            <a:blip r:embed="rId6">
              <a:alphaModFix/>
            </a:blip>
            <a:srcRect l="39924" t="74586" r="38724" b="15732"/>
            <a:stretch/>
          </p:blipFill>
          <p:spPr>
            <a:xfrm>
              <a:off x="393073" y="5022255"/>
              <a:ext cx="1347649" cy="809022"/>
            </a:xfrm>
            <a:prstGeom prst="rect">
              <a:avLst/>
            </a:prstGeom>
            <a:noFill/>
            <a:ln>
              <a:noFill/>
            </a:ln>
          </p:spPr>
        </p:pic>
        <p:pic>
          <p:nvPicPr>
            <p:cNvPr id="93"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8B3C748-6CBD-21A1-4938-6FD68934A993}"/>
                </a:ext>
              </a:extLst>
            </p:cNvPr>
            <p:cNvPicPr preferRelativeResize="0"/>
            <p:nvPr/>
          </p:nvPicPr>
          <p:blipFill rotWithShape="1">
            <a:blip r:embed="rId6">
              <a:alphaModFix/>
            </a:blip>
            <a:srcRect l="35083" t="84591" r="35071" b="1174"/>
            <a:stretch/>
          </p:blipFill>
          <p:spPr>
            <a:xfrm>
              <a:off x="1576011" y="5095308"/>
              <a:ext cx="934092" cy="805233"/>
            </a:xfrm>
            <a:prstGeom prst="rect">
              <a:avLst/>
            </a:prstGeom>
            <a:noFill/>
            <a:ln>
              <a:noFill/>
            </a:ln>
          </p:spPr>
        </p:pic>
      </p:grpSp>
      <p:cxnSp>
        <p:nvCxnSpPr>
          <p:cNvPr id="99" name="直線單箭頭接點 98">
            <a:extLst>
              <a:ext uri="{FF2B5EF4-FFF2-40B4-BE49-F238E27FC236}">
                <a16:creationId xmlns:a16="http://schemas.microsoft.com/office/drawing/2014/main" id="{2A5735C6-7053-339C-2A5B-7BBF0A3452C1}"/>
              </a:ext>
            </a:extLst>
          </p:cNvPr>
          <p:cNvCxnSpPr>
            <a:cxnSpLocks/>
          </p:cNvCxnSpPr>
          <p:nvPr/>
        </p:nvCxnSpPr>
        <p:spPr>
          <a:xfrm flipV="1">
            <a:off x="3151365" y="3539036"/>
            <a:ext cx="0" cy="533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CF5A8DB5-CBE6-3D7F-33C1-1778C3DF8CD9}"/>
              </a:ext>
            </a:extLst>
          </p:cNvPr>
          <p:cNvCxnSpPr>
            <a:cxnSpLocks/>
          </p:cNvCxnSpPr>
          <p:nvPr/>
        </p:nvCxnSpPr>
        <p:spPr>
          <a:xfrm flipV="1">
            <a:off x="3113265" y="1803838"/>
            <a:ext cx="0" cy="4137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a:extLst>
              <a:ext uri="{FF2B5EF4-FFF2-40B4-BE49-F238E27FC236}">
                <a16:creationId xmlns:a16="http://schemas.microsoft.com/office/drawing/2014/main" id="{3825BDE1-B52D-B853-D54B-EC449139F86F}"/>
              </a:ext>
            </a:extLst>
          </p:cNvPr>
          <p:cNvCxnSpPr>
            <a:cxnSpLocks/>
          </p:cNvCxnSpPr>
          <p:nvPr/>
        </p:nvCxnSpPr>
        <p:spPr>
          <a:xfrm flipV="1">
            <a:off x="3113265" y="686729"/>
            <a:ext cx="0" cy="4137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7D20269D-47C3-8C19-3485-ACA228E02F73}"/>
              </a:ext>
            </a:extLst>
          </p:cNvPr>
          <p:cNvCxnSpPr>
            <a:cxnSpLocks/>
          </p:cNvCxnSpPr>
          <p:nvPr/>
        </p:nvCxnSpPr>
        <p:spPr>
          <a:xfrm flipV="1">
            <a:off x="3151365" y="5176745"/>
            <a:ext cx="0" cy="533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矩形: 圓角 5">
            <a:extLst>
              <a:ext uri="{FF2B5EF4-FFF2-40B4-BE49-F238E27FC236}">
                <a16:creationId xmlns:a16="http://schemas.microsoft.com/office/drawing/2014/main" id="{7DF0B03A-3199-49BE-5F1C-9D7833377837}"/>
              </a:ext>
            </a:extLst>
          </p:cNvPr>
          <p:cNvSpPr/>
          <p:nvPr/>
        </p:nvSpPr>
        <p:spPr>
          <a:xfrm>
            <a:off x="634107" y="1055598"/>
            <a:ext cx="5075388" cy="1117388"/>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lang="en-US" altLang="zh-TW" sz="2400" dirty="0" err="1">
                <a:solidFill>
                  <a:prstClr val="black"/>
                </a:solidFill>
              </a:rPr>
              <a:t>Detokenizer</a:t>
            </a:r>
            <a:endParaRPr lang="zh-TW" altLang="en-US" sz="2400" dirty="0">
              <a:solidFill>
                <a:prstClr val="black"/>
              </a:solidFill>
            </a:endParaRPr>
          </a:p>
        </p:txBody>
      </p:sp>
      <p:sp>
        <p:nvSpPr>
          <p:cNvPr id="19" name="矩形: 圓角 18">
            <a:extLst>
              <a:ext uri="{FF2B5EF4-FFF2-40B4-BE49-F238E27FC236}">
                <a16:creationId xmlns:a16="http://schemas.microsoft.com/office/drawing/2014/main" id="{AC3BE526-8ECD-54F7-A3BF-11EF691CA6D8}"/>
              </a:ext>
            </a:extLst>
          </p:cNvPr>
          <p:cNvSpPr/>
          <p:nvPr/>
        </p:nvSpPr>
        <p:spPr>
          <a:xfrm>
            <a:off x="634107" y="3952596"/>
            <a:ext cx="5075388" cy="1117388"/>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lvl="0" algn="ctr">
              <a:defRPr/>
            </a:pPr>
            <a:r>
              <a:rPr lang="en-US" altLang="zh-TW" sz="2400" dirty="0">
                <a:solidFill>
                  <a:prstClr val="black"/>
                </a:solidFill>
              </a:rPr>
              <a:t>Tokenizer</a:t>
            </a:r>
            <a:endParaRPr lang="zh-TW" altLang="en-US" sz="2400" dirty="0">
              <a:solidFill>
                <a:prstClr val="black"/>
              </a:solidFill>
            </a:endParaRPr>
          </a:p>
        </p:txBody>
      </p:sp>
      <p:sp>
        <p:nvSpPr>
          <p:cNvPr id="8" name="文字方塊 7">
            <a:extLst>
              <a:ext uri="{FF2B5EF4-FFF2-40B4-BE49-F238E27FC236}">
                <a16:creationId xmlns:a16="http://schemas.microsoft.com/office/drawing/2014/main" id="{F4215758-234B-7254-9AEE-93F41B2892CB}"/>
              </a:ext>
            </a:extLst>
          </p:cNvPr>
          <p:cNvSpPr txBox="1"/>
          <p:nvPr/>
        </p:nvSpPr>
        <p:spPr>
          <a:xfrm>
            <a:off x="5235897" y="3060399"/>
            <a:ext cx="5885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id="{4BA7A683-ABE2-0E13-1339-ECD74E6BC2F9}"/>
              </a:ext>
            </a:extLst>
          </p:cNvPr>
          <p:cNvSpPr txBox="1"/>
          <p:nvPr/>
        </p:nvSpPr>
        <p:spPr>
          <a:xfrm>
            <a:off x="409038" y="3025310"/>
            <a:ext cx="5885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0" name="直線單箭頭接點 9">
            <a:extLst>
              <a:ext uri="{FF2B5EF4-FFF2-40B4-BE49-F238E27FC236}">
                <a16:creationId xmlns:a16="http://schemas.microsoft.com/office/drawing/2014/main" id="{322CDF0F-A928-CEB2-2FDE-F11A405B63AE}"/>
              </a:ext>
            </a:extLst>
          </p:cNvPr>
          <p:cNvCxnSpPr>
            <a:cxnSpLocks/>
          </p:cNvCxnSpPr>
          <p:nvPr/>
        </p:nvCxnSpPr>
        <p:spPr>
          <a:xfrm flipV="1">
            <a:off x="3127779" y="2232147"/>
            <a:ext cx="0" cy="45916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399C4AB8-3A51-8EAD-3CB7-1A8D1D0CA1C2}"/>
              </a:ext>
            </a:extLst>
          </p:cNvPr>
          <p:cNvSpPr txBox="1"/>
          <p:nvPr/>
        </p:nvSpPr>
        <p:spPr>
          <a:xfrm>
            <a:off x="6153544" y="2700372"/>
            <a:ext cx="603845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Any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news</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on </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the</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dancer‘s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assault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case?</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BCD14381-FF0E-2F51-024B-75932818B04A}"/>
              </a:ext>
            </a:extLst>
          </p:cNvPr>
          <p:cNvSpPr/>
          <p:nvPr/>
        </p:nvSpPr>
        <p:spPr>
          <a:xfrm>
            <a:off x="7107714"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A70C66A3-67E2-5B77-9E97-AF58BC2DAC57}"/>
              </a:ext>
            </a:extLst>
          </p:cNvPr>
          <p:cNvSpPr/>
          <p:nvPr/>
        </p:nvSpPr>
        <p:spPr>
          <a:xfrm>
            <a:off x="7625196"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C57F33F3-B53D-5879-18C0-1113DE559765}"/>
              </a:ext>
            </a:extLst>
          </p:cNvPr>
          <p:cNvSpPr/>
          <p:nvPr/>
        </p:nvSpPr>
        <p:spPr>
          <a:xfrm>
            <a:off x="8142678"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EA1AD0CE-476C-972F-BA4B-2BC7ACC11A66}"/>
              </a:ext>
            </a:extLst>
          </p:cNvPr>
          <p:cNvSpPr/>
          <p:nvPr/>
        </p:nvSpPr>
        <p:spPr>
          <a:xfrm>
            <a:off x="8660160"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F5C3B0C5-8F1E-7CE8-7340-1F595ACF0532}"/>
              </a:ext>
            </a:extLst>
          </p:cNvPr>
          <p:cNvSpPr/>
          <p:nvPr/>
        </p:nvSpPr>
        <p:spPr>
          <a:xfrm>
            <a:off x="9695124"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411E6216-3398-E15A-8FEF-D38F801A64F7}"/>
              </a:ext>
            </a:extLst>
          </p:cNvPr>
          <p:cNvSpPr/>
          <p:nvPr/>
        </p:nvSpPr>
        <p:spPr>
          <a:xfrm>
            <a:off x="10212606"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97B2AF94-48AC-2E7B-3717-B92AFEA0EABA}"/>
              </a:ext>
            </a:extLst>
          </p:cNvPr>
          <p:cNvSpPr/>
          <p:nvPr/>
        </p:nvSpPr>
        <p:spPr>
          <a:xfrm>
            <a:off x="10730086"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8" name="直線單箭頭接點 27">
            <a:extLst>
              <a:ext uri="{FF2B5EF4-FFF2-40B4-BE49-F238E27FC236}">
                <a16:creationId xmlns:a16="http://schemas.microsoft.com/office/drawing/2014/main" id="{DFD8912E-F19A-0229-3525-8F6ECCA820BC}"/>
              </a:ext>
            </a:extLst>
          </p:cNvPr>
          <p:cNvCxnSpPr>
            <a:cxnSpLocks/>
          </p:cNvCxnSpPr>
          <p:nvPr/>
        </p:nvCxnSpPr>
        <p:spPr>
          <a:xfrm flipV="1">
            <a:off x="9145799" y="3562607"/>
            <a:ext cx="0" cy="533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BEB5443A-E5DB-AB23-5581-6BD052610C6C}"/>
              </a:ext>
            </a:extLst>
          </p:cNvPr>
          <p:cNvCxnSpPr>
            <a:cxnSpLocks/>
          </p:cNvCxnSpPr>
          <p:nvPr/>
        </p:nvCxnSpPr>
        <p:spPr>
          <a:xfrm flipV="1">
            <a:off x="9107699" y="1827409"/>
            <a:ext cx="0" cy="4137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3DB31F34-5F61-8E47-D7BF-4EBB8F09C296}"/>
              </a:ext>
            </a:extLst>
          </p:cNvPr>
          <p:cNvCxnSpPr>
            <a:cxnSpLocks/>
          </p:cNvCxnSpPr>
          <p:nvPr/>
        </p:nvCxnSpPr>
        <p:spPr>
          <a:xfrm flipV="1">
            <a:off x="9107699" y="710300"/>
            <a:ext cx="0" cy="4137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888E279F-9B2B-EE59-CAFE-01B5BF1A8C2E}"/>
              </a:ext>
            </a:extLst>
          </p:cNvPr>
          <p:cNvCxnSpPr>
            <a:cxnSpLocks/>
          </p:cNvCxnSpPr>
          <p:nvPr/>
        </p:nvCxnSpPr>
        <p:spPr>
          <a:xfrm flipV="1">
            <a:off x="9145799" y="5200316"/>
            <a:ext cx="0" cy="533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圓角 31">
            <a:extLst>
              <a:ext uri="{FF2B5EF4-FFF2-40B4-BE49-F238E27FC236}">
                <a16:creationId xmlns:a16="http://schemas.microsoft.com/office/drawing/2014/main" id="{1D5638B6-ED5C-75A8-B69D-383AE5A45BC5}"/>
              </a:ext>
            </a:extLst>
          </p:cNvPr>
          <p:cNvSpPr/>
          <p:nvPr/>
        </p:nvSpPr>
        <p:spPr>
          <a:xfrm>
            <a:off x="6628541" y="1079169"/>
            <a:ext cx="5075388" cy="1117388"/>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lang="en-US" altLang="zh-TW" sz="2400" dirty="0" err="1">
                <a:solidFill>
                  <a:prstClr val="black"/>
                </a:solidFill>
              </a:rPr>
              <a:t>Detokenizer</a:t>
            </a:r>
            <a:endParaRPr lang="zh-TW" altLang="en-US" sz="2400" dirty="0">
              <a:solidFill>
                <a:prstClr val="black"/>
              </a:solidFill>
            </a:endParaRPr>
          </a:p>
        </p:txBody>
      </p:sp>
      <p:sp>
        <p:nvSpPr>
          <p:cNvPr id="33" name="矩形: 圓角 32">
            <a:extLst>
              <a:ext uri="{FF2B5EF4-FFF2-40B4-BE49-F238E27FC236}">
                <a16:creationId xmlns:a16="http://schemas.microsoft.com/office/drawing/2014/main" id="{AF3C1200-71AA-2BCB-80D0-22C093E94325}"/>
              </a:ext>
            </a:extLst>
          </p:cNvPr>
          <p:cNvSpPr/>
          <p:nvPr/>
        </p:nvSpPr>
        <p:spPr>
          <a:xfrm>
            <a:off x="6628541" y="3976167"/>
            <a:ext cx="5075388" cy="1117388"/>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lvl="0" algn="ctr">
              <a:defRPr/>
            </a:pPr>
            <a:r>
              <a:rPr lang="en-US" altLang="zh-TW" sz="2400" dirty="0">
                <a:solidFill>
                  <a:prstClr val="black"/>
                </a:solidFill>
              </a:rPr>
              <a:t>Tokenizer</a:t>
            </a:r>
            <a:endParaRPr lang="zh-TW" altLang="en-US" sz="2400" dirty="0">
              <a:solidFill>
                <a:prstClr val="black"/>
              </a:solidFill>
            </a:endParaRPr>
          </a:p>
        </p:txBody>
      </p:sp>
      <p:cxnSp>
        <p:nvCxnSpPr>
          <p:cNvPr id="36" name="直線單箭頭接點 35">
            <a:extLst>
              <a:ext uri="{FF2B5EF4-FFF2-40B4-BE49-F238E27FC236}">
                <a16:creationId xmlns:a16="http://schemas.microsoft.com/office/drawing/2014/main" id="{37376E16-6869-6FFC-9B13-F1B4D6E297F5}"/>
              </a:ext>
            </a:extLst>
          </p:cNvPr>
          <p:cNvCxnSpPr>
            <a:cxnSpLocks/>
          </p:cNvCxnSpPr>
          <p:nvPr/>
        </p:nvCxnSpPr>
        <p:spPr>
          <a:xfrm flipV="1">
            <a:off x="9122213" y="2255718"/>
            <a:ext cx="0" cy="45916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矩形: 圓角 1">
            <a:extLst>
              <a:ext uri="{FF2B5EF4-FFF2-40B4-BE49-F238E27FC236}">
                <a16:creationId xmlns:a16="http://schemas.microsoft.com/office/drawing/2014/main" id="{84AE7B3C-EE42-76D7-1A8D-4AA4A3D2EC05}"/>
              </a:ext>
            </a:extLst>
          </p:cNvPr>
          <p:cNvSpPr/>
          <p:nvPr/>
        </p:nvSpPr>
        <p:spPr>
          <a:xfrm>
            <a:off x="9177642"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4" name="8131_117017_000013_000000_slow">
            <a:hlinkClick r:id="" action="ppaction://media"/>
            <a:extLst>
              <a:ext uri="{FF2B5EF4-FFF2-40B4-BE49-F238E27FC236}">
                <a16:creationId xmlns:a16="http://schemas.microsoft.com/office/drawing/2014/main" id="{9EDB5422-6FCA-2347-9A8B-59AF33F3138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5509326" y="5371729"/>
            <a:ext cx="609600" cy="609600"/>
          </a:xfrm>
          <a:prstGeom prst="rect">
            <a:avLst/>
          </a:prstGeom>
        </p:spPr>
      </p:pic>
      <p:pic>
        <p:nvPicPr>
          <p:cNvPr id="5" name="ex03_00373_confused_fast">
            <a:hlinkClick r:id="" action="ppaction://media"/>
            <a:extLst>
              <a:ext uri="{FF2B5EF4-FFF2-40B4-BE49-F238E27FC236}">
                <a16:creationId xmlns:a16="http://schemas.microsoft.com/office/drawing/2014/main" id="{98EFE10B-1089-320B-E279-0DE92048EB6C}"/>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10819252" y="5466825"/>
            <a:ext cx="609600" cy="609600"/>
          </a:xfrm>
          <a:prstGeom prst="rect">
            <a:avLst/>
          </a:prstGeom>
        </p:spPr>
      </p:pic>
    </p:spTree>
    <p:extLst>
      <p:ext uri="{BB962C8B-B14F-4D97-AF65-F5344CB8AC3E}">
        <p14:creationId xmlns:p14="http://schemas.microsoft.com/office/powerpoint/2010/main" val="18962530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138"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301"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30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4"/>
                </p:tgtEl>
              </p:cMediaNode>
            </p:audio>
            <p:audio>
              <p:cMediaNode vol="80000">
                <p:cTn id="16" fill="hold" display="0">
                  <p:stCondLst>
                    <p:cond delay="indefinite"/>
                  </p:stCondLst>
                  <p:endCondLst>
                    <p:cond evt="onStopAudio" delay="0">
                      <p:tgtEl>
                        <p:sldTgt/>
                      </p:tgtEl>
                    </p:cond>
                  </p:endCondLst>
                </p:cTn>
                <p:tgtEl>
                  <p:spTgt spid="5"/>
                </p:tgtEl>
              </p:cMediaNode>
            </p:audio>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8E7C8-9D3F-344D-78B0-5FB9EF559CF8}"/>
            </a:ext>
          </a:extLst>
        </p:cNvPr>
        <p:cNvGrpSpPr/>
        <p:nvPr/>
      </p:nvGrpSpPr>
      <p:grpSpPr>
        <a:xfrm>
          <a:off x="0" y="0"/>
          <a:ext cx="0" cy="0"/>
          <a:chOff x="0" y="0"/>
          <a:chExt cx="0" cy="0"/>
        </a:xfrm>
      </p:grpSpPr>
      <p:sp>
        <p:nvSpPr>
          <p:cNvPr id="16" name="文字方塊 15">
            <a:extLst>
              <a:ext uri="{FF2B5EF4-FFF2-40B4-BE49-F238E27FC236}">
                <a16:creationId xmlns:a16="http://schemas.microsoft.com/office/drawing/2014/main" id="{6C557EE3-B2B0-741B-5299-073BEE17C613}"/>
              </a:ext>
            </a:extLst>
          </p:cNvPr>
          <p:cNvSpPr txBox="1"/>
          <p:nvPr/>
        </p:nvSpPr>
        <p:spPr>
          <a:xfrm>
            <a:off x="467777" y="6159484"/>
            <a:ext cx="603845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 but now Murdoch </a:t>
            </a:r>
            <a:r>
              <a:rPr kumimoji="0" lang="en-US" altLang="zh-TW" sz="1800" b="1"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came around to</a:t>
            </a: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 stare at the gang …</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endParaRPr>
          </a:p>
        </p:txBody>
      </p:sp>
      <p:sp>
        <p:nvSpPr>
          <p:cNvPr id="17" name="文字方塊 16">
            <a:extLst>
              <a:ext uri="{FF2B5EF4-FFF2-40B4-BE49-F238E27FC236}">
                <a16:creationId xmlns:a16="http://schemas.microsoft.com/office/drawing/2014/main" id="{12945648-9C29-005B-B26D-7E6329BB890A}"/>
              </a:ext>
            </a:extLst>
          </p:cNvPr>
          <p:cNvSpPr txBox="1"/>
          <p:nvPr/>
        </p:nvSpPr>
        <p:spPr>
          <a:xfrm>
            <a:off x="6263992" y="6262993"/>
            <a:ext cx="5603488" cy="3795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Any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news</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on </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the</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dancer‘s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assault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case?</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sp>
        <p:nvSpPr>
          <p:cNvPr id="21" name="文字方塊 20">
            <a:extLst>
              <a:ext uri="{FF2B5EF4-FFF2-40B4-BE49-F238E27FC236}">
                <a16:creationId xmlns:a16="http://schemas.microsoft.com/office/drawing/2014/main" id="{A182D06C-BE61-9E61-7924-39B93D8DB2FC}"/>
              </a:ext>
            </a:extLst>
          </p:cNvPr>
          <p:cNvSpPr txBox="1"/>
          <p:nvPr/>
        </p:nvSpPr>
        <p:spPr>
          <a:xfrm>
            <a:off x="411504" y="2676801"/>
            <a:ext cx="603845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 but now Murdoch </a:t>
            </a:r>
            <a:r>
              <a:rPr kumimoji="0" lang="en-US" altLang="zh-TW" sz="1800" b="1"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came around to</a:t>
            </a: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rPr>
              <a:t> stare at the gang …</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panose="02020500000000000000" pitchFamily="18" charset="-120"/>
              <a:cs typeface="+mn-cs"/>
            </a:endParaRPr>
          </a:p>
        </p:txBody>
      </p:sp>
      <p:sp>
        <p:nvSpPr>
          <p:cNvPr id="51" name="矩形: 圓角 50">
            <a:extLst>
              <a:ext uri="{FF2B5EF4-FFF2-40B4-BE49-F238E27FC236}">
                <a16:creationId xmlns:a16="http://schemas.microsoft.com/office/drawing/2014/main" id="{CEDEEE83-EBF9-4751-0792-F371B7104BE4}"/>
              </a:ext>
            </a:extLst>
          </p:cNvPr>
          <p:cNvSpPr/>
          <p:nvPr/>
        </p:nvSpPr>
        <p:spPr>
          <a:xfrm>
            <a:off x="924827"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矩形: 圓角 51">
            <a:extLst>
              <a:ext uri="{FF2B5EF4-FFF2-40B4-BE49-F238E27FC236}">
                <a16:creationId xmlns:a16="http://schemas.microsoft.com/office/drawing/2014/main" id="{FD28F4DD-C37F-238C-E291-198FABE0EF01}"/>
              </a:ext>
            </a:extLst>
          </p:cNvPr>
          <p:cNvSpPr/>
          <p:nvPr/>
        </p:nvSpPr>
        <p:spPr>
          <a:xfrm>
            <a:off x="1478916"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3" name="矩形: 圓角 52">
            <a:extLst>
              <a:ext uri="{FF2B5EF4-FFF2-40B4-BE49-F238E27FC236}">
                <a16:creationId xmlns:a16="http://schemas.microsoft.com/office/drawing/2014/main" id="{9A160818-F4B9-971B-C0BA-8B510DC89D8A}"/>
              </a:ext>
            </a:extLst>
          </p:cNvPr>
          <p:cNvSpPr/>
          <p:nvPr/>
        </p:nvSpPr>
        <p:spPr>
          <a:xfrm>
            <a:off x="2033005"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4" name="矩形: 圓角 53">
            <a:extLst>
              <a:ext uri="{FF2B5EF4-FFF2-40B4-BE49-F238E27FC236}">
                <a16:creationId xmlns:a16="http://schemas.microsoft.com/office/drawing/2014/main" id="{16D01152-AC3C-FB20-353E-8F8988FB35FD}"/>
              </a:ext>
            </a:extLst>
          </p:cNvPr>
          <p:cNvSpPr/>
          <p:nvPr/>
        </p:nvSpPr>
        <p:spPr>
          <a:xfrm>
            <a:off x="2587094" y="3080022"/>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5" name="矩形: 圓角 54">
            <a:extLst>
              <a:ext uri="{FF2B5EF4-FFF2-40B4-BE49-F238E27FC236}">
                <a16:creationId xmlns:a16="http://schemas.microsoft.com/office/drawing/2014/main" id="{57992CDC-879D-79BC-0929-70FBEF187781}"/>
              </a:ext>
            </a:extLst>
          </p:cNvPr>
          <p:cNvSpPr/>
          <p:nvPr/>
        </p:nvSpPr>
        <p:spPr>
          <a:xfrm>
            <a:off x="3141183" y="3080022"/>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6" name="矩形: 圓角 55">
            <a:extLst>
              <a:ext uri="{FF2B5EF4-FFF2-40B4-BE49-F238E27FC236}">
                <a16:creationId xmlns:a16="http://schemas.microsoft.com/office/drawing/2014/main" id="{5EE78023-FD0F-E75D-4E74-4230112444B7}"/>
              </a:ext>
            </a:extLst>
          </p:cNvPr>
          <p:cNvSpPr/>
          <p:nvPr/>
        </p:nvSpPr>
        <p:spPr>
          <a:xfrm>
            <a:off x="3695272" y="3080022"/>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7" name="矩形: 圓角 56">
            <a:extLst>
              <a:ext uri="{FF2B5EF4-FFF2-40B4-BE49-F238E27FC236}">
                <a16:creationId xmlns:a16="http://schemas.microsoft.com/office/drawing/2014/main" id="{93509C62-077C-ADEB-C097-AA8AA281C2A1}"/>
              </a:ext>
            </a:extLst>
          </p:cNvPr>
          <p:cNvSpPr/>
          <p:nvPr/>
        </p:nvSpPr>
        <p:spPr>
          <a:xfrm>
            <a:off x="4249361"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8" name="矩形: 圓角 57">
            <a:extLst>
              <a:ext uri="{FF2B5EF4-FFF2-40B4-BE49-F238E27FC236}">
                <a16:creationId xmlns:a16="http://schemas.microsoft.com/office/drawing/2014/main" id="{1AC18A8C-40FD-AA3C-9B5F-BA9126DB82BA}"/>
              </a:ext>
            </a:extLst>
          </p:cNvPr>
          <p:cNvSpPr/>
          <p:nvPr/>
        </p:nvSpPr>
        <p:spPr>
          <a:xfrm>
            <a:off x="4803450" y="3080022"/>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62" name="群組 61">
            <a:extLst>
              <a:ext uri="{FF2B5EF4-FFF2-40B4-BE49-F238E27FC236}">
                <a16:creationId xmlns:a16="http://schemas.microsoft.com/office/drawing/2014/main" id="{DA564DA7-F638-48E2-4743-41C770BBC97B}"/>
              </a:ext>
            </a:extLst>
          </p:cNvPr>
          <p:cNvGrpSpPr/>
          <p:nvPr/>
        </p:nvGrpSpPr>
        <p:grpSpPr>
          <a:xfrm>
            <a:off x="554654" y="5598840"/>
            <a:ext cx="5373356" cy="664153"/>
            <a:chOff x="393073" y="5022255"/>
            <a:chExt cx="2117030" cy="878286"/>
          </a:xfrm>
        </p:grpSpPr>
        <p:pic>
          <p:nvPicPr>
            <p:cNvPr id="63"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76131C35-2221-307D-DEA0-6609564E8B75}"/>
                </a:ext>
              </a:extLst>
            </p:cNvPr>
            <p:cNvPicPr preferRelativeResize="0"/>
            <p:nvPr/>
          </p:nvPicPr>
          <p:blipFill rotWithShape="1">
            <a:blip r:embed="rId10">
              <a:alphaModFix/>
            </a:blip>
            <a:srcRect l="39924" t="74586" r="38724" b="15732"/>
            <a:stretch/>
          </p:blipFill>
          <p:spPr>
            <a:xfrm>
              <a:off x="393073" y="5022255"/>
              <a:ext cx="1347649" cy="809022"/>
            </a:xfrm>
            <a:prstGeom prst="rect">
              <a:avLst/>
            </a:prstGeom>
            <a:noFill/>
            <a:ln>
              <a:noFill/>
            </a:ln>
          </p:spPr>
        </p:pic>
        <p:pic>
          <p:nvPicPr>
            <p:cNvPr id="64"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2B935344-E22D-C1A7-F1E2-C7F94AB601E9}"/>
                </a:ext>
              </a:extLst>
            </p:cNvPr>
            <p:cNvPicPr preferRelativeResize="0"/>
            <p:nvPr/>
          </p:nvPicPr>
          <p:blipFill rotWithShape="1">
            <a:blip r:embed="rId10">
              <a:alphaModFix/>
            </a:blip>
            <a:srcRect l="35083" t="84591" r="35071" b="1174"/>
            <a:stretch/>
          </p:blipFill>
          <p:spPr>
            <a:xfrm>
              <a:off x="1576011" y="5095308"/>
              <a:ext cx="934092" cy="805233"/>
            </a:xfrm>
            <a:prstGeom prst="rect">
              <a:avLst/>
            </a:prstGeom>
            <a:noFill/>
            <a:ln>
              <a:noFill/>
            </a:ln>
          </p:spPr>
        </p:pic>
      </p:grpSp>
      <p:grpSp>
        <p:nvGrpSpPr>
          <p:cNvPr id="65" name="群組 64">
            <a:extLst>
              <a:ext uri="{FF2B5EF4-FFF2-40B4-BE49-F238E27FC236}">
                <a16:creationId xmlns:a16="http://schemas.microsoft.com/office/drawing/2014/main" id="{B2014B5A-F768-D306-6B91-06CD2F06B535}"/>
              </a:ext>
            </a:extLst>
          </p:cNvPr>
          <p:cNvGrpSpPr/>
          <p:nvPr/>
        </p:nvGrpSpPr>
        <p:grpSpPr>
          <a:xfrm>
            <a:off x="607578" y="48764"/>
            <a:ext cx="5373356" cy="664153"/>
            <a:chOff x="393073" y="5022255"/>
            <a:chExt cx="2117030" cy="878286"/>
          </a:xfrm>
        </p:grpSpPr>
        <p:pic>
          <p:nvPicPr>
            <p:cNvPr id="66"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703652F5-A8A2-F06A-C988-3A0B44489326}"/>
                </a:ext>
              </a:extLst>
            </p:cNvPr>
            <p:cNvPicPr preferRelativeResize="0"/>
            <p:nvPr/>
          </p:nvPicPr>
          <p:blipFill rotWithShape="1">
            <a:blip r:embed="rId10">
              <a:alphaModFix/>
            </a:blip>
            <a:srcRect l="39924" t="74586" r="38724" b="15732"/>
            <a:stretch/>
          </p:blipFill>
          <p:spPr>
            <a:xfrm>
              <a:off x="393073" y="5022255"/>
              <a:ext cx="1347649" cy="809022"/>
            </a:xfrm>
            <a:prstGeom prst="rect">
              <a:avLst/>
            </a:prstGeom>
            <a:noFill/>
            <a:ln>
              <a:noFill/>
            </a:ln>
          </p:spPr>
        </p:pic>
        <p:pic>
          <p:nvPicPr>
            <p:cNvPr id="67"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AE2B27A0-28A7-43C8-E463-034399748DEA}"/>
                </a:ext>
              </a:extLst>
            </p:cNvPr>
            <p:cNvPicPr preferRelativeResize="0"/>
            <p:nvPr/>
          </p:nvPicPr>
          <p:blipFill rotWithShape="1">
            <a:blip r:embed="rId10">
              <a:alphaModFix/>
            </a:blip>
            <a:srcRect l="35083" t="84591" r="35071" b="1174"/>
            <a:stretch/>
          </p:blipFill>
          <p:spPr>
            <a:xfrm>
              <a:off x="1576011" y="5095308"/>
              <a:ext cx="934092" cy="805233"/>
            </a:xfrm>
            <a:prstGeom prst="rect">
              <a:avLst/>
            </a:prstGeom>
            <a:noFill/>
            <a:ln>
              <a:noFill/>
            </a:ln>
          </p:spPr>
        </p:pic>
      </p:grpSp>
      <p:grpSp>
        <p:nvGrpSpPr>
          <p:cNvPr id="68" name="群組 67">
            <a:extLst>
              <a:ext uri="{FF2B5EF4-FFF2-40B4-BE49-F238E27FC236}">
                <a16:creationId xmlns:a16="http://schemas.microsoft.com/office/drawing/2014/main" id="{224D8972-86D3-CE2B-AFA4-EBE9263E3EC7}"/>
              </a:ext>
            </a:extLst>
          </p:cNvPr>
          <p:cNvGrpSpPr/>
          <p:nvPr/>
        </p:nvGrpSpPr>
        <p:grpSpPr>
          <a:xfrm>
            <a:off x="7708926" y="5696289"/>
            <a:ext cx="2857015" cy="664153"/>
            <a:chOff x="393073" y="5022255"/>
            <a:chExt cx="2117030" cy="878286"/>
          </a:xfrm>
        </p:grpSpPr>
        <p:pic>
          <p:nvPicPr>
            <p:cNvPr id="69"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83B52E2-CBB1-FE21-6C35-19472CF44E2E}"/>
                </a:ext>
              </a:extLst>
            </p:cNvPr>
            <p:cNvPicPr preferRelativeResize="0"/>
            <p:nvPr/>
          </p:nvPicPr>
          <p:blipFill rotWithShape="1">
            <a:blip r:embed="rId10">
              <a:alphaModFix/>
            </a:blip>
            <a:srcRect l="39924" t="74586" r="38724" b="15732"/>
            <a:stretch/>
          </p:blipFill>
          <p:spPr>
            <a:xfrm>
              <a:off x="393073" y="5022255"/>
              <a:ext cx="1347649" cy="809022"/>
            </a:xfrm>
            <a:prstGeom prst="rect">
              <a:avLst/>
            </a:prstGeom>
            <a:noFill/>
            <a:ln>
              <a:noFill/>
            </a:ln>
          </p:spPr>
        </p:pic>
        <p:pic>
          <p:nvPicPr>
            <p:cNvPr id="70"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9758D1C4-AD6C-8B11-A2BD-078CA676127B}"/>
                </a:ext>
              </a:extLst>
            </p:cNvPr>
            <p:cNvPicPr preferRelativeResize="0"/>
            <p:nvPr/>
          </p:nvPicPr>
          <p:blipFill rotWithShape="1">
            <a:blip r:embed="rId10">
              <a:alphaModFix/>
            </a:blip>
            <a:srcRect l="35083" t="84591" r="35071" b="1174"/>
            <a:stretch/>
          </p:blipFill>
          <p:spPr>
            <a:xfrm>
              <a:off x="1576011" y="5095308"/>
              <a:ext cx="934092" cy="805233"/>
            </a:xfrm>
            <a:prstGeom prst="rect">
              <a:avLst/>
            </a:prstGeom>
            <a:noFill/>
            <a:ln>
              <a:noFill/>
            </a:ln>
          </p:spPr>
        </p:pic>
      </p:grpSp>
      <p:grpSp>
        <p:nvGrpSpPr>
          <p:cNvPr id="91" name="群組 90">
            <a:extLst>
              <a:ext uri="{FF2B5EF4-FFF2-40B4-BE49-F238E27FC236}">
                <a16:creationId xmlns:a16="http://schemas.microsoft.com/office/drawing/2014/main" id="{F0B658AC-98B1-D1E9-513B-A40A2BA35F41}"/>
              </a:ext>
            </a:extLst>
          </p:cNvPr>
          <p:cNvGrpSpPr/>
          <p:nvPr/>
        </p:nvGrpSpPr>
        <p:grpSpPr>
          <a:xfrm>
            <a:off x="7853199" y="74953"/>
            <a:ext cx="2857015" cy="664153"/>
            <a:chOff x="393073" y="5022255"/>
            <a:chExt cx="2117030" cy="878286"/>
          </a:xfrm>
        </p:grpSpPr>
        <p:pic>
          <p:nvPicPr>
            <p:cNvPr id="92"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D9E28C54-838D-68BB-6AED-9FE6E37CA65C}"/>
                </a:ext>
              </a:extLst>
            </p:cNvPr>
            <p:cNvPicPr preferRelativeResize="0"/>
            <p:nvPr/>
          </p:nvPicPr>
          <p:blipFill rotWithShape="1">
            <a:blip r:embed="rId10">
              <a:alphaModFix/>
            </a:blip>
            <a:srcRect l="39924" t="74586" r="38724" b="15732"/>
            <a:stretch/>
          </p:blipFill>
          <p:spPr>
            <a:xfrm>
              <a:off x="393073" y="5022255"/>
              <a:ext cx="1347649" cy="809022"/>
            </a:xfrm>
            <a:prstGeom prst="rect">
              <a:avLst/>
            </a:prstGeom>
            <a:noFill/>
            <a:ln>
              <a:noFill/>
            </a:ln>
          </p:spPr>
        </p:pic>
        <p:pic>
          <p:nvPicPr>
            <p:cNvPr id="93"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3034D839-71B1-02A9-36FA-E0675D100CB9}"/>
                </a:ext>
              </a:extLst>
            </p:cNvPr>
            <p:cNvPicPr preferRelativeResize="0"/>
            <p:nvPr/>
          </p:nvPicPr>
          <p:blipFill rotWithShape="1">
            <a:blip r:embed="rId10">
              <a:alphaModFix/>
            </a:blip>
            <a:srcRect l="35083" t="84591" r="35071" b="1174"/>
            <a:stretch/>
          </p:blipFill>
          <p:spPr>
            <a:xfrm>
              <a:off x="1576011" y="5095308"/>
              <a:ext cx="934092" cy="805233"/>
            </a:xfrm>
            <a:prstGeom prst="rect">
              <a:avLst/>
            </a:prstGeom>
            <a:noFill/>
            <a:ln>
              <a:noFill/>
            </a:ln>
          </p:spPr>
        </p:pic>
      </p:grpSp>
      <p:cxnSp>
        <p:nvCxnSpPr>
          <p:cNvPr id="99" name="直線單箭頭接點 98">
            <a:extLst>
              <a:ext uri="{FF2B5EF4-FFF2-40B4-BE49-F238E27FC236}">
                <a16:creationId xmlns:a16="http://schemas.microsoft.com/office/drawing/2014/main" id="{CBB6B5BF-8E5A-A02C-7C0C-E3AC42FEDCB4}"/>
              </a:ext>
            </a:extLst>
          </p:cNvPr>
          <p:cNvCxnSpPr>
            <a:cxnSpLocks/>
          </p:cNvCxnSpPr>
          <p:nvPr/>
        </p:nvCxnSpPr>
        <p:spPr>
          <a:xfrm flipV="1">
            <a:off x="3151365" y="3539036"/>
            <a:ext cx="0" cy="533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309714AF-9C25-5CC0-25A8-C70164CA6434}"/>
              </a:ext>
            </a:extLst>
          </p:cNvPr>
          <p:cNvCxnSpPr>
            <a:cxnSpLocks/>
          </p:cNvCxnSpPr>
          <p:nvPr/>
        </p:nvCxnSpPr>
        <p:spPr>
          <a:xfrm flipV="1">
            <a:off x="3113265" y="1803838"/>
            <a:ext cx="0" cy="4137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a:extLst>
              <a:ext uri="{FF2B5EF4-FFF2-40B4-BE49-F238E27FC236}">
                <a16:creationId xmlns:a16="http://schemas.microsoft.com/office/drawing/2014/main" id="{3571DF56-AE86-77FB-C767-A13B3E14094B}"/>
              </a:ext>
            </a:extLst>
          </p:cNvPr>
          <p:cNvCxnSpPr>
            <a:cxnSpLocks/>
          </p:cNvCxnSpPr>
          <p:nvPr/>
        </p:nvCxnSpPr>
        <p:spPr>
          <a:xfrm flipV="1">
            <a:off x="3113265" y="686729"/>
            <a:ext cx="0" cy="4137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BCB1CF7E-4E94-5A6E-0684-DA9AE3FE648A}"/>
              </a:ext>
            </a:extLst>
          </p:cNvPr>
          <p:cNvCxnSpPr>
            <a:cxnSpLocks/>
          </p:cNvCxnSpPr>
          <p:nvPr/>
        </p:nvCxnSpPr>
        <p:spPr>
          <a:xfrm flipV="1">
            <a:off x="3151365" y="5176745"/>
            <a:ext cx="0" cy="533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矩形: 圓角 5">
            <a:extLst>
              <a:ext uri="{FF2B5EF4-FFF2-40B4-BE49-F238E27FC236}">
                <a16:creationId xmlns:a16="http://schemas.microsoft.com/office/drawing/2014/main" id="{29751DA6-4F92-DE66-85E3-C46EFBA2C320}"/>
              </a:ext>
            </a:extLst>
          </p:cNvPr>
          <p:cNvSpPr/>
          <p:nvPr/>
        </p:nvSpPr>
        <p:spPr>
          <a:xfrm>
            <a:off x="634107" y="1055598"/>
            <a:ext cx="5075388" cy="1117388"/>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lang="en-US" altLang="zh-TW" sz="2400" dirty="0" err="1">
                <a:solidFill>
                  <a:prstClr val="black"/>
                </a:solidFill>
              </a:rPr>
              <a:t>Detokenizer</a:t>
            </a:r>
            <a:endParaRPr lang="zh-TW" altLang="en-US" sz="2400" dirty="0">
              <a:solidFill>
                <a:prstClr val="black"/>
              </a:solidFill>
            </a:endParaRPr>
          </a:p>
        </p:txBody>
      </p:sp>
      <p:sp>
        <p:nvSpPr>
          <p:cNvPr id="19" name="矩形: 圓角 18">
            <a:extLst>
              <a:ext uri="{FF2B5EF4-FFF2-40B4-BE49-F238E27FC236}">
                <a16:creationId xmlns:a16="http://schemas.microsoft.com/office/drawing/2014/main" id="{730D8BF0-8C51-6CBB-4A10-7BEC35726BBD}"/>
              </a:ext>
            </a:extLst>
          </p:cNvPr>
          <p:cNvSpPr/>
          <p:nvPr/>
        </p:nvSpPr>
        <p:spPr>
          <a:xfrm>
            <a:off x="634107" y="3952596"/>
            <a:ext cx="5075388" cy="1117388"/>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lvl="0" algn="ctr">
              <a:defRPr/>
            </a:pPr>
            <a:r>
              <a:rPr lang="en-US" altLang="zh-TW" sz="2400" dirty="0">
                <a:solidFill>
                  <a:prstClr val="black"/>
                </a:solidFill>
              </a:rPr>
              <a:t>Tokenizer</a:t>
            </a:r>
            <a:endParaRPr lang="zh-TW" altLang="en-US" sz="2400" dirty="0">
              <a:solidFill>
                <a:prstClr val="black"/>
              </a:solidFill>
            </a:endParaRPr>
          </a:p>
        </p:txBody>
      </p:sp>
      <p:sp>
        <p:nvSpPr>
          <p:cNvPr id="8" name="文字方塊 7">
            <a:extLst>
              <a:ext uri="{FF2B5EF4-FFF2-40B4-BE49-F238E27FC236}">
                <a16:creationId xmlns:a16="http://schemas.microsoft.com/office/drawing/2014/main" id="{E0306587-C116-8855-A53E-401603BE4FD5}"/>
              </a:ext>
            </a:extLst>
          </p:cNvPr>
          <p:cNvSpPr txBox="1"/>
          <p:nvPr/>
        </p:nvSpPr>
        <p:spPr>
          <a:xfrm>
            <a:off x="5235897" y="3060399"/>
            <a:ext cx="5885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id="{05E1BA58-5717-56AB-1D75-C643DCD48BEF}"/>
              </a:ext>
            </a:extLst>
          </p:cNvPr>
          <p:cNvSpPr txBox="1"/>
          <p:nvPr/>
        </p:nvSpPr>
        <p:spPr>
          <a:xfrm>
            <a:off x="409038" y="3025310"/>
            <a:ext cx="5885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0" name="直線單箭頭接點 9">
            <a:extLst>
              <a:ext uri="{FF2B5EF4-FFF2-40B4-BE49-F238E27FC236}">
                <a16:creationId xmlns:a16="http://schemas.microsoft.com/office/drawing/2014/main" id="{A6BF8682-B131-B69D-C97F-79A581A55DC9}"/>
              </a:ext>
            </a:extLst>
          </p:cNvPr>
          <p:cNvCxnSpPr>
            <a:cxnSpLocks/>
          </p:cNvCxnSpPr>
          <p:nvPr/>
        </p:nvCxnSpPr>
        <p:spPr>
          <a:xfrm flipV="1">
            <a:off x="3127779" y="2232147"/>
            <a:ext cx="0" cy="45916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EEABAE82-7A0A-63B7-B0BE-02A87E2C7A76}"/>
              </a:ext>
            </a:extLst>
          </p:cNvPr>
          <p:cNvSpPr txBox="1"/>
          <p:nvPr/>
        </p:nvSpPr>
        <p:spPr>
          <a:xfrm>
            <a:off x="6153544" y="2700372"/>
            <a:ext cx="603845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Any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news</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on </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the</a:t>
            </a:r>
            <a:r>
              <a:rPr kumimoji="0" lang="zh-TW" altLang="en-US" sz="1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dancer‘s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assault </a:t>
            </a:r>
            <a:r>
              <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case?</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F2A5FBB2-1B81-94A2-9479-5EA1A4989DC2}"/>
              </a:ext>
            </a:extLst>
          </p:cNvPr>
          <p:cNvSpPr/>
          <p:nvPr/>
        </p:nvSpPr>
        <p:spPr>
          <a:xfrm>
            <a:off x="7107714"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FD23CB5D-CCE4-E491-8D13-187C83639D59}"/>
              </a:ext>
            </a:extLst>
          </p:cNvPr>
          <p:cNvSpPr/>
          <p:nvPr/>
        </p:nvSpPr>
        <p:spPr>
          <a:xfrm>
            <a:off x="7625196" y="3049816"/>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473A6AED-DB12-A47B-5CAE-BB405B742E52}"/>
              </a:ext>
            </a:extLst>
          </p:cNvPr>
          <p:cNvSpPr/>
          <p:nvPr/>
        </p:nvSpPr>
        <p:spPr>
          <a:xfrm>
            <a:off x="8142678" y="3049816"/>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425C04E9-5034-F06B-78AF-E82C735CD1E9}"/>
              </a:ext>
            </a:extLst>
          </p:cNvPr>
          <p:cNvSpPr/>
          <p:nvPr/>
        </p:nvSpPr>
        <p:spPr>
          <a:xfrm>
            <a:off x="8660160" y="3049816"/>
            <a:ext cx="369193" cy="361950"/>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823D49FA-B6E9-2A66-C044-8E2FEB4D8671}"/>
              </a:ext>
            </a:extLst>
          </p:cNvPr>
          <p:cNvSpPr/>
          <p:nvPr/>
        </p:nvSpPr>
        <p:spPr>
          <a:xfrm>
            <a:off x="9695124"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4E8BF1E1-2CD5-F164-131B-BAAF93A133C1}"/>
              </a:ext>
            </a:extLst>
          </p:cNvPr>
          <p:cNvSpPr/>
          <p:nvPr/>
        </p:nvSpPr>
        <p:spPr>
          <a:xfrm>
            <a:off x="10212606"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F9808D81-ED77-FFED-AD94-73A3B618E337}"/>
              </a:ext>
            </a:extLst>
          </p:cNvPr>
          <p:cNvSpPr/>
          <p:nvPr/>
        </p:nvSpPr>
        <p:spPr>
          <a:xfrm>
            <a:off x="10730086"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8" name="直線單箭頭接點 27">
            <a:extLst>
              <a:ext uri="{FF2B5EF4-FFF2-40B4-BE49-F238E27FC236}">
                <a16:creationId xmlns:a16="http://schemas.microsoft.com/office/drawing/2014/main" id="{2788EFC4-7823-D116-6260-337F393BED95}"/>
              </a:ext>
            </a:extLst>
          </p:cNvPr>
          <p:cNvCxnSpPr>
            <a:cxnSpLocks/>
          </p:cNvCxnSpPr>
          <p:nvPr/>
        </p:nvCxnSpPr>
        <p:spPr>
          <a:xfrm flipV="1">
            <a:off x="9145799" y="3562607"/>
            <a:ext cx="0" cy="533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2DF50C5C-619C-65AA-C1A3-9FFFC7BA855E}"/>
              </a:ext>
            </a:extLst>
          </p:cNvPr>
          <p:cNvCxnSpPr>
            <a:cxnSpLocks/>
          </p:cNvCxnSpPr>
          <p:nvPr/>
        </p:nvCxnSpPr>
        <p:spPr>
          <a:xfrm flipV="1">
            <a:off x="9107699" y="1827409"/>
            <a:ext cx="0" cy="4137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C1D2956B-809F-3BBA-4E3A-E6B3CDCB7AFC}"/>
              </a:ext>
            </a:extLst>
          </p:cNvPr>
          <p:cNvCxnSpPr>
            <a:cxnSpLocks/>
          </p:cNvCxnSpPr>
          <p:nvPr/>
        </p:nvCxnSpPr>
        <p:spPr>
          <a:xfrm flipV="1">
            <a:off x="9107699" y="710300"/>
            <a:ext cx="0" cy="4137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00A1EA7B-1FCE-3326-5CC2-DB5E739018BC}"/>
              </a:ext>
            </a:extLst>
          </p:cNvPr>
          <p:cNvCxnSpPr>
            <a:cxnSpLocks/>
          </p:cNvCxnSpPr>
          <p:nvPr/>
        </p:nvCxnSpPr>
        <p:spPr>
          <a:xfrm flipV="1">
            <a:off x="9145799" y="5200316"/>
            <a:ext cx="0" cy="533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圓角 31">
            <a:extLst>
              <a:ext uri="{FF2B5EF4-FFF2-40B4-BE49-F238E27FC236}">
                <a16:creationId xmlns:a16="http://schemas.microsoft.com/office/drawing/2014/main" id="{4AA9B878-4C93-7A5B-A9C0-1A8F42D82254}"/>
              </a:ext>
            </a:extLst>
          </p:cNvPr>
          <p:cNvSpPr/>
          <p:nvPr/>
        </p:nvSpPr>
        <p:spPr>
          <a:xfrm>
            <a:off x="6628541" y="1079169"/>
            <a:ext cx="5075388" cy="1117388"/>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r>
              <a:rPr lang="en-US" altLang="zh-TW" sz="2400" dirty="0" err="1">
                <a:solidFill>
                  <a:prstClr val="black"/>
                </a:solidFill>
              </a:rPr>
              <a:t>Detokenizer</a:t>
            </a:r>
            <a:endParaRPr lang="zh-TW" altLang="en-US" sz="2400" dirty="0">
              <a:solidFill>
                <a:prstClr val="black"/>
              </a:solidFill>
            </a:endParaRPr>
          </a:p>
        </p:txBody>
      </p:sp>
      <p:sp>
        <p:nvSpPr>
          <p:cNvPr id="33" name="矩形: 圓角 32">
            <a:extLst>
              <a:ext uri="{FF2B5EF4-FFF2-40B4-BE49-F238E27FC236}">
                <a16:creationId xmlns:a16="http://schemas.microsoft.com/office/drawing/2014/main" id="{4C533229-0E2C-B4CF-4AEF-194AB403DB5E}"/>
              </a:ext>
            </a:extLst>
          </p:cNvPr>
          <p:cNvSpPr/>
          <p:nvPr/>
        </p:nvSpPr>
        <p:spPr>
          <a:xfrm>
            <a:off x="6628541" y="3976167"/>
            <a:ext cx="5075388" cy="1117388"/>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lvl="0" algn="ctr">
              <a:defRPr/>
            </a:pPr>
            <a:r>
              <a:rPr lang="en-US" altLang="zh-TW" sz="2400" dirty="0">
                <a:solidFill>
                  <a:prstClr val="black"/>
                </a:solidFill>
              </a:rPr>
              <a:t>Tokenizer</a:t>
            </a:r>
            <a:endParaRPr lang="zh-TW" altLang="en-US" sz="2400" dirty="0">
              <a:solidFill>
                <a:prstClr val="black"/>
              </a:solidFill>
            </a:endParaRPr>
          </a:p>
        </p:txBody>
      </p:sp>
      <p:cxnSp>
        <p:nvCxnSpPr>
          <p:cNvPr id="36" name="直線單箭頭接點 35">
            <a:extLst>
              <a:ext uri="{FF2B5EF4-FFF2-40B4-BE49-F238E27FC236}">
                <a16:creationId xmlns:a16="http://schemas.microsoft.com/office/drawing/2014/main" id="{0FB6630C-04BC-6FCA-9983-1696980908E2}"/>
              </a:ext>
            </a:extLst>
          </p:cNvPr>
          <p:cNvCxnSpPr>
            <a:cxnSpLocks/>
          </p:cNvCxnSpPr>
          <p:nvPr/>
        </p:nvCxnSpPr>
        <p:spPr>
          <a:xfrm flipV="1">
            <a:off x="9122213" y="2255718"/>
            <a:ext cx="0" cy="45916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矩形: 圓角 1">
            <a:extLst>
              <a:ext uri="{FF2B5EF4-FFF2-40B4-BE49-F238E27FC236}">
                <a16:creationId xmlns:a16="http://schemas.microsoft.com/office/drawing/2014/main" id="{754851BB-F7DA-41C7-669C-B5DE33FEB0EB}"/>
              </a:ext>
            </a:extLst>
          </p:cNvPr>
          <p:cNvSpPr/>
          <p:nvPr/>
        </p:nvSpPr>
        <p:spPr>
          <a:xfrm>
            <a:off x="9177642" y="3049816"/>
            <a:ext cx="369193" cy="361950"/>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5" name="8131_117017_000013_000000_slow">
            <a:hlinkClick r:id="" action="ppaction://media"/>
            <a:extLst>
              <a:ext uri="{FF2B5EF4-FFF2-40B4-BE49-F238E27FC236}">
                <a16:creationId xmlns:a16="http://schemas.microsoft.com/office/drawing/2014/main" id="{F1D139EB-F16F-D684-CB73-50A2840E2AA1}"/>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5509326" y="5371729"/>
            <a:ext cx="609600" cy="609600"/>
          </a:xfrm>
          <a:prstGeom prst="rect">
            <a:avLst/>
          </a:prstGeom>
        </p:spPr>
      </p:pic>
      <p:pic>
        <p:nvPicPr>
          <p:cNvPr id="7" name="ex03_00373_confused_fast">
            <a:hlinkClick r:id="" action="ppaction://media"/>
            <a:extLst>
              <a:ext uri="{FF2B5EF4-FFF2-40B4-BE49-F238E27FC236}">
                <a16:creationId xmlns:a16="http://schemas.microsoft.com/office/drawing/2014/main" id="{CF225F99-2D16-13A5-8650-BC52291CCF9D}"/>
              </a:ext>
            </a:extLst>
          </p:cNvPr>
          <p:cNvPicPr>
            <a:picLocks noChangeAspect="1"/>
          </p:cNvPicPr>
          <p:nvPr>
            <a:audioFile r:link="rId4"/>
            <p:extLst>
              <p:ext uri="{DAA4B4D4-6D71-4841-9C94-3DE7FCFB9230}">
                <p14:media xmlns:p14="http://schemas.microsoft.com/office/powerpoint/2010/main" r:embed="rId3"/>
              </p:ext>
            </p:extLst>
          </p:nvPr>
        </p:nvPicPr>
        <p:blipFill>
          <a:blip r:embed="rId11"/>
          <a:stretch>
            <a:fillRect/>
          </a:stretch>
        </p:blipFill>
        <p:spPr>
          <a:xfrm>
            <a:off x="10819252" y="5466825"/>
            <a:ext cx="609600" cy="609600"/>
          </a:xfrm>
          <a:prstGeom prst="rect">
            <a:avLst/>
          </a:prstGeom>
        </p:spPr>
      </p:pic>
      <p:pic>
        <p:nvPicPr>
          <p:cNvPr id="11" name="8131_117017_000013_000000_slow_ed-fast-5">
            <a:hlinkClick r:id="" action="ppaction://media"/>
            <a:extLst>
              <a:ext uri="{FF2B5EF4-FFF2-40B4-BE49-F238E27FC236}">
                <a16:creationId xmlns:a16="http://schemas.microsoft.com/office/drawing/2014/main" id="{9C4A1274-D456-CB1E-30D6-F0E432725FD6}"/>
              </a:ext>
            </a:extLst>
          </p:cNvPr>
          <p:cNvPicPr>
            <a:picLocks noChangeAspect="1"/>
          </p:cNvPicPr>
          <p:nvPr>
            <a:audioFile r:link="rId6"/>
            <p:extLst>
              <p:ext uri="{DAA4B4D4-6D71-4841-9C94-3DE7FCFB9230}">
                <p14:media xmlns:p14="http://schemas.microsoft.com/office/powerpoint/2010/main" r:embed="rId5"/>
              </p:ext>
            </p:extLst>
          </p:nvPr>
        </p:nvPicPr>
        <p:blipFill>
          <a:blip r:embed="rId11"/>
          <a:stretch>
            <a:fillRect/>
          </a:stretch>
        </p:blipFill>
        <p:spPr>
          <a:xfrm>
            <a:off x="5371334" y="134065"/>
            <a:ext cx="609600" cy="609600"/>
          </a:xfrm>
          <a:prstGeom prst="rect">
            <a:avLst/>
          </a:prstGeom>
        </p:spPr>
      </p:pic>
      <p:pic>
        <p:nvPicPr>
          <p:cNvPr id="20" name="ex03_00373_confused_fast_ed-slow-5">
            <a:hlinkClick r:id="" action="ppaction://media"/>
            <a:extLst>
              <a:ext uri="{FF2B5EF4-FFF2-40B4-BE49-F238E27FC236}">
                <a16:creationId xmlns:a16="http://schemas.microsoft.com/office/drawing/2014/main" id="{A304AEF3-EE5E-0BB0-AFD8-89A26A16589D}"/>
              </a:ext>
            </a:extLst>
          </p:cNvPr>
          <p:cNvPicPr>
            <a:picLocks noChangeAspect="1"/>
          </p:cNvPicPr>
          <p:nvPr>
            <a:audioFile r:link="rId8"/>
            <p:extLst>
              <p:ext uri="{DAA4B4D4-6D71-4841-9C94-3DE7FCFB9230}">
                <p14:media xmlns:p14="http://schemas.microsoft.com/office/powerpoint/2010/main" r:embed="rId7"/>
              </p:ext>
            </p:extLst>
          </p:nvPr>
        </p:nvPicPr>
        <p:blipFill>
          <a:blip r:embed="rId11"/>
          <a:stretch>
            <a:fillRect/>
          </a:stretch>
        </p:blipFill>
        <p:spPr>
          <a:xfrm>
            <a:off x="10723171" y="189650"/>
            <a:ext cx="609600" cy="609600"/>
          </a:xfrm>
          <a:prstGeom prst="rect">
            <a:avLst/>
          </a:prstGeom>
        </p:spPr>
      </p:pic>
    </p:spTree>
    <p:extLst>
      <p:ext uri="{BB962C8B-B14F-4D97-AF65-F5344CB8AC3E}">
        <p14:creationId xmlns:p14="http://schemas.microsoft.com/office/powerpoint/2010/main" val="30557137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719" fill="hold"/>
                                        <p:tgtEl>
                                          <p:spTgt spid="11"/>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8719" fill="hold"/>
                                        <p:tgtEl>
                                          <p:spTgt spid="11"/>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718" fill="hold"/>
                                        <p:tgtEl>
                                          <p:spTgt spid="20"/>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71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9" fill="hold" display="0">
                  <p:stCondLst>
                    <p:cond delay="indefinite"/>
                  </p:stCondLst>
                  <p:endCondLst>
                    <p:cond evt="onStopAudio" delay="0">
                      <p:tgtEl>
                        <p:sldTgt/>
                      </p:tgtEl>
                    </p:cond>
                  </p:endCondLst>
                </p:cTn>
                <p:tgtEl>
                  <p:spTgt spid="5"/>
                </p:tgtEl>
              </p:cMediaNode>
            </p:audio>
            <p:audio>
              <p:cMediaNode vol="80000">
                <p:cTn id="20" fill="hold" display="0">
                  <p:stCondLst>
                    <p:cond delay="indefinite"/>
                  </p:stCondLst>
                  <p:endCondLst>
                    <p:cond evt="onStopAudio" delay="0">
                      <p:tgtEl>
                        <p:sldTgt/>
                      </p:tgtEl>
                    </p:cond>
                  </p:endCondLst>
                </p:cTn>
                <p:tgtEl>
                  <p:spTgt spid="7"/>
                </p:tgtEl>
              </p:cMediaNode>
            </p:audio>
            <p:audio>
              <p:cMediaNode vol="80000">
                <p:cTn id="21" fill="hold" display="0">
                  <p:stCondLst>
                    <p:cond delay="indefinite"/>
                  </p:stCondLst>
                  <p:endCondLst>
                    <p:cond evt="onStopAudio" delay="0">
                      <p:tgtEl>
                        <p:sldTgt/>
                      </p:tgtEl>
                    </p:cond>
                  </p:endCondLst>
                </p:cTn>
                <p:tgtEl>
                  <p:spTgt spid="11"/>
                </p:tgtEl>
              </p:cMediaNode>
            </p:audio>
            <p:audio>
              <p:cMediaNode vol="80000">
                <p:cTn id="22" fill="hold" display="0">
                  <p:stCondLst>
                    <p:cond delay="indefinite"/>
                  </p:stCondLst>
                  <p:endCondLst>
                    <p:cond evt="onStopAudio" delay="0">
                      <p:tgtEl>
                        <p:sldTgt/>
                      </p:tgtEl>
                    </p:cond>
                  </p:endCondLst>
                </p:cTn>
                <p:tgtEl>
                  <p:spTgt spid="20"/>
                </p:tgtEl>
              </p:cMediaNode>
            </p:audio>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D77DF0-BBB2-2D07-9DA6-4C2A26B8F1FE}"/>
              </a:ext>
            </a:extLst>
          </p:cNvPr>
          <p:cNvSpPr>
            <a:spLocks noGrp="1"/>
          </p:cNvSpPr>
          <p:nvPr>
            <p:ph type="title"/>
          </p:nvPr>
        </p:nvSpPr>
        <p:spPr/>
        <p:txBody>
          <a:bodyPr/>
          <a:lstStyle/>
          <a:p>
            <a:r>
              <a:rPr lang="en-US" altLang="zh-TW" dirty="0"/>
              <a:t>Training Speech LLM</a:t>
            </a:r>
            <a:endParaRPr lang="zh-TW" altLang="en-US" dirty="0"/>
          </a:p>
        </p:txBody>
      </p:sp>
      <p:grpSp>
        <p:nvGrpSpPr>
          <p:cNvPr id="4" name="群組 3">
            <a:extLst>
              <a:ext uri="{FF2B5EF4-FFF2-40B4-BE49-F238E27FC236}">
                <a16:creationId xmlns:a16="http://schemas.microsoft.com/office/drawing/2014/main" id="{E350B6F9-8BD8-51EE-EB2D-6BCCB0539C38}"/>
              </a:ext>
            </a:extLst>
          </p:cNvPr>
          <p:cNvGrpSpPr/>
          <p:nvPr/>
        </p:nvGrpSpPr>
        <p:grpSpPr>
          <a:xfrm>
            <a:off x="3143250" y="4958013"/>
            <a:ext cx="8705850" cy="830012"/>
            <a:chOff x="393073" y="5022255"/>
            <a:chExt cx="2117030" cy="878286"/>
          </a:xfrm>
        </p:grpSpPr>
        <p:pic>
          <p:nvPicPr>
            <p:cNvPr id="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E3B8517-EDF6-0830-CF56-960FFEFFB094}"/>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E24B3638-C24F-197A-7D58-5A49698B43B2}"/>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7" name="矩形: 圓角 6">
            <a:extLst>
              <a:ext uri="{FF2B5EF4-FFF2-40B4-BE49-F238E27FC236}">
                <a16:creationId xmlns:a16="http://schemas.microsoft.com/office/drawing/2014/main" id="{681F2CD7-7981-D783-ECC3-C7263A2B6998}"/>
              </a:ext>
            </a:extLst>
          </p:cNvPr>
          <p:cNvSpPr/>
          <p:nvPr/>
        </p:nvSpPr>
        <p:spPr>
          <a:xfrm>
            <a:off x="3445120" y="5945063"/>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look</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矩形: 圓角 7">
            <a:extLst>
              <a:ext uri="{FF2B5EF4-FFF2-40B4-BE49-F238E27FC236}">
                <a16:creationId xmlns:a16="http://schemas.microsoft.com/office/drawing/2014/main" id="{7F5EC288-3EEC-53D7-F471-00A1EB4B20F1}"/>
              </a:ext>
            </a:extLst>
          </p:cNvPr>
          <p:cNvSpPr/>
          <p:nvPr/>
        </p:nvSpPr>
        <p:spPr>
          <a:xfrm>
            <a:off x="7997574" y="5945063"/>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my</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矩形: 圓角 8">
            <a:extLst>
              <a:ext uri="{FF2B5EF4-FFF2-40B4-BE49-F238E27FC236}">
                <a16:creationId xmlns:a16="http://schemas.microsoft.com/office/drawing/2014/main" id="{99BBB895-D1EC-9F68-B270-10376DD25113}"/>
              </a:ext>
            </a:extLst>
          </p:cNvPr>
          <p:cNvSpPr/>
          <p:nvPr/>
        </p:nvSpPr>
        <p:spPr>
          <a:xfrm>
            <a:off x="10273800" y="5945063"/>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eyes</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7AB4EE92-CA3A-BEBE-9B29-310812A93FC4}"/>
              </a:ext>
            </a:extLst>
          </p:cNvPr>
          <p:cNvSpPr/>
          <p:nvPr/>
        </p:nvSpPr>
        <p:spPr>
          <a:xfrm>
            <a:off x="5721347" y="5945063"/>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23B655AC-E143-5A84-5466-2DF5DB3D7358}"/>
              </a:ext>
            </a:extLst>
          </p:cNvPr>
          <p:cNvSpPr/>
          <p:nvPr/>
        </p:nvSpPr>
        <p:spPr>
          <a:xfrm>
            <a:off x="390853" y="3891565"/>
            <a:ext cx="1955227" cy="988183"/>
          </a:xfrm>
          <a:prstGeom prst="roundRect">
            <a:avLst/>
          </a:prstGeom>
          <a:solidFill>
            <a:schemeClr val="accent1">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lvl="0" algn="ctr">
              <a:defRPr/>
            </a:pPr>
            <a:r>
              <a:rPr lang="en-US" altLang="zh-TW" sz="2800" dirty="0">
                <a:solidFill>
                  <a:prstClr val="black"/>
                </a:solidFill>
              </a:rPr>
              <a:t>Tokenizer</a:t>
            </a:r>
            <a:endParaRPr lang="zh-TW" altLang="en-US" sz="2800" dirty="0">
              <a:solidFill>
                <a:prstClr val="black"/>
              </a:solidFill>
            </a:endParaRPr>
          </a:p>
        </p:txBody>
      </p:sp>
      <p:sp>
        <p:nvSpPr>
          <p:cNvPr id="16" name="矩形: 圓角 15">
            <a:extLst>
              <a:ext uri="{FF2B5EF4-FFF2-40B4-BE49-F238E27FC236}">
                <a16:creationId xmlns:a16="http://schemas.microsoft.com/office/drawing/2014/main" id="{F6E896B3-6EA7-A6C0-ADB4-62A1998B69E4}"/>
              </a:ext>
            </a:extLst>
          </p:cNvPr>
          <p:cNvSpPr/>
          <p:nvPr/>
        </p:nvSpPr>
        <p:spPr>
          <a:xfrm>
            <a:off x="3445120" y="4204682"/>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1531D8C9-35AE-C6B1-C69D-F2920C92AA26}"/>
              </a:ext>
            </a:extLst>
          </p:cNvPr>
          <p:cNvSpPr/>
          <p:nvPr/>
        </p:nvSpPr>
        <p:spPr>
          <a:xfrm>
            <a:off x="7997574" y="4204682"/>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EA1616C6-DFA3-7D1B-DAC8-62BF2AC68FB7}"/>
              </a:ext>
            </a:extLst>
          </p:cNvPr>
          <p:cNvSpPr/>
          <p:nvPr/>
        </p:nvSpPr>
        <p:spPr>
          <a:xfrm>
            <a:off x="10273800" y="4204682"/>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162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518D49D0-DA97-6CF2-EEBD-1E13D9690A26}"/>
              </a:ext>
            </a:extLst>
          </p:cNvPr>
          <p:cNvSpPr/>
          <p:nvPr/>
        </p:nvSpPr>
        <p:spPr>
          <a:xfrm>
            <a:off x="5721347" y="4204682"/>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56</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1" name="直線單箭頭接點 20">
            <a:extLst>
              <a:ext uri="{FF2B5EF4-FFF2-40B4-BE49-F238E27FC236}">
                <a16:creationId xmlns:a16="http://schemas.microsoft.com/office/drawing/2014/main" id="{9104ED9E-FE63-637C-A173-4060008C3487}"/>
              </a:ext>
            </a:extLst>
          </p:cNvPr>
          <p:cNvCxnSpPr>
            <a:cxnSpLocks/>
          </p:cNvCxnSpPr>
          <p:nvPr/>
        </p:nvCxnSpPr>
        <p:spPr>
          <a:xfrm>
            <a:off x="2381250" y="4372752"/>
            <a:ext cx="9525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a:extLst>
              <a:ext uri="{FF2B5EF4-FFF2-40B4-BE49-F238E27FC236}">
                <a16:creationId xmlns:a16="http://schemas.microsoft.com/office/drawing/2014/main" id="{A74EC0E2-44D3-AF3D-236B-B3ED3695D8EC}"/>
              </a:ext>
            </a:extLst>
          </p:cNvPr>
          <p:cNvCxnSpPr>
            <a:cxnSpLocks/>
          </p:cNvCxnSpPr>
          <p:nvPr/>
        </p:nvCxnSpPr>
        <p:spPr>
          <a:xfrm flipV="1">
            <a:off x="1368466" y="4931288"/>
            <a:ext cx="0" cy="11947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B1A5D597-BE50-CD44-E261-10899CD10AA0}"/>
              </a:ext>
            </a:extLst>
          </p:cNvPr>
          <p:cNvCxnSpPr>
            <a:cxnSpLocks/>
          </p:cNvCxnSpPr>
          <p:nvPr/>
        </p:nvCxnSpPr>
        <p:spPr>
          <a:xfrm>
            <a:off x="1368466" y="6171706"/>
            <a:ext cx="1774784" cy="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0F53239F-CD5F-22A8-6E58-C5844C208B56}"/>
              </a:ext>
            </a:extLst>
          </p:cNvPr>
          <p:cNvCxnSpPr>
            <a:cxnSpLocks/>
          </p:cNvCxnSpPr>
          <p:nvPr/>
        </p:nvCxnSpPr>
        <p:spPr>
          <a:xfrm>
            <a:off x="1368466" y="5435046"/>
            <a:ext cx="1774784" cy="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F9DC198D-844F-50F0-C8CB-0A260BD90546}"/>
              </a:ext>
            </a:extLst>
          </p:cNvPr>
          <p:cNvSpPr txBox="1"/>
          <p:nvPr/>
        </p:nvSpPr>
        <p:spPr>
          <a:xfrm>
            <a:off x="2594219" y="4721502"/>
            <a:ext cx="9597781" cy="461665"/>
          </a:xfrm>
          <a:prstGeom prst="rect">
            <a:avLst/>
          </a:prstGeom>
          <a:noFill/>
        </p:spPr>
        <p:txBody>
          <a:bodyPr wrap="square">
            <a:spAutoFit/>
          </a:bodyPr>
          <a:lstStyle/>
          <a:p>
            <a:pPr lvl="0" algn="ctr">
              <a:defRPr/>
            </a:pPr>
            <a:r>
              <a:rPr lang="en-US" altLang="zh-TW" sz="2400" dirty="0"/>
              <a:t>a large amount of unlabeled audio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文字方塊 41">
            <a:extLst>
              <a:ext uri="{FF2B5EF4-FFF2-40B4-BE49-F238E27FC236}">
                <a16:creationId xmlns:a16="http://schemas.microsoft.com/office/drawing/2014/main" id="{55945362-A221-2A1F-F5BB-8ABF2A499B20}"/>
              </a:ext>
            </a:extLst>
          </p:cNvPr>
          <p:cNvSpPr txBox="1"/>
          <p:nvPr/>
        </p:nvSpPr>
        <p:spPr>
          <a:xfrm>
            <a:off x="952416" y="2072330"/>
            <a:ext cx="236305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a:solidFill>
                  <a:prstClr val="black"/>
                </a:solidFill>
                <a:latin typeface="Calibri" panose="020F0502020204030204"/>
                <a:ea typeface="新細明體" panose="02020500000000000000" pitchFamily="18" charset="-120"/>
              </a:rPr>
              <a:t>T</a:t>
            </a: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ext</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LLM</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 initialization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45" name="群組 44">
            <a:extLst>
              <a:ext uri="{FF2B5EF4-FFF2-40B4-BE49-F238E27FC236}">
                <a16:creationId xmlns:a16="http://schemas.microsoft.com/office/drawing/2014/main" id="{DA838B92-9C5B-A1C5-79B8-978FEE4A7855}"/>
              </a:ext>
            </a:extLst>
          </p:cNvPr>
          <p:cNvGrpSpPr/>
          <p:nvPr/>
        </p:nvGrpSpPr>
        <p:grpSpPr>
          <a:xfrm>
            <a:off x="4731078" y="1819810"/>
            <a:ext cx="864706" cy="722133"/>
            <a:chOff x="4525120" y="1657550"/>
            <a:chExt cx="864706" cy="722133"/>
          </a:xfrm>
        </p:grpSpPr>
        <p:cxnSp>
          <p:nvCxnSpPr>
            <p:cNvPr id="43" name="直線單箭頭接點 42">
              <a:extLst>
                <a:ext uri="{FF2B5EF4-FFF2-40B4-BE49-F238E27FC236}">
                  <a16:creationId xmlns:a16="http://schemas.microsoft.com/office/drawing/2014/main" id="{DEB7FA70-1E90-6396-48F7-D30B1B208FEF}"/>
                </a:ext>
              </a:extLst>
            </p:cNvPr>
            <p:cNvCxnSpPr>
              <a:cxnSpLocks/>
            </p:cNvCxnSpPr>
            <p:nvPr/>
          </p:nvCxnSpPr>
          <p:spPr>
            <a:xfrm flipH="1" flipV="1">
              <a:off x="4525120" y="1657550"/>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FE8480E7-5EE5-03B6-B154-EF7CBE3C91BF}"/>
                </a:ext>
              </a:extLst>
            </p:cNvPr>
            <p:cNvCxnSpPr>
              <a:cxnSpLocks/>
            </p:cNvCxnSpPr>
            <p:nvPr/>
          </p:nvCxnSpPr>
          <p:spPr>
            <a:xfrm flipV="1">
              <a:off x="4955794" y="1674833"/>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6" name="矩形: 圓角 45">
            <a:extLst>
              <a:ext uri="{FF2B5EF4-FFF2-40B4-BE49-F238E27FC236}">
                <a16:creationId xmlns:a16="http://schemas.microsoft.com/office/drawing/2014/main" id="{9A27795F-E6B5-C870-E0D4-7BEF2E4E79EF}"/>
              </a:ext>
            </a:extLst>
          </p:cNvPr>
          <p:cNvSpPr/>
          <p:nvPr/>
        </p:nvSpPr>
        <p:spPr>
          <a:xfrm>
            <a:off x="4092567" y="1371849"/>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矩形: 圓角 46">
            <a:extLst>
              <a:ext uri="{FF2B5EF4-FFF2-40B4-BE49-F238E27FC236}">
                <a16:creationId xmlns:a16="http://schemas.microsoft.com/office/drawing/2014/main" id="{79C82606-532C-1A40-0A29-93CF22A68C96}"/>
              </a:ext>
            </a:extLst>
          </p:cNvPr>
          <p:cNvSpPr/>
          <p:nvPr/>
        </p:nvSpPr>
        <p:spPr>
          <a:xfrm>
            <a:off x="5181347" y="1371849"/>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56</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54" name="直線單箭頭接點 53">
            <a:extLst>
              <a:ext uri="{FF2B5EF4-FFF2-40B4-BE49-F238E27FC236}">
                <a16:creationId xmlns:a16="http://schemas.microsoft.com/office/drawing/2014/main" id="{0B5B2ED2-393C-A85F-234E-0D151339ADA9}"/>
              </a:ext>
            </a:extLst>
          </p:cNvPr>
          <p:cNvCxnSpPr/>
          <p:nvPr/>
        </p:nvCxnSpPr>
        <p:spPr>
          <a:xfrm>
            <a:off x="3143250" y="2559525"/>
            <a:ext cx="633254" cy="0"/>
          </a:xfrm>
          <a:prstGeom prst="straightConnector1">
            <a:avLst/>
          </a:prstGeom>
          <a:ln w="762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55" name="群組 54">
            <a:extLst>
              <a:ext uri="{FF2B5EF4-FFF2-40B4-BE49-F238E27FC236}">
                <a16:creationId xmlns:a16="http://schemas.microsoft.com/office/drawing/2014/main" id="{1DCA8975-ABD4-3062-0D95-34239571CCFB}"/>
              </a:ext>
            </a:extLst>
          </p:cNvPr>
          <p:cNvGrpSpPr/>
          <p:nvPr/>
        </p:nvGrpSpPr>
        <p:grpSpPr>
          <a:xfrm>
            <a:off x="7278272" y="1807032"/>
            <a:ext cx="864706" cy="722133"/>
            <a:chOff x="4525120" y="1657550"/>
            <a:chExt cx="864706" cy="722133"/>
          </a:xfrm>
        </p:grpSpPr>
        <p:cxnSp>
          <p:nvCxnSpPr>
            <p:cNvPr id="56" name="直線單箭頭接點 55">
              <a:extLst>
                <a:ext uri="{FF2B5EF4-FFF2-40B4-BE49-F238E27FC236}">
                  <a16:creationId xmlns:a16="http://schemas.microsoft.com/office/drawing/2014/main" id="{088463E1-43D9-9918-D43F-E573DFEE7078}"/>
                </a:ext>
              </a:extLst>
            </p:cNvPr>
            <p:cNvCxnSpPr>
              <a:cxnSpLocks/>
            </p:cNvCxnSpPr>
            <p:nvPr/>
          </p:nvCxnSpPr>
          <p:spPr>
            <a:xfrm flipH="1" flipV="1">
              <a:off x="4525120" y="1657550"/>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0188774D-5ADC-A504-D3B4-EDD5F5BAC18E}"/>
                </a:ext>
              </a:extLst>
            </p:cNvPr>
            <p:cNvCxnSpPr>
              <a:cxnSpLocks/>
            </p:cNvCxnSpPr>
            <p:nvPr/>
          </p:nvCxnSpPr>
          <p:spPr>
            <a:xfrm flipV="1">
              <a:off x="4955794" y="1674833"/>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8" name="矩形: 圓角 57">
            <a:extLst>
              <a:ext uri="{FF2B5EF4-FFF2-40B4-BE49-F238E27FC236}">
                <a16:creationId xmlns:a16="http://schemas.microsoft.com/office/drawing/2014/main" id="{23DD6C93-E8EB-075F-0829-92C842D779E7}"/>
              </a:ext>
            </a:extLst>
          </p:cNvPr>
          <p:cNvSpPr/>
          <p:nvPr/>
        </p:nvSpPr>
        <p:spPr>
          <a:xfrm>
            <a:off x="6639761" y="1359071"/>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my</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9" name="矩形: 圓角 58">
            <a:extLst>
              <a:ext uri="{FF2B5EF4-FFF2-40B4-BE49-F238E27FC236}">
                <a16:creationId xmlns:a16="http://schemas.microsoft.com/office/drawing/2014/main" id="{72B9309B-1556-B302-1C49-1B5A5AC2DB7A}"/>
              </a:ext>
            </a:extLst>
          </p:cNvPr>
          <p:cNvSpPr/>
          <p:nvPr/>
        </p:nvSpPr>
        <p:spPr>
          <a:xfrm>
            <a:off x="7728541" y="1359071"/>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64" name="群組 63">
            <a:extLst>
              <a:ext uri="{FF2B5EF4-FFF2-40B4-BE49-F238E27FC236}">
                <a16:creationId xmlns:a16="http://schemas.microsoft.com/office/drawing/2014/main" id="{CBCD545C-76CC-DD81-14C4-F3CB88DD6A3D}"/>
              </a:ext>
            </a:extLst>
          </p:cNvPr>
          <p:cNvGrpSpPr/>
          <p:nvPr/>
        </p:nvGrpSpPr>
        <p:grpSpPr>
          <a:xfrm>
            <a:off x="9795722" y="1815307"/>
            <a:ext cx="864706" cy="722133"/>
            <a:chOff x="4525120" y="1657550"/>
            <a:chExt cx="864706" cy="722133"/>
          </a:xfrm>
        </p:grpSpPr>
        <p:cxnSp>
          <p:nvCxnSpPr>
            <p:cNvPr id="65" name="直線單箭頭接點 64">
              <a:extLst>
                <a:ext uri="{FF2B5EF4-FFF2-40B4-BE49-F238E27FC236}">
                  <a16:creationId xmlns:a16="http://schemas.microsoft.com/office/drawing/2014/main" id="{28D1127E-352D-37E2-B182-947AC07CD487}"/>
                </a:ext>
              </a:extLst>
            </p:cNvPr>
            <p:cNvCxnSpPr>
              <a:cxnSpLocks/>
            </p:cNvCxnSpPr>
            <p:nvPr/>
          </p:nvCxnSpPr>
          <p:spPr>
            <a:xfrm flipH="1" flipV="1">
              <a:off x="4525120" y="1657550"/>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C55E69AF-7ECD-E24D-FE90-7E22AE485657}"/>
                </a:ext>
              </a:extLst>
            </p:cNvPr>
            <p:cNvCxnSpPr>
              <a:cxnSpLocks/>
            </p:cNvCxnSpPr>
            <p:nvPr/>
          </p:nvCxnSpPr>
          <p:spPr>
            <a:xfrm flipV="1">
              <a:off x="4955794" y="1674833"/>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7" name="矩形: 圓角 66">
            <a:extLst>
              <a:ext uri="{FF2B5EF4-FFF2-40B4-BE49-F238E27FC236}">
                <a16:creationId xmlns:a16="http://schemas.microsoft.com/office/drawing/2014/main" id="{99A56DDB-6387-C486-7A9B-A80DCECED773}"/>
              </a:ext>
            </a:extLst>
          </p:cNvPr>
          <p:cNvSpPr/>
          <p:nvPr/>
        </p:nvSpPr>
        <p:spPr>
          <a:xfrm>
            <a:off x="9157211" y="1367346"/>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eyes</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8" name="矩形: 圓角 67">
            <a:extLst>
              <a:ext uri="{FF2B5EF4-FFF2-40B4-BE49-F238E27FC236}">
                <a16:creationId xmlns:a16="http://schemas.microsoft.com/office/drawing/2014/main" id="{43EED6D9-61C7-594B-BADE-6947BF4C3698}"/>
              </a:ext>
            </a:extLst>
          </p:cNvPr>
          <p:cNvSpPr/>
          <p:nvPr/>
        </p:nvSpPr>
        <p:spPr>
          <a:xfrm>
            <a:off x="10245991" y="1367346"/>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162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033554ED-CEE2-2ACE-990F-4A65B7E3A562}"/>
              </a:ext>
            </a:extLst>
          </p:cNvPr>
          <p:cNvSpPr/>
          <p:nvPr/>
        </p:nvSpPr>
        <p:spPr>
          <a:xfrm>
            <a:off x="3967004" y="2203434"/>
            <a:ext cx="7800600" cy="712182"/>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51" name="直線單箭頭接點 50">
            <a:extLst>
              <a:ext uri="{FF2B5EF4-FFF2-40B4-BE49-F238E27FC236}">
                <a16:creationId xmlns:a16="http://schemas.microsoft.com/office/drawing/2014/main" id="{85C22C91-E681-D9A9-9FCC-B639FC15457F}"/>
              </a:ext>
            </a:extLst>
          </p:cNvPr>
          <p:cNvCxnSpPr>
            <a:cxnSpLocks/>
          </p:cNvCxnSpPr>
          <p:nvPr/>
        </p:nvCxnSpPr>
        <p:spPr>
          <a:xfrm flipV="1">
            <a:off x="4590988" y="2891001"/>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FF7599D2-91EF-F8D8-EE03-E4A360350A7E}"/>
              </a:ext>
            </a:extLst>
          </p:cNvPr>
          <p:cNvCxnSpPr>
            <a:cxnSpLocks/>
          </p:cNvCxnSpPr>
          <p:nvPr/>
        </p:nvCxnSpPr>
        <p:spPr>
          <a:xfrm flipH="1" flipV="1">
            <a:off x="5371346" y="2904366"/>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5BFEACC1-C53D-73C0-5575-0EE5D442E386}"/>
              </a:ext>
            </a:extLst>
          </p:cNvPr>
          <p:cNvCxnSpPr>
            <a:cxnSpLocks/>
          </p:cNvCxnSpPr>
          <p:nvPr/>
        </p:nvCxnSpPr>
        <p:spPr>
          <a:xfrm flipV="1">
            <a:off x="7138182" y="2878223"/>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a:extLst>
              <a:ext uri="{FF2B5EF4-FFF2-40B4-BE49-F238E27FC236}">
                <a16:creationId xmlns:a16="http://schemas.microsoft.com/office/drawing/2014/main" id="{AEBFC1D9-0E97-8B9B-6D0B-25D4F27E1DD5}"/>
              </a:ext>
            </a:extLst>
          </p:cNvPr>
          <p:cNvCxnSpPr>
            <a:cxnSpLocks/>
          </p:cNvCxnSpPr>
          <p:nvPr/>
        </p:nvCxnSpPr>
        <p:spPr>
          <a:xfrm flipH="1" flipV="1">
            <a:off x="7918540" y="2891588"/>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9D70D84C-54F1-9354-8A2E-B15650411C60}"/>
              </a:ext>
            </a:extLst>
          </p:cNvPr>
          <p:cNvCxnSpPr>
            <a:cxnSpLocks/>
          </p:cNvCxnSpPr>
          <p:nvPr/>
        </p:nvCxnSpPr>
        <p:spPr>
          <a:xfrm flipV="1">
            <a:off x="9655632" y="2886498"/>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a:extLst>
              <a:ext uri="{FF2B5EF4-FFF2-40B4-BE49-F238E27FC236}">
                <a16:creationId xmlns:a16="http://schemas.microsoft.com/office/drawing/2014/main" id="{340E9201-2F29-0B5D-C63B-3B3ACE120B46}"/>
              </a:ext>
            </a:extLst>
          </p:cNvPr>
          <p:cNvCxnSpPr>
            <a:cxnSpLocks/>
          </p:cNvCxnSpPr>
          <p:nvPr/>
        </p:nvCxnSpPr>
        <p:spPr>
          <a:xfrm flipH="1" flipV="1">
            <a:off x="10435990" y="2899863"/>
            <a:ext cx="434032" cy="7048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圓角 28">
            <a:extLst>
              <a:ext uri="{FF2B5EF4-FFF2-40B4-BE49-F238E27FC236}">
                <a16:creationId xmlns:a16="http://schemas.microsoft.com/office/drawing/2014/main" id="{2D24CB97-B207-A737-3065-A17BAF0806EE}"/>
              </a:ext>
            </a:extLst>
          </p:cNvPr>
          <p:cNvSpPr/>
          <p:nvPr/>
        </p:nvSpPr>
        <p:spPr>
          <a:xfrm>
            <a:off x="4092567" y="3492311"/>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look</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BF776536-7C6D-8ED1-E2CA-B7FA63E7D156}"/>
              </a:ext>
            </a:extLst>
          </p:cNvPr>
          <p:cNvSpPr/>
          <p:nvPr/>
        </p:nvSpPr>
        <p:spPr>
          <a:xfrm>
            <a:off x="5181347" y="3492311"/>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101</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2" name="矩形: 圓角 61">
            <a:extLst>
              <a:ext uri="{FF2B5EF4-FFF2-40B4-BE49-F238E27FC236}">
                <a16:creationId xmlns:a16="http://schemas.microsoft.com/office/drawing/2014/main" id="{179DC786-6DA7-74CD-D526-84D1DBCE4AB4}"/>
              </a:ext>
            </a:extLst>
          </p:cNvPr>
          <p:cNvSpPr/>
          <p:nvPr/>
        </p:nvSpPr>
        <p:spPr>
          <a:xfrm>
            <a:off x="6639761" y="3479533"/>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3" name="矩形: 圓角 62">
            <a:extLst>
              <a:ext uri="{FF2B5EF4-FFF2-40B4-BE49-F238E27FC236}">
                <a16:creationId xmlns:a16="http://schemas.microsoft.com/office/drawing/2014/main" id="{89E349FA-74CA-9C8E-59A7-4928E17DA60D}"/>
              </a:ext>
            </a:extLst>
          </p:cNvPr>
          <p:cNvSpPr/>
          <p:nvPr/>
        </p:nvSpPr>
        <p:spPr>
          <a:xfrm>
            <a:off x="7728541" y="3479533"/>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56</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1" name="矩形: 圓角 70">
            <a:extLst>
              <a:ext uri="{FF2B5EF4-FFF2-40B4-BE49-F238E27FC236}">
                <a16:creationId xmlns:a16="http://schemas.microsoft.com/office/drawing/2014/main" id="{179C0DAF-CBF0-A12B-1C82-1CE6821519D8}"/>
              </a:ext>
            </a:extLst>
          </p:cNvPr>
          <p:cNvSpPr/>
          <p:nvPr/>
        </p:nvSpPr>
        <p:spPr>
          <a:xfrm>
            <a:off x="9157211" y="3487808"/>
            <a:ext cx="1080000" cy="36195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my</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2" name="矩形: 圓角 71">
            <a:extLst>
              <a:ext uri="{FF2B5EF4-FFF2-40B4-BE49-F238E27FC236}">
                <a16:creationId xmlns:a16="http://schemas.microsoft.com/office/drawing/2014/main" id="{A402C2CB-6329-FD34-76E3-BF6D679E85F5}"/>
              </a:ext>
            </a:extLst>
          </p:cNvPr>
          <p:cNvSpPr/>
          <p:nvPr/>
        </p:nvSpPr>
        <p:spPr>
          <a:xfrm>
            <a:off x="10245991" y="3487808"/>
            <a:ext cx="1080000" cy="36195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文字方塊 11">
            <a:extLst>
              <a:ext uri="{FF2B5EF4-FFF2-40B4-BE49-F238E27FC236}">
                <a16:creationId xmlns:a16="http://schemas.microsoft.com/office/drawing/2014/main" id="{B86721AA-C529-0FFC-E5AA-8D744801099E}"/>
              </a:ext>
            </a:extLst>
          </p:cNvPr>
          <p:cNvSpPr txBox="1"/>
          <p:nvPr/>
        </p:nvSpPr>
        <p:spPr>
          <a:xfrm>
            <a:off x="8491004" y="597710"/>
            <a:ext cx="65532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https://arxiv.org/abs/2504.07053</a:t>
            </a:r>
          </a:p>
        </p:txBody>
      </p:sp>
    </p:spTree>
    <p:extLst>
      <p:ext uri="{BB962C8B-B14F-4D97-AF65-F5344CB8AC3E}">
        <p14:creationId xmlns:p14="http://schemas.microsoft.com/office/powerpoint/2010/main" val="34928551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6" grpId="0" animBg="1"/>
      <p:bldP spid="17" grpId="0" animBg="1"/>
      <p:bldP spid="18" grpId="0" animBg="1"/>
      <p:bldP spid="19" grpId="0" animBg="1"/>
      <p:bldP spid="41" grpId="0"/>
      <p:bldP spid="42" grpId="0"/>
      <p:bldP spid="46" grpId="0" animBg="1"/>
      <p:bldP spid="47" grpId="0" animBg="1"/>
      <p:bldP spid="58" grpId="0" animBg="1"/>
      <p:bldP spid="59" grpId="0" animBg="1"/>
      <p:bldP spid="67" grpId="0" animBg="1"/>
      <p:bldP spid="68" grpId="0" animBg="1"/>
      <p:bldP spid="28" grpId="0" animBg="1"/>
      <p:bldP spid="29" grpId="0" animBg="1"/>
      <p:bldP spid="30" grpId="0" animBg="1"/>
      <p:bldP spid="62" grpId="0" animBg="1"/>
      <p:bldP spid="63" grpId="0" animBg="1"/>
      <p:bldP spid="71" grpId="0" animBg="1"/>
      <p:bldP spid="7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E202AB-2375-170D-0559-2776414DD4E7}"/>
              </a:ext>
            </a:extLst>
          </p:cNvPr>
          <p:cNvSpPr>
            <a:spLocks noGrp="1"/>
          </p:cNvSpPr>
          <p:nvPr>
            <p:ph type="title"/>
          </p:nvPr>
        </p:nvSpPr>
        <p:spPr/>
        <p:txBody>
          <a:bodyPr/>
          <a:lstStyle/>
          <a:p>
            <a:r>
              <a:rPr lang="en-US" altLang="zh-TW" dirty="0"/>
              <a:t>Compared with Other </a:t>
            </a:r>
            <a:r>
              <a:rPr lang="en-US" altLang="zh-TW" b="1" dirty="0"/>
              <a:t>Pretrained</a:t>
            </a:r>
            <a:r>
              <a:rPr lang="en-US" altLang="zh-TW" dirty="0"/>
              <a:t> Models </a:t>
            </a:r>
            <a:endParaRPr lang="zh-TW" altLang="en-US" dirty="0"/>
          </a:p>
        </p:txBody>
      </p:sp>
      <p:sp>
        <p:nvSpPr>
          <p:cNvPr id="5" name="矩形: 圓角 4">
            <a:extLst>
              <a:ext uri="{FF2B5EF4-FFF2-40B4-BE49-F238E27FC236}">
                <a16:creationId xmlns:a16="http://schemas.microsoft.com/office/drawing/2014/main" id="{D146F4B1-E4A5-2249-BB70-2D7154D29E72}"/>
              </a:ext>
            </a:extLst>
          </p:cNvPr>
          <p:cNvSpPr/>
          <p:nvPr/>
        </p:nvSpPr>
        <p:spPr>
          <a:xfrm>
            <a:off x="3141845" y="5094915"/>
            <a:ext cx="1907809" cy="922965"/>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Model C</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矩形: 圓角 5">
            <a:extLst>
              <a:ext uri="{FF2B5EF4-FFF2-40B4-BE49-F238E27FC236}">
                <a16:creationId xmlns:a16="http://schemas.microsoft.com/office/drawing/2014/main" id="{20DC89E9-D034-0088-2814-2880DD9FFC96}"/>
              </a:ext>
            </a:extLst>
          </p:cNvPr>
          <p:cNvSpPr/>
          <p:nvPr/>
        </p:nvSpPr>
        <p:spPr>
          <a:xfrm>
            <a:off x="3141843" y="3619500"/>
            <a:ext cx="1907809" cy="922965"/>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Model B</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矩形: 圓角 6">
            <a:extLst>
              <a:ext uri="{FF2B5EF4-FFF2-40B4-BE49-F238E27FC236}">
                <a16:creationId xmlns:a16="http://schemas.microsoft.com/office/drawing/2014/main" id="{0D34FB8B-6543-32BE-6FD0-AA597DA68725}"/>
              </a:ext>
            </a:extLst>
          </p:cNvPr>
          <p:cNvSpPr/>
          <p:nvPr/>
        </p:nvSpPr>
        <p:spPr>
          <a:xfrm>
            <a:off x="3141844" y="2103604"/>
            <a:ext cx="1907809" cy="922965"/>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Model A</a:t>
            </a:r>
          </a:p>
        </p:txBody>
      </p:sp>
      <p:pic>
        <p:nvPicPr>
          <p:cNvPr id="9"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804957B-997E-CE3A-5BBC-BC63D4928202}"/>
              </a:ext>
            </a:extLst>
          </p:cNvPr>
          <p:cNvPicPr preferRelativeResize="0"/>
          <p:nvPr/>
        </p:nvPicPr>
        <p:blipFill rotWithShape="1">
          <a:blip r:embed="rId2">
            <a:alphaModFix/>
          </a:blip>
          <a:srcRect l="39924" t="74586" r="38724" b="15732"/>
          <a:stretch/>
        </p:blipFill>
        <p:spPr>
          <a:xfrm>
            <a:off x="5734050" y="2059240"/>
            <a:ext cx="2169496" cy="914441"/>
          </a:xfrm>
          <a:prstGeom prst="rect">
            <a:avLst/>
          </a:prstGeom>
          <a:noFill/>
          <a:ln>
            <a:noFill/>
          </a:ln>
        </p:spPr>
      </p:pic>
      <p:pic>
        <p:nvPicPr>
          <p:cNvPr id="10"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5462D61D-9ABC-AE21-E4CE-448C937268A2}"/>
              </a:ext>
            </a:extLst>
          </p:cNvPr>
          <p:cNvPicPr preferRelativeResize="0"/>
          <p:nvPr/>
        </p:nvPicPr>
        <p:blipFill rotWithShape="1">
          <a:blip r:embed="rId2">
            <a:alphaModFix/>
          </a:blip>
          <a:srcRect l="35083" t="84591" r="35071" b="1174"/>
          <a:stretch/>
        </p:blipFill>
        <p:spPr>
          <a:xfrm>
            <a:off x="241528" y="3505027"/>
            <a:ext cx="1907809" cy="910159"/>
          </a:xfrm>
          <a:prstGeom prst="rect">
            <a:avLst/>
          </a:prstGeom>
          <a:noFill/>
          <a:ln>
            <a:noFill/>
          </a:ln>
        </p:spPr>
      </p:pic>
      <p:pic>
        <p:nvPicPr>
          <p:cNvPr id="11"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83728A9-C067-A25D-B94F-13EC0EB97CD1}"/>
              </a:ext>
            </a:extLst>
          </p:cNvPr>
          <p:cNvPicPr preferRelativeResize="0"/>
          <p:nvPr/>
        </p:nvPicPr>
        <p:blipFill rotWithShape="1">
          <a:blip r:embed="rId2">
            <a:alphaModFix/>
          </a:blip>
          <a:srcRect l="39924" t="74586" r="38724" b="15732"/>
          <a:stretch/>
        </p:blipFill>
        <p:spPr>
          <a:xfrm flipH="1">
            <a:off x="5734050" y="3579499"/>
            <a:ext cx="2169496" cy="914441"/>
          </a:xfrm>
          <a:prstGeom prst="rect">
            <a:avLst/>
          </a:prstGeom>
          <a:noFill/>
          <a:ln>
            <a:noFill/>
          </a:ln>
        </p:spPr>
      </p:pic>
      <p:pic>
        <p:nvPicPr>
          <p:cNvPr id="12"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21BA419-FABB-080C-F3F7-FED06B6F6CCF}"/>
              </a:ext>
            </a:extLst>
          </p:cNvPr>
          <p:cNvPicPr preferRelativeResize="0"/>
          <p:nvPr/>
        </p:nvPicPr>
        <p:blipFill rotWithShape="1">
          <a:blip r:embed="rId2">
            <a:alphaModFix/>
          </a:blip>
          <a:srcRect l="35083" t="84591" r="35071" b="1174"/>
          <a:stretch/>
        </p:blipFill>
        <p:spPr>
          <a:xfrm flipH="1" flipV="1">
            <a:off x="5734049" y="5177717"/>
            <a:ext cx="2169494" cy="910159"/>
          </a:xfrm>
          <a:prstGeom prst="rect">
            <a:avLst/>
          </a:prstGeom>
          <a:noFill/>
          <a:ln>
            <a:noFill/>
          </a:ln>
        </p:spPr>
      </p:pic>
      <p:sp>
        <p:nvSpPr>
          <p:cNvPr id="13" name="文字方塊 12">
            <a:extLst>
              <a:ext uri="{FF2B5EF4-FFF2-40B4-BE49-F238E27FC236}">
                <a16:creationId xmlns:a16="http://schemas.microsoft.com/office/drawing/2014/main" id="{2BE8F243-22CA-19BE-64C9-FC2693D707BB}"/>
              </a:ext>
            </a:extLst>
          </p:cNvPr>
          <p:cNvSpPr txBox="1"/>
          <p:nvPr/>
        </p:nvSpPr>
        <p:spPr>
          <a:xfrm>
            <a:off x="5812454" y="1662870"/>
            <a:ext cx="2169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Continuation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5" name="直線單箭頭接點 14">
            <a:extLst>
              <a:ext uri="{FF2B5EF4-FFF2-40B4-BE49-F238E27FC236}">
                <a16:creationId xmlns:a16="http://schemas.microsoft.com/office/drawing/2014/main" id="{AA2D9493-7936-DED4-72E5-703B32056A88}"/>
              </a:ext>
            </a:extLst>
          </p:cNvPr>
          <p:cNvCxnSpPr>
            <a:stCxn id="10" idx="3"/>
            <a:endCxn id="7" idx="1"/>
          </p:cNvCxnSpPr>
          <p:nvPr/>
        </p:nvCxnSpPr>
        <p:spPr>
          <a:xfrm flipV="1">
            <a:off x="2149337" y="2565087"/>
            <a:ext cx="992507" cy="13950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FFD9FCA6-F934-38BE-63EA-497FAB763615}"/>
              </a:ext>
            </a:extLst>
          </p:cNvPr>
          <p:cNvCxnSpPr>
            <a:cxnSpLocks/>
          </p:cNvCxnSpPr>
          <p:nvPr/>
        </p:nvCxnSpPr>
        <p:spPr>
          <a:xfrm>
            <a:off x="2174506" y="4120723"/>
            <a:ext cx="967336" cy="14356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8FABD1CA-FCBF-E769-828A-A9C4C7628275}"/>
              </a:ext>
            </a:extLst>
          </p:cNvPr>
          <p:cNvCxnSpPr>
            <a:cxnSpLocks/>
          </p:cNvCxnSpPr>
          <p:nvPr/>
        </p:nvCxnSpPr>
        <p:spPr>
          <a:xfrm>
            <a:off x="2174506" y="4036719"/>
            <a:ext cx="91760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DC4F8F30-DC01-B1A1-240A-18F9E6136668}"/>
              </a:ext>
            </a:extLst>
          </p:cNvPr>
          <p:cNvCxnSpPr>
            <a:cxnSpLocks/>
          </p:cNvCxnSpPr>
          <p:nvPr/>
        </p:nvCxnSpPr>
        <p:spPr>
          <a:xfrm>
            <a:off x="5049652" y="2584136"/>
            <a:ext cx="63406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F01DCB62-F29D-7A64-DC78-5DBE6CAA3B2F}"/>
              </a:ext>
            </a:extLst>
          </p:cNvPr>
          <p:cNvCxnSpPr>
            <a:cxnSpLocks/>
          </p:cNvCxnSpPr>
          <p:nvPr/>
        </p:nvCxnSpPr>
        <p:spPr>
          <a:xfrm>
            <a:off x="5049651" y="4082623"/>
            <a:ext cx="63406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0082867B-4CB6-BDE0-DAC9-60C84B80C848}"/>
              </a:ext>
            </a:extLst>
          </p:cNvPr>
          <p:cNvCxnSpPr>
            <a:cxnSpLocks/>
          </p:cNvCxnSpPr>
          <p:nvPr/>
        </p:nvCxnSpPr>
        <p:spPr>
          <a:xfrm>
            <a:off x="5049651" y="5632796"/>
            <a:ext cx="63406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字方塊 25">
            <a:extLst>
              <a:ext uri="{FF2B5EF4-FFF2-40B4-BE49-F238E27FC236}">
                <a16:creationId xmlns:a16="http://schemas.microsoft.com/office/drawing/2014/main" id="{689D8738-924E-93E3-7367-CDA4945D04CA}"/>
              </a:ext>
            </a:extLst>
          </p:cNvPr>
          <p:cNvSpPr txBox="1"/>
          <p:nvPr/>
        </p:nvSpPr>
        <p:spPr>
          <a:xfrm>
            <a:off x="7953883" y="2376751"/>
            <a:ext cx="2169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Evaluation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文字方塊 26">
            <a:extLst>
              <a:ext uri="{FF2B5EF4-FFF2-40B4-BE49-F238E27FC236}">
                <a16:creationId xmlns:a16="http://schemas.microsoft.com/office/drawing/2014/main" id="{7662859C-7915-E5E7-7726-6A72E9148535}"/>
              </a:ext>
            </a:extLst>
          </p:cNvPr>
          <p:cNvSpPr txBox="1"/>
          <p:nvPr/>
        </p:nvSpPr>
        <p:spPr>
          <a:xfrm>
            <a:off x="8275918" y="2973681"/>
            <a:ext cx="3916082" cy="193899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ASR+GPT-4o: semantic coherence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UTMOS: audio quality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Human: how reasonable the utterances are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3308868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2D12A-D8A2-356B-9179-CB18C2E62B0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C9E3E23-D60C-431C-0765-30F758B43291}"/>
              </a:ext>
            </a:extLst>
          </p:cNvPr>
          <p:cNvSpPr>
            <a:spLocks noGrp="1"/>
          </p:cNvSpPr>
          <p:nvPr>
            <p:ph type="title"/>
          </p:nvPr>
        </p:nvSpPr>
        <p:spPr/>
        <p:txBody>
          <a:bodyPr/>
          <a:lstStyle/>
          <a:p>
            <a:r>
              <a:rPr lang="en-US" altLang="zh-TW" dirty="0"/>
              <a:t>Compared with Other Pretrained Models </a:t>
            </a:r>
            <a:endParaRPr lang="zh-TW" altLang="en-US" dirty="0"/>
          </a:p>
        </p:txBody>
      </p:sp>
      <p:sp>
        <p:nvSpPr>
          <p:cNvPr id="3" name="內容版面配置區 2">
            <a:extLst>
              <a:ext uri="{FF2B5EF4-FFF2-40B4-BE49-F238E27FC236}">
                <a16:creationId xmlns:a16="http://schemas.microsoft.com/office/drawing/2014/main" id="{0C0E3C35-22CD-16A7-E937-8CBA14A57E23}"/>
              </a:ext>
            </a:extLst>
          </p:cNvPr>
          <p:cNvSpPr>
            <a:spLocks noGrp="1"/>
          </p:cNvSpPr>
          <p:nvPr>
            <p:ph idx="1"/>
          </p:nvPr>
        </p:nvSpPr>
        <p:spPr/>
        <p:txBody>
          <a:bodyPr/>
          <a:lstStyle/>
          <a:p>
            <a:endParaRPr lang="zh-TW" altLang="en-US"/>
          </a:p>
        </p:txBody>
      </p:sp>
      <p:pic>
        <p:nvPicPr>
          <p:cNvPr id="1026" name="Picture 2" descr="輸出圖像">
            <a:extLst>
              <a:ext uri="{FF2B5EF4-FFF2-40B4-BE49-F238E27FC236}">
                <a16:creationId xmlns:a16="http://schemas.microsoft.com/office/drawing/2014/main" id="{91EF4E45-4679-56ED-DFCE-A9B9BBC8FA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55191"/>
            <a:ext cx="8875468" cy="5292205"/>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a:extLst>
              <a:ext uri="{FF2B5EF4-FFF2-40B4-BE49-F238E27FC236}">
                <a16:creationId xmlns:a16="http://schemas.microsoft.com/office/drawing/2014/main" id="{A39E20FD-015A-E494-731F-2646C93F91E1}"/>
              </a:ext>
            </a:extLst>
          </p:cNvPr>
          <p:cNvSpPr txBox="1"/>
          <p:nvPr/>
        </p:nvSpPr>
        <p:spPr>
          <a:xfrm>
            <a:off x="8229600" y="2828835"/>
            <a:ext cx="371475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Compared with the spoken LLM with supervised instruction fine-tuning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4563693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文字, 螢幕擷取畫面, 紫蘿蘭, 洋紅色 的圖片&#10;&#10;AI 產生的內容可能不正確。">
            <a:extLst>
              <a:ext uri="{FF2B5EF4-FFF2-40B4-BE49-F238E27FC236}">
                <a16:creationId xmlns:a16="http://schemas.microsoft.com/office/drawing/2014/main" id="{B5638261-8366-C7B8-039D-31F90D459040}"/>
              </a:ext>
            </a:extLst>
          </p:cNvPr>
          <p:cNvPicPr>
            <a:picLocks noChangeAspect="1"/>
          </p:cNvPicPr>
          <p:nvPr/>
        </p:nvPicPr>
        <p:blipFill>
          <a:blip r:embed="rId2"/>
          <a:stretch>
            <a:fillRect/>
          </a:stretch>
        </p:blipFill>
        <p:spPr>
          <a:xfrm>
            <a:off x="2115536" y="1335646"/>
            <a:ext cx="7670490" cy="4948087"/>
          </a:xfrm>
          <a:prstGeom prst="rect">
            <a:avLst/>
          </a:prstGeom>
        </p:spPr>
      </p:pic>
      <p:sp>
        <p:nvSpPr>
          <p:cNvPr id="2" name="標題 1">
            <a:extLst>
              <a:ext uri="{FF2B5EF4-FFF2-40B4-BE49-F238E27FC236}">
                <a16:creationId xmlns:a16="http://schemas.microsoft.com/office/drawing/2014/main" id="{2DB134FB-5B8B-573C-0E28-F835C28D25FA}"/>
              </a:ext>
            </a:extLst>
          </p:cNvPr>
          <p:cNvSpPr>
            <a:spLocks noGrp="1"/>
          </p:cNvSpPr>
          <p:nvPr>
            <p:ph type="title"/>
          </p:nvPr>
        </p:nvSpPr>
        <p:spPr/>
        <p:txBody>
          <a:bodyPr/>
          <a:lstStyle/>
          <a:p>
            <a:r>
              <a:rPr lang="en-US" altLang="zh-TW" dirty="0"/>
              <a:t>English Demo</a:t>
            </a:r>
            <a:endParaRPr lang="zh-TW" altLang="en-US" dirty="0"/>
          </a:p>
        </p:txBody>
      </p:sp>
      <p:sp>
        <p:nvSpPr>
          <p:cNvPr id="5" name="文字方塊 4">
            <a:extLst>
              <a:ext uri="{FF2B5EF4-FFF2-40B4-BE49-F238E27FC236}">
                <a16:creationId xmlns:a16="http://schemas.microsoft.com/office/drawing/2014/main" id="{CD04FAD3-9C39-8C46-AC14-B11195DA5B4C}"/>
              </a:ext>
            </a:extLst>
          </p:cNvPr>
          <p:cNvSpPr txBox="1"/>
          <p:nvPr/>
        </p:nvSpPr>
        <p:spPr>
          <a:xfrm>
            <a:off x="5423170" y="6099067"/>
            <a:ext cx="6099242" cy="369332"/>
          </a:xfrm>
          <a:prstGeom prst="rect">
            <a:avLst/>
          </a:prstGeom>
          <a:noFill/>
        </p:spPr>
        <p:txBody>
          <a:bodyPr wrap="square">
            <a:spAutoFit/>
          </a:bodyPr>
          <a:lstStyle/>
          <a:p>
            <a:r>
              <a:rPr lang="zh-TW" altLang="en-US" dirty="0"/>
              <a:t>https://www.youtube.com/watch?v=gkAyqoQkOSk&amp;t=4450s</a:t>
            </a:r>
          </a:p>
        </p:txBody>
      </p:sp>
    </p:spTree>
    <p:extLst>
      <p:ext uri="{BB962C8B-B14F-4D97-AF65-F5344CB8AC3E}">
        <p14:creationId xmlns:p14="http://schemas.microsoft.com/office/powerpoint/2010/main" val="424173664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7EAE8E-D692-6FDE-F21B-0D53EF0274E5}"/>
              </a:ext>
            </a:extLst>
          </p:cNvPr>
          <p:cNvSpPr>
            <a:spLocks noGrp="1"/>
          </p:cNvSpPr>
          <p:nvPr>
            <p:ph type="title"/>
          </p:nvPr>
        </p:nvSpPr>
        <p:spPr/>
        <p:txBody>
          <a:bodyPr/>
          <a:lstStyle/>
          <a:p>
            <a:r>
              <a:rPr lang="en-US" altLang="zh-TW" dirty="0"/>
              <a:t>Chinese Demo </a:t>
            </a:r>
            <a:endParaRPr lang="zh-TW" altLang="en-US" dirty="0"/>
          </a:p>
        </p:txBody>
      </p:sp>
      <p:pic>
        <p:nvPicPr>
          <p:cNvPr id="4" name="give-talk_original">
            <a:hlinkClick r:id="" action="ppaction://media"/>
            <a:extLst>
              <a:ext uri="{FF2B5EF4-FFF2-40B4-BE49-F238E27FC236}">
                <a16:creationId xmlns:a16="http://schemas.microsoft.com/office/drawing/2014/main" id="{98DEAA06-AC8C-E765-E5BF-CBDD16AF7427}"/>
              </a:ext>
            </a:extLst>
          </p:cNvPr>
          <p:cNvPicPr>
            <a:picLocks noChangeAspect="1"/>
          </p:cNvPicPr>
          <p:nvPr>
            <a:audioFile r:link="rId2"/>
            <p:extLst>
              <p:ext uri="{DAA4B4D4-6D71-4841-9C94-3DE7FCFB9230}">
                <p14:media xmlns:p14="http://schemas.microsoft.com/office/powerpoint/2010/main" r:embed="rId1"/>
              </p:ext>
            </p:extLst>
          </p:nvPr>
        </p:nvPicPr>
        <p:blipFill>
          <a:blip r:embed="rId22"/>
          <a:stretch>
            <a:fillRect/>
          </a:stretch>
        </p:blipFill>
        <p:spPr>
          <a:xfrm>
            <a:off x="4541997" y="4814157"/>
            <a:ext cx="609600" cy="609600"/>
          </a:xfrm>
          <a:prstGeom prst="rect">
            <a:avLst/>
          </a:prstGeom>
        </p:spPr>
      </p:pic>
      <p:sp>
        <p:nvSpPr>
          <p:cNvPr id="5" name="文字方塊 4">
            <a:extLst>
              <a:ext uri="{FF2B5EF4-FFF2-40B4-BE49-F238E27FC236}">
                <a16:creationId xmlns:a16="http://schemas.microsoft.com/office/drawing/2014/main" id="{315C668A-1A26-FA71-ED80-2DEE1B324624}"/>
              </a:ext>
            </a:extLst>
          </p:cNvPr>
          <p:cNvSpPr txBox="1"/>
          <p:nvPr/>
        </p:nvSpPr>
        <p:spPr>
          <a:xfrm>
            <a:off x="4309735" y="5616741"/>
            <a:ext cx="2914679" cy="646331"/>
          </a:xfrm>
          <a:prstGeom prst="rect">
            <a:avLst/>
          </a:prstGeom>
          <a:noFill/>
        </p:spPr>
        <p:txBody>
          <a:bodyPr wrap="square" rtlCol="0">
            <a:spAutoFit/>
          </a:bodyPr>
          <a:lstStyle/>
          <a:p>
            <a:r>
              <a:rPr lang="zh-TW" altLang="en-US" dirty="0"/>
              <a:t>大家好我是李宏毅</a:t>
            </a:r>
            <a:endParaRPr lang="en-US" altLang="zh-TW" dirty="0"/>
          </a:p>
          <a:p>
            <a:r>
              <a:rPr lang="zh-TW" altLang="en-US" dirty="0"/>
              <a:t>今天很高興來給這場演講</a:t>
            </a:r>
          </a:p>
        </p:txBody>
      </p:sp>
      <p:pic>
        <p:nvPicPr>
          <p:cNvPr id="6" name="give-talk_stage2_reconstructed">
            <a:hlinkClick r:id="" action="ppaction://media"/>
            <a:extLst>
              <a:ext uri="{FF2B5EF4-FFF2-40B4-BE49-F238E27FC236}">
                <a16:creationId xmlns:a16="http://schemas.microsoft.com/office/drawing/2014/main" id="{813813D7-6260-F32D-E2E5-7EE95B29A8E3}"/>
              </a:ext>
            </a:extLst>
          </p:cNvPr>
          <p:cNvPicPr>
            <a:picLocks noChangeAspect="1"/>
          </p:cNvPicPr>
          <p:nvPr>
            <a:audioFile r:link="rId4"/>
            <p:extLst>
              <p:ext uri="{DAA4B4D4-6D71-4841-9C94-3DE7FCFB9230}">
                <p14:media xmlns:p14="http://schemas.microsoft.com/office/powerpoint/2010/main" r:embed="rId3"/>
              </p:ext>
            </p:extLst>
          </p:nvPr>
        </p:nvPicPr>
        <p:blipFill>
          <a:blip r:embed="rId22"/>
          <a:stretch>
            <a:fillRect/>
          </a:stretch>
        </p:blipFill>
        <p:spPr>
          <a:xfrm>
            <a:off x="6325777" y="4812259"/>
            <a:ext cx="609600" cy="609600"/>
          </a:xfrm>
          <a:prstGeom prst="rect">
            <a:avLst/>
          </a:prstGeom>
        </p:spPr>
      </p:pic>
      <p:pic>
        <p:nvPicPr>
          <p:cNvPr id="10" name="hello-only_original">
            <a:hlinkClick r:id="" action="ppaction://media"/>
            <a:extLst>
              <a:ext uri="{FF2B5EF4-FFF2-40B4-BE49-F238E27FC236}">
                <a16:creationId xmlns:a16="http://schemas.microsoft.com/office/drawing/2014/main" id="{7E4E0A2E-0F09-1EA4-48F9-04B2099BE4F5}"/>
              </a:ext>
            </a:extLst>
          </p:cNvPr>
          <p:cNvPicPr>
            <a:picLocks noChangeAspect="1"/>
          </p:cNvPicPr>
          <p:nvPr>
            <a:audioFile r:link="rId6"/>
            <p:extLst>
              <p:ext uri="{DAA4B4D4-6D71-4841-9C94-3DE7FCFB9230}">
                <p14:media xmlns:p14="http://schemas.microsoft.com/office/powerpoint/2010/main" r:embed="rId5"/>
              </p:ext>
            </p:extLst>
          </p:nvPr>
        </p:nvPicPr>
        <p:blipFill>
          <a:blip r:embed="rId22"/>
          <a:stretch>
            <a:fillRect/>
          </a:stretch>
        </p:blipFill>
        <p:spPr>
          <a:xfrm>
            <a:off x="4541997" y="1543000"/>
            <a:ext cx="609600" cy="609600"/>
          </a:xfrm>
          <a:prstGeom prst="rect">
            <a:avLst/>
          </a:prstGeom>
        </p:spPr>
      </p:pic>
      <p:sp>
        <p:nvSpPr>
          <p:cNvPr id="11" name="文字方塊 10">
            <a:extLst>
              <a:ext uri="{FF2B5EF4-FFF2-40B4-BE49-F238E27FC236}">
                <a16:creationId xmlns:a16="http://schemas.microsoft.com/office/drawing/2014/main" id="{279C0333-3538-268E-7699-17A5226D8814}"/>
              </a:ext>
            </a:extLst>
          </p:cNvPr>
          <p:cNvSpPr txBox="1"/>
          <p:nvPr/>
        </p:nvSpPr>
        <p:spPr>
          <a:xfrm>
            <a:off x="4309735" y="2223345"/>
            <a:ext cx="1074124" cy="369332"/>
          </a:xfrm>
          <a:prstGeom prst="rect">
            <a:avLst/>
          </a:prstGeom>
          <a:noFill/>
        </p:spPr>
        <p:txBody>
          <a:bodyPr wrap="square" rtlCol="0">
            <a:spAutoFit/>
          </a:bodyPr>
          <a:lstStyle/>
          <a:p>
            <a:pPr algn="ctr"/>
            <a:r>
              <a:rPr lang="zh-TW" altLang="en-US" dirty="0"/>
              <a:t>大家好</a:t>
            </a:r>
          </a:p>
        </p:txBody>
      </p:sp>
      <p:pic>
        <p:nvPicPr>
          <p:cNvPr id="12" name="hello-only_stage2_reconstructed">
            <a:hlinkClick r:id="" action="ppaction://media"/>
            <a:extLst>
              <a:ext uri="{FF2B5EF4-FFF2-40B4-BE49-F238E27FC236}">
                <a16:creationId xmlns:a16="http://schemas.microsoft.com/office/drawing/2014/main" id="{285C96D8-16E8-40A8-6379-0CDF215CE711}"/>
              </a:ext>
            </a:extLst>
          </p:cNvPr>
          <p:cNvPicPr>
            <a:picLocks noChangeAspect="1"/>
          </p:cNvPicPr>
          <p:nvPr>
            <a:audioFile r:link="rId8"/>
            <p:extLst>
              <p:ext uri="{DAA4B4D4-6D71-4841-9C94-3DE7FCFB9230}">
                <p14:media xmlns:p14="http://schemas.microsoft.com/office/powerpoint/2010/main" r:embed="rId7"/>
              </p:ext>
            </p:extLst>
          </p:nvPr>
        </p:nvPicPr>
        <p:blipFill>
          <a:blip r:embed="rId22"/>
          <a:stretch>
            <a:fillRect/>
          </a:stretch>
        </p:blipFill>
        <p:spPr>
          <a:xfrm>
            <a:off x="6325777" y="1509862"/>
            <a:ext cx="609600" cy="609600"/>
          </a:xfrm>
          <a:prstGeom prst="rect">
            <a:avLst/>
          </a:prstGeom>
        </p:spPr>
      </p:pic>
      <p:sp>
        <p:nvSpPr>
          <p:cNvPr id="16" name="文字方塊 15">
            <a:extLst>
              <a:ext uri="{FF2B5EF4-FFF2-40B4-BE49-F238E27FC236}">
                <a16:creationId xmlns:a16="http://schemas.microsoft.com/office/drawing/2014/main" id="{CA0982A1-FDC9-DE99-4FA5-DB3A03F13DF8}"/>
              </a:ext>
            </a:extLst>
          </p:cNvPr>
          <p:cNvSpPr txBox="1"/>
          <p:nvPr/>
        </p:nvSpPr>
        <p:spPr>
          <a:xfrm>
            <a:off x="8218651" y="2223345"/>
            <a:ext cx="1851874" cy="369332"/>
          </a:xfrm>
          <a:prstGeom prst="rect">
            <a:avLst/>
          </a:prstGeom>
          <a:noFill/>
        </p:spPr>
        <p:txBody>
          <a:bodyPr wrap="square" rtlCol="0">
            <a:spAutoFit/>
          </a:bodyPr>
          <a:lstStyle/>
          <a:p>
            <a:pPr algn="ctr"/>
            <a:r>
              <a:rPr lang="zh-TW" altLang="en-US" dirty="0"/>
              <a:t>你這個廢物</a:t>
            </a:r>
          </a:p>
        </p:txBody>
      </p:sp>
      <p:pic>
        <p:nvPicPr>
          <p:cNvPr id="17" name="loser_original">
            <a:hlinkClick r:id="" action="ppaction://media"/>
            <a:extLst>
              <a:ext uri="{FF2B5EF4-FFF2-40B4-BE49-F238E27FC236}">
                <a16:creationId xmlns:a16="http://schemas.microsoft.com/office/drawing/2014/main" id="{72FF7849-8EED-CFCD-54A9-5E18A726B424}"/>
              </a:ext>
            </a:extLst>
          </p:cNvPr>
          <p:cNvPicPr>
            <a:picLocks noChangeAspect="1"/>
          </p:cNvPicPr>
          <p:nvPr>
            <a:audioFile r:link="rId10"/>
            <p:extLst>
              <p:ext uri="{DAA4B4D4-6D71-4841-9C94-3DE7FCFB9230}">
                <p14:media xmlns:p14="http://schemas.microsoft.com/office/powerpoint/2010/main" r:embed="rId9"/>
              </p:ext>
            </p:extLst>
          </p:nvPr>
        </p:nvPicPr>
        <p:blipFill>
          <a:blip r:embed="rId22"/>
          <a:stretch>
            <a:fillRect/>
          </a:stretch>
        </p:blipFill>
        <p:spPr>
          <a:xfrm>
            <a:off x="8839788" y="1499444"/>
            <a:ext cx="609600" cy="609600"/>
          </a:xfrm>
          <a:prstGeom prst="rect">
            <a:avLst/>
          </a:prstGeom>
        </p:spPr>
      </p:pic>
      <p:pic>
        <p:nvPicPr>
          <p:cNvPr id="18" name="loser_stage2_reconstructed">
            <a:hlinkClick r:id="" action="ppaction://media"/>
            <a:extLst>
              <a:ext uri="{FF2B5EF4-FFF2-40B4-BE49-F238E27FC236}">
                <a16:creationId xmlns:a16="http://schemas.microsoft.com/office/drawing/2014/main" id="{9FE973B8-57E7-1B9B-67C6-0939A2977991}"/>
              </a:ext>
            </a:extLst>
          </p:cNvPr>
          <p:cNvPicPr>
            <a:picLocks noChangeAspect="1"/>
          </p:cNvPicPr>
          <p:nvPr>
            <a:audioFile r:link="rId12"/>
            <p:extLst>
              <p:ext uri="{DAA4B4D4-6D71-4841-9C94-3DE7FCFB9230}">
                <p14:media xmlns:p14="http://schemas.microsoft.com/office/powerpoint/2010/main" r:embed="rId11"/>
              </p:ext>
            </p:extLst>
          </p:nvPr>
        </p:nvPicPr>
        <p:blipFill>
          <a:blip r:embed="rId22"/>
          <a:stretch>
            <a:fillRect/>
          </a:stretch>
        </p:blipFill>
        <p:spPr>
          <a:xfrm>
            <a:off x="10682374" y="1547862"/>
            <a:ext cx="609600" cy="609600"/>
          </a:xfrm>
          <a:prstGeom prst="rect">
            <a:avLst/>
          </a:prstGeom>
        </p:spPr>
      </p:pic>
      <p:pic>
        <p:nvPicPr>
          <p:cNvPr id="19" name="mountain_original">
            <a:hlinkClick r:id="" action="ppaction://media"/>
            <a:extLst>
              <a:ext uri="{FF2B5EF4-FFF2-40B4-BE49-F238E27FC236}">
                <a16:creationId xmlns:a16="http://schemas.microsoft.com/office/drawing/2014/main" id="{BFF1A256-3DD3-1F8B-D10C-5F9AA22A61A5}"/>
              </a:ext>
            </a:extLst>
          </p:cNvPr>
          <p:cNvPicPr>
            <a:picLocks noChangeAspect="1"/>
          </p:cNvPicPr>
          <p:nvPr>
            <a:audioFile r:link="rId14"/>
            <p:extLst>
              <p:ext uri="{DAA4B4D4-6D71-4841-9C94-3DE7FCFB9230}">
                <p14:media xmlns:p14="http://schemas.microsoft.com/office/powerpoint/2010/main" r:embed="rId13"/>
              </p:ext>
            </p:extLst>
          </p:nvPr>
        </p:nvPicPr>
        <p:blipFill>
          <a:blip r:embed="rId22"/>
          <a:stretch>
            <a:fillRect/>
          </a:stretch>
        </p:blipFill>
        <p:spPr>
          <a:xfrm>
            <a:off x="8827065" y="3137001"/>
            <a:ext cx="609600" cy="609600"/>
          </a:xfrm>
          <a:prstGeom prst="rect">
            <a:avLst/>
          </a:prstGeom>
        </p:spPr>
      </p:pic>
      <p:sp>
        <p:nvSpPr>
          <p:cNvPr id="20" name="文字方塊 19">
            <a:extLst>
              <a:ext uri="{FF2B5EF4-FFF2-40B4-BE49-F238E27FC236}">
                <a16:creationId xmlns:a16="http://schemas.microsoft.com/office/drawing/2014/main" id="{A5BD2C17-57BB-1910-CE35-D6A4EC6B3BDA}"/>
              </a:ext>
            </a:extLst>
          </p:cNvPr>
          <p:cNvSpPr txBox="1"/>
          <p:nvPr/>
        </p:nvSpPr>
        <p:spPr>
          <a:xfrm>
            <a:off x="8379500" y="3807336"/>
            <a:ext cx="1680019" cy="369332"/>
          </a:xfrm>
          <a:prstGeom prst="rect">
            <a:avLst/>
          </a:prstGeom>
          <a:noFill/>
        </p:spPr>
        <p:txBody>
          <a:bodyPr wrap="square" rtlCol="0">
            <a:spAutoFit/>
          </a:bodyPr>
          <a:lstStyle/>
          <a:p>
            <a:r>
              <a:rPr lang="zh-TW" altLang="en-US" dirty="0"/>
              <a:t>台灣最高的山</a:t>
            </a:r>
          </a:p>
        </p:txBody>
      </p:sp>
      <p:pic>
        <p:nvPicPr>
          <p:cNvPr id="21" name="mountain_stage2_reconstructed">
            <a:hlinkClick r:id="" action="ppaction://media"/>
            <a:extLst>
              <a:ext uri="{FF2B5EF4-FFF2-40B4-BE49-F238E27FC236}">
                <a16:creationId xmlns:a16="http://schemas.microsoft.com/office/drawing/2014/main" id="{84F807A2-E659-88EA-1EA6-565155FB72A3}"/>
              </a:ext>
            </a:extLst>
          </p:cNvPr>
          <p:cNvPicPr>
            <a:picLocks noChangeAspect="1"/>
          </p:cNvPicPr>
          <p:nvPr>
            <a:audioFile r:link="rId16"/>
            <p:extLst>
              <p:ext uri="{DAA4B4D4-6D71-4841-9C94-3DE7FCFB9230}">
                <p14:media xmlns:p14="http://schemas.microsoft.com/office/powerpoint/2010/main" r:embed="rId15"/>
              </p:ext>
            </p:extLst>
          </p:nvPr>
        </p:nvPicPr>
        <p:blipFill>
          <a:blip r:embed="rId22"/>
          <a:stretch>
            <a:fillRect/>
          </a:stretch>
        </p:blipFill>
        <p:spPr>
          <a:xfrm>
            <a:off x="10682374" y="3197736"/>
            <a:ext cx="609600" cy="609600"/>
          </a:xfrm>
          <a:prstGeom prst="rect">
            <a:avLst/>
          </a:prstGeom>
        </p:spPr>
      </p:pic>
      <p:sp>
        <p:nvSpPr>
          <p:cNvPr id="25" name="文字方塊 24">
            <a:extLst>
              <a:ext uri="{FF2B5EF4-FFF2-40B4-BE49-F238E27FC236}">
                <a16:creationId xmlns:a16="http://schemas.microsoft.com/office/drawing/2014/main" id="{4450A329-1BFE-BBF1-4FE0-66BE1E7A7B5C}"/>
              </a:ext>
            </a:extLst>
          </p:cNvPr>
          <p:cNvSpPr txBox="1"/>
          <p:nvPr/>
        </p:nvSpPr>
        <p:spPr>
          <a:xfrm>
            <a:off x="4195912" y="3807336"/>
            <a:ext cx="3672568" cy="369332"/>
          </a:xfrm>
          <a:prstGeom prst="rect">
            <a:avLst/>
          </a:prstGeom>
          <a:noFill/>
        </p:spPr>
        <p:txBody>
          <a:bodyPr wrap="square" rtlCol="0">
            <a:spAutoFit/>
          </a:bodyPr>
          <a:lstStyle/>
          <a:p>
            <a:r>
              <a:rPr lang="zh-TW" altLang="en-US" dirty="0"/>
              <a:t>我是李宏毅</a:t>
            </a:r>
          </a:p>
        </p:txBody>
      </p:sp>
      <p:pic>
        <p:nvPicPr>
          <p:cNvPr id="26" name="name_original">
            <a:hlinkClick r:id="" action="ppaction://media"/>
            <a:extLst>
              <a:ext uri="{FF2B5EF4-FFF2-40B4-BE49-F238E27FC236}">
                <a16:creationId xmlns:a16="http://schemas.microsoft.com/office/drawing/2014/main" id="{19CC9902-F213-9183-61F6-46D96970F3E5}"/>
              </a:ext>
            </a:extLst>
          </p:cNvPr>
          <p:cNvPicPr>
            <a:picLocks noChangeAspect="1"/>
          </p:cNvPicPr>
          <p:nvPr>
            <a:audioFile r:link="rId18"/>
            <p:extLst>
              <p:ext uri="{DAA4B4D4-6D71-4841-9C94-3DE7FCFB9230}">
                <p14:media xmlns:p14="http://schemas.microsoft.com/office/powerpoint/2010/main" r:embed="rId17"/>
              </p:ext>
            </p:extLst>
          </p:nvPr>
        </p:nvPicPr>
        <p:blipFill>
          <a:blip r:embed="rId22"/>
          <a:stretch>
            <a:fillRect/>
          </a:stretch>
        </p:blipFill>
        <p:spPr>
          <a:xfrm>
            <a:off x="4541997" y="3113471"/>
            <a:ext cx="609600" cy="609600"/>
          </a:xfrm>
          <a:prstGeom prst="rect">
            <a:avLst/>
          </a:prstGeom>
        </p:spPr>
      </p:pic>
      <p:pic>
        <p:nvPicPr>
          <p:cNvPr id="27" name="name_stage2_reconstructed">
            <a:hlinkClick r:id="" action="ppaction://media"/>
            <a:extLst>
              <a:ext uri="{FF2B5EF4-FFF2-40B4-BE49-F238E27FC236}">
                <a16:creationId xmlns:a16="http://schemas.microsoft.com/office/drawing/2014/main" id="{F7090EE2-7284-1E96-D152-C2D5844CF459}"/>
              </a:ext>
            </a:extLst>
          </p:cNvPr>
          <p:cNvPicPr>
            <a:picLocks noChangeAspect="1"/>
          </p:cNvPicPr>
          <p:nvPr>
            <a:audioFile r:link="rId20"/>
            <p:extLst>
              <p:ext uri="{DAA4B4D4-6D71-4841-9C94-3DE7FCFB9230}">
                <p14:media xmlns:p14="http://schemas.microsoft.com/office/powerpoint/2010/main" r:embed="rId19"/>
              </p:ext>
            </p:extLst>
          </p:nvPr>
        </p:nvPicPr>
        <p:blipFill>
          <a:blip r:embed="rId22"/>
          <a:stretch>
            <a:fillRect/>
          </a:stretch>
        </p:blipFill>
        <p:spPr>
          <a:xfrm>
            <a:off x="6325777" y="3137001"/>
            <a:ext cx="609600" cy="609600"/>
          </a:xfrm>
          <a:prstGeom prst="rect">
            <a:avLst/>
          </a:prstGeom>
        </p:spPr>
      </p:pic>
      <p:sp>
        <p:nvSpPr>
          <p:cNvPr id="8" name="文字方塊 7">
            <a:extLst>
              <a:ext uri="{FF2B5EF4-FFF2-40B4-BE49-F238E27FC236}">
                <a16:creationId xmlns:a16="http://schemas.microsoft.com/office/drawing/2014/main" id="{AFF7AD35-994F-649E-DC12-D3DD09CCA57D}"/>
              </a:ext>
            </a:extLst>
          </p:cNvPr>
          <p:cNvSpPr txBox="1"/>
          <p:nvPr/>
        </p:nvSpPr>
        <p:spPr>
          <a:xfrm>
            <a:off x="7795982" y="6378390"/>
            <a:ext cx="4130888" cy="369332"/>
          </a:xfrm>
          <a:prstGeom prst="rect">
            <a:avLst/>
          </a:prstGeom>
          <a:noFill/>
        </p:spPr>
        <p:txBody>
          <a:bodyPr wrap="square" rtlCol="0">
            <a:spAutoFit/>
          </a:bodyPr>
          <a:lstStyle/>
          <a:p>
            <a:pPr algn="r"/>
            <a:r>
              <a:rPr lang="zh-TW" altLang="en-US" dirty="0"/>
              <a:t>感謝陳竣瑋同學產生結果</a:t>
            </a:r>
          </a:p>
        </p:txBody>
      </p:sp>
    </p:spTree>
    <p:extLst>
      <p:ext uri="{BB962C8B-B14F-4D97-AF65-F5344CB8AC3E}">
        <p14:creationId xmlns:p14="http://schemas.microsoft.com/office/powerpoint/2010/main" val="429091974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80" fill="hold"/>
                                        <p:tgtEl>
                                          <p:spTgt spid="10"/>
                                        </p:tgtEl>
                                      </p:cBhvr>
                                    </p:cmd>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3528" fill="hold"/>
                                        <p:tgtEl>
                                          <p:spTgt spid="12"/>
                                        </p:tgtEl>
                                      </p:cBhvr>
                                    </p:cmd>
                                  </p:childTnLst>
                                </p:cTn>
                              </p:par>
                            </p:childTnLst>
                          </p:cTn>
                        </p:par>
                      </p:childTnLst>
                    </p:cTn>
                  </p:par>
                  <p:par>
                    <p:cTn id="13" fill="hold">
                      <p:stCondLst>
                        <p:cond delay="indefinite"/>
                      </p:stCondLst>
                      <p:childTnLst>
                        <p:par>
                          <p:cTn id="14" fill="hold">
                            <p:stCondLst>
                              <p:cond delay="0"/>
                            </p:stCondLst>
                            <p:childTnLst>
                              <p:par>
                                <p:cTn id="15" presetID="1" presetClass="mediacall" presetSubtype="0" fill="hold" nodeType="clickEffect">
                                  <p:stCondLst>
                                    <p:cond delay="0"/>
                                  </p:stCondLst>
                                  <p:childTnLst>
                                    <p:cmd type="call" cmd="playFrom(0.0)">
                                      <p:cBhvr>
                                        <p:cTn id="16" dur="2858" fill="hold"/>
                                        <p:tgtEl>
                                          <p:spTgt spid="26"/>
                                        </p:tgtEl>
                                      </p:cBhvr>
                                    </p:cmd>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10896" fill="hold"/>
                                        <p:tgtEl>
                                          <p:spTgt spid="27"/>
                                        </p:tgtEl>
                                      </p:cBhvr>
                                    </p:cmd>
                                  </p:childTnLst>
                                </p:cTn>
                              </p:par>
                            </p:childTnLst>
                          </p:cTn>
                        </p:par>
                      </p:childTnLst>
                    </p:cTn>
                  </p:par>
                  <p:par>
                    <p:cTn id="23" fill="hold">
                      <p:stCondLst>
                        <p:cond delay="indefinite"/>
                      </p:stCondLst>
                      <p:childTnLst>
                        <p:par>
                          <p:cTn id="24" fill="hold">
                            <p:stCondLst>
                              <p:cond delay="0"/>
                            </p:stCondLst>
                            <p:childTnLst>
                              <p:par>
                                <p:cTn id="25" presetID="1" presetClass="mediacall" presetSubtype="0" fill="hold" nodeType="clickEffect">
                                  <p:stCondLst>
                                    <p:cond delay="0"/>
                                  </p:stCondLst>
                                  <p:childTnLst>
                                    <p:cmd type="call" cmd="playFrom(0.0)">
                                      <p:cBhvr>
                                        <p:cTn id="26" dur="6570" fill="hold"/>
                                        <p:tgtEl>
                                          <p:spTgt spid="4"/>
                                        </p:tgtEl>
                                      </p:cBhvr>
                                    </p:cmd>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mediacall" presetSubtype="0" fill="hold" nodeType="clickEffect">
                                  <p:stCondLst>
                                    <p:cond delay="0"/>
                                  </p:stCondLst>
                                  <p:childTnLst>
                                    <p:cmd type="call" cmd="playFrom(0.0)">
                                      <p:cBhvr>
                                        <p:cTn id="32" dur="13968" fill="hold"/>
                                        <p:tgtEl>
                                          <p:spTgt spid="6"/>
                                        </p:tgtEl>
                                      </p:cBhvr>
                                    </p:cmd>
                                  </p:childTnLst>
                                </p:cTn>
                              </p:par>
                            </p:childTnLst>
                          </p:cTn>
                        </p:par>
                      </p:childTnLst>
                    </p:cTn>
                  </p:par>
                  <p:par>
                    <p:cTn id="33" fill="hold">
                      <p:stCondLst>
                        <p:cond delay="indefinite"/>
                      </p:stCondLst>
                      <p:childTnLst>
                        <p:par>
                          <p:cTn id="34" fill="hold">
                            <p:stCondLst>
                              <p:cond delay="0"/>
                            </p:stCondLst>
                            <p:childTnLst>
                              <p:par>
                                <p:cTn id="35" presetID="1" presetClass="mediacall" presetSubtype="0" fill="hold" nodeType="clickEffect">
                                  <p:stCondLst>
                                    <p:cond delay="0"/>
                                  </p:stCondLst>
                                  <p:childTnLst>
                                    <p:cmd type="call" cmd="playFrom(0.0)">
                                      <p:cBhvr>
                                        <p:cTn id="36" dur="2901" fill="hold"/>
                                        <p:tgtEl>
                                          <p:spTgt spid="17"/>
                                        </p:tgtEl>
                                      </p:cBhvr>
                                    </p:cmd>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mediacall" presetSubtype="0" fill="hold" nodeType="clickEffect">
                                  <p:stCondLst>
                                    <p:cond delay="0"/>
                                  </p:stCondLst>
                                  <p:childTnLst>
                                    <p:cmd type="call" cmd="playFrom(0.0)">
                                      <p:cBhvr>
                                        <p:cTn id="42" dur="3408" fill="hold"/>
                                        <p:tgtEl>
                                          <p:spTgt spid="18"/>
                                        </p:tgtEl>
                                      </p:cBhvr>
                                    </p:cmd>
                                  </p:childTnLst>
                                </p:cTn>
                              </p:par>
                            </p:childTnLst>
                          </p:cTn>
                        </p:par>
                      </p:childTnLst>
                    </p:cTn>
                  </p:par>
                  <p:par>
                    <p:cTn id="43" fill="hold">
                      <p:stCondLst>
                        <p:cond delay="indefinite"/>
                      </p:stCondLst>
                      <p:childTnLst>
                        <p:par>
                          <p:cTn id="44" fill="hold">
                            <p:stCondLst>
                              <p:cond delay="0"/>
                            </p:stCondLst>
                            <p:childTnLst>
                              <p:par>
                                <p:cTn id="45" presetID="1" presetClass="mediacall" presetSubtype="0" fill="hold" nodeType="clickEffect">
                                  <p:stCondLst>
                                    <p:cond delay="0"/>
                                  </p:stCondLst>
                                  <p:childTnLst>
                                    <p:cmd type="call" cmd="playFrom(0.0)">
                                      <p:cBhvr>
                                        <p:cTn id="46" dur="4650" fill="hold"/>
                                        <p:tgtEl>
                                          <p:spTgt spid="19"/>
                                        </p:tgtEl>
                                      </p:cBhvr>
                                    </p:cmd>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mediacall" presetSubtype="0" fill="hold" nodeType="clickEffect">
                                  <p:stCondLst>
                                    <p:cond delay="0"/>
                                  </p:stCondLst>
                                  <p:childTnLst>
                                    <p:cmd type="call" cmd="playFrom(0.0)">
                                      <p:cBhvr>
                                        <p:cTn id="52" dur="657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53" fill="hold" display="0">
                  <p:stCondLst>
                    <p:cond delay="indefinite"/>
                  </p:stCondLst>
                  <p:endCondLst>
                    <p:cond evt="onStopAudio" delay="0">
                      <p:tgtEl>
                        <p:sldTgt/>
                      </p:tgtEl>
                    </p:cond>
                  </p:endCondLst>
                </p:cTn>
                <p:tgtEl>
                  <p:spTgt spid="4"/>
                </p:tgtEl>
              </p:cMediaNode>
            </p:audio>
            <p:audio>
              <p:cMediaNode vol="80000">
                <p:cTn id="54" fill="hold" display="0">
                  <p:stCondLst>
                    <p:cond delay="indefinite"/>
                  </p:stCondLst>
                  <p:endCondLst>
                    <p:cond evt="onStopAudio" delay="0">
                      <p:tgtEl>
                        <p:sldTgt/>
                      </p:tgtEl>
                    </p:cond>
                  </p:endCondLst>
                </p:cTn>
                <p:tgtEl>
                  <p:spTgt spid="6"/>
                </p:tgtEl>
              </p:cMediaNode>
            </p:audio>
            <p:audio>
              <p:cMediaNode vol="80000">
                <p:cTn id="55" fill="hold" display="0">
                  <p:stCondLst>
                    <p:cond delay="indefinite"/>
                  </p:stCondLst>
                  <p:endCondLst>
                    <p:cond evt="onStopAudio" delay="0">
                      <p:tgtEl>
                        <p:sldTgt/>
                      </p:tgtEl>
                    </p:cond>
                  </p:endCondLst>
                </p:cTn>
                <p:tgtEl>
                  <p:spTgt spid="10"/>
                </p:tgtEl>
              </p:cMediaNode>
            </p:audio>
            <p:audio>
              <p:cMediaNode vol="80000">
                <p:cTn id="56" fill="hold" display="0">
                  <p:stCondLst>
                    <p:cond delay="indefinite"/>
                  </p:stCondLst>
                  <p:endCondLst>
                    <p:cond evt="onStopAudio" delay="0">
                      <p:tgtEl>
                        <p:sldTgt/>
                      </p:tgtEl>
                    </p:cond>
                  </p:endCondLst>
                </p:cTn>
                <p:tgtEl>
                  <p:spTgt spid="12"/>
                </p:tgtEl>
              </p:cMediaNode>
            </p:audio>
            <p:audio>
              <p:cMediaNode vol="80000">
                <p:cTn id="57" fill="hold" display="0">
                  <p:stCondLst>
                    <p:cond delay="indefinite"/>
                  </p:stCondLst>
                  <p:endCondLst>
                    <p:cond evt="onStopAudio" delay="0">
                      <p:tgtEl>
                        <p:sldTgt/>
                      </p:tgtEl>
                    </p:cond>
                  </p:endCondLst>
                </p:cTn>
                <p:tgtEl>
                  <p:spTgt spid="17"/>
                </p:tgtEl>
              </p:cMediaNode>
            </p:audio>
            <p:audio>
              <p:cMediaNode vol="80000">
                <p:cTn id="58" fill="hold" display="0">
                  <p:stCondLst>
                    <p:cond delay="indefinite"/>
                  </p:stCondLst>
                  <p:endCondLst>
                    <p:cond evt="onStopAudio" delay="0">
                      <p:tgtEl>
                        <p:sldTgt/>
                      </p:tgtEl>
                    </p:cond>
                  </p:endCondLst>
                </p:cTn>
                <p:tgtEl>
                  <p:spTgt spid="18"/>
                </p:tgtEl>
              </p:cMediaNode>
            </p:audio>
            <p:audio>
              <p:cMediaNode vol="80000">
                <p:cTn id="59" fill="hold" display="0">
                  <p:stCondLst>
                    <p:cond delay="indefinite"/>
                  </p:stCondLst>
                  <p:endCondLst>
                    <p:cond evt="onStopAudio" delay="0">
                      <p:tgtEl>
                        <p:sldTgt/>
                      </p:tgtEl>
                    </p:cond>
                  </p:endCondLst>
                </p:cTn>
                <p:tgtEl>
                  <p:spTgt spid="19"/>
                </p:tgtEl>
              </p:cMediaNode>
            </p:audio>
            <p:audio>
              <p:cMediaNode vol="80000">
                <p:cTn id="60" fill="hold" display="0">
                  <p:stCondLst>
                    <p:cond delay="indefinite"/>
                  </p:stCondLst>
                  <p:endCondLst>
                    <p:cond evt="onStopAudio" delay="0">
                      <p:tgtEl>
                        <p:sldTgt/>
                      </p:tgtEl>
                    </p:cond>
                  </p:endCondLst>
                </p:cTn>
                <p:tgtEl>
                  <p:spTgt spid="21"/>
                </p:tgtEl>
              </p:cMediaNode>
            </p:audio>
            <p:audio>
              <p:cMediaNode vol="80000">
                <p:cTn id="61" fill="hold" display="0">
                  <p:stCondLst>
                    <p:cond delay="indefinite"/>
                  </p:stCondLst>
                  <p:endCondLst>
                    <p:cond evt="onStopAudio" delay="0">
                      <p:tgtEl>
                        <p:sldTgt/>
                      </p:tgtEl>
                    </p:cond>
                  </p:endCondLst>
                </p:cTn>
                <p:tgtEl>
                  <p:spTgt spid="26"/>
                </p:tgtEl>
              </p:cMediaNode>
            </p:audio>
            <p:audio>
              <p:cMediaNode vol="80000">
                <p:cTn id="62" fill="hold" display="0">
                  <p:stCondLst>
                    <p:cond delay="indefinite"/>
                  </p:stCondLst>
                  <p:endCondLst>
                    <p:cond evt="onStopAudio" delay="0">
                      <p:tgtEl>
                        <p:sldTgt/>
                      </p:tgtEl>
                    </p:cond>
                  </p:endCondLst>
                </p:cTn>
                <p:tgtEl>
                  <p:spTgt spid="27"/>
                </p:tgtEl>
              </p:cMediaNode>
            </p:audio>
          </p:childTnLst>
        </p:cTn>
      </p:par>
    </p:tnLst>
    <p:bldLst>
      <p:bldP spid="5" grpId="0"/>
      <p:bldP spid="11" grpId="0"/>
      <p:bldP spid="16" grpId="0"/>
      <p:bldP spid="20" grpId="0"/>
      <p:bldP spid="2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1B5FCE-5215-6939-F4EB-E5C1BF26438A}"/>
              </a:ext>
            </a:extLst>
          </p:cNvPr>
          <p:cNvSpPr>
            <a:spLocks noGrp="1"/>
          </p:cNvSpPr>
          <p:nvPr>
            <p:ph type="title"/>
          </p:nvPr>
        </p:nvSpPr>
        <p:spPr/>
        <p:txBody>
          <a:bodyPr/>
          <a:lstStyle/>
          <a:p>
            <a:r>
              <a:rPr lang="en-US" altLang="zh-TW" dirty="0"/>
              <a:t>Chinese Demo </a:t>
            </a:r>
            <a:endParaRPr lang="zh-TW" altLang="en-US" dirty="0"/>
          </a:p>
        </p:txBody>
      </p:sp>
      <p:pic>
        <p:nvPicPr>
          <p:cNvPr id="4" name="89FDB77D">
            <a:hlinkClick r:id="" action="ppaction://media"/>
            <a:extLst>
              <a:ext uri="{FF2B5EF4-FFF2-40B4-BE49-F238E27FC236}">
                <a16:creationId xmlns:a16="http://schemas.microsoft.com/office/drawing/2014/main" id="{EF07BD39-CA33-B703-5A3F-09CE764BCE58}"/>
              </a:ext>
            </a:extLst>
          </p:cNvPr>
          <p:cNvPicPr>
            <a:picLocks noChangeAspect="1"/>
          </p:cNvPicPr>
          <p:nvPr>
            <a:audioFile r:link="rId2"/>
            <p:extLst>
              <p:ext uri="{DAA4B4D4-6D71-4841-9C94-3DE7FCFB9230}">
                <p14:media xmlns:p14="http://schemas.microsoft.com/office/powerpoint/2010/main" r:embed="rId1"/>
              </p:ext>
            </p:extLst>
          </p:nvPr>
        </p:nvPicPr>
        <p:blipFill>
          <a:blip r:embed="rId23"/>
          <a:stretch>
            <a:fillRect/>
          </a:stretch>
        </p:blipFill>
        <p:spPr>
          <a:xfrm>
            <a:off x="7415693" y="5180832"/>
            <a:ext cx="609600" cy="609600"/>
          </a:xfrm>
          <a:prstGeom prst="rect">
            <a:avLst/>
          </a:prstGeom>
        </p:spPr>
      </p:pic>
      <p:pic>
        <p:nvPicPr>
          <p:cNvPr id="5" name="MVP_original">
            <a:hlinkClick r:id="" action="ppaction://media"/>
            <a:extLst>
              <a:ext uri="{FF2B5EF4-FFF2-40B4-BE49-F238E27FC236}">
                <a16:creationId xmlns:a16="http://schemas.microsoft.com/office/drawing/2014/main" id="{E79EC0F5-4DB1-B6CD-9961-1667F9AB00F0}"/>
              </a:ext>
            </a:extLst>
          </p:cNvPr>
          <p:cNvPicPr>
            <a:picLocks noChangeAspect="1"/>
          </p:cNvPicPr>
          <p:nvPr>
            <a:audioFile r:link="rId4"/>
            <p:extLst>
              <p:ext uri="{DAA4B4D4-6D71-4841-9C94-3DE7FCFB9230}">
                <p14:media xmlns:p14="http://schemas.microsoft.com/office/powerpoint/2010/main" r:embed="rId3"/>
              </p:ext>
            </p:extLst>
          </p:nvPr>
        </p:nvPicPr>
        <p:blipFill>
          <a:blip r:embed="rId23"/>
          <a:stretch>
            <a:fillRect/>
          </a:stretch>
        </p:blipFill>
        <p:spPr>
          <a:xfrm>
            <a:off x="7415693" y="3124200"/>
            <a:ext cx="609600" cy="609600"/>
          </a:xfrm>
          <a:prstGeom prst="rect">
            <a:avLst/>
          </a:prstGeom>
        </p:spPr>
      </p:pic>
      <p:sp>
        <p:nvSpPr>
          <p:cNvPr id="6" name="文字方塊 5">
            <a:extLst>
              <a:ext uri="{FF2B5EF4-FFF2-40B4-BE49-F238E27FC236}">
                <a16:creationId xmlns:a16="http://schemas.microsoft.com/office/drawing/2014/main" id="{1F468C8A-43BD-2A66-775F-52AAC3430DBC}"/>
              </a:ext>
            </a:extLst>
          </p:cNvPr>
          <p:cNvSpPr txBox="1"/>
          <p:nvPr/>
        </p:nvSpPr>
        <p:spPr>
          <a:xfrm>
            <a:off x="6493658" y="3849873"/>
            <a:ext cx="3672568" cy="369332"/>
          </a:xfrm>
          <a:prstGeom prst="rect">
            <a:avLst/>
          </a:prstGeom>
          <a:noFill/>
        </p:spPr>
        <p:txBody>
          <a:bodyPr wrap="square" rtlCol="0">
            <a:spAutoFit/>
          </a:bodyPr>
          <a:lstStyle/>
          <a:p>
            <a:r>
              <a:rPr lang="zh-TW" altLang="en-US" dirty="0"/>
              <a:t>唉唷</a:t>
            </a:r>
            <a:r>
              <a:rPr lang="en-US" altLang="zh-TW" dirty="0"/>
              <a:t>~</a:t>
            </a:r>
            <a:r>
              <a:rPr lang="zh-TW" altLang="en-US" dirty="0"/>
              <a:t>我老爸得了 </a:t>
            </a:r>
            <a:r>
              <a:rPr lang="en-US" altLang="zh-TW" dirty="0"/>
              <a:t>MVP</a:t>
            </a:r>
            <a:endParaRPr lang="zh-TW" altLang="en-US" dirty="0"/>
          </a:p>
        </p:txBody>
      </p:sp>
      <p:pic>
        <p:nvPicPr>
          <p:cNvPr id="7" name="MVP_stage2_reconstructed">
            <a:hlinkClick r:id="" action="ppaction://media"/>
            <a:extLst>
              <a:ext uri="{FF2B5EF4-FFF2-40B4-BE49-F238E27FC236}">
                <a16:creationId xmlns:a16="http://schemas.microsoft.com/office/drawing/2014/main" id="{D0AE0740-963B-0FAA-1744-CB33E0E9669B}"/>
              </a:ext>
            </a:extLst>
          </p:cNvPr>
          <p:cNvPicPr>
            <a:picLocks noChangeAspect="1"/>
          </p:cNvPicPr>
          <p:nvPr>
            <a:audioFile r:link="rId6"/>
            <p:extLst>
              <p:ext uri="{DAA4B4D4-6D71-4841-9C94-3DE7FCFB9230}">
                <p14:media xmlns:p14="http://schemas.microsoft.com/office/powerpoint/2010/main" r:embed="rId5"/>
              </p:ext>
            </p:extLst>
          </p:nvPr>
        </p:nvPicPr>
        <p:blipFill>
          <a:blip r:embed="rId23"/>
          <a:stretch>
            <a:fillRect/>
          </a:stretch>
        </p:blipFill>
        <p:spPr>
          <a:xfrm>
            <a:off x="9556777" y="3121777"/>
            <a:ext cx="609600" cy="609600"/>
          </a:xfrm>
          <a:prstGeom prst="rect">
            <a:avLst/>
          </a:prstGeom>
        </p:spPr>
      </p:pic>
      <p:pic>
        <p:nvPicPr>
          <p:cNvPr id="8" name="lie_original">
            <a:hlinkClick r:id="" action="ppaction://media"/>
            <a:extLst>
              <a:ext uri="{FF2B5EF4-FFF2-40B4-BE49-F238E27FC236}">
                <a16:creationId xmlns:a16="http://schemas.microsoft.com/office/drawing/2014/main" id="{23DDE8D4-74FB-DB18-3633-4FB964F954BD}"/>
              </a:ext>
            </a:extLst>
          </p:cNvPr>
          <p:cNvPicPr>
            <a:picLocks noChangeAspect="1"/>
          </p:cNvPicPr>
          <p:nvPr>
            <a:audioFile r:link="rId8"/>
            <p:extLst>
              <p:ext uri="{DAA4B4D4-6D71-4841-9C94-3DE7FCFB9230}">
                <p14:media xmlns:p14="http://schemas.microsoft.com/office/powerpoint/2010/main" r:embed="rId7"/>
              </p:ext>
            </p:extLst>
          </p:nvPr>
        </p:nvPicPr>
        <p:blipFill>
          <a:blip r:embed="rId23"/>
          <a:stretch>
            <a:fillRect/>
          </a:stretch>
        </p:blipFill>
        <p:spPr>
          <a:xfrm>
            <a:off x="7415693" y="977415"/>
            <a:ext cx="609600" cy="609600"/>
          </a:xfrm>
          <a:prstGeom prst="rect">
            <a:avLst/>
          </a:prstGeom>
        </p:spPr>
      </p:pic>
      <p:sp>
        <p:nvSpPr>
          <p:cNvPr id="9" name="文字方塊 8">
            <a:extLst>
              <a:ext uri="{FF2B5EF4-FFF2-40B4-BE49-F238E27FC236}">
                <a16:creationId xmlns:a16="http://schemas.microsoft.com/office/drawing/2014/main" id="{962BA1C3-11CC-DC62-AA56-70623CC3FD91}"/>
              </a:ext>
            </a:extLst>
          </p:cNvPr>
          <p:cNvSpPr txBox="1"/>
          <p:nvPr/>
        </p:nvSpPr>
        <p:spPr>
          <a:xfrm>
            <a:off x="6921073" y="1754277"/>
            <a:ext cx="3672568" cy="369332"/>
          </a:xfrm>
          <a:prstGeom prst="rect">
            <a:avLst/>
          </a:prstGeom>
          <a:noFill/>
        </p:spPr>
        <p:txBody>
          <a:bodyPr wrap="square" rtlCol="0">
            <a:spAutoFit/>
          </a:bodyPr>
          <a:lstStyle/>
          <a:p>
            <a:r>
              <a:rPr lang="zh-TW" altLang="en-US" dirty="0"/>
              <a:t>不要瞎掰好嗎</a:t>
            </a:r>
          </a:p>
        </p:txBody>
      </p:sp>
      <p:pic>
        <p:nvPicPr>
          <p:cNvPr id="10" name="lie_stage2_reconstructed">
            <a:hlinkClick r:id="" action="ppaction://media"/>
            <a:extLst>
              <a:ext uri="{FF2B5EF4-FFF2-40B4-BE49-F238E27FC236}">
                <a16:creationId xmlns:a16="http://schemas.microsoft.com/office/drawing/2014/main" id="{7B40940A-387C-9DBD-43A7-8848F170F173}"/>
              </a:ext>
            </a:extLst>
          </p:cNvPr>
          <p:cNvPicPr>
            <a:picLocks noChangeAspect="1"/>
          </p:cNvPicPr>
          <p:nvPr>
            <a:audioFile r:link="rId10"/>
            <p:extLst>
              <p:ext uri="{DAA4B4D4-6D71-4841-9C94-3DE7FCFB9230}">
                <p14:media xmlns:p14="http://schemas.microsoft.com/office/powerpoint/2010/main" r:embed="rId9"/>
              </p:ext>
            </p:extLst>
          </p:nvPr>
        </p:nvPicPr>
        <p:blipFill>
          <a:blip r:embed="rId23"/>
          <a:stretch>
            <a:fillRect/>
          </a:stretch>
        </p:blipFill>
        <p:spPr>
          <a:xfrm>
            <a:off x="9556626" y="1021850"/>
            <a:ext cx="609600" cy="609600"/>
          </a:xfrm>
          <a:prstGeom prst="rect">
            <a:avLst/>
          </a:prstGeom>
        </p:spPr>
      </p:pic>
      <p:sp>
        <p:nvSpPr>
          <p:cNvPr id="11" name="文字方塊 10">
            <a:extLst>
              <a:ext uri="{FF2B5EF4-FFF2-40B4-BE49-F238E27FC236}">
                <a16:creationId xmlns:a16="http://schemas.microsoft.com/office/drawing/2014/main" id="{411DCA16-25E5-1951-784A-F18ACFF6B75B}"/>
              </a:ext>
            </a:extLst>
          </p:cNvPr>
          <p:cNvSpPr txBox="1"/>
          <p:nvPr/>
        </p:nvSpPr>
        <p:spPr>
          <a:xfrm>
            <a:off x="7322658" y="5890562"/>
            <a:ext cx="3672568" cy="369332"/>
          </a:xfrm>
          <a:prstGeom prst="rect">
            <a:avLst/>
          </a:prstGeom>
          <a:noFill/>
        </p:spPr>
        <p:txBody>
          <a:bodyPr wrap="square" rtlCol="0">
            <a:spAutoFit/>
          </a:bodyPr>
          <a:lstStyle/>
          <a:p>
            <a:r>
              <a:rPr lang="zh-TW" altLang="en-US" dirty="0"/>
              <a:t>啊能能</a:t>
            </a:r>
          </a:p>
        </p:txBody>
      </p:sp>
      <p:sp>
        <p:nvSpPr>
          <p:cNvPr id="12" name="文字方塊 11">
            <a:extLst>
              <a:ext uri="{FF2B5EF4-FFF2-40B4-BE49-F238E27FC236}">
                <a16:creationId xmlns:a16="http://schemas.microsoft.com/office/drawing/2014/main" id="{9A361F97-64BB-6687-43EE-B12D1C8E42AA}"/>
              </a:ext>
            </a:extLst>
          </p:cNvPr>
          <p:cNvSpPr txBox="1"/>
          <p:nvPr/>
        </p:nvSpPr>
        <p:spPr>
          <a:xfrm>
            <a:off x="1941290" y="2693272"/>
            <a:ext cx="3672568" cy="369332"/>
          </a:xfrm>
          <a:prstGeom prst="rect">
            <a:avLst/>
          </a:prstGeom>
          <a:noFill/>
        </p:spPr>
        <p:txBody>
          <a:bodyPr wrap="square" rtlCol="0">
            <a:spAutoFit/>
          </a:bodyPr>
          <a:lstStyle/>
          <a:p>
            <a:r>
              <a:rPr lang="zh-TW" altLang="en-US" dirty="0"/>
              <a:t>我信你個鬼</a:t>
            </a:r>
          </a:p>
        </p:txBody>
      </p:sp>
      <p:pic>
        <p:nvPicPr>
          <p:cNvPr id="13" name="believe_original">
            <a:hlinkClick r:id="" action="ppaction://media"/>
            <a:extLst>
              <a:ext uri="{FF2B5EF4-FFF2-40B4-BE49-F238E27FC236}">
                <a16:creationId xmlns:a16="http://schemas.microsoft.com/office/drawing/2014/main" id="{F99C5C68-EFF1-99E3-6675-6C179945442E}"/>
              </a:ext>
            </a:extLst>
          </p:cNvPr>
          <p:cNvPicPr>
            <a:picLocks noChangeAspect="1"/>
          </p:cNvPicPr>
          <p:nvPr>
            <a:audioFile r:link="rId12"/>
            <p:extLst>
              <p:ext uri="{DAA4B4D4-6D71-4841-9C94-3DE7FCFB9230}">
                <p14:media xmlns:p14="http://schemas.microsoft.com/office/powerpoint/2010/main" r:embed="rId11"/>
              </p:ext>
            </p:extLst>
          </p:nvPr>
        </p:nvPicPr>
        <p:blipFill>
          <a:blip r:embed="rId23"/>
          <a:stretch>
            <a:fillRect/>
          </a:stretch>
        </p:blipFill>
        <p:spPr>
          <a:xfrm>
            <a:off x="2296562" y="1963922"/>
            <a:ext cx="609600" cy="609600"/>
          </a:xfrm>
          <a:prstGeom prst="rect">
            <a:avLst/>
          </a:prstGeom>
        </p:spPr>
      </p:pic>
      <p:pic>
        <p:nvPicPr>
          <p:cNvPr id="14" name="C33C2913">
            <a:hlinkClick r:id="" action="ppaction://media"/>
            <a:extLst>
              <a:ext uri="{FF2B5EF4-FFF2-40B4-BE49-F238E27FC236}">
                <a16:creationId xmlns:a16="http://schemas.microsoft.com/office/drawing/2014/main" id="{9D684CCC-32DC-862C-76A4-21F57548CBFB}"/>
              </a:ext>
            </a:extLst>
          </p:cNvPr>
          <p:cNvPicPr>
            <a:picLocks noChangeAspect="1"/>
          </p:cNvPicPr>
          <p:nvPr>
            <a:audioFile r:link="rId14"/>
            <p:extLst>
              <p:ext uri="{DAA4B4D4-6D71-4841-9C94-3DE7FCFB9230}">
                <p14:media xmlns:p14="http://schemas.microsoft.com/office/powerpoint/2010/main" r:embed="rId13"/>
              </p:ext>
            </p:extLst>
          </p:nvPr>
        </p:nvPicPr>
        <p:blipFill>
          <a:blip r:embed="rId23"/>
          <a:stretch>
            <a:fillRect/>
          </a:stretch>
        </p:blipFill>
        <p:spPr>
          <a:xfrm>
            <a:off x="4532967" y="1963922"/>
            <a:ext cx="609600" cy="609600"/>
          </a:xfrm>
          <a:prstGeom prst="rect">
            <a:avLst/>
          </a:prstGeom>
        </p:spPr>
      </p:pic>
      <p:sp>
        <p:nvSpPr>
          <p:cNvPr id="15" name="文字方塊 14">
            <a:extLst>
              <a:ext uri="{FF2B5EF4-FFF2-40B4-BE49-F238E27FC236}">
                <a16:creationId xmlns:a16="http://schemas.microsoft.com/office/drawing/2014/main" id="{B3D19FFA-7790-1DF8-90EA-CC2EE383002B}"/>
              </a:ext>
            </a:extLst>
          </p:cNvPr>
          <p:cNvSpPr txBox="1"/>
          <p:nvPr/>
        </p:nvSpPr>
        <p:spPr>
          <a:xfrm>
            <a:off x="1941290" y="5162467"/>
            <a:ext cx="3672568" cy="646331"/>
          </a:xfrm>
          <a:prstGeom prst="rect">
            <a:avLst/>
          </a:prstGeom>
          <a:noFill/>
        </p:spPr>
        <p:txBody>
          <a:bodyPr wrap="square" rtlCol="0">
            <a:spAutoFit/>
          </a:bodyPr>
          <a:lstStyle/>
          <a:p>
            <a:r>
              <a:rPr lang="zh-TW" altLang="en-US" dirty="0"/>
              <a:t>亮你好厲害</a:t>
            </a:r>
            <a:endParaRPr lang="en-US" altLang="zh-TW" dirty="0"/>
          </a:p>
          <a:p>
            <a:r>
              <a:rPr lang="zh-TW" altLang="en-US" dirty="0"/>
              <a:t>又拿到了全學年的第一名</a:t>
            </a:r>
          </a:p>
        </p:txBody>
      </p:sp>
      <p:pic>
        <p:nvPicPr>
          <p:cNvPr id="16" name="0D7A242E">
            <a:hlinkClick r:id="" action="ppaction://media"/>
            <a:extLst>
              <a:ext uri="{FF2B5EF4-FFF2-40B4-BE49-F238E27FC236}">
                <a16:creationId xmlns:a16="http://schemas.microsoft.com/office/drawing/2014/main" id="{945D4881-F322-C859-FBA9-727ED6E21B7E}"/>
              </a:ext>
            </a:extLst>
          </p:cNvPr>
          <p:cNvPicPr>
            <a:picLocks noChangeAspect="1"/>
          </p:cNvPicPr>
          <p:nvPr>
            <a:audioFile r:link="rId16"/>
            <p:extLst>
              <p:ext uri="{DAA4B4D4-6D71-4841-9C94-3DE7FCFB9230}">
                <p14:media xmlns:p14="http://schemas.microsoft.com/office/powerpoint/2010/main" r:embed="rId15"/>
              </p:ext>
            </p:extLst>
          </p:nvPr>
        </p:nvPicPr>
        <p:blipFill>
          <a:blip r:embed="rId23"/>
          <a:stretch>
            <a:fillRect/>
          </a:stretch>
        </p:blipFill>
        <p:spPr>
          <a:xfrm>
            <a:off x="2305216" y="4389884"/>
            <a:ext cx="609600" cy="609600"/>
          </a:xfrm>
          <a:prstGeom prst="rect">
            <a:avLst/>
          </a:prstGeom>
        </p:spPr>
      </p:pic>
      <p:pic>
        <p:nvPicPr>
          <p:cNvPr id="17" name="6F96B371">
            <a:hlinkClick r:id="" action="ppaction://media"/>
            <a:extLst>
              <a:ext uri="{FF2B5EF4-FFF2-40B4-BE49-F238E27FC236}">
                <a16:creationId xmlns:a16="http://schemas.microsoft.com/office/drawing/2014/main" id="{54CF6268-B585-BD61-BAAA-0B177F5F6170}"/>
              </a:ext>
            </a:extLst>
          </p:cNvPr>
          <p:cNvPicPr>
            <a:picLocks noChangeAspect="1"/>
          </p:cNvPicPr>
          <p:nvPr>
            <a:audioFile r:link="rId18"/>
            <p:extLst>
              <p:ext uri="{DAA4B4D4-6D71-4841-9C94-3DE7FCFB9230}">
                <p14:media xmlns:p14="http://schemas.microsoft.com/office/powerpoint/2010/main" r:embed="rId17"/>
              </p:ext>
            </p:extLst>
          </p:nvPr>
        </p:nvPicPr>
        <p:blipFill>
          <a:blip r:embed="rId23"/>
          <a:stretch>
            <a:fillRect/>
          </a:stretch>
        </p:blipFill>
        <p:spPr>
          <a:xfrm>
            <a:off x="4528423" y="4389884"/>
            <a:ext cx="609600" cy="609600"/>
          </a:xfrm>
          <a:prstGeom prst="rect">
            <a:avLst/>
          </a:prstGeom>
        </p:spPr>
      </p:pic>
      <p:pic>
        <p:nvPicPr>
          <p:cNvPr id="18" name="D65DAEB2">
            <a:hlinkClick r:id="" action="ppaction://media"/>
            <a:extLst>
              <a:ext uri="{FF2B5EF4-FFF2-40B4-BE49-F238E27FC236}">
                <a16:creationId xmlns:a16="http://schemas.microsoft.com/office/drawing/2014/main" id="{FC1AC0D3-1701-27F8-68B4-815F41E97F92}"/>
              </a:ext>
            </a:extLst>
          </p:cNvPr>
          <p:cNvPicPr>
            <a:picLocks noChangeAspect="1"/>
          </p:cNvPicPr>
          <p:nvPr>
            <a:audioFile r:link="rId20"/>
            <p:extLst>
              <p:ext uri="{DAA4B4D4-6D71-4841-9C94-3DE7FCFB9230}">
                <p14:media xmlns:p14="http://schemas.microsoft.com/office/powerpoint/2010/main" r:embed="rId19"/>
              </p:ext>
            </p:extLst>
          </p:nvPr>
        </p:nvPicPr>
        <p:blipFill>
          <a:blip r:embed="rId23"/>
          <a:stretch>
            <a:fillRect/>
          </a:stretch>
        </p:blipFill>
        <p:spPr>
          <a:xfrm>
            <a:off x="9522328" y="5218369"/>
            <a:ext cx="609600" cy="609600"/>
          </a:xfrm>
          <a:prstGeom prst="rect">
            <a:avLst/>
          </a:prstGeom>
        </p:spPr>
      </p:pic>
      <p:sp>
        <p:nvSpPr>
          <p:cNvPr id="19" name="文字方塊 18">
            <a:extLst>
              <a:ext uri="{FF2B5EF4-FFF2-40B4-BE49-F238E27FC236}">
                <a16:creationId xmlns:a16="http://schemas.microsoft.com/office/drawing/2014/main" id="{035F4F7E-8C9B-0A34-EE66-74C82C7A9B42}"/>
              </a:ext>
            </a:extLst>
          </p:cNvPr>
          <p:cNvSpPr txBox="1"/>
          <p:nvPr/>
        </p:nvSpPr>
        <p:spPr>
          <a:xfrm>
            <a:off x="7795982" y="6378390"/>
            <a:ext cx="4130888" cy="369332"/>
          </a:xfrm>
          <a:prstGeom prst="rect">
            <a:avLst/>
          </a:prstGeom>
          <a:noFill/>
        </p:spPr>
        <p:txBody>
          <a:bodyPr wrap="square" rtlCol="0">
            <a:spAutoFit/>
          </a:bodyPr>
          <a:lstStyle/>
          <a:p>
            <a:pPr algn="r"/>
            <a:r>
              <a:rPr lang="zh-TW" altLang="en-US" dirty="0"/>
              <a:t>感謝陳竣瑋同學產生結果</a:t>
            </a:r>
          </a:p>
        </p:txBody>
      </p:sp>
    </p:spTree>
    <p:extLst>
      <p:ext uri="{BB962C8B-B14F-4D97-AF65-F5344CB8AC3E}">
        <p14:creationId xmlns:p14="http://schemas.microsoft.com/office/powerpoint/2010/main" val="39401307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68" fill="hold"/>
                                        <p:tgtEl>
                                          <p:spTgt spid="13"/>
                                        </p:tgtEl>
                                      </p:cBhvr>
                                    </p:cmd>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5856" fill="hold"/>
                                        <p:tgtEl>
                                          <p:spTgt spid="14"/>
                                        </p:tgtEl>
                                      </p:cBhvr>
                                    </p:cmd>
                                  </p:childTnLst>
                                </p:cTn>
                              </p:par>
                            </p:childTnLst>
                          </p:cTn>
                        </p:par>
                      </p:childTnLst>
                    </p:cTn>
                  </p:par>
                  <p:par>
                    <p:cTn id="13" fill="hold">
                      <p:stCondLst>
                        <p:cond delay="indefinite"/>
                      </p:stCondLst>
                      <p:childTnLst>
                        <p:par>
                          <p:cTn id="14" fill="hold">
                            <p:stCondLst>
                              <p:cond delay="0"/>
                            </p:stCondLst>
                            <p:childTnLst>
                              <p:par>
                                <p:cTn id="15" presetID="1" presetClass="mediacall" presetSubtype="0" fill="hold" nodeType="clickEffect">
                                  <p:stCondLst>
                                    <p:cond delay="0"/>
                                  </p:stCondLst>
                                  <p:childTnLst>
                                    <p:cmd type="call" cmd="playFrom(0.0)">
                                      <p:cBhvr>
                                        <p:cTn id="16" dur="5592" fill="hold"/>
                                        <p:tgtEl>
                                          <p:spTgt spid="16"/>
                                        </p:tgtEl>
                                      </p:cBhvr>
                                    </p:cmd>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10776" fill="hold"/>
                                        <p:tgtEl>
                                          <p:spTgt spid="17"/>
                                        </p:tgtEl>
                                      </p:cBhvr>
                                    </p:cmd>
                                  </p:childTnLst>
                                </p:cTn>
                              </p:par>
                            </p:childTnLst>
                          </p:cTn>
                        </p:par>
                      </p:childTnLst>
                    </p:cTn>
                  </p:par>
                  <p:par>
                    <p:cTn id="23" fill="hold">
                      <p:stCondLst>
                        <p:cond delay="indefinite"/>
                      </p:stCondLst>
                      <p:childTnLst>
                        <p:par>
                          <p:cTn id="24" fill="hold">
                            <p:stCondLst>
                              <p:cond delay="0"/>
                            </p:stCondLst>
                            <p:childTnLst>
                              <p:par>
                                <p:cTn id="25" presetID="1" presetClass="mediacall" presetSubtype="0" fill="hold" nodeType="clickEffect">
                                  <p:stCondLst>
                                    <p:cond delay="0"/>
                                  </p:stCondLst>
                                  <p:childTnLst>
                                    <p:cmd type="call" cmd="playFrom(0.0)">
                                      <p:cBhvr>
                                        <p:cTn id="26" dur="1144" fill="hold"/>
                                        <p:tgtEl>
                                          <p:spTgt spid="8"/>
                                        </p:tgtEl>
                                      </p:cBhvr>
                                    </p:cmd>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mediacall" presetSubtype="0" fill="hold" nodeType="clickEffect">
                                  <p:stCondLst>
                                    <p:cond delay="0"/>
                                  </p:stCondLst>
                                  <p:childTnLst>
                                    <p:cmd type="call" cmd="playFrom(0.0)">
                                      <p:cBhvr>
                                        <p:cTn id="32" dur="14328" fill="hold"/>
                                        <p:tgtEl>
                                          <p:spTgt spid="10"/>
                                        </p:tgtEl>
                                      </p:cBhvr>
                                    </p:cmd>
                                  </p:childTnLst>
                                </p:cTn>
                              </p:par>
                            </p:childTnLst>
                          </p:cTn>
                        </p:par>
                      </p:childTnLst>
                    </p:cTn>
                  </p:par>
                  <p:par>
                    <p:cTn id="33" fill="hold">
                      <p:stCondLst>
                        <p:cond delay="indefinite"/>
                      </p:stCondLst>
                      <p:childTnLst>
                        <p:par>
                          <p:cTn id="34" fill="hold">
                            <p:stCondLst>
                              <p:cond delay="0"/>
                            </p:stCondLst>
                            <p:childTnLst>
                              <p:par>
                                <p:cTn id="35" presetID="1" presetClass="mediacall" presetSubtype="0" fill="hold" nodeType="clickEffect">
                                  <p:stCondLst>
                                    <p:cond delay="0"/>
                                  </p:stCondLst>
                                  <p:childTnLst>
                                    <p:cmd type="call" cmd="playFrom(0.0)">
                                      <p:cBhvr>
                                        <p:cTn id="36" dur="3461" fill="hold"/>
                                        <p:tgtEl>
                                          <p:spTgt spid="5"/>
                                        </p:tgtEl>
                                      </p:cBhvr>
                                    </p:cmd>
                                  </p:childTnLst>
                                </p:cTn>
                              </p:par>
                              <p:par>
                                <p:cTn id="37" presetID="1"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mediacall" presetSubtype="0" fill="hold" nodeType="clickEffect">
                                  <p:stCondLst>
                                    <p:cond delay="0"/>
                                  </p:stCondLst>
                                  <p:childTnLst>
                                    <p:cmd type="call" cmd="playFrom(0.0)">
                                      <p:cBhvr>
                                        <p:cTn id="42" dur="9024" fill="hold"/>
                                        <p:tgtEl>
                                          <p:spTgt spid="7"/>
                                        </p:tgtEl>
                                      </p:cBhvr>
                                    </p:cmd>
                                  </p:childTnLst>
                                </p:cTn>
                              </p:par>
                            </p:childTnLst>
                          </p:cTn>
                        </p:par>
                      </p:childTnLst>
                    </p:cTn>
                  </p:par>
                  <p:par>
                    <p:cTn id="43" fill="hold">
                      <p:stCondLst>
                        <p:cond delay="indefinite"/>
                      </p:stCondLst>
                      <p:childTnLst>
                        <p:par>
                          <p:cTn id="44" fill="hold">
                            <p:stCondLst>
                              <p:cond delay="0"/>
                            </p:stCondLst>
                            <p:childTnLst>
                              <p:par>
                                <p:cTn id="45" presetID="1" presetClass="mediacall" presetSubtype="0" fill="hold" nodeType="clickEffect">
                                  <p:stCondLst>
                                    <p:cond delay="0"/>
                                  </p:stCondLst>
                                  <p:childTnLst>
                                    <p:cmd type="call" cmd="playFrom(0.0)">
                                      <p:cBhvr>
                                        <p:cTn id="46" dur="1181" fill="hold"/>
                                        <p:tgtEl>
                                          <p:spTgt spid="4"/>
                                        </p:tgtEl>
                                      </p:cBhvr>
                                    </p:cmd>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mediacall" presetSubtype="0" fill="hold" nodeType="clickEffect">
                                  <p:stCondLst>
                                    <p:cond delay="0"/>
                                  </p:stCondLst>
                                  <p:childTnLst>
                                    <p:cmd type="call" cmd="playFrom(0.0)">
                                      <p:cBhvr>
                                        <p:cTn id="52" dur="81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53" fill="hold" display="0">
                  <p:stCondLst>
                    <p:cond delay="indefinite"/>
                  </p:stCondLst>
                  <p:endCondLst>
                    <p:cond evt="onStopAudio" delay="0">
                      <p:tgtEl>
                        <p:sldTgt/>
                      </p:tgtEl>
                    </p:cond>
                  </p:endCondLst>
                </p:cTn>
                <p:tgtEl>
                  <p:spTgt spid="5"/>
                </p:tgtEl>
              </p:cMediaNode>
            </p:audio>
            <p:audio>
              <p:cMediaNode vol="80000">
                <p:cTn id="54" fill="hold" display="0">
                  <p:stCondLst>
                    <p:cond delay="indefinite"/>
                  </p:stCondLst>
                  <p:endCondLst>
                    <p:cond evt="onStopAudio" delay="0">
                      <p:tgtEl>
                        <p:sldTgt/>
                      </p:tgtEl>
                    </p:cond>
                  </p:endCondLst>
                </p:cTn>
                <p:tgtEl>
                  <p:spTgt spid="7"/>
                </p:tgtEl>
              </p:cMediaNode>
            </p:audio>
            <p:audio>
              <p:cMediaNode vol="80000">
                <p:cTn id="55" fill="hold" display="0">
                  <p:stCondLst>
                    <p:cond delay="indefinite"/>
                  </p:stCondLst>
                  <p:endCondLst>
                    <p:cond evt="onStopAudio" delay="0">
                      <p:tgtEl>
                        <p:sldTgt/>
                      </p:tgtEl>
                    </p:cond>
                  </p:endCondLst>
                </p:cTn>
                <p:tgtEl>
                  <p:spTgt spid="8"/>
                </p:tgtEl>
              </p:cMediaNode>
            </p:audio>
            <p:audio>
              <p:cMediaNode vol="80000">
                <p:cTn id="56" fill="hold" display="0">
                  <p:stCondLst>
                    <p:cond delay="indefinite"/>
                  </p:stCondLst>
                  <p:endCondLst>
                    <p:cond evt="onStopAudio" delay="0">
                      <p:tgtEl>
                        <p:sldTgt/>
                      </p:tgtEl>
                    </p:cond>
                  </p:endCondLst>
                </p:cTn>
                <p:tgtEl>
                  <p:spTgt spid="10"/>
                </p:tgtEl>
              </p:cMediaNode>
            </p:audio>
            <p:audio>
              <p:cMediaNode vol="80000">
                <p:cTn id="57" fill="hold" display="0">
                  <p:stCondLst>
                    <p:cond delay="indefinite"/>
                  </p:stCondLst>
                  <p:endCondLst>
                    <p:cond evt="onStopAudio" delay="0">
                      <p:tgtEl>
                        <p:sldTgt/>
                      </p:tgtEl>
                    </p:cond>
                  </p:endCondLst>
                </p:cTn>
                <p:tgtEl>
                  <p:spTgt spid="4"/>
                </p:tgtEl>
              </p:cMediaNode>
            </p:audio>
            <p:audio>
              <p:cMediaNode vol="80000">
                <p:cTn id="58" fill="hold" display="0">
                  <p:stCondLst>
                    <p:cond delay="indefinite"/>
                  </p:stCondLst>
                  <p:endCondLst>
                    <p:cond evt="onStopAudio" delay="0">
                      <p:tgtEl>
                        <p:sldTgt/>
                      </p:tgtEl>
                    </p:cond>
                  </p:endCondLst>
                </p:cTn>
                <p:tgtEl>
                  <p:spTgt spid="13"/>
                </p:tgtEl>
              </p:cMediaNode>
            </p:audio>
            <p:audio>
              <p:cMediaNode vol="80000">
                <p:cTn id="59" fill="hold" display="0">
                  <p:stCondLst>
                    <p:cond delay="indefinite"/>
                  </p:stCondLst>
                  <p:endCondLst>
                    <p:cond evt="onStopAudio" delay="0">
                      <p:tgtEl>
                        <p:sldTgt/>
                      </p:tgtEl>
                    </p:cond>
                  </p:endCondLst>
                </p:cTn>
                <p:tgtEl>
                  <p:spTgt spid="14"/>
                </p:tgtEl>
              </p:cMediaNode>
            </p:audio>
            <p:audio>
              <p:cMediaNode vol="80000">
                <p:cTn id="60" fill="hold" display="0">
                  <p:stCondLst>
                    <p:cond delay="indefinite"/>
                  </p:stCondLst>
                  <p:endCondLst>
                    <p:cond evt="onStopAudio" delay="0">
                      <p:tgtEl>
                        <p:sldTgt/>
                      </p:tgtEl>
                    </p:cond>
                  </p:endCondLst>
                </p:cTn>
                <p:tgtEl>
                  <p:spTgt spid="16"/>
                </p:tgtEl>
              </p:cMediaNode>
            </p:audio>
            <p:audio>
              <p:cMediaNode vol="80000">
                <p:cTn id="61" fill="hold" display="0">
                  <p:stCondLst>
                    <p:cond delay="indefinite"/>
                  </p:stCondLst>
                  <p:endCondLst>
                    <p:cond evt="onStopAudio" delay="0">
                      <p:tgtEl>
                        <p:sldTgt/>
                      </p:tgtEl>
                    </p:cond>
                  </p:endCondLst>
                </p:cTn>
                <p:tgtEl>
                  <p:spTgt spid="17"/>
                </p:tgtEl>
              </p:cMediaNode>
            </p:audio>
            <p:audio>
              <p:cMediaNode vol="80000">
                <p:cTn id="62" fill="hold" display="0">
                  <p:stCondLst>
                    <p:cond delay="indefinite"/>
                  </p:stCondLst>
                  <p:endCondLst>
                    <p:cond evt="onStopAudio" delay="0">
                      <p:tgtEl>
                        <p:sldTgt/>
                      </p:tgtEl>
                    </p:cond>
                  </p:endCondLst>
                </p:cTn>
                <p:tgtEl>
                  <p:spTgt spid="18"/>
                </p:tgtEl>
              </p:cMediaNode>
            </p:audio>
          </p:childTnLst>
        </p:cTn>
      </p:par>
    </p:tnLst>
    <p:bldLst>
      <p:bldP spid="6" grpId="0"/>
      <p:bldP spid="9" grpId="0"/>
      <p:bldP spid="11" grpId="0"/>
      <p:bldP spid="12" grpId="0"/>
      <p:bldP spid="1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B075B9E1-301F-BB79-89D4-29FF5B546E39}"/>
              </a:ext>
            </a:extLst>
          </p:cNvPr>
          <p:cNvSpPr>
            <a:spLocks noGrp="1"/>
          </p:cNvSpPr>
          <p:nvPr>
            <p:ph idx="1"/>
          </p:nvPr>
        </p:nvSpPr>
        <p:spPr>
          <a:xfrm>
            <a:off x="1024242" y="1142161"/>
            <a:ext cx="10515600" cy="5604244"/>
          </a:xfrm>
        </p:spPr>
        <p:txBody>
          <a:bodyPr>
            <a:noAutofit/>
          </a:bodyPr>
          <a:lstStyle/>
          <a:p>
            <a:r>
              <a:rPr lang="en-US" altLang="zh-TW" sz="2400" dirty="0" err="1"/>
              <a:t>SyllableLM</a:t>
            </a:r>
            <a:r>
              <a:rPr lang="en-US" altLang="zh-TW" sz="2400" dirty="0"/>
              <a:t>: Learning Coarse Semantic Units for Speech Language Models</a:t>
            </a:r>
          </a:p>
          <a:p>
            <a:pPr lvl="1"/>
            <a:r>
              <a:rPr lang="en-US" altLang="zh-TW" sz="1800" dirty="0"/>
              <a:t>https://arxiv.org/abs/2410.04029</a:t>
            </a:r>
          </a:p>
          <a:p>
            <a:r>
              <a:rPr lang="en-US" altLang="zh-TW" sz="2400" dirty="0" err="1"/>
              <a:t>Sylber</a:t>
            </a:r>
            <a:r>
              <a:rPr lang="en-US" altLang="zh-TW" sz="2400" dirty="0"/>
              <a:t>: Syllabic Embedding Representation of Speech from Raw Audio</a:t>
            </a:r>
          </a:p>
          <a:p>
            <a:pPr lvl="1"/>
            <a:r>
              <a:rPr lang="en-US" altLang="zh-TW" sz="1800" dirty="0"/>
              <a:t>https://arxiv.org/abs/2410.07168</a:t>
            </a:r>
          </a:p>
          <a:p>
            <a:r>
              <a:rPr lang="en-US" altLang="zh-TW" sz="2400" dirty="0" err="1"/>
              <a:t>CodecSlime</a:t>
            </a:r>
            <a:r>
              <a:rPr lang="en-US" altLang="zh-TW" sz="2400" dirty="0"/>
              <a:t>: Temporal Redundancy Compression of Neural Speech Codec via Dynamic Frame Rate</a:t>
            </a:r>
          </a:p>
          <a:p>
            <a:pPr lvl="1"/>
            <a:r>
              <a:rPr lang="en-US" altLang="zh-TW" sz="1800" dirty="0"/>
              <a:t>https://arxiv.org/abs/2506.21074</a:t>
            </a:r>
            <a:endParaRPr lang="zh-TW" altLang="en-US" sz="1800" dirty="0"/>
          </a:p>
          <a:p>
            <a:r>
              <a:rPr lang="en-US" altLang="zh-TW" sz="2400" dirty="0" err="1"/>
              <a:t>TaDiCodec</a:t>
            </a:r>
            <a:r>
              <a:rPr lang="en-US" altLang="zh-TW" sz="2400" dirty="0"/>
              <a:t>: Text-aware Diffusion Speech Tokenizer for Speech Language Modeling</a:t>
            </a:r>
          </a:p>
          <a:p>
            <a:pPr lvl="1"/>
            <a:r>
              <a:rPr lang="en-US" altLang="zh-TW" sz="1800" dirty="0"/>
              <a:t>https://arxiv.org/abs/2508.16790</a:t>
            </a:r>
          </a:p>
          <a:p>
            <a:r>
              <a:rPr lang="en-US" altLang="zh-TW" sz="2400" dirty="0" err="1"/>
              <a:t>FlexiCodec</a:t>
            </a:r>
            <a:r>
              <a:rPr lang="en-US" altLang="zh-TW" sz="2400" dirty="0"/>
              <a:t>: A Dynamic Neural Audio Codec for Low Frame Rates</a:t>
            </a:r>
          </a:p>
          <a:p>
            <a:pPr lvl="1"/>
            <a:r>
              <a:rPr lang="en-US" altLang="zh-TW" sz="1800" dirty="0"/>
              <a:t>https://arxiv.org/abs/2510.00981</a:t>
            </a:r>
          </a:p>
          <a:p>
            <a:r>
              <a:rPr lang="en-US" altLang="zh-TW" sz="2400" dirty="0"/>
              <a:t>TASLA: Text-Aligned Speech Tokens with Multiple Layer-Aggregation</a:t>
            </a:r>
          </a:p>
          <a:p>
            <a:pPr lvl="1"/>
            <a:r>
              <a:rPr lang="en-US" altLang="zh-TW" sz="1800" dirty="0"/>
              <a:t>https://arxiv.org/abs/2510.14934</a:t>
            </a:r>
          </a:p>
          <a:p>
            <a:endParaRPr lang="en-US" altLang="zh-TW" sz="2200" dirty="0"/>
          </a:p>
        </p:txBody>
      </p:sp>
      <p:sp>
        <p:nvSpPr>
          <p:cNvPr id="4" name="文字方塊 3">
            <a:extLst>
              <a:ext uri="{FF2B5EF4-FFF2-40B4-BE49-F238E27FC236}">
                <a16:creationId xmlns:a16="http://schemas.microsoft.com/office/drawing/2014/main" id="{5ABCFC89-7D92-7B46-3178-DD44376ACAC8}"/>
              </a:ext>
            </a:extLst>
          </p:cNvPr>
          <p:cNvSpPr txBox="1"/>
          <p:nvPr/>
        </p:nvSpPr>
        <p:spPr>
          <a:xfrm>
            <a:off x="7920342" y="696370"/>
            <a:ext cx="3619500"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Dynamic Token Rate </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文字方塊 4">
            <a:extLst>
              <a:ext uri="{FF2B5EF4-FFF2-40B4-BE49-F238E27FC236}">
                <a16:creationId xmlns:a16="http://schemas.microsoft.com/office/drawing/2014/main" id="{1050114A-9338-F3AD-2AA0-364D3B7C9D9B}"/>
              </a:ext>
            </a:extLst>
          </p:cNvPr>
          <p:cNvSpPr txBox="1"/>
          <p:nvPr/>
        </p:nvSpPr>
        <p:spPr>
          <a:xfrm>
            <a:off x="7920342" y="4102207"/>
            <a:ext cx="3619500"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文字方塊 5">
            <a:extLst>
              <a:ext uri="{FF2B5EF4-FFF2-40B4-BE49-F238E27FC236}">
                <a16:creationId xmlns:a16="http://schemas.microsoft.com/office/drawing/2014/main" id="{AB0EED17-9884-2E73-B83B-CBA6DAB145F0}"/>
              </a:ext>
            </a:extLst>
          </p:cNvPr>
          <p:cNvSpPr txBox="1"/>
          <p:nvPr/>
        </p:nvSpPr>
        <p:spPr>
          <a:xfrm>
            <a:off x="8006067" y="5939471"/>
            <a:ext cx="3619500"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 Dynamic Token Rate </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矩形: 圓角 6">
            <a:extLst>
              <a:ext uri="{FF2B5EF4-FFF2-40B4-BE49-F238E27FC236}">
                <a16:creationId xmlns:a16="http://schemas.microsoft.com/office/drawing/2014/main" id="{A49DF066-7956-81A6-373B-B28BCE57D62E}"/>
              </a:ext>
            </a:extLst>
          </p:cNvPr>
          <p:cNvSpPr/>
          <p:nvPr/>
        </p:nvSpPr>
        <p:spPr>
          <a:xfrm>
            <a:off x="986142" y="753925"/>
            <a:ext cx="10725150" cy="2945637"/>
          </a:xfrm>
          <a:prstGeom prst="roundRect">
            <a:avLst>
              <a:gd name="adj" fmla="val 10115"/>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矩形: 圓角 8">
            <a:extLst>
              <a:ext uri="{FF2B5EF4-FFF2-40B4-BE49-F238E27FC236}">
                <a16:creationId xmlns:a16="http://schemas.microsoft.com/office/drawing/2014/main" id="{CCB19FE4-FCB2-46A0-183A-F71C4E2DF8FA}"/>
              </a:ext>
            </a:extLst>
          </p:cNvPr>
          <p:cNvSpPr/>
          <p:nvPr/>
        </p:nvSpPr>
        <p:spPr>
          <a:xfrm>
            <a:off x="1024242" y="3720914"/>
            <a:ext cx="10725150" cy="842958"/>
          </a:xfrm>
          <a:prstGeom prst="roundRect">
            <a:avLst>
              <a:gd name="adj" fmla="val 10115"/>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63D552B9-CAB2-13D0-D7DA-BF4ACCE551AB}"/>
              </a:ext>
            </a:extLst>
          </p:cNvPr>
          <p:cNvSpPr/>
          <p:nvPr/>
        </p:nvSpPr>
        <p:spPr>
          <a:xfrm>
            <a:off x="1024242" y="4573223"/>
            <a:ext cx="10725150" cy="1944309"/>
          </a:xfrm>
          <a:prstGeom prst="roundRect">
            <a:avLst>
              <a:gd name="adj" fmla="val 10115"/>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7F673B9E-2152-F4ED-233C-C25C051564BC}"/>
              </a:ext>
            </a:extLst>
          </p:cNvPr>
          <p:cNvSpPr txBox="1"/>
          <p:nvPr/>
        </p:nvSpPr>
        <p:spPr>
          <a:xfrm>
            <a:off x="442608" y="111595"/>
            <a:ext cx="6099242" cy="584775"/>
          </a:xfrm>
          <a:prstGeom prst="rect">
            <a:avLst/>
          </a:prstGeom>
          <a:noFill/>
        </p:spPr>
        <p:txBody>
          <a:bodyPr wrap="square">
            <a:spAutoFit/>
          </a:bodyPr>
          <a:lstStyle/>
          <a:p>
            <a:r>
              <a:rPr lang="en-US" altLang="zh-TW" sz="3200" dirty="0"/>
              <a:t>More ….</a:t>
            </a:r>
            <a:endParaRPr lang="zh-TW" altLang="en-US" sz="3200" dirty="0"/>
          </a:p>
        </p:txBody>
      </p:sp>
    </p:spTree>
    <p:extLst>
      <p:ext uri="{BB962C8B-B14F-4D97-AF65-F5344CB8AC3E}">
        <p14:creationId xmlns:p14="http://schemas.microsoft.com/office/powerpoint/2010/main" val="19156685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559DB5-3B38-9BD4-4497-2451EC87495E}"/>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視訊 23" descr="生命徵象折線">
            <a:extLst>
              <a:ext uri="{FF2B5EF4-FFF2-40B4-BE49-F238E27FC236}">
                <a16:creationId xmlns:a16="http://schemas.microsoft.com/office/drawing/2014/main" id="{72A4AA10-8745-74C9-455B-C86A9DEDCB17}"/>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284" r="1" b="1"/>
          <a:stretch>
            <a:fillRect/>
          </a:stretch>
        </p:blipFill>
        <p:spPr>
          <a:xfrm>
            <a:off x="-3047" y="10"/>
            <a:ext cx="12191999" cy="6857990"/>
          </a:xfrm>
          <a:prstGeom prst="rect">
            <a:avLst/>
          </a:prstGeom>
        </p:spPr>
      </p:pic>
      <p:sp>
        <p:nvSpPr>
          <p:cNvPr id="30" name="Rectangle 2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44059A75-14FA-3563-B5A6-F58429F3E03A}"/>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altLang="zh-TW" sz="8000" dirty="0">
                <a:solidFill>
                  <a:srgbClr val="FFFFFF"/>
                </a:solidFill>
                <a:latin typeface="微軟正黑體" panose="020B0604030504040204" pitchFamily="34" charset="-120"/>
                <a:ea typeface="微軟正黑體" panose="020B0604030504040204" pitchFamily="34" charset="-120"/>
              </a:rPr>
              <a:t>5. </a:t>
            </a:r>
            <a:r>
              <a:rPr lang="zh-TW" altLang="en-US" sz="8000" dirty="0">
                <a:solidFill>
                  <a:srgbClr val="FFFFFF"/>
                </a:solidFill>
                <a:latin typeface="微軟正黑體" panose="020B0604030504040204" pitchFamily="34" charset="-120"/>
                <a:ea typeface="微軟正黑體" panose="020B0604030504040204" pitchFamily="34" charset="-120"/>
              </a:rPr>
              <a:t>語音語言模型</a:t>
            </a:r>
            <a:br>
              <a:rPr lang="en-US" altLang="zh-TW" sz="8000" dirty="0">
                <a:solidFill>
                  <a:srgbClr val="FFFFFF"/>
                </a:solidFill>
                <a:latin typeface="微軟正黑體" panose="020B0604030504040204" pitchFamily="34" charset="-120"/>
                <a:ea typeface="微軟正黑體" panose="020B0604030504040204" pitchFamily="34" charset="-120"/>
              </a:rPr>
            </a:br>
            <a:r>
              <a:rPr lang="zh-TW" altLang="en-US" sz="8000" dirty="0">
                <a:solidFill>
                  <a:srgbClr val="FFFFFF"/>
                </a:solidFill>
                <a:latin typeface="微軟正黑體" panose="020B0604030504040204" pitchFamily="34" charset="-120"/>
                <a:ea typeface="微軟正黑體" panose="020B0604030504040204" pitchFamily="34" charset="-120"/>
              </a:rPr>
              <a:t>的三部曲</a:t>
            </a:r>
          </a:p>
        </p:txBody>
      </p:sp>
      <p:sp>
        <p:nvSpPr>
          <p:cNvPr id="3" name="副標題 2">
            <a:extLst>
              <a:ext uri="{FF2B5EF4-FFF2-40B4-BE49-F238E27FC236}">
                <a16:creationId xmlns:a16="http://schemas.microsoft.com/office/drawing/2014/main" id="{E976F72F-05FD-9416-B829-A2ABA4F7B72E}"/>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endParaRPr lang="zh-TW" altLang="en-US">
              <a:solidFill>
                <a:srgbClr val="FFFFFF"/>
              </a:solidFill>
            </a:endParaRPr>
          </a:p>
        </p:txBody>
      </p:sp>
    </p:spTree>
    <p:extLst>
      <p:ext uri="{BB962C8B-B14F-4D97-AF65-F5344CB8AC3E}">
        <p14:creationId xmlns:p14="http://schemas.microsoft.com/office/powerpoint/2010/main" val="29875785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video>
              <p:cMediaNode mute="1">
                <p:cTn id="2" repeatCount="indefinite" fill="hold" display="0">
                  <p:stCondLst>
                    <p:cond delay="indefinite"/>
                  </p:stCondLst>
                </p:cTn>
                <p:tgtEl>
                  <p:spTgt spid="24"/>
                </p:tgtEl>
              </p:cMediaNode>
            </p:video>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23307-3632-59C8-8372-B6E541E1544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1F9D9E1-27A9-C28F-303C-9AC89BB13F7C}"/>
              </a:ext>
            </a:extLst>
          </p:cNvPr>
          <p:cNvSpPr>
            <a:spLocks noGrp="1"/>
          </p:cNvSpPr>
          <p:nvPr>
            <p:ph type="title"/>
          </p:nvPr>
        </p:nvSpPr>
        <p:spPr/>
        <p:txBody>
          <a:bodyPr/>
          <a:lstStyle/>
          <a:p>
            <a:r>
              <a:rPr lang="en-US" altLang="zh-TW" dirty="0">
                <a:latin typeface="微軟正黑體" panose="020B0604030504040204" pitchFamily="34" charset="-120"/>
                <a:ea typeface="微軟正黑體" panose="020B0604030504040204" pitchFamily="34" charset="-120"/>
              </a:rPr>
              <a:t>How to Train Speech LLM</a:t>
            </a:r>
            <a:endParaRPr lang="zh-TW" altLang="en-US" b="1" dirty="0"/>
          </a:p>
        </p:txBody>
      </p:sp>
      <p:sp>
        <p:nvSpPr>
          <p:cNvPr id="13" name="矩形: 圓角 12">
            <a:extLst>
              <a:ext uri="{FF2B5EF4-FFF2-40B4-BE49-F238E27FC236}">
                <a16:creationId xmlns:a16="http://schemas.microsoft.com/office/drawing/2014/main" id="{53B0B30A-0642-522F-8276-B3C1C344D89D}"/>
              </a:ext>
            </a:extLst>
          </p:cNvPr>
          <p:cNvSpPr/>
          <p:nvPr/>
        </p:nvSpPr>
        <p:spPr>
          <a:xfrm>
            <a:off x="8180777" y="1611313"/>
            <a:ext cx="1907809" cy="1236330"/>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Pre-trained Speech 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14" name="Picture 3">
            <a:extLst>
              <a:ext uri="{FF2B5EF4-FFF2-40B4-BE49-F238E27FC236}">
                <a16:creationId xmlns:a16="http://schemas.microsoft.com/office/drawing/2014/main" id="{D97500D2-AE1C-1C86-D7B6-A5EC8D340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693" y="1628442"/>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線單箭頭接點 14">
            <a:extLst>
              <a:ext uri="{FF2B5EF4-FFF2-40B4-BE49-F238E27FC236}">
                <a16:creationId xmlns:a16="http://schemas.microsoft.com/office/drawing/2014/main" id="{5896B5B0-26B2-8451-97F3-3E4D8C48DCAD}"/>
              </a:ext>
            </a:extLst>
          </p:cNvPr>
          <p:cNvCxnSpPr/>
          <p:nvPr/>
        </p:nvCxnSpPr>
        <p:spPr>
          <a:xfrm>
            <a:off x="5375324" y="2238042"/>
            <a:ext cx="254625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39D8826F-B244-3D71-9D4E-9D7F6094A4D0}"/>
              </a:ext>
            </a:extLst>
          </p:cNvPr>
          <p:cNvSpPr txBox="1"/>
          <p:nvPr/>
        </p:nvSpPr>
        <p:spPr>
          <a:xfrm>
            <a:off x="1535438" y="1813979"/>
            <a:ext cx="197382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a:t>
            </a: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nlabeled</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speech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C55A0C1E-6912-6478-814E-41D5E49D251A}"/>
              </a:ext>
            </a:extLst>
          </p:cNvPr>
          <p:cNvSpPr/>
          <p:nvPr/>
        </p:nvSpPr>
        <p:spPr>
          <a:xfrm>
            <a:off x="8180777" y="3429592"/>
            <a:ext cx="1907809" cy="1236330"/>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0" name="直線單箭頭接點 29">
            <a:extLst>
              <a:ext uri="{FF2B5EF4-FFF2-40B4-BE49-F238E27FC236}">
                <a16:creationId xmlns:a16="http://schemas.microsoft.com/office/drawing/2014/main" id="{CC07EA09-7884-F475-5DC1-F3A9026CBE97}"/>
              </a:ext>
            </a:extLst>
          </p:cNvPr>
          <p:cNvCxnSpPr/>
          <p:nvPr/>
        </p:nvCxnSpPr>
        <p:spPr>
          <a:xfrm>
            <a:off x="5375324" y="4056321"/>
            <a:ext cx="254625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5D41144B-1044-8F1D-0624-78C4DEE119ED}"/>
              </a:ext>
            </a:extLst>
          </p:cNvPr>
          <p:cNvSpPr txBox="1"/>
          <p:nvPr/>
        </p:nvSpPr>
        <p:spPr>
          <a:xfrm>
            <a:off x="5375321" y="2307563"/>
            <a:ext cx="2546253"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Next “Speech Token” Prediction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文字方塊 2">
            <a:extLst>
              <a:ext uri="{FF2B5EF4-FFF2-40B4-BE49-F238E27FC236}">
                <a16:creationId xmlns:a16="http://schemas.microsoft.com/office/drawing/2014/main" id="{277BE4C6-5CFD-1D19-B80E-07558725FEBA}"/>
              </a:ext>
            </a:extLst>
          </p:cNvPr>
          <p:cNvSpPr txBox="1"/>
          <p:nvPr/>
        </p:nvSpPr>
        <p:spPr>
          <a:xfrm>
            <a:off x="5375322" y="4116597"/>
            <a:ext cx="254625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SFT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5" name="直線單箭頭接點 4">
            <a:extLst>
              <a:ext uri="{FF2B5EF4-FFF2-40B4-BE49-F238E27FC236}">
                <a16:creationId xmlns:a16="http://schemas.microsoft.com/office/drawing/2014/main" id="{759992A9-16BF-6F9D-C7EA-587B69260848}"/>
              </a:ext>
            </a:extLst>
          </p:cNvPr>
          <p:cNvCxnSpPr>
            <a:cxnSpLocks/>
          </p:cNvCxnSpPr>
          <p:nvPr/>
        </p:nvCxnSpPr>
        <p:spPr>
          <a:xfrm>
            <a:off x="9134681" y="2908561"/>
            <a:ext cx="0" cy="50198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16C04407-86D1-C8AF-42F3-CBD3DE20A6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4229" y="3393768"/>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12" name="文字方塊 11">
            <a:extLst>
              <a:ext uri="{FF2B5EF4-FFF2-40B4-BE49-F238E27FC236}">
                <a16:creationId xmlns:a16="http://schemas.microsoft.com/office/drawing/2014/main" id="{BBDA6061-1DC1-E4BF-512B-99C7A4AE48DE}"/>
              </a:ext>
            </a:extLst>
          </p:cNvPr>
          <p:cNvSpPr txBox="1"/>
          <p:nvPr/>
        </p:nvSpPr>
        <p:spPr>
          <a:xfrm>
            <a:off x="1312085" y="3557059"/>
            <a:ext cx="234460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Human annotated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矩形: 圓角 5">
            <a:extLst>
              <a:ext uri="{FF2B5EF4-FFF2-40B4-BE49-F238E27FC236}">
                <a16:creationId xmlns:a16="http://schemas.microsoft.com/office/drawing/2014/main" id="{0833BB3C-B788-3445-C968-7270F40B86F8}"/>
              </a:ext>
            </a:extLst>
          </p:cNvPr>
          <p:cNvSpPr/>
          <p:nvPr/>
        </p:nvSpPr>
        <p:spPr>
          <a:xfrm>
            <a:off x="1523734" y="5094524"/>
            <a:ext cx="1744228" cy="992961"/>
          </a:xfrm>
          <a:prstGeom prst="roundRec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Text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LLM</a:t>
            </a:r>
          </a:p>
        </p:txBody>
      </p:sp>
      <p:cxnSp>
        <p:nvCxnSpPr>
          <p:cNvPr id="7" name="直線單箭頭接點 6">
            <a:extLst>
              <a:ext uri="{FF2B5EF4-FFF2-40B4-BE49-F238E27FC236}">
                <a16:creationId xmlns:a16="http://schemas.microsoft.com/office/drawing/2014/main" id="{764CC44A-71F9-7ABA-D323-DA2EBA27595B}"/>
              </a:ext>
            </a:extLst>
          </p:cNvPr>
          <p:cNvCxnSpPr>
            <a:cxnSpLocks/>
          </p:cNvCxnSpPr>
          <p:nvPr/>
        </p:nvCxnSpPr>
        <p:spPr>
          <a:xfrm>
            <a:off x="3347914" y="5591007"/>
            <a:ext cx="546709" cy="0"/>
          </a:xfrm>
          <a:prstGeom prst="straightConnector1">
            <a:avLst/>
          </a:prstGeom>
          <a:ln w="5715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6" name="矩形: 圓角 15">
            <a:extLst>
              <a:ext uri="{FF2B5EF4-FFF2-40B4-BE49-F238E27FC236}">
                <a16:creationId xmlns:a16="http://schemas.microsoft.com/office/drawing/2014/main" id="{9D7D6A62-EA65-E036-091A-E6274C793B8C}"/>
              </a:ext>
            </a:extLst>
          </p:cNvPr>
          <p:cNvSpPr/>
          <p:nvPr/>
        </p:nvSpPr>
        <p:spPr>
          <a:xfrm>
            <a:off x="6648447" y="5094524"/>
            <a:ext cx="1620859" cy="992961"/>
          </a:xfrm>
          <a:prstGeom prst="roundRect">
            <a:avLst/>
          </a:prstGeom>
          <a:solidFill>
            <a:schemeClr val="accent6">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TTS</a:t>
            </a:r>
            <a:endParaRPr kumimoji="0" lang="zh-TW" altLang="en-US" sz="24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p:txBody>
      </p:sp>
      <p:sp>
        <p:nvSpPr>
          <p:cNvPr id="17" name="文字方塊 16">
            <a:extLst>
              <a:ext uri="{FF2B5EF4-FFF2-40B4-BE49-F238E27FC236}">
                <a16:creationId xmlns:a16="http://schemas.microsoft.com/office/drawing/2014/main" id="{EEBABF13-8F35-9146-1A7F-0E0FFEE72FAB}"/>
              </a:ext>
            </a:extLst>
          </p:cNvPr>
          <p:cNvSpPr txBox="1"/>
          <p:nvPr/>
        </p:nvSpPr>
        <p:spPr>
          <a:xfrm>
            <a:off x="3995177" y="5137360"/>
            <a:ext cx="187483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Text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conversation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cxnSp>
        <p:nvCxnSpPr>
          <p:cNvPr id="19" name="直線單箭頭接點 18">
            <a:extLst>
              <a:ext uri="{FF2B5EF4-FFF2-40B4-BE49-F238E27FC236}">
                <a16:creationId xmlns:a16="http://schemas.microsoft.com/office/drawing/2014/main" id="{337DDDE9-63FE-7B1C-6AE4-85584A18071B}"/>
              </a:ext>
            </a:extLst>
          </p:cNvPr>
          <p:cNvCxnSpPr>
            <a:cxnSpLocks/>
          </p:cNvCxnSpPr>
          <p:nvPr/>
        </p:nvCxnSpPr>
        <p:spPr>
          <a:xfrm>
            <a:off x="5957054" y="5552860"/>
            <a:ext cx="546709" cy="0"/>
          </a:xfrm>
          <a:prstGeom prst="straightConnector1">
            <a:avLst/>
          </a:prstGeom>
          <a:ln w="5715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直線單箭頭接點 19">
            <a:extLst>
              <a:ext uri="{FF2B5EF4-FFF2-40B4-BE49-F238E27FC236}">
                <a16:creationId xmlns:a16="http://schemas.microsoft.com/office/drawing/2014/main" id="{5F3728D7-35B5-CA90-2592-0DF03C49F1A6}"/>
              </a:ext>
            </a:extLst>
          </p:cNvPr>
          <p:cNvCxnSpPr>
            <a:cxnSpLocks/>
          </p:cNvCxnSpPr>
          <p:nvPr/>
        </p:nvCxnSpPr>
        <p:spPr>
          <a:xfrm>
            <a:off x="8358205" y="5571909"/>
            <a:ext cx="546709" cy="0"/>
          </a:xfrm>
          <a:prstGeom prst="straightConnector1">
            <a:avLst/>
          </a:prstGeom>
          <a:ln w="5715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 name="文字方塊 20">
            <a:extLst>
              <a:ext uri="{FF2B5EF4-FFF2-40B4-BE49-F238E27FC236}">
                <a16:creationId xmlns:a16="http://schemas.microsoft.com/office/drawing/2014/main" id="{7B7406D9-EC24-1A99-C7C0-3F91BE080FD0}"/>
              </a:ext>
            </a:extLst>
          </p:cNvPr>
          <p:cNvSpPr txBox="1"/>
          <p:nvPr/>
        </p:nvSpPr>
        <p:spPr>
          <a:xfrm>
            <a:off x="8961671" y="5175460"/>
            <a:ext cx="187483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speech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conversation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sp>
        <p:nvSpPr>
          <p:cNvPr id="10" name="文字方塊 9">
            <a:extLst>
              <a:ext uri="{FF2B5EF4-FFF2-40B4-BE49-F238E27FC236}">
                <a16:creationId xmlns:a16="http://schemas.microsoft.com/office/drawing/2014/main" id="{5D87914B-A544-BE37-C3D9-DAA18896FE33}"/>
              </a:ext>
            </a:extLst>
          </p:cNvPr>
          <p:cNvSpPr txBox="1"/>
          <p:nvPr/>
        </p:nvSpPr>
        <p:spPr>
          <a:xfrm>
            <a:off x="8535516" y="6207752"/>
            <a:ext cx="3638845" cy="369332"/>
          </a:xfrm>
          <a:prstGeom prst="rect">
            <a:avLst/>
          </a:prstGeom>
          <a:noFill/>
        </p:spPr>
        <p:txBody>
          <a:bodyPr wrap="square">
            <a:spAutoFit/>
          </a:bodyPr>
          <a:lstStyle/>
          <a:p>
            <a:r>
              <a:rPr lang="zh-TW" altLang="en-US" dirty="0"/>
              <a:t>https://arxiv.org/abs/2411.07111</a:t>
            </a:r>
          </a:p>
        </p:txBody>
      </p:sp>
    </p:spTree>
    <p:extLst>
      <p:ext uri="{BB962C8B-B14F-4D97-AF65-F5344CB8AC3E}">
        <p14:creationId xmlns:p14="http://schemas.microsoft.com/office/powerpoint/2010/main" val="18832746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 grpId="0"/>
      <p:bldP spid="12" grpId="0"/>
      <p:bldP spid="6" grpId="0" animBg="1"/>
      <p:bldP spid="16" grpId="0" animBg="1"/>
      <p:bldP spid="17" grpId="0"/>
      <p:bldP spid="21"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277F9-C7D8-3646-AE39-1B378571937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23B43E6-FEB6-24EA-FE12-EBC7ECA84302}"/>
              </a:ext>
            </a:extLst>
          </p:cNvPr>
          <p:cNvSpPr>
            <a:spLocks noGrp="1"/>
          </p:cNvSpPr>
          <p:nvPr>
            <p:ph type="title"/>
          </p:nvPr>
        </p:nvSpPr>
        <p:spPr/>
        <p:txBody>
          <a:bodyPr/>
          <a:lstStyle/>
          <a:p>
            <a:r>
              <a:rPr lang="en-US" altLang="zh-TW" dirty="0">
                <a:latin typeface="微軟正黑體" panose="020B0604030504040204" pitchFamily="34" charset="-120"/>
                <a:ea typeface="微軟正黑體" panose="020B0604030504040204" pitchFamily="34" charset="-120"/>
              </a:rPr>
              <a:t>How to Train Speech LLM</a:t>
            </a:r>
            <a:endParaRPr lang="zh-TW" altLang="en-US" b="1" dirty="0"/>
          </a:p>
        </p:txBody>
      </p:sp>
      <p:sp>
        <p:nvSpPr>
          <p:cNvPr id="13" name="矩形: 圓角 12">
            <a:extLst>
              <a:ext uri="{FF2B5EF4-FFF2-40B4-BE49-F238E27FC236}">
                <a16:creationId xmlns:a16="http://schemas.microsoft.com/office/drawing/2014/main" id="{C970A706-3B74-CA5A-44CD-7115149A05A4}"/>
              </a:ext>
            </a:extLst>
          </p:cNvPr>
          <p:cNvSpPr/>
          <p:nvPr/>
        </p:nvSpPr>
        <p:spPr>
          <a:xfrm>
            <a:off x="8180777" y="1611313"/>
            <a:ext cx="1907809" cy="1236330"/>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Pre-trained Speech 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14" name="Picture 3">
            <a:extLst>
              <a:ext uri="{FF2B5EF4-FFF2-40B4-BE49-F238E27FC236}">
                <a16:creationId xmlns:a16="http://schemas.microsoft.com/office/drawing/2014/main" id="{690819DB-F2DC-BBAD-EE42-64C62C0FBE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693" y="1628442"/>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線單箭頭接點 14">
            <a:extLst>
              <a:ext uri="{FF2B5EF4-FFF2-40B4-BE49-F238E27FC236}">
                <a16:creationId xmlns:a16="http://schemas.microsoft.com/office/drawing/2014/main" id="{149EB35F-6FA6-AE65-6A70-EDF384053925}"/>
              </a:ext>
            </a:extLst>
          </p:cNvPr>
          <p:cNvCxnSpPr/>
          <p:nvPr/>
        </p:nvCxnSpPr>
        <p:spPr>
          <a:xfrm>
            <a:off x="5375324" y="2238042"/>
            <a:ext cx="254625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6630D8D0-4B2E-157C-9726-5603EB4D854F}"/>
              </a:ext>
            </a:extLst>
          </p:cNvPr>
          <p:cNvSpPr txBox="1"/>
          <p:nvPr/>
        </p:nvSpPr>
        <p:spPr>
          <a:xfrm>
            <a:off x="1535438" y="1813979"/>
            <a:ext cx="197382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a:t>
            </a: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nlabeled</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speech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6A794352-971A-4F44-3378-18EB566CD1CA}"/>
              </a:ext>
            </a:extLst>
          </p:cNvPr>
          <p:cNvSpPr/>
          <p:nvPr/>
        </p:nvSpPr>
        <p:spPr>
          <a:xfrm>
            <a:off x="8180777" y="3429592"/>
            <a:ext cx="1907809" cy="1236330"/>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0" name="直線單箭頭接點 29">
            <a:extLst>
              <a:ext uri="{FF2B5EF4-FFF2-40B4-BE49-F238E27FC236}">
                <a16:creationId xmlns:a16="http://schemas.microsoft.com/office/drawing/2014/main" id="{9EDF7DE4-490C-F5FC-4D2E-15E0AE01AA57}"/>
              </a:ext>
            </a:extLst>
          </p:cNvPr>
          <p:cNvCxnSpPr/>
          <p:nvPr/>
        </p:nvCxnSpPr>
        <p:spPr>
          <a:xfrm>
            <a:off x="5375324" y="4056321"/>
            <a:ext cx="254625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圓角 30">
            <a:extLst>
              <a:ext uri="{FF2B5EF4-FFF2-40B4-BE49-F238E27FC236}">
                <a16:creationId xmlns:a16="http://schemas.microsoft.com/office/drawing/2014/main" id="{D75C4852-486D-0C13-2861-B401CC19F9AA}"/>
              </a:ext>
            </a:extLst>
          </p:cNvPr>
          <p:cNvSpPr/>
          <p:nvPr/>
        </p:nvSpPr>
        <p:spPr>
          <a:xfrm>
            <a:off x="8199827" y="5150700"/>
            <a:ext cx="1907809" cy="1236330"/>
          </a:xfrm>
          <a:prstGeom prst="roundRect">
            <a:avLst/>
          </a:prstGeom>
          <a:solidFill>
            <a:schemeClr val="accent5">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3" name="直線單箭頭接點 32">
            <a:extLst>
              <a:ext uri="{FF2B5EF4-FFF2-40B4-BE49-F238E27FC236}">
                <a16:creationId xmlns:a16="http://schemas.microsoft.com/office/drawing/2014/main" id="{12EB81D7-5DD4-4C77-A0DB-54FED22A3F61}"/>
              </a:ext>
            </a:extLst>
          </p:cNvPr>
          <p:cNvCxnSpPr/>
          <p:nvPr/>
        </p:nvCxnSpPr>
        <p:spPr>
          <a:xfrm>
            <a:off x="5394374" y="5777429"/>
            <a:ext cx="254625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DDA9A500-EA7B-3295-F32B-8F7D0337C7B2}"/>
              </a:ext>
            </a:extLst>
          </p:cNvPr>
          <p:cNvSpPr txBox="1"/>
          <p:nvPr/>
        </p:nvSpPr>
        <p:spPr>
          <a:xfrm>
            <a:off x="5375322" y="4116597"/>
            <a:ext cx="254625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SFT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 name="文字方塊 3">
            <a:extLst>
              <a:ext uri="{FF2B5EF4-FFF2-40B4-BE49-F238E27FC236}">
                <a16:creationId xmlns:a16="http://schemas.microsoft.com/office/drawing/2014/main" id="{A8C8F42F-665A-FC49-90B1-C64DF1005E5D}"/>
              </a:ext>
            </a:extLst>
          </p:cNvPr>
          <p:cNvSpPr txBox="1"/>
          <p:nvPr/>
        </p:nvSpPr>
        <p:spPr>
          <a:xfrm>
            <a:off x="5413423" y="5851207"/>
            <a:ext cx="254625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RLHF</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5" name="直線單箭頭接點 4">
            <a:extLst>
              <a:ext uri="{FF2B5EF4-FFF2-40B4-BE49-F238E27FC236}">
                <a16:creationId xmlns:a16="http://schemas.microsoft.com/office/drawing/2014/main" id="{D398BF3E-7906-E03C-1B6E-6237F7BEFB46}"/>
              </a:ext>
            </a:extLst>
          </p:cNvPr>
          <p:cNvCxnSpPr>
            <a:cxnSpLocks/>
          </p:cNvCxnSpPr>
          <p:nvPr/>
        </p:nvCxnSpPr>
        <p:spPr>
          <a:xfrm>
            <a:off x="9134681" y="2908561"/>
            <a:ext cx="0" cy="50198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8ADBEA95-668C-7F40-2F5E-6F01B5D588C6}"/>
              </a:ext>
            </a:extLst>
          </p:cNvPr>
          <p:cNvCxnSpPr>
            <a:cxnSpLocks/>
          </p:cNvCxnSpPr>
          <p:nvPr/>
        </p:nvCxnSpPr>
        <p:spPr>
          <a:xfrm>
            <a:off x="9153731" y="4665848"/>
            <a:ext cx="0" cy="50198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2">
            <a:extLst>
              <a:ext uri="{FF2B5EF4-FFF2-40B4-BE49-F238E27FC236}">
                <a16:creationId xmlns:a16="http://schemas.microsoft.com/office/drawing/2014/main" id="{8C835D2A-E0C0-36A3-1F00-7642710DDF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3830" y="528826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a:extLst>
              <a:ext uri="{FF2B5EF4-FFF2-40B4-BE49-F238E27FC236}">
                <a16:creationId xmlns:a16="http://schemas.microsoft.com/office/drawing/2014/main" id="{8EBC0BCA-9782-F20E-1623-DD1A9CBADF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5174" y="5417429"/>
            <a:ext cx="719999" cy="720000"/>
          </a:xfrm>
          <a:prstGeom prst="rect">
            <a:avLst/>
          </a:prstGeom>
          <a:noFill/>
          <a:extLst>
            <a:ext uri="{909E8E84-426E-40DD-AFC4-6F175D3DCCD1}">
              <a14:hiddenFill xmlns:a14="http://schemas.microsoft.com/office/drawing/2010/main">
                <a:solidFill>
                  <a:srgbClr val="FFFFFF"/>
                </a:solidFill>
              </a14:hiddenFill>
            </a:ext>
          </a:extLst>
        </p:spPr>
      </p:pic>
      <p:sp>
        <p:nvSpPr>
          <p:cNvPr id="11" name="文字方塊 10">
            <a:extLst>
              <a:ext uri="{FF2B5EF4-FFF2-40B4-BE49-F238E27FC236}">
                <a16:creationId xmlns:a16="http://schemas.microsoft.com/office/drawing/2014/main" id="{DBDF190E-296F-F0CE-3885-584BCA6A8D5D}"/>
              </a:ext>
            </a:extLst>
          </p:cNvPr>
          <p:cNvSpPr txBox="1"/>
          <p:nvPr/>
        </p:nvSpPr>
        <p:spPr>
          <a:xfrm>
            <a:off x="1249222" y="5361930"/>
            <a:ext cx="2546253"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Preference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2050" name="Picture 2">
            <a:extLst>
              <a:ext uri="{FF2B5EF4-FFF2-40B4-BE49-F238E27FC236}">
                <a16:creationId xmlns:a16="http://schemas.microsoft.com/office/drawing/2014/main" id="{BC96984B-F6CF-585A-F91F-DD42AD46E0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4229" y="3393768"/>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12" name="文字方塊 11">
            <a:extLst>
              <a:ext uri="{FF2B5EF4-FFF2-40B4-BE49-F238E27FC236}">
                <a16:creationId xmlns:a16="http://schemas.microsoft.com/office/drawing/2014/main" id="{F195A173-CB3B-6E1D-162C-2232F73B1AB3}"/>
              </a:ext>
            </a:extLst>
          </p:cNvPr>
          <p:cNvSpPr txBox="1"/>
          <p:nvPr/>
        </p:nvSpPr>
        <p:spPr>
          <a:xfrm>
            <a:off x="1312085" y="3557059"/>
            <a:ext cx="234460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Human annotated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文字方塊 5">
            <a:extLst>
              <a:ext uri="{FF2B5EF4-FFF2-40B4-BE49-F238E27FC236}">
                <a16:creationId xmlns:a16="http://schemas.microsoft.com/office/drawing/2014/main" id="{B0E30585-C044-B8A2-E02A-F962B93843DF}"/>
              </a:ext>
            </a:extLst>
          </p:cNvPr>
          <p:cNvSpPr txBox="1"/>
          <p:nvPr/>
        </p:nvSpPr>
        <p:spPr>
          <a:xfrm>
            <a:off x="5375321" y="2307563"/>
            <a:ext cx="2546253"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Next “Speech Token” Prediction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1135847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0AFCD-23F0-29FF-AD7A-B653E8AFA9D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19A06DF-B355-D69A-48E6-0612F0889B71}"/>
              </a:ext>
            </a:extLst>
          </p:cNvPr>
          <p:cNvSpPr>
            <a:spLocks noGrp="1"/>
          </p:cNvSpPr>
          <p:nvPr>
            <p:ph type="title"/>
          </p:nvPr>
        </p:nvSpPr>
        <p:spPr/>
        <p:txBody>
          <a:bodyPr/>
          <a:lstStyle/>
          <a:p>
            <a:r>
              <a:rPr lang="en-US" altLang="zh-TW" dirty="0"/>
              <a:t>Alignment with Feedback</a:t>
            </a:r>
            <a:endParaRPr lang="zh-TW" altLang="en-US" dirty="0"/>
          </a:p>
        </p:txBody>
      </p:sp>
      <p:sp>
        <p:nvSpPr>
          <p:cNvPr id="4" name="矩形: 圓角 3">
            <a:extLst>
              <a:ext uri="{FF2B5EF4-FFF2-40B4-BE49-F238E27FC236}">
                <a16:creationId xmlns:a16="http://schemas.microsoft.com/office/drawing/2014/main" id="{037025E6-73C7-7A12-E6B9-70A2D50EF077}"/>
              </a:ext>
            </a:extLst>
          </p:cNvPr>
          <p:cNvSpPr/>
          <p:nvPr/>
        </p:nvSpPr>
        <p:spPr>
          <a:xfrm>
            <a:off x="2956478" y="2223450"/>
            <a:ext cx="1907809" cy="1236330"/>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6" name="直線單箭頭接點 5">
            <a:extLst>
              <a:ext uri="{FF2B5EF4-FFF2-40B4-BE49-F238E27FC236}">
                <a16:creationId xmlns:a16="http://schemas.microsoft.com/office/drawing/2014/main" id="{6AF6D80B-BF97-A26E-7D56-4DC6166FAB42}"/>
              </a:ext>
            </a:extLst>
          </p:cNvPr>
          <p:cNvCxnSpPr>
            <a:cxnSpLocks/>
          </p:cNvCxnSpPr>
          <p:nvPr/>
        </p:nvCxnSpPr>
        <p:spPr>
          <a:xfrm>
            <a:off x="2297502" y="2873628"/>
            <a:ext cx="569335" cy="0"/>
          </a:xfrm>
          <a:prstGeom prst="straightConnector1">
            <a:avLst/>
          </a:prstGeom>
          <a:noFill/>
          <a:ln w="57150" cap="flat" cmpd="sng" algn="ctr">
            <a:solidFill>
              <a:sysClr val="windowText" lastClr="000000"/>
            </a:solidFill>
            <a:prstDash val="solid"/>
            <a:miter lim="800000"/>
            <a:tailEnd type="triangle"/>
          </a:ln>
          <a:effectLst/>
        </p:spPr>
      </p:cxnSp>
      <p:cxnSp>
        <p:nvCxnSpPr>
          <p:cNvPr id="8" name="直線單箭頭接點 7">
            <a:extLst>
              <a:ext uri="{FF2B5EF4-FFF2-40B4-BE49-F238E27FC236}">
                <a16:creationId xmlns:a16="http://schemas.microsoft.com/office/drawing/2014/main" id="{B8AAA917-DC7F-BF89-D2D3-255295FC2FAE}"/>
              </a:ext>
            </a:extLst>
          </p:cNvPr>
          <p:cNvCxnSpPr>
            <a:cxnSpLocks/>
          </p:cNvCxnSpPr>
          <p:nvPr/>
        </p:nvCxnSpPr>
        <p:spPr>
          <a:xfrm flipV="1">
            <a:off x="4919531" y="2056823"/>
            <a:ext cx="857264" cy="775862"/>
          </a:xfrm>
          <a:prstGeom prst="straightConnector1">
            <a:avLst/>
          </a:prstGeom>
          <a:noFill/>
          <a:ln w="57150" cap="flat" cmpd="sng" algn="ctr">
            <a:solidFill>
              <a:sysClr val="windowText" lastClr="000000"/>
            </a:solidFill>
            <a:prstDash val="solid"/>
            <a:miter lim="800000"/>
            <a:tailEnd type="triangle"/>
          </a:ln>
          <a:effectLst/>
        </p:spPr>
      </p:cxnSp>
      <p:grpSp>
        <p:nvGrpSpPr>
          <p:cNvPr id="10" name="群組 9">
            <a:extLst>
              <a:ext uri="{FF2B5EF4-FFF2-40B4-BE49-F238E27FC236}">
                <a16:creationId xmlns:a16="http://schemas.microsoft.com/office/drawing/2014/main" id="{AC8C6BE5-C0CF-A787-FD36-5B39A651DD83}"/>
              </a:ext>
            </a:extLst>
          </p:cNvPr>
          <p:cNvGrpSpPr/>
          <p:nvPr/>
        </p:nvGrpSpPr>
        <p:grpSpPr>
          <a:xfrm>
            <a:off x="5848511" y="1659201"/>
            <a:ext cx="1997811" cy="800588"/>
            <a:chOff x="393073" y="5022255"/>
            <a:chExt cx="2117030" cy="878286"/>
          </a:xfrm>
        </p:grpSpPr>
        <p:pic>
          <p:nvPicPr>
            <p:cNvPr id="12"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14176C77-7036-9E32-E4CB-CEF3E0585E56}"/>
                </a:ext>
              </a:extLst>
            </p:cNvPr>
            <p:cNvPicPr preferRelativeResize="0"/>
            <p:nvPr/>
          </p:nvPicPr>
          <p:blipFill rotWithShape="1">
            <a:blip r:embed="rId3">
              <a:alphaModFix/>
              <a:duotone>
                <a:srgbClr val="70AD47">
                  <a:shade val="45000"/>
                  <a:satMod val="135000"/>
                </a:srgbClr>
                <a:prstClr val="white"/>
              </a:duotone>
            </a:blip>
            <a:srcRect l="39924" t="74586" r="38724" b="15732"/>
            <a:stretch/>
          </p:blipFill>
          <p:spPr>
            <a:xfrm>
              <a:off x="393073" y="5022255"/>
              <a:ext cx="1347649" cy="809022"/>
            </a:xfrm>
            <a:prstGeom prst="rect">
              <a:avLst/>
            </a:prstGeom>
            <a:noFill/>
            <a:ln>
              <a:noFill/>
            </a:ln>
          </p:spPr>
        </p:pic>
        <p:pic>
          <p:nvPicPr>
            <p:cNvPr id="13"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C86D6C2-8BF7-2C9C-BE79-139F9B126013}"/>
                </a:ext>
              </a:extLst>
            </p:cNvPr>
            <p:cNvPicPr preferRelativeResize="0"/>
            <p:nvPr/>
          </p:nvPicPr>
          <p:blipFill rotWithShape="1">
            <a:blip r:embed="rId3">
              <a:alphaModFix/>
              <a:duotone>
                <a:srgbClr val="70AD47">
                  <a:shade val="45000"/>
                  <a:satMod val="135000"/>
                </a:srgbClr>
                <a:prstClr val="white"/>
              </a:duotone>
            </a:blip>
            <a:srcRect l="35083" t="84591" r="35071" b="1174"/>
            <a:stretch/>
          </p:blipFill>
          <p:spPr>
            <a:xfrm>
              <a:off x="1576011" y="5095308"/>
              <a:ext cx="934092" cy="805233"/>
            </a:xfrm>
            <a:prstGeom prst="rect">
              <a:avLst/>
            </a:prstGeom>
            <a:noFill/>
            <a:ln>
              <a:noFill/>
            </a:ln>
          </p:spPr>
        </p:pic>
      </p:grpSp>
      <p:grpSp>
        <p:nvGrpSpPr>
          <p:cNvPr id="14" name="群組 13">
            <a:extLst>
              <a:ext uri="{FF2B5EF4-FFF2-40B4-BE49-F238E27FC236}">
                <a16:creationId xmlns:a16="http://schemas.microsoft.com/office/drawing/2014/main" id="{D4E38746-56DE-DAD1-12C0-8C187E7EFA13}"/>
              </a:ext>
            </a:extLst>
          </p:cNvPr>
          <p:cNvGrpSpPr/>
          <p:nvPr/>
        </p:nvGrpSpPr>
        <p:grpSpPr>
          <a:xfrm>
            <a:off x="571893" y="2459789"/>
            <a:ext cx="1606757" cy="734878"/>
            <a:chOff x="393073" y="5022255"/>
            <a:chExt cx="2117030" cy="878286"/>
          </a:xfrm>
        </p:grpSpPr>
        <p:pic>
          <p:nvPicPr>
            <p:cNvPr id="1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446F43A3-F25C-A636-CABD-1DC5D687540F}"/>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1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69FA804-07DF-48BA-2B1E-FDEFB82FD8F1}"/>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cxnSp>
        <p:nvCxnSpPr>
          <p:cNvPr id="19" name="直線單箭頭接點 18">
            <a:extLst>
              <a:ext uri="{FF2B5EF4-FFF2-40B4-BE49-F238E27FC236}">
                <a16:creationId xmlns:a16="http://schemas.microsoft.com/office/drawing/2014/main" id="{A8C58AE4-C22E-102F-DD9B-4ED39DEB2151}"/>
              </a:ext>
            </a:extLst>
          </p:cNvPr>
          <p:cNvCxnSpPr>
            <a:cxnSpLocks/>
          </p:cNvCxnSpPr>
          <p:nvPr/>
        </p:nvCxnSpPr>
        <p:spPr>
          <a:xfrm rot="5400000" flipV="1">
            <a:off x="4894596" y="2889561"/>
            <a:ext cx="857264" cy="775862"/>
          </a:xfrm>
          <a:prstGeom prst="straightConnector1">
            <a:avLst/>
          </a:prstGeom>
          <a:noFill/>
          <a:ln w="57150" cap="flat" cmpd="sng" algn="ctr">
            <a:solidFill>
              <a:sysClr val="windowText" lastClr="000000"/>
            </a:solidFill>
            <a:prstDash val="solid"/>
            <a:miter lim="800000"/>
            <a:tailEnd type="triangle"/>
          </a:ln>
          <a:effectLst/>
        </p:spPr>
      </p:cxnSp>
      <p:grpSp>
        <p:nvGrpSpPr>
          <p:cNvPr id="20" name="群組 19">
            <a:extLst>
              <a:ext uri="{FF2B5EF4-FFF2-40B4-BE49-F238E27FC236}">
                <a16:creationId xmlns:a16="http://schemas.microsoft.com/office/drawing/2014/main" id="{E2615791-EF40-7BD2-DC72-FBE6B8C9AC7C}"/>
              </a:ext>
            </a:extLst>
          </p:cNvPr>
          <p:cNvGrpSpPr/>
          <p:nvPr/>
        </p:nvGrpSpPr>
        <p:grpSpPr>
          <a:xfrm>
            <a:off x="5882302" y="3198546"/>
            <a:ext cx="1907809" cy="800588"/>
            <a:chOff x="393073" y="5022255"/>
            <a:chExt cx="2117030" cy="878286"/>
          </a:xfrm>
        </p:grpSpPr>
        <p:pic>
          <p:nvPicPr>
            <p:cNvPr id="21"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54BEEAF9-988B-AB39-4619-0F0E454D0677}"/>
                </a:ext>
              </a:extLst>
            </p:cNvPr>
            <p:cNvPicPr preferRelativeResize="0"/>
            <p:nvPr/>
          </p:nvPicPr>
          <p:blipFill rotWithShape="1">
            <a:blip r:embed="rId3">
              <a:alphaModFix/>
              <a:duotone>
                <a:schemeClr val="accent2">
                  <a:shade val="45000"/>
                  <a:satMod val="135000"/>
                </a:schemeClr>
                <a:prstClr val="white"/>
              </a:duotone>
            </a:blip>
            <a:srcRect l="39924" t="74586" r="38724" b="15732"/>
            <a:stretch/>
          </p:blipFill>
          <p:spPr>
            <a:xfrm>
              <a:off x="393073" y="5022255"/>
              <a:ext cx="1347649" cy="809022"/>
            </a:xfrm>
            <a:prstGeom prst="rect">
              <a:avLst/>
            </a:prstGeom>
            <a:noFill/>
            <a:ln>
              <a:noFill/>
            </a:ln>
          </p:spPr>
        </p:pic>
        <p:pic>
          <p:nvPicPr>
            <p:cNvPr id="22"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9276086C-87CA-9A2D-6E56-925F0332C02B}"/>
                </a:ext>
              </a:extLst>
            </p:cNvPr>
            <p:cNvPicPr preferRelativeResize="0"/>
            <p:nvPr/>
          </p:nvPicPr>
          <p:blipFill rotWithShape="1">
            <a:blip r:embed="rId3">
              <a:alphaModFix/>
              <a:duotone>
                <a:schemeClr val="accent2">
                  <a:shade val="45000"/>
                  <a:satMod val="135000"/>
                </a:schemeClr>
                <a:prstClr val="white"/>
              </a:duotone>
            </a:blip>
            <a:srcRect l="35083" t="84591" r="35071" b="1174"/>
            <a:stretch/>
          </p:blipFill>
          <p:spPr>
            <a:xfrm>
              <a:off x="1576011" y="5095308"/>
              <a:ext cx="934092" cy="805233"/>
            </a:xfrm>
            <a:prstGeom prst="rect">
              <a:avLst/>
            </a:prstGeom>
            <a:noFill/>
            <a:ln>
              <a:noFill/>
            </a:ln>
          </p:spPr>
        </p:pic>
      </p:grpSp>
      <p:pic>
        <p:nvPicPr>
          <p:cNvPr id="41" name="Google Shape;347;p25">
            <a:extLst>
              <a:ext uri="{FF2B5EF4-FFF2-40B4-BE49-F238E27FC236}">
                <a16:creationId xmlns:a16="http://schemas.microsoft.com/office/drawing/2014/main" id="{A58B367D-E734-94A0-65E2-CC7E2AE173FE}"/>
              </a:ext>
            </a:extLst>
          </p:cNvPr>
          <p:cNvPicPr preferRelativeResize="0"/>
          <p:nvPr/>
        </p:nvPicPr>
        <p:blipFill>
          <a:blip r:embed="rId4">
            <a:alphaModFix/>
          </a:blip>
          <a:stretch>
            <a:fillRect/>
          </a:stretch>
        </p:blipFill>
        <p:spPr>
          <a:xfrm>
            <a:off x="7966030" y="3487474"/>
            <a:ext cx="437300" cy="437300"/>
          </a:xfrm>
          <a:prstGeom prst="rect">
            <a:avLst/>
          </a:prstGeom>
          <a:noFill/>
          <a:ln>
            <a:noFill/>
          </a:ln>
        </p:spPr>
      </p:pic>
      <p:pic>
        <p:nvPicPr>
          <p:cNvPr id="42" name="Google Shape;348;p25">
            <a:extLst>
              <a:ext uri="{FF2B5EF4-FFF2-40B4-BE49-F238E27FC236}">
                <a16:creationId xmlns:a16="http://schemas.microsoft.com/office/drawing/2014/main" id="{1373DD99-F17B-6EE7-C18D-982EA8C0CE5C}"/>
              </a:ext>
            </a:extLst>
          </p:cNvPr>
          <p:cNvPicPr preferRelativeResize="0"/>
          <p:nvPr/>
        </p:nvPicPr>
        <p:blipFill>
          <a:blip r:embed="rId5">
            <a:alphaModFix/>
          </a:blip>
          <a:stretch>
            <a:fillRect/>
          </a:stretch>
        </p:blipFill>
        <p:spPr>
          <a:xfrm>
            <a:off x="7966030" y="1868924"/>
            <a:ext cx="473754" cy="473754"/>
          </a:xfrm>
          <a:prstGeom prst="rect">
            <a:avLst/>
          </a:prstGeom>
          <a:noFill/>
          <a:ln>
            <a:noFill/>
          </a:ln>
        </p:spPr>
      </p:pic>
      <p:pic>
        <p:nvPicPr>
          <p:cNvPr id="5" name="Picture 4">
            <a:extLst>
              <a:ext uri="{FF2B5EF4-FFF2-40B4-BE49-F238E27FC236}">
                <a16:creationId xmlns:a16="http://schemas.microsoft.com/office/drawing/2014/main" id="{C5800410-97A3-70A3-0539-C88C7AF9A0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7206" y="2290182"/>
            <a:ext cx="1197292" cy="1197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4748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F30BA-4C37-F478-D5CB-F9DB162261E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C94427E-AD9A-609E-271E-7A6CCB94940D}"/>
              </a:ext>
            </a:extLst>
          </p:cNvPr>
          <p:cNvSpPr>
            <a:spLocks noGrp="1"/>
          </p:cNvSpPr>
          <p:nvPr>
            <p:ph type="title"/>
          </p:nvPr>
        </p:nvSpPr>
        <p:spPr/>
        <p:txBody>
          <a:bodyPr/>
          <a:lstStyle/>
          <a:p>
            <a:r>
              <a:rPr lang="en-US" altLang="zh-TW" dirty="0"/>
              <a:t>Alignment with Feedback</a:t>
            </a:r>
            <a:endParaRPr lang="zh-TW" altLang="en-US" dirty="0"/>
          </a:p>
        </p:txBody>
      </p:sp>
      <p:sp>
        <p:nvSpPr>
          <p:cNvPr id="4" name="矩形: 圓角 3">
            <a:extLst>
              <a:ext uri="{FF2B5EF4-FFF2-40B4-BE49-F238E27FC236}">
                <a16:creationId xmlns:a16="http://schemas.microsoft.com/office/drawing/2014/main" id="{2F41BCF0-BDCA-6A23-8030-C2F48ADC6C8A}"/>
              </a:ext>
            </a:extLst>
          </p:cNvPr>
          <p:cNvSpPr/>
          <p:nvPr/>
        </p:nvSpPr>
        <p:spPr>
          <a:xfrm>
            <a:off x="2956478" y="2223450"/>
            <a:ext cx="1907809" cy="1236330"/>
          </a:xfrm>
          <a:prstGeom prst="roundRect">
            <a:avLst/>
          </a:prstGeom>
          <a:solidFill>
            <a:srgbClr val="FFC000">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LLM</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6" name="直線單箭頭接點 5">
            <a:extLst>
              <a:ext uri="{FF2B5EF4-FFF2-40B4-BE49-F238E27FC236}">
                <a16:creationId xmlns:a16="http://schemas.microsoft.com/office/drawing/2014/main" id="{7D3CA79F-E972-DBCA-23B8-68E02E0C10DF}"/>
              </a:ext>
            </a:extLst>
          </p:cNvPr>
          <p:cNvCxnSpPr>
            <a:cxnSpLocks/>
          </p:cNvCxnSpPr>
          <p:nvPr/>
        </p:nvCxnSpPr>
        <p:spPr>
          <a:xfrm>
            <a:off x="2297502" y="2873628"/>
            <a:ext cx="569335" cy="0"/>
          </a:xfrm>
          <a:prstGeom prst="straightConnector1">
            <a:avLst/>
          </a:prstGeom>
          <a:noFill/>
          <a:ln w="57150" cap="flat" cmpd="sng" algn="ctr">
            <a:solidFill>
              <a:sysClr val="windowText" lastClr="000000"/>
            </a:solidFill>
            <a:prstDash val="solid"/>
            <a:miter lim="800000"/>
            <a:tailEnd type="triangle"/>
          </a:ln>
          <a:effectLst/>
        </p:spPr>
      </p:cxnSp>
      <p:cxnSp>
        <p:nvCxnSpPr>
          <p:cNvPr id="8" name="直線單箭頭接點 7">
            <a:extLst>
              <a:ext uri="{FF2B5EF4-FFF2-40B4-BE49-F238E27FC236}">
                <a16:creationId xmlns:a16="http://schemas.microsoft.com/office/drawing/2014/main" id="{8ABA068B-FC4E-BD27-52A1-0B1B6738F8D2}"/>
              </a:ext>
            </a:extLst>
          </p:cNvPr>
          <p:cNvCxnSpPr>
            <a:cxnSpLocks/>
          </p:cNvCxnSpPr>
          <p:nvPr/>
        </p:nvCxnSpPr>
        <p:spPr>
          <a:xfrm flipV="1">
            <a:off x="4919531" y="2056823"/>
            <a:ext cx="857264" cy="775862"/>
          </a:xfrm>
          <a:prstGeom prst="straightConnector1">
            <a:avLst/>
          </a:prstGeom>
          <a:noFill/>
          <a:ln w="57150" cap="flat" cmpd="sng" algn="ctr">
            <a:solidFill>
              <a:sysClr val="windowText" lastClr="000000"/>
            </a:solidFill>
            <a:prstDash val="solid"/>
            <a:miter lim="800000"/>
            <a:tailEnd type="triangle"/>
          </a:ln>
          <a:effectLst/>
        </p:spPr>
      </p:cxnSp>
      <p:grpSp>
        <p:nvGrpSpPr>
          <p:cNvPr id="10" name="群組 9">
            <a:extLst>
              <a:ext uri="{FF2B5EF4-FFF2-40B4-BE49-F238E27FC236}">
                <a16:creationId xmlns:a16="http://schemas.microsoft.com/office/drawing/2014/main" id="{F1825738-A97E-F171-1718-6E740433B9C2}"/>
              </a:ext>
            </a:extLst>
          </p:cNvPr>
          <p:cNvGrpSpPr/>
          <p:nvPr/>
        </p:nvGrpSpPr>
        <p:grpSpPr>
          <a:xfrm>
            <a:off x="5848511" y="1659201"/>
            <a:ext cx="1997811" cy="800588"/>
            <a:chOff x="393073" y="5022255"/>
            <a:chExt cx="2117030" cy="878286"/>
          </a:xfrm>
        </p:grpSpPr>
        <p:pic>
          <p:nvPicPr>
            <p:cNvPr id="12"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994EDB2-5507-D38C-A16D-523A18E79333}"/>
                </a:ext>
              </a:extLst>
            </p:cNvPr>
            <p:cNvPicPr preferRelativeResize="0"/>
            <p:nvPr/>
          </p:nvPicPr>
          <p:blipFill rotWithShape="1">
            <a:blip r:embed="rId3">
              <a:alphaModFix/>
              <a:duotone>
                <a:srgbClr val="70AD47">
                  <a:shade val="45000"/>
                  <a:satMod val="135000"/>
                </a:srgbClr>
                <a:prstClr val="white"/>
              </a:duotone>
            </a:blip>
            <a:srcRect l="39924" t="74586" r="38724" b="15732"/>
            <a:stretch/>
          </p:blipFill>
          <p:spPr>
            <a:xfrm>
              <a:off x="393073" y="5022255"/>
              <a:ext cx="1347649" cy="809022"/>
            </a:xfrm>
            <a:prstGeom prst="rect">
              <a:avLst/>
            </a:prstGeom>
            <a:noFill/>
            <a:ln>
              <a:noFill/>
            </a:ln>
          </p:spPr>
        </p:pic>
        <p:pic>
          <p:nvPicPr>
            <p:cNvPr id="13"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1E77C1DD-8EC6-F4A1-00C3-91A50D0A459A}"/>
                </a:ext>
              </a:extLst>
            </p:cNvPr>
            <p:cNvPicPr preferRelativeResize="0"/>
            <p:nvPr/>
          </p:nvPicPr>
          <p:blipFill rotWithShape="1">
            <a:blip r:embed="rId3">
              <a:alphaModFix/>
              <a:duotone>
                <a:srgbClr val="70AD47">
                  <a:shade val="45000"/>
                  <a:satMod val="135000"/>
                </a:srgbClr>
                <a:prstClr val="white"/>
              </a:duotone>
            </a:blip>
            <a:srcRect l="35083" t="84591" r="35071" b="1174"/>
            <a:stretch/>
          </p:blipFill>
          <p:spPr>
            <a:xfrm>
              <a:off x="1576011" y="5095308"/>
              <a:ext cx="934092" cy="805233"/>
            </a:xfrm>
            <a:prstGeom prst="rect">
              <a:avLst/>
            </a:prstGeom>
            <a:noFill/>
            <a:ln>
              <a:noFill/>
            </a:ln>
          </p:spPr>
        </p:pic>
      </p:grpSp>
      <p:grpSp>
        <p:nvGrpSpPr>
          <p:cNvPr id="14" name="群組 13">
            <a:extLst>
              <a:ext uri="{FF2B5EF4-FFF2-40B4-BE49-F238E27FC236}">
                <a16:creationId xmlns:a16="http://schemas.microsoft.com/office/drawing/2014/main" id="{D2BDE5D3-6852-26E8-6903-F74CC5D49D27}"/>
              </a:ext>
            </a:extLst>
          </p:cNvPr>
          <p:cNvGrpSpPr/>
          <p:nvPr/>
        </p:nvGrpSpPr>
        <p:grpSpPr>
          <a:xfrm>
            <a:off x="571893" y="2459789"/>
            <a:ext cx="1606757" cy="734878"/>
            <a:chOff x="393073" y="5022255"/>
            <a:chExt cx="2117030" cy="878286"/>
          </a:xfrm>
        </p:grpSpPr>
        <p:pic>
          <p:nvPicPr>
            <p:cNvPr id="1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24AD7E8F-E1C6-4696-359C-AE315D837E12}"/>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1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306CA55-79DB-184E-E326-9DF4B6B44F79}"/>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cxnSp>
        <p:nvCxnSpPr>
          <p:cNvPr id="19" name="直線單箭頭接點 18">
            <a:extLst>
              <a:ext uri="{FF2B5EF4-FFF2-40B4-BE49-F238E27FC236}">
                <a16:creationId xmlns:a16="http://schemas.microsoft.com/office/drawing/2014/main" id="{42771320-FAFA-BC21-71EC-5D7E212B2B92}"/>
              </a:ext>
            </a:extLst>
          </p:cNvPr>
          <p:cNvCxnSpPr>
            <a:cxnSpLocks/>
          </p:cNvCxnSpPr>
          <p:nvPr/>
        </p:nvCxnSpPr>
        <p:spPr>
          <a:xfrm rot="5400000" flipV="1">
            <a:off x="4894596" y="2889561"/>
            <a:ext cx="857264" cy="775862"/>
          </a:xfrm>
          <a:prstGeom prst="straightConnector1">
            <a:avLst/>
          </a:prstGeom>
          <a:noFill/>
          <a:ln w="57150" cap="flat" cmpd="sng" algn="ctr">
            <a:solidFill>
              <a:sysClr val="windowText" lastClr="000000"/>
            </a:solidFill>
            <a:prstDash val="solid"/>
            <a:miter lim="800000"/>
            <a:tailEnd type="triangle"/>
          </a:ln>
          <a:effectLst/>
        </p:spPr>
      </p:cxnSp>
      <p:grpSp>
        <p:nvGrpSpPr>
          <p:cNvPr id="20" name="群組 19">
            <a:extLst>
              <a:ext uri="{FF2B5EF4-FFF2-40B4-BE49-F238E27FC236}">
                <a16:creationId xmlns:a16="http://schemas.microsoft.com/office/drawing/2014/main" id="{E9C3E69A-0174-CBC3-B41E-303C3B225F12}"/>
              </a:ext>
            </a:extLst>
          </p:cNvPr>
          <p:cNvGrpSpPr/>
          <p:nvPr/>
        </p:nvGrpSpPr>
        <p:grpSpPr>
          <a:xfrm>
            <a:off x="5882302" y="3198546"/>
            <a:ext cx="1907809" cy="800588"/>
            <a:chOff x="393073" y="5022255"/>
            <a:chExt cx="2117030" cy="878286"/>
          </a:xfrm>
        </p:grpSpPr>
        <p:pic>
          <p:nvPicPr>
            <p:cNvPr id="21"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3D483217-7FC5-DEEB-85A5-7345A3447725}"/>
                </a:ext>
              </a:extLst>
            </p:cNvPr>
            <p:cNvPicPr preferRelativeResize="0"/>
            <p:nvPr/>
          </p:nvPicPr>
          <p:blipFill rotWithShape="1">
            <a:blip r:embed="rId3">
              <a:alphaModFix/>
              <a:duotone>
                <a:schemeClr val="accent2">
                  <a:shade val="45000"/>
                  <a:satMod val="135000"/>
                </a:schemeClr>
                <a:prstClr val="white"/>
              </a:duotone>
            </a:blip>
            <a:srcRect l="39924" t="74586" r="38724" b="15732"/>
            <a:stretch/>
          </p:blipFill>
          <p:spPr>
            <a:xfrm>
              <a:off x="393073" y="5022255"/>
              <a:ext cx="1347649" cy="809022"/>
            </a:xfrm>
            <a:prstGeom prst="rect">
              <a:avLst/>
            </a:prstGeom>
            <a:noFill/>
            <a:ln>
              <a:noFill/>
            </a:ln>
          </p:spPr>
        </p:pic>
        <p:pic>
          <p:nvPicPr>
            <p:cNvPr id="22"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0945365F-8BF3-E862-5602-4E82514A85AA}"/>
                </a:ext>
              </a:extLst>
            </p:cNvPr>
            <p:cNvPicPr preferRelativeResize="0"/>
            <p:nvPr/>
          </p:nvPicPr>
          <p:blipFill rotWithShape="1">
            <a:blip r:embed="rId3">
              <a:alphaModFix/>
              <a:duotone>
                <a:schemeClr val="accent2">
                  <a:shade val="45000"/>
                  <a:satMod val="135000"/>
                </a:schemeClr>
                <a:prstClr val="white"/>
              </a:duotone>
            </a:blip>
            <a:srcRect l="35083" t="84591" r="35071" b="1174"/>
            <a:stretch/>
          </p:blipFill>
          <p:spPr>
            <a:xfrm>
              <a:off x="1576011" y="5095308"/>
              <a:ext cx="934092" cy="805233"/>
            </a:xfrm>
            <a:prstGeom prst="rect">
              <a:avLst/>
            </a:prstGeom>
            <a:noFill/>
            <a:ln>
              <a:noFill/>
            </a:ln>
          </p:spPr>
        </p:pic>
      </p:grpSp>
      <p:sp>
        <p:nvSpPr>
          <p:cNvPr id="3" name="矩形: 圓角 2">
            <a:extLst>
              <a:ext uri="{FF2B5EF4-FFF2-40B4-BE49-F238E27FC236}">
                <a16:creationId xmlns:a16="http://schemas.microsoft.com/office/drawing/2014/main" id="{DDEF3D4F-80B0-975C-59C7-C310B0F4641D}"/>
              </a:ext>
            </a:extLst>
          </p:cNvPr>
          <p:cNvSpPr/>
          <p:nvPr/>
        </p:nvSpPr>
        <p:spPr>
          <a:xfrm>
            <a:off x="5433828" y="5020484"/>
            <a:ext cx="1907809" cy="1236330"/>
          </a:xfrm>
          <a:prstGeom prst="roundRect">
            <a:avLst/>
          </a:prstGeom>
          <a:solidFill>
            <a:schemeClr val="accent5">
              <a:lumMod val="20000"/>
              <a:lumOff val="80000"/>
            </a:scheme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Reward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kern="0" dirty="0">
                <a:solidFill>
                  <a:prstClr val="black"/>
                </a:solidFill>
                <a:latin typeface="Calibri" panose="020F0502020204030204"/>
                <a:ea typeface="新細明體" panose="02020500000000000000" pitchFamily="18" charset="-120"/>
              </a:rPr>
              <a:t>Model</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7" name="直線單箭頭接點 6">
            <a:extLst>
              <a:ext uri="{FF2B5EF4-FFF2-40B4-BE49-F238E27FC236}">
                <a16:creationId xmlns:a16="http://schemas.microsoft.com/office/drawing/2014/main" id="{87644A03-2041-53D1-532D-6E11A66AACAB}"/>
              </a:ext>
            </a:extLst>
          </p:cNvPr>
          <p:cNvCxnSpPr/>
          <p:nvPr/>
        </p:nvCxnSpPr>
        <p:spPr>
          <a:xfrm>
            <a:off x="4669704" y="5343747"/>
            <a:ext cx="725214" cy="0"/>
          </a:xfrm>
          <a:prstGeom prst="straightConnector1">
            <a:avLst/>
          </a:prstGeom>
          <a:noFill/>
          <a:ln w="57150" cap="flat" cmpd="sng" algn="ctr">
            <a:solidFill>
              <a:sysClr val="windowText" lastClr="000000"/>
            </a:solidFill>
            <a:prstDash val="solid"/>
            <a:miter lim="800000"/>
            <a:tailEnd type="triangle"/>
          </a:ln>
          <a:effectLst/>
        </p:spPr>
      </p:cxnSp>
      <p:grpSp>
        <p:nvGrpSpPr>
          <p:cNvPr id="9" name="群組 8">
            <a:extLst>
              <a:ext uri="{FF2B5EF4-FFF2-40B4-BE49-F238E27FC236}">
                <a16:creationId xmlns:a16="http://schemas.microsoft.com/office/drawing/2014/main" id="{D30370EC-FCBC-DF29-0287-D319051883AA}"/>
              </a:ext>
            </a:extLst>
          </p:cNvPr>
          <p:cNvGrpSpPr/>
          <p:nvPr/>
        </p:nvGrpSpPr>
        <p:grpSpPr>
          <a:xfrm>
            <a:off x="2688931" y="4890806"/>
            <a:ext cx="1844437" cy="734878"/>
            <a:chOff x="393073" y="5022255"/>
            <a:chExt cx="2117030" cy="878286"/>
          </a:xfrm>
        </p:grpSpPr>
        <p:pic>
          <p:nvPicPr>
            <p:cNvPr id="11"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0714158-1277-A997-95DB-77645B0E3564}"/>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17"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DF1E9535-A92D-FBF5-0273-B0E9C0FC38EC}"/>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grpSp>
        <p:nvGrpSpPr>
          <p:cNvPr id="18" name="群組 17">
            <a:extLst>
              <a:ext uri="{FF2B5EF4-FFF2-40B4-BE49-F238E27FC236}">
                <a16:creationId xmlns:a16="http://schemas.microsoft.com/office/drawing/2014/main" id="{96CD5B08-AB5E-B10F-EF5C-8C046BB00FA2}"/>
              </a:ext>
            </a:extLst>
          </p:cNvPr>
          <p:cNvGrpSpPr/>
          <p:nvPr/>
        </p:nvGrpSpPr>
        <p:grpSpPr>
          <a:xfrm>
            <a:off x="2625559" y="5493681"/>
            <a:ext cx="1907809" cy="800588"/>
            <a:chOff x="393073" y="5022255"/>
            <a:chExt cx="2117030" cy="878286"/>
          </a:xfrm>
        </p:grpSpPr>
        <p:pic>
          <p:nvPicPr>
            <p:cNvPr id="25"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A763C03D-0D14-77EC-376E-4A96DC66D65E}"/>
                </a:ext>
              </a:extLst>
            </p:cNvPr>
            <p:cNvPicPr preferRelativeResize="0"/>
            <p:nvPr/>
          </p:nvPicPr>
          <p:blipFill rotWithShape="1">
            <a:blip r:embed="rId3">
              <a:alphaModFix/>
              <a:duotone>
                <a:schemeClr val="accent2">
                  <a:shade val="45000"/>
                  <a:satMod val="135000"/>
                </a:schemeClr>
                <a:prstClr val="white"/>
              </a:duotone>
            </a:blip>
            <a:srcRect l="39924" t="74586" r="38724" b="15732"/>
            <a:stretch/>
          </p:blipFill>
          <p:spPr>
            <a:xfrm>
              <a:off x="393073" y="5022255"/>
              <a:ext cx="1347649" cy="809022"/>
            </a:xfrm>
            <a:prstGeom prst="rect">
              <a:avLst/>
            </a:prstGeom>
            <a:noFill/>
            <a:ln>
              <a:noFill/>
            </a:ln>
          </p:spPr>
        </p:pic>
        <p:pic>
          <p:nvPicPr>
            <p:cNvPr id="26"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88D9684E-D8BA-CFC0-75AF-04A3CCA3FCAE}"/>
                </a:ext>
              </a:extLst>
            </p:cNvPr>
            <p:cNvPicPr preferRelativeResize="0"/>
            <p:nvPr/>
          </p:nvPicPr>
          <p:blipFill rotWithShape="1">
            <a:blip r:embed="rId3">
              <a:alphaModFix/>
              <a:duotone>
                <a:schemeClr val="accent2">
                  <a:shade val="45000"/>
                  <a:satMod val="135000"/>
                </a:schemeClr>
                <a:prstClr val="white"/>
              </a:duotone>
            </a:blip>
            <a:srcRect l="35083" t="84591" r="35071" b="1174"/>
            <a:stretch/>
          </p:blipFill>
          <p:spPr>
            <a:xfrm>
              <a:off x="1576011" y="5095308"/>
              <a:ext cx="934092" cy="805233"/>
            </a:xfrm>
            <a:prstGeom prst="rect">
              <a:avLst/>
            </a:prstGeom>
            <a:noFill/>
            <a:ln>
              <a:noFill/>
            </a:ln>
          </p:spPr>
        </p:pic>
      </p:grpSp>
      <p:sp>
        <p:nvSpPr>
          <p:cNvPr id="27" name="文字方塊 26">
            <a:extLst>
              <a:ext uri="{FF2B5EF4-FFF2-40B4-BE49-F238E27FC236}">
                <a16:creationId xmlns:a16="http://schemas.microsoft.com/office/drawing/2014/main" id="{934D97A9-3AC4-0E7D-2191-4AD5F9B765C1}"/>
              </a:ext>
            </a:extLst>
          </p:cNvPr>
          <p:cNvSpPr txBox="1"/>
          <p:nvPr/>
        </p:nvSpPr>
        <p:spPr>
          <a:xfrm>
            <a:off x="512989" y="5107857"/>
            <a:ext cx="2247437" cy="369332"/>
          </a:xfrm>
          <a:prstGeom prst="rect">
            <a:avLst/>
          </a:prstGeom>
          <a:noFill/>
        </p:spPr>
        <p:txBody>
          <a:bodyPr wrap="square" rtlCol="0">
            <a:spAutoFit/>
          </a:bodyPr>
          <a:lstStyle/>
          <a:p>
            <a:pPr algn="ctr"/>
            <a:r>
              <a:rPr lang="en-US" altLang="zh-TW" dirty="0"/>
              <a:t>Speech LLM input</a:t>
            </a:r>
            <a:endParaRPr lang="zh-TW" altLang="en-US" dirty="0"/>
          </a:p>
        </p:txBody>
      </p:sp>
      <p:sp>
        <p:nvSpPr>
          <p:cNvPr id="29" name="文字方塊 28">
            <a:extLst>
              <a:ext uri="{FF2B5EF4-FFF2-40B4-BE49-F238E27FC236}">
                <a16:creationId xmlns:a16="http://schemas.microsoft.com/office/drawing/2014/main" id="{68E2ABFC-D4F9-0EE3-A457-C1286B84ED4E}"/>
              </a:ext>
            </a:extLst>
          </p:cNvPr>
          <p:cNvSpPr txBox="1"/>
          <p:nvPr/>
        </p:nvSpPr>
        <p:spPr>
          <a:xfrm>
            <a:off x="396066" y="5720132"/>
            <a:ext cx="2247503" cy="369332"/>
          </a:xfrm>
          <a:prstGeom prst="rect">
            <a:avLst/>
          </a:prstGeom>
          <a:noFill/>
        </p:spPr>
        <p:txBody>
          <a:bodyPr wrap="square" rtlCol="0">
            <a:spAutoFit/>
          </a:bodyPr>
          <a:lstStyle/>
          <a:p>
            <a:pPr algn="ctr"/>
            <a:r>
              <a:rPr lang="en-US" altLang="zh-TW" dirty="0"/>
              <a:t>Speech LLM output</a:t>
            </a:r>
            <a:endParaRPr lang="zh-TW" altLang="en-US" dirty="0"/>
          </a:p>
        </p:txBody>
      </p:sp>
      <p:cxnSp>
        <p:nvCxnSpPr>
          <p:cNvPr id="30" name="直線單箭頭接點 29">
            <a:extLst>
              <a:ext uri="{FF2B5EF4-FFF2-40B4-BE49-F238E27FC236}">
                <a16:creationId xmlns:a16="http://schemas.microsoft.com/office/drawing/2014/main" id="{298FF0E7-ED5E-317D-7A56-438C41B4F7B3}"/>
              </a:ext>
            </a:extLst>
          </p:cNvPr>
          <p:cNvCxnSpPr/>
          <p:nvPr/>
        </p:nvCxnSpPr>
        <p:spPr>
          <a:xfrm>
            <a:off x="7341637" y="5638649"/>
            <a:ext cx="725214" cy="0"/>
          </a:xfrm>
          <a:prstGeom prst="straightConnector1">
            <a:avLst/>
          </a:prstGeom>
          <a:noFill/>
          <a:ln w="57150" cap="flat" cmpd="sng" algn="ctr">
            <a:solidFill>
              <a:sysClr val="windowText" lastClr="000000"/>
            </a:solidFill>
            <a:prstDash val="solid"/>
            <a:miter lim="800000"/>
            <a:tailEnd type="triangle"/>
          </a:ln>
          <a:effectLst/>
        </p:spPr>
      </p:cxnSp>
      <p:pic>
        <p:nvPicPr>
          <p:cNvPr id="31" name="Google Shape;347;p25">
            <a:extLst>
              <a:ext uri="{FF2B5EF4-FFF2-40B4-BE49-F238E27FC236}">
                <a16:creationId xmlns:a16="http://schemas.microsoft.com/office/drawing/2014/main" id="{9515B87F-2041-E6B3-27A4-927C546CC557}"/>
              </a:ext>
            </a:extLst>
          </p:cNvPr>
          <p:cNvPicPr preferRelativeResize="0"/>
          <p:nvPr/>
        </p:nvPicPr>
        <p:blipFill>
          <a:blip r:embed="rId4">
            <a:alphaModFix/>
          </a:blip>
          <a:stretch>
            <a:fillRect/>
          </a:stretch>
        </p:blipFill>
        <p:spPr>
          <a:xfrm>
            <a:off x="10128992" y="5422459"/>
            <a:ext cx="437300" cy="437300"/>
          </a:xfrm>
          <a:prstGeom prst="rect">
            <a:avLst/>
          </a:prstGeom>
          <a:noFill/>
          <a:ln>
            <a:noFill/>
          </a:ln>
        </p:spPr>
      </p:pic>
      <p:pic>
        <p:nvPicPr>
          <p:cNvPr id="32" name="Picture 4">
            <a:extLst>
              <a:ext uri="{FF2B5EF4-FFF2-40B4-BE49-F238E27FC236}">
                <a16:creationId xmlns:a16="http://schemas.microsoft.com/office/drawing/2014/main" id="{1DF2AC12-E3E9-3996-9906-9B11BAAAEB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94493" y="4946595"/>
            <a:ext cx="1197292" cy="1197292"/>
          </a:xfrm>
          <a:prstGeom prst="rect">
            <a:avLst/>
          </a:prstGeom>
          <a:noFill/>
          <a:extLst>
            <a:ext uri="{909E8E84-426E-40DD-AFC4-6F175D3DCCD1}">
              <a14:hiddenFill xmlns:a14="http://schemas.microsoft.com/office/drawing/2010/main">
                <a:solidFill>
                  <a:srgbClr val="FFFFFF"/>
                </a:solidFill>
              </a14:hiddenFill>
            </a:ext>
          </a:extLst>
        </p:spPr>
      </p:pic>
      <p:sp>
        <p:nvSpPr>
          <p:cNvPr id="33" name="文字方塊 32">
            <a:extLst>
              <a:ext uri="{FF2B5EF4-FFF2-40B4-BE49-F238E27FC236}">
                <a16:creationId xmlns:a16="http://schemas.microsoft.com/office/drawing/2014/main" id="{C2513B75-8E62-C3E5-A62F-F1C54C7454AF}"/>
              </a:ext>
            </a:extLst>
          </p:cNvPr>
          <p:cNvSpPr txBox="1"/>
          <p:nvPr/>
        </p:nvSpPr>
        <p:spPr>
          <a:xfrm>
            <a:off x="8194134" y="5402967"/>
            <a:ext cx="1006790" cy="523220"/>
          </a:xfrm>
          <a:prstGeom prst="rect">
            <a:avLst/>
          </a:prstGeom>
          <a:noFill/>
        </p:spPr>
        <p:txBody>
          <a:bodyPr wrap="square" rtlCol="0">
            <a:spAutoFit/>
          </a:bodyPr>
          <a:lstStyle/>
          <a:p>
            <a:r>
              <a:rPr lang="en-US" altLang="zh-TW" sz="2800" b="1" dirty="0"/>
              <a:t>?</a:t>
            </a:r>
            <a:endParaRPr lang="zh-TW" altLang="en-US" sz="2800" b="1" dirty="0"/>
          </a:p>
        </p:txBody>
      </p:sp>
      <p:cxnSp>
        <p:nvCxnSpPr>
          <p:cNvPr id="34" name="直線單箭頭接點 33">
            <a:extLst>
              <a:ext uri="{FF2B5EF4-FFF2-40B4-BE49-F238E27FC236}">
                <a16:creationId xmlns:a16="http://schemas.microsoft.com/office/drawing/2014/main" id="{00AFC9A3-6CD8-C745-1D17-2B8FE221CCDB}"/>
              </a:ext>
            </a:extLst>
          </p:cNvPr>
          <p:cNvCxnSpPr>
            <a:cxnSpLocks/>
          </p:cNvCxnSpPr>
          <p:nvPr/>
        </p:nvCxnSpPr>
        <p:spPr>
          <a:xfrm>
            <a:off x="8697529" y="5638649"/>
            <a:ext cx="1260175" cy="0"/>
          </a:xfrm>
          <a:prstGeom prst="straightConnector1">
            <a:avLst/>
          </a:prstGeom>
          <a:noFill/>
          <a:ln w="57150" cap="flat" cmpd="sng" algn="ctr">
            <a:solidFill>
              <a:sysClr val="windowText" lastClr="000000"/>
            </a:solidFill>
            <a:prstDash val="sysDot"/>
            <a:miter lim="800000"/>
            <a:headEnd type="triangle" w="med" len="med"/>
            <a:tailEnd type="triangle" w="med" len="med"/>
          </a:ln>
          <a:effectLst/>
        </p:spPr>
      </p:cxnSp>
      <p:sp>
        <p:nvSpPr>
          <p:cNvPr id="37" name="矩形: 圓角 36">
            <a:extLst>
              <a:ext uri="{FF2B5EF4-FFF2-40B4-BE49-F238E27FC236}">
                <a16:creationId xmlns:a16="http://schemas.microsoft.com/office/drawing/2014/main" id="{102277DC-C631-0D23-A7A7-19183F9EDBE5}"/>
              </a:ext>
            </a:extLst>
          </p:cNvPr>
          <p:cNvSpPr/>
          <p:nvPr/>
        </p:nvSpPr>
        <p:spPr>
          <a:xfrm>
            <a:off x="8453367" y="1271194"/>
            <a:ext cx="1907809" cy="1236330"/>
          </a:xfrm>
          <a:prstGeom prst="roundRect">
            <a:avLst/>
          </a:prstGeom>
          <a:solidFill>
            <a:schemeClr val="accent5">
              <a:lumMod val="20000"/>
              <a:lumOff val="80000"/>
            </a:scheme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Reward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kern="0" dirty="0">
                <a:solidFill>
                  <a:prstClr val="black"/>
                </a:solidFill>
                <a:latin typeface="Calibri" panose="020F0502020204030204"/>
                <a:ea typeface="新細明體" panose="02020500000000000000" pitchFamily="18" charset="-120"/>
              </a:rPr>
              <a:t>Model</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矩形: 圓角 37">
            <a:extLst>
              <a:ext uri="{FF2B5EF4-FFF2-40B4-BE49-F238E27FC236}">
                <a16:creationId xmlns:a16="http://schemas.microsoft.com/office/drawing/2014/main" id="{97526795-67A0-5204-87B5-C55ABC9F117A}"/>
              </a:ext>
            </a:extLst>
          </p:cNvPr>
          <p:cNvSpPr/>
          <p:nvPr/>
        </p:nvSpPr>
        <p:spPr>
          <a:xfrm>
            <a:off x="8431454" y="3256911"/>
            <a:ext cx="1907809" cy="1236330"/>
          </a:xfrm>
          <a:prstGeom prst="roundRect">
            <a:avLst/>
          </a:prstGeom>
          <a:solidFill>
            <a:schemeClr val="accent5">
              <a:lumMod val="20000"/>
              <a:lumOff val="80000"/>
            </a:schemeClr>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Reward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kern="0" dirty="0">
                <a:solidFill>
                  <a:prstClr val="black"/>
                </a:solidFill>
                <a:latin typeface="Calibri" panose="020F0502020204030204"/>
                <a:ea typeface="新細明體" panose="02020500000000000000" pitchFamily="18" charset="-120"/>
              </a:rPr>
              <a:t>Model</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0" name="直線單箭頭接點 39">
            <a:extLst>
              <a:ext uri="{FF2B5EF4-FFF2-40B4-BE49-F238E27FC236}">
                <a16:creationId xmlns:a16="http://schemas.microsoft.com/office/drawing/2014/main" id="{DD2811E3-C673-BE3C-26E7-C8E60FA3B4D2}"/>
              </a:ext>
            </a:extLst>
          </p:cNvPr>
          <p:cNvCxnSpPr/>
          <p:nvPr/>
        </p:nvCxnSpPr>
        <p:spPr>
          <a:xfrm>
            <a:off x="4669704" y="5926187"/>
            <a:ext cx="725214" cy="0"/>
          </a:xfrm>
          <a:prstGeom prst="straightConnector1">
            <a:avLst/>
          </a:prstGeom>
          <a:noFill/>
          <a:ln w="57150" cap="flat" cmpd="sng" algn="ctr">
            <a:solidFill>
              <a:sysClr val="windowText" lastClr="000000"/>
            </a:solidFill>
            <a:prstDash val="solid"/>
            <a:miter lim="800000"/>
            <a:tailEnd type="triangle"/>
          </a:ln>
          <a:effectLst/>
        </p:spPr>
      </p:cxnSp>
      <p:pic>
        <p:nvPicPr>
          <p:cNvPr id="41" name="Google Shape;347;p25">
            <a:extLst>
              <a:ext uri="{FF2B5EF4-FFF2-40B4-BE49-F238E27FC236}">
                <a16:creationId xmlns:a16="http://schemas.microsoft.com/office/drawing/2014/main" id="{9754344A-4FBC-494F-5F70-B7FDA1D00BBE}"/>
              </a:ext>
            </a:extLst>
          </p:cNvPr>
          <p:cNvPicPr preferRelativeResize="0"/>
          <p:nvPr/>
        </p:nvPicPr>
        <p:blipFill>
          <a:blip r:embed="rId4">
            <a:alphaModFix/>
          </a:blip>
          <a:stretch>
            <a:fillRect/>
          </a:stretch>
        </p:blipFill>
        <p:spPr>
          <a:xfrm>
            <a:off x="11296119" y="3708808"/>
            <a:ext cx="437300" cy="437300"/>
          </a:xfrm>
          <a:prstGeom prst="rect">
            <a:avLst/>
          </a:prstGeom>
          <a:noFill/>
          <a:ln>
            <a:noFill/>
          </a:ln>
        </p:spPr>
      </p:pic>
      <p:pic>
        <p:nvPicPr>
          <p:cNvPr id="42" name="Google Shape;348;p25">
            <a:extLst>
              <a:ext uri="{FF2B5EF4-FFF2-40B4-BE49-F238E27FC236}">
                <a16:creationId xmlns:a16="http://schemas.microsoft.com/office/drawing/2014/main" id="{28D4352A-2370-BC8B-2E2B-A1A8D554F9E5}"/>
              </a:ext>
            </a:extLst>
          </p:cNvPr>
          <p:cNvPicPr preferRelativeResize="0"/>
          <p:nvPr/>
        </p:nvPicPr>
        <p:blipFill>
          <a:blip r:embed="rId6">
            <a:alphaModFix/>
          </a:blip>
          <a:stretch>
            <a:fillRect/>
          </a:stretch>
        </p:blipFill>
        <p:spPr>
          <a:xfrm>
            <a:off x="11318031" y="1688459"/>
            <a:ext cx="473754" cy="473754"/>
          </a:xfrm>
          <a:prstGeom prst="rect">
            <a:avLst/>
          </a:prstGeom>
          <a:noFill/>
          <a:ln>
            <a:noFill/>
          </a:ln>
        </p:spPr>
      </p:pic>
      <p:cxnSp>
        <p:nvCxnSpPr>
          <p:cNvPr id="43" name="直線單箭頭接點 42">
            <a:extLst>
              <a:ext uri="{FF2B5EF4-FFF2-40B4-BE49-F238E27FC236}">
                <a16:creationId xmlns:a16="http://schemas.microsoft.com/office/drawing/2014/main" id="{B13CE3AB-4376-106D-40E7-EF32BDB774D3}"/>
              </a:ext>
            </a:extLst>
          </p:cNvPr>
          <p:cNvCxnSpPr/>
          <p:nvPr/>
        </p:nvCxnSpPr>
        <p:spPr>
          <a:xfrm>
            <a:off x="10403359" y="1911191"/>
            <a:ext cx="725214" cy="0"/>
          </a:xfrm>
          <a:prstGeom prst="straightConnector1">
            <a:avLst/>
          </a:prstGeom>
          <a:noFill/>
          <a:ln w="57150" cap="flat" cmpd="sng" algn="ctr">
            <a:solidFill>
              <a:sysClr val="windowText" lastClr="000000"/>
            </a:solidFill>
            <a:prstDash val="solid"/>
            <a:miter lim="800000"/>
            <a:tailEnd type="triangle"/>
          </a:ln>
          <a:effectLst/>
        </p:spPr>
      </p:cxnSp>
      <p:cxnSp>
        <p:nvCxnSpPr>
          <p:cNvPr id="44" name="直線單箭頭接點 43">
            <a:extLst>
              <a:ext uri="{FF2B5EF4-FFF2-40B4-BE49-F238E27FC236}">
                <a16:creationId xmlns:a16="http://schemas.microsoft.com/office/drawing/2014/main" id="{E88025BE-1773-3C28-0D2A-B3BE8B1AA32E}"/>
              </a:ext>
            </a:extLst>
          </p:cNvPr>
          <p:cNvCxnSpPr/>
          <p:nvPr/>
        </p:nvCxnSpPr>
        <p:spPr>
          <a:xfrm>
            <a:off x="10381447" y="3927458"/>
            <a:ext cx="725214" cy="0"/>
          </a:xfrm>
          <a:prstGeom prst="straightConnector1">
            <a:avLst/>
          </a:prstGeom>
          <a:noFill/>
          <a:ln w="57150" cap="flat" cmpd="sng" algn="ctr">
            <a:solidFill>
              <a:sysClr val="windowText" lastClr="000000"/>
            </a:solidFill>
            <a:prstDash val="solid"/>
            <a:miter lim="800000"/>
            <a:tailEnd type="triangle"/>
          </a:ln>
          <a:effectLst/>
        </p:spPr>
      </p:cxnSp>
      <p:cxnSp>
        <p:nvCxnSpPr>
          <p:cNvPr id="45" name="直線單箭頭接點 44">
            <a:extLst>
              <a:ext uri="{FF2B5EF4-FFF2-40B4-BE49-F238E27FC236}">
                <a16:creationId xmlns:a16="http://schemas.microsoft.com/office/drawing/2014/main" id="{47D3AD44-C25C-E765-7C2C-23F1F72B03FA}"/>
              </a:ext>
            </a:extLst>
          </p:cNvPr>
          <p:cNvCxnSpPr>
            <a:cxnSpLocks/>
          </p:cNvCxnSpPr>
          <p:nvPr/>
        </p:nvCxnSpPr>
        <p:spPr>
          <a:xfrm>
            <a:off x="7846322" y="2076278"/>
            <a:ext cx="623196" cy="0"/>
          </a:xfrm>
          <a:prstGeom prst="straightConnector1">
            <a:avLst/>
          </a:prstGeom>
          <a:noFill/>
          <a:ln w="57150" cap="flat" cmpd="sng" algn="ctr">
            <a:solidFill>
              <a:sysClr val="windowText" lastClr="000000"/>
            </a:solidFill>
            <a:prstDash val="solid"/>
            <a:miter lim="800000"/>
            <a:tailEnd type="triangle"/>
          </a:ln>
          <a:effectLst/>
        </p:spPr>
      </p:cxnSp>
      <p:cxnSp>
        <p:nvCxnSpPr>
          <p:cNvPr id="47" name="直線單箭頭接點 46">
            <a:extLst>
              <a:ext uri="{FF2B5EF4-FFF2-40B4-BE49-F238E27FC236}">
                <a16:creationId xmlns:a16="http://schemas.microsoft.com/office/drawing/2014/main" id="{E4E1C801-75AC-84D6-1089-94CBC6795E23}"/>
              </a:ext>
            </a:extLst>
          </p:cNvPr>
          <p:cNvCxnSpPr>
            <a:cxnSpLocks/>
          </p:cNvCxnSpPr>
          <p:nvPr/>
        </p:nvCxnSpPr>
        <p:spPr>
          <a:xfrm>
            <a:off x="7808258" y="3658529"/>
            <a:ext cx="623196" cy="0"/>
          </a:xfrm>
          <a:prstGeom prst="straightConnector1">
            <a:avLst/>
          </a:prstGeom>
          <a:noFill/>
          <a:ln w="57150" cap="flat" cmpd="sng" algn="ctr">
            <a:solidFill>
              <a:sysClr val="windowText" lastClr="000000"/>
            </a:solidFill>
            <a:prstDash val="solid"/>
            <a:miter lim="800000"/>
            <a:tailEnd type="triangle"/>
          </a:ln>
          <a:effectLst/>
        </p:spPr>
      </p:cxnSp>
      <p:cxnSp>
        <p:nvCxnSpPr>
          <p:cNvPr id="48" name="直線單箭頭接點 47">
            <a:extLst>
              <a:ext uri="{FF2B5EF4-FFF2-40B4-BE49-F238E27FC236}">
                <a16:creationId xmlns:a16="http://schemas.microsoft.com/office/drawing/2014/main" id="{AD7E09E3-A7E9-E991-2460-2F59582BF63E}"/>
              </a:ext>
            </a:extLst>
          </p:cNvPr>
          <p:cNvCxnSpPr>
            <a:cxnSpLocks/>
          </p:cNvCxnSpPr>
          <p:nvPr/>
        </p:nvCxnSpPr>
        <p:spPr>
          <a:xfrm>
            <a:off x="1469705" y="4126653"/>
            <a:ext cx="6964207" cy="0"/>
          </a:xfrm>
          <a:prstGeom prst="straightConnector1">
            <a:avLst/>
          </a:prstGeom>
          <a:noFill/>
          <a:ln w="57150" cap="flat" cmpd="sng" algn="ctr">
            <a:solidFill>
              <a:sysClr val="windowText" lastClr="000000"/>
            </a:solidFill>
            <a:prstDash val="solid"/>
            <a:miter lim="800000"/>
            <a:tailEnd type="triangle"/>
          </a:ln>
          <a:effectLst/>
        </p:spPr>
      </p:cxnSp>
      <p:cxnSp>
        <p:nvCxnSpPr>
          <p:cNvPr id="50" name="直線單箭頭接點 49">
            <a:extLst>
              <a:ext uri="{FF2B5EF4-FFF2-40B4-BE49-F238E27FC236}">
                <a16:creationId xmlns:a16="http://schemas.microsoft.com/office/drawing/2014/main" id="{C7C21EB0-DDD9-6DB5-6626-E9A424D7C5DB}"/>
              </a:ext>
            </a:extLst>
          </p:cNvPr>
          <p:cNvCxnSpPr>
            <a:cxnSpLocks/>
          </p:cNvCxnSpPr>
          <p:nvPr/>
        </p:nvCxnSpPr>
        <p:spPr>
          <a:xfrm>
            <a:off x="1469705" y="1580263"/>
            <a:ext cx="6999813" cy="0"/>
          </a:xfrm>
          <a:prstGeom prst="straightConnector1">
            <a:avLst/>
          </a:prstGeom>
          <a:noFill/>
          <a:ln w="57150" cap="flat" cmpd="sng" algn="ctr">
            <a:solidFill>
              <a:sysClr val="windowText" lastClr="000000"/>
            </a:solidFill>
            <a:prstDash val="solid"/>
            <a:miter lim="800000"/>
            <a:tailEnd type="triangle"/>
          </a:ln>
          <a:effectLst/>
        </p:spPr>
      </p:cxnSp>
      <p:cxnSp>
        <p:nvCxnSpPr>
          <p:cNvPr id="53" name="直線單箭頭接點 52">
            <a:extLst>
              <a:ext uri="{FF2B5EF4-FFF2-40B4-BE49-F238E27FC236}">
                <a16:creationId xmlns:a16="http://schemas.microsoft.com/office/drawing/2014/main" id="{EB96C7FB-7A5F-D526-3BDF-D7846441F993}"/>
              </a:ext>
            </a:extLst>
          </p:cNvPr>
          <p:cNvCxnSpPr>
            <a:cxnSpLocks/>
          </p:cNvCxnSpPr>
          <p:nvPr/>
        </p:nvCxnSpPr>
        <p:spPr>
          <a:xfrm>
            <a:off x="1397989" y="1506943"/>
            <a:ext cx="0" cy="1013973"/>
          </a:xfrm>
          <a:prstGeom prst="straightConnector1">
            <a:avLst/>
          </a:prstGeom>
          <a:noFill/>
          <a:ln w="57150" cap="flat" cmpd="sng" algn="ctr">
            <a:solidFill>
              <a:sysClr val="windowText" lastClr="000000"/>
            </a:solidFill>
            <a:prstDash val="solid"/>
            <a:miter lim="800000"/>
            <a:headEnd type="none" w="med" len="med"/>
            <a:tailEnd type="none" w="med" len="med"/>
          </a:ln>
          <a:effectLst/>
        </p:spPr>
      </p:cxnSp>
      <p:cxnSp>
        <p:nvCxnSpPr>
          <p:cNvPr id="55" name="直線單箭頭接點 54">
            <a:extLst>
              <a:ext uri="{FF2B5EF4-FFF2-40B4-BE49-F238E27FC236}">
                <a16:creationId xmlns:a16="http://schemas.microsoft.com/office/drawing/2014/main" id="{E6BA9BB2-8068-2185-4398-C12D322EDC71}"/>
              </a:ext>
            </a:extLst>
          </p:cNvPr>
          <p:cNvCxnSpPr>
            <a:cxnSpLocks/>
          </p:cNvCxnSpPr>
          <p:nvPr/>
        </p:nvCxnSpPr>
        <p:spPr>
          <a:xfrm>
            <a:off x="1397989" y="3175212"/>
            <a:ext cx="0" cy="1013973"/>
          </a:xfrm>
          <a:prstGeom prst="straightConnector1">
            <a:avLst/>
          </a:prstGeom>
          <a:noFill/>
          <a:ln w="57150" cap="flat" cmpd="sng" algn="ctr">
            <a:solidFill>
              <a:sysClr val="windowText" lastClr="000000"/>
            </a:solidFill>
            <a:prstDash val="solid"/>
            <a:miter lim="800000"/>
            <a:headEnd type="none" w="med" len="med"/>
            <a:tailEnd type="none" w="med" len="med"/>
          </a:ln>
          <a:effectLst/>
        </p:spPr>
      </p:cxnSp>
    </p:spTree>
    <p:extLst>
      <p:ext uri="{BB962C8B-B14F-4D97-AF65-F5344CB8AC3E}">
        <p14:creationId xmlns:p14="http://schemas.microsoft.com/office/powerpoint/2010/main" val="69951675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7" grpId="0"/>
      <p:bldP spid="29" grpId="0"/>
      <p:bldP spid="33" grpId="0"/>
      <p:bldP spid="37" grpId="0" animBg="1"/>
      <p:bldP spid="38"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23034-7E46-73CE-1F2A-E0446ECCE24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494431E-75F7-080B-E1A3-73E7B874ACD3}"/>
              </a:ext>
            </a:extLst>
          </p:cNvPr>
          <p:cNvSpPr>
            <a:spLocks noGrp="1"/>
          </p:cNvSpPr>
          <p:nvPr>
            <p:ph type="title"/>
          </p:nvPr>
        </p:nvSpPr>
        <p:spPr/>
        <p:txBody>
          <a:bodyPr/>
          <a:lstStyle/>
          <a:p>
            <a:r>
              <a:rPr lang="en-US" altLang="zh-TW" dirty="0"/>
              <a:t>Alignment with Feedback</a:t>
            </a:r>
            <a:endParaRPr lang="zh-TW" altLang="en-US" dirty="0"/>
          </a:p>
        </p:txBody>
      </p:sp>
      <p:sp>
        <p:nvSpPr>
          <p:cNvPr id="7" name="文字方塊 6">
            <a:extLst>
              <a:ext uri="{FF2B5EF4-FFF2-40B4-BE49-F238E27FC236}">
                <a16:creationId xmlns:a16="http://schemas.microsoft.com/office/drawing/2014/main" id="{87FDD041-3151-0880-316C-5D77F667AC38}"/>
              </a:ext>
            </a:extLst>
          </p:cNvPr>
          <p:cNvSpPr txBox="1"/>
          <p:nvPr/>
        </p:nvSpPr>
        <p:spPr>
          <a:xfrm>
            <a:off x="7894241" y="1644522"/>
            <a:ext cx="3541486" cy="36933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https://arxiv.org/abs/2411.01834</a:t>
            </a:r>
          </a:p>
        </p:txBody>
      </p:sp>
      <p:pic>
        <p:nvPicPr>
          <p:cNvPr id="11" name="圖片 10">
            <a:extLst>
              <a:ext uri="{FF2B5EF4-FFF2-40B4-BE49-F238E27FC236}">
                <a16:creationId xmlns:a16="http://schemas.microsoft.com/office/drawing/2014/main" id="{27AF1EC4-F363-9F6B-EEF0-73B8E8810548}"/>
              </a:ext>
            </a:extLst>
          </p:cNvPr>
          <p:cNvPicPr>
            <a:picLocks noChangeAspect="1"/>
          </p:cNvPicPr>
          <p:nvPr/>
        </p:nvPicPr>
        <p:blipFill>
          <a:blip r:embed="rId3"/>
          <a:stretch>
            <a:fillRect/>
          </a:stretch>
        </p:blipFill>
        <p:spPr>
          <a:xfrm>
            <a:off x="543359" y="1982612"/>
            <a:ext cx="11229541" cy="4084470"/>
          </a:xfrm>
          <a:prstGeom prst="rect">
            <a:avLst/>
          </a:prstGeom>
        </p:spPr>
      </p:pic>
      <p:pic>
        <p:nvPicPr>
          <p:cNvPr id="3" name="圖片 2" descr="一張含有 人員, 天空, 戶外, 服裝 的圖片&#10;&#10;自動產生的描述">
            <a:extLst>
              <a:ext uri="{FF2B5EF4-FFF2-40B4-BE49-F238E27FC236}">
                <a16:creationId xmlns:a16="http://schemas.microsoft.com/office/drawing/2014/main" id="{E04CA1F5-4586-548A-188C-E82B31F6E2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16792" y="279312"/>
            <a:ext cx="1318935" cy="1325563"/>
          </a:xfrm>
          <a:prstGeom prst="rect">
            <a:avLst/>
          </a:prstGeom>
        </p:spPr>
      </p:pic>
      <p:grpSp>
        <p:nvGrpSpPr>
          <p:cNvPr id="6" name="群組 5">
            <a:extLst>
              <a:ext uri="{FF2B5EF4-FFF2-40B4-BE49-F238E27FC236}">
                <a16:creationId xmlns:a16="http://schemas.microsoft.com/office/drawing/2014/main" id="{DA0943BC-9F8B-3D9F-794B-F58D56BC1BB0}"/>
              </a:ext>
            </a:extLst>
          </p:cNvPr>
          <p:cNvGrpSpPr/>
          <p:nvPr/>
        </p:nvGrpSpPr>
        <p:grpSpPr>
          <a:xfrm>
            <a:off x="7707462" y="479506"/>
            <a:ext cx="2458201" cy="1019054"/>
            <a:chOff x="5606918" y="668243"/>
            <a:chExt cx="2458201" cy="1019054"/>
          </a:xfrm>
        </p:grpSpPr>
        <p:sp>
          <p:nvSpPr>
            <p:cNvPr id="4" name="文字方塊 3">
              <a:extLst>
                <a:ext uri="{FF2B5EF4-FFF2-40B4-BE49-F238E27FC236}">
                  <a16:creationId xmlns:a16="http://schemas.microsoft.com/office/drawing/2014/main" id="{D8B61315-DDB7-07E8-BE8F-8F43C4794E1C}"/>
                </a:ext>
              </a:extLst>
            </p:cNvPr>
            <p:cNvSpPr txBox="1"/>
            <p:nvPr/>
          </p:nvSpPr>
          <p:spPr>
            <a:xfrm>
              <a:off x="6028489" y="668243"/>
              <a:ext cx="1865752" cy="36933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Guan-Ting Lin </a:t>
              </a:r>
            </a:p>
          </p:txBody>
        </p:sp>
        <p:sp>
          <p:nvSpPr>
            <p:cNvPr id="5" name="文字方塊 4">
              <a:extLst>
                <a:ext uri="{FF2B5EF4-FFF2-40B4-BE49-F238E27FC236}">
                  <a16:creationId xmlns:a16="http://schemas.microsoft.com/office/drawing/2014/main" id="{6DE90381-A1F4-FF38-0E79-BAB593855CD6}"/>
                </a:ext>
              </a:extLst>
            </p:cNvPr>
            <p:cNvSpPr txBox="1"/>
            <p:nvPr/>
          </p:nvSpPr>
          <p:spPr>
            <a:xfrm>
              <a:off x="5606918" y="1040966"/>
              <a:ext cx="245820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(with researchers from the Amazon GAI team)</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Tree>
    <p:extLst>
      <p:ext uri="{BB962C8B-B14F-4D97-AF65-F5344CB8AC3E}">
        <p14:creationId xmlns:p14="http://schemas.microsoft.com/office/powerpoint/2010/main" val="1697664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AEBF65-3A78-8562-9843-7BE96233D34C}"/>
              </a:ext>
            </a:extLst>
          </p:cNvPr>
          <p:cNvSpPr>
            <a:spLocks noGrp="1"/>
          </p:cNvSpPr>
          <p:nvPr>
            <p:ph type="title"/>
          </p:nvPr>
        </p:nvSpPr>
        <p:spPr/>
        <p:txBody>
          <a:bodyPr/>
          <a:lstStyle/>
          <a:p>
            <a:r>
              <a:rPr lang="en-US" altLang="zh-TW" dirty="0"/>
              <a:t>Alignment with Feedback</a:t>
            </a:r>
            <a:endParaRPr lang="zh-TW" altLang="en-US" dirty="0"/>
          </a:p>
        </p:txBody>
      </p:sp>
      <p:sp>
        <p:nvSpPr>
          <p:cNvPr id="5" name="文字方塊 4">
            <a:extLst>
              <a:ext uri="{FF2B5EF4-FFF2-40B4-BE49-F238E27FC236}">
                <a16:creationId xmlns:a16="http://schemas.microsoft.com/office/drawing/2014/main" id="{D522E5C9-7A40-8FA2-84A3-716D1EADEE0B}"/>
              </a:ext>
            </a:extLst>
          </p:cNvPr>
          <p:cNvSpPr txBox="1"/>
          <p:nvPr/>
        </p:nvSpPr>
        <p:spPr>
          <a:xfrm>
            <a:off x="7957634" y="1775897"/>
            <a:ext cx="3694079" cy="369332"/>
          </a:xfrm>
          <a:prstGeom prst="rect">
            <a:avLst/>
          </a:prstGeom>
          <a:noFill/>
        </p:spPr>
        <p:txBody>
          <a:bodyPr wrap="square">
            <a:spAutoFit/>
          </a:bodyPr>
          <a:lstStyle/>
          <a:p>
            <a:pPr algn="r"/>
            <a:r>
              <a:rPr lang="zh-TW" altLang="en-US" dirty="0"/>
              <a:t>https://arxiv.org/abs/2511.08723</a:t>
            </a:r>
          </a:p>
        </p:txBody>
      </p:sp>
      <p:grpSp>
        <p:nvGrpSpPr>
          <p:cNvPr id="6" name="群組 5">
            <a:extLst>
              <a:ext uri="{FF2B5EF4-FFF2-40B4-BE49-F238E27FC236}">
                <a16:creationId xmlns:a16="http://schemas.microsoft.com/office/drawing/2014/main" id="{3BFDD94E-B85A-37A8-D349-E78590FDD4BE}"/>
              </a:ext>
            </a:extLst>
          </p:cNvPr>
          <p:cNvGrpSpPr/>
          <p:nvPr/>
        </p:nvGrpSpPr>
        <p:grpSpPr>
          <a:xfrm>
            <a:off x="8298751" y="350550"/>
            <a:ext cx="3352962" cy="1290410"/>
            <a:chOff x="2485133" y="280954"/>
            <a:chExt cx="3352962" cy="1290410"/>
          </a:xfrm>
        </p:grpSpPr>
        <p:pic>
          <p:nvPicPr>
            <p:cNvPr id="8" name="圖片 7" descr="一張含有 文字, 膝上型電腦, 電腦, 桌 的圖片&#10;&#10;自動產生的描述">
              <a:extLst>
                <a:ext uri="{FF2B5EF4-FFF2-40B4-BE49-F238E27FC236}">
                  <a16:creationId xmlns:a16="http://schemas.microsoft.com/office/drawing/2014/main" id="{4CD88314-A193-8D45-262E-2CED1ED5DEF2}"/>
                </a:ext>
              </a:extLst>
            </p:cNvPr>
            <p:cNvPicPr>
              <a:picLocks noChangeAspect="1"/>
            </p:cNvPicPr>
            <p:nvPr/>
          </p:nvPicPr>
          <p:blipFill>
            <a:blip r:embed="rId3"/>
            <a:stretch>
              <a:fillRect/>
            </a:stretch>
          </p:blipFill>
          <p:spPr>
            <a:xfrm>
              <a:off x="4643168" y="319100"/>
              <a:ext cx="1194927" cy="125226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文字方塊 8">
              <a:extLst>
                <a:ext uri="{FF2B5EF4-FFF2-40B4-BE49-F238E27FC236}">
                  <a16:creationId xmlns:a16="http://schemas.microsoft.com/office/drawing/2014/main" id="{5BAE61CF-E54A-4C98-7FC6-859B35608FA1}"/>
                </a:ext>
              </a:extLst>
            </p:cNvPr>
            <p:cNvSpPr txBox="1"/>
            <p:nvPr/>
          </p:nvSpPr>
          <p:spPr>
            <a:xfrm>
              <a:off x="2485133" y="280954"/>
              <a:ext cx="1868275" cy="64633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Shu-wen </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(Leo)</a:t>
              </a: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Yang</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10" name="文字方塊 9">
            <a:extLst>
              <a:ext uri="{FF2B5EF4-FFF2-40B4-BE49-F238E27FC236}">
                <a16:creationId xmlns:a16="http://schemas.microsoft.com/office/drawing/2014/main" id="{998D1FCC-7C6A-3401-DA24-4F8B6471CEEF}"/>
              </a:ext>
            </a:extLst>
          </p:cNvPr>
          <p:cNvSpPr txBox="1"/>
          <p:nvPr/>
        </p:nvSpPr>
        <p:spPr>
          <a:xfrm>
            <a:off x="7255310" y="1027906"/>
            <a:ext cx="2911716" cy="646331"/>
          </a:xfrm>
          <a:prstGeom prst="rect">
            <a:avLst/>
          </a:prstGeom>
          <a:noFill/>
        </p:spPr>
        <p:txBody>
          <a:bodyPr wrap="square">
            <a:spAutoFit/>
          </a:bodyPr>
          <a:lstStyle/>
          <a:p>
            <a:pPr algn="r">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(with researchers from the </a:t>
            </a:r>
            <a:r>
              <a:rPr lang="zh-TW" altLang="en-US" dirty="0"/>
              <a:t>ByteDance Seed </a:t>
            </a: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team)</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12" name="圖片 11" descr="一張含有 文字, 螢幕擷取畫面, 螺絲 的圖片&#10;&#10;AI 產生的內容可能不正確。">
            <a:extLst>
              <a:ext uri="{FF2B5EF4-FFF2-40B4-BE49-F238E27FC236}">
                <a16:creationId xmlns:a16="http://schemas.microsoft.com/office/drawing/2014/main" id="{2121ABD8-DEE5-B95B-C676-E3119D5020BA}"/>
              </a:ext>
            </a:extLst>
          </p:cNvPr>
          <p:cNvPicPr>
            <a:picLocks noChangeAspect="1"/>
          </p:cNvPicPr>
          <p:nvPr/>
        </p:nvPicPr>
        <p:blipFill>
          <a:blip r:embed="rId4"/>
          <a:stretch>
            <a:fillRect/>
          </a:stretch>
        </p:blipFill>
        <p:spPr>
          <a:xfrm>
            <a:off x="838200" y="2126066"/>
            <a:ext cx="5656113" cy="4031734"/>
          </a:xfrm>
          <a:prstGeom prst="rect">
            <a:avLst/>
          </a:prstGeom>
        </p:spPr>
      </p:pic>
      <p:grpSp>
        <p:nvGrpSpPr>
          <p:cNvPr id="23" name="群組 22">
            <a:extLst>
              <a:ext uri="{FF2B5EF4-FFF2-40B4-BE49-F238E27FC236}">
                <a16:creationId xmlns:a16="http://schemas.microsoft.com/office/drawing/2014/main" id="{AE428410-6E50-FFDA-D0DF-6F08FD5E2C2E}"/>
              </a:ext>
            </a:extLst>
          </p:cNvPr>
          <p:cNvGrpSpPr/>
          <p:nvPr/>
        </p:nvGrpSpPr>
        <p:grpSpPr>
          <a:xfrm>
            <a:off x="7272273" y="2126066"/>
            <a:ext cx="2637795" cy="1278835"/>
            <a:chOff x="7426473" y="2307264"/>
            <a:chExt cx="2637795" cy="1278835"/>
          </a:xfrm>
        </p:grpSpPr>
        <p:grpSp>
          <p:nvGrpSpPr>
            <p:cNvPr id="13" name="群組 12">
              <a:extLst>
                <a:ext uri="{FF2B5EF4-FFF2-40B4-BE49-F238E27FC236}">
                  <a16:creationId xmlns:a16="http://schemas.microsoft.com/office/drawing/2014/main" id="{CC6860D1-85F6-EF77-06BD-6CC1F97FC07E}"/>
                </a:ext>
              </a:extLst>
            </p:cNvPr>
            <p:cNvGrpSpPr/>
            <p:nvPr/>
          </p:nvGrpSpPr>
          <p:grpSpPr>
            <a:xfrm>
              <a:off x="7572875" y="2307264"/>
              <a:ext cx="2485181" cy="990169"/>
              <a:chOff x="393073" y="5022255"/>
              <a:chExt cx="2117030" cy="878286"/>
            </a:xfrm>
          </p:grpSpPr>
          <p:pic>
            <p:nvPicPr>
              <p:cNvPr id="14"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3B1E644-D081-94A4-38B1-80B3F4B1CF63}"/>
                  </a:ext>
                </a:extLst>
              </p:cNvPr>
              <p:cNvPicPr preferRelativeResize="0"/>
              <p:nvPr/>
            </p:nvPicPr>
            <p:blipFill rotWithShape="1">
              <a:blip r:embed="rId5">
                <a:alphaModFix/>
              </a:blip>
              <a:srcRect l="39924" t="74586" r="38724" b="15732"/>
              <a:stretch/>
            </p:blipFill>
            <p:spPr>
              <a:xfrm>
                <a:off x="393073" y="5022255"/>
                <a:ext cx="1347649" cy="809022"/>
              </a:xfrm>
              <a:prstGeom prst="rect">
                <a:avLst/>
              </a:prstGeom>
              <a:noFill/>
              <a:ln>
                <a:noFill/>
              </a:ln>
            </p:spPr>
          </p:pic>
          <p:pic>
            <p:nvPicPr>
              <p:cNvPr id="15"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D461DBF7-CCB6-5B7A-EB97-966DB7905D90}"/>
                  </a:ext>
                </a:extLst>
              </p:cNvPr>
              <p:cNvPicPr preferRelativeResize="0"/>
              <p:nvPr/>
            </p:nvPicPr>
            <p:blipFill rotWithShape="1">
              <a:blip r:embed="rId5">
                <a:alphaModFix/>
              </a:blip>
              <a:srcRect l="35083" t="84591" r="35071" b="1174"/>
              <a:stretch/>
            </p:blipFill>
            <p:spPr>
              <a:xfrm>
                <a:off x="1576011" y="5095308"/>
                <a:ext cx="934092" cy="805233"/>
              </a:xfrm>
              <a:prstGeom prst="rect">
                <a:avLst/>
              </a:prstGeom>
              <a:noFill/>
              <a:ln>
                <a:noFill/>
              </a:ln>
            </p:spPr>
          </p:pic>
        </p:grpSp>
        <p:sp>
          <p:nvSpPr>
            <p:cNvPr id="16" name="文字方塊 15">
              <a:extLst>
                <a:ext uri="{FF2B5EF4-FFF2-40B4-BE49-F238E27FC236}">
                  <a16:creationId xmlns:a16="http://schemas.microsoft.com/office/drawing/2014/main" id="{4C0CFAFD-0BC4-0C27-9723-40BA9A4B60B7}"/>
                </a:ext>
              </a:extLst>
            </p:cNvPr>
            <p:cNvSpPr txBox="1"/>
            <p:nvPr/>
          </p:nvSpPr>
          <p:spPr>
            <a:xfrm>
              <a:off x="7426473" y="3124434"/>
              <a:ext cx="2637795" cy="461665"/>
            </a:xfrm>
            <a:prstGeom prst="rect">
              <a:avLst/>
            </a:prstGeom>
            <a:noFill/>
          </p:spPr>
          <p:txBody>
            <a:bodyPr wrap="square" rtlCol="0">
              <a:spAutoFit/>
            </a:bodyPr>
            <a:lstStyle/>
            <a:p>
              <a:pPr algn="ctr"/>
              <a:r>
                <a:rPr lang="en-US" altLang="zh-TW" sz="2400" dirty="0"/>
                <a:t>Same content </a:t>
              </a:r>
              <a:endParaRPr lang="zh-TW" altLang="en-US" sz="2400" dirty="0"/>
            </a:p>
          </p:txBody>
        </p:sp>
      </p:grpSp>
      <p:pic>
        <p:nvPicPr>
          <p:cNvPr id="17" name="Picture 2">
            <a:extLst>
              <a:ext uri="{FF2B5EF4-FFF2-40B4-BE49-F238E27FC236}">
                <a16:creationId xmlns:a16="http://schemas.microsoft.com/office/drawing/2014/main" id="{7DAB6E3A-5EDB-E2CE-FA1C-6E32DCCF6C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70127" y="4567895"/>
            <a:ext cx="760089" cy="76009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a:extLst>
              <a:ext uri="{FF2B5EF4-FFF2-40B4-BE49-F238E27FC236}">
                <a16:creationId xmlns:a16="http://schemas.microsoft.com/office/drawing/2014/main" id="{A4B846A7-0EBF-A96C-8FD0-1AF6D297A9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78882" y="4567894"/>
            <a:ext cx="760089" cy="76009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E30DF32B-B415-852B-3EA4-40EF09C0A5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83565" y="3590559"/>
            <a:ext cx="770773" cy="77077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3">
            <a:extLst>
              <a:ext uri="{FF2B5EF4-FFF2-40B4-BE49-F238E27FC236}">
                <a16:creationId xmlns:a16="http://schemas.microsoft.com/office/drawing/2014/main" id="{B5F7E0CC-3A40-F45B-349F-29372FD9148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17946" y="3566411"/>
            <a:ext cx="822954" cy="82295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a:extLst>
              <a:ext uri="{FF2B5EF4-FFF2-40B4-BE49-F238E27FC236}">
                <a16:creationId xmlns:a16="http://schemas.microsoft.com/office/drawing/2014/main" id="{89B18086-A5C0-5630-62B2-2C5BE50A241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70127" y="5506513"/>
            <a:ext cx="822954" cy="82295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a:extLst>
              <a:ext uri="{FF2B5EF4-FFF2-40B4-BE49-F238E27FC236}">
                <a16:creationId xmlns:a16="http://schemas.microsoft.com/office/drawing/2014/main" id="{45D2A412-0768-9129-A0B4-E2D93571E83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77371" y="5521679"/>
            <a:ext cx="807788" cy="807788"/>
          </a:xfrm>
          <a:prstGeom prst="rect">
            <a:avLst/>
          </a:prstGeom>
          <a:noFill/>
          <a:extLst>
            <a:ext uri="{909E8E84-426E-40DD-AFC4-6F175D3DCCD1}">
              <a14:hiddenFill xmlns:a14="http://schemas.microsoft.com/office/drawing/2010/main">
                <a:solidFill>
                  <a:srgbClr val="FFFFFF"/>
                </a:solidFill>
              </a14:hiddenFill>
            </a:ext>
          </a:extLst>
        </p:spPr>
      </p:pic>
      <p:sp>
        <p:nvSpPr>
          <p:cNvPr id="24" name="文字方塊 23">
            <a:extLst>
              <a:ext uri="{FF2B5EF4-FFF2-40B4-BE49-F238E27FC236}">
                <a16:creationId xmlns:a16="http://schemas.microsoft.com/office/drawing/2014/main" id="{2D4CE130-BDCC-A7E4-FEB1-0540FA02BF28}"/>
              </a:ext>
            </a:extLst>
          </p:cNvPr>
          <p:cNvSpPr txBox="1"/>
          <p:nvPr/>
        </p:nvSpPr>
        <p:spPr>
          <a:xfrm>
            <a:off x="10004508" y="3745113"/>
            <a:ext cx="1320800" cy="461665"/>
          </a:xfrm>
          <a:prstGeom prst="rect">
            <a:avLst/>
          </a:prstGeom>
          <a:noFill/>
        </p:spPr>
        <p:txBody>
          <a:bodyPr wrap="square" rtlCol="0">
            <a:spAutoFit/>
          </a:bodyPr>
          <a:lstStyle/>
          <a:p>
            <a:r>
              <a:rPr lang="en-US" altLang="zh-TW" sz="2400" dirty="0"/>
              <a:t>Emotion</a:t>
            </a:r>
            <a:endParaRPr lang="zh-TW" altLang="en-US" sz="2400" dirty="0"/>
          </a:p>
        </p:txBody>
      </p:sp>
      <p:sp>
        <p:nvSpPr>
          <p:cNvPr id="25" name="文字方塊 24">
            <a:extLst>
              <a:ext uri="{FF2B5EF4-FFF2-40B4-BE49-F238E27FC236}">
                <a16:creationId xmlns:a16="http://schemas.microsoft.com/office/drawing/2014/main" id="{69C3EB23-CCA3-A5A6-22E8-118CFF16FB92}"/>
              </a:ext>
            </a:extLst>
          </p:cNvPr>
          <p:cNvSpPr txBox="1"/>
          <p:nvPr/>
        </p:nvSpPr>
        <p:spPr>
          <a:xfrm>
            <a:off x="10016930" y="4717106"/>
            <a:ext cx="1320800" cy="461665"/>
          </a:xfrm>
          <a:prstGeom prst="rect">
            <a:avLst/>
          </a:prstGeom>
          <a:noFill/>
        </p:spPr>
        <p:txBody>
          <a:bodyPr wrap="square" rtlCol="0">
            <a:spAutoFit/>
          </a:bodyPr>
          <a:lstStyle/>
          <a:p>
            <a:r>
              <a:rPr lang="en-US" altLang="zh-TW" sz="2400" dirty="0"/>
              <a:t>Gender</a:t>
            </a:r>
            <a:endParaRPr lang="zh-TW" altLang="en-US" sz="2400" dirty="0"/>
          </a:p>
        </p:txBody>
      </p:sp>
      <p:sp>
        <p:nvSpPr>
          <p:cNvPr id="26" name="文字方塊 25">
            <a:extLst>
              <a:ext uri="{FF2B5EF4-FFF2-40B4-BE49-F238E27FC236}">
                <a16:creationId xmlns:a16="http://schemas.microsoft.com/office/drawing/2014/main" id="{87EB5C26-61B1-DB41-C1B7-03CDF2A8D30B}"/>
              </a:ext>
            </a:extLst>
          </p:cNvPr>
          <p:cNvSpPr txBox="1"/>
          <p:nvPr/>
        </p:nvSpPr>
        <p:spPr>
          <a:xfrm>
            <a:off x="10033000" y="5694740"/>
            <a:ext cx="1320800" cy="461665"/>
          </a:xfrm>
          <a:prstGeom prst="rect">
            <a:avLst/>
          </a:prstGeom>
          <a:noFill/>
        </p:spPr>
        <p:txBody>
          <a:bodyPr wrap="square" rtlCol="0">
            <a:spAutoFit/>
          </a:bodyPr>
          <a:lstStyle/>
          <a:p>
            <a:r>
              <a:rPr lang="en-US" altLang="zh-TW" sz="2400" dirty="0"/>
              <a:t>Age</a:t>
            </a:r>
            <a:endParaRPr lang="zh-TW" altLang="en-US" sz="2400" dirty="0"/>
          </a:p>
        </p:txBody>
      </p:sp>
    </p:spTree>
    <p:extLst>
      <p:ext uri="{BB962C8B-B14F-4D97-AF65-F5344CB8AC3E}">
        <p14:creationId xmlns:p14="http://schemas.microsoft.com/office/powerpoint/2010/main" val="20943075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B2B316-8EB4-0811-F034-DCD5BD32C6F0}"/>
              </a:ext>
            </a:extLst>
          </p:cNvPr>
          <p:cNvSpPr>
            <a:spLocks noGrp="1"/>
          </p:cNvSpPr>
          <p:nvPr>
            <p:ph type="title"/>
          </p:nvPr>
        </p:nvSpPr>
        <p:spPr/>
        <p:txBody>
          <a:bodyPr/>
          <a:lstStyle/>
          <a:p>
            <a:r>
              <a:rPr lang="en-US" altLang="zh-TW" dirty="0"/>
              <a:t>Alignment with Feedback</a:t>
            </a:r>
            <a:endParaRPr lang="zh-TW" altLang="en-US" dirty="0"/>
          </a:p>
        </p:txBody>
      </p:sp>
      <p:sp>
        <p:nvSpPr>
          <p:cNvPr id="3" name="內容版面配置區 2">
            <a:extLst>
              <a:ext uri="{FF2B5EF4-FFF2-40B4-BE49-F238E27FC236}">
                <a16:creationId xmlns:a16="http://schemas.microsoft.com/office/drawing/2014/main" id="{0D87BD41-9E0D-528C-01E0-DF2C35EC6BA1}"/>
              </a:ext>
            </a:extLst>
          </p:cNvPr>
          <p:cNvSpPr>
            <a:spLocks noGrp="1"/>
          </p:cNvSpPr>
          <p:nvPr>
            <p:ph idx="1"/>
          </p:nvPr>
        </p:nvSpPr>
        <p:spPr/>
        <p:txBody>
          <a:bodyPr/>
          <a:lstStyle/>
          <a:p>
            <a:r>
              <a:rPr lang="en-US" altLang="zh-TW" dirty="0"/>
              <a:t>https://paras2sbench.github.io/</a:t>
            </a:r>
            <a:endParaRPr lang="zh-TW" altLang="en-US" dirty="0"/>
          </a:p>
        </p:txBody>
      </p:sp>
    </p:spTree>
    <p:extLst>
      <p:ext uri="{BB962C8B-B14F-4D97-AF65-F5344CB8AC3E}">
        <p14:creationId xmlns:p14="http://schemas.microsoft.com/office/powerpoint/2010/main" val="31044213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人行道跳房子遊戲特寫">
            <a:extLst>
              <a:ext uri="{FF2B5EF4-FFF2-40B4-BE49-F238E27FC236}">
                <a16:creationId xmlns:a16="http://schemas.microsoft.com/office/drawing/2014/main" id="{A7082D30-974D-D699-8B41-7ED10B4D4385}"/>
              </a:ext>
            </a:extLst>
          </p:cNvPr>
          <p:cNvPicPr>
            <a:picLocks noChangeAspect="1"/>
          </p:cNvPicPr>
          <p:nvPr/>
        </p:nvPicPr>
        <p:blipFill>
          <a:blip r:embed="rId3">
            <a:alphaModFix amt="50000"/>
          </a:blip>
          <a:srcRect t="8311" b="7419"/>
          <a:stretch>
            <a:fillRect/>
          </a:stretch>
        </p:blipFill>
        <p:spPr>
          <a:xfrm>
            <a:off x="20" y="1"/>
            <a:ext cx="12191980" cy="6857999"/>
          </a:xfrm>
          <a:prstGeom prst="rect">
            <a:avLst/>
          </a:prstGeom>
        </p:spPr>
      </p:pic>
      <p:sp>
        <p:nvSpPr>
          <p:cNvPr id="2" name="標題 1">
            <a:extLst>
              <a:ext uri="{FF2B5EF4-FFF2-40B4-BE49-F238E27FC236}">
                <a16:creationId xmlns:a16="http://schemas.microsoft.com/office/drawing/2014/main" id="{AAA7959B-42F4-E97F-B79E-FA216933C005}"/>
              </a:ext>
            </a:extLst>
          </p:cNvPr>
          <p:cNvSpPr>
            <a:spLocks noGrp="1"/>
          </p:cNvSpPr>
          <p:nvPr>
            <p:ph type="ctrTitle"/>
          </p:nvPr>
        </p:nvSpPr>
        <p:spPr>
          <a:xfrm>
            <a:off x="1524000" y="1122362"/>
            <a:ext cx="9144000" cy="2900518"/>
          </a:xfrm>
        </p:spPr>
        <p:txBody>
          <a:bodyPr>
            <a:normAutofit/>
          </a:bodyPr>
          <a:lstStyle/>
          <a:p>
            <a:r>
              <a:rPr lang="en-US" altLang="zh-TW" dirty="0">
                <a:solidFill>
                  <a:srgbClr val="FFFFFF"/>
                </a:solidFill>
                <a:latin typeface="微軟正黑體" panose="020B0604030504040204" pitchFamily="34" charset="-120"/>
                <a:ea typeface="微軟正黑體" panose="020B0604030504040204" pitchFamily="34" charset="-120"/>
              </a:rPr>
              <a:t>6. </a:t>
            </a:r>
            <a:r>
              <a:rPr lang="zh-TW" altLang="en-US" dirty="0">
                <a:solidFill>
                  <a:srgbClr val="FFFFFF"/>
                </a:solidFill>
                <a:latin typeface="微軟正黑體" panose="020B0604030504040204" pitchFamily="34" charset="-120"/>
                <a:ea typeface="微軟正黑體" panose="020B0604030504040204" pitchFamily="34" charset="-120"/>
              </a:rPr>
              <a:t>一邊說一邊思考</a:t>
            </a:r>
          </a:p>
        </p:txBody>
      </p:sp>
      <p:sp>
        <p:nvSpPr>
          <p:cNvPr id="3" name="副標題 2">
            <a:extLst>
              <a:ext uri="{FF2B5EF4-FFF2-40B4-BE49-F238E27FC236}">
                <a16:creationId xmlns:a16="http://schemas.microsoft.com/office/drawing/2014/main" id="{51D1388F-612D-43F5-5523-C2F90BD80FDC}"/>
              </a:ext>
            </a:extLst>
          </p:cNvPr>
          <p:cNvSpPr>
            <a:spLocks noGrp="1"/>
          </p:cNvSpPr>
          <p:nvPr>
            <p:ph type="subTitle" idx="1"/>
          </p:nvPr>
        </p:nvSpPr>
        <p:spPr>
          <a:xfrm>
            <a:off x="1524000" y="4159404"/>
            <a:ext cx="9144000" cy="1098395"/>
          </a:xfrm>
        </p:spPr>
        <p:txBody>
          <a:bodyPr>
            <a:normAutofit/>
          </a:bodyPr>
          <a:lstStyle/>
          <a:p>
            <a:endParaRPr lang="zh-TW" altLang="en-US">
              <a:solidFill>
                <a:srgbClr val="FFFFFF"/>
              </a:solidFill>
            </a:endParaRPr>
          </a:p>
        </p:txBody>
      </p:sp>
    </p:spTree>
    <p:extLst>
      <p:ext uri="{BB962C8B-B14F-4D97-AF65-F5344CB8AC3E}">
        <p14:creationId xmlns:p14="http://schemas.microsoft.com/office/powerpoint/2010/main" val="13713497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36FD5F-1F1F-D8F4-D020-949C4937128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D1CC081E-0E4F-F1E0-ED49-2C702D435D7E}"/>
              </a:ext>
            </a:extLst>
          </p:cNvPr>
          <p:cNvSpPr>
            <a:spLocks noGrp="1"/>
          </p:cNvSpPr>
          <p:nvPr>
            <p:ph idx="1"/>
          </p:nvPr>
        </p:nvSpPr>
        <p:spPr/>
        <p:txBody>
          <a:bodyPr/>
          <a:lstStyle/>
          <a:p>
            <a:endParaRPr lang="zh-TW" altLang="en-US"/>
          </a:p>
        </p:txBody>
      </p:sp>
      <p:pic>
        <p:nvPicPr>
          <p:cNvPr id="5" name="圖片 4" descr="一張含有 文字, 螢幕擷取畫面, 白色, 字型 的圖片&#10;&#10;AI 產生的內容可能不正確。">
            <a:extLst>
              <a:ext uri="{FF2B5EF4-FFF2-40B4-BE49-F238E27FC236}">
                <a16:creationId xmlns:a16="http://schemas.microsoft.com/office/drawing/2014/main" id="{486E56B4-1628-7221-07EE-FE6566426372}"/>
              </a:ext>
            </a:extLst>
          </p:cNvPr>
          <p:cNvPicPr>
            <a:picLocks noChangeAspect="1"/>
          </p:cNvPicPr>
          <p:nvPr/>
        </p:nvPicPr>
        <p:blipFill>
          <a:blip r:embed="rId3"/>
          <a:stretch>
            <a:fillRect/>
          </a:stretch>
        </p:blipFill>
        <p:spPr>
          <a:xfrm>
            <a:off x="3569205" y="587704"/>
            <a:ext cx="8333449" cy="17288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圖片 10" descr="一張含有 文字, 螢幕擷取畫面, 字型, 白色 的圖片&#10;&#10;AI 產生的內容可能不正確。">
            <a:extLst>
              <a:ext uri="{FF2B5EF4-FFF2-40B4-BE49-F238E27FC236}">
                <a16:creationId xmlns:a16="http://schemas.microsoft.com/office/drawing/2014/main" id="{1A4BEDD3-0E97-5FC2-CF82-A9DF1B6E93E4}"/>
              </a:ext>
            </a:extLst>
          </p:cNvPr>
          <p:cNvPicPr>
            <a:picLocks noChangeAspect="1"/>
          </p:cNvPicPr>
          <p:nvPr/>
        </p:nvPicPr>
        <p:blipFill>
          <a:blip r:embed="rId4"/>
          <a:stretch>
            <a:fillRect/>
          </a:stretch>
        </p:blipFill>
        <p:spPr>
          <a:xfrm>
            <a:off x="289346" y="2015943"/>
            <a:ext cx="8509411" cy="21576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圖片 6" descr="一張含有 文字, 螢幕擷取畫面, 字型, 黑色 的圖片&#10;&#10;AI 產生的內容可能不正確。">
            <a:extLst>
              <a:ext uri="{FF2B5EF4-FFF2-40B4-BE49-F238E27FC236}">
                <a16:creationId xmlns:a16="http://schemas.microsoft.com/office/drawing/2014/main" id="{CD98986C-1DA6-3F0B-A342-9466F3DD53D3}"/>
              </a:ext>
            </a:extLst>
          </p:cNvPr>
          <p:cNvPicPr>
            <a:picLocks noChangeAspect="1"/>
          </p:cNvPicPr>
          <p:nvPr/>
        </p:nvPicPr>
        <p:blipFill>
          <a:blip r:embed="rId5"/>
          <a:stretch>
            <a:fillRect/>
          </a:stretch>
        </p:blipFill>
        <p:spPr>
          <a:xfrm>
            <a:off x="3347483" y="3429000"/>
            <a:ext cx="8776891" cy="1657438"/>
          </a:xfrm>
          <a:prstGeom prst="rect">
            <a:avLst/>
          </a:prstGeom>
        </p:spPr>
      </p:pic>
      <p:pic>
        <p:nvPicPr>
          <p:cNvPr id="9" name="圖片 8" descr="一張含有 文字, 螢幕擷取畫面, 字型, 白色 的圖片&#10;&#10;AI 產生的內容可能不正確。">
            <a:extLst>
              <a:ext uri="{FF2B5EF4-FFF2-40B4-BE49-F238E27FC236}">
                <a16:creationId xmlns:a16="http://schemas.microsoft.com/office/drawing/2014/main" id="{04D943AC-B8A3-F738-7B8E-A27A9629A169}"/>
              </a:ext>
            </a:extLst>
          </p:cNvPr>
          <p:cNvPicPr>
            <a:picLocks noChangeAspect="1"/>
          </p:cNvPicPr>
          <p:nvPr/>
        </p:nvPicPr>
        <p:blipFill>
          <a:blip r:embed="rId6"/>
          <a:stretch>
            <a:fillRect/>
          </a:stretch>
        </p:blipFill>
        <p:spPr>
          <a:xfrm>
            <a:off x="315425" y="4694509"/>
            <a:ext cx="7523185" cy="1885949"/>
          </a:xfrm>
          <a:prstGeom prst="rect">
            <a:avLst/>
          </a:prstGeom>
        </p:spPr>
      </p:pic>
      <p:sp>
        <p:nvSpPr>
          <p:cNvPr id="12" name="文字方塊 11">
            <a:extLst>
              <a:ext uri="{FF2B5EF4-FFF2-40B4-BE49-F238E27FC236}">
                <a16:creationId xmlns:a16="http://schemas.microsoft.com/office/drawing/2014/main" id="{45FDD5D0-3C84-399F-40E7-6E949AE6385D}"/>
              </a:ext>
            </a:extLst>
          </p:cNvPr>
          <p:cNvSpPr txBox="1"/>
          <p:nvPr/>
        </p:nvSpPr>
        <p:spPr>
          <a:xfrm>
            <a:off x="343450" y="379649"/>
            <a:ext cx="2152650" cy="1077218"/>
          </a:xfrm>
          <a:prstGeom prst="rect">
            <a:avLst/>
          </a:prstGeom>
          <a:noFill/>
        </p:spPr>
        <p:txBody>
          <a:bodyPr wrap="square" rtlCol="0">
            <a:spAutoFit/>
          </a:bodyPr>
          <a:lstStyle/>
          <a:p>
            <a:r>
              <a:rPr lang="en-US" altLang="zh-TW" sz="3200" dirty="0"/>
              <a:t>Reasoning (</a:t>
            </a:r>
            <a:r>
              <a:rPr lang="zh-TW" altLang="en-US" sz="3200" dirty="0">
                <a:latin typeface="微軟正黑體" panose="020B0604030504040204" pitchFamily="34" charset="-120"/>
                <a:ea typeface="微軟正黑體" panose="020B0604030504040204" pitchFamily="34" charset="-120"/>
              </a:rPr>
              <a:t>深度思考</a:t>
            </a:r>
            <a:r>
              <a:rPr lang="en-US" altLang="zh-TW" sz="3200" dirty="0"/>
              <a:t>)</a:t>
            </a:r>
            <a:endParaRPr lang="zh-TW" altLang="en-US" sz="3200" dirty="0"/>
          </a:p>
        </p:txBody>
      </p:sp>
      <p:sp>
        <p:nvSpPr>
          <p:cNvPr id="13" name="文字方塊 12">
            <a:extLst>
              <a:ext uri="{FF2B5EF4-FFF2-40B4-BE49-F238E27FC236}">
                <a16:creationId xmlns:a16="http://schemas.microsoft.com/office/drawing/2014/main" id="{F522FCB3-FAC5-1460-699F-6A9B566940F4}"/>
              </a:ext>
            </a:extLst>
          </p:cNvPr>
          <p:cNvSpPr txBox="1"/>
          <p:nvPr/>
        </p:nvSpPr>
        <p:spPr>
          <a:xfrm>
            <a:off x="3674297" y="641409"/>
            <a:ext cx="1552808" cy="461665"/>
          </a:xfrm>
          <a:prstGeom prst="rect">
            <a:avLst/>
          </a:prstGeom>
          <a:noFill/>
        </p:spPr>
        <p:txBody>
          <a:bodyPr wrap="square" rtlCol="0">
            <a:spAutoFit/>
          </a:bodyPr>
          <a:lstStyle/>
          <a:p>
            <a:r>
              <a:rPr lang="en-US" altLang="zh-TW" sz="2400" dirty="0"/>
              <a:t>ChatGPT</a:t>
            </a:r>
            <a:endParaRPr lang="zh-TW" altLang="en-US" sz="2400" dirty="0"/>
          </a:p>
        </p:txBody>
      </p:sp>
      <p:sp>
        <p:nvSpPr>
          <p:cNvPr id="14" name="文字方塊 13">
            <a:extLst>
              <a:ext uri="{FF2B5EF4-FFF2-40B4-BE49-F238E27FC236}">
                <a16:creationId xmlns:a16="http://schemas.microsoft.com/office/drawing/2014/main" id="{DDDC0438-A121-CD77-AFFA-054CBC11CF46}"/>
              </a:ext>
            </a:extLst>
          </p:cNvPr>
          <p:cNvSpPr txBox="1"/>
          <p:nvPr/>
        </p:nvSpPr>
        <p:spPr>
          <a:xfrm>
            <a:off x="315425" y="2018931"/>
            <a:ext cx="1552808" cy="461665"/>
          </a:xfrm>
          <a:prstGeom prst="rect">
            <a:avLst/>
          </a:prstGeom>
          <a:noFill/>
        </p:spPr>
        <p:txBody>
          <a:bodyPr wrap="square" rtlCol="0">
            <a:spAutoFit/>
          </a:bodyPr>
          <a:lstStyle/>
          <a:p>
            <a:r>
              <a:rPr lang="en-US" altLang="zh-TW" sz="2400" dirty="0"/>
              <a:t>DeepSeek</a:t>
            </a:r>
            <a:endParaRPr lang="zh-TW" altLang="en-US" sz="2400" dirty="0"/>
          </a:p>
        </p:txBody>
      </p:sp>
      <p:sp>
        <p:nvSpPr>
          <p:cNvPr id="15" name="文字方塊 14">
            <a:extLst>
              <a:ext uri="{FF2B5EF4-FFF2-40B4-BE49-F238E27FC236}">
                <a16:creationId xmlns:a16="http://schemas.microsoft.com/office/drawing/2014/main" id="{B773C3D0-5693-8A84-F439-244E06F43133}"/>
              </a:ext>
            </a:extLst>
          </p:cNvPr>
          <p:cNvSpPr txBox="1"/>
          <p:nvPr/>
        </p:nvSpPr>
        <p:spPr>
          <a:xfrm>
            <a:off x="10445096" y="5128236"/>
            <a:ext cx="1552808" cy="461665"/>
          </a:xfrm>
          <a:prstGeom prst="rect">
            <a:avLst/>
          </a:prstGeom>
          <a:noFill/>
        </p:spPr>
        <p:txBody>
          <a:bodyPr wrap="square" rtlCol="0">
            <a:spAutoFit/>
          </a:bodyPr>
          <a:lstStyle/>
          <a:p>
            <a:pPr algn="r"/>
            <a:r>
              <a:rPr lang="en-US" altLang="zh-TW" sz="2400" dirty="0"/>
              <a:t>Gemini</a:t>
            </a:r>
            <a:endParaRPr lang="zh-TW" altLang="en-US" sz="2400" dirty="0"/>
          </a:p>
        </p:txBody>
      </p:sp>
      <p:sp>
        <p:nvSpPr>
          <p:cNvPr id="16" name="文字方塊 15">
            <a:extLst>
              <a:ext uri="{FF2B5EF4-FFF2-40B4-BE49-F238E27FC236}">
                <a16:creationId xmlns:a16="http://schemas.microsoft.com/office/drawing/2014/main" id="{4E4C0F06-FA7D-AD70-885F-747CAD574063}"/>
              </a:ext>
            </a:extLst>
          </p:cNvPr>
          <p:cNvSpPr txBox="1"/>
          <p:nvPr/>
        </p:nvSpPr>
        <p:spPr>
          <a:xfrm>
            <a:off x="477420" y="4856521"/>
            <a:ext cx="1552808" cy="461665"/>
          </a:xfrm>
          <a:prstGeom prst="rect">
            <a:avLst/>
          </a:prstGeom>
          <a:noFill/>
        </p:spPr>
        <p:txBody>
          <a:bodyPr wrap="square" rtlCol="0">
            <a:spAutoFit/>
          </a:bodyPr>
          <a:lstStyle/>
          <a:p>
            <a:r>
              <a:rPr lang="en-US" altLang="zh-TW" sz="2400" dirty="0"/>
              <a:t>Claude</a:t>
            </a:r>
            <a:endParaRPr lang="zh-TW" altLang="en-US" sz="2400" dirty="0"/>
          </a:p>
        </p:txBody>
      </p:sp>
    </p:spTree>
    <p:extLst>
      <p:ext uri="{BB962C8B-B14F-4D97-AF65-F5344CB8AC3E}">
        <p14:creationId xmlns:p14="http://schemas.microsoft.com/office/powerpoint/2010/main" val="27558805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AAA1D-44A2-FC0F-B2DC-D2D153C9A24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55DC563-E1CF-9E5C-4A61-DAF417BD6D7C}"/>
              </a:ext>
            </a:extLst>
          </p:cNvPr>
          <p:cNvSpPr>
            <a:spLocks noGrp="1"/>
          </p:cNvSpPr>
          <p:nvPr>
            <p:ph type="title"/>
          </p:nvPr>
        </p:nvSpPr>
        <p:spPr/>
        <p:txBody>
          <a:bodyPr/>
          <a:lstStyle/>
          <a:p>
            <a:r>
              <a:rPr lang="en-US" altLang="zh-TW" dirty="0"/>
              <a:t>Text LLM + Reasoning </a:t>
            </a:r>
            <a:endParaRPr lang="zh-TW" altLang="en-US" dirty="0"/>
          </a:p>
        </p:txBody>
      </p:sp>
      <p:sp>
        <p:nvSpPr>
          <p:cNvPr id="4" name="矩形: 圓角 3">
            <a:extLst>
              <a:ext uri="{FF2B5EF4-FFF2-40B4-BE49-F238E27FC236}">
                <a16:creationId xmlns:a16="http://schemas.microsoft.com/office/drawing/2014/main" id="{F13DACF6-0B7F-F438-FF76-9D45AA0862A4}"/>
              </a:ext>
            </a:extLst>
          </p:cNvPr>
          <p:cNvSpPr/>
          <p:nvPr/>
        </p:nvSpPr>
        <p:spPr>
          <a:xfrm>
            <a:off x="1027482" y="3586389"/>
            <a:ext cx="10137035" cy="872921"/>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矩形: 圓角 6">
            <a:extLst>
              <a:ext uri="{FF2B5EF4-FFF2-40B4-BE49-F238E27FC236}">
                <a16:creationId xmlns:a16="http://schemas.microsoft.com/office/drawing/2014/main" id="{BC12A11F-BCF6-461F-439B-ACCB1CF4AF95}"/>
              </a:ext>
            </a:extLst>
          </p:cNvPr>
          <p:cNvSpPr/>
          <p:nvPr/>
        </p:nvSpPr>
        <p:spPr>
          <a:xfrm>
            <a:off x="1103570" y="5185950"/>
            <a:ext cx="564895"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D93E01AF-99F1-11EB-DB23-C36FD3DFFBCF}"/>
              </a:ext>
            </a:extLst>
          </p:cNvPr>
          <p:cNvSpPr/>
          <p:nvPr/>
        </p:nvSpPr>
        <p:spPr>
          <a:xfrm>
            <a:off x="1736842" y="5185950"/>
            <a:ext cx="564895"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E7FDE783-78E9-8315-D6C5-912E0EE21FBE}"/>
              </a:ext>
            </a:extLst>
          </p:cNvPr>
          <p:cNvSpPr/>
          <p:nvPr/>
        </p:nvSpPr>
        <p:spPr>
          <a:xfrm>
            <a:off x="2370114" y="5185950"/>
            <a:ext cx="564895"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4A24831F-7B29-AE70-7B1A-0EFA59A82965}"/>
              </a:ext>
            </a:extLst>
          </p:cNvPr>
          <p:cNvSpPr/>
          <p:nvPr/>
        </p:nvSpPr>
        <p:spPr>
          <a:xfrm>
            <a:off x="2991400" y="5185950"/>
            <a:ext cx="564895"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F8A108CA-76DD-89C0-439B-3E9002170BB8}"/>
              </a:ext>
            </a:extLst>
          </p:cNvPr>
          <p:cNvSpPr/>
          <p:nvPr/>
        </p:nvSpPr>
        <p:spPr>
          <a:xfrm>
            <a:off x="8523598" y="2519009"/>
            <a:ext cx="564895"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矩形: 圓角 16">
            <a:extLst>
              <a:ext uri="{FF2B5EF4-FFF2-40B4-BE49-F238E27FC236}">
                <a16:creationId xmlns:a16="http://schemas.microsoft.com/office/drawing/2014/main" id="{36657AFD-C0B1-83D6-2A0A-23778DAC2E24}"/>
              </a:ext>
            </a:extLst>
          </p:cNvPr>
          <p:cNvSpPr/>
          <p:nvPr/>
        </p:nvSpPr>
        <p:spPr>
          <a:xfrm>
            <a:off x="9156870" y="2519009"/>
            <a:ext cx="564895"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D7CA611A-22E1-319D-0434-1A1A4186DF22}"/>
              </a:ext>
            </a:extLst>
          </p:cNvPr>
          <p:cNvSpPr/>
          <p:nvPr/>
        </p:nvSpPr>
        <p:spPr>
          <a:xfrm>
            <a:off x="9790142" y="2519009"/>
            <a:ext cx="564895"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FEE5FD08-A329-F03A-B4FC-939847CC3CD2}"/>
              </a:ext>
            </a:extLst>
          </p:cNvPr>
          <p:cNvSpPr/>
          <p:nvPr/>
        </p:nvSpPr>
        <p:spPr>
          <a:xfrm>
            <a:off x="10411428" y="2519009"/>
            <a:ext cx="564895" cy="360000"/>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335612F1-24FF-2044-2735-FD148E52E691}"/>
              </a:ext>
            </a:extLst>
          </p:cNvPr>
          <p:cNvSpPr/>
          <p:nvPr/>
        </p:nvSpPr>
        <p:spPr>
          <a:xfrm>
            <a:off x="3988379" y="2512109"/>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FB4495B7-BDAC-AC7B-F7E6-19E939C53517}"/>
              </a:ext>
            </a:extLst>
          </p:cNvPr>
          <p:cNvSpPr/>
          <p:nvPr/>
        </p:nvSpPr>
        <p:spPr>
          <a:xfrm>
            <a:off x="4613677" y="2512109"/>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EA228929-0019-8D1F-1620-7BCD53174241}"/>
              </a:ext>
            </a:extLst>
          </p:cNvPr>
          <p:cNvSpPr/>
          <p:nvPr/>
        </p:nvSpPr>
        <p:spPr>
          <a:xfrm>
            <a:off x="5238975" y="2512109"/>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7723EF15-71AF-76F9-865C-EF79548B6E67}"/>
              </a:ext>
            </a:extLst>
          </p:cNvPr>
          <p:cNvSpPr/>
          <p:nvPr/>
        </p:nvSpPr>
        <p:spPr>
          <a:xfrm>
            <a:off x="5864273" y="2512109"/>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BC51545F-B4BC-09B5-9BF1-48C19FEBBFC6}"/>
              </a:ext>
            </a:extLst>
          </p:cNvPr>
          <p:cNvSpPr/>
          <p:nvPr/>
        </p:nvSpPr>
        <p:spPr>
          <a:xfrm>
            <a:off x="6489571" y="251599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9BD964B5-B3C2-CD89-3EB3-0AF2896A29B1}"/>
              </a:ext>
            </a:extLst>
          </p:cNvPr>
          <p:cNvSpPr/>
          <p:nvPr/>
        </p:nvSpPr>
        <p:spPr>
          <a:xfrm>
            <a:off x="7114869" y="251599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0DFA89DC-36E6-A39B-8E30-D2DEFED34EEB}"/>
              </a:ext>
            </a:extLst>
          </p:cNvPr>
          <p:cNvSpPr/>
          <p:nvPr/>
        </p:nvSpPr>
        <p:spPr>
          <a:xfrm>
            <a:off x="7740166" y="251599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8" name="直線單箭頭接點 27">
            <a:extLst>
              <a:ext uri="{FF2B5EF4-FFF2-40B4-BE49-F238E27FC236}">
                <a16:creationId xmlns:a16="http://schemas.microsoft.com/office/drawing/2014/main" id="{E1D864F4-9067-83AC-3E08-BA29475AEEF1}"/>
              </a:ext>
            </a:extLst>
          </p:cNvPr>
          <p:cNvCxnSpPr>
            <a:cxnSpLocks/>
          </p:cNvCxnSpPr>
          <p:nvPr/>
        </p:nvCxnSpPr>
        <p:spPr>
          <a:xfrm flipV="1">
            <a:off x="2355524" y="4500284"/>
            <a:ext cx="0" cy="5524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5EBEA3C0-E3AF-7A4C-07A6-2B4BAF5FAAD3}"/>
              </a:ext>
            </a:extLst>
          </p:cNvPr>
          <p:cNvCxnSpPr>
            <a:cxnSpLocks/>
          </p:cNvCxnSpPr>
          <p:nvPr/>
        </p:nvCxnSpPr>
        <p:spPr>
          <a:xfrm flipV="1">
            <a:off x="6167716" y="2962244"/>
            <a:ext cx="0" cy="5524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C41900D3-0CF9-8FF0-7DB2-4C766708E77D}"/>
              </a:ext>
            </a:extLst>
          </p:cNvPr>
          <p:cNvCxnSpPr>
            <a:cxnSpLocks/>
          </p:cNvCxnSpPr>
          <p:nvPr/>
        </p:nvCxnSpPr>
        <p:spPr>
          <a:xfrm flipV="1">
            <a:off x="9763247" y="2914867"/>
            <a:ext cx="0" cy="5524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BC11228E-06BD-3674-D8CB-942BEA6DCB93}"/>
              </a:ext>
            </a:extLst>
          </p:cNvPr>
          <p:cNvSpPr txBox="1"/>
          <p:nvPr/>
        </p:nvSpPr>
        <p:spPr>
          <a:xfrm>
            <a:off x="964100" y="5548520"/>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8BF57A64-B6FB-CEB9-58A9-963EECDC157C}"/>
              </a:ext>
            </a:extLst>
          </p:cNvPr>
          <p:cNvSpPr txBox="1"/>
          <p:nvPr/>
        </p:nvSpPr>
        <p:spPr>
          <a:xfrm>
            <a:off x="8398718" y="1997797"/>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output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文字方塊 35">
            <a:extLst>
              <a:ext uri="{FF2B5EF4-FFF2-40B4-BE49-F238E27FC236}">
                <a16:creationId xmlns:a16="http://schemas.microsoft.com/office/drawing/2014/main" id="{57317BC3-6C09-C9D9-E3EF-D4C6F779E6FD}"/>
              </a:ext>
            </a:extLst>
          </p:cNvPr>
          <p:cNvSpPr txBox="1"/>
          <p:nvPr/>
        </p:nvSpPr>
        <p:spPr>
          <a:xfrm>
            <a:off x="4838974" y="1651387"/>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Reasoning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文字方塊 2">
            <a:extLst>
              <a:ext uri="{FF2B5EF4-FFF2-40B4-BE49-F238E27FC236}">
                <a16:creationId xmlns:a16="http://schemas.microsoft.com/office/drawing/2014/main" id="{661CF360-C774-C26F-BF42-EA736A89FA7A}"/>
              </a:ext>
            </a:extLst>
          </p:cNvPr>
          <p:cNvSpPr txBox="1"/>
          <p:nvPr/>
        </p:nvSpPr>
        <p:spPr>
          <a:xfrm>
            <a:off x="4157503" y="2004460"/>
            <a:ext cx="45433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token, not shown to users)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01755130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36" grpId="0"/>
      <p:bldP spid="3"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2D047-5791-3A79-13AF-43C880E2680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3067E6F-2CA3-4A8A-F00B-C7CA8474281F}"/>
              </a:ext>
            </a:extLst>
          </p:cNvPr>
          <p:cNvSpPr>
            <a:spLocks noGrp="1"/>
          </p:cNvSpPr>
          <p:nvPr>
            <p:ph type="title"/>
          </p:nvPr>
        </p:nvSpPr>
        <p:spPr/>
        <p:txBody>
          <a:bodyPr/>
          <a:lstStyle/>
          <a:p>
            <a:r>
              <a:rPr lang="en-US" altLang="zh-TW" dirty="0"/>
              <a:t>Speech LLM + Reasoning </a:t>
            </a:r>
            <a:endParaRPr lang="zh-TW" altLang="en-US" dirty="0"/>
          </a:p>
        </p:txBody>
      </p:sp>
      <p:sp>
        <p:nvSpPr>
          <p:cNvPr id="4" name="矩形: 圓角 3">
            <a:extLst>
              <a:ext uri="{FF2B5EF4-FFF2-40B4-BE49-F238E27FC236}">
                <a16:creationId xmlns:a16="http://schemas.microsoft.com/office/drawing/2014/main" id="{95410533-411C-13E0-6262-D6F684B74ED2}"/>
              </a:ext>
            </a:extLst>
          </p:cNvPr>
          <p:cNvSpPr/>
          <p:nvPr/>
        </p:nvSpPr>
        <p:spPr>
          <a:xfrm>
            <a:off x="1027482" y="3353312"/>
            <a:ext cx="10137035" cy="872921"/>
          </a:xfrm>
          <a:prstGeom prst="roundRect">
            <a:avLst/>
          </a:prstGeom>
          <a:solidFill>
            <a:schemeClr val="accent2">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6AABC937-DF46-C781-1C59-9074CAFAE978}"/>
              </a:ext>
            </a:extLst>
          </p:cNvPr>
          <p:cNvSpPr/>
          <p:nvPr/>
        </p:nvSpPr>
        <p:spPr>
          <a:xfrm>
            <a:off x="3324921" y="231790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0319B780-09CF-9479-71D4-D2EB318E98C1}"/>
              </a:ext>
            </a:extLst>
          </p:cNvPr>
          <p:cNvSpPr/>
          <p:nvPr/>
        </p:nvSpPr>
        <p:spPr>
          <a:xfrm>
            <a:off x="3950219" y="231790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68952059-F94B-7FCA-CD8A-D366AC5E748F}"/>
              </a:ext>
            </a:extLst>
          </p:cNvPr>
          <p:cNvSpPr/>
          <p:nvPr/>
        </p:nvSpPr>
        <p:spPr>
          <a:xfrm>
            <a:off x="4575517" y="231790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25A885AB-D9D4-7C6C-C68F-357A4C7A6A03}"/>
              </a:ext>
            </a:extLst>
          </p:cNvPr>
          <p:cNvSpPr/>
          <p:nvPr/>
        </p:nvSpPr>
        <p:spPr>
          <a:xfrm>
            <a:off x="5200815" y="231790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B9F8263B-D194-B655-5481-44A168429EAF}"/>
              </a:ext>
            </a:extLst>
          </p:cNvPr>
          <p:cNvSpPr/>
          <p:nvPr/>
        </p:nvSpPr>
        <p:spPr>
          <a:xfrm>
            <a:off x="5826113" y="232179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D15BBF6C-F8D6-93B2-0D5F-2C8C5CADC9EA}"/>
              </a:ext>
            </a:extLst>
          </p:cNvPr>
          <p:cNvSpPr/>
          <p:nvPr/>
        </p:nvSpPr>
        <p:spPr>
          <a:xfrm>
            <a:off x="6451411" y="232179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A388CD9B-5754-A11E-115D-0AA81C997E1A}"/>
              </a:ext>
            </a:extLst>
          </p:cNvPr>
          <p:cNvSpPr/>
          <p:nvPr/>
        </p:nvSpPr>
        <p:spPr>
          <a:xfrm>
            <a:off x="7076708" y="232179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8" name="直線單箭頭接點 27">
            <a:extLst>
              <a:ext uri="{FF2B5EF4-FFF2-40B4-BE49-F238E27FC236}">
                <a16:creationId xmlns:a16="http://schemas.microsoft.com/office/drawing/2014/main" id="{25D27776-1F2C-A96B-A175-9938E13CA896}"/>
              </a:ext>
            </a:extLst>
          </p:cNvPr>
          <p:cNvCxnSpPr>
            <a:cxnSpLocks/>
          </p:cNvCxnSpPr>
          <p:nvPr/>
        </p:nvCxnSpPr>
        <p:spPr>
          <a:xfrm flipV="1">
            <a:off x="2066562" y="4226233"/>
            <a:ext cx="0" cy="5524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DDD42E38-9F15-5029-B7F2-DDC0791249AC}"/>
              </a:ext>
            </a:extLst>
          </p:cNvPr>
          <p:cNvCxnSpPr>
            <a:cxnSpLocks/>
          </p:cNvCxnSpPr>
          <p:nvPr/>
        </p:nvCxnSpPr>
        <p:spPr>
          <a:xfrm flipV="1">
            <a:off x="5504258" y="2768042"/>
            <a:ext cx="0" cy="5524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90DE23BC-AE77-081E-58DC-2C703D571D55}"/>
              </a:ext>
            </a:extLst>
          </p:cNvPr>
          <p:cNvCxnSpPr>
            <a:cxnSpLocks/>
          </p:cNvCxnSpPr>
          <p:nvPr/>
        </p:nvCxnSpPr>
        <p:spPr>
          <a:xfrm flipV="1">
            <a:off x="9593068" y="2768042"/>
            <a:ext cx="0" cy="5524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CCD2B36D-EAF9-305F-ABB1-D8C0EF34CE82}"/>
              </a:ext>
            </a:extLst>
          </p:cNvPr>
          <p:cNvSpPr txBox="1"/>
          <p:nvPr/>
        </p:nvSpPr>
        <p:spPr>
          <a:xfrm>
            <a:off x="728925" y="5433736"/>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F4E8B07D-3056-B10F-CE0D-AE528FA68F45}"/>
              </a:ext>
            </a:extLst>
          </p:cNvPr>
          <p:cNvSpPr txBox="1"/>
          <p:nvPr/>
        </p:nvSpPr>
        <p:spPr>
          <a:xfrm>
            <a:off x="8265368" y="1745670"/>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output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文字方塊 35">
            <a:extLst>
              <a:ext uri="{FF2B5EF4-FFF2-40B4-BE49-F238E27FC236}">
                <a16:creationId xmlns:a16="http://schemas.microsoft.com/office/drawing/2014/main" id="{2C8B8A8F-3F13-835D-DBCF-1CA37F33DCDD}"/>
              </a:ext>
            </a:extLst>
          </p:cNvPr>
          <p:cNvSpPr txBox="1"/>
          <p:nvPr/>
        </p:nvSpPr>
        <p:spPr>
          <a:xfrm>
            <a:off x="4166619" y="1457226"/>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Reasoning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橢圓 8">
            <a:extLst>
              <a:ext uri="{FF2B5EF4-FFF2-40B4-BE49-F238E27FC236}">
                <a16:creationId xmlns:a16="http://schemas.microsoft.com/office/drawing/2014/main" id="{03693753-7CC8-B872-4749-BCE3FC8C80DB}"/>
              </a:ext>
            </a:extLst>
          </p:cNvPr>
          <p:cNvSpPr/>
          <p:nvPr/>
        </p:nvSpPr>
        <p:spPr>
          <a:xfrm>
            <a:off x="8617015" y="2278686"/>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橢圓 10">
            <a:extLst>
              <a:ext uri="{FF2B5EF4-FFF2-40B4-BE49-F238E27FC236}">
                <a16:creationId xmlns:a16="http://schemas.microsoft.com/office/drawing/2014/main" id="{A51C5A5F-4D00-1E92-974E-901F06493812}"/>
              </a:ext>
            </a:extLst>
          </p:cNvPr>
          <p:cNvSpPr/>
          <p:nvPr/>
        </p:nvSpPr>
        <p:spPr>
          <a:xfrm>
            <a:off x="9158896" y="2278686"/>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0" name="橢圓 39">
            <a:extLst>
              <a:ext uri="{FF2B5EF4-FFF2-40B4-BE49-F238E27FC236}">
                <a16:creationId xmlns:a16="http://schemas.microsoft.com/office/drawing/2014/main" id="{8086547F-9DC5-E97F-E3E1-DFA7528F7AB6}"/>
              </a:ext>
            </a:extLst>
          </p:cNvPr>
          <p:cNvSpPr/>
          <p:nvPr/>
        </p:nvSpPr>
        <p:spPr>
          <a:xfrm>
            <a:off x="10242658" y="2278686"/>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2" name="橢圓 41">
            <a:extLst>
              <a:ext uri="{FF2B5EF4-FFF2-40B4-BE49-F238E27FC236}">
                <a16:creationId xmlns:a16="http://schemas.microsoft.com/office/drawing/2014/main" id="{4EA880FA-574E-FF21-7BD7-48799916AB2B}"/>
              </a:ext>
            </a:extLst>
          </p:cNvPr>
          <p:cNvSpPr/>
          <p:nvPr/>
        </p:nvSpPr>
        <p:spPr>
          <a:xfrm>
            <a:off x="10784537" y="2278686"/>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6" name="文字方塊 5">
            <a:extLst>
              <a:ext uri="{FF2B5EF4-FFF2-40B4-BE49-F238E27FC236}">
                <a16:creationId xmlns:a16="http://schemas.microsoft.com/office/drawing/2014/main" id="{CF7DA49B-FE97-9021-0A11-CC8D9BC816B0}"/>
              </a:ext>
            </a:extLst>
          </p:cNvPr>
          <p:cNvSpPr txBox="1"/>
          <p:nvPr/>
        </p:nvSpPr>
        <p:spPr>
          <a:xfrm>
            <a:off x="7435702" y="288177"/>
            <a:ext cx="4530149" cy="120032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(Actually, text-speech hybrid generation is used, but do not show the text token here.)</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文字方塊 6">
            <a:extLst>
              <a:ext uri="{FF2B5EF4-FFF2-40B4-BE49-F238E27FC236}">
                <a16:creationId xmlns:a16="http://schemas.microsoft.com/office/drawing/2014/main" id="{B92A6E46-C9BF-3401-D507-E13956898877}"/>
              </a:ext>
            </a:extLst>
          </p:cNvPr>
          <p:cNvSpPr txBox="1"/>
          <p:nvPr/>
        </p:nvSpPr>
        <p:spPr>
          <a:xfrm>
            <a:off x="3425906" y="1794820"/>
            <a:ext cx="45433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token, not shown to users)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橢圓 9">
            <a:extLst>
              <a:ext uri="{FF2B5EF4-FFF2-40B4-BE49-F238E27FC236}">
                <a16:creationId xmlns:a16="http://schemas.microsoft.com/office/drawing/2014/main" id="{E00719A9-CE19-C6C6-A4D3-3FA936FB428A}"/>
              </a:ext>
            </a:extLst>
          </p:cNvPr>
          <p:cNvSpPr/>
          <p:nvPr/>
        </p:nvSpPr>
        <p:spPr>
          <a:xfrm>
            <a:off x="9700777" y="2278686"/>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 name="橢圓 11">
            <a:extLst>
              <a:ext uri="{FF2B5EF4-FFF2-40B4-BE49-F238E27FC236}">
                <a16:creationId xmlns:a16="http://schemas.microsoft.com/office/drawing/2014/main" id="{67C7F43F-16A1-02AF-6EAE-4C32F2790B8A}"/>
              </a:ext>
            </a:extLst>
          </p:cNvPr>
          <p:cNvSpPr/>
          <p:nvPr/>
        </p:nvSpPr>
        <p:spPr>
          <a:xfrm>
            <a:off x="8075134" y="2278686"/>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 name="橢圓 12">
            <a:extLst>
              <a:ext uri="{FF2B5EF4-FFF2-40B4-BE49-F238E27FC236}">
                <a16:creationId xmlns:a16="http://schemas.microsoft.com/office/drawing/2014/main" id="{83A56DF5-8A7C-8B7E-C004-327656B2DE68}"/>
              </a:ext>
            </a:extLst>
          </p:cNvPr>
          <p:cNvSpPr/>
          <p:nvPr/>
        </p:nvSpPr>
        <p:spPr>
          <a:xfrm>
            <a:off x="1569426" y="494085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4" name="橢圓 13">
            <a:extLst>
              <a:ext uri="{FF2B5EF4-FFF2-40B4-BE49-F238E27FC236}">
                <a16:creationId xmlns:a16="http://schemas.microsoft.com/office/drawing/2014/main" id="{40598BFA-FE86-BA43-DC04-99124F78209B}"/>
              </a:ext>
            </a:extLst>
          </p:cNvPr>
          <p:cNvSpPr/>
          <p:nvPr/>
        </p:nvSpPr>
        <p:spPr>
          <a:xfrm>
            <a:off x="2111307" y="494085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橢圓 16">
            <a:extLst>
              <a:ext uri="{FF2B5EF4-FFF2-40B4-BE49-F238E27FC236}">
                <a16:creationId xmlns:a16="http://schemas.microsoft.com/office/drawing/2014/main" id="{54A60946-3EDB-A231-32FA-904BC2F53A9C}"/>
              </a:ext>
            </a:extLst>
          </p:cNvPr>
          <p:cNvSpPr/>
          <p:nvPr/>
        </p:nvSpPr>
        <p:spPr>
          <a:xfrm>
            <a:off x="2653188" y="494085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8" name="橢圓 17">
            <a:extLst>
              <a:ext uri="{FF2B5EF4-FFF2-40B4-BE49-F238E27FC236}">
                <a16:creationId xmlns:a16="http://schemas.microsoft.com/office/drawing/2014/main" id="{9E90B959-B6B9-3DA6-D0E3-A4C621D69C51}"/>
              </a:ext>
            </a:extLst>
          </p:cNvPr>
          <p:cNvSpPr/>
          <p:nvPr/>
        </p:nvSpPr>
        <p:spPr>
          <a:xfrm>
            <a:off x="1027545" y="494085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文字方塊 7">
            <a:extLst>
              <a:ext uri="{FF2B5EF4-FFF2-40B4-BE49-F238E27FC236}">
                <a16:creationId xmlns:a16="http://schemas.microsoft.com/office/drawing/2014/main" id="{0EA9E071-E7BB-56DE-DB92-3ED308C133C1}"/>
              </a:ext>
            </a:extLst>
          </p:cNvPr>
          <p:cNvSpPr txBox="1"/>
          <p:nvPr/>
        </p:nvSpPr>
        <p:spPr>
          <a:xfrm>
            <a:off x="5002795" y="4714196"/>
            <a:ext cx="6096000" cy="361637"/>
          </a:xfrm>
          <a:prstGeom prst="rect">
            <a:avLst/>
          </a:prstGeom>
          <a:noFill/>
        </p:spPr>
        <p:txBody>
          <a:bodyPr wrap="square">
            <a:spAutoFit/>
          </a:bodyPr>
          <a:lstStyle/>
          <a:p>
            <a:pPr algn="l">
              <a:lnSpc>
                <a:spcPts val="2099"/>
              </a:lnSpc>
              <a:spcAft>
                <a:spcPts val="900"/>
              </a:spcAft>
              <a:buNone/>
            </a:pPr>
            <a:r>
              <a:rPr lang="en-US" altLang="zh-TW" sz="2400" i="0" dirty="0">
                <a:solidFill>
                  <a:srgbClr val="000000"/>
                </a:solidFill>
                <a:effectLst/>
                <a:latin typeface="Lucida Grande"/>
              </a:rPr>
              <a:t>Audio-Reasoner</a:t>
            </a:r>
          </a:p>
        </p:txBody>
      </p:sp>
      <p:sp>
        <p:nvSpPr>
          <p:cNvPr id="16" name="文字方塊 15">
            <a:extLst>
              <a:ext uri="{FF2B5EF4-FFF2-40B4-BE49-F238E27FC236}">
                <a16:creationId xmlns:a16="http://schemas.microsoft.com/office/drawing/2014/main" id="{4D713A7B-08FD-E389-EF3A-CF9B5E86B46D}"/>
              </a:ext>
            </a:extLst>
          </p:cNvPr>
          <p:cNvSpPr txBox="1"/>
          <p:nvPr/>
        </p:nvSpPr>
        <p:spPr>
          <a:xfrm>
            <a:off x="7147033" y="5088965"/>
            <a:ext cx="6096000" cy="369332"/>
          </a:xfrm>
          <a:prstGeom prst="rect">
            <a:avLst/>
          </a:prstGeom>
          <a:noFill/>
        </p:spPr>
        <p:txBody>
          <a:bodyPr wrap="square">
            <a:spAutoFit/>
          </a:bodyPr>
          <a:lstStyle/>
          <a:p>
            <a:r>
              <a:rPr lang="zh-TW" altLang="en-US" dirty="0"/>
              <a:t>https://arxiv.org/abs/2503.02318</a:t>
            </a:r>
          </a:p>
        </p:txBody>
      </p:sp>
      <p:sp>
        <p:nvSpPr>
          <p:cNvPr id="27" name="文字方塊 26">
            <a:extLst>
              <a:ext uri="{FF2B5EF4-FFF2-40B4-BE49-F238E27FC236}">
                <a16:creationId xmlns:a16="http://schemas.microsoft.com/office/drawing/2014/main" id="{027C8206-5349-D26B-6B6E-D91FF49339BB}"/>
              </a:ext>
            </a:extLst>
          </p:cNvPr>
          <p:cNvSpPr txBox="1"/>
          <p:nvPr/>
        </p:nvSpPr>
        <p:spPr>
          <a:xfrm>
            <a:off x="5039052" y="5471430"/>
            <a:ext cx="6505574" cy="461665"/>
          </a:xfrm>
          <a:prstGeom prst="rect">
            <a:avLst/>
          </a:prstGeom>
          <a:noFill/>
        </p:spPr>
        <p:txBody>
          <a:bodyPr wrap="square">
            <a:spAutoFit/>
          </a:bodyPr>
          <a:lstStyle/>
          <a:p>
            <a:r>
              <a:rPr lang="en-US" altLang="zh-TW" sz="2400" dirty="0"/>
              <a:t>Audio-Thinker</a:t>
            </a:r>
            <a:endParaRPr lang="zh-TW" altLang="en-US" sz="2400" dirty="0"/>
          </a:p>
        </p:txBody>
      </p:sp>
      <p:sp>
        <p:nvSpPr>
          <p:cNvPr id="30" name="文字方塊 29">
            <a:extLst>
              <a:ext uri="{FF2B5EF4-FFF2-40B4-BE49-F238E27FC236}">
                <a16:creationId xmlns:a16="http://schemas.microsoft.com/office/drawing/2014/main" id="{3DD75A6B-0629-A6C0-AE81-32CE333F19E3}"/>
              </a:ext>
            </a:extLst>
          </p:cNvPr>
          <p:cNvSpPr txBox="1"/>
          <p:nvPr/>
        </p:nvSpPr>
        <p:spPr>
          <a:xfrm>
            <a:off x="7147033" y="5895401"/>
            <a:ext cx="6191250" cy="369332"/>
          </a:xfrm>
          <a:prstGeom prst="rect">
            <a:avLst/>
          </a:prstGeom>
          <a:noFill/>
        </p:spPr>
        <p:txBody>
          <a:bodyPr wrap="square">
            <a:spAutoFit/>
          </a:bodyPr>
          <a:lstStyle/>
          <a:p>
            <a:r>
              <a:rPr lang="zh-TW" altLang="en-US" dirty="0"/>
              <a:t>https://arxiv.org/abs/2508.08039</a:t>
            </a:r>
          </a:p>
        </p:txBody>
      </p:sp>
    </p:spTree>
    <p:extLst>
      <p:ext uri="{BB962C8B-B14F-4D97-AF65-F5344CB8AC3E}">
        <p14:creationId xmlns:p14="http://schemas.microsoft.com/office/powerpoint/2010/main" val="9579951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36" grpId="0"/>
      <p:bldP spid="7"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796DBF-4BE6-3BAE-DED4-F1682EB7D0B3}"/>
              </a:ext>
            </a:extLst>
          </p:cNvPr>
          <p:cNvSpPr>
            <a:spLocks noGrp="1"/>
          </p:cNvSpPr>
          <p:nvPr>
            <p:ph type="title"/>
          </p:nvPr>
        </p:nvSpPr>
        <p:spPr/>
        <p:txBody>
          <a:bodyPr/>
          <a:lstStyle/>
          <a:p>
            <a:r>
              <a:rPr lang="en-US" altLang="zh-TW" dirty="0"/>
              <a:t>Simultaneous Thinking and Talking?</a:t>
            </a:r>
            <a:endParaRPr lang="zh-TW" altLang="en-US" dirty="0"/>
          </a:p>
        </p:txBody>
      </p:sp>
      <p:sp>
        <p:nvSpPr>
          <p:cNvPr id="9" name="矩形: 圓角 8">
            <a:extLst>
              <a:ext uri="{FF2B5EF4-FFF2-40B4-BE49-F238E27FC236}">
                <a16:creationId xmlns:a16="http://schemas.microsoft.com/office/drawing/2014/main" id="{4B815FB8-EDA9-9057-1B29-2E7728D8F0E1}"/>
              </a:ext>
            </a:extLst>
          </p:cNvPr>
          <p:cNvSpPr/>
          <p:nvPr/>
        </p:nvSpPr>
        <p:spPr>
          <a:xfrm>
            <a:off x="3033804" y="215367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83154146-2136-B436-DB59-C2837EEFE28D}"/>
              </a:ext>
            </a:extLst>
          </p:cNvPr>
          <p:cNvSpPr/>
          <p:nvPr/>
        </p:nvSpPr>
        <p:spPr>
          <a:xfrm>
            <a:off x="3659102" y="215367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0624E96B-2592-9B94-4005-DF81A86E4552}"/>
              </a:ext>
            </a:extLst>
          </p:cNvPr>
          <p:cNvSpPr/>
          <p:nvPr/>
        </p:nvSpPr>
        <p:spPr>
          <a:xfrm>
            <a:off x="4284400" y="215367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F9830F75-153D-3213-D388-14F4C73BE12B}"/>
              </a:ext>
            </a:extLst>
          </p:cNvPr>
          <p:cNvSpPr/>
          <p:nvPr/>
        </p:nvSpPr>
        <p:spPr>
          <a:xfrm>
            <a:off x="4909698" y="215367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8E5B5434-47AD-BABD-D58C-5092CF764556}"/>
              </a:ext>
            </a:extLst>
          </p:cNvPr>
          <p:cNvSpPr/>
          <p:nvPr/>
        </p:nvSpPr>
        <p:spPr>
          <a:xfrm>
            <a:off x="5534996" y="215367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C397D0DF-71CD-17D3-E1D8-0839B7D06FCE}"/>
              </a:ext>
            </a:extLst>
          </p:cNvPr>
          <p:cNvSpPr/>
          <p:nvPr/>
        </p:nvSpPr>
        <p:spPr>
          <a:xfrm>
            <a:off x="6160294" y="215367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96AE4708-E200-BF56-F701-6DDF63E5B8C2}"/>
              </a:ext>
            </a:extLst>
          </p:cNvPr>
          <p:cNvSpPr/>
          <p:nvPr/>
        </p:nvSpPr>
        <p:spPr>
          <a:xfrm>
            <a:off x="6785591" y="2153677"/>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文字方塊 15">
            <a:extLst>
              <a:ext uri="{FF2B5EF4-FFF2-40B4-BE49-F238E27FC236}">
                <a16:creationId xmlns:a16="http://schemas.microsoft.com/office/drawing/2014/main" id="{E51841B9-9B9B-3409-B86F-855C00353C59}"/>
              </a:ext>
            </a:extLst>
          </p:cNvPr>
          <p:cNvSpPr txBox="1"/>
          <p:nvPr/>
        </p:nvSpPr>
        <p:spPr>
          <a:xfrm>
            <a:off x="8199522" y="1582196"/>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output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文字方塊 16">
            <a:extLst>
              <a:ext uri="{FF2B5EF4-FFF2-40B4-BE49-F238E27FC236}">
                <a16:creationId xmlns:a16="http://schemas.microsoft.com/office/drawing/2014/main" id="{A90408CA-387A-73AD-7D8F-EBE2438AE028}"/>
              </a:ext>
            </a:extLst>
          </p:cNvPr>
          <p:cNvSpPr txBox="1"/>
          <p:nvPr/>
        </p:nvSpPr>
        <p:spPr>
          <a:xfrm>
            <a:off x="3773503" y="1579773"/>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Reasoning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ACC20A58-7BA9-8EA6-813C-BACF8DEE8465}"/>
              </a:ext>
            </a:extLst>
          </p:cNvPr>
          <p:cNvSpPr/>
          <p:nvPr/>
        </p:nvSpPr>
        <p:spPr>
          <a:xfrm>
            <a:off x="3598699" y="555832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圓角 28">
            <a:extLst>
              <a:ext uri="{FF2B5EF4-FFF2-40B4-BE49-F238E27FC236}">
                <a16:creationId xmlns:a16="http://schemas.microsoft.com/office/drawing/2014/main" id="{29A7B676-2E29-B23F-F1D1-5E9C5666A3D0}"/>
              </a:ext>
            </a:extLst>
          </p:cNvPr>
          <p:cNvSpPr/>
          <p:nvPr/>
        </p:nvSpPr>
        <p:spPr>
          <a:xfrm>
            <a:off x="4264637" y="555832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63721709-3A1C-8B42-B85B-937745A7AD1E}"/>
              </a:ext>
            </a:extLst>
          </p:cNvPr>
          <p:cNvSpPr/>
          <p:nvPr/>
        </p:nvSpPr>
        <p:spPr>
          <a:xfrm>
            <a:off x="4930575" y="555832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矩形: 圓角 30">
            <a:extLst>
              <a:ext uri="{FF2B5EF4-FFF2-40B4-BE49-F238E27FC236}">
                <a16:creationId xmlns:a16="http://schemas.microsoft.com/office/drawing/2014/main" id="{5342CD15-C962-B449-DB2C-30FDE160BC0C}"/>
              </a:ext>
            </a:extLst>
          </p:cNvPr>
          <p:cNvSpPr/>
          <p:nvPr/>
        </p:nvSpPr>
        <p:spPr>
          <a:xfrm>
            <a:off x="5596513" y="555832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矩形: 圓角 31">
            <a:extLst>
              <a:ext uri="{FF2B5EF4-FFF2-40B4-BE49-F238E27FC236}">
                <a16:creationId xmlns:a16="http://schemas.microsoft.com/office/drawing/2014/main" id="{F0E49B58-E5A2-87EB-06AE-68C0E13C1A6E}"/>
              </a:ext>
            </a:extLst>
          </p:cNvPr>
          <p:cNvSpPr/>
          <p:nvPr/>
        </p:nvSpPr>
        <p:spPr>
          <a:xfrm>
            <a:off x="6262451" y="555832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矩形: 圓角 32">
            <a:extLst>
              <a:ext uri="{FF2B5EF4-FFF2-40B4-BE49-F238E27FC236}">
                <a16:creationId xmlns:a16="http://schemas.microsoft.com/office/drawing/2014/main" id="{5AB848B2-6E3C-FF19-8C5C-030F33F4C3DF}"/>
              </a:ext>
            </a:extLst>
          </p:cNvPr>
          <p:cNvSpPr/>
          <p:nvPr/>
        </p:nvSpPr>
        <p:spPr>
          <a:xfrm>
            <a:off x="6928389" y="555832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F4647E29-AD38-AF0C-8080-6900619EE1B0}"/>
              </a:ext>
            </a:extLst>
          </p:cNvPr>
          <p:cNvSpPr txBox="1"/>
          <p:nvPr/>
        </p:nvSpPr>
        <p:spPr>
          <a:xfrm>
            <a:off x="4191407" y="5935960"/>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Reasoning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文字方塊 43">
            <a:extLst>
              <a:ext uri="{FF2B5EF4-FFF2-40B4-BE49-F238E27FC236}">
                <a16:creationId xmlns:a16="http://schemas.microsoft.com/office/drawing/2014/main" id="{1736E6D1-42F0-9252-1128-15A5E4292D81}"/>
              </a:ext>
            </a:extLst>
          </p:cNvPr>
          <p:cNvSpPr txBox="1"/>
          <p:nvPr/>
        </p:nvSpPr>
        <p:spPr>
          <a:xfrm>
            <a:off x="4134258" y="4180656"/>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output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左大括弧 50">
            <a:extLst>
              <a:ext uri="{FF2B5EF4-FFF2-40B4-BE49-F238E27FC236}">
                <a16:creationId xmlns:a16="http://schemas.microsoft.com/office/drawing/2014/main" id="{DAEEE6EA-0644-F69F-CD5E-87546A327321}"/>
              </a:ext>
            </a:extLst>
          </p:cNvPr>
          <p:cNvSpPr/>
          <p:nvPr/>
        </p:nvSpPr>
        <p:spPr>
          <a:xfrm>
            <a:off x="2951252" y="3792792"/>
            <a:ext cx="519552" cy="2220260"/>
          </a:xfrm>
          <a:prstGeom prst="leftBrace">
            <a:avLst>
              <a:gd name="adj1" fmla="val 27888"/>
              <a:gd name="adj2" fmla="val 47254"/>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53" name="文字方塊 52">
            <a:extLst>
              <a:ext uri="{FF2B5EF4-FFF2-40B4-BE49-F238E27FC236}">
                <a16:creationId xmlns:a16="http://schemas.microsoft.com/office/drawing/2014/main" id="{B01ECE30-CEDC-4D25-1F8E-7FB311A8CE57}"/>
              </a:ext>
            </a:extLst>
          </p:cNvPr>
          <p:cNvSpPr txBox="1"/>
          <p:nvPr/>
        </p:nvSpPr>
        <p:spPr>
          <a:xfrm>
            <a:off x="7924362" y="3758500"/>
            <a:ext cx="388155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Do we need a new architecture to achieve it?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4" name="文字方塊 53">
            <a:extLst>
              <a:ext uri="{FF2B5EF4-FFF2-40B4-BE49-F238E27FC236}">
                <a16:creationId xmlns:a16="http://schemas.microsoft.com/office/drawing/2014/main" id="{DC8B8786-4924-9DC3-3B2D-016DD0EBB506}"/>
              </a:ext>
            </a:extLst>
          </p:cNvPr>
          <p:cNvSpPr txBox="1"/>
          <p:nvPr/>
        </p:nvSpPr>
        <p:spPr>
          <a:xfrm>
            <a:off x="9431533" y="5655142"/>
            <a:ext cx="2200675" cy="52322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NO!</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6" name="文字方塊 55">
            <a:extLst>
              <a:ext uri="{FF2B5EF4-FFF2-40B4-BE49-F238E27FC236}">
                <a16:creationId xmlns:a16="http://schemas.microsoft.com/office/drawing/2014/main" id="{2842553F-CD51-E023-719B-2DB2758DA72B}"/>
              </a:ext>
            </a:extLst>
          </p:cNvPr>
          <p:cNvSpPr txBox="1"/>
          <p:nvPr/>
        </p:nvSpPr>
        <p:spPr>
          <a:xfrm>
            <a:off x="7924362" y="4784221"/>
            <a:ext cx="3699684"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Two decoders with cross-attention?</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2050" name="Picture 2">
            <a:extLst>
              <a:ext uri="{FF2B5EF4-FFF2-40B4-BE49-F238E27FC236}">
                <a16:creationId xmlns:a16="http://schemas.microsoft.com/office/drawing/2014/main" id="{46360708-871A-959D-3218-BF3A08F01B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3284" y="2685781"/>
            <a:ext cx="776051" cy="776051"/>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a:extLst>
              <a:ext uri="{FF2B5EF4-FFF2-40B4-BE49-F238E27FC236}">
                <a16:creationId xmlns:a16="http://schemas.microsoft.com/office/drawing/2014/main" id="{8869538A-63D4-B3D3-0712-37DFBE8F6697}"/>
              </a:ext>
            </a:extLst>
          </p:cNvPr>
          <p:cNvSpPr txBox="1"/>
          <p:nvPr/>
        </p:nvSpPr>
        <p:spPr>
          <a:xfrm>
            <a:off x="6008297" y="2925088"/>
            <a:ext cx="151506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Waiting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右大括弧 6">
            <a:extLst>
              <a:ext uri="{FF2B5EF4-FFF2-40B4-BE49-F238E27FC236}">
                <a16:creationId xmlns:a16="http://schemas.microsoft.com/office/drawing/2014/main" id="{9FBBD27E-A46C-F55D-1F37-3B1C86FC967C}"/>
              </a:ext>
            </a:extLst>
          </p:cNvPr>
          <p:cNvSpPr/>
          <p:nvPr/>
        </p:nvSpPr>
        <p:spPr>
          <a:xfrm rot="5400000" flipV="1">
            <a:off x="5075162" y="487033"/>
            <a:ext cx="326090" cy="4510154"/>
          </a:xfrm>
          <a:prstGeom prst="rightBrace">
            <a:avLst>
              <a:gd name="adj1" fmla="val 18069"/>
              <a:gd name="adj2" fmla="val 87451"/>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文字方塊 7">
            <a:extLst>
              <a:ext uri="{FF2B5EF4-FFF2-40B4-BE49-F238E27FC236}">
                <a16:creationId xmlns:a16="http://schemas.microsoft.com/office/drawing/2014/main" id="{6ABCE332-8E1A-AB40-DB78-815D9333742C}"/>
              </a:ext>
            </a:extLst>
          </p:cNvPr>
          <p:cNvSpPr txBox="1"/>
          <p:nvPr/>
        </p:nvSpPr>
        <p:spPr>
          <a:xfrm>
            <a:off x="4679301" y="4842902"/>
            <a:ext cx="2440789"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Simultaneously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6" name="直線單箭頭接點 25">
            <a:extLst>
              <a:ext uri="{FF2B5EF4-FFF2-40B4-BE49-F238E27FC236}">
                <a16:creationId xmlns:a16="http://schemas.microsoft.com/office/drawing/2014/main" id="{D531F815-DEDD-D0CC-F067-709ED3EB1DF0}"/>
              </a:ext>
            </a:extLst>
          </p:cNvPr>
          <p:cNvCxnSpPr/>
          <p:nvPr/>
        </p:nvCxnSpPr>
        <p:spPr>
          <a:xfrm>
            <a:off x="7186284" y="4440022"/>
            <a:ext cx="0" cy="925800"/>
          </a:xfrm>
          <a:prstGeom prst="straightConnector1">
            <a:avLst/>
          </a:prstGeom>
          <a:ln w="57150">
            <a:solidFill>
              <a:schemeClr val="tx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橢圓 26">
            <a:extLst>
              <a:ext uri="{FF2B5EF4-FFF2-40B4-BE49-F238E27FC236}">
                <a16:creationId xmlns:a16="http://schemas.microsoft.com/office/drawing/2014/main" id="{8A610191-1E04-FDC8-2517-982CCA7B446E}"/>
              </a:ext>
            </a:extLst>
          </p:cNvPr>
          <p:cNvSpPr/>
          <p:nvPr/>
        </p:nvSpPr>
        <p:spPr>
          <a:xfrm>
            <a:off x="8358793"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4" name="橢圓 33">
            <a:extLst>
              <a:ext uri="{FF2B5EF4-FFF2-40B4-BE49-F238E27FC236}">
                <a16:creationId xmlns:a16="http://schemas.microsoft.com/office/drawing/2014/main" id="{9C98125C-3AC4-2165-3A0E-3408D6B56F2C}"/>
              </a:ext>
            </a:extLst>
          </p:cNvPr>
          <p:cNvSpPr/>
          <p:nvPr/>
        </p:nvSpPr>
        <p:spPr>
          <a:xfrm>
            <a:off x="9007354"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6" name="橢圓 35">
            <a:extLst>
              <a:ext uri="{FF2B5EF4-FFF2-40B4-BE49-F238E27FC236}">
                <a16:creationId xmlns:a16="http://schemas.microsoft.com/office/drawing/2014/main" id="{6CC89254-C0EF-FF04-C80C-13F18C6218F9}"/>
              </a:ext>
            </a:extLst>
          </p:cNvPr>
          <p:cNvSpPr/>
          <p:nvPr/>
        </p:nvSpPr>
        <p:spPr>
          <a:xfrm>
            <a:off x="10304476"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7" name="橢圓 36">
            <a:extLst>
              <a:ext uri="{FF2B5EF4-FFF2-40B4-BE49-F238E27FC236}">
                <a16:creationId xmlns:a16="http://schemas.microsoft.com/office/drawing/2014/main" id="{695A5606-AB08-6B68-EBCD-56B9131483B5}"/>
              </a:ext>
            </a:extLst>
          </p:cNvPr>
          <p:cNvSpPr/>
          <p:nvPr/>
        </p:nvSpPr>
        <p:spPr>
          <a:xfrm>
            <a:off x="10953035"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 name="橢圓 37">
            <a:extLst>
              <a:ext uri="{FF2B5EF4-FFF2-40B4-BE49-F238E27FC236}">
                <a16:creationId xmlns:a16="http://schemas.microsoft.com/office/drawing/2014/main" id="{2C18BE78-75C7-DDC0-9780-2C9377DFE4F2}"/>
              </a:ext>
            </a:extLst>
          </p:cNvPr>
          <p:cNvSpPr/>
          <p:nvPr/>
        </p:nvSpPr>
        <p:spPr>
          <a:xfrm>
            <a:off x="9655915"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9" name="橢圓 38">
            <a:extLst>
              <a:ext uri="{FF2B5EF4-FFF2-40B4-BE49-F238E27FC236}">
                <a16:creationId xmlns:a16="http://schemas.microsoft.com/office/drawing/2014/main" id="{4DC7B82C-4547-0FDD-E3B0-F7ACE78C01A5}"/>
              </a:ext>
            </a:extLst>
          </p:cNvPr>
          <p:cNvSpPr/>
          <p:nvPr/>
        </p:nvSpPr>
        <p:spPr>
          <a:xfrm>
            <a:off x="7710232"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0" name="文字方塊 39">
            <a:extLst>
              <a:ext uri="{FF2B5EF4-FFF2-40B4-BE49-F238E27FC236}">
                <a16:creationId xmlns:a16="http://schemas.microsoft.com/office/drawing/2014/main" id="{873CF8BF-5E80-B107-A35F-7A894A1AC7D8}"/>
              </a:ext>
            </a:extLst>
          </p:cNvPr>
          <p:cNvSpPr txBox="1"/>
          <p:nvPr/>
        </p:nvSpPr>
        <p:spPr>
          <a:xfrm>
            <a:off x="518220" y="2604030"/>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1" name="橢圓 40">
            <a:extLst>
              <a:ext uri="{FF2B5EF4-FFF2-40B4-BE49-F238E27FC236}">
                <a16:creationId xmlns:a16="http://schemas.microsoft.com/office/drawing/2014/main" id="{6B261962-90F5-ADBF-DA9F-077CB2F4AE2A}"/>
              </a:ext>
            </a:extLst>
          </p:cNvPr>
          <p:cNvSpPr/>
          <p:nvPr/>
        </p:nvSpPr>
        <p:spPr>
          <a:xfrm>
            <a:off x="1358721" y="2111153"/>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2" name="橢圓 41">
            <a:extLst>
              <a:ext uri="{FF2B5EF4-FFF2-40B4-BE49-F238E27FC236}">
                <a16:creationId xmlns:a16="http://schemas.microsoft.com/office/drawing/2014/main" id="{CD7061F0-57AA-C0B8-05C6-78933088687F}"/>
              </a:ext>
            </a:extLst>
          </p:cNvPr>
          <p:cNvSpPr/>
          <p:nvPr/>
        </p:nvSpPr>
        <p:spPr>
          <a:xfrm>
            <a:off x="1900602" y="2111153"/>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3" name="橢圓 42">
            <a:extLst>
              <a:ext uri="{FF2B5EF4-FFF2-40B4-BE49-F238E27FC236}">
                <a16:creationId xmlns:a16="http://schemas.microsoft.com/office/drawing/2014/main" id="{45C6C8E6-1A5C-8863-6BA1-9E8E2E26C797}"/>
              </a:ext>
            </a:extLst>
          </p:cNvPr>
          <p:cNvSpPr/>
          <p:nvPr/>
        </p:nvSpPr>
        <p:spPr>
          <a:xfrm>
            <a:off x="2442483" y="2111153"/>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2" name="橢圓 51">
            <a:extLst>
              <a:ext uri="{FF2B5EF4-FFF2-40B4-BE49-F238E27FC236}">
                <a16:creationId xmlns:a16="http://schemas.microsoft.com/office/drawing/2014/main" id="{93B754A8-B637-892C-C1BC-C13A68EA7070}"/>
              </a:ext>
            </a:extLst>
          </p:cNvPr>
          <p:cNvSpPr/>
          <p:nvPr/>
        </p:nvSpPr>
        <p:spPr>
          <a:xfrm>
            <a:off x="816840" y="2111153"/>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5" name="文字方塊 54">
            <a:extLst>
              <a:ext uri="{FF2B5EF4-FFF2-40B4-BE49-F238E27FC236}">
                <a16:creationId xmlns:a16="http://schemas.microsoft.com/office/drawing/2014/main" id="{7AABE983-CA4F-6341-4B99-3F5FD4E44C3F}"/>
              </a:ext>
            </a:extLst>
          </p:cNvPr>
          <p:cNvSpPr txBox="1"/>
          <p:nvPr/>
        </p:nvSpPr>
        <p:spPr>
          <a:xfrm>
            <a:off x="556315" y="5155779"/>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7" name="橢圓 56">
            <a:extLst>
              <a:ext uri="{FF2B5EF4-FFF2-40B4-BE49-F238E27FC236}">
                <a16:creationId xmlns:a16="http://schemas.microsoft.com/office/drawing/2014/main" id="{864CFD1E-AB87-EE30-7D5B-5C579FC2A05B}"/>
              </a:ext>
            </a:extLst>
          </p:cNvPr>
          <p:cNvSpPr/>
          <p:nvPr/>
        </p:nvSpPr>
        <p:spPr>
          <a:xfrm>
            <a:off x="1396816" y="466290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8" name="橢圓 57">
            <a:extLst>
              <a:ext uri="{FF2B5EF4-FFF2-40B4-BE49-F238E27FC236}">
                <a16:creationId xmlns:a16="http://schemas.microsoft.com/office/drawing/2014/main" id="{531A05E3-F198-DDEA-E224-458339D15CD0}"/>
              </a:ext>
            </a:extLst>
          </p:cNvPr>
          <p:cNvSpPr/>
          <p:nvPr/>
        </p:nvSpPr>
        <p:spPr>
          <a:xfrm>
            <a:off x="1938697" y="466290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9" name="橢圓 58">
            <a:extLst>
              <a:ext uri="{FF2B5EF4-FFF2-40B4-BE49-F238E27FC236}">
                <a16:creationId xmlns:a16="http://schemas.microsoft.com/office/drawing/2014/main" id="{EA0385F1-6E98-42B6-826D-CAED72886D67}"/>
              </a:ext>
            </a:extLst>
          </p:cNvPr>
          <p:cNvSpPr/>
          <p:nvPr/>
        </p:nvSpPr>
        <p:spPr>
          <a:xfrm>
            <a:off x="2480578" y="466290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60" name="橢圓 59">
            <a:extLst>
              <a:ext uri="{FF2B5EF4-FFF2-40B4-BE49-F238E27FC236}">
                <a16:creationId xmlns:a16="http://schemas.microsoft.com/office/drawing/2014/main" id="{0FA44F0A-5910-1750-9C62-79E660547C85}"/>
              </a:ext>
            </a:extLst>
          </p:cNvPr>
          <p:cNvSpPr/>
          <p:nvPr/>
        </p:nvSpPr>
        <p:spPr>
          <a:xfrm>
            <a:off x="854935" y="466290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2052" name="群組 2051">
            <a:extLst>
              <a:ext uri="{FF2B5EF4-FFF2-40B4-BE49-F238E27FC236}">
                <a16:creationId xmlns:a16="http://schemas.microsoft.com/office/drawing/2014/main" id="{607EF4C7-B1E5-C172-4ABD-6C3ADBAB4F6A}"/>
              </a:ext>
            </a:extLst>
          </p:cNvPr>
          <p:cNvGrpSpPr/>
          <p:nvPr/>
        </p:nvGrpSpPr>
        <p:grpSpPr>
          <a:xfrm>
            <a:off x="3697287" y="3859169"/>
            <a:ext cx="3602803" cy="360000"/>
            <a:chOff x="3697287" y="3859169"/>
            <a:chExt cx="3602803" cy="360000"/>
          </a:xfrm>
        </p:grpSpPr>
        <p:sp>
          <p:nvSpPr>
            <p:cNvPr id="61" name="橢圓 60">
              <a:extLst>
                <a:ext uri="{FF2B5EF4-FFF2-40B4-BE49-F238E27FC236}">
                  <a16:creationId xmlns:a16="http://schemas.microsoft.com/office/drawing/2014/main" id="{A16CCABC-90CE-1600-3262-8656729E3AC3}"/>
                </a:ext>
              </a:extLst>
            </p:cNvPr>
            <p:cNvSpPr/>
            <p:nvPr/>
          </p:nvSpPr>
          <p:spPr>
            <a:xfrm>
              <a:off x="4345848" y="385916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62" name="橢圓 61">
              <a:extLst>
                <a:ext uri="{FF2B5EF4-FFF2-40B4-BE49-F238E27FC236}">
                  <a16:creationId xmlns:a16="http://schemas.microsoft.com/office/drawing/2014/main" id="{5075450C-A356-135B-CEA1-029DAECD79EB}"/>
                </a:ext>
              </a:extLst>
            </p:cNvPr>
            <p:cNvSpPr/>
            <p:nvPr/>
          </p:nvSpPr>
          <p:spPr>
            <a:xfrm>
              <a:off x="4994409" y="385916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63" name="橢圓 62">
              <a:extLst>
                <a:ext uri="{FF2B5EF4-FFF2-40B4-BE49-F238E27FC236}">
                  <a16:creationId xmlns:a16="http://schemas.microsoft.com/office/drawing/2014/main" id="{6034EF97-B091-A4C4-9753-75422E4E282B}"/>
                </a:ext>
              </a:extLst>
            </p:cNvPr>
            <p:cNvSpPr/>
            <p:nvPr/>
          </p:nvSpPr>
          <p:spPr>
            <a:xfrm>
              <a:off x="6291531" y="385916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048" name="橢圓 2047">
              <a:extLst>
                <a:ext uri="{FF2B5EF4-FFF2-40B4-BE49-F238E27FC236}">
                  <a16:creationId xmlns:a16="http://schemas.microsoft.com/office/drawing/2014/main" id="{BB98909E-4EC0-828C-EDFA-5CDE65B624F9}"/>
                </a:ext>
              </a:extLst>
            </p:cNvPr>
            <p:cNvSpPr/>
            <p:nvPr/>
          </p:nvSpPr>
          <p:spPr>
            <a:xfrm>
              <a:off x="6940090" y="385916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049" name="橢圓 2048">
              <a:extLst>
                <a:ext uri="{FF2B5EF4-FFF2-40B4-BE49-F238E27FC236}">
                  <a16:creationId xmlns:a16="http://schemas.microsoft.com/office/drawing/2014/main" id="{31F9A083-159E-D35F-BFD3-695535DEA771}"/>
                </a:ext>
              </a:extLst>
            </p:cNvPr>
            <p:cNvSpPr/>
            <p:nvPr/>
          </p:nvSpPr>
          <p:spPr>
            <a:xfrm>
              <a:off x="5642970" y="385916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051" name="橢圓 2050">
              <a:extLst>
                <a:ext uri="{FF2B5EF4-FFF2-40B4-BE49-F238E27FC236}">
                  <a16:creationId xmlns:a16="http://schemas.microsoft.com/office/drawing/2014/main" id="{9E4EAFE1-03E1-60AF-249D-F72DD0FEE699}"/>
                </a:ext>
              </a:extLst>
            </p:cNvPr>
            <p:cNvSpPr/>
            <p:nvPr/>
          </p:nvSpPr>
          <p:spPr>
            <a:xfrm>
              <a:off x="3697287" y="3859169"/>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Tree>
    <p:extLst>
      <p:ext uri="{BB962C8B-B14F-4D97-AF65-F5344CB8AC3E}">
        <p14:creationId xmlns:p14="http://schemas.microsoft.com/office/powerpoint/2010/main" val="35274819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5" grpId="0"/>
      <p:bldP spid="44" grpId="0"/>
      <p:bldP spid="51" grpId="0" animBg="1"/>
      <p:bldP spid="53" grpId="0"/>
      <p:bldP spid="54" grpId="0"/>
      <p:bldP spid="56" grpId="0"/>
      <p:bldP spid="4" grpId="0"/>
      <p:bldP spid="7" grpId="0" animBg="1"/>
      <p:bldP spid="8"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AC1561-4A57-3B17-41D8-4637E4070C52}"/>
              </a:ext>
            </a:extLst>
          </p:cNvPr>
          <p:cNvSpPr>
            <a:spLocks noGrp="1"/>
          </p:cNvSpPr>
          <p:nvPr>
            <p:ph type="title"/>
          </p:nvPr>
        </p:nvSpPr>
        <p:spPr/>
        <p:txBody>
          <a:bodyPr/>
          <a:lstStyle/>
          <a:p>
            <a:endParaRPr lang="zh-TW" altLang="en-US"/>
          </a:p>
        </p:txBody>
      </p:sp>
      <p:pic>
        <p:nvPicPr>
          <p:cNvPr id="5" name="圖片 4">
            <a:extLst>
              <a:ext uri="{FF2B5EF4-FFF2-40B4-BE49-F238E27FC236}">
                <a16:creationId xmlns:a16="http://schemas.microsoft.com/office/drawing/2014/main" id="{68C74DED-993F-F4E9-8EA6-03C7E44C2A30}"/>
              </a:ext>
            </a:extLst>
          </p:cNvPr>
          <p:cNvPicPr>
            <a:picLocks noChangeAspect="1"/>
          </p:cNvPicPr>
          <p:nvPr/>
        </p:nvPicPr>
        <p:blipFill>
          <a:blip r:embed="rId2"/>
          <a:stretch>
            <a:fillRect/>
          </a:stretch>
        </p:blipFill>
        <p:spPr>
          <a:xfrm>
            <a:off x="370427" y="602795"/>
            <a:ext cx="11451146" cy="3541172"/>
          </a:xfrm>
          <a:prstGeom prst="rect">
            <a:avLst/>
          </a:prstGeom>
        </p:spPr>
      </p:pic>
      <p:sp>
        <p:nvSpPr>
          <p:cNvPr id="7" name="文字方塊 6">
            <a:extLst>
              <a:ext uri="{FF2B5EF4-FFF2-40B4-BE49-F238E27FC236}">
                <a16:creationId xmlns:a16="http://schemas.microsoft.com/office/drawing/2014/main" id="{70748669-F670-1C3C-E5E6-26F556AAE753}"/>
              </a:ext>
            </a:extLst>
          </p:cNvPr>
          <p:cNvSpPr txBox="1"/>
          <p:nvPr/>
        </p:nvSpPr>
        <p:spPr>
          <a:xfrm>
            <a:off x="370427" y="4381637"/>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https://arxiv.org/abs/2507.15375</a:t>
            </a:r>
          </a:p>
        </p:txBody>
      </p:sp>
      <p:pic>
        <p:nvPicPr>
          <p:cNvPr id="2050" name="Picture 2" descr="未提供相片說明。">
            <a:extLst>
              <a:ext uri="{FF2B5EF4-FFF2-40B4-BE49-F238E27FC236}">
                <a16:creationId xmlns:a16="http://schemas.microsoft.com/office/drawing/2014/main" id="{386C09E5-CB43-0A6A-55C3-A883F94D1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0235" y="4381637"/>
            <a:ext cx="2523565" cy="1892674"/>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a:extLst>
              <a:ext uri="{FF2B5EF4-FFF2-40B4-BE49-F238E27FC236}">
                <a16:creationId xmlns:a16="http://schemas.microsoft.com/office/drawing/2014/main" id="{B45B2790-47EB-BA79-F393-428927A3AE3B}"/>
              </a:ext>
            </a:extLst>
          </p:cNvPr>
          <p:cNvSpPr txBox="1"/>
          <p:nvPr/>
        </p:nvSpPr>
        <p:spPr>
          <a:xfrm>
            <a:off x="5558119" y="5327974"/>
            <a:ext cx="3043518" cy="83099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Cheng-Han Chiang and Microsoft Researchers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0812321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23E3E-3908-157F-3991-29683328225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66EFA2A-D3C0-EE5E-42D1-A262B5F52C10}"/>
              </a:ext>
            </a:extLst>
          </p:cNvPr>
          <p:cNvSpPr>
            <a:spLocks noGrp="1"/>
          </p:cNvSpPr>
          <p:nvPr>
            <p:ph type="title"/>
          </p:nvPr>
        </p:nvSpPr>
        <p:spPr/>
        <p:txBody>
          <a:bodyPr/>
          <a:lstStyle/>
          <a:p>
            <a:r>
              <a:rPr lang="en-US" altLang="zh-TW" dirty="0"/>
              <a:t>STITCH: Simultaneous Thinking and Talking with Chunked Reasoning </a:t>
            </a:r>
            <a:endParaRPr lang="zh-TW" altLang="en-US" dirty="0"/>
          </a:p>
        </p:txBody>
      </p:sp>
      <p:sp>
        <p:nvSpPr>
          <p:cNvPr id="31" name="文字方塊 30">
            <a:extLst>
              <a:ext uri="{FF2B5EF4-FFF2-40B4-BE49-F238E27FC236}">
                <a16:creationId xmlns:a16="http://schemas.microsoft.com/office/drawing/2014/main" id="{806935F6-5012-2D17-120B-A760ED1BD9D8}"/>
              </a:ext>
            </a:extLst>
          </p:cNvPr>
          <p:cNvSpPr txBox="1"/>
          <p:nvPr/>
        </p:nvSpPr>
        <p:spPr>
          <a:xfrm>
            <a:off x="1810031" y="4079523"/>
            <a:ext cx="20694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err="1">
                <a:ln>
                  <a:noFill/>
                </a:ln>
                <a:solidFill>
                  <a:prstClr val="black"/>
                </a:solidFill>
                <a:effectLst/>
                <a:uLnTx/>
                <a:uFillTx/>
                <a:latin typeface="Calibri" panose="020F0502020204030204"/>
                <a:ea typeface="微軟正黑體" panose="020B0604030504040204" pitchFamily="34" charset="-120"/>
                <a:cs typeface="+mn-cs"/>
              </a:rPr>
              <a:t>Detokenizer</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grpSp>
        <p:nvGrpSpPr>
          <p:cNvPr id="32" name="群組 31">
            <a:extLst>
              <a:ext uri="{FF2B5EF4-FFF2-40B4-BE49-F238E27FC236}">
                <a16:creationId xmlns:a16="http://schemas.microsoft.com/office/drawing/2014/main" id="{7C6FA98F-1286-B784-FB7F-3CAD5636D318}"/>
              </a:ext>
            </a:extLst>
          </p:cNvPr>
          <p:cNvGrpSpPr/>
          <p:nvPr/>
        </p:nvGrpSpPr>
        <p:grpSpPr>
          <a:xfrm>
            <a:off x="3296877" y="5013789"/>
            <a:ext cx="6241029" cy="1069326"/>
            <a:chOff x="393073" y="5022255"/>
            <a:chExt cx="2117030" cy="878286"/>
          </a:xfrm>
        </p:grpSpPr>
        <p:pic>
          <p:nvPicPr>
            <p:cNvPr id="33"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8A336594-B157-A25F-81C1-4909DAFC41CC}"/>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34"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A4301CF3-33D0-CD67-4E6F-1B0AA54DA980}"/>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grpSp>
        <p:nvGrpSpPr>
          <p:cNvPr id="35" name="群組 34">
            <a:extLst>
              <a:ext uri="{FF2B5EF4-FFF2-40B4-BE49-F238E27FC236}">
                <a16:creationId xmlns:a16="http://schemas.microsoft.com/office/drawing/2014/main" id="{CE77118C-2590-F6F6-90FB-A0C380FE01AA}"/>
              </a:ext>
            </a:extLst>
          </p:cNvPr>
          <p:cNvGrpSpPr/>
          <p:nvPr/>
        </p:nvGrpSpPr>
        <p:grpSpPr>
          <a:xfrm>
            <a:off x="9646448" y="5000617"/>
            <a:ext cx="4856563" cy="1069326"/>
            <a:chOff x="393073" y="5022255"/>
            <a:chExt cx="2117030" cy="878286"/>
          </a:xfrm>
        </p:grpSpPr>
        <p:pic>
          <p:nvPicPr>
            <p:cNvPr id="36"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24D4D5EB-B3E8-5C0B-58D9-D625B881A3ED}"/>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37"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A99DDEA-CCD8-5461-787D-6E9ABEBD891E}"/>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pic>
        <p:nvPicPr>
          <p:cNvPr id="1026" name="Picture 2">
            <a:extLst>
              <a:ext uri="{FF2B5EF4-FFF2-40B4-BE49-F238E27FC236}">
                <a16:creationId xmlns:a16="http://schemas.microsoft.com/office/drawing/2014/main" id="{B86EB009-CEDD-8158-C7F6-D835D9124B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6209" y="4055376"/>
            <a:ext cx="721379" cy="721379"/>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直線單箭頭接點 41">
            <a:extLst>
              <a:ext uri="{FF2B5EF4-FFF2-40B4-BE49-F238E27FC236}">
                <a16:creationId xmlns:a16="http://schemas.microsoft.com/office/drawing/2014/main" id="{C6F121B1-5F2D-E773-C80D-920D09532797}"/>
              </a:ext>
            </a:extLst>
          </p:cNvPr>
          <p:cNvCxnSpPr>
            <a:cxnSpLocks/>
          </p:cNvCxnSpPr>
          <p:nvPr/>
        </p:nvCxnSpPr>
        <p:spPr>
          <a:xfrm>
            <a:off x="2171461" y="4672335"/>
            <a:ext cx="1270429" cy="7724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29D1903A-0850-46C8-88AC-F6429ECE80AC}"/>
              </a:ext>
            </a:extLst>
          </p:cNvPr>
          <p:cNvSpPr txBox="1"/>
          <p:nvPr/>
        </p:nvSpPr>
        <p:spPr>
          <a:xfrm>
            <a:off x="6383552" y="1852653"/>
            <a:ext cx="584685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On an A100, this only takes ~0.5 seconds.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387E7DBC-4BE4-0FE0-69A1-E28968F39C22}"/>
              </a:ext>
            </a:extLst>
          </p:cNvPr>
          <p:cNvSpPr txBox="1"/>
          <p:nvPr/>
        </p:nvSpPr>
        <p:spPr>
          <a:xfrm>
            <a:off x="5183725" y="5883115"/>
            <a:ext cx="207264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 seconds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1" name="矩形: 圓角 50">
            <a:extLst>
              <a:ext uri="{FF2B5EF4-FFF2-40B4-BE49-F238E27FC236}">
                <a16:creationId xmlns:a16="http://schemas.microsoft.com/office/drawing/2014/main" id="{FB2FB660-C70A-8E3F-0665-97432A6BCD61}"/>
              </a:ext>
            </a:extLst>
          </p:cNvPr>
          <p:cNvSpPr/>
          <p:nvPr/>
        </p:nvSpPr>
        <p:spPr>
          <a:xfrm>
            <a:off x="3274237" y="2892111"/>
            <a:ext cx="3357200" cy="461665"/>
          </a:xfrm>
          <a:prstGeom prst="roundRect">
            <a:avLst>
              <a:gd name="adj" fmla="val 11705"/>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 name="橢圓 2">
            <a:extLst>
              <a:ext uri="{FF2B5EF4-FFF2-40B4-BE49-F238E27FC236}">
                <a16:creationId xmlns:a16="http://schemas.microsoft.com/office/drawing/2014/main" id="{51610D72-61DF-26B7-1B9A-4065201B3A87}"/>
              </a:ext>
            </a:extLst>
          </p:cNvPr>
          <p:cNvSpPr/>
          <p:nvPr/>
        </p:nvSpPr>
        <p:spPr>
          <a:xfrm>
            <a:off x="1162900" y="288028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 name="橢圓 3">
            <a:extLst>
              <a:ext uri="{FF2B5EF4-FFF2-40B4-BE49-F238E27FC236}">
                <a16:creationId xmlns:a16="http://schemas.microsoft.com/office/drawing/2014/main" id="{90E15EDB-AF0C-39EF-DD0D-C495B1BD852F}"/>
              </a:ext>
            </a:extLst>
          </p:cNvPr>
          <p:cNvSpPr/>
          <p:nvPr/>
        </p:nvSpPr>
        <p:spPr>
          <a:xfrm>
            <a:off x="1811461" y="288028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7" name="橢圓 6">
            <a:extLst>
              <a:ext uri="{FF2B5EF4-FFF2-40B4-BE49-F238E27FC236}">
                <a16:creationId xmlns:a16="http://schemas.microsoft.com/office/drawing/2014/main" id="{8F2F2BE4-641A-60DB-8FDB-99BF0D24A5BF}"/>
              </a:ext>
            </a:extLst>
          </p:cNvPr>
          <p:cNvSpPr/>
          <p:nvPr/>
        </p:nvSpPr>
        <p:spPr>
          <a:xfrm>
            <a:off x="2460022" y="288028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橢圓 7">
            <a:extLst>
              <a:ext uri="{FF2B5EF4-FFF2-40B4-BE49-F238E27FC236}">
                <a16:creationId xmlns:a16="http://schemas.microsoft.com/office/drawing/2014/main" id="{77E1AC03-5E96-641A-B40B-BB2DF06CF599}"/>
              </a:ext>
            </a:extLst>
          </p:cNvPr>
          <p:cNvSpPr/>
          <p:nvPr/>
        </p:nvSpPr>
        <p:spPr>
          <a:xfrm>
            <a:off x="514339" y="288028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id="{C1D60369-079B-00E2-23B7-DF90587B2030}"/>
              </a:ext>
            </a:extLst>
          </p:cNvPr>
          <p:cNvSpPr txBox="1"/>
          <p:nvPr/>
        </p:nvSpPr>
        <p:spPr>
          <a:xfrm>
            <a:off x="697846" y="2328728"/>
            <a:ext cx="18969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39 tokens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橢圓 11">
            <a:extLst>
              <a:ext uri="{FF2B5EF4-FFF2-40B4-BE49-F238E27FC236}">
                <a16:creationId xmlns:a16="http://schemas.microsoft.com/office/drawing/2014/main" id="{300DB8A6-7186-3E76-014B-C75FEB317CCC}"/>
              </a:ext>
            </a:extLst>
          </p:cNvPr>
          <p:cNvSpPr/>
          <p:nvPr/>
        </p:nvSpPr>
        <p:spPr>
          <a:xfrm>
            <a:off x="7499021" y="292468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橢圓 16">
            <a:extLst>
              <a:ext uri="{FF2B5EF4-FFF2-40B4-BE49-F238E27FC236}">
                <a16:creationId xmlns:a16="http://schemas.microsoft.com/office/drawing/2014/main" id="{F212DE96-06CE-3AFE-7455-16003CE6B7AF}"/>
              </a:ext>
            </a:extLst>
          </p:cNvPr>
          <p:cNvSpPr/>
          <p:nvPr/>
        </p:nvSpPr>
        <p:spPr>
          <a:xfrm>
            <a:off x="8147582" y="292468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3" name="橢圓 22">
            <a:extLst>
              <a:ext uri="{FF2B5EF4-FFF2-40B4-BE49-F238E27FC236}">
                <a16:creationId xmlns:a16="http://schemas.microsoft.com/office/drawing/2014/main" id="{CE74E4DE-9203-77EA-4F7F-9FF8722C843D}"/>
              </a:ext>
            </a:extLst>
          </p:cNvPr>
          <p:cNvSpPr/>
          <p:nvPr/>
        </p:nvSpPr>
        <p:spPr>
          <a:xfrm>
            <a:off x="8796143" y="292468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 name="橢圓 23">
            <a:extLst>
              <a:ext uri="{FF2B5EF4-FFF2-40B4-BE49-F238E27FC236}">
                <a16:creationId xmlns:a16="http://schemas.microsoft.com/office/drawing/2014/main" id="{F8FB6A32-D72E-CDDC-B543-C0FD074008CF}"/>
              </a:ext>
            </a:extLst>
          </p:cNvPr>
          <p:cNvSpPr/>
          <p:nvPr/>
        </p:nvSpPr>
        <p:spPr>
          <a:xfrm>
            <a:off x="6850460" y="292468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5" name="直線單箭頭接點 24">
            <a:extLst>
              <a:ext uri="{FF2B5EF4-FFF2-40B4-BE49-F238E27FC236}">
                <a16:creationId xmlns:a16="http://schemas.microsoft.com/office/drawing/2014/main" id="{2FCE6556-A00D-79A3-F0BF-2C2EF1FA4090}"/>
              </a:ext>
            </a:extLst>
          </p:cNvPr>
          <p:cNvCxnSpPr>
            <a:cxnSpLocks/>
          </p:cNvCxnSpPr>
          <p:nvPr/>
        </p:nvCxnSpPr>
        <p:spPr>
          <a:xfrm>
            <a:off x="1654456" y="3368415"/>
            <a:ext cx="0" cy="53253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字方塊 47">
            <a:extLst>
              <a:ext uri="{FF2B5EF4-FFF2-40B4-BE49-F238E27FC236}">
                <a16:creationId xmlns:a16="http://schemas.microsoft.com/office/drawing/2014/main" id="{8046A539-850B-3E42-4F9C-59A802B1DFA1}"/>
              </a:ext>
            </a:extLst>
          </p:cNvPr>
          <p:cNvSpPr txBox="1"/>
          <p:nvPr/>
        </p:nvSpPr>
        <p:spPr>
          <a:xfrm>
            <a:off x="8319082" y="4028972"/>
            <a:ext cx="2069488" cy="461665"/>
          </a:xfrm>
          <a:prstGeom prst="rect">
            <a:avLst/>
          </a:prstGeom>
          <a:noFill/>
        </p:spPr>
        <p:txBody>
          <a:bodyPr wrap="square">
            <a:spAutoFit/>
          </a:bodyPr>
          <a:lstStyle/>
          <a:p>
            <a:pPr lvl="0" algn="ctr">
              <a:defRPr/>
            </a:pPr>
            <a:r>
              <a:rPr lang="en-US" altLang="zh-TW" sz="2400" kern="0" dirty="0" err="1">
                <a:solidFill>
                  <a:prstClr val="black"/>
                </a:solidFill>
                <a:ea typeface="微軟正黑體" panose="020B0604030504040204" pitchFamily="34" charset="-120"/>
              </a:rPr>
              <a:t>Detokenizer</a:t>
            </a:r>
            <a:endParaRPr lang="zh-TW" altLang="en-US" sz="2400" kern="0" dirty="0">
              <a:solidFill>
                <a:prstClr val="black"/>
              </a:solidFill>
              <a:ea typeface="微軟正黑體" panose="020B0604030504040204" pitchFamily="34" charset="-120"/>
            </a:endParaRPr>
          </a:p>
        </p:txBody>
      </p:sp>
      <p:pic>
        <p:nvPicPr>
          <p:cNvPr id="49" name="Picture 2">
            <a:extLst>
              <a:ext uri="{FF2B5EF4-FFF2-40B4-BE49-F238E27FC236}">
                <a16:creationId xmlns:a16="http://schemas.microsoft.com/office/drawing/2014/main" id="{61C0318D-4FB6-E4E5-DD65-0150D0CCFD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6203" y="4003958"/>
            <a:ext cx="721379" cy="721379"/>
          </a:xfrm>
          <a:prstGeom prst="rect">
            <a:avLst/>
          </a:prstGeom>
          <a:noFill/>
          <a:extLst>
            <a:ext uri="{909E8E84-426E-40DD-AFC4-6F175D3DCCD1}">
              <a14:hiddenFill xmlns:a14="http://schemas.microsoft.com/office/drawing/2010/main">
                <a:solidFill>
                  <a:srgbClr val="FFFFFF"/>
                </a:solidFill>
              </a14:hiddenFill>
            </a:ext>
          </a:extLst>
        </p:spPr>
      </p:pic>
      <p:cxnSp>
        <p:nvCxnSpPr>
          <p:cNvPr id="52" name="直線單箭頭接點 51">
            <a:extLst>
              <a:ext uri="{FF2B5EF4-FFF2-40B4-BE49-F238E27FC236}">
                <a16:creationId xmlns:a16="http://schemas.microsoft.com/office/drawing/2014/main" id="{4795E92D-F860-2E77-B6D4-0BE500036654}"/>
              </a:ext>
            </a:extLst>
          </p:cNvPr>
          <p:cNvCxnSpPr>
            <a:cxnSpLocks/>
          </p:cNvCxnSpPr>
          <p:nvPr/>
        </p:nvCxnSpPr>
        <p:spPr>
          <a:xfrm>
            <a:off x="8031155" y="3368683"/>
            <a:ext cx="0" cy="53253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a16="http://schemas.microsoft.com/office/drawing/2014/main" id="{6AB96AB6-101E-0499-FEEF-75635CF8EC37}"/>
              </a:ext>
            </a:extLst>
          </p:cNvPr>
          <p:cNvSpPr txBox="1"/>
          <p:nvPr/>
        </p:nvSpPr>
        <p:spPr>
          <a:xfrm>
            <a:off x="7086048" y="2411647"/>
            <a:ext cx="18969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39 tokens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8" name="文字方塊 57">
            <a:extLst>
              <a:ext uri="{FF2B5EF4-FFF2-40B4-BE49-F238E27FC236}">
                <a16:creationId xmlns:a16="http://schemas.microsoft.com/office/drawing/2014/main" id="{99D1CFA0-4BB6-AADC-BC82-59F6AA32F53D}"/>
              </a:ext>
            </a:extLst>
          </p:cNvPr>
          <p:cNvSpPr txBox="1"/>
          <p:nvPr/>
        </p:nvSpPr>
        <p:spPr>
          <a:xfrm>
            <a:off x="3667960" y="3391971"/>
            <a:ext cx="272353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1.5 seconds buffer?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60" name="直線單箭頭接點 59">
            <a:extLst>
              <a:ext uri="{FF2B5EF4-FFF2-40B4-BE49-F238E27FC236}">
                <a16:creationId xmlns:a16="http://schemas.microsoft.com/office/drawing/2014/main" id="{25BB5C97-8081-E3BD-AC47-5EA1513CC3F8}"/>
              </a:ext>
            </a:extLst>
          </p:cNvPr>
          <p:cNvCxnSpPr>
            <a:cxnSpLocks/>
          </p:cNvCxnSpPr>
          <p:nvPr/>
        </p:nvCxnSpPr>
        <p:spPr>
          <a:xfrm>
            <a:off x="8602474" y="4540780"/>
            <a:ext cx="1270429" cy="7724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a:extLst>
              <a:ext uri="{FF2B5EF4-FFF2-40B4-BE49-F238E27FC236}">
                <a16:creationId xmlns:a16="http://schemas.microsoft.com/office/drawing/2014/main" id="{6AB80BD2-AF6C-3029-D496-1625369740A2}"/>
              </a:ext>
            </a:extLst>
          </p:cNvPr>
          <p:cNvCxnSpPr>
            <a:cxnSpLocks/>
          </p:cNvCxnSpPr>
          <p:nvPr/>
        </p:nvCxnSpPr>
        <p:spPr>
          <a:xfrm flipV="1">
            <a:off x="9318016" y="2367539"/>
            <a:ext cx="708196" cy="586656"/>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文字方塊 4">
            <a:extLst>
              <a:ext uri="{FF2B5EF4-FFF2-40B4-BE49-F238E27FC236}">
                <a16:creationId xmlns:a16="http://schemas.microsoft.com/office/drawing/2014/main" id="{5195EB06-2035-7A7D-E642-07214CDB31AC}"/>
              </a:ext>
            </a:extLst>
          </p:cNvPr>
          <p:cNvSpPr txBox="1"/>
          <p:nvPr/>
        </p:nvSpPr>
        <p:spPr>
          <a:xfrm>
            <a:off x="348394" y="1806816"/>
            <a:ext cx="462411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Using GLM-4-Voice-9B as example</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74405818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21" grpId="0"/>
      <p:bldP spid="45" grpId="0"/>
      <p:bldP spid="51" grpId="0" animBg="1"/>
      <p:bldP spid="3" grpId="0" animBg="1"/>
      <p:bldP spid="4" grpId="0" animBg="1"/>
      <p:bldP spid="7" grpId="0" animBg="1"/>
      <p:bldP spid="8" grpId="0" animBg="1"/>
      <p:bldP spid="9" grpId="0"/>
      <p:bldP spid="12" grpId="0" animBg="1"/>
      <p:bldP spid="17" grpId="0" animBg="1"/>
      <p:bldP spid="23" grpId="0" animBg="1"/>
      <p:bldP spid="24" grpId="0" animBg="1"/>
      <p:bldP spid="48" grpId="0"/>
      <p:bldP spid="55" grpId="0"/>
      <p:bldP spid="58"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6FDD-C161-9CE0-C3D0-2F3A9EE9DDF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EACE7A9-40CE-27F8-401B-15C40D5D8586}"/>
              </a:ext>
            </a:extLst>
          </p:cNvPr>
          <p:cNvSpPr>
            <a:spLocks noGrp="1"/>
          </p:cNvSpPr>
          <p:nvPr>
            <p:ph type="title"/>
          </p:nvPr>
        </p:nvSpPr>
        <p:spPr/>
        <p:txBody>
          <a:bodyPr/>
          <a:lstStyle/>
          <a:p>
            <a:r>
              <a:rPr lang="en-US" altLang="zh-TW" dirty="0"/>
              <a:t>STITCH: Simultaneous Thinking and Talking with Chunked Reasoning </a:t>
            </a:r>
            <a:endParaRPr lang="zh-TW" altLang="en-US" dirty="0"/>
          </a:p>
        </p:txBody>
      </p:sp>
      <p:grpSp>
        <p:nvGrpSpPr>
          <p:cNvPr id="32" name="群組 31">
            <a:extLst>
              <a:ext uri="{FF2B5EF4-FFF2-40B4-BE49-F238E27FC236}">
                <a16:creationId xmlns:a16="http://schemas.microsoft.com/office/drawing/2014/main" id="{671589A0-1395-3697-F0DF-4FD72B309FA6}"/>
              </a:ext>
            </a:extLst>
          </p:cNvPr>
          <p:cNvGrpSpPr/>
          <p:nvPr/>
        </p:nvGrpSpPr>
        <p:grpSpPr>
          <a:xfrm>
            <a:off x="3296877" y="5013789"/>
            <a:ext cx="6241029" cy="1069326"/>
            <a:chOff x="393073" y="5022255"/>
            <a:chExt cx="2117030" cy="878286"/>
          </a:xfrm>
        </p:grpSpPr>
        <p:pic>
          <p:nvPicPr>
            <p:cNvPr id="33"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0F32699-92E3-E6BA-4EF8-06FEC14FE07C}"/>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34"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1439FB3F-CACF-FAA3-3A32-ED5B95F4354C}"/>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grpSp>
        <p:nvGrpSpPr>
          <p:cNvPr id="35" name="群組 34">
            <a:extLst>
              <a:ext uri="{FF2B5EF4-FFF2-40B4-BE49-F238E27FC236}">
                <a16:creationId xmlns:a16="http://schemas.microsoft.com/office/drawing/2014/main" id="{160FA10C-07A8-8671-B135-5A08F5250BEA}"/>
              </a:ext>
            </a:extLst>
          </p:cNvPr>
          <p:cNvGrpSpPr/>
          <p:nvPr/>
        </p:nvGrpSpPr>
        <p:grpSpPr>
          <a:xfrm>
            <a:off x="9646448" y="5000617"/>
            <a:ext cx="4856563" cy="1069326"/>
            <a:chOff x="393073" y="5022255"/>
            <a:chExt cx="2117030" cy="878286"/>
          </a:xfrm>
        </p:grpSpPr>
        <p:pic>
          <p:nvPicPr>
            <p:cNvPr id="36"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377A9578-467F-B262-BAA0-70E60E7F2D35}"/>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37"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AD19F610-8C35-8694-BE45-330A829B2B5D}"/>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pic>
        <p:nvPicPr>
          <p:cNvPr id="1026" name="Picture 2">
            <a:extLst>
              <a:ext uri="{FF2B5EF4-FFF2-40B4-BE49-F238E27FC236}">
                <a16:creationId xmlns:a16="http://schemas.microsoft.com/office/drawing/2014/main" id="{87E492C9-1ADB-F557-3EEB-E08801F46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6209" y="4055376"/>
            <a:ext cx="721379" cy="721379"/>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直線單箭頭接點 41">
            <a:extLst>
              <a:ext uri="{FF2B5EF4-FFF2-40B4-BE49-F238E27FC236}">
                <a16:creationId xmlns:a16="http://schemas.microsoft.com/office/drawing/2014/main" id="{4CE7A6DE-8CE2-6B28-A304-E02373D23F1D}"/>
              </a:ext>
            </a:extLst>
          </p:cNvPr>
          <p:cNvCxnSpPr>
            <a:cxnSpLocks/>
          </p:cNvCxnSpPr>
          <p:nvPr/>
        </p:nvCxnSpPr>
        <p:spPr>
          <a:xfrm>
            <a:off x="2171461" y="4672335"/>
            <a:ext cx="1270429" cy="7724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36274EBB-374A-4220-19BF-8463944C7FFC}"/>
              </a:ext>
            </a:extLst>
          </p:cNvPr>
          <p:cNvSpPr txBox="1"/>
          <p:nvPr/>
        </p:nvSpPr>
        <p:spPr>
          <a:xfrm>
            <a:off x="6383552" y="1852653"/>
            <a:ext cx="584685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On an A100, this only takes ~0.5 seconds.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D7172099-8248-4F31-AD24-767F25C54D73}"/>
              </a:ext>
            </a:extLst>
          </p:cNvPr>
          <p:cNvSpPr txBox="1"/>
          <p:nvPr/>
        </p:nvSpPr>
        <p:spPr>
          <a:xfrm>
            <a:off x="5183725" y="5883115"/>
            <a:ext cx="207264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 seconds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橢圓 2">
            <a:extLst>
              <a:ext uri="{FF2B5EF4-FFF2-40B4-BE49-F238E27FC236}">
                <a16:creationId xmlns:a16="http://schemas.microsoft.com/office/drawing/2014/main" id="{A8D59995-B860-871A-A26C-E87FF2AD9574}"/>
              </a:ext>
            </a:extLst>
          </p:cNvPr>
          <p:cNvSpPr/>
          <p:nvPr/>
        </p:nvSpPr>
        <p:spPr>
          <a:xfrm>
            <a:off x="1162900" y="288028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 name="橢圓 3">
            <a:extLst>
              <a:ext uri="{FF2B5EF4-FFF2-40B4-BE49-F238E27FC236}">
                <a16:creationId xmlns:a16="http://schemas.microsoft.com/office/drawing/2014/main" id="{6B78CA64-C171-DDA4-F85F-1724CEE9BF18}"/>
              </a:ext>
            </a:extLst>
          </p:cNvPr>
          <p:cNvSpPr/>
          <p:nvPr/>
        </p:nvSpPr>
        <p:spPr>
          <a:xfrm>
            <a:off x="1811461" y="288028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7" name="橢圓 6">
            <a:extLst>
              <a:ext uri="{FF2B5EF4-FFF2-40B4-BE49-F238E27FC236}">
                <a16:creationId xmlns:a16="http://schemas.microsoft.com/office/drawing/2014/main" id="{ED629F1E-FDF8-0055-BB46-CC2E0F96549F}"/>
              </a:ext>
            </a:extLst>
          </p:cNvPr>
          <p:cNvSpPr/>
          <p:nvPr/>
        </p:nvSpPr>
        <p:spPr>
          <a:xfrm>
            <a:off x="2460022" y="288028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橢圓 7">
            <a:extLst>
              <a:ext uri="{FF2B5EF4-FFF2-40B4-BE49-F238E27FC236}">
                <a16:creationId xmlns:a16="http://schemas.microsoft.com/office/drawing/2014/main" id="{896FDE72-49EC-9235-DEB1-CE259363C599}"/>
              </a:ext>
            </a:extLst>
          </p:cNvPr>
          <p:cNvSpPr/>
          <p:nvPr/>
        </p:nvSpPr>
        <p:spPr>
          <a:xfrm>
            <a:off x="514339" y="288028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id="{7FCB98A3-5DE9-C3A3-C091-F2CFEE0D3573}"/>
              </a:ext>
            </a:extLst>
          </p:cNvPr>
          <p:cNvSpPr txBox="1"/>
          <p:nvPr/>
        </p:nvSpPr>
        <p:spPr>
          <a:xfrm>
            <a:off x="697846" y="2328728"/>
            <a:ext cx="18969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39 tokens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橢圓 11">
            <a:extLst>
              <a:ext uri="{FF2B5EF4-FFF2-40B4-BE49-F238E27FC236}">
                <a16:creationId xmlns:a16="http://schemas.microsoft.com/office/drawing/2014/main" id="{58CC76E6-76B7-E12E-8896-8F0178BF0CEE}"/>
              </a:ext>
            </a:extLst>
          </p:cNvPr>
          <p:cNvSpPr/>
          <p:nvPr/>
        </p:nvSpPr>
        <p:spPr>
          <a:xfrm>
            <a:off x="7499021" y="292468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橢圓 16">
            <a:extLst>
              <a:ext uri="{FF2B5EF4-FFF2-40B4-BE49-F238E27FC236}">
                <a16:creationId xmlns:a16="http://schemas.microsoft.com/office/drawing/2014/main" id="{1F2D87C7-5D20-14F3-3C74-F4687FF42585}"/>
              </a:ext>
            </a:extLst>
          </p:cNvPr>
          <p:cNvSpPr/>
          <p:nvPr/>
        </p:nvSpPr>
        <p:spPr>
          <a:xfrm>
            <a:off x="8147582" y="292468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3" name="橢圓 22">
            <a:extLst>
              <a:ext uri="{FF2B5EF4-FFF2-40B4-BE49-F238E27FC236}">
                <a16:creationId xmlns:a16="http://schemas.microsoft.com/office/drawing/2014/main" id="{26CC22BA-5137-3055-BA1A-EA2DD6A0A3C9}"/>
              </a:ext>
            </a:extLst>
          </p:cNvPr>
          <p:cNvSpPr/>
          <p:nvPr/>
        </p:nvSpPr>
        <p:spPr>
          <a:xfrm>
            <a:off x="8796143" y="292468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 name="橢圓 23">
            <a:extLst>
              <a:ext uri="{FF2B5EF4-FFF2-40B4-BE49-F238E27FC236}">
                <a16:creationId xmlns:a16="http://schemas.microsoft.com/office/drawing/2014/main" id="{87420496-3D7A-BBDB-D790-020E2F0F060D}"/>
              </a:ext>
            </a:extLst>
          </p:cNvPr>
          <p:cNvSpPr/>
          <p:nvPr/>
        </p:nvSpPr>
        <p:spPr>
          <a:xfrm>
            <a:off x="6850460" y="292468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5" name="直線單箭頭接點 24">
            <a:extLst>
              <a:ext uri="{FF2B5EF4-FFF2-40B4-BE49-F238E27FC236}">
                <a16:creationId xmlns:a16="http://schemas.microsoft.com/office/drawing/2014/main" id="{429C1B9A-FF43-EFA2-FDCC-1AD845502811}"/>
              </a:ext>
            </a:extLst>
          </p:cNvPr>
          <p:cNvCxnSpPr>
            <a:cxnSpLocks/>
          </p:cNvCxnSpPr>
          <p:nvPr/>
        </p:nvCxnSpPr>
        <p:spPr>
          <a:xfrm>
            <a:off x="1654456" y="3368415"/>
            <a:ext cx="0" cy="53253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9" name="Picture 2">
            <a:extLst>
              <a:ext uri="{FF2B5EF4-FFF2-40B4-BE49-F238E27FC236}">
                <a16:creationId xmlns:a16="http://schemas.microsoft.com/office/drawing/2014/main" id="{FD6221F8-4134-08A6-BB20-6549D8A35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6203" y="4003958"/>
            <a:ext cx="721379" cy="721379"/>
          </a:xfrm>
          <a:prstGeom prst="rect">
            <a:avLst/>
          </a:prstGeom>
          <a:noFill/>
          <a:extLst>
            <a:ext uri="{909E8E84-426E-40DD-AFC4-6F175D3DCCD1}">
              <a14:hiddenFill xmlns:a14="http://schemas.microsoft.com/office/drawing/2010/main">
                <a:solidFill>
                  <a:srgbClr val="FFFFFF"/>
                </a:solidFill>
              </a14:hiddenFill>
            </a:ext>
          </a:extLst>
        </p:spPr>
      </p:pic>
      <p:cxnSp>
        <p:nvCxnSpPr>
          <p:cNvPr id="52" name="直線單箭頭接點 51">
            <a:extLst>
              <a:ext uri="{FF2B5EF4-FFF2-40B4-BE49-F238E27FC236}">
                <a16:creationId xmlns:a16="http://schemas.microsoft.com/office/drawing/2014/main" id="{46CEC96F-2B2A-E0F9-6F84-9944DE19F1D6}"/>
              </a:ext>
            </a:extLst>
          </p:cNvPr>
          <p:cNvCxnSpPr>
            <a:cxnSpLocks/>
          </p:cNvCxnSpPr>
          <p:nvPr/>
        </p:nvCxnSpPr>
        <p:spPr>
          <a:xfrm>
            <a:off x="8031155" y="3368683"/>
            <a:ext cx="0" cy="53253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a16="http://schemas.microsoft.com/office/drawing/2014/main" id="{2D696112-3503-E041-0149-672886F9FC79}"/>
              </a:ext>
            </a:extLst>
          </p:cNvPr>
          <p:cNvSpPr txBox="1"/>
          <p:nvPr/>
        </p:nvSpPr>
        <p:spPr>
          <a:xfrm>
            <a:off x="7086048" y="2411647"/>
            <a:ext cx="18969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39 tokens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8" name="文字方塊 57">
            <a:extLst>
              <a:ext uri="{FF2B5EF4-FFF2-40B4-BE49-F238E27FC236}">
                <a16:creationId xmlns:a16="http://schemas.microsoft.com/office/drawing/2014/main" id="{43401D05-8CB8-4276-FDE8-7DB1CED54E40}"/>
              </a:ext>
            </a:extLst>
          </p:cNvPr>
          <p:cNvSpPr txBox="1"/>
          <p:nvPr/>
        </p:nvSpPr>
        <p:spPr>
          <a:xfrm>
            <a:off x="3667960" y="3391971"/>
            <a:ext cx="272353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1.5 seconds buffer?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60" name="直線單箭頭接點 59">
            <a:extLst>
              <a:ext uri="{FF2B5EF4-FFF2-40B4-BE49-F238E27FC236}">
                <a16:creationId xmlns:a16="http://schemas.microsoft.com/office/drawing/2014/main" id="{CD9141DB-3DD9-8314-3FA9-79DB50A18AFE}"/>
              </a:ext>
            </a:extLst>
          </p:cNvPr>
          <p:cNvCxnSpPr>
            <a:cxnSpLocks/>
          </p:cNvCxnSpPr>
          <p:nvPr/>
        </p:nvCxnSpPr>
        <p:spPr>
          <a:xfrm>
            <a:off x="8602474" y="4540780"/>
            <a:ext cx="1270429" cy="7724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a:extLst>
              <a:ext uri="{FF2B5EF4-FFF2-40B4-BE49-F238E27FC236}">
                <a16:creationId xmlns:a16="http://schemas.microsoft.com/office/drawing/2014/main" id="{BA1CF0A7-86A3-70DA-80EF-4A1A61DBEB76}"/>
              </a:ext>
            </a:extLst>
          </p:cNvPr>
          <p:cNvCxnSpPr>
            <a:cxnSpLocks/>
          </p:cNvCxnSpPr>
          <p:nvPr/>
        </p:nvCxnSpPr>
        <p:spPr>
          <a:xfrm flipV="1">
            <a:off x="9318016" y="2367539"/>
            <a:ext cx="708196" cy="586656"/>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14" name="群組 13">
            <a:extLst>
              <a:ext uri="{FF2B5EF4-FFF2-40B4-BE49-F238E27FC236}">
                <a16:creationId xmlns:a16="http://schemas.microsoft.com/office/drawing/2014/main" id="{E91483AC-E8F4-DAFF-B35C-D4843316BEF9}"/>
              </a:ext>
            </a:extLst>
          </p:cNvPr>
          <p:cNvGrpSpPr/>
          <p:nvPr/>
        </p:nvGrpSpPr>
        <p:grpSpPr>
          <a:xfrm>
            <a:off x="3347594" y="2894958"/>
            <a:ext cx="3188270" cy="363488"/>
            <a:chOff x="3229606" y="2894958"/>
            <a:chExt cx="3188270" cy="363488"/>
          </a:xfrm>
        </p:grpSpPr>
        <p:sp>
          <p:nvSpPr>
            <p:cNvPr id="5" name="矩形: 圓角 4">
              <a:extLst>
                <a:ext uri="{FF2B5EF4-FFF2-40B4-BE49-F238E27FC236}">
                  <a16:creationId xmlns:a16="http://schemas.microsoft.com/office/drawing/2014/main" id="{BC72403E-323E-36BB-6F8C-4A1D8A04FD60}"/>
                </a:ext>
              </a:extLst>
            </p:cNvPr>
            <p:cNvSpPr/>
            <p:nvPr/>
          </p:nvSpPr>
          <p:spPr>
            <a:xfrm>
              <a:off x="3229606" y="289495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矩形: 圓角 5">
              <a:extLst>
                <a:ext uri="{FF2B5EF4-FFF2-40B4-BE49-F238E27FC236}">
                  <a16:creationId xmlns:a16="http://schemas.microsoft.com/office/drawing/2014/main" id="{88948161-06B9-7D02-666D-805E0BC82A47}"/>
                </a:ext>
              </a:extLst>
            </p:cNvPr>
            <p:cNvSpPr/>
            <p:nvPr/>
          </p:nvSpPr>
          <p:spPr>
            <a:xfrm>
              <a:off x="3885450" y="289495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FF6B2C62-32D3-35B0-477C-95192035EC7C}"/>
                </a:ext>
              </a:extLst>
            </p:cNvPr>
            <p:cNvSpPr/>
            <p:nvPr/>
          </p:nvSpPr>
          <p:spPr>
            <a:xfrm>
              <a:off x="4541294" y="289495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AE2F57BB-B292-504D-FF94-AD921538CF4F}"/>
                </a:ext>
              </a:extLst>
            </p:cNvPr>
            <p:cNvSpPr/>
            <p:nvPr/>
          </p:nvSpPr>
          <p:spPr>
            <a:xfrm>
              <a:off x="5197138" y="289495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A50C77E6-5D35-B755-53C0-68733DC70893}"/>
                </a:ext>
              </a:extLst>
            </p:cNvPr>
            <p:cNvSpPr/>
            <p:nvPr/>
          </p:nvSpPr>
          <p:spPr>
            <a:xfrm>
              <a:off x="5852981" y="2898446"/>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15" name="文字方塊 14">
            <a:extLst>
              <a:ext uri="{FF2B5EF4-FFF2-40B4-BE49-F238E27FC236}">
                <a16:creationId xmlns:a16="http://schemas.microsoft.com/office/drawing/2014/main" id="{CB5373BE-D1BB-895E-8DA2-62A94294A824}"/>
              </a:ext>
            </a:extLst>
          </p:cNvPr>
          <p:cNvSpPr txBox="1"/>
          <p:nvPr/>
        </p:nvSpPr>
        <p:spPr>
          <a:xfrm>
            <a:off x="3102644" y="2328727"/>
            <a:ext cx="364843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100 reasoning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文字方塊 15">
            <a:extLst>
              <a:ext uri="{FF2B5EF4-FFF2-40B4-BE49-F238E27FC236}">
                <a16:creationId xmlns:a16="http://schemas.microsoft.com/office/drawing/2014/main" id="{3CEFEEE9-6A32-5439-56F8-CA6D68906F16}"/>
              </a:ext>
            </a:extLst>
          </p:cNvPr>
          <p:cNvSpPr txBox="1"/>
          <p:nvPr/>
        </p:nvSpPr>
        <p:spPr>
          <a:xfrm>
            <a:off x="1810031" y="4079523"/>
            <a:ext cx="20694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err="1">
                <a:ln>
                  <a:noFill/>
                </a:ln>
                <a:solidFill>
                  <a:prstClr val="black"/>
                </a:solidFill>
                <a:effectLst/>
                <a:uLnTx/>
                <a:uFillTx/>
                <a:latin typeface="Calibri" panose="020F0502020204030204"/>
                <a:ea typeface="微軟正黑體" panose="020B0604030504040204" pitchFamily="34" charset="-120"/>
                <a:cs typeface="+mn-cs"/>
              </a:rPr>
              <a:t>Detokenizer</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sp>
        <p:nvSpPr>
          <p:cNvPr id="18" name="文字方塊 17">
            <a:extLst>
              <a:ext uri="{FF2B5EF4-FFF2-40B4-BE49-F238E27FC236}">
                <a16:creationId xmlns:a16="http://schemas.microsoft.com/office/drawing/2014/main" id="{6F05AE4C-7DCE-8CAF-EFC6-281862992C91}"/>
              </a:ext>
            </a:extLst>
          </p:cNvPr>
          <p:cNvSpPr txBox="1"/>
          <p:nvPr/>
        </p:nvSpPr>
        <p:spPr>
          <a:xfrm>
            <a:off x="8319082" y="4028972"/>
            <a:ext cx="2069488" cy="461665"/>
          </a:xfrm>
          <a:prstGeom prst="rect">
            <a:avLst/>
          </a:prstGeom>
          <a:noFill/>
        </p:spPr>
        <p:txBody>
          <a:bodyPr wrap="square">
            <a:spAutoFit/>
          </a:bodyPr>
          <a:lstStyle/>
          <a:p>
            <a:pPr lvl="0" algn="ctr">
              <a:defRPr/>
            </a:pPr>
            <a:r>
              <a:rPr lang="en-US" altLang="zh-TW" sz="2400" kern="0" dirty="0" err="1">
                <a:solidFill>
                  <a:prstClr val="black"/>
                </a:solidFill>
                <a:ea typeface="微軟正黑體" panose="020B0604030504040204" pitchFamily="34" charset="-120"/>
              </a:rPr>
              <a:t>Detokenizer</a:t>
            </a:r>
            <a:endParaRPr lang="zh-TW" altLang="en-US" sz="2400" kern="0" dirty="0">
              <a:solidFill>
                <a:prstClr val="black"/>
              </a:solidFill>
              <a:ea typeface="微軟正黑體" panose="020B0604030504040204" pitchFamily="34" charset="-120"/>
            </a:endParaRPr>
          </a:p>
        </p:txBody>
      </p:sp>
    </p:spTree>
    <p:extLst>
      <p:ext uri="{BB962C8B-B14F-4D97-AF65-F5344CB8AC3E}">
        <p14:creationId xmlns:p14="http://schemas.microsoft.com/office/powerpoint/2010/main" val="326728046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8DCD3-CB8D-BF0D-2890-74089C037B8D}"/>
            </a:ext>
          </a:extLst>
        </p:cNvPr>
        <p:cNvGrpSpPr/>
        <p:nvPr/>
      </p:nvGrpSpPr>
      <p:grpSpPr>
        <a:xfrm>
          <a:off x="0" y="0"/>
          <a:ext cx="0" cy="0"/>
          <a:chOff x="0" y="0"/>
          <a:chExt cx="0" cy="0"/>
        </a:xfrm>
      </p:grpSpPr>
      <p:sp>
        <p:nvSpPr>
          <p:cNvPr id="20" name="矩形: 圓角 19">
            <a:extLst>
              <a:ext uri="{FF2B5EF4-FFF2-40B4-BE49-F238E27FC236}">
                <a16:creationId xmlns:a16="http://schemas.microsoft.com/office/drawing/2014/main" id="{F05EA6D7-B85E-2EEF-AAA7-BEFECB4AC2C1}"/>
              </a:ext>
            </a:extLst>
          </p:cNvPr>
          <p:cNvSpPr/>
          <p:nvPr/>
        </p:nvSpPr>
        <p:spPr>
          <a:xfrm>
            <a:off x="2360037" y="10546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CB9609BA-762D-CFB6-EDBB-AC549F49D660}"/>
              </a:ext>
            </a:extLst>
          </p:cNvPr>
          <p:cNvSpPr/>
          <p:nvPr/>
        </p:nvSpPr>
        <p:spPr>
          <a:xfrm>
            <a:off x="2985335" y="10546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4C179AF1-A82C-C247-0C5D-48B8E7914D0B}"/>
              </a:ext>
            </a:extLst>
          </p:cNvPr>
          <p:cNvSpPr/>
          <p:nvPr/>
        </p:nvSpPr>
        <p:spPr>
          <a:xfrm>
            <a:off x="3610633" y="10546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矩形: 圓角 22">
            <a:extLst>
              <a:ext uri="{FF2B5EF4-FFF2-40B4-BE49-F238E27FC236}">
                <a16:creationId xmlns:a16="http://schemas.microsoft.com/office/drawing/2014/main" id="{CA4F258F-CC55-24DE-69DA-1DB66A2A6059}"/>
              </a:ext>
            </a:extLst>
          </p:cNvPr>
          <p:cNvSpPr/>
          <p:nvPr/>
        </p:nvSpPr>
        <p:spPr>
          <a:xfrm>
            <a:off x="4235931" y="10546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400B0322-E84B-A0C6-61A4-B2A27156ABD9}"/>
              </a:ext>
            </a:extLst>
          </p:cNvPr>
          <p:cNvSpPr/>
          <p:nvPr/>
        </p:nvSpPr>
        <p:spPr>
          <a:xfrm>
            <a:off x="4861229" y="10546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矩形: 圓角 24">
            <a:extLst>
              <a:ext uri="{FF2B5EF4-FFF2-40B4-BE49-F238E27FC236}">
                <a16:creationId xmlns:a16="http://schemas.microsoft.com/office/drawing/2014/main" id="{57D9D84F-113E-9D64-78AB-631506F6EAA3}"/>
              </a:ext>
            </a:extLst>
          </p:cNvPr>
          <p:cNvSpPr/>
          <p:nvPr/>
        </p:nvSpPr>
        <p:spPr>
          <a:xfrm>
            <a:off x="5486527" y="10546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矩形: 圓角 25">
            <a:extLst>
              <a:ext uri="{FF2B5EF4-FFF2-40B4-BE49-F238E27FC236}">
                <a16:creationId xmlns:a16="http://schemas.microsoft.com/office/drawing/2014/main" id="{82B2249F-735F-B9A0-CA5F-6AED882178D1}"/>
              </a:ext>
            </a:extLst>
          </p:cNvPr>
          <p:cNvSpPr/>
          <p:nvPr/>
        </p:nvSpPr>
        <p:spPr>
          <a:xfrm>
            <a:off x="6111824" y="10546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文字方塊 27">
            <a:extLst>
              <a:ext uri="{FF2B5EF4-FFF2-40B4-BE49-F238E27FC236}">
                <a16:creationId xmlns:a16="http://schemas.microsoft.com/office/drawing/2014/main" id="{64E850CF-2226-DA99-9C8A-0AB5B480F1BE}"/>
              </a:ext>
            </a:extLst>
          </p:cNvPr>
          <p:cNvSpPr txBox="1"/>
          <p:nvPr/>
        </p:nvSpPr>
        <p:spPr>
          <a:xfrm>
            <a:off x="3180741" y="1507571"/>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Reasoning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39" name="群組 38">
            <a:extLst>
              <a:ext uri="{FF2B5EF4-FFF2-40B4-BE49-F238E27FC236}">
                <a16:creationId xmlns:a16="http://schemas.microsoft.com/office/drawing/2014/main" id="{6D71CCC3-C051-4C6B-016C-48F5F1D47212}"/>
              </a:ext>
            </a:extLst>
          </p:cNvPr>
          <p:cNvGrpSpPr/>
          <p:nvPr/>
        </p:nvGrpSpPr>
        <p:grpSpPr>
          <a:xfrm>
            <a:off x="8757559" y="1880431"/>
            <a:ext cx="4290417" cy="1069326"/>
            <a:chOff x="393073" y="5022255"/>
            <a:chExt cx="2117030" cy="878286"/>
          </a:xfrm>
        </p:grpSpPr>
        <p:pic>
          <p:nvPicPr>
            <p:cNvPr id="40"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83FA5116-2428-C41B-E7E1-26EEEBDD3986}"/>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41"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21EEE583-6399-4D8A-6AB0-64BEF1129B25}"/>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86" name="文字方塊 85">
            <a:extLst>
              <a:ext uri="{FF2B5EF4-FFF2-40B4-BE49-F238E27FC236}">
                <a16:creationId xmlns:a16="http://schemas.microsoft.com/office/drawing/2014/main" id="{BC05AA64-58D8-1602-E4EB-55B64B7E2965}"/>
              </a:ext>
            </a:extLst>
          </p:cNvPr>
          <p:cNvSpPr txBox="1"/>
          <p:nvPr/>
        </p:nvSpPr>
        <p:spPr>
          <a:xfrm>
            <a:off x="10858166" y="907001"/>
            <a:ext cx="114160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9" name="直線單箭頭接點 88">
            <a:extLst>
              <a:ext uri="{FF2B5EF4-FFF2-40B4-BE49-F238E27FC236}">
                <a16:creationId xmlns:a16="http://schemas.microsoft.com/office/drawing/2014/main" id="{EC090BBB-A440-9D4C-B97C-D6F734023781}"/>
              </a:ext>
            </a:extLst>
          </p:cNvPr>
          <p:cNvCxnSpPr>
            <a:cxnSpLocks/>
          </p:cNvCxnSpPr>
          <p:nvPr/>
        </p:nvCxnSpPr>
        <p:spPr>
          <a:xfrm>
            <a:off x="7847277" y="1767452"/>
            <a:ext cx="928270" cy="4607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右大括弧 89">
            <a:extLst>
              <a:ext uri="{FF2B5EF4-FFF2-40B4-BE49-F238E27FC236}">
                <a16:creationId xmlns:a16="http://schemas.microsoft.com/office/drawing/2014/main" id="{3119EEC6-FB20-72C6-224C-4FD4D70B686A}"/>
              </a:ext>
            </a:extLst>
          </p:cNvPr>
          <p:cNvSpPr/>
          <p:nvPr/>
        </p:nvSpPr>
        <p:spPr>
          <a:xfrm rot="5400000" flipV="1">
            <a:off x="7667277" y="644434"/>
            <a:ext cx="360000" cy="1888510"/>
          </a:xfrm>
          <a:prstGeom prst="rightBrace">
            <a:avLst>
              <a:gd name="adj1" fmla="val 1922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96" name="文字方塊 95">
            <a:extLst>
              <a:ext uri="{FF2B5EF4-FFF2-40B4-BE49-F238E27FC236}">
                <a16:creationId xmlns:a16="http://schemas.microsoft.com/office/drawing/2014/main" id="{55C3CA5D-FA3C-FC28-7D88-797C8F04931B}"/>
              </a:ext>
            </a:extLst>
          </p:cNvPr>
          <p:cNvSpPr txBox="1"/>
          <p:nvPr/>
        </p:nvSpPr>
        <p:spPr>
          <a:xfrm>
            <a:off x="167638" y="3415503"/>
            <a:ext cx="294484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STITCH</a:t>
            </a:r>
            <a:endParaRPr kumimoji="0" lang="zh-TW" altLang="en-US"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18" name="群組 17">
            <a:extLst>
              <a:ext uri="{FF2B5EF4-FFF2-40B4-BE49-F238E27FC236}">
                <a16:creationId xmlns:a16="http://schemas.microsoft.com/office/drawing/2014/main" id="{5E7CF721-2118-292A-D3DC-B27BC5136E07}"/>
              </a:ext>
            </a:extLst>
          </p:cNvPr>
          <p:cNvGrpSpPr/>
          <p:nvPr/>
        </p:nvGrpSpPr>
        <p:grpSpPr>
          <a:xfrm>
            <a:off x="6988354" y="1035726"/>
            <a:ext cx="3602803" cy="360000"/>
            <a:chOff x="7710232" y="2141892"/>
            <a:chExt cx="3602803" cy="360000"/>
          </a:xfrm>
        </p:grpSpPr>
        <p:sp>
          <p:nvSpPr>
            <p:cNvPr id="4" name="橢圓 3">
              <a:extLst>
                <a:ext uri="{FF2B5EF4-FFF2-40B4-BE49-F238E27FC236}">
                  <a16:creationId xmlns:a16="http://schemas.microsoft.com/office/drawing/2014/main" id="{2A519431-311E-9B3F-40BC-857F08050623}"/>
                </a:ext>
              </a:extLst>
            </p:cNvPr>
            <p:cNvSpPr/>
            <p:nvPr/>
          </p:nvSpPr>
          <p:spPr>
            <a:xfrm>
              <a:off x="8358793"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 name="橢圓 4">
              <a:extLst>
                <a:ext uri="{FF2B5EF4-FFF2-40B4-BE49-F238E27FC236}">
                  <a16:creationId xmlns:a16="http://schemas.microsoft.com/office/drawing/2014/main" id="{741697D5-4D2E-9772-694D-C25242F5603F}"/>
                </a:ext>
              </a:extLst>
            </p:cNvPr>
            <p:cNvSpPr/>
            <p:nvPr/>
          </p:nvSpPr>
          <p:spPr>
            <a:xfrm>
              <a:off x="9007354"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6" name="橢圓 5">
              <a:extLst>
                <a:ext uri="{FF2B5EF4-FFF2-40B4-BE49-F238E27FC236}">
                  <a16:creationId xmlns:a16="http://schemas.microsoft.com/office/drawing/2014/main" id="{6D47D027-3E20-3A29-DE98-378E6B59123D}"/>
                </a:ext>
              </a:extLst>
            </p:cNvPr>
            <p:cNvSpPr/>
            <p:nvPr/>
          </p:nvSpPr>
          <p:spPr>
            <a:xfrm>
              <a:off x="10304476"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7" name="橢圓 6">
              <a:extLst>
                <a:ext uri="{FF2B5EF4-FFF2-40B4-BE49-F238E27FC236}">
                  <a16:creationId xmlns:a16="http://schemas.microsoft.com/office/drawing/2014/main" id="{B472791A-82C3-EF47-B5E9-4D287A8AC038}"/>
                </a:ext>
              </a:extLst>
            </p:cNvPr>
            <p:cNvSpPr/>
            <p:nvPr/>
          </p:nvSpPr>
          <p:spPr>
            <a:xfrm>
              <a:off x="10953035"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橢圓 15">
              <a:extLst>
                <a:ext uri="{FF2B5EF4-FFF2-40B4-BE49-F238E27FC236}">
                  <a16:creationId xmlns:a16="http://schemas.microsoft.com/office/drawing/2014/main" id="{16E323AD-D8E9-2EF9-850F-721B746AE9DB}"/>
                </a:ext>
              </a:extLst>
            </p:cNvPr>
            <p:cNvSpPr/>
            <p:nvPr/>
          </p:nvSpPr>
          <p:spPr>
            <a:xfrm>
              <a:off x="9655915"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橢圓 16">
              <a:extLst>
                <a:ext uri="{FF2B5EF4-FFF2-40B4-BE49-F238E27FC236}">
                  <a16:creationId xmlns:a16="http://schemas.microsoft.com/office/drawing/2014/main" id="{1DB69088-2B71-6BC4-520E-B004C4BCDC40}"/>
                </a:ext>
              </a:extLst>
            </p:cNvPr>
            <p:cNvSpPr/>
            <p:nvPr/>
          </p:nvSpPr>
          <p:spPr>
            <a:xfrm>
              <a:off x="7710232" y="214189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83" name="文字方塊 82">
            <a:extLst>
              <a:ext uri="{FF2B5EF4-FFF2-40B4-BE49-F238E27FC236}">
                <a16:creationId xmlns:a16="http://schemas.microsoft.com/office/drawing/2014/main" id="{6CD9EAB8-7FF9-803E-71E5-3FEBA682448A}"/>
              </a:ext>
            </a:extLst>
          </p:cNvPr>
          <p:cNvSpPr txBox="1"/>
          <p:nvPr/>
        </p:nvSpPr>
        <p:spPr>
          <a:xfrm>
            <a:off x="175862" y="324242"/>
            <a:ext cx="507321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Typical Speech LLM + Reasoning </a:t>
            </a:r>
            <a:endParaRPr kumimoji="0" lang="zh-TW" altLang="en-US"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4" name="文字方塊 83">
            <a:extLst>
              <a:ext uri="{FF2B5EF4-FFF2-40B4-BE49-F238E27FC236}">
                <a16:creationId xmlns:a16="http://schemas.microsoft.com/office/drawing/2014/main" id="{3969F878-3238-8431-9AA4-9613FCD0DE8C}"/>
              </a:ext>
            </a:extLst>
          </p:cNvPr>
          <p:cNvSpPr txBox="1"/>
          <p:nvPr/>
        </p:nvSpPr>
        <p:spPr>
          <a:xfrm>
            <a:off x="33340" y="1501675"/>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5" name="橢圓 84">
            <a:extLst>
              <a:ext uri="{FF2B5EF4-FFF2-40B4-BE49-F238E27FC236}">
                <a16:creationId xmlns:a16="http://schemas.microsoft.com/office/drawing/2014/main" id="{11129FE5-6FC6-B533-64F0-F76D449A938E}"/>
              </a:ext>
            </a:extLst>
          </p:cNvPr>
          <p:cNvSpPr/>
          <p:nvPr/>
        </p:nvSpPr>
        <p:spPr>
          <a:xfrm>
            <a:off x="673417" y="1046253"/>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7" name="橢圓 96">
            <a:extLst>
              <a:ext uri="{FF2B5EF4-FFF2-40B4-BE49-F238E27FC236}">
                <a16:creationId xmlns:a16="http://schemas.microsoft.com/office/drawing/2014/main" id="{C0D26447-7128-844E-DBF7-2ECC92806EA5}"/>
              </a:ext>
            </a:extLst>
          </p:cNvPr>
          <p:cNvSpPr/>
          <p:nvPr/>
        </p:nvSpPr>
        <p:spPr>
          <a:xfrm>
            <a:off x="1215298" y="1046253"/>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8" name="橢圓 97">
            <a:extLst>
              <a:ext uri="{FF2B5EF4-FFF2-40B4-BE49-F238E27FC236}">
                <a16:creationId xmlns:a16="http://schemas.microsoft.com/office/drawing/2014/main" id="{5F655AD2-C467-1FC4-477B-7E59775AA46F}"/>
              </a:ext>
            </a:extLst>
          </p:cNvPr>
          <p:cNvSpPr/>
          <p:nvPr/>
        </p:nvSpPr>
        <p:spPr>
          <a:xfrm>
            <a:off x="1757179" y="1046253"/>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6" name="文字方塊 115">
            <a:extLst>
              <a:ext uri="{FF2B5EF4-FFF2-40B4-BE49-F238E27FC236}">
                <a16:creationId xmlns:a16="http://schemas.microsoft.com/office/drawing/2014/main" id="{FB570A9B-CD55-2919-5944-F058C813E4E0}"/>
              </a:ext>
            </a:extLst>
          </p:cNvPr>
          <p:cNvSpPr txBox="1"/>
          <p:nvPr/>
        </p:nvSpPr>
        <p:spPr>
          <a:xfrm>
            <a:off x="57223" y="4689622"/>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7" name="橢圓 116">
            <a:extLst>
              <a:ext uri="{FF2B5EF4-FFF2-40B4-BE49-F238E27FC236}">
                <a16:creationId xmlns:a16="http://schemas.microsoft.com/office/drawing/2014/main" id="{1A5CCE69-4AE1-999D-4060-36E73768B715}"/>
              </a:ext>
            </a:extLst>
          </p:cNvPr>
          <p:cNvSpPr/>
          <p:nvPr/>
        </p:nvSpPr>
        <p:spPr>
          <a:xfrm>
            <a:off x="697300" y="4234200"/>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8" name="橢圓 117">
            <a:extLst>
              <a:ext uri="{FF2B5EF4-FFF2-40B4-BE49-F238E27FC236}">
                <a16:creationId xmlns:a16="http://schemas.microsoft.com/office/drawing/2014/main" id="{A7A6F595-9A0B-4590-3E72-7669C760CD6A}"/>
              </a:ext>
            </a:extLst>
          </p:cNvPr>
          <p:cNvSpPr/>
          <p:nvPr/>
        </p:nvSpPr>
        <p:spPr>
          <a:xfrm>
            <a:off x="1239181" y="4234200"/>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9" name="橢圓 118">
            <a:extLst>
              <a:ext uri="{FF2B5EF4-FFF2-40B4-BE49-F238E27FC236}">
                <a16:creationId xmlns:a16="http://schemas.microsoft.com/office/drawing/2014/main" id="{11B62197-61A3-010D-870A-C7EE0A1DDA07}"/>
              </a:ext>
            </a:extLst>
          </p:cNvPr>
          <p:cNvSpPr/>
          <p:nvPr/>
        </p:nvSpPr>
        <p:spPr>
          <a:xfrm>
            <a:off x="1781062" y="4234200"/>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155" name="群組 154">
            <a:extLst>
              <a:ext uri="{FF2B5EF4-FFF2-40B4-BE49-F238E27FC236}">
                <a16:creationId xmlns:a16="http://schemas.microsoft.com/office/drawing/2014/main" id="{CC23FF19-294B-7B78-782C-FF48B239A4E1}"/>
              </a:ext>
            </a:extLst>
          </p:cNvPr>
          <p:cNvGrpSpPr/>
          <p:nvPr/>
        </p:nvGrpSpPr>
        <p:grpSpPr>
          <a:xfrm>
            <a:off x="4424056" y="4234200"/>
            <a:ext cx="1896771" cy="360000"/>
            <a:chOff x="4424056" y="4881900"/>
            <a:chExt cx="1896771" cy="360000"/>
          </a:xfrm>
        </p:grpSpPr>
        <p:sp>
          <p:nvSpPr>
            <p:cNvPr id="122" name="矩形: 圓角 121">
              <a:extLst>
                <a:ext uri="{FF2B5EF4-FFF2-40B4-BE49-F238E27FC236}">
                  <a16:creationId xmlns:a16="http://schemas.microsoft.com/office/drawing/2014/main" id="{1F48610C-6613-5121-9EE3-FFD87289047C}"/>
                </a:ext>
              </a:extLst>
            </p:cNvPr>
            <p:cNvSpPr/>
            <p:nvPr/>
          </p:nvSpPr>
          <p:spPr>
            <a:xfrm>
              <a:off x="4424056" y="488190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3" name="矩形: 圓角 122">
              <a:extLst>
                <a:ext uri="{FF2B5EF4-FFF2-40B4-BE49-F238E27FC236}">
                  <a16:creationId xmlns:a16="http://schemas.microsoft.com/office/drawing/2014/main" id="{3437F1EE-CB89-E87F-2233-8E19CA0518C6}"/>
                </a:ext>
              </a:extLst>
            </p:cNvPr>
            <p:cNvSpPr/>
            <p:nvPr/>
          </p:nvSpPr>
          <p:spPr>
            <a:xfrm>
              <a:off x="5089994" y="488190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4" name="矩形: 圓角 123">
              <a:extLst>
                <a:ext uri="{FF2B5EF4-FFF2-40B4-BE49-F238E27FC236}">
                  <a16:creationId xmlns:a16="http://schemas.microsoft.com/office/drawing/2014/main" id="{BCD57F34-8D0D-A616-A7A6-747C72ECCBBF}"/>
                </a:ext>
              </a:extLst>
            </p:cNvPr>
            <p:cNvSpPr/>
            <p:nvPr/>
          </p:nvSpPr>
          <p:spPr>
            <a:xfrm>
              <a:off x="5755932" y="488190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nvGrpSpPr>
          <p:cNvPr id="153" name="群組 152">
            <a:extLst>
              <a:ext uri="{FF2B5EF4-FFF2-40B4-BE49-F238E27FC236}">
                <a16:creationId xmlns:a16="http://schemas.microsoft.com/office/drawing/2014/main" id="{6295BAEB-56A1-3230-55B4-1DA25F090F34}"/>
              </a:ext>
            </a:extLst>
          </p:cNvPr>
          <p:cNvGrpSpPr/>
          <p:nvPr/>
        </p:nvGrpSpPr>
        <p:grpSpPr>
          <a:xfrm>
            <a:off x="2599214" y="4244411"/>
            <a:ext cx="1562359" cy="360000"/>
            <a:chOff x="2599214" y="4892111"/>
            <a:chExt cx="1562359" cy="360000"/>
          </a:xfrm>
        </p:grpSpPr>
        <p:sp>
          <p:nvSpPr>
            <p:cNvPr id="120" name="橢圓 119">
              <a:extLst>
                <a:ext uri="{FF2B5EF4-FFF2-40B4-BE49-F238E27FC236}">
                  <a16:creationId xmlns:a16="http://schemas.microsoft.com/office/drawing/2014/main" id="{FD9ED12B-6E29-E4DD-8B50-EFFC88CB0B89}"/>
                </a:ext>
              </a:extLst>
            </p:cNvPr>
            <p:cNvSpPr/>
            <p:nvPr/>
          </p:nvSpPr>
          <p:spPr>
            <a:xfrm>
              <a:off x="3200394" y="489211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1" name="橢圓 120">
              <a:extLst>
                <a:ext uri="{FF2B5EF4-FFF2-40B4-BE49-F238E27FC236}">
                  <a16:creationId xmlns:a16="http://schemas.microsoft.com/office/drawing/2014/main" id="{91BC79D7-FF2E-BC59-97CB-36882C68CFCF}"/>
                </a:ext>
              </a:extLst>
            </p:cNvPr>
            <p:cNvSpPr/>
            <p:nvPr/>
          </p:nvSpPr>
          <p:spPr>
            <a:xfrm>
              <a:off x="3801573" y="489211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7" name="橢圓 126">
              <a:extLst>
                <a:ext uri="{FF2B5EF4-FFF2-40B4-BE49-F238E27FC236}">
                  <a16:creationId xmlns:a16="http://schemas.microsoft.com/office/drawing/2014/main" id="{75E238C1-4626-7443-6929-34C57B51BD27}"/>
                </a:ext>
              </a:extLst>
            </p:cNvPr>
            <p:cNvSpPr/>
            <p:nvPr/>
          </p:nvSpPr>
          <p:spPr>
            <a:xfrm>
              <a:off x="2599214" y="489211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54" name="群組 153">
            <a:extLst>
              <a:ext uri="{FF2B5EF4-FFF2-40B4-BE49-F238E27FC236}">
                <a16:creationId xmlns:a16="http://schemas.microsoft.com/office/drawing/2014/main" id="{63F095BA-3AA8-FC24-89BD-62C2B55AF279}"/>
              </a:ext>
            </a:extLst>
          </p:cNvPr>
          <p:cNvGrpSpPr/>
          <p:nvPr/>
        </p:nvGrpSpPr>
        <p:grpSpPr>
          <a:xfrm>
            <a:off x="6620002" y="4215656"/>
            <a:ext cx="1562359" cy="360000"/>
            <a:chOff x="6620002" y="4863356"/>
            <a:chExt cx="1562359" cy="360000"/>
          </a:xfrm>
        </p:grpSpPr>
        <p:sp>
          <p:nvSpPr>
            <p:cNvPr id="128" name="橢圓 127">
              <a:extLst>
                <a:ext uri="{FF2B5EF4-FFF2-40B4-BE49-F238E27FC236}">
                  <a16:creationId xmlns:a16="http://schemas.microsoft.com/office/drawing/2014/main" id="{28C05CDB-2E86-417E-64BC-B925D496ECE0}"/>
                </a:ext>
              </a:extLst>
            </p:cNvPr>
            <p:cNvSpPr/>
            <p:nvPr/>
          </p:nvSpPr>
          <p:spPr>
            <a:xfrm>
              <a:off x="7221182" y="4863356"/>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9" name="橢圓 128">
              <a:extLst>
                <a:ext uri="{FF2B5EF4-FFF2-40B4-BE49-F238E27FC236}">
                  <a16:creationId xmlns:a16="http://schemas.microsoft.com/office/drawing/2014/main" id="{F2799FC7-3AA4-A4A7-1DC3-8A849B91BA7A}"/>
                </a:ext>
              </a:extLst>
            </p:cNvPr>
            <p:cNvSpPr/>
            <p:nvPr/>
          </p:nvSpPr>
          <p:spPr>
            <a:xfrm>
              <a:off x="7822361" y="4863356"/>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0" name="橢圓 129">
              <a:extLst>
                <a:ext uri="{FF2B5EF4-FFF2-40B4-BE49-F238E27FC236}">
                  <a16:creationId xmlns:a16="http://schemas.microsoft.com/office/drawing/2014/main" id="{10995079-73C7-8A3B-21E4-A8CA9D496FE5}"/>
                </a:ext>
              </a:extLst>
            </p:cNvPr>
            <p:cNvSpPr/>
            <p:nvPr/>
          </p:nvSpPr>
          <p:spPr>
            <a:xfrm>
              <a:off x="6620002" y="4863356"/>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31" name="群組 130">
            <a:extLst>
              <a:ext uri="{FF2B5EF4-FFF2-40B4-BE49-F238E27FC236}">
                <a16:creationId xmlns:a16="http://schemas.microsoft.com/office/drawing/2014/main" id="{DCFEDACC-A818-DDDB-293E-8D46B42F7465}"/>
              </a:ext>
            </a:extLst>
          </p:cNvPr>
          <p:cNvGrpSpPr/>
          <p:nvPr/>
        </p:nvGrpSpPr>
        <p:grpSpPr>
          <a:xfrm>
            <a:off x="4356897" y="5147924"/>
            <a:ext cx="4290417" cy="1069326"/>
            <a:chOff x="393073" y="5022255"/>
            <a:chExt cx="2117030" cy="878286"/>
          </a:xfrm>
        </p:grpSpPr>
        <p:pic>
          <p:nvPicPr>
            <p:cNvPr id="132"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8DB70FC-F1DF-3C57-9055-5BCFCA32653F}"/>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133"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60F8D001-346E-DE9E-0CA1-A73084FE8EEA}"/>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cxnSp>
        <p:nvCxnSpPr>
          <p:cNvPr id="134" name="直線單箭頭接點 133">
            <a:extLst>
              <a:ext uri="{FF2B5EF4-FFF2-40B4-BE49-F238E27FC236}">
                <a16:creationId xmlns:a16="http://schemas.microsoft.com/office/drawing/2014/main" id="{683BFFD6-5087-9C5F-4178-E775D4C89D9A}"/>
              </a:ext>
            </a:extLst>
          </p:cNvPr>
          <p:cNvCxnSpPr>
            <a:cxnSpLocks/>
          </p:cNvCxnSpPr>
          <p:nvPr/>
        </p:nvCxnSpPr>
        <p:spPr>
          <a:xfrm>
            <a:off x="3446615" y="5034945"/>
            <a:ext cx="928270" cy="4607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5" name="右大括弧 134">
            <a:extLst>
              <a:ext uri="{FF2B5EF4-FFF2-40B4-BE49-F238E27FC236}">
                <a16:creationId xmlns:a16="http://schemas.microsoft.com/office/drawing/2014/main" id="{4014C2F6-E668-5264-FF02-C644415AC757}"/>
              </a:ext>
            </a:extLst>
          </p:cNvPr>
          <p:cNvSpPr/>
          <p:nvPr/>
        </p:nvSpPr>
        <p:spPr>
          <a:xfrm rot="5400000" flipV="1">
            <a:off x="3266615" y="3911927"/>
            <a:ext cx="360000" cy="1888510"/>
          </a:xfrm>
          <a:prstGeom prst="rightBrace">
            <a:avLst>
              <a:gd name="adj1" fmla="val 1922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36" name="右大括弧 135">
            <a:extLst>
              <a:ext uri="{FF2B5EF4-FFF2-40B4-BE49-F238E27FC236}">
                <a16:creationId xmlns:a16="http://schemas.microsoft.com/office/drawing/2014/main" id="{9D3962F5-0D73-77D7-1323-8365018BD9AC}"/>
              </a:ext>
            </a:extLst>
          </p:cNvPr>
          <p:cNvSpPr/>
          <p:nvPr/>
        </p:nvSpPr>
        <p:spPr>
          <a:xfrm rot="5400000" flipV="1">
            <a:off x="7277383" y="3935621"/>
            <a:ext cx="360000" cy="1888510"/>
          </a:xfrm>
          <a:prstGeom prst="rightBrace">
            <a:avLst>
              <a:gd name="adj1" fmla="val 1922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37" name="直線單箭頭接點 136">
            <a:extLst>
              <a:ext uri="{FF2B5EF4-FFF2-40B4-BE49-F238E27FC236}">
                <a16:creationId xmlns:a16="http://schemas.microsoft.com/office/drawing/2014/main" id="{770D0262-2257-BF72-E071-3F66CC4507E0}"/>
              </a:ext>
            </a:extLst>
          </p:cNvPr>
          <p:cNvCxnSpPr>
            <a:cxnSpLocks/>
          </p:cNvCxnSpPr>
          <p:nvPr/>
        </p:nvCxnSpPr>
        <p:spPr>
          <a:xfrm>
            <a:off x="7476433" y="5058327"/>
            <a:ext cx="928270" cy="4607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8" name="群組 137">
            <a:extLst>
              <a:ext uri="{FF2B5EF4-FFF2-40B4-BE49-F238E27FC236}">
                <a16:creationId xmlns:a16="http://schemas.microsoft.com/office/drawing/2014/main" id="{1E8DD9B0-693F-F8FD-540A-61064418999F}"/>
              </a:ext>
            </a:extLst>
          </p:cNvPr>
          <p:cNvGrpSpPr/>
          <p:nvPr/>
        </p:nvGrpSpPr>
        <p:grpSpPr>
          <a:xfrm>
            <a:off x="8454052" y="5130825"/>
            <a:ext cx="4290417" cy="1069326"/>
            <a:chOff x="393073" y="5022255"/>
            <a:chExt cx="2117030" cy="878286"/>
          </a:xfrm>
        </p:grpSpPr>
        <p:pic>
          <p:nvPicPr>
            <p:cNvPr id="139"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66519A0-20EC-6E10-8429-5898320BE90D}"/>
                </a:ext>
              </a:extLst>
            </p:cNvPr>
            <p:cNvPicPr preferRelativeResize="0"/>
            <p:nvPr/>
          </p:nvPicPr>
          <p:blipFill rotWithShape="1">
            <a:blip r:embed="rId3">
              <a:alphaModFix/>
            </a:blip>
            <a:srcRect l="39924" t="74586" r="38724" b="15732"/>
            <a:stretch/>
          </p:blipFill>
          <p:spPr>
            <a:xfrm>
              <a:off x="393073" y="5022255"/>
              <a:ext cx="1347649" cy="809022"/>
            </a:xfrm>
            <a:prstGeom prst="rect">
              <a:avLst/>
            </a:prstGeom>
            <a:noFill/>
            <a:ln>
              <a:noFill/>
            </a:ln>
          </p:spPr>
        </p:pic>
        <p:pic>
          <p:nvPicPr>
            <p:cNvPr id="140"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C06C628B-B8B1-E78D-0308-C3609EC09860}"/>
                </a:ext>
              </a:extLst>
            </p:cNvPr>
            <p:cNvPicPr preferRelativeResize="0"/>
            <p:nvPr/>
          </p:nvPicPr>
          <p:blipFill rotWithShape="1">
            <a:blip r:embed="rId3">
              <a:alphaModFix/>
            </a:blip>
            <a:srcRect l="35083" t="84591" r="35071" b="1174"/>
            <a:stretch/>
          </p:blipFill>
          <p:spPr>
            <a:xfrm>
              <a:off x="1576011" y="5095308"/>
              <a:ext cx="934092" cy="805233"/>
            </a:xfrm>
            <a:prstGeom prst="rect">
              <a:avLst/>
            </a:prstGeom>
            <a:noFill/>
            <a:ln>
              <a:noFill/>
            </a:ln>
          </p:spPr>
        </p:pic>
      </p:grpSp>
      <p:sp>
        <p:nvSpPr>
          <p:cNvPr id="141" name="矩形: 圓角 140">
            <a:extLst>
              <a:ext uri="{FF2B5EF4-FFF2-40B4-BE49-F238E27FC236}">
                <a16:creationId xmlns:a16="http://schemas.microsoft.com/office/drawing/2014/main" id="{BDF36AD4-C96D-C16D-D423-76252F479D56}"/>
              </a:ext>
            </a:extLst>
          </p:cNvPr>
          <p:cNvSpPr/>
          <p:nvPr/>
        </p:nvSpPr>
        <p:spPr>
          <a:xfrm>
            <a:off x="8552912" y="4205655"/>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2" name="矩形: 圓角 141">
            <a:extLst>
              <a:ext uri="{FF2B5EF4-FFF2-40B4-BE49-F238E27FC236}">
                <a16:creationId xmlns:a16="http://schemas.microsoft.com/office/drawing/2014/main" id="{42663399-B899-D823-CEF3-B4B4BD8A0B7B}"/>
              </a:ext>
            </a:extLst>
          </p:cNvPr>
          <p:cNvSpPr/>
          <p:nvPr/>
        </p:nvSpPr>
        <p:spPr>
          <a:xfrm>
            <a:off x="9218850" y="4205655"/>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3" name="矩形: 圓角 142">
            <a:extLst>
              <a:ext uri="{FF2B5EF4-FFF2-40B4-BE49-F238E27FC236}">
                <a16:creationId xmlns:a16="http://schemas.microsoft.com/office/drawing/2014/main" id="{AAEEF3B6-53E7-B1E8-C283-70522E32532D}"/>
              </a:ext>
            </a:extLst>
          </p:cNvPr>
          <p:cNvSpPr/>
          <p:nvPr/>
        </p:nvSpPr>
        <p:spPr>
          <a:xfrm>
            <a:off x="9884788" y="4205655"/>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6" name="橢圓 145">
            <a:extLst>
              <a:ext uri="{FF2B5EF4-FFF2-40B4-BE49-F238E27FC236}">
                <a16:creationId xmlns:a16="http://schemas.microsoft.com/office/drawing/2014/main" id="{0BA71D62-8C76-29CF-B1CB-CADA36992FB7}"/>
              </a:ext>
            </a:extLst>
          </p:cNvPr>
          <p:cNvSpPr/>
          <p:nvPr/>
        </p:nvSpPr>
        <p:spPr>
          <a:xfrm>
            <a:off x="10748858" y="418711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51" name="文字方塊 150">
            <a:extLst>
              <a:ext uri="{FF2B5EF4-FFF2-40B4-BE49-F238E27FC236}">
                <a16:creationId xmlns:a16="http://schemas.microsoft.com/office/drawing/2014/main" id="{E2ACCFB7-2F50-2CFF-D1D4-AC8CC768E9C8}"/>
              </a:ext>
            </a:extLst>
          </p:cNvPr>
          <p:cNvSpPr txBox="1"/>
          <p:nvPr/>
        </p:nvSpPr>
        <p:spPr>
          <a:xfrm>
            <a:off x="11217591" y="4070980"/>
            <a:ext cx="114160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1376301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5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3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4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8" grpId="0"/>
      <p:bldP spid="86" grpId="0"/>
      <p:bldP spid="90" grpId="0" animBg="1"/>
      <p:bldP spid="116" grpId="0"/>
      <p:bldP spid="117" grpId="0" animBg="1"/>
      <p:bldP spid="118" grpId="0" animBg="1"/>
      <p:bldP spid="119" grpId="0" animBg="1"/>
      <p:bldP spid="135" grpId="0" animBg="1"/>
      <p:bldP spid="136" grpId="0" animBg="1"/>
      <p:bldP spid="141" grpId="0" animBg="1"/>
      <p:bldP spid="142" grpId="0" animBg="1"/>
      <p:bldP spid="143" grpId="0" animBg="1"/>
      <p:bldP spid="146" grpId="0" animBg="1"/>
      <p:bldP spid="151"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DC06A5-953D-C7AD-C91C-80B91E8F6CC3}"/>
              </a:ext>
            </a:extLst>
          </p:cNvPr>
          <p:cNvSpPr>
            <a:spLocks noGrp="1"/>
          </p:cNvSpPr>
          <p:nvPr>
            <p:ph type="title"/>
          </p:nvPr>
        </p:nvSpPr>
        <p:spPr/>
        <p:txBody>
          <a:bodyPr/>
          <a:lstStyle/>
          <a:p>
            <a:r>
              <a:rPr lang="en-US" altLang="zh-TW" dirty="0"/>
              <a:t>How to prepare training data</a:t>
            </a:r>
            <a:endParaRPr lang="zh-TW" altLang="en-US" dirty="0"/>
          </a:p>
        </p:txBody>
      </p:sp>
      <p:sp>
        <p:nvSpPr>
          <p:cNvPr id="3" name="內容版面配置區 2">
            <a:extLst>
              <a:ext uri="{FF2B5EF4-FFF2-40B4-BE49-F238E27FC236}">
                <a16:creationId xmlns:a16="http://schemas.microsoft.com/office/drawing/2014/main" id="{153511E5-DE7F-CE76-8A5C-2897AEE44877}"/>
              </a:ext>
            </a:extLst>
          </p:cNvPr>
          <p:cNvSpPr>
            <a:spLocks noGrp="1"/>
          </p:cNvSpPr>
          <p:nvPr>
            <p:ph idx="1"/>
          </p:nvPr>
        </p:nvSpPr>
        <p:spPr/>
        <p:txBody>
          <a:bodyPr/>
          <a:lstStyle/>
          <a:p>
            <a:r>
              <a:rPr lang="en-US" altLang="zh-TW" dirty="0"/>
              <a:t>There is already some speech-to-speech dialogue datasets (e.g.,  VoiceAssistant400K)</a:t>
            </a:r>
            <a:endParaRPr lang="zh-TW" altLang="en-US" dirty="0"/>
          </a:p>
        </p:txBody>
      </p:sp>
      <p:sp>
        <p:nvSpPr>
          <p:cNvPr id="17" name="文字方塊 16">
            <a:extLst>
              <a:ext uri="{FF2B5EF4-FFF2-40B4-BE49-F238E27FC236}">
                <a16:creationId xmlns:a16="http://schemas.microsoft.com/office/drawing/2014/main" id="{7EE83591-079A-5020-4580-3E887888FA87}"/>
              </a:ext>
            </a:extLst>
          </p:cNvPr>
          <p:cNvSpPr txBox="1"/>
          <p:nvPr/>
        </p:nvSpPr>
        <p:spPr>
          <a:xfrm>
            <a:off x="1226350" y="2809265"/>
            <a:ext cx="221910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文字方塊 17">
            <a:extLst>
              <a:ext uri="{FF2B5EF4-FFF2-40B4-BE49-F238E27FC236}">
                <a16:creationId xmlns:a16="http://schemas.microsoft.com/office/drawing/2014/main" id="{C78884DC-D04E-7FBF-197C-324972F3EE20}"/>
              </a:ext>
            </a:extLst>
          </p:cNvPr>
          <p:cNvSpPr txBox="1"/>
          <p:nvPr/>
        </p:nvSpPr>
        <p:spPr>
          <a:xfrm>
            <a:off x="9030051" y="2785152"/>
            <a:ext cx="221910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output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文字方塊 21">
            <a:extLst>
              <a:ext uri="{FF2B5EF4-FFF2-40B4-BE49-F238E27FC236}">
                <a16:creationId xmlns:a16="http://schemas.microsoft.com/office/drawing/2014/main" id="{913EDDFA-DA0B-F017-66F3-A22114C9EF17}"/>
              </a:ext>
            </a:extLst>
          </p:cNvPr>
          <p:cNvSpPr txBox="1"/>
          <p:nvPr/>
        </p:nvSpPr>
        <p:spPr>
          <a:xfrm>
            <a:off x="787108" y="4341320"/>
            <a:ext cx="314646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transcription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文字方塊 22">
            <a:extLst>
              <a:ext uri="{FF2B5EF4-FFF2-40B4-BE49-F238E27FC236}">
                <a16:creationId xmlns:a16="http://schemas.microsoft.com/office/drawing/2014/main" id="{6904AFFD-0F44-9B68-67D5-87D8AB8359A0}"/>
              </a:ext>
            </a:extLst>
          </p:cNvPr>
          <p:cNvSpPr txBox="1"/>
          <p:nvPr/>
        </p:nvSpPr>
        <p:spPr>
          <a:xfrm>
            <a:off x="8534056" y="4350800"/>
            <a:ext cx="314646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transcription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矩形: 圓角 23">
            <a:extLst>
              <a:ext uri="{FF2B5EF4-FFF2-40B4-BE49-F238E27FC236}">
                <a16:creationId xmlns:a16="http://schemas.microsoft.com/office/drawing/2014/main" id="{D6D0FCB2-4225-B62B-164A-0D0B2968B805}"/>
              </a:ext>
            </a:extLst>
          </p:cNvPr>
          <p:cNvSpPr/>
          <p:nvPr/>
        </p:nvSpPr>
        <p:spPr>
          <a:xfrm>
            <a:off x="5136352" y="5229126"/>
            <a:ext cx="2202797" cy="947837"/>
          </a:xfrm>
          <a:prstGeom prst="roundRect">
            <a:avLst/>
          </a:prstGeom>
          <a:solidFill>
            <a:schemeClr val="accent6">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gpt-4o</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33" name="群組 32">
            <a:extLst>
              <a:ext uri="{FF2B5EF4-FFF2-40B4-BE49-F238E27FC236}">
                <a16:creationId xmlns:a16="http://schemas.microsoft.com/office/drawing/2014/main" id="{216E0626-A9BF-0F8B-A012-2A482458CDDA}"/>
              </a:ext>
            </a:extLst>
          </p:cNvPr>
          <p:cNvGrpSpPr/>
          <p:nvPr/>
        </p:nvGrpSpPr>
        <p:grpSpPr>
          <a:xfrm>
            <a:off x="3762876" y="2809266"/>
            <a:ext cx="5040756" cy="929114"/>
            <a:chOff x="4357459" y="3154794"/>
            <a:chExt cx="5040756" cy="929114"/>
          </a:xfrm>
        </p:grpSpPr>
        <p:sp>
          <p:nvSpPr>
            <p:cNvPr id="25" name="矩形: 圓角 24">
              <a:extLst>
                <a:ext uri="{FF2B5EF4-FFF2-40B4-BE49-F238E27FC236}">
                  <a16:creationId xmlns:a16="http://schemas.microsoft.com/office/drawing/2014/main" id="{21066B6E-2127-ED6A-75EF-E60566213409}"/>
                </a:ext>
              </a:extLst>
            </p:cNvPr>
            <p:cNvSpPr/>
            <p:nvPr/>
          </p:nvSpPr>
          <p:spPr>
            <a:xfrm>
              <a:off x="4357459" y="3622243"/>
              <a:ext cx="5040756" cy="461665"/>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文字方塊 31">
              <a:extLst>
                <a:ext uri="{FF2B5EF4-FFF2-40B4-BE49-F238E27FC236}">
                  <a16:creationId xmlns:a16="http://schemas.microsoft.com/office/drawing/2014/main" id="{830B4599-91EF-B821-2EB4-94988FDF1C12}"/>
                </a:ext>
              </a:extLst>
            </p:cNvPr>
            <p:cNvSpPr txBox="1"/>
            <p:nvPr/>
          </p:nvSpPr>
          <p:spPr>
            <a:xfrm>
              <a:off x="5494698" y="3154794"/>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Reasoning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cxnSp>
        <p:nvCxnSpPr>
          <p:cNvPr id="34" name="直線單箭頭接點 33">
            <a:extLst>
              <a:ext uri="{FF2B5EF4-FFF2-40B4-BE49-F238E27FC236}">
                <a16:creationId xmlns:a16="http://schemas.microsoft.com/office/drawing/2014/main" id="{0C3591F3-E191-98D8-D558-26B796435B1D}"/>
              </a:ext>
            </a:extLst>
          </p:cNvPr>
          <p:cNvCxnSpPr>
            <a:cxnSpLocks/>
          </p:cNvCxnSpPr>
          <p:nvPr/>
        </p:nvCxnSpPr>
        <p:spPr>
          <a:xfrm flipV="1">
            <a:off x="6262060" y="3873870"/>
            <a:ext cx="0" cy="121248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17797A2F-F280-667E-6FBE-9902B6BD6ECC}"/>
              </a:ext>
            </a:extLst>
          </p:cNvPr>
          <p:cNvCxnSpPr>
            <a:cxnSpLocks/>
          </p:cNvCxnSpPr>
          <p:nvPr/>
        </p:nvCxnSpPr>
        <p:spPr>
          <a:xfrm>
            <a:off x="2390219" y="5701795"/>
            <a:ext cx="265564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1542BCD9-33E9-9051-6525-C964B0DD9323}"/>
              </a:ext>
            </a:extLst>
          </p:cNvPr>
          <p:cNvCxnSpPr>
            <a:cxnSpLocks/>
          </p:cNvCxnSpPr>
          <p:nvPr/>
        </p:nvCxnSpPr>
        <p:spPr>
          <a:xfrm flipH="1">
            <a:off x="7489742" y="5701795"/>
            <a:ext cx="265564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B0406C22-F119-80C3-056A-614B7AF89247}"/>
              </a:ext>
            </a:extLst>
          </p:cNvPr>
          <p:cNvCxnSpPr>
            <a:cxnSpLocks/>
          </p:cNvCxnSpPr>
          <p:nvPr/>
        </p:nvCxnSpPr>
        <p:spPr>
          <a:xfrm flipV="1">
            <a:off x="2335901" y="4802985"/>
            <a:ext cx="0" cy="92609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C2F4645B-EF17-BEAD-1B37-86B1C07BD5A0}"/>
              </a:ext>
            </a:extLst>
          </p:cNvPr>
          <p:cNvCxnSpPr>
            <a:cxnSpLocks/>
          </p:cNvCxnSpPr>
          <p:nvPr/>
        </p:nvCxnSpPr>
        <p:spPr>
          <a:xfrm flipV="1">
            <a:off x="10164439" y="4775705"/>
            <a:ext cx="0" cy="92609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矩形: 圓角 42">
            <a:extLst>
              <a:ext uri="{FF2B5EF4-FFF2-40B4-BE49-F238E27FC236}">
                <a16:creationId xmlns:a16="http://schemas.microsoft.com/office/drawing/2014/main" id="{317D8574-0739-AB72-CB67-0DD165D7BB2D}"/>
              </a:ext>
            </a:extLst>
          </p:cNvPr>
          <p:cNvSpPr/>
          <p:nvPr/>
        </p:nvSpPr>
        <p:spPr>
          <a:xfrm>
            <a:off x="1053157" y="3282186"/>
            <a:ext cx="2664885" cy="461665"/>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矩形: 圓角 44">
            <a:extLst>
              <a:ext uri="{FF2B5EF4-FFF2-40B4-BE49-F238E27FC236}">
                <a16:creationId xmlns:a16="http://schemas.microsoft.com/office/drawing/2014/main" id="{61090E1F-82FD-320F-6B64-830EE7083B46}"/>
              </a:ext>
            </a:extLst>
          </p:cNvPr>
          <p:cNvSpPr/>
          <p:nvPr/>
        </p:nvSpPr>
        <p:spPr>
          <a:xfrm>
            <a:off x="8852276" y="3282186"/>
            <a:ext cx="2664885" cy="461665"/>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矩形: 圓角 45">
            <a:extLst>
              <a:ext uri="{FF2B5EF4-FFF2-40B4-BE49-F238E27FC236}">
                <a16:creationId xmlns:a16="http://schemas.microsoft.com/office/drawing/2014/main" id="{DDD71694-0302-EBA8-8348-E2E48BF2678B}"/>
              </a:ext>
            </a:extLst>
          </p:cNvPr>
          <p:cNvSpPr/>
          <p:nvPr/>
        </p:nvSpPr>
        <p:spPr>
          <a:xfrm>
            <a:off x="1701899" y="3873870"/>
            <a:ext cx="1268004" cy="461665"/>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矩形: 圓角 47">
            <a:extLst>
              <a:ext uri="{FF2B5EF4-FFF2-40B4-BE49-F238E27FC236}">
                <a16:creationId xmlns:a16="http://schemas.microsoft.com/office/drawing/2014/main" id="{7668BA66-B9F4-BE41-9957-945882E9CD0E}"/>
              </a:ext>
            </a:extLst>
          </p:cNvPr>
          <p:cNvSpPr/>
          <p:nvPr/>
        </p:nvSpPr>
        <p:spPr>
          <a:xfrm>
            <a:off x="9505600" y="3873870"/>
            <a:ext cx="1268004" cy="461665"/>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6294447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P spid="46" grpId="0" animBg="1"/>
      <p:bldP spid="48"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1B1E9-F192-85BC-DFCC-555929874144}"/>
            </a:ext>
          </a:extLst>
        </p:cNvPr>
        <p:cNvGrpSpPr/>
        <p:nvPr/>
      </p:nvGrpSpPr>
      <p:grpSpPr>
        <a:xfrm>
          <a:off x="0" y="0"/>
          <a:ext cx="0" cy="0"/>
          <a:chOff x="0" y="0"/>
          <a:chExt cx="0" cy="0"/>
        </a:xfrm>
      </p:grpSpPr>
      <p:sp>
        <p:nvSpPr>
          <p:cNvPr id="17" name="文字方塊 16">
            <a:extLst>
              <a:ext uri="{FF2B5EF4-FFF2-40B4-BE49-F238E27FC236}">
                <a16:creationId xmlns:a16="http://schemas.microsoft.com/office/drawing/2014/main" id="{51E67735-0374-B4CD-C308-0FDBF712AE85}"/>
              </a:ext>
            </a:extLst>
          </p:cNvPr>
          <p:cNvSpPr txBox="1"/>
          <p:nvPr/>
        </p:nvSpPr>
        <p:spPr>
          <a:xfrm>
            <a:off x="1157402" y="923315"/>
            <a:ext cx="221910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文字方塊 17">
            <a:extLst>
              <a:ext uri="{FF2B5EF4-FFF2-40B4-BE49-F238E27FC236}">
                <a16:creationId xmlns:a16="http://schemas.microsoft.com/office/drawing/2014/main" id="{C0FA29BC-FC91-F9C9-4950-0991598AF815}"/>
              </a:ext>
            </a:extLst>
          </p:cNvPr>
          <p:cNvSpPr txBox="1"/>
          <p:nvPr/>
        </p:nvSpPr>
        <p:spPr>
          <a:xfrm>
            <a:off x="8996921" y="899202"/>
            <a:ext cx="221910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output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33" name="群組 32">
            <a:extLst>
              <a:ext uri="{FF2B5EF4-FFF2-40B4-BE49-F238E27FC236}">
                <a16:creationId xmlns:a16="http://schemas.microsoft.com/office/drawing/2014/main" id="{D14B7690-107B-052C-9FA0-D1D2E2052F97}"/>
              </a:ext>
            </a:extLst>
          </p:cNvPr>
          <p:cNvGrpSpPr/>
          <p:nvPr/>
        </p:nvGrpSpPr>
        <p:grpSpPr>
          <a:xfrm>
            <a:off x="3693928" y="923316"/>
            <a:ext cx="5040756" cy="929114"/>
            <a:chOff x="4357459" y="3154794"/>
            <a:chExt cx="5040756" cy="929114"/>
          </a:xfrm>
        </p:grpSpPr>
        <p:sp>
          <p:nvSpPr>
            <p:cNvPr id="25" name="矩形: 圓角 24">
              <a:extLst>
                <a:ext uri="{FF2B5EF4-FFF2-40B4-BE49-F238E27FC236}">
                  <a16:creationId xmlns:a16="http://schemas.microsoft.com/office/drawing/2014/main" id="{FFF1E32D-EA46-EC48-14FC-EBBF1144D3F7}"/>
                </a:ext>
              </a:extLst>
            </p:cNvPr>
            <p:cNvSpPr/>
            <p:nvPr/>
          </p:nvSpPr>
          <p:spPr>
            <a:xfrm>
              <a:off x="4357459" y="3622243"/>
              <a:ext cx="5040756" cy="461665"/>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文字方塊 31">
              <a:extLst>
                <a:ext uri="{FF2B5EF4-FFF2-40B4-BE49-F238E27FC236}">
                  <a16:creationId xmlns:a16="http://schemas.microsoft.com/office/drawing/2014/main" id="{B9A1A5DF-CB9F-520C-9AA4-28CBFCFF128B}"/>
                </a:ext>
              </a:extLst>
            </p:cNvPr>
            <p:cNvSpPr txBox="1"/>
            <p:nvPr/>
          </p:nvSpPr>
          <p:spPr>
            <a:xfrm>
              <a:off x="5494698" y="3154794"/>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Reasoning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43" name="矩形: 圓角 42">
            <a:extLst>
              <a:ext uri="{FF2B5EF4-FFF2-40B4-BE49-F238E27FC236}">
                <a16:creationId xmlns:a16="http://schemas.microsoft.com/office/drawing/2014/main" id="{0234BD8E-21F2-072B-A8B5-9BB954B7F1C4}"/>
              </a:ext>
            </a:extLst>
          </p:cNvPr>
          <p:cNvSpPr/>
          <p:nvPr/>
        </p:nvSpPr>
        <p:spPr>
          <a:xfrm>
            <a:off x="984209" y="1396236"/>
            <a:ext cx="2664885" cy="461665"/>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矩形: 圓角 44">
            <a:extLst>
              <a:ext uri="{FF2B5EF4-FFF2-40B4-BE49-F238E27FC236}">
                <a16:creationId xmlns:a16="http://schemas.microsoft.com/office/drawing/2014/main" id="{C5F79615-2907-07AC-F415-AC8F9F38A246}"/>
              </a:ext>
            </a:extLst>
          </p:cNvPr>
          <p:cNvSpPr/>
          <p:nvPr/>
        </p:nvSpPr>
        <p:spPr>
          <a:xfrm>
            <a:off x="8783328" y="1396236"/>
            <a:ext cx="2664885" cy="461665"/>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 name="直線單箭頭接點 3">
            <a:extLst>
              <a:ext uri="{FF2B5EF4-FFF2-40B4-BE49-F238E27FC236}">
                <a16:creationId xmlns:a16="http://schemas.microsoft.com/office/drawing/2014/main" id="{50F0D7A7-9845-5893-A070-D27117CD8536}"/>
              </a:ext>
            </a:extLst>
          </p:cNvPr>
          <p:cNvCxnSpPr>
            <a:cxnSpLocks/>
          </p:cNvCxnSpPr>
          <p:nvPr/>
        </p:nvCxnSpPr>
        <p:spPr>
          <a:xfrm flipV="1">
            <a:off x="5139575" y="1360867"/>
            <a:ext cx="0" cy="1088718"/>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單箭頭接點 6">
            <a:extLst>
              <a:ext uri="{FF2B5EF4-FFF2-40B4-BE49-F238E27FC236}">
                <a16:creationId xmlns:a16="http://schemas.microsoft.com/office/drawing/2014/main" id="{2BD458D2-84FB-8863-0A9D-0C5E5AD83CF9}"/>
              </a:ext>
            </a:extLst>
          </p:cNvPr>
          <p:cNvCxnSpPr>
            <a:cxnSpLocks/>
          </p:cNvCxnSpPr>
          <p:nvPr/>
        </p:nvCxnSpPr>
        <p:spPr>
          <a:xfrm flipV="1">
            <a:off x="6568325" y="1360867"/>
            <a:ext cx="0" cy="1088718"/>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25E99200-0C2D-19D1-45BA-74CD4DC9C0E4}"/>
              </a:ext>
            </a:extLst>
          </p:cNvPr>
          <p:cNvCxnSpPr>
            <a:cxnSpLocks/>
          </p:cNvCxnSpPr>
          <p:nvPr/>
        </p:nvCxnSpPr>
        <p:spPr>
          <a:xfrm flipV="1">
            <a:off x="7978025" y="1348537"/>
            <a:ext cx="0" cy="1088718"/>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3B691317-3962-807A-C1DA-D48CD6773C1E}"/>
              </a:ext>
            </a:extLst>
          </p:cNvPr>
          <p:cNvSpPr txBox="1"/>
          <p:nvPr/>
        </p:nvSpPr>
        <p:spPr>
          <a:xfrm>
            <a:off x="3886387" y="2086038"/>
            <a:ext cx="104775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100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A58A2C76-982E-2FD5-9D19-460585F7E38F}"/>
              </a:ext>
            </a:extLst>
          </p:cNvPr>
          <p:cNvSpPr txBox="1"/>
          <p:nvPr/>
        </p:nvSpPr>
        <p:spPr>
          <a:xfrm>
            <a:off x="5375030" y="2095518"/>
            <a:ext cx="104775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100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文字方塊 11">
            <a:extLst>
              <a:ext uri="{FF2B5EF4-FFF2-40B4-BE49-F238E27FC236}">
                <a16:creationId xmlns:a16="http://schemas.microsoft.com/office/drawing/2014/main" id="{9EE06301-90FD-559D-D158-15A0A9247C57}"/>
              </a:ext>
            </a:extLst>
          </p:cNvPr>
          <p:cNvSpPr txBox="1"/>
          <p:nvPr/>
        </p:nvSpPr>
        <p:spPr>
          <a:xfrm>
            <a:off x="6749300" y="2095518"/>
            <a:ext cx="104775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100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文字方塊 25">
            <a:extLst>
              <a:ext uri="{FF2B5EF4-FFF2-40B4-BE49-F238E27FC236}">
                <a16:creationId xmlns:a16="http://schemas.microsoft.com/office/drawing/2014/main" id="{AF745C54-F1C8-B023-4374-ACD0AEC5FF22}"/>
              </a:ext>
            </a:extLst>
          </p:cNvPr>
          <p:cNvSpPr txBox="1"/>
          <p:nvPr/>
        </p:nvSpPr>
        <p:spPr>
          <a:xfrm>
            <a:off x="4120679" y="1396236"/>
            <a:ext cx="71899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文字方塊 26">
            <a:extLst>
              <a:ext uri="{FF2B5EF4-FFF2-40B4-BE49-F238E27FC236}">
                <a16:creationId xmlns:a16="http://schemas.microsoft.com/office/drawing/2014/main" id="{E868BE90-642F-7D82-9C90-2AB1B9E248C6}"/>
              </a:ext>
            </a:extLst>
          </p:cNvPr>
          <p:cNvSpPr txBox="1"/>
          <p:nvPr/>
        </p:nvSpPr>
        <p:spPr>
          <a:xfrm>
            <a:off x="5539408" y="1384980"/>
            <a:ext cx="71899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文字方塊 27">
            <a:extLst>
              <a:ext uri="{FF2B5EF4-FFF2-40B4-BE49-F238E27FC236}">
                <a16:creationId xmlns:a16="http://schemas.microsoft.com/office/drawing/2014/main" id="{97C0C47F-8756-6CC4-4288-A1940A6F01FF}"/>
              </a:ext>
            </a:extLst>
          </p:cNvPr>
          <p:cNvSpPr txBox="1"/>
          <p:nvPr/>
        </p:nvSpPr>
        <p:spPr>
          <a:xfrm>
            <a:off x="6949107" y="1412181"/>
            <a:ext cx="71899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2AF772A1-1CED-D509-068F-43834A5613ED}"/>
              </a:ext>
            </a:extLst>
          </p:cNvPr>
          <p:cNvSpPr/>
          <p:nvPr/>
        </p:nvSpPr>
        <p:spPr>
          <a:xfrm>
            <a:off x="1075693" y="4085938"/>
            <a:ext cx="1592432" cy="1088718"/>
          </a:xfrm>
          <a:prstGeom prst="roundRect">
            <a:avLst/>
          </a:prstGeom>
          <a:solidFill>
            <a:schemeClr val="accent4">
              <a:lumMod val="20000"/>
              <a:lumOff val="80000"/>
            </a:schemeClr>
          </a:solidFill>
          <a:ln w="5715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C12B5E3A-9F44-1D00-BF04-BE1FCC78FBE9}"/>
              </a:ext>
            </a:extLst>
          </p:cNvPr>
          <p:cNvSpPr txBox="1"/>
          <p:nvPr/>
        </p:nvSpPr>
        <p:spPr>
          <a:xfrm>
            <a:off x="969765" y="5294188"/>
            <a:ext cx="2896958"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Finetune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GLM-4-Voice-9B</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9" name="直線單箭頭接點 38">
            <a:extLst>
              <a:ext uri="{FF2B5EF4-FFF2-40B4-BE49-F238E27FC236}">
                <a16:creationId xmlns:a16="http://schemas.microsoft.com/office/drawing/2014/main" id="{DFEBF7E2-CDD8-6AA3-9BFF-3DF3212AC279}"/>
              </a:ext>
            </a:extLst>
          </p:cNvPr>
          <p:cNvCxnSpPr>
            <a:cxnSpLocks/>
          </p:cNvCxnSpPr>
          <p:nvPr/>
        </p:nvCxnSpPr>
        <p:spPr>
          <a:xfrm>
            <a:off x="2805434" y="4630297"/>
            <a:ext cx="58168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圓角 48">
            <a:extLst>
              <a:ext uri="{FF2B5EF4-FFF2-40B4-BE49-F238E27FC236}">
                <a16:creationId xmlns:a16="http://schemas.microsoft.com/office/drawing/2014/main" id="{133F331A-4851-E7AD-B621-F8A5390ED635}"/>
              </a:ext>
            </a:extLst>
          </p:cNvPr>
          <p:cNvSpPr/>
          <p:nvPr/>
        </p:nvSpPr>
        <p:spPr>
          <a:xfrm>
            <a:off x="3513260" y="4399463"/>
            <a:ext cx="706927" cy="461665"/>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0" name="矩形: 圓角 49">
            <a:extLst>
              <a:ext uri="{FF2B5EF4-FFF2-40B4-BE49-F238E27FC236}">
                <a16:creationId xmlns:a16="http://schemas.microsoft.com/office/drawing/2014/main" id="{26DA5652-DC2B-98A1-54E2-32E9779E70E7}"/>
              </a:ext>
            </a:extLst>
          </p:cNvPr>
          <p:cNvSpPr/>
          <p:nvPr/>
        </p:nvSpPr>
        <p:spPr>
          <a:xfrm>
            <a:off x="4268172" y="4399463"/>
            <a:ext cx="1449394" cy="461665"/>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5" name="矩形: 圓角 54">
            <a:extLst>
              <a:ext uri="{FF2B5EF4-FFF2-40B4-BE49-F238E27FC236}">
                <a16:creationId xmlns:a16="http://schemas.microsoft.com/office/drawing/2014/main" id="{93C8E0A2-A1DF-099A-1706-863B52B9D74D}"/>
              </a:ext>
            </a:extLst>
          </p:cNvPr>
          <p:cNvSpPr/>
          <p:nvPr/>
        </p:nvSpPr>
        <p:spPr>
          <a:xfrm>
            <a:off x="6003743" y="4399463"/>
            <a:ext cx="706927" cy="461665"/>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6" name="矩形: 圓角 55">
            <a:extLst>
              <a:ext uri="{FF2B5EF4-FFF2-40B4-BE49-F238E27FC236}">
                <a16:creationId xmlns:a16="http://schemas.microsoft.com/office/drawing/2014/main" id="{27DDFB7E-106A-866F-D4C7-297673B57C12}"/>
              </a:ext>
            </a:extLst>
          </p:cNvPr>
          <p:cNvSpPr/>
          <p:nvPr/>
        </p:nvSpPr>
        <p:spPr>
          <a:xfrm>
            <a:off x="6758655" y="4399463"/>
            <a:ext cx="1449394" cy="461665"/>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8" name="矩形: 圓角 57">
            <a:extLst>
              <a:ext uri="{FF2B5EF4-FFF2-40B4-BE49-F238E27FC236}">
                <a16:creationId xmlns:a16="http://schemas.microsoft.com/office/drawing/2014/main" id="{4985B567-4A43-6AF5-F4BB-60A2FD339E05}"/>
              </a:ext>
            </a:extLst>
          </p:cNvPr>
          <p:cNvSpPr/>
          <p:nvPr/>
        </p:nvSpPr>
        <p:spPr>
          <a:xfrm>
            <a:off x="8476118" y="4399463"/>
            <a:ext cx="706927" cy="461665"/>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9" name="矩形: 圓角 58">
            <a:extLst>
              <a:ext uri="{FF2B5EF4-FFF2-40B4-BE49-F238E27FC236}">
                <a16:creationId xmlns:a16="http://schemas.microsoft.com/office/drawing/2014/main" id="{9E974A3A-7851-6ABE-9C22-8634F428673D}"/>
              </a:ext>
            </a:extLst>
          </p:cNvPr>
          <p:cNvSpPr/>
          <p:nvPr/>
        </p:nvSpPr>
        <p:spPr>
          <a:xfrm>
            <a:off x="9231030" y="4399463"/>
            <a:ext cx="1449394" cy="461665"/>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0" name="文字方塊 59">
            <a:extLst>
              <a:ext uri="{FF2B5EF4-FFF2-40B4-BE49-F238E27FC236}">
                <a16:creationId xmlns:a16="http://schemas.microsoft.com/office/drawing/2014/main" id="{09FC5DE8-DB0D-D9F2-5147-6FCE408B889F}"/>
              </a:ext>
            </a:extLst>
          </p:cNvPr>
          <p:cNvSpPr txBox="1"/>
          <p:nvPr/>
        </p:nvSpPr>
        <p:spPr>
          <a:xfrm>
            <a:off x="5180581" y="5157131"/>
            <a:ext cx="32439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Learning Target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1" name="文字方塊 60">
            <a:extLst>
              <a:ext uri="{FF2B5EF4-FFF2-40B4-BE49-F238E27FC236}">
                <a16:creationId xmlns:a16="http://schemas.microsoft.com/office/drawing/2014/main" id="{E6FD54C4-A09F-17C7-D3CE-31A3A1451718}"/>
              </a:ext>
            </a:extLst>
          </p:cNvPr>
          <p:cNvSpPr txBox="1"/>
          <p:nvPr/>
        </p:nvSpPr>
        <p:spPr>
          <a:xfrm>
            <a:off x="4688893" y="4408943"/>
            <a:ext cx="71899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2" name="文字方塊 61">
            <a:extLst>
              <a:ext uri="{FF2B5EF4-FFF2-40B4-BE49-F238E27FC236}">
                <a16:creationId xmlns:a16="http://schemas.microsoft.com/office/drawing/2014/main" id="{7CAF9A0E-487C-569E-4157-B0CDB6D2C36D}"/>
              </a:ext>
            </a:extLst>
          </p:cNvPr>
          <p:cNvSpPr txBox="1"/>
          <p:nvPr/>
        </p:nvSpPr>
        <p:spPr>
          <a:xfrm>
            <a:off x="7157558" y="4399462"/>
            <a:ext cx="71899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3" name="文字方塊 62">
            <a:extLst>
              <a:ext uri="{FF2B5EF4-FFF2-40B4-BE49-F238E27FC236}">
                <a16:creationId xmlns:a16="http://schemas.microsoft.com/office/drawing/2014/main" id="{1E0152BE-AE06-5294-7490-81FAAB6A203D}"/>
              </a:ext>
            </a:extLst>
          </p:cNvPr>
          <p:cNvSpPr txBox="1"/>
          <p:nvPr/>
        </p:nvSpPr>
        <p:spPr>
          <a:xfrm>
            <a:off x="9605849" y="4399462"/>
            <a:ext cx="71899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 name="直線單箭頭接點 1">
            <a:extLst>
              <a:ext uri="{FF2B5EF4-FFF2-40B4-BE49-F238E27FC236}">
                <a16:creationId xmlns:a16="http://schemas.microsoft.com/office/drawing/2014/main" id="{F6658F10-756E-30F3-D185-65C3984E8282}"/>
              </a:ext>
            </a:extLst>
          </p:cNvPr>
          <p:cNvCxnSpPr>
            <a:cxnSpLocks/>
          </p:cNvCxnSpPr>
          <p:nvPr/>
        </p:nvCxnSpPr>
        <p:spPr>
          <a:xfrm flipV="1">
            <a:off x="9428618" y="1360867"/>
            <a:ext cx="0" cy="734651"/>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文字方塊 4">
            <a:extLst>
              <a:ext uri="{FF2B5EF4-FFF2-40B4-BE49-F238E27FC236}">
                <a16:creationId xmlns:a16="http://schemas.microsoft.com/office/drawing/2014/main" id="{89188B4B-5888-A803-1568-5BB9C576AB21}"/>
              </a:ext>
            </a:extLst>
          </p:cNvPr>
          <p:cNvSpPr txBox="1"/>
          <p:nvPr/>
        </p:nvSpPr>
        <p:spPr>
          <a:xfrm>
            <a:off x="8804873" y="1379917"/>
            <a:ext cx="71899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文字方塊 5">
            <a:extLst>
              <a:ext uri="{FF2B5EF4-FFF2-40B4-BE49-F238E27FC236}">
                <a16:creationId xmlns:a16="http://schemas.microsoft.com/office/drawing/2014/main" id="{AE451E0E-A4C7-A022-4474-28A18AC90D8F}"/>
              </a:ext>
            </a:extLst>
          </p:cNvPr>
          <p:cNvSpPr txBox="1"/>
          <p:nvPr/>
        </p:nvSpPr>
        <p:spPr>
          <a:xfrm>
            <a:off x="8176917" y="1307429"/>
            <a:ext cx="114160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id="{8E631B18-C5C0-133D-7D26-3B42A42223EF}"/>
              </a:ext>
            </a:extLst>
          </p:cNvPr>
          <p:cNvSpPr txBox="1"/>
          <p:nvPr/>
        </p:nvSpPr>
        <p:spPr>
          <a:xfrm>
            <a:off x="10974458" y="1307429"/>
            <a:ext cx="114160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3" name="直線單箭頭接點 12">
            <a:extLst>
              <a:ext uri="{FF2B5EF4-FFF2-40B4-BE49-F238E27FC236}">
                <a16:creationId xmlns:a16="http://schemas.microsoft.com/office/drawing/2014/main" id="{6A0FDFAD-9C54-0129-E156-720BB4BA78E5}"/>
              </a:ext>
            </a:extLst>
          </p:cNvPr>
          <p:cNvCxnSpPr>
            <a:cxnSpLocks/>
          </p:cNvCxnSpPr>
          <p:nvPr/>
        </p:nvCxnSpPr>
        <p:spPr>
          <a:xfrm flipV="1">
            <a:off x="10069968" y="1379917"/>
            <a:ext cx="0" cy="734651"/>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08BB06BC-F932-592A-8D87-1FB6282A2BE0}"/>
              </a:ext>
            </a:extLst>
          </p:cNvPr>
          <p:cNvSpPr txBox="1"/>
          <p:nvPr/>
        </p:nvSpPr>
        <p:spPr>
          <a:xfrm>
            <a:off x="9395423" y="1398967"/>
            <a:ext cx="71899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5" name="直線單箭頭接點 14">
            <a:extLst>
              <a:ext uri="{FF2B5EF4-FFF2-40B4-BE49-F238E27FC236}">
                <a16:creationId xmlns:a16="http://schemas.microsoft.com/office/drawing/2014/main" id="{FD9380DC-374F-AEA3-A90F-5FEE3D625537}"/>
              </a:ext>
            </a:extLst>
          </p:cNvPr>
          <p:cNvCxnSpPr>
            <a:cxnSpLocks/>
          </p:cNvCxnSpPr>
          <p:nvPr/>
        </p:nvCxnSpPr>
        <p:spPr>
          <a:xfrm flipV="1">
            <a:off x="10685918" y="1398967"/>
            <a:ext cx="0" cy="734651"/>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F466751B-DBEB-4948-272F-A170D03C1E56}"/>
              </a:ext>
            </a:extLst>
          </p:cNvPr>
          <p:cNvSpPr txBox="1"/>
          <p:nvPr/>
        </p:nvSpPr>
        <p:spPr>
          <a:xfrm>
            <a:off x="10062173" y="1418017"/>
            <a:ext cx="71899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文字方塊 18">
            <a:extLst>
              <a:ext uri="{FF2B5EF4-FFF2-40B4-BE49-F238E27FC236}">
                <a16:creationId xmlns:a16="http://schemas.microsoft.com/office/drawing/2014/main" id="{BE7FDAB3-A787-D1F0-C4F5-CEF3208B9C88}"/>
              </a:ext>
            </a:extLst>
          </p:cNvPr>
          <p:cNvSpPr txBox="1"/>
          <p:nvPr/>
        </p:nvSpPr>
        <p:spPr>
          <a:xfrm>
            <a:off x="10876713" y="4309288"/>
            <a:ext cx="114160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9765090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5" grpId="0"/>
      <p:bldP spid="49" grpId="0" animBg="1"/>
      <p:bldP spid="50" grpId="0" animBg="1"/>
      <p:bldP spid="55" grpId="0" animBg="1"/>
      <p:bldP spid="56" grpId="0" animBg="1"/>
      <p:bldP spid="58" grpId="0" animBg="1"/>
      <p:bldP spid="59" grpId="0" animBg="1"/>
      <p:bldP spid="60" grpId="0"/>
      <p:bldP spid="61" grpId="0"/>
      <p:bldP spid="62" grpId="0"/>
      <p:bldP spid="63" grpId="0"/>
      <p:bldP spid="19"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C441BC-E601-7402-89DA-212B8155A772}"/>
              </a:ext>
            </a:extLst>
          </p:cNvPr>
          <p:cNvSpPr>
            <a:spLocks noGrp="1"/>
          </p:cNvSpPr>
          <p:nvPr>
            <p:ph type="title"/>
          </p:nvPr>
        </p:nvSpPr>
        <p:spPr/>
        <p:txBody>
          <a:bodyPr/>
          <a:lstStyle/>
          <a:p>
            <a:endParaRPr lang="zh-TW" altLang="en-US"/>
          </a:p>
        </p:txBody>
      </p:sp>
      <p:pic>
        <p:nvPicPr>
          <p:cNvPr id="6" name="內容版面配置區 5" descr="一張含有 文字, 螢幕擷取畫面, 圖表, 行 的圖片&#10;&#10;AI 產生的內容可能不正確。">
            <a:extLst>
              <a:ext uri="{FF2B5EF4-FFF2-40B4-BE49-F238E27FC236}">
                <a16:creationId xmlns:a16="http://schemas.microsoft.com/office/drawing/2014/main" id="{B226F8F9-4ECD-C267-55D4-A83FDADCF04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23996" y="596937"/>
            <a:ext cx="9563308" cy="5702226"/>
          </a:xfrm>
        </p:spPr>
      </p:pic>
      <p:sp>
        <p:nvSpPr>
          <p:cNvPr id="3" name="文字方塊 2">
            <a:extLst>
              <a:ext uri="{FF2B5EF4-FFF2-40B4-BE49-F238E27FC236}">
                <a16:creationId xmlns:a16="http://schemas.microsoft.com/office/drawing/2014/main" id="{9E39F278-6C18-1419-7545-259A10501EA0}"/>
              </a:ext>
            </a:extLst>
          </p:cNvPr>
          <p:cNvSpPr txBox="1"/>
          <p:nvPr/>
        </p:nvSpPr>
        <p:spPr>
          <a:xfrm>
            <a:off x="304696" y="4076700"/>
            <a:ext cx="2276527"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only slightly degrade the performance</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 name="文字方塊 3">
            <a:extLst>
              <a:ext uri="{FF2B5EF4-FFF2-40B4-BE49-F238E27FC236}">
                <a16:creationId xmlns:a16="http://schemas.microsoft.com/office/drawing/2014/main" id="{DA168364-2A30-02A1-0282-D6587088E10E}"/>
              </a:ext>
            </a:extLst>
          </p:cNvPr>
          <p:cNvSpPr txBox="1"/>
          <p:nvPr/>
        </p:nvSpPr>
        <p:spPr>
          <a:xfrm>
            <a:off x="304696" y="5969655"/>
            <a:ext cx="620561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Note: Audio quality is not influenced.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左大括弧 4">
            <a:extLst>
              <a:ext uri="{FF2B5EF4-FFF2-40B4-BE49-F238E27FC236}">
                <a16:creationId xmlns:a16="http://schemas.microsoft.com/office/drawing/2014/main" id="{5D85FBBE-FC20-505C-1AD5-A08E702DEE27}"/>
              </a:ext>
            </a:extLst>
          </p:cNvPr>
          <p:cNvSpPr/>
          <p:nvPr/>
        </p:nvSpPr>
        <p:spPr>
          <a:xfrm>
            <a:off x="2323996" y="3810000"/>
            <a:ext cx="476354" cy="1657350"/>
          </a:xfrm>
          <a:prstGeom prst="leftBrace">
            <a:avLst>
              <a:gd name="adj1" fmla="val 48324"/>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文字方塊 6">
            <a:extLst>
              <a:ext uri="{FF2B5EF4-FFF2-40B4-BE49-F238E27FC236}">
                <a16:creationId xmlns:a16="http://schemas.microsoft.com/office/drawing/2014/main" id="{75E859C9-B4C5-C0D7-DC7C-8A684EE8EBA4}"/>
              </a:ext>
            </a:extLst>
          </p:cNvPr>
          <p:cNvSpPr txBox="1"/>
          <p:nvPr/>
        </p:nvSpPr>
        <p:spPr>
          <a:xfrm>
            <a:off x="10191750" y="1048563"/>
            <a:ext cx="1695554"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Same latency</a:t>
            </a:r>
            <a:endParaRPr kumimoji="0" lang="zh-TW" altLang="en-US" sz="2800" b="1"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cxnSp>
        <p:nvCxnSpPr>
          <p:cNvPr id="9" name="直線單箭頭接點 8">
            <a:extLst>
              <a:ext uri="{FF2B5EF4-FFF2-40B4-BE49-F238E27FC236}">
                <a16:creationId xmlns:a16="http://schemas.microsoft.com/office/drawing/2014/main" id="{A790E9F0-0EED-92EF-2B7C-F740F9433402}"/>
              </a:ext>
            </a:extLst>
          </p:cNvPr>
          <p:cNvCxnSpPr>
            <a:cxnSpLocks/>
          </p:cNvCxnSpPr>
          <p:nvPr/>
        </p:nvCxnSpPr>
        <p:spPr>
          <a:xfrm flipH="1">
            <a:off x="10020300" y="2209800"/>
            <a:ext cx="1552575" cy="0"/>
          </a:xfrm>
          <a:prstGeom prst="straightConnector1">
            <a:avLst/>
          </a:prstGeom>
          <a:ln w="5715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5F7C5059-0A4D-104C-A779-9F7283F18B6C}"/>
              </a:ext>
            </a:extLst>
          </p:cNvPr>
          <p:cNvCxnSpPr>
            <a:cxnSpLocks/>
          </p:cNvCxnSpPr>
          <p:nvPr/>
        </p:nvCxnSpPr>
        <p:spPr>
          <a:xfrm flipH="1">
            <a:off x="10868025" y="5200650"/>
            <a:ext cx="704850" cy="0"/>
          </a:xfrm>
          <a:prstGeom prst="straightConnector1">
            <a:avLst/>
          </a:prstGeom>
          <a:ln w="5715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FF5BF8E9-EDA5-201C-4772-ACC5C145D04B}"/>
              </a:ext>
            </a:extLst>
          </p:cNvPr>
          <p:cNvCxnSpPr>
            <a:cxnSpLocks/>
          </p:cNvCxnSpPr>
          <p:nvPr/>
        </p:nvCxnSpPr>
        <p:spPr>
          <a:xfrm flipH="1" flipV="1">
            <a:off x="11572874" y="2209800"/>
            <a:ext cx="1" cy="2990850"/>
          </a:xfrm>
          <a:prstGeom prst="straightConnector1">
            <a:avLst/>
          </a:prstGeom>
          <a:ln w="57150">
            <a:solidFill>
              <a:srgbClr val="FF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AB60D0E7-A221-1736-1705-7457E71DC9CB}"/>
              </a:ext>
            </a:extLst>
          </p:cNvPr>
          <p:cNvCxnSpPr>
            <a:cxnSpLocks/>
          </p:cNvCxnSpPr>
          <p:nvPr/>
        </p:nvCxnSpPr>
        <p:spPr>
          <a:xfrm>
            <a:off x="8277069" y="1142398"/>
            <a:ext cx="481013" cy="11227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898E7391-7F03-7213-05B5-4CB55477D064}"/>
              </a:ext>
            </a:extLst>
          </p:cNvPr>
          <p:cNvCxnSpPr>
            <a:cxnSpLocks/>
          </p:cNvCxnSpPr>
          <p:nvPr/>
        </p:nvCxnSpPr>
        <p:spPr>
          <a:xfrm>
            <a:off x="9072511" y="2288909"/>
            <a:ext cx="947789" cy="10275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942B83DC-95DB-0DC5-222D-588C8747ED9C}"/>
              </a:ext>
            </a:extLst>
          </p:cNvPr>
          <p:cNvSpPr txBox="1"/>
          <p:nvPr/>
        </p:nvSpPr>
        <p:spPr>
          <a:xfrm>
            <a:off x="5142309" y="1459855"/>
            <a:ext cx="3352800"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extra training data</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文字方塊 21">
            <a:extLst>
              <a:ext uri="{FF2B5EF4-FFF2-40B4-BE49-F238E27FC236}">
                <a16:creationId xmlns:a16="http://schemas.microsoft.com/office/drawing/2014/main" id="{F0EE9759-C8EF-1614-EA2D-8EE23D4A261A}"/>
              </a:ext>
            </a:extLst>
          </p:cNvPr>
          <p:cNvSpPr txBox="1"/>
          <p:nvPr/>
        </p:nvSpPr>
        <p:spPr>
          <a:xfrm>
            <a:off x="5994746" y="2458870"/>
            <a:ext cx="3352800"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reasoning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6885394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7" grpId="0"/>
      <p:bldP spid="21" grpId="0"/>
      <p:bldP spid="22"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8DA0C-5B3A-B471-F646-C03A85BF140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E7429CE-463C-F500-2FA0-8218532CF7CD}"/>
              </a:ext>
            </a:extLst>
          </p:cNvPr>
          <p:cNvSpPr>
            <a:spLocks noGrp="1"/>
          </p:cNvSpPr>
          <p:nvPr>
            <p:ph type="title"/>
          </p:nvPr>
        </p:nvSpPr>
        <p:spPr/>
        <p:txBody>
          <a:bodyPr/>
          <a:lstStyle/>
          <a:p>
            <a:r>
              <a:rPr lang="en-US" altLang="zh-TW" dirty="0"/>
              <a:t>Dynamic Reasoning Chunk Sizes </a:t>
            </a:r>
            <a:endParaRPr lang="zh-TW" altLang="en-US" dirty="0"/>
          </a:p>
        </p:txBody>
      </p:sp>
      <p:sp>
        <p:nvSpPr>
          <p:cNvPr id="31" name="文字方塊 30">
            <a:extLst>
              <a:ext uri="{FF2B5EF4-FFF2-40B4-BE49-F238E27FC236}">
                <a16:creationId xmlns:a16="http://schemas.microsoft.com/office/drawing/2014/main" id="{F761E668-2DFB-15D2-06F3-EB22FA9B224E}"/>
              </a:ext>
            </a:extLst>
          </p:cNvPr>
          <p:cNvSpPr txBox="1"/>
          <p:nvPr/>
        </p:nvSpPr>
        <p:spPr>
          <a:xfrm>
            <a:off x="1657631" y="4136673"/>
            <a:ext cx="20694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Decoder</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grpSp>
        <p:nvGrpSpPr>
          <p:cNvPr id="32" name="群組 31">
            <a:extLst>
              <a:ext uri="{FF2B5EF4-FFF2-40B4-BE49-F238E27FC236}">
                <a16:creationId xmlns:a16="http://schemas.microsoft.com/office/drawing/2014/main" id="{D79B3A9B-15C9-EDE0-B3A7-989070AC5709}"/>
              </a:ext>
            </a:extLst>
          </p:cNvPr>
          <p:cNvGrpSpPr/>
          <p:nvPr/>
        </p:nvGrpSpPr>
        <p:grpSpPr>
          <a:xfrm>
            <a:off x="3182577" y="5070939"/>
            <a:ext cx="6241029" cy="1069326"/>
            <a:chOff x="393073" y="5022255"/>
            <a:chExt cx="2117030" cy="878286"/>
          </a:xfrm>
        </p:grpSpPr>
        <p:pic>
          <p:nvPicPr>
            <p:cNvPr id="33"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BBBAA373-420E-DF53-6FA6-108C57CDEA51}"/>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34"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F39B5F4F-C3ED-3DB3-5074-A303AF466F12}"/>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grpSp>
        <p:nvGrpSpPr>
          <p:cNvPr id="35" name="群組 34">
            <a:extLst>
              <a:ext uri="{FF2B5EF4-FFF2-40B4-BE49-F238E27FC236}">
                <a16:creationId xmlns:a16="http://schemas.microsoft.com/office/drawing/2014/main" id="{34616D17-1CC4-506F-6409-CB39E34E2A4A}"/>
              </a:ext>
            </a:extLst>
          </p:cNvPr>
          <p:cNvGrpSpPr/>
          <p:nvPr/>
        </p:nvGrpSpPr>
        <p:grpSpPr>
          <a:xfrm>
            <a:off x="9532148" y="5057767"/>
            <a:ext cx="4856563" cy="1069326"/>
            <a:chOff x="393073" y="5022255"/>
            <a:chExt cx="2117030" cy="878286"/>
          </a:xfrm>
        </p:grpSpPr>
        <p:pic>
          <p:nvPicPr>
            <p:cNvPr id="36" name="Google Shape;3429;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3ACEF13C-4416-ABB9-E95E-997AC53215D5}"/>
                </a:ext>
              </a:extLst>
            </p:cNvPr>
            <p:cNvPicPr preferRelativeResize="0"/>
            <p:nvPr/>
          </p:nvPicPr>
          <p:blipFill rotWithShape="1">
            <a:blip r:embed="rId2">
              <a:alphaModFix/>
            </a:blip>
            <a:srcRect l="39924" t="74586" r="38724" b="15732"/>
            <a:stretch/>
          </p:blipFill>
          <p:spPr>
            <a:xfrm>
              <a:off x="393073" y="5022255"/>
              <a:ext cx="1347649" cy="809022"/>
            </a:xfrm>
            <a:prstGeom prst="rect">
              <a:avLst/>
            </a:prstGeom>
            <a:noFill/>
            <a:ln>
              <a:noFill/>
            </a:ln>
          </p:spPr>
        </p:pic>
        <p:pic>
          <p:nvPicPr>
            <p:cNvPr id="37" name="Google Shape;3430;p293" descr="https://lh3.googleusercontent.com/ErsprmYcrgXkAxt8GddRWWqvLg_rDp2yFTkxcS8T0t7xlWULZHifO-__ODwkQYArchxRaJCYFk8bS2rkx2dUceEB0bnIfswMqnR3V2ZMms8Or9J82k2r23hQnYEACGdvbHQmIFKU220">
              <a:extLst>
                <a:ext uri="{FF2B5EF4-FFF2-40B4-BE49-F238E27FC236}">
                  <a16:creationId xmlns:a16="http://schemas.microsoft.com/office/drawing/2014/main" id="{55707AEE-7652-4BBA-450A-7B24339043A4}"/>
                </a:ext>
              </a:extLst>
            </p:cNvPr>
            <p:cNvPicPr preferRelativeResize="0"/>
            <p:nvPr/>
          </p:nvPicPr>
          <p:blipFill rotWithShape="1">
            <a:blip r:embed="rId2">
              <a:alphaModFix/>
            </a:blip>
            <a:srcRect l="35083" t="84591" r="35071" b="1174"/>
            <a:stretch/>
          </p:blipFill>
          <p:spPr>
            <a:xfrm>
              <a:off x="1576011" y="5095308"/>
              <a:ext cx="934092" cy="805233"/>
            </a:xfrm>
            <a:prstGeom prst="rect">
              <a:avLst/>
            </a:prstGeom>
            <a:noFill/>
            <a:ln>
              <a:noFill/>
            </a:ln>
          </p:spPr>
        </p:pic>
      </p:grpSp>
      <p:pic>
        <p:nvPicPr>
          <p:cNvPr id="1026" name="Picture 2">
            <a:extLst>
              <a:ext uri="{FF2B5EF4-FFF2-40B4-BE49-F238E27FC236}">
                <a16:creationId xmlns:a16="http://schemas.microsoft.com/office/drawing/2014/main" id="{3E336A1E-0335-1561-10C2-1C47452EA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1909" y="4112526"/>
            <a:ext cx="721379" cy="721379"/>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直線單箭頭接點 41">
            <a:extLst>
              <a:ext uri="{FF2B5EF4-FFF2-40B4-BE49-F238E27FC236}">
                <a16:creationId xmlns:a16="http://schemas.microsoft.com/office/drawing/2014/main" id="{B84CE7B9-CD38-0C92-A26B-7BB36742CB57}"/>
              </a:ext>
            </a:extLst>
          </p:cNvPr>
          <p:cNvCxnSpPr>
            <a:cxnSpLocks/>
          </p:cNvCxnSpPr>
          <p:nvPr/>
        </p:nvCxnSpPr>
        <p:spPr>
          <a:xfrm>
            <a:off x="2057161" y="4729485"/>
            <a:ext cx="1270429" cy="7724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915BB388-B6D9-E54A-6D24-2E72D6853D29}"/>
              </a:ext>
            </a:extLst>
          </p:cNvPr>
          <p:cNvSpPr txBox="1"/>
          <p:nvPr/>
        </p:nvSpPr>
        <p:spPr>
          <a:xfrm>
            <a:off x="6269252" y="1909803"/>
            <a:ext cx="584685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On an A100, this only takes ~0.5 seconds.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DCE22048-F9FB-39D9-DF6F-137DF7275E02}"/>
              </a:ext>
            </a:extLst>
          </p:cNvPr>
          <p:cNvSpPr txBox="1"/>
          <p:nvPr/>
        </p:nvSpPr>
        <p:spPr>
          <a:xfrm>
            <a:off x="5069425" y="5940265"/>
            <a:ext cx="207264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 seconds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橢圓 2">
            <a:extLst>
              <a:ext uri="{FF2B5EF4-FFF2-40B4-BE49-F238E27FC236}">
                <a16:creationId xmlns:a16="http://schemas.microsoft.com/office/drawing/2014/main" id="{D4644C4F-F454-CF83-9A59-A85D68ED801A}"/>
              </a:ext>
            </a:extLst>
          </p:cNvPr>
          <p:cNvSpPr/>
          <p:nvPr/>
        </p:nvSpPr>
        <p:spPr>
          <a:xfrm>
            <a:off x="1048600" y="293743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 name="橢圓 3">
            <a:extLst>
              <a:ext uri="{FF2B5EF4-FFF2-40B4-BE49-F238E27FC236}">
                <a16:creationId xmlns:a16="http://schemas.microsoft.com/office/drawing/2014/main" id="{28E9E0BF-8996-E64D-3708-9CA6E49E2221}"/>
              </a:ext>
            </a:extLst>
          </p:cNvPr>
          <p:cNvSpPr/>
          <p:nvPr/>
        </p:nvSpPr>
        <p:spPr>
          <a:xfrm>
            <a:off x="1697161" y="293743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7" name="橢圓 6">
            <a:extLst>
              <a:ext uri="{FF2B5EF4-FFF2-40B4-BE49-F238E27FC236}">
                <a16:creationId xmlns:a16="http://schemas.microsoft.com/office/drawing/2014/main" id="{358AABF3-0299-A7CF-508C-C560053773F3}"/>
              </a:ext>
            </a:extLst>
          </p:cNvPr>
          <p:cNvSpPr/>
          <p:nvPr/>
        </p:nvSpPr>
        <p:spPr>
          <a:xfrm>
            <a:off x="2345722" y="293743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橢圓 7">
            <a:extLst>
              <a:ext uri="{FF2B5EF4-FFF2-40B4-BE49-F238E27FC236}">
                <a16:creationId xmlns:a16="http://schemas.microsoft.com/office/drawing/2014/main" id="{06DF2B66-DD6A-62B2-2A91-9C5EFE3CA3A7}"/>
              </a:ext>
            </a:extLst>
          </p:cNvPr>
          <p:cNvSpPr/>
          <p:nvPr/>
        </p:nvSpPr>
        <p:spPr>
          <a:xfrm>
            <a:off x="400039" y="293743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文字方塊 8">
            <a:extLst>
              <a:ext uri="{FF2B5EF4-FFF2-40B4-BE49-F238E27FC236}">
                <a16:creationId xmlns:a16="http://schemas.microsoft.com/office/drawing/2014/main" id="{0374BFB7-26ED-1634-C38B-68093AD31787}"/>
              </a:ext>
            </a:extLst>
          </p:cNvPr>
          <p:cNvSpPr txBox="1"/>
          <p:nvPr/>
        </p:nvSpPr>
        <p:spPr>
          <a:xfrm>
            <a:off x="583546" y="2385878"/>
            <a:ext cx="18969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39 tokens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橢圓 11">
            <a:extLst>
              <a:ext uri="{FF2B5EF4-FFF2-40B4-BE49-F238E27FC236}">
                <a16:creationId xmlns:a16="http://schemas.microsoft.com/office/drawing/2014/main" id="{7B147117-6186-425B-16A9-827DA1F7DEB8}"/>
              </a:ext>
            </a:extLst>
          </p:cNvPr>
          <p:cNvSpPr/>
          <p:nvPr/>
        </p:nvSpPr>
        <p:spPr>
          <a:xfrm>
            <a:off x="7384721" y="298183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橢圓 16">
            <a:extLst>
              <a:ext uri="{FF2B5EF4-FFF2-40B4-BE49-F238E27FC236}">
                <a16:creationId xmlns:a16="http://schemas.microsoft.com/office/drawing/2014/main" id="{FBBCCDDC-9234-3398-DEEF-FB12CD81A4EE}"/>
              </a:ext>
            </a:extLst>
          </p:cNvPr>
          <p:cNvSpPr/>
          <p:nvPr/>
        </p:nvSpPr>
        <p:spPr>
          <a:xfrm>
            <a:off x="8033282" y="298183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3" name="橢圓 22">
            <a:extLst>
              <a:ext uri="{FF2B5EF4-FFF2-40B4-BE49-F238E27FC236}">
                <a16:creationId xmlns:a16="http://schemas.microsoft.com/office/drawing/2014/main" id="{0CF05E92-860D-0E6E-7B79-40867F57CA45}"/>
              </a:ext>
            </a:extLst>
          </p:cNvPr>
          <p:cNvSpPr/>
          <p:nvPr/>
        </p:nvSpPr>
        <p:spPr>
          <a:xfrm>
            <a:off x="8681843" y="298183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 name="橢圓 23">
            <a:extLst>
              <a:ext uri="{FF2B5EF4-FFF2-40B4-BE49-F238E27FC236}">
                <a16:creationId xmlns:a16="http://schemas.microsoft.com/office/drawing/2014/main" id="{EF3270FC-8171-C95C-D3B8-533C41F3817E}"/>
              </a:ext>
            </a:extLst>
          </p:cNvPr>
          <p:cNvSpPr/>
          <p:nvPr/>
        </p:nvSpPr>
        <p:spPr>
          <a:xfrm>
            <a:off x="6736160" y="2981831"/>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5" name="直線單箭頭接點 24">
            <a:extLst>
              <a:ext uri="{FF2B5EF4-FFF2-40B4-BE49-F238E27FC236}">
                <a16:creationId xmlns:a16="http://schemas.microsoft.com/office/drawing/2014/main" id="{72EB2E3F-A5E3-A06E-2697-5DBF1B343EFF}"/>
              </a:ext>
            </a:extLst>
          </p:cNvPr>
          <p:cNvCxnSpPr>
            <a:cxnSpLocks/>
          </p:cNvCxnSpPr>
          <p:nvPr/>
        </p:nvCxnSpPr>
        <p:spPr>
          <a:xfrm>
            <a:off x="1540156" y="3425565"/>
            <a:ext cx="0" cy="53253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字方塊 47">
            <a:extLst>
              <a:ext uri="{FF2B5EF4-FFF2-40B4-BE49-F238E27FC236}">
                <a16:creationId xmlns:a16="http://schemas.microsoft.com/office/drawing/2014/main" id="{52EDAF26-6399-2E2B-3D18-22158F35D452}"/>
              </a:ext>
            </a:extLst>
          </p:cNvPr>
          <p:cNvSpPr txBox="1"/>
          <p:nvPr/>
        </p:nvSpPr>
        <p:spPr>
          <a:xfrm>
            <a:off x="8071432" y="4086122"/>
            <a:ext cx="20694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Decoder</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pic>
        <p:nvPicPr>
          <p:cNvPr id="49" name="Picture 2">
            <a:extLst>
              <a:ext uri="{FF2B5EF4-FFF2-40B4-BE49-F238E27FC236}">
                <a16:creationId xmlns:a16="http://schemas.microsoft.com/office/drawing/2014/main" id="{5A5A1B18-728D-E4C9-3605-59F6C21C61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1903" y="4061108"/>
            <a:ext cx="721379" cy="721379"/>
          </a:xfrm>
          <a:prstGeom prst="rect">
            <a:avLst/>
          </a:prstGeom>
          <a:noFill/>
          <a:extLst>
            <a:ext uri="{909E8E84-426E-40DD-AFC4-6F175D3DCCD1}">
              <a14:hiddenFill xmlns:a14="http://schemas.microsoft.com/office/drawing/2010/main">
                <a:solidFill>
                  <a:srgbClr val="FFFFFF"/>
                </a:solidFill>
              </a14:hiddenFill>
            </a:ext>
          </a:extLst>
        </p:spPr>
      </p:pic>
      <p:cxnSp>
        <p:nvCxnSpPr>
          <p:cNvPr id="52" name="直線單箭頭接點 51">
            <a:extLst>
              <a:ext uri="{FF2B5EF4-FFF2-40B4-BE49-F238E27FC236}">
                <a16:creationId xmlns:a16="http://schemas.microsoft.com/office/drawing/2014/main" id="{8ADBABAE-EC92-44C2-A4A0-90495FF7DDE1}"/>
              </a:ext>
            </a:extLst>
          </p:cNvPr>
          <p:cNvCxnSpPr>
            <a:cxnSpLocks/>
          </p:cNvCxnSpPr>
          <p:nvPr/>
        </p:nvCxnSpPr>
        <p:spPr>
          <a:xfrm>
            <a:off x="7916855" y="3425833"/>
            <a:ext cx="0" cy="53253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a16="http://schemas.microsoft.com/office/drawing/2014/main" id="{0F024640-01CA-93DA-3255-00DF51926A24}"/>
              </a:ext>
            </a:extLst>
          </p:cNvPr>
          <p:cNvSpPr txBox="1"/>
          <p:nvPr/>
        </p:nvSpPr>
        <p:spPr>
          <a:xfrm>
            <a:off x="6971748" y="2468797"/>
            <a:ext cx="18969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39 tokens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8" name="文字方塊 57">
            <a:extLst>
              <a:ext uri="{FF2B5EF4-FFF2-40B4-BE49-F238E27FC236}">
                <a16:creationId xmlns:a16="http://schemas.microsoft.com/office/drawing/2014/main" id="{A1314062-2E48-9089-568E-AD51BA4C61DE}"/>
              </a:ext>
            </a:extLst>
          </p:cNvPr>
          <p:cNvSpPr txBox="1"/>
          <p:nvPr/>
        </p:nvSpPr>
        <p:spPr>
          <a:xfrm>
            <a:off x="3553660" y="3449121"/>
            <a:ext cx="272353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1.5 seconds buffer?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60" name="直線單箭頭接點 59">
            <a:extLst>
              <a:ext uri="{FF2B5EF4-FFF2-40B4-BE49-F238E27FC236}">
                <a16:creationId xmlns:a16="http://schemas.microsoft.com/office/drawing/2014/main" id="{1A1FF7DA-7CD4-0E1F-D786-CCAC734E8967}"/>
              </a:ext>
            </a:extLst>
          </p:cNvPr>
          <p:cNvCxnSpPr>
            <a:cxnSpLocks/>
          </p:cNvCxnSpPr>
          <p:nvPr/>
        </p:nvCxnSpPr>
        <p:spPr>
          <a:xfrm>
            <a:off x="8488174" y="4597930"/>
            <a:ext cx="1270429" cy="7724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a:extLst>
              <a:ext uri="{FF2B5EF4-FFF2-40B4-BE49-F238E27FC236}">
                <a16:creationId xmlns:a16="http://schemas.microsoft.com/office/drawing/2014/main" id="{1408A9CA-CFA8-341B-C4D1-78CC1C3D3D04}"/>
              </a:ext>
            </a:extLst>
          </p:cNvPr>
          <p:cNvCxnSpPr>
            <a:cxnSpLocks/>
          </p:cNvCxnSpPr>
          <p:nvPr/>
        </p:nvCxnSpPr>
        <p:spPr>
          <a:xfrm flipV="1">
            <a:off x="9203716" y="2424689"/>
            <a:ext cx="708196" cy="586656"/>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14" name="群組 13">
            <a:extLst>
              <a:ext uri="{FF2B5EF4-FFF2-40B4-BE49-F238E27FC236}">
                <a16:creationId xmlns:a16="http://schemas.microsoft.com/office/drawing/2014/main" id="{A1A71506-59EC-7036-D60B-482E2317D060}"/>
              </a:ext>
            </a:extLst>
          </p:cNvPr>
          <p:cNvGrpSpPr/>
          <p:nvPr/>
        </p:nvGrpSpPr>
        <p:grpSpPr>
          <a:xfrm>
            <a:off x="3233294" y="2952108"/>
            <a:ext cx="3188270" cy="363488"/>
            <a:chOff x="3229606" y="2894958"/>
            <a:chExt cx="3188270" cy="363488"/>
          </a:xfrm>
        </p:grpSpPr>
        <p:sp>
          <p:nvSpPr>
            <p:cNvPr id="5" name="矩形: 圓角 4">
              <a:extLst>
                <a:ext uri="{FF2B5EF4-FFF2-40B4-BE49-F238E27FC236}">
                  <a16:creationId xmlns:a16="http://schemas.microsoft.com/office/drawing/2014/main" id="{DB4440C6-FE0D-0B35-5B47-9C40F871D8C6}"/>
                </a:ext>
              </a:extLst>
            </p:cNvPr>
            <p:cNvSpPr/>
            <p:nvPr/>
          </p:nvSpPr>
          <p:spPr>
            <a:xfrm>
              <a:off x="3229606" y="289495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矩形: 圓角 5">
              <a:extLst>
                <a:ext uri="{FF2B5EF4-FFF2-40B4-BE49-F238E27FC236}">
                  <a16:creationId xmlns:a16="http://schemas.microsoft.com/office/drawing/2014/main" id="{91B4E977-8BF3-95B2-252A-98DBDAE8F69D}"/>
                </a:ext>
              </a:extLst>
            </p:cNvPr>
            <p:cNvSpPr/>
            <p:nvPr/>
          </p:nvSpPr>
          <p:spPr>
            <a:xfrm>
              <a:off x="3885450" y="289495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00E56370-869E-F0B3-5313-457DB39504DE}"/>
                </a:ext>
              </a:extLst>
            </p:cNvPr>
            <p:cNvSpPr/>
            <p:nvPr/>
          </p:nvSpPr>
          <p:spPr>
            <a:xfrm>
              <a:off x="4541294" y="289495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3251109A-E112-A505-969A-1A25FE86D44E}"/>
                </a:ext>
              </a:extLst>
            </p:cNvPr>
            <p:cNvSpPr/>
            <p:nvPr/>
          </p:nvSpPr>
          <p:spPr>
            <a:xfrm>
              <a:off x="5197138" y="289495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F03F1B83-DE29-DC4B-3530-307A0CDB5898}"/>
                </a:ext>
              </a:extLst>
            </p:cNvPr>
            <p:cNvSpPr/>
            <p:nvPr/>
          </p:nvSpPr>
          <p:spPr>
            <a:xfrm>
              <a:off x="5852981" y="2898446"/>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15" name="文字方塊 14">
            <a:extLst>
              <a:ext uri="{FF2B5EF4-FFF2-40B4-BE49-F238E27FC236}">
                <a16:creationId xmlns:a16="http://schemas.microsoft.com/office/drawing/2014/main" id="{C0BE9FFA-47EE-57B2-48DD-6E941C8A4D62}"/>
              </a:ext>
            </a:extLst>
          </p:cNvPr>
          <p:cNvSpPr txBox="1"/>
          <p:nvPr/>
        </p:nvSpPr>
        <p:spPr>
          <a:xfrm>
            <a:off x="2988344" y="2385877"/>
            <a:ext cx="364843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100 reasoning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8" name="直線接點 17">
            <a:extLst>
              <a:ext uri="{FF2B5EF4-FFF2-40B4-BE49-F238E27FC236}">
                <a16:creationId xmlns:a16="http://schemas.microsoft.com/office/drawing/2014/main" id="{BAF1BE7D-A3D8-BB88-A7EA-5650B31C6A92}"/>
              </a:ext>
            </a:extLst>
          </p:cNvPr>
          <p:cNvCxnSpPr>
            <a:cxnSpLocks/>
          </p:cNvCxnSpPr>
          <p:nvPr/>
        </p:nvCxnSpPr>
        <p:spPr>
          <a:xfrm>
            <a:off x="7012165" y="1947878"/>
            <a:ext cx="945107" cy="46166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CCA53E4C-DE60-FD29-7F23-B0A04585C263}"/>
              </a:ext>
            </a:extLst>
          </p:cNvPr>
          <p:cNvCxnSpPr>
            <a:cxnSpLocks/>
          </p:cNvCxnSpPr>
          <p:nvPr/>
        </p:nvCxnSpPr>
        <p:spPr>
          <a:xfrm>
            <a:off x="9749974" y="1984152"/>
            <a:ext cx="774238" cy="35620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3AE65651-1EE0-B3E1-43CF-1EB0F882C9EB}"/>
              </a:ext>
            </a:extLst>
          </p:cNvPr>
          <p:cNvCxnSpPr>
            <a:cxnSpLocks/>
          </p:cNvCxnSpPr>
          <p:nvPr/>
        </p:nvCxnSpPr>
        <p:spPr>
          <a:xfrm>
            <a:off x="3638472" y="3546287"/>
            <a:ext cx="495013" cy="2519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8F8EF2C-4C65-247C-24A0-33F611E6CF79}"/>
              </a:ext>
            </a:extLst>
          </p:cNvPr>
          <p:cNvCxnSpPr>
            <a:cxnSpLocks/>
          </p:cNvCxnSpPr>
          <p:nvPr/>
        </p:nvCxnSpPr>
        <p:spPr>
          <a:xfrm>
            <a:off x="3515741" y="2519658"/>
            <a:ext cx="495013" cy="2519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EA902DC3-6B06-3B6E-EE9D-AB51996E6541}"/>
              </a:ext>
            </a:extLst>
          </p:cNvPr>
          <p:cNvSpPr txBox="1"/>
          <p:nvPr/>
        </p:nvSpPr>
        <p:spPr>
          <a:xfrm>
            <a:off x="6558330" y="1410063"/>
            <a:ext cx="20119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Slower GPU</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文字方塊 29">
            <a:extLst>
              <a:ext uri="{FF2B5EF4-FFF2-40B4-BE49-F238E27FC236}">
                <a16:creationId xmlns:a16="http://schemas.microsoft.com/office/drawing/2014/main" id="{6B07ECC2-E5C2-8596-1AC5-BB16EC0D5B44}"/>
              </a:ext>
            </a:extLst>
          </p:cNvPr>
          <p:cNvSpPr txBox="1"/>
          <p:nvPr/>
        </p:nvSpPr>
        <p:spPr>
          <a:xfrm>
            <a:off x="9131104" y="1467125"/>
            <a:ext cx="201197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longer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文字方塊 37">
            <a:extLst>
              <a:ext uri="{FF2B5EF4-FFF2-40B4-BE49-F238E27FC236}">
                <a16:creationId xmlns:a16="http://schemas.microsoft.com/office/drawing/2014/main" id="{92DDFF53-F793-4043-96DB-B54ADACECCB5}"/>
              </a:ext>
            </a:extLst>
          </p:cNvPr>
          <p:cNvSpPr txBox="1"/>
          <p:nvPr/>
        </p:nvSpPr>
        <p:spPr>
          <a:xfrm>
            <a:off x="3502859" y="3852951"/>
            <a:ext cx="20119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shorter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文字方塊 38">
            <a:extLst>
              <a:ext uri="{FF2B5EF4-FFF2-40B4-BE49-F238E27FC236}">
                <a16:creationId xmlns:a16="http://schemas.microsoft.com/office/drawing/2014/main" id="{671564BE-2FBF-2CE6-BBFE-EEB9D3B3D368}"/>
              </a:ext>
            </a:extLst>
          </p:cNvPr>
          <p:cNvSpPr txBox="1"/>
          <p:nvPr/>
        </p:nvSpPr>
        <p:spPr>
          <a:xfrm>
            <a:off x="3446394" y="1986053"/>
            <a:ext cx="20119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less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文字方塊 42">
            <a:extLst>
              <a:ext uri="{FF2B5EF4-FFF2-40B4-BE49-F238E27FC236}">
                <a16:creationId xmlns:a16="http://schemas.microsoft.com/office/drawing/2014/main" id="{8A922A76-1935-FBE3-3521-527AEC0E7D8E}"/>
              </a:ext>
            </a:extLst>
          </p:cNvPr>
          <p:cNvSpPr txBox="1"/>
          <p:nvPr/>
        </p:nvSpPr>
        <p:spPr>
          <a:xfrm>
            <a:off x="1530312" y="1530345"/>
            <a:ext cx="3235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rPr>
              <a:t>device-dependent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panose="02020500000000000000" pitchFamily="18" charset="-120"/>
              <a:cs typeface="+mn-cs"/>
            </a:endParaRPr>
          </a:p>
        </p:txBody>
      </p:sp>
      <p:cxnSp>
        <p:nvCxnSpPr>
          <p:cNvPr id="46" name="直線單箭頭接點 45">
            <a:extLst>
              <a:ext uri="{FF2B5EF4-FFF2-40B4-BE49-F238E27FC236}">
                <a16:creationId xmlns:a16="http://schemas.microsoft.com/office/drawing/2014/main" id="{9B607C9C-1A3D-04BA-30A6-A0D4544C7CC6}"/>
              </a:ext>
            </a:extLst>
          </p:cNvPr>
          <p:cNvCxnSpPr/>
          <p:nvPr/>
        </p:nvCxnSpPr>
        <p:spPr>
          <a:xfrm flipH="1" flipV="1">
            <a:off x="2988344" y="2140635"/>
            <a:ext cx="339246" cy="476074"/>
          </a:xfrm>
          <a:prstGeom prst="straightConnector1">
            <a:avLst/>
          </a:prstGeom>
          <a:ln w="5715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9868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8" grpId="0"/>
      <p:bldP spid="39" grpId="0"/>
      <p:bldP spid="4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EBD85C-B408-C15E-CEBD-186C30A24E51}"/>
              </a:ext>
            </a:extLst>
          </p:cNvPr>
          <p:cNvSpPr>
            <a:spLocks noGrp="1"/>
          </p:cNvSpPr>
          <p:nvPr>
            <p:ph type="title"/>
          </p:nvPr>
        </p:nvSpPr>
        <p:spPr/>
        <p:txBody>
          <a:bodyPr/>
          <a:lstStyle/>
          <a:p>
            <a:r>
              <a:rPr lang="en-US" altLang="zh-TW" dirty="0"/>
              <a:t>Dynamic Reasoning Chunk Sizes </a:t>
            </a:r>
            <a:endParaRPr lang="zh-TW" altLang="en-US" dirty="0"/>
          </a:p>
        </p:txBody>
      </p:sp>
      <p:sp>
        <p:nvSpPr>
          <p:cNvPr id="4" name="矩形: 圓角 3">
            <a:extLst>
              <a:ext uri="{FF2B5EF4-FFF2-40B4-BE49-F238E27FC236}">
                <a16:creationId xmlns:a16="http://schemas.microsoft.com/office/drawing/2014/main" id="{AA5FF79E-5927-275F-8601-1D4B1D79BE01}"/>
              </a:ext>
            </a:extLst>
          </p:cNvPr>
          <p:cNvSpPr/>
          <p:nvPr/>
        </p:nvSpPr>
        <p:spPr>
          <a:xfrm>
            <a:off x="2924181"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矩形: 圓角 4">
            <a:extLst>
              <a:ext uri="{FF2B5EF4-FFF2-40B4-BE49-F238E27FC236}">
                <a16:creationId xmlns:a16="http://schemas.microsoft.com/office/drawing/2014/main" id="{3110E038-9973-6AE0-9F7D-036E780167BE}"/>
              </a:ext>
            </a:extLst>
          </p:cNvPr>
          <p:cNvSpPr/>
          <p:nvPr/>
        </p:nvSpPr>
        <p:spPr>
          <a:xfrm>
            <a:off x="3549479"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 name="矩形: 圓角 5">
            <a:extLst>
              <a:ext uri="{FF2B5EF4-FFF2-40B4-BE49-F238E27FC236}">
                <a16:creationId xmlns:a16="http://schemas.microsoft.com/office/drawing/2014/main" id="{FE62D35A-E4F4-377E-960B-8E6CF3D75481}"/>
              </a:ext>
            </a:extLst>
          </p:cNvPr>
          <p:cNvSpPr/>
          <p:nvPr/>
        </p:nvSpPr>
        <p:spPr>
          <a:xfrm>
            <a:off x="4174777"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矩形: 圓角 6">
            <a:extLst>
              <a:ext uri="{FF2B5EF4-FFF2-40B4-BE49-F238E27FC236}">
                <a16:creationId xmlns:a16="http://schemas.microsoft.com/office/drawing/2014/main" id="{448B9D7F-B0AC-E147-52E0-1442FDEF071A}"/>
              </a:ext>
            </a:extLst>
          </p:cNvPr>
          <p:cNvSpPr/>
          <p:nvPr/>
        </p:nvSpPr>
        <p:spPr>
          <a:xfrm>
            <a:off x="4800075"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矩形: 圓角 7">
            <a:extLst>
              <a:ext uri="{FF2B5EF4-FFF2-40B4-BE49-F238E27FC236}">
                <a16:creationId xmlns:a16="http://schemas.microsoft.com/office/drawing/2014/main" id="{652F67C7-D61F-9257-0BF7-19F55F5DE4F3}"/>
              </a:ext>
            </a:extLst>
          </p:cNvPr>
          <p:cNvSpPr/>
          <p:nvPr/>
        </p:nvSpPr>
        <p:spPr>
          <a:xfrm>
            <a:off x="5425373"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668DFE84-CD66-3FD6-9E4C-A2A37F9B823A}"/>
              </a:ext>
            </a:extLst>
          </p:cNvPr>
          <p:cNvSpPr/>
          <p:nvPr/>
        </p:nvSpPr>
        <p:spPr>
          <a:xfrm>
            <a:off x="8304080"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87047C4B-A550-DE81-7D4B-F01F08FA639B}"/>
              </a:ext>
            </a:extLst>
          </p:cNvPr>
          <p:cNvSpPr/>
          <p:nvPr/>
        </p:nvSpPr>
        <p:spPr>
          <a:xfrm>
            <a:off x="8929378"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矩形: 圓角 13">
            <a:extLst>
              <a:ext uri="{FF2B5EF4-FFF2-40B4-BE49-F238E27FC236}">
                <a16:creationId xmlns:a16="http://schemas.microsoft.com/office/drawing/2014/main" id="{029E8703-F828-D143-5C5D-D8B97DA9FACC}"/>
              </a:ext>
            </a:extLst>
          </p:cNvPr>
          <p:cNvSpPr/>
          <p:nvPr/>
        </p:nvSpPr>
        <p:spPr>
          <a:xfrm>
            <a:off x="9554676"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矩形: 圓角 14">
            <a:extLst>
              <a:ext uri="{FF2B5EF4-FFF2-40B4-BE49-F238E27FC236}">
                <a16:creationId xmlns:a16="http://schemas.microsoft.com/office/drawing/2014/main" id="{BA6F0E6B-022F-75B2-1CF6-5A0CA089A686}"/>
              </a:ext>
            </a:extLst>
          </p:cNvPr>
          <p:cNvSpPr/>
          <p:nvPr/>
        </p:nvSpPr>
        <p:spPr>
          <a:xfrm>
            <a:off x="10179974"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矩形: 圓角 15">
            <a:extLst>
              <a:ext uri="{FF2B5EF4-FFF2-40B4-BE49-F238E27FC236}">
                <a16:creationId xmlns:a16="http://schemas.microsoft.com/office/drawing/2014/main" id="{C5BCB0A2-3C5D-1623-6D1C-2D0CBB210616}"/>
              </a:ext>
            </a:extLst>
          </p:cNvPr>
          <p:cNvSpPr/>
          <p:nvPr/>
        </p:nvSpPr>
        <p:spPr>
          <a:xfrm>
            <a:off x="10805272" y="3639040"/>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矩形: 圓角 19">
            <a:extLst>
              <a:ext uri="{FF2B5EF4-FFF2-40B4-BE49-F238E27FC236}">
                <a16:creationId xmlns:a16="http://schemas.microsoft.com/office/drawing/2014/main" id="{CAA82FAB-0CDA-08D8-702F-6933ADC0916E}"/>
              </a:ext>
            </a:extLst>
          </p:cNvPr>
          <p:cNvSpPr/>
          <p:nvPr/>
        </p:nvSpPr>
        <p:spPr>
          <a:xfrm>
            <a:off x="2993930" y="55048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矩形: 圓角 20">
            <a:extLst>
              <a:ext uri="{FF2B5EF4-FFF2-40B4-BE49-F238E27FC236}">
                <a16:creationId xmlns:a16="http://schemas.microsoft.com/office/drawing/2014/main" id="{4BEA684B-E782-ABD0-E824-2E594BC08657}"/>
              </a:ext>
            </a:extLst>
          </p:cNvPr>
          <p:cNvSpPr/>
          <p:nvPr/>
        </p:nvSpPr>
        <p:spPr>
          <a:xfrm>
            <a:off x="3619228" y="55048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矩形: 圓角 21">
            <a:extLst>
              <a:ext uri="{FF2B5EF4-FFF2-40B4-BE49-F238E27FC236}">
                <a16:creationId xmlns:a16="http://schemas.microsoft.com/office/drawing/2014/main" id="{2686EDD4-7466-7296-01EF-3FBC17484FBB}"/>
              </a:ext>
            </a:extLst>
          </p:cNvPr>
          <p:cNvSpPr/>
          <p:nvPr/>
        </p:nvSpPr>
        <p:spPr>
          <a:xfrm>
            <a:off x="4244526" y="5504862"/>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矩形: 圓角 27">
            <a:extLst>
              <a:ext uri="{FF2B5EF4-FFF2-40B4-BE49-F238E27FC236}">
                <a16:creationId xmlns:a16="http://schemas.microsoft.com/office/drawing/2014/main" id="{C80757D7-8CA3-802B-1686-A653EBAE9595}"/>
              </a:ext>
            </a:extLst>
          </p:cNvPr>
          <p:cNvSpPr/>
          <p:nvPr/>
        </p:nvSpPr>
        <p:spPr>
          <a:xfrm>
            <a:off x="7425654" y="5499684"/>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矩形: 圓角 28">
            <a:extLst>
              <a:ext uri="{FF2B5EF4-FFF2-40B4-BE49-F238E27FC236}">
                <a16:creationId xmlns:a16="http://schemas.microsoft.com/office/drawing/2014/main" id="{0D4CADDB-8889-D266-931A-333D6E8ECA39}"/>
              </a:ext>
            </a:extLst>
          </p:cNvPr>
          <p:cNvSpPr/>
          <p:nvPr/>
        </p:nvSpPr>
        <p:spPr>
          <a:xfrm>
            <a:off x="8050952" y="5499684"/>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矩形: 圓角 29">
            <a:extLst>
              <a:ext uri="{FF2B5EF4-FFF2-40B4-BE49-F238E27FC236}">
                <a16:creationId xmlns:a16="http://schemas.microsoft.com/office/drawing/2014/main" id="{AB908F6A-53E2-A9F8-75FA-AFFE8D682563}"/>
              </a:ext>
            </a:extLst>
          </p:cNvPr>
          <p:cNvSpPr/>
          <p:nvPr/>
        </p:nvSpPr>
        <p:spPr>
          <a:xfrm>
            <a:off x="8676250" y="5499684"/>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文字方塊 41">
            <a:extLst>
              <a:ext uri="{FF2B5EF4-FFF2-40B4-BE49-F238E27FC236}">
                <a16:creationId xmlns:a16="http://schemas.microsoft.com/office/drawing/2014/main" id="{4D511FB6-EDEC-6523-DF52-DE95A4B65798}"/>
              </a:ext>
            </a:extLst>
          </p:cNvPr>
          <p:cNvSpPr txBox="1"/>
          <p:nvPr/>
        </p:nvSpPr>
        <p:spPr>
          <a:xfrm>
            <a:off x="744416" y="2786873"/>
            <a:ext cx="274466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Training </a:t>
            </a:r>
            <a:endParaRPr kumimoji="0" lang="zh-TW" altLang="en-US"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文字方塊 42">
            <a:extLst>
              <a:ext uri="{FF2B5EF4-FFF2-40B4-BE49-F238E27FC236}">
                <a16:creationId xmlns:a16="http://schemas.microsoft.com/office/drawing/2014/main" id="{C1CF863C-30C7-6A9E-EF3C-AC7A8E758C22}"/>
              </a:ext>
            </a:extLst>
          </p:cNvPr>
          <p:cNvSpPr txBox="1"/>
          <p:nvPr/>
        </p:nvSpPr>
        <p:spPr>
          <a:xfrm>
            <a:off x="767273" y="4604303"/>
            <a:ext cx="274466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Testing</a:t>
            </a:r>
            <a:endParaRPr kumimoji="0" lang="zh-TW" altLang="en-US" sz="28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4245A9EF-DF71-F7EF-4698-E9E82055E925}"/>
              </a:ext>
            </a:extLst>
          </p:cNvPr>
          <p:cNvSpPr txBox="1"/>
          <p:nvPr/>
        </p:nvSpPr>
        <p:spPr>
          <a:xfrm>
            <a:off x="1228398" y="1633476"/>
            <a:ext cx="10011038"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What would happen if the training and testing reasoning chunks have different numbers of tokens?</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23" name="群組 22">
            <a:extLst>
              <a:ext uri="{FF2B5EF4-FFF2-40B4-BE49-F238E27FC236}">
                <a16:creationId xmlns:a16="http://schemas.microsoft.com/office/drawing/2014/main" id="{59A75F5C-F8E8-9CF5-0BD5-64CDBCD15A7C}"/>
              </a:ext>
            </a:extLst>
          </p:cNvPr>
          <p:cNvGrpSpPr/>
          <p:nvPr/>
        </p:nvGrpSpPr>
        <p:grpSpPr>
          <a:xfrm>
            <a:off x="6443133" y="3633862"/>
            <a:ext cx="1587806" cy="365178"/>
            <a:chOff x="6443133" y="3633862"/>
            <a:chExt cx="1587806" cy="365178"/>
          </a:xfrm>
        </p:grpSpPr>
        <p:sp>
          <p:nvSpPr>
            <p:cNvPr id="18" name="橢圓 17">
              <a:extLst>
                <a:ext uri="{FF2B5EF4-FFF2-40B4-BE49-F238E27FC236}">
                  <a16:creationId xmlns:a16="http://schemas.microsoft.com/office/drawing/2014/main" id="{880DCC74-032A-EB56-F915-A69783E275FF}"/>
                </a:ext>
              </a:extLst>
            </p:cNvPr>
            <p:cNvSpPr/>
            <p:nvPr/>
          </p:nvSpPr>
          <p:spPr>
            <a:xfrm>
              <a:off x="7057036" y="3639040"/>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9" name="橢圓 18">
              <a:extLst>
                <a:ext uri="{FF2B5EF4-FFF2-40B4-BE49-F238E27FC236}">
                  <a16:creationId xmlns:a16="http://schemas.microsoft.com/office/drawing/2014/main" id="{6A50995D-25F6-07B9-B4DE-8401BE109897}"/>
                </a:ext>
              </a:extLst>
            </p:cNvPr>
            <p:cNvSpPr/>
            <p:nvPr/>
          </p:nvSpPr>
          <p:spPr>
            <a:xfrm>
              <a:off x="7670939"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 name="橢圓 2">
              <a:extLst>
                <a:ext uri="{FF2B5EF4-FFF2-40B4-BE49-F238E27FC236}">
                  <a16:creationId xmlns:a16="http://schemas.microsoft.com/office/drawing/2014/main" id="{88FCAE57-2F96-1A73-3EA2-45D56CF16B39}"/>
                </a:ext>
              </a:extLst>
            </p:cNvPr>
            <p:cNvSpPr/>
            <p:nvPr/>
          </p:nvSpPr>
          <p:spPr>
            <a:xfrm>
              <a:off x="6443133"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24" name="群組 23">
            <a:extLst>
              <a:ext uri="{FF2B5EF4-FFF2-40B4-BE49-F238E27FC236}">
                <a16:creationId xmlns:a16="http://schemas.microsoft.com/office/drawing/2014/main" id="{D65247D3-347A-1F0A-E315-4007E12F034D}"/>
              </a:ext>
            </a:extLst>
          </p:cNvPr>
          <p:cNvGrpSpPr/>
          <p:nvPr/>
        </p:nvGrpSpPr>
        <p:grpSpPr>
          <a:xfrm>
            <a:off x="995439" y="3616900"/>
            <a:ext cx="1587806" cy="365178"/>
            <a:chOff x="6443133" y="3633862"/>
            <a:chExt cx="1587806" cy="365178"/>
          </a:xfrm>
        </p:grpSpPr>
        <p:sp>
          <p:nvSpPr>
            <p:cNvPr id="31" name="橢圓 30">
              <a:extLst>
                <a:ext uri="{FF2B5EF4-FFF2-40B4-BE49-F238E27FC236}">
                  <a16:creationId xmlns:a16="http://schemas.microsoft.com/office/drawing/2014/main" id="{6B8A36F8-A375-91E6-F84C-35B9F0881DA9}"/>
                </a:ext>
              </a:extLst>
            </p:cNvPr>
            <p:cNvSpPr/>
            <p:nvPr/>
          </p:nvSpPr>
          <p:spPr>
            <a:xfrm>
              <a:off x="7057036" y="3639040"/>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2" name="橢圓 31">
              <a:extLst>
                <a:ext uri="{FF2B5EF4-FFF2-40B4-BE49-F238E27FC236}">
                  <a16:creationId xmlns:a16="http://schemas.microsoft.com/office/drawing/2014/main" id="{0B1E10E6-3697-18E6-4EFF-934501BEC29F}"/>
                </a:ext>
              </a:extLst>
            </p:cNvPr>
            <p:cNvSpPr/>
            <p:nvPr/>
          </p:nvSpPr>
          <p:spPr>
            <a:xfrm>
              <a:off x="7670939"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6" name="橢圓 35">
              <a:extLst>
                <a:ext uri="{FF2B5EF4-FFF2-40B4-BE49-F238E27FC236}">
                  <a16:creationId xmlns:a16="http://schemas.microsoft.com/office/drawing/2014/main" id="{82741EAC-AF70-24F6-B699-81464A783CB1}"/>
                </a:ext>
              </a:extLst>
            </p:cNvPr>
            <p:cNvSpPr/>
            <p:nvPr/>
          </p:nvSpPr>
          <p:spPr>
            <a:xfrm>
              <a:off x="6443133"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37" name="群組 36">
            <a:extLst>
              <a:ext uri="{FF2B5EF4-FFF2-40B4-BE49-F238E27FC236}">
                <a16:creationId xmlns:a16="http://schemas.microsoft.com/office/drawing/2014/main" id="{1C730ACD-5594-B3B4-B420-6176B2CF74DA}"/>
              </a:ext>
            </a:extLst>
          </p:cNvPr>
          <p:cNvGrpSpPr/>
          <p:nvPr/>
        </p:nvGrpSpPr>
        <p:grpSpPr>
          <a:xfrm>
            <a:off x="960556" y="5499684"/>
            <a:ext cx="1587806" cy="365178"/>
            <a:chOff x="6443133" y="3633862"/>
            <a:chExt cx="1587806" cy="365178"/>
          </a:xfrm>
        </p:grpSpPr>
        <p:sp>
          <p:nvSpPr>
            <p:cNvPr id="38" name="橢圓 37">
              <a:extLst>
                <a:ext uri="{FF2B5EF4-FFF2-40B4-BE49-F238E27FC236}">
                  <a16:creationId xmlns:a16="http://schemas.microsoft.com/office/drawing/2014/main" id="{BDBF08A8-0DCE-CB07-86A6-A72248C69CAA}"/>
                </a:ext>
              </a:extLst>
            </p:cNvPr>
            <p:cNvSpPr/>
            <p:nvPr/>
          </p:nvSpPr>
          <p:spPr>
            <a:xfrm>
              <a:off x="7057036" y="3639040"/>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4" name="橢圓 43">
              <a:extLst>
                <a:ext uri="{FF2B5EF4-FFF2-40B4-BE49-F238E27FC236}">
                  <a16:creationId xmlns:a16="http://schemas.microsoft.com/office/drawing/2014/main" id="{37F52FC1-41FA-43AE-798C-C81A6CBD1A0E}"/>
                </a:ext>
              </a:extLst>
            </p:cNvPr>
            <p:cNvSpPr/>
            <p:nvPr/>
          </p:nvSpPr>
          <p:spPr>
            <a:xfrm>
              <a:off x="7670939"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6" name="橢圓 45">
              <a:extLst>
                <a:ext uri="{FF2B5EF4-FFF2-40B4-BE49-F238E27FC236}">
                  <a16:creationId xmlns:a16="http://schemas.microsoft.com/office/drawing/2014/main" id="{72BCEC41-B0F8-48D8-9329-1BF43EB22F42}"/>
                </a:ext>
              </a:extLst>
            </p:cNvPr>
            <p:cNvSpPr/>
            <p:nvPr/>
          </p:nvSpPr>
          <p:spPr>
            <a:xfrm>
              <a:off x="6443133"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47" name="群組 46">
            <a:extLst>
              <a:ext uri="{FF2B5EF4-FFF2-40B4-BE49-F238E27FC236}">
                <a16:creationId xmlns:a16="http://schemas.microsoft.com/office/drawing/2014/main" id="{1B930797-BA27-03F0-D587-B8D94A729D38}"/>
              </a:ext>
            </a:extLst>
          </p:cNvPr>
          <p:cNvGrpSpPr/>
          <p:nvPr/>
        </p:nvGrpSpPr>
        <p:grpSpPr>
          <a:xfrm>
            <a:off x="5502992" y="5499684"/>
            <a:ext cx="1587806" cy="365178"/>
            <a:chOff x="6443133" y="3633862"/>
            <a:chExt cx="1587806" cy="365178"/>
          </a:xfrm>
        </p:grpSpPr>
        <p:sp>
          <p:nvSpPr>
            <p:cNvPr id="48" name="橢圓 47">
              <a:extLst>
                <a:ext uri="{FF2B5EF4-FFF2-40B4-BE49-F238E27FC236}">
                  <a16:creationId xmlns:a16="http://schemas.microsoft.com/office/drawing/2014/main" id="{BD49916E-EA68-E900-AA71-FDDBFDB0F9AB}"/>
                </a:ext>
              </a:extLst>
            </p:cNvPr>
            <p:cNvSpPr/>
            <p:nvPr/>
          </p:nvSpPr>
          <p:spPr>
            <a:xfrm>
              <a:off x="7057036" y="3639040"/>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9" name="橢圓 48">
              <a:extLst>
                <a:ext uri="{FF2B5EF4-FFF2-40B4-BE49-F238E27FC236}">
                  <a16:creationId xmlns:a16="http://schemas.microsoft.com/office/drawing/2014/main" id="{46CC3154-013F-FB32-61FD-DD85706EC30B}"/>
                </a:ext>
              </a:extLst>
            </p:cNvPr>
            <p:cNvSpPr/>
            <p:nvPr/>
          </p:nvSpPr>
          <p:spPr>
            <a:xfrm>
              <a:off x="7670939"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0" name="橢圓 49">
              <a:extLst>
                <a:ext uri="{FF2B5EF4-FFF2-40B4-BE49-F238E27FC236}">
                  <a16:creationId xmlns:a16="http://schemas.microsoft.com/office/drawing/2014/main" id="{4925593A-6018-94F5-7476-8ED386237A60}"/>
                </a:ext>
              </a:extLst>
            </p:cNvPr>
            <p:cNvSpPr/>
            <p:nvPr/>
          </p:nvSpPr>
          <p:spPr>
            <a:xfrm>
              <a:off x="6443133"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51" name="群組 50">
            <a:extLst>
              <a:ext uri="{FF2B5EF4-FFF2-40B4-BE49-F238E27FC236}">
                <a16:creationId xmlns:a16="http://schemas.microsoft.com/office/drawing/2014/main" id="{DEB87386-7BAA-117F-8010-9E7A4C527108}"/>
              </a:ext>
            </a:extLst>
          </p:cNvPr>
          <p:cNvGrpSpPr/>
          <p:nvPr/>
        </p:nvGrpSpPr>
        <p:grpSpPr>
          <a:xfrm>
            <a:off x="9823638" y="5494506"/>
            <a:ext cx="1587806" cy="365178"/>
            <a:chOff x="6443133" y="3633862"/>
            <a:chExt cx="1587806" cy="365178"/>
          </a:xfrm>
        </p:grpSpPr>
        <p:sp>
          <p:nvSpPr>
            <p:cNvPr id="52" name="橢圓 51">
              <a:extLst>
                <a:ext uri="{FF2B5EF4-FFF2-40B4-BE49-F238E27FC236}">
                  <a16:creationId xmlns:a16="http://schemas.microsoft.com/office/drawing/2014/main" id="{790C3714-8054-E001-80CA-A9A46B8A0668}"/>
                </a:ext>
              </a:extLst>
            </p:cNvPr>
            <p:cNvSpPr/>
            <p:nvPr/>
          </p:nvSpPr>
          <p:spPr>
            <a:xfrm>
              <a:off x="7057036" y="3639040"/>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3" name="橢圓 52">
              <a:extLst>
                <a:ext uri="{FF2B5EF4-FFF2-40B4-BE49-F238E27FC236}">
                  <a16:creationId xmlns:a16="http://schemas.microsoft.com/office/drawing/2014/main" id="{2322F16D-4789-802D-DE77-5D7B2D009718}"/>
                </a:ext>
              </a:extLst>
            </p:cNvPr>
            <p:cNvSpPr/>
            <p:nvPr/>
          </p:nvSpPr>
          <p:spPr>
            <a:xfrm>
              <a:off x="7670939"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4" name="橢圓 53">
              <a:extLst>
                <a:ext uri="{FF2B5EF4-FFF2-40B4-BE49-F238E27FC236}">
                  <a16:creationId xmlns:a16="http://schemas.microsoft.com/office/drawing/2014/main" id="{75FD88BD-1885-8C87-BAB9-0F85E4413AB1}"/>
                </a:ext>
              </a:extLst>
            </p:cNvPr>
            <p:cNvSpPr/>
            <p:nvPr/>
          </p:nvSpPr>
          <p:spPr>
            <a:xfrm>
              <a:off x="6443133" y="3633862"/>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9" name="文字方塊 8">
            <a:extLst>
              <a:ext uri="{FF2B5EF4-FFF2-40B4-BE49-F238E27FC236}">
                <a16:creationId xmlns:a16="http://schemas.microsoft.com/office/drawing/2014/main" id="{7411628E-6FC8-8ED0-191B-56212CCF5FFD}"/>
              </a:ext>
            </a:extLst>
          </p:cNvPr>
          <p:cNvSpPr txBox="1"/>
          <p:nvPr/>
        </p:nvSpPr>
        <p:spPr>
          <a:xfrm>
            <a:off x="3538084" y="3124775"/>
            <a:ext cx="17907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100 tokens</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文字方塊 9">
            <a:extLst>
              <a:ext uri="{FF2B5EF4-FFF2-40B4-BE49-F238E27FC236}">
                <a16:creationId xmlns:a16="http://schemas.microsoft.com/office/drawing/2014/main" id="{5181827D-A866-7ABD-BCFD-362FDBD5005F}"/>
              </a:ext>
            </a:extLst>
          </p:cNvPr>
          <p:cNvSpPr txBox="1"/>
          <p:nvPr/>
        </p:nvSpPr>
        <p:spPr>
          <a:xfrm>
            <a:off x="8975888" y="3155235"/>
            <a:ext cx="17907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100 tokens</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6FC3CA85-2856-1559-7A91-48CEB4AACD13}"/>
              </a:ext>
            </a:extLst>
          </p:cNvPr>
          <p:cNvSpPr txBox="1"/>
          <p:nvPr/>
        </p:nvSpPr>
        <p:spPr>
          <a:xfrm>
            <a:off x="7450445" y="5027220"/>
            <a:ext cx="17907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&lt; 100 tokens</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文字方塊 16">
            <a:extLst>
              <a:ext uri="{FF2B5EF4-FFF2-40B4-BE49-F238E27FC236}">
                <a16:creationId xmlns:a16="http://schemas.microsoft.com/office/drawing/2014/main" id="{233A257A-98AC-076C-5C69-11F8930B7009}"/>
              </a:ext>
            </a:extLst>
          </p:cNvPr>
          <p:cNvSpPr txBox="1"/>
          <p:nvPr/>
        </p:nvSpPr>
        <p:spPr>
          <a:xfrm>
            <a:off x="3018721" y="5027220"/>
            <a:ext cx="17907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&lt; 100 tokens</a:t>
            </a:r>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1153295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7"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8566C2D3-E5CA-6D8E-B92F-81BB13B53C84}"/>
              </a:ext>
            </a:extLst>
          </p:cNvPr>
          <p:cNvPicPr>
            <a:picLocks noChangeAspect="1"/>
          </p:cNvPicPr>
          <p:nvPr/>
        </p:nvPicPr>
        <p:blipFill>
          <a:blip r:embed="rId3"/>
          <a:stretch>
            <a:fillRect/>
          </a:stretch>
        </p:blipFill>
        <p:spPr>
          <a:xfrm>
            <a:off x="1010094" y="365125"/>
            <a:ext cx="5825077" cy="5811838"/>
          </a:xfrm>
          <a:prstGeom prst="rect">
            <a:avLst/>
          </a:prstGeom>
        </p:spPr>
      </p:pic>
      <p:sp>
        <p:nvSpPr>
          <p:cNvPr id="4" name="文字方塊 3">
            <a:extLst>
              <a:ext uri="{FF2B5EF4-FFF2-40B4-BE49-F238E27FC236}">
                <a16:creationId xmlns:a16="http://schemas.microsoft.com/office/drawing/2014/main" id="{9B927D76-F3B7-404A-8C63-A23F65348FAE}"/>
              </a:ext>
            </a:extLst>
          </p:cNvPr>
          <p:cNvSpPr txBox="1"/>
          <p:nvPr/>
        </p:nvSpPr>
        <p:spPr>
          <a:xfrm>
            <a:off x="2171700" y="6119813"/>
            <a:ext cx="63055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Tokens in each reasoning chunk during inference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文字方塊 4">
            <a:extLst>
              <a:ext uri="{FF2B5EF4-FFF2-40B4-BE49-F238E27FC236}">
                <a16:creationId xmlns:a16="http://schemas.microsoft.com/office/drawing/2014/main" id="{3FEF3621-19EC-5D5D-A702-DE680BEB1ED5}"/>
              </a:ext>
            </a:extLst>
          </p:cNvPr>
          <p:cNvSpPr txBox="1"/>
          <p:nvPr/>
        </p:nvSpPr>
        <p:spPr>
          <a:xfrm>
            <a:off x="219519" y="5888980"/>
            <a:ext cx="1952181"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No reasoning</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矩形: 圓角 6">
            <a:extLst>
              <a:ext uri="{FF2B5EF4-FFF2-40B4-BE49-F238E27FC236}">
                <a16:creationId xmlns:a16="http://schemas.microsoft.com/office/drawing/2014/main" id="{5811001A-B65C-3CAD-40CC-1C9B98E14E5F}"/>
              </a:ext>
            </a:extLst>
          </p:cNvPr>
          <p:cNvSpPr/>
          <p:nvPr/>
        </p:nvSpPr>
        <p:spPr>
          <a:xfrm>
            <a:off x="1695450" y="1714500"/>
            <a:ext cx="476250" cy="4000798"/>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9" name="直線單箭頭接點 8">
            <a:extLst>
              <a:ext uri="{FF2B5EF4-FFF2-40B4-BE49-F238E27FC236}">
                <a16:creationId xmlns:a16="http://schemas.microsoft.com/office/drawing/2014/main" id="{E4EDDACF-2FAF-06A7-175D-ECEE992E8811}"/>
              </a:ext>
            </a:extLst>
          </p:cNvPr>
          <p:cNvCxnSpPr>
            <a:endCxn id="5" idx="0"/>
          </p:cNvCxnSpPr>
          <p:nvPr/>
        </p:nvCxnSpPr>
        <p:spPr>
          <a:xfrm flipH="1">
            <a:off x="1195610" y="5448300"/>
            <a:ext cx="366490" cy="440680"/>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5A2FA264-0EF4-33A6-492F-859B1727D9A0}"/>
              </a:ext>
            </a:extLst>
          </p:cNvPr>
          <p:cNvSpPr txBox="1"/>
          <p:nvPr/>
        </p:nvSpPr>
        <p:spPr>
          <a:xfrm>
            <a:off x="6968521" y="1811309"/>
            <a:ext cx="4638675" cy="95410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Shorter reasoning chunks yield to worse performances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BBBB6780-EE1E-BAE8-3F76-DE5B43AA1A03}"/>
              </a:ext>
            </a:extLst>
          </p:cNvPr>
          <p:cNvSpPr txBox="1"/>
          <p:nvPr/>
        </p:nvSpPr>
        <p:spPr>
          <a:xfrm>
            <a:off x="6968521" y="3169931"/>
            <a:ext cx="4638675" cy="95410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Still better than “no reasoning” in many cases</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6891219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10" grpId="0"/>
      <p:bldP spid="11"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群組 20">
            <a:extLst>
              <a:ext uri="{FF2B5EF4-FFF2-40B4-BE49-F238E27FC236}">
                <a16:creationId xmlns:a16="http://schemas.microsoft.com/office/drawing/2014/main" id="{A2ACA60F-1CE2-E1FB-957B-E4B40CC99E57}"/>
              </a:ext>
            </a:extLst>
          </p:cNvPr>
          <p:cNvGrpSpPr/>
          <p:nvPr/>
        </p:nvGrpSpPr>
        <p:grpSpPr>
          <a:xfrm>
            <a:off x="5408224" y="2917348"/>
            <a:ext cx="1896771" cy="360000"/>
            <a:chOff x="5408224" y="2917348"/>
            <a:chExt cx="1896771" cy="360000"/>
          </a:xfrm>
        </p:grpSpPr>
        <p:sp>
          <p:nvSpPr>
            <p:cNvPr id="11" name="矩形: 圓角 10">
              <a:extLst>
                <a:ext uri="{FF2B5EF4-FFF2-40B4-BE49-F238E27FC236}">
                  <a16:creationId xmlns:a16="http://schemas.microsoft.com/office/drawing/2014/main" id="{ED85CB60-E0BA-E0FB-ABBD-C1A7258F335B}"/>
                </a:ext>
              </a:extLst>
            </p:cNvPr>
            <p:cNvSpPr/>
            <p:nvPr/>
          </p:nvSpPr>
          <p:spPr>
            <a:xfrm>
              <a:off x="5408224" y="291734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矩形: 圓角 11">
              <a:extLst>
                <a:ext uri="{FF2B5EF4-FFF2-40B4-BE49-F238E27FC236}">
                  <a16:creationId xmlns:a16="http://schemas.microsoft.com/office/drawing/2014/main" id="{48E35DA6-2102-8D05-96F5-8C6322ECB289}"/>
                </a:ext>
              </a:extLst>
            </p:cNvPr>
            <p:cNvSpPr/>
            <p:nvPr/>
          </p:nvSpPr>
          <p:spPr>
            <a:xfrm>
              <a:off x="6074162" y="291734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矩形: 圓角 12">
              <a:extLst>
                <a:ext uri="{FF2B5EF4-FFF2-40B4-BE49-F238E27FC236}">
                  <a16:creationId xmlns:a16="http://schemas.microsoft.com/office/drawing/2014/main" id="{CBC2C118-FE8D-1203-2FDD-599902F589C6}"/>
                </a:ext>
              </a:extLst>
            </p:cNvPr>
            <p:cNvSpPr/>
            <p:nvPr/>
          </p:nvSpPr>
          <p:spPr>
            <a:xfrm>
              <a:off x="6740100" y="291734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nvGrpSpPr>
          <p:cNvPr id="22" name="群組 21">
            <a:extLst>
              <a:ext uri="{FF2B5EF4-FFF2-40B4-BE49-F238E27FC236}">
                <a16:creationId xmlns:a16="http://schemas.microsoft.com/office/drawing/2014/main" id="{5F60F7E7-165E-8D7B-2950-A3ECB6BB8A3A}"/>
              </a:ext>
            </a:extLst>
          </p:cNvPr>
          <p:cNvGrpSpPr/>
          <p:nvPr/>
        </p:nvGrpSpPr>
        <p:grpSpPr>
          <a:xfrm>
            <a:off x="9523834" y="2917348"/>
            <a:ext cx="1896771" cy="360000"/>
            <a:chOff x="9523834" y="2917348"/>
            <a:chExt cx="1896771" cy="360000"/>
          </a:xfrm>
        </p:grpSpPr>
        <p:sp>
          <p:nvSpPr>
            <p:cNvPr id="17" name="矩形: 圓角 16">
              <a:extLst>
                <a:ext uri="{FF2B5EF4-FFF2-40B4-BE49-F238E27FC236}">
                  <a16:creationId xmlns:a16="http://schemas.microsoft.com/office/drawing/2014/main" id="{57F059E1-4D51-1F83-0D3D-C7DC37464DB6}"/>
                </a:ext>
              </a:extLst>
            </p:cNvPr>
            <p:cNvSpPr/>
            <p:nvPr/>
          </p:nvSpPr>
          <p:spPr>
            <a:xfrm>
              <a:off x="9523834" y="291734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矩形: 圓角 17">
              <a:extLst>
                <a:ext uri="{FF2B5EF4-FFF2-40B4-BE49-F238E27FC236}">
                  <a16:creationId xmlns:a16="http://schemas.microsoft.com/office/drawing/2014/main" id="{8B34AAD8-23E4-1D5A-2513-BCB27D000007}"/>
                </a:ext>
              </a:extLst>
            </p:cNvPr>
            <p:cNvSpPr/>
            <p:nvPr/>
          </p:nvSpPr>
          <p:spPr>
            <a:xfrm>
              <a:off x="10189772" y="291734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矩形: 圓角 18">
              <a:extLst>
                <a:ext uri="{FF2B5EF4-FFF2-40B4-BE49-F238E27FC236}">
                  <a16:creationId xmlns:a16="http://schemas.microsoft.com/office/drawing/2014/main" id="{5A7CB93F-EBF2-06FD-34B2-DCA92F65EA05}"/>
                </a:ext>
              </a:extLst>
            </p:cNvPr>
            <p:cNvSpPr/>
            <p:nvPr/>
          </p:nvSpPr>
          <p:spPr>
            <a:xfrm>
              <a:off x="10855710" y="2917348"/>
              <a:ext cx="564895" cy="36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24" name="文字方塊 23">
            <a:extLst>
              <a:ext uri="{FF2B5EF4-FFF2-40B4-BE49-F238E27FC236}">
                <a16:creationId xmlns:a16="http://schemas.microsoft.com/office/drawing/2014/main" id="{AA72B803-DD83-C4EB-0B0A-0F95B27B1279}"/>
              </a:ext>
            </a:extLst>
          </p:cNvPr>
          <p:cNvSpPr txBox="1"/>
          <p:nvPr/>
        </p:nvSpPr>
        <p:spPr>
          <a:xfrm>
            <a:off x="1489875" y="6106297"/>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pic>
        <p:nvPicPr>
          <p:cNvPr id="25" name="Picture 2">
            <a:extLst>
              <a:ext uri="{FF2B5EF4-FFF2-40B4-BE49-F238E27FC236}">
                <a16:creationId xmlns:a16="http://schemas.microsoft.com/office/drawing/2014/main" id="{1B719198-F5D6-BAD3-D22A-B59FAA2C4614}"/>
              </a:ext>
            </a:extLst>
          </p:cNvPr>
          <p:cNvPicPr>
            <a:picLocks noChangeAspect="1" noChangeArrowheads="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2071467" y="5384338"/>
            <a:ext cx="1326280" cy="651519"/>
          </a:xfrm>
          <a:prstGeom prst="rect">
            <a:avLst/>
          </a:prstGeom>
          <a:noFill/>
          <a:extLst>
            <a:ext uri="{909E8E84-426E-40DD-AFC4-6F175D3DCCD1}">
              <a14:hiddenFill xmlns:a14="http://schemas.microsoft.com/office/drawing/2010/main">
                <a:solidFill>
                  <a:srgbClr val="FFFFFF"/>
                </a:solidFill>
              </a14:hiddenFill>
            </a:ext>
          </a:extLst>
        </p:spPr>
      </p:pic>
      <p:sp>
        <p:nvSpPr>
          <p:cNvPr id="26" name="矩形: 圓角 25">
            <a:extLst>
              <a:ext uri="{FF2B5EF4-FFF2-40B4-BE49-F238E27FC236}">
                <a16:creationId xmlns:a16="http://schemas.microsoft.com/office/drawing/2014/main" id="{048A51BA-AFB6-24E4-684A-19A368990EEE}"/>
              </a:ext>
            </a:extLst>
          </p:cNvPr>
          <p:cNvSpPr/>
          <p:nvPr/>
        </p:nvSpPr>
        <p:spPr>
          <a:xfrm>
            <a:off x="1901363" y="3964257"/>
            <a:ext cx="9964571" cy="872921"/>
          </a:xfrm>
          <a:prstGeom prst="roundRect">
            <a:avLst/>
          </a:prstGeom>
          <a:solidFill>
            <a:schemeClr val="accent2">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LLM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矩形: 圓角 26">
            <a:extLst>
              <a:ext uri="{FF2B5EF4-FFF2-40B4-BE49-F238E27FC236}">
                <a16:creationId xmlns:a16="http://schemas.microsoft.com/office/drawing/2014/main" id="{765E04AB-5CD8-BCC5-864C-6B2CF55C34DF}"/>
              </a:ext>
            </a:extLst>
          </p:cNvPr>
          <p:cNvSpPr/>
          <p:nvPr/>
        </p:nvSpPr>
        <p:spPr>
          <a:xfrm>
            <a:off x="1901362" y="1360552"/>
            <a:ext cx="9964571" cy="872921"/>
          </a:xfrm>
          <a:prstGeom prst="roundRect">
            <a:avLst/>
          </a:prstGeom>
          <a:solidFill>
            <a:schemeClr val="accent4">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LLM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文字方塊 27">
            <a:extLst>
              <a:ext uri="{FF2B5EF4-FFF2-40B4-BE49-F238E27FC236}">
                <a16:creationId xmlns:a16="http://schemas.microsoft.com/office/drawing/2014/main" id="{E471B0AA-6DC0-2457-4310-513DAA0965E4}"/>
              </a:ext>
            </a:extLst>
          </p:cNvPr>
          <p:cNvSpPr txBox="1"/>
          <p:nvPr/>
        </p:nvSpPr>
        <p:spPr>
          <a:xfrm>
            <a:off x="1454861" y="443519"/>
            <a:ext cx="267527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Input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0" name="直線單箭頭接點 29">
            <a:extLst>
              <a:ext uri="{FF2B5EF4-FFF2-40B4-BE49-F238E27FC236}">
                <a16:creationId xmlns:a16="http://schemas.microsoft.com/office/drawing/2014/main" id="{990DEB01-A3EA-1EF9-33E8-5C225D6FEF27}"/>
              </a:ext>
            </a:extLst>
          </p:cNvPr>
          <p:cNvCxnSpPr>
            <a:cxnSpLocks/>
          </p:cNvCxnSpPr>
          <p:nvPr/>
        </p:nvCxnSpPr>
        <p:spPr>
          <a:xfrm flipV="1">
            <a:off x="2827512" y="4858443"/>
            <a:ext cx="0" cy="504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04155DB5-5876-019C-C303-1D93283082DD}"/>
              </a:ext>
            </a:extLst>
          </p:cNvPr>
          <p:cNvCxnSpPr>
            <a:cxnSpLocks/>
          </p:cNvCxnSpPr>
          <p:nvPr/>
        </p:nvCxnSpPr>
        <p:spPr>
          <a:xfrm flipV="1">
            <a:off x="4404675" y="3368332"/>
            <a:ext cx="0" cy="504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F021A66E-6FD8-4F6A-CC88-7F109265BCA7}"/>
              </a:ext>
            </a:extLst>
          </p:cNvPr>
          <p:cNvCxnSpPr>
            <a:cxnSpLocks/>
          </p:cNvCxnSpPr>
          <p:nvPr/>
        </p:nvCxnSpPr>
        <p:spPr>
          <a:xfrm flipV="1">
            <a:off x="8448591" y="3368332"/>
            <a:ext cx="0" cy="504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72677512-95A4-85E6-82C4-24682E5E3208}"/>
              </a:ext>
            </a:extLst>
          </p:cNvPr>
          <p:cNvCxnSpPr>
            <a:cxnSpLocks/>
          </p:cNvCxnSpPr>
          <p:nvPr/>
        </p:nvCxnSpPr>
        <p:spPr>
          <a:xfrm>
            <a:off x="6383506" y="2295053"/>
            <a:ext cx="0" cy="504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C874513A-F47B-BC4E-AED4-8AE200CED3A7}"/>
              </a:ext>
            </a:extLst>
          </p:cNvPr>
          <p:cNvCxnSpPr>
            <a:cxnSpLocks/>
          </p:cNvCxnSpPr>
          <p:nvPr/>
        </p:nvCxnSpPr>
        <p:spPr>
          <a:xfrm>
            <a:off x="10491218" y="2273788"/>
            <a:ext cx="0" cy="504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文字方塊 37">
            <a:extLst>
              <a:ext uri="{FF2B5EF4-FFF2-40B4-BE49-F238E27FC236}">
                <a16:creationId xmlns:a16="http://schemas.microsoft.com/office/drawing/2014/main" id="{A50BF543-0157-AC77-D3BD-3DE45E75AA3D}"/>
              </a:ext>
            </a:extLst>
          </p:cNvPr>
          <p:cNvSpPr txBox="1"/>
          <p:nvPr/>
        </p:nvSpPr>
        <p:spPr>
          <a:xfrm>
            <a:off x="867469" y="2813243"/>
            <a:ext cx="108907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ASR</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9" name="直線單箭頭接點 38">
            <a:extLst>
              <a:ext uri="{FF2B5EF4-FFF2-40B4-BE49-F238E27FC236}">
                <a16:creationId xmlns:a16="http://schemas.microsoft.com/office/drawing/2014/main" id="{4BFC74D3-57EA-FDA3-6B40-4E69BA9EB993}"/>
              </a:ext>
            </a:extLst>
          </p:cNvPr>
          <p:cNvCxnSpPr>
            <a:cxnSpLocks/>
          </p:cNvCxnSpPr>
          <p:nvPr/>
        </p:nvCxnSpPr>
        <p:spPr>
          <a:xfrm>
            <a:off x="2792498" y="884058"/>
            <a:ext cx="0" cy="4676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2737ACBF-CE33-924E-2103-770759631EE8}"/>
              </a:ext>
            </a:extLst>
          </p:cNvPr>
          <p:cNvCxnSpPr>
            <a:cxnSpLocks/>
          </p:cNvCxnSpPr>
          <p:nvPr/>
        </p:nvCxnSpPr>
        <p:spPr>
          <a:xfrm flipH="1">
            <a:off x="808074" y="5710097"/>
            <a:ext cx="1093288"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CC145E8C-6BD6-53CE-66C2-66219279E0A8}"/>
              </a:ext>
            </a:extLst>
          </p:cNvPr>
          <p:cNvCxnSpPr>
            <a:cxnSpLocks/>
          </p:cNvCxnSpPr>
          <p:nvPr/>
        </p:nvCxnSpPr>
        <p:spPr>
          <a:xfrm flipV="1">
            <a:off x="808074" y="674351"/>
            <a:ext cx="0" cy="5035746"/>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單箭頭接點 46">
            <a:extLst>
              <a:ext uri="{FF2B5EF4-FFF2-40B4-BE49-F238E27FC236}">
                <a16:creationId xmlns:a16="http://schemas.microsoft.com/office/drawing/2014/main" id="{2288FD07-F71F-50AA-9911-F46FDF4525A6}"/>
              </a:ext>
            </a:extLst>
          </p:cNvPr>
          <p:cNvCxnSpPr>
            <a:cxnSpLocks/>
          </p:cNvCxnSpPr>
          <p:nvPr/>
        </p:nvCxnSpPr>
        <p:spPr>
          <a:xfrm>
            <a:off x="816958" y="665275"/>
            <a:ext cx="125450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 name="群組 19">
            <a:extLst>
              <a:ext uri="{FF2B5EF4-FFF2-40B4-BE49-F238E27FC236}">
                <a16:creationId xmlns:a16="http://schemas.microsoft.com/office/drawing/2014/main" id="{F345E82A-9181-762B-88B1-9504EAF3AD3F}"/>
              </a:ext>
            </a:extLst>
          </p:cNvPr>
          <p:cNvGrpSpPr/>
          <p:nvPr/>
        </p:nvGrpSpPr>
        <p:grpSpPr>
          <a:xfrm>
            <a:off x="7623376" y="2895157"/>
            <a:ext cx="1625688" cy="382191"/>
            <a:chOff x="7623376" y="2895157"/>
            <a:chExt cx="1625688" cy="382191"/>
          </a:xfrm>
        </p:grpSpPr>
        <p:sp>
          <p:nvSpPr>
            <p:cNvPr id="15" name="橢圓 14">
              <a:extLst>
                <a:ext uri="{FF2B5EF4-FFF2-40B4-BE49-F238E27FC236}">
                  <a16:creationId xmlns:a16="http://schemas.microsoft.com/office/drawing/2014/main" id="{0920C239-8A5A-8D9A-E406-5A5734611EA6}"/>
                </a:ext>
              </a:extLst>
            </p:cNvPr>
            <p:cNvSpPr/>
            <p:nvPr/>
          </p:nvSpPr>
          <p:spPr>
            <a:xfrm>
              <a:off x="8275161" y="2917348"/>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橢圓 15">
              <a:extLst>
                <a:ext uri="{FF2B5EF4-FFF2-40B4-BE49-F238E27FC236}">
                  <a16:creationId xmlns:a16="http://schemas.microsoft.com/office/drawing/2014/main" id="{A8A8A09D-3154-D93A-C149-543491BA6E25}"/>
                </a:ext>
              </a:extLst>
            </p:cNvPr>
            <p:cNvSpPr/>
            <p:nvPr/>
          </p:nvSpPr>
          <p:spPr>
            <a:xfrm>
              <a:off x="8889064" y="2917348"/>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 name="橢圓 1">
              <a:extLst>
                <a:ext uri="{FF2B5EF4-FFF2-40B4-BE49-F238E27FC236}">
                  <a16:creationId xmlns:a16="http://schemas.microsoft.com/office/drawing/2014/main" id="{228C9C8C-8F7C-49A0-F913-A1B57D1B1F45}"/>
                </a:ext>
              </a:extLst>
            </p:cNvPr>
            <p:cNvSpPr/>
            <p:nvPr/>
          </p:nvSpPr>
          <p:spPr>
            <a:xfrm>
              <a:off x="7623376" y="2895157"/>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4" name="群組 13">
            <a:extLst>
              <a:ext uri="{FF2B5EF4-FFF2-40B4-BE49-F238E27FC236}">
                <a16:creationId xmlns:a16="http://schemas.microsoft.com/office/drawing/2014/main" id="{158E05A3-A8C3-DBD2-4F94-CB5F593251BA}"/>
              </a:ext>
            </a:extLst>
          </p:cNvPr>
          <p:cNvGrpSpPr/>
          <p:nvPr/>
        </p:nvGrpSpPr>
        <p:grpSpPr>
          <a:xfrm>
            <a:off x="3580170" y="2914973"/>
            <a:ext cx="1587806" cy="362375"/>
            <a:chOff x="3580170" y="2914973"/>
            <a:chExt cx="1587806" cy="362375"/>
          </a:xfrm>
        </p:grpSpPr>
        <p:sp>
          <p:nvSpPr>
            <p:cNvPr id="9" name="橢圓 8">
              <a:extLst>
                <a:ext uri="{FF2B5EF4-FFF2-40B4-BE49-F238E27FC236}">
                  <a16:creationId xmlns:a16="http://schemas.microsoft.com/office/drawing/2014/main" id="{62B8E695-5B73-63BA-F1AC-551342BBD20F}"/>
                </a:ext>
              </a:extLst>
            </p:cNvPr>
            <p:cNvSpPr/>
            <p:nvPr/>
          </p:nvSpPr>
          <p:spPr>
            <a:xfrm>
              <a:off x="4194073" y="2917348"/>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橢圓 9">
              <a:extLst>
                <a:ext uri="{FF2B5EF4-FFF2-40B4-BE49-F238E27FC236}">
                  <a16:creationId xmlns:a16="http://schemas.microsoft.com/office/drawing/2014/main" id="{12CFAA90-0746-57C2-8089-4BD42A1C77C8}"/>
                </a:ext>
              </a:extLst>
            </p:cNvPr>
            <p:cNvSpPr/>
            <p:nvPr/>
          </p:nvSpPr>
          <p:spPr>
            <a:xfrm>
              <a:off x="4807976" y="2917348"/>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 name="橢圓 2">
              <a:extLst>
                <a:ext uri="{FF2B5EF4-FFF2-40B4-BE49-F238E27FC236}">
                  <a16:creationId xmlns:a16="http://schemas.microsoft.com/office/drawing/2014/main" id="{E2824787-D37B-8828-94F2-DC522D083AB2}"/>
                </a:ext>
              </a:extLst>
            </p:cNvPr>
            <p:cNvSpPr/>
            <p:nvPr/>
          </p:nvSpPr>
          <p:spPr>
            <a:xfrm>
              <a:off x="3580170" y="2914973"/>
              <a:ext cx="360000" cy="360000"/>
            </a:xfrm>
            <a:prstGeom prst="ellipse">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5" name="直線單箭頭接點 4">
            <a:extLst>
              <a:ext uri="{FF2B5EF4-FFF2-40B4-BE49-F238E27FC236}">
                <a16:creationId xmlns:a16="http://schemas.microsoft.com/office/drawing/2014/main" id="{35D864D2-BEB2-9C8A-E777-9189A9223122}"/>
              </a:ext>
            </a:extLst>
          </p:cNvPr>
          <p:cNvCxnSpPr>
            <a:cxnSpLocks/>
          </p:cNvCxnSpPr>
          <p:nvPr/>
        </p:nvCxnSpPr>
        <p:spPr>
          <a:xfrm flipV="1">
            <a:off x="4385625" y="2271037"/>
            <a:ext cx="0" cy="504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a:extLst>
              <a:ext uri="{FF2B5EF4-FFF2-40B4-BE49-F238E27FC236}">
                <a16:creationId xmlns:a16="http://schemas.microsoft.com/office/drawing/2014/main" id="{54ACAEF5-665F-A776-9E9A-EE97A3BB4A77}"/>
              </a:ext>
            </a:extLst>
          </p:cNvPr>
          <p:cNvCxnSpPr>
            <a:cxnSpLocks/>
          </p:cNvCxnSpPr>
          <p:nvPr/>
        </p:nvCxnSpPr>
        <p:spPr>
          <a:xfrm flipV="1">
            <a:off x="8429541" y="2271037"/>
            <a:ext cx="0" cy="504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文字方塊 3">
            <a:extLst>
              <a:ext uri="{FF2B5EF4-FFF2-40B4-BE49-F238E27FC236}">
                <a16:creationId xmlns:a16="http://schemas.microsoft.com/office/drawing/2014/main" id="{F1D208A1-EF2D-5118-BA12-AA1245A20CAD}"/>
              </a:ext>
            </a:extLst>
          </p:cNvPr>
          <p:cNvSpPr txBox="1"/>
          <p:nvPr/>
        </p:nvSpPr>
        <p:spPr>
          <a:xfrm>
            <a:off x="4404675" y="5362549"/>
            <a:ext cx="7351091"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Can we use the reasoning process generated by a text LLM to improve a speech LLM?</a:t>
            </a:r>
            <a:endPar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7" name="直線單箭頭接點 6">
            <a:extLst>
              <a:ext uri="{FF2B5EF4-FFF2-40B4-BE49-F238E27FC236}">
                <a16:creationId xmlns:a16="http://schemas.microsoft.com/office/drawing/2014/main" id="{71530526-D7AD-120C-BE21-CF1485AEC645}"/>
              </a:ext>
            </a:extLst>
          </p:cNvPr>
          <p:cNvCxnSpPr>
            <a:cxnSpLocks/>
          </p:cNvCxnSpPr>
          <p:nvPr/>
        </p:nvCxnSpPr>
        <p:spPr>
          <a:xfrm>
            <a:off x="6402556" y="3412165"/>
            <a:ext cx="0" cy="504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DD9451C2-2757-228A-C1D9-97758B75C1E1}"/>
              </a:ext>
            </a:extLst>
          </p:cNvPr>
          <p:cNvCxnSpPr>
            <a:cxnSpLocks/>
          </p:cNvCxnSpPr>
          <p:nvPr/>
        </p:nvCxnSpPr>
        <p:spPr>
          <a:xfrm>
            <a:off x="10510268" y="3390900"/>
            <a:ext cx="0" cy="5041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088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8" grpId="0"/>
      <p:bldP spid="38"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BB2A7556-4B6C-A3E5-F4B9-A2F8D8C2D4A4}"/>
              </a:ext>
            </a:extLst>
          </p:cNvPr>
          <p:cNvPicPr>
            <a:picLocks noChangeAspect="1"/>
          </p:cNvPicPr>
          <p:nvPr/>
        </p:nvPicPr>
        <p:blipFill>
          <a:blip r:embed="rId2"/>
          <a:stretch>
            <a:fillRect/>
          </a:stretch>
        </p:blipFill>
        <p:spPr>
          <a:xfrm>
            <a:off x="1014567" y="441325"/>
            <a:ext cx="5907354" cy="5978525"/>
          </a:xfrm>
          <a:prstGeom prst="rect">
            <a:avLst/>
          </a:prstGeom>
        </p:spPr>
      </p:pic>
      <p:sp>
        <p:nvSpPr>
          <p:cNvPr id="4" name="文字方塊 3">
            <a:extLst>
              <a:ext uri="{FF2B5EF4-FFF2-40B4-BE49-F238E27FC236}">
                <a16:creationId xmlns:a16="http://schemas.microsoft.com/office/drawing/2014/main" id="{3E4750A9-4B07-0EA6-8782-4A7E3AB24583}"/>
              </a:ext>
            </a:extLst>
          </p:cNvPr>
          <p:cNvSpPr txBox="1"/>
          <p:nvPr/>
        </p:nvSpPr>
        <p:spPr>
          <a:xfrm>
            <a:off x="1014567" y="6250102"/>
            <a:ext cx="63055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Tokens in each reasoning chunk during inference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 name="文字方塊 4">
            <a:extLst>
              <a:ext uri="{FF2B5EF4-FFF2-40B4-BE49-F238E27FC236}">
                <a16:creationId xmlns:a16="http://schemas.microsoft.com/office/drawing/2014/main" id="{8A003DBB-093F-5457-0249-38322BBEDD4B}"/>
              </a:ext>
            </a:extLst>
          </p:cNvPr>
          <p:cNvSpPr txBox="1"/>
          <p:nvPr/>
        </p:nvSpPr>
        <p:spPr>
          <a:xfrm>
            <a:off x="7320117" y="2718429"/>
            <a:ext cx="451485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Reasoning by speech LLM itself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(Finetune GLM-4-Voice-9B)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 name="直線單箭頭接點 7">
            <a:extLst>
              <a:ext uri="{FF2B5EF4-FFF2-40B4-BE49-F238E27FC236}">
                <a16:creationId xmlns:a16="http://schemas.microsoft.com/office/drawing/2014/main" id="{05CD6956-75B9-A902-9E82-EB4698E20FF7}"/>
              </a:ext>
            </a:extLst>
          </p:cNvPr>
          <p:cNvCxnSpPr>
            <a:cxnSpLocks/>
            <a:stCxn id="5" idx="1"/>
          </p:cNvCxnSpPr>
          <p:nvPr/>
        </p:nvCxnSpPr>
        <p:spPr>
          <a:xfrm flipH="1" flipV="1">
            <a:off x="6608819" y="2926178"/>
            <a:ext cx="711298" cy="2077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337E5595-9F28-6E18-4000-DADE313E7832}"/>
              </a:ext>
            </a:extLst>
          </p:cNvPr>
          <p:cNvCxnSpPr>
            <a:cxnSpLocks/>
          </p:cNvCxnSpPr>
          <p:nvPr/>
        </p:nvCxnSpPr>
        <p:spPr>
          <a:xfrm flipH="1" flipV="1">
            <a:off x="6343650" y="802520"/>
            <a:ext cx="976467" cy="7012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FCEC2428-5329-AA19-DC00-AF942F8D25A2}"/>
              </a:ext>
            </a:extLst>
          </p:cNvPr>
          <p:cNvSpPr txBox="1"/>
          <p:nvPr/>
        </p:nvSpPr>
        <p:spPr>
          <a:xfrm>
            <a:off x="7296150" y="1503769"/>
            <a:ext cx="48768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GLM-4-9B-Chat provided reasoning.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12" name="直線單箭頭接點 11">
            <a:extLst>
              <a:ext uri="{FF2B5EF4-FFF2-40B4-BE49-F238E27FC236}">
                <a16:creationId xmlns:a16="http://schemas.microsoft.com/office/drawing/2014/main" id="{6E1B540C-5E99-D1FF-C1B0-3F31D26A14F0}"/>
              </a:ext>
            </a:extLst>
          </p:cNvPr>
          <p:cNvCxnSpPr>
            <a:cxnSpLocks/>
          </p:cNvCxnSpPr>
          <p:nvPr/>
        </p:nvCxnSpPr>
        <p:spPr>
          <a:xfrm flipH="1">
            <a:off x="6632786" y="4556337"/>
            <a:ext cx="663364" cy="1840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EB4D901D-DF02-7B98-6F3C-857CB25F186E}"/>
              </a:ext>
            </a:extLst>
          </p:cNvPr>
          <p:cNvSpPr txBox="1"/>
          <p:nvPr/>
        </p:nvSpPr>
        <p:spPr>
          <a:xfrm>
            <a:off x="7315200" y="4158278"/>
            <a:ext cx="48768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Llama-3.2-1B-instruct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文字方塊 16">
            <a:extLst>
              <a:ext uri="{FF2B5EF4-FFF2-40B4-BE49-F238E27FC236}">
                <a16:creationId xmlns:a16="http://schemas.microsoft.com/office/drawing/2014/main" id="{ECC8B3E4-6E55-51D3-4435-2BA169583EA4}"/>
              </a:ext>
            </a:extLst>
          </p:cNvPr>
          <p:cNvSpPr txBox="1"/>
          <p:nvPr/>
        </p:nvSpPr>
        <p:spPr>
          <a:xfrm>
            <a:off x="7296150" y="5223729"/>
            <a:ext cx="487680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The speech LLM did leverage the reasoning tokens. </a:t>
            </a:r>
            <a:endParaRPr kumimoji="0" lang="zh-TW" altLang="en-US" sz="2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9441224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3" grpId="0"/>
      <p:bldP spid="17"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A9403A-46EE-44B0-7537-8B3328D5F029}"/>
              </a:ext>
            </a:extLst>
          </p:cNvPr>
          <p:cNvSpPr>
            <a:spLocks noGrp="1"/>
          </p:cNvSpPr>
          <p:nvPr>
            <p:ph type="title"/>
          </p:nvPr>
        </p:nvSpPr>
        <p:spPr/>
        <p:txBody>
          <a:bodyPr/>
          <a:lstStyle/>
          <a:p>
            <a:r>
              <a:rPr lang="en-US" altLang="zh-TW" dirty="0"/>
              <a:t>Demo Video</a:t>
            </a:r>
            <a:endParaRPr lang="zh-TW" altLang="en-US" dirty="0"/>
          </a:p>
        </p:txBody>
      </p:sp>
      <p:pic>
        <p:nvPicPr>
          <p:cNvPr id="4" name="stitch_s_token_demo">
            <a:hlinkClick r:id="" action="ppaction://media"/>
            <a:extLst>
              <a:ext uri="{FF2B5EF4-FFF2-40B4-BE49-F238E27FC236}">
                <a16:creationId xmlns:a16="http://schemas.microsoft.com/office/drawing/2014/main" id="{30E4361E-CECC-DB8A-28BB-6FF5BC6B1A3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73274" y="1690688"/>
            <a:ext cx="11845452" cy="3662362"/>
          </a:xfrm>
        </p:spPr>
      </p:pic>
      <p:sp>
        <p:nvSpPr>
          <p:cNvPr id="5" name="文字方塊 4">
            <a:extLst>
              <a:ext uri="{FF2B5EF4-FFF2-40B4-BE49-F238E27FC236}">
                <a16:creationId xmlns:a16="http://schemas.microsoft.com/office/drawing/2014/main" id="{AB0F2A5C-F44A-D004-F374-A4DB98E13F09}"/>
              </a:ext>
            </a:extLst>
          </p:cNvPr>
          <p:cNvSpPr txBox="1"/>
          <p:nvPr/>
        </p:nvSpPr>
        <p:spPr>
          <a:xfrm>
            <a:off x="5713176" y="5835134"/>
            <a:ext cx="6305550" cy="36933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Source: </a:t>
            </a: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https://d223302.github.io/STITCH/</a:t>
            </a:r>
          </a:p>
        </p:txBody>
      </p:sp>
    </p:spTree>
    <p:extLst>
      <p:ext uri="{BB962C8B-B14F-4D97-AF65-F5344CB8AC3E}">
        <p14:creationId xmlns:p14="http://schemas.microsoft.com/office/powerpoint/2010/main" val="28774696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9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07EC64-8BD6-E4A7-8342-DF7027EB6B08}"/>
              </a:ext>
            </a:extLst>
          </p:cNvPr>
          <p:cNvSpPr>
            <a:spLocks noGrp="1"/>
          </p:cNvSpPr>
          <p:nvPr>
            <p:ph type="title"/>
          </p:nvPr>
        </p:nvSpPr>
        <p:spPr/>
        <p:txBody>
          <a:bodyPr/>
          <a:lstStyle/>
          <a:p>
            <a:r>
              <a:rPr lang="en-US" altLang="zh-TW" dirty="0"/>
              <a:t>More ……</a:t>
            </a:r>
            <a:endParaRPr lang="zh-TW" altLang="en-US" dirty="0"/>
          </a:p>
        </p:txBody>
      </p:sp>
      <p:sp>
        <p:nvSpPr>
          <p:cNvPr id="3" name="內容版面配置區 2">
            <a:extLst>
              <a:ext uri="{FF2B5EF4-FFF2-40B4-BE49-F238E27FC236}">
                <a16:creationId xmlns:a16="http://schemas.microsoft.com/office/drawing/2014/main" id="{AF45422A-7E35-0A39-227A-94D93FFB9832}"/>
              </a:ext>
            </a:extLst>
          </p:cNvPr>
          <p:cNvSpPr>
            <a:spLocks noGrp="1"/>
          </p:cNvSpPr>
          <p:nvPr>
            <p:ph idx="1"/>
          </p:nvPr>
        </p:nvSpPr>
        <p:spPr/>
        <p:txBody>
          <a:bodyPr>
            <a:normAutofit lnSpcReduction="10000"/>
          </a:bodyPr>
          <a:lstStyle/>
          <a:p>
            <a:r>
              <a:rPr lang="en-US" altLang="zh-TW" dirty="0"/>
              <a:t>Mini-Omni-Reasoner: Token-Level Thinking-in-Speaking in Large Speech Models</a:t>
            </a:r>
          </a:p>
          <a:p>
            <a:pPr lvl="1"/>
            <a:r>
              <a:rPr lang="en-US" altLang="zh-TW" sz="1800" dirty="0"/>
              <a:t>https://arxiv.org/abs/2508.15827</a:t>
            </a:r>
          </a:p>
          <a:p>
            <a:r>
              <a:rPr lang="en-US" altLang="zh-TW" dirty="0"/>
              <a:t>Stream RAG: Instant and Accurate Spoken Dialogue Systems with Streaming Tool Usage</a:t>
            </a:r>
          </a:p>
          <a:p>
            <a:pPr lvl="1">
              <a:lnSpc>
                <a:spcPct val="100000"/>
              </a:lnSpc>
            </a:pPr>
            <a:r>
              <a:rPr lang="en-US" altLang="zh-TW" sz="1800" dirty="0"/>
              <a:t>https://arxiv.org/abs/2510.02044 </a:t>
            </a:r>
          </a:p>
          <a:p>
            <a:r>
              <a:rPr lang="en-US" altLang="zh-TW" dirty="0"/>
              <a:t>SHANKS: Simultaneous Hearing and Thinking for Spoken Language Models</a:t>
            </a:r>
          </a:p>
          <a:p>
            <a:pPr lvl="1">
              <a:lnSpc>
                <a:spcPct val="100000"/>
              </a:lnSpc>
            </a:pPr>
            <a:r>
              <a:rPr lang="en-US" altLang="zh-TW" sz="1800" dirty="0"/>
              <a:t>https://arxiv.org/abs/2510.06917</a:t>
            </a:r>
          </a:p>
          <a:p>
            <a:r>
              <a:rPr lang="en-US" altLang="zh-TW" dirty="0"/>
              <a:t>Can </a:t>
            </a:r>
            <a:r>
              <a:rPr lang="en-US" altLang="zh-TW" dirty="0" err="1"/>
              <a:t>SpeechLLMs</a:t>
            </a:r>
            <a:r>
              <a:rPr lang="en-US" altLang="zh-TW" dirty="0"/>
              <a:t> Think while Listening?</a:t>
            </a:r>
          </a:p>
          <a:p>
            <a:pPr lvl="1">
              <a:lnSpc>
                <a:spcPct val="100000"/>
              </a:lnSpc>
            </a:pPr>
            <a:r>
              <a:rPr lang="en-US" altLang="zh-TW" sz="1800" dirty="0"/>
              <a:t>https://arxiv.org/abs/2510.07497</a:t>
            </a:r>
          </a:p>
          <a:p>
            <a:endParaRPr lang="zh-TW" altLang="en-US" dirty="0"/>
          </a:p>
        </p:txBody>
      </p:sp>
    </p:spTree>
    <p:extLst>
      <p:ext uri="{BB962C8B-B14F-4D97-AF65-F5344CB8AC3E}">
        <p14:creationId xmlns:p14="http://schemas.microsoft.com/office/powerpoint/2010/main" val="31864019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descr="Concluding Remarks: 1. 序章：如何有效表示語音&#10;2. 初代語音語言模型&#10;3. 如何利用強大的文字模型&#10;4. 尋找更合適的語音表示方式&#10;5. 語音語言模型的三部曲&#10;6. 一邊說一邊思考&#10;"/>
          <p:cNvPicPr preferRelativeResize="0"/>
          <p:nvPr/>
        </p:nvPicPr>
        <p:blipFill>
          <a:blip r:embed="rId3">
            <a:alphaModFix/>
          </a:blip>
          <a:stretch>
            <a:fillRect/>
          </a:stretch>
        </p:blipFill>
        <p:spPr>
          <a:xfrm>
            <a:off x="1" y="26582"/>
            <a:ext cx="12191393" cy="6804508"/>
          </a:xfrm>
          <a:prstGeom prst="rect">
            <a:avLst/>
          </a:prstGeom>
          <a:noFill/>
          <a:ln>
            <a:noFill/>
          </a:ln>
        </p:spPr>
      </p:pic>
      <p:sp>
        <p:nvSpPr>
          <p:cNvPr id="2" name="文字方塊 1">
            <a:extLst>
              <a:ext uri="{FF2B5EF4-FFF2-40B4-BE49-F238E27FC236}">
                <a16:creationId xmlns:a16="http://schemas.microsoft.com/office/drawing/2014/main" id="{11FBB842-F033-9CA1-635B-429AFFA7C678}"/>
              </a:ext>
            </a:extLst>
          </p:cNvPr>
          <p:cNvSpPr txBox="1"/>
          <p:nvPr/>
        </p:nvSpPr>
        <p:spPr>
          <a:xfrm>
            <a:off x="5924550" y="5753100"/>
            <a:ext cx="5829300" cy="523220"/>
          </a:xfrm>
          <a:prstGeom prst="rect">
            <a:avLst/>
          </a:prstGeom>
          <a:noFill/>
        </p:spPr>
        <p:txBody>
          <a:bodyPr wrap="square" rtlCol="0">
            <a:spAutoFit/>
          </a:bodyPr>
          <a:lstStyle/>
          <a:p>
            <a:r>
              <a:rPr lang="zh-TW" altLang="en-US" sz="2800" dirty="0">
                <a:latin typeface="微軟正黑體" panose="020B0604030504040204" pitchFamily="34" charset="-120"/>
                <a:ea typeface="微軟正黑體" panose="020B0604030504040204" pitchFamily="34" charset="-120"/>
              </a:rPr>
              <a:t>其實還有很多沒有講到的技術 </a:t>
            </a:r>
            <a:r>
              <a:rPr lang="en-US" altLang="zh-TW" sz="2800" dirty="0">
                <a:latin typeface="微軟正黑體" panose="020B0604030504040204" pitchFamily="34" charset="-120"/>
                <a:ea typeface="微軟正黑體" panose="020B0604030504040204" pitchFamily="34" charset="-120"/>
              </a:rPr>
              <a:t>……</a:t>
            </a:r>
            <a:endParaRPr lang="zh-TW" altLang="en-US" sz="2800" dirty="0">
              <a:latin typeface="微軟正黑體" panose="020B0604030504040204" pitchFamily="34" charset="-120"/>
              <a:ea typeface="微軟正黑體" panose="020B0604030504040204" pitchFamily="34" charset="-12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A2B92C-285B-5EB1-D619-9E8C1C1B411E}"/>
              </a:ext>
            </a:extLst>
          </p:cNvPr>
          <p:cNvSpPr>
            <a:spLocks noGrp="1"/>
          </p:cNvSpPr>
          <p:nvPr>
            <p:ph type="title"/>
          </p:nvPr>
        </p:nvSpPr>
        <p:spPr/>
        <p:txBody>
          <a:bodyPr/>
          <a:lstStyle/>
          <a:p>
            <a:r>
              <a:rPr lang="en-US" altLang="zh-TW" dirty="0"/>
              <a:t>Beyond the Turn-based Game</a:t>
            </a:r>
            <a:endParaRPr lang="zh-TW" altLang="en-US" dirty="0"/>
          </a:p>
        </p:txBody>
      </p:sp>
      <p:cxnSp>
        <p:nvCxnSpPr>
          <p:cNvPr id="5" name="直線接點 4">
            <a:extLst>
              <a:ext uri="{FF2B5EF4-FFF2-40B4-BE49-F238E27FC236}">
                <a16:creationId xmlns:a16="http://schemas.microsoft.com/office/drawing/2014/main" id="{D53DC31C-6C25-CA4D-4D8A-0BE1B0BD80CC}"/>
              </a:ext>
            </a:extLst>
          </p:cNvPr>
          <p:cNvCxnSpPr>
            <a:cxnSpLocks/>
          </p:cNvCxnSpPr>
          <p:nvPr/>
        </p:nvCxnSpPr>
        <p:spPr>
          <a:xfrm>
            <a:off x="4054228" y="2342260"/>
            <a:ext cx="709632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直線接點 5">
            <a:extLst>
              <a:ext uri="{FF2B5EF4-FFF2-40B4-BE49-F238E27FC236}">
                <a16:creationId xmlns:a16="http://schemas.microsoft.com/office/drawing/2014/main" id="{70FCA14F-4D8B-10A4-5EAC-B212950AB596}"/>
              </a:ext>
            </a:extLst>
          </p:cNvPr>
          <p:cNvCxnSpPr>
            <a:cxnSpLocks/>
          </p:cNvCxnSpPr>
          <p:nvPr/>
        </p:nvCxnSpPr>
        <p:spPr>
          <a:xfrm>
            <a:off x="4054228" y="3082489"/>
            <a:ext cx="6940398" cy="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210F496F-A585-1DC5-F6C6-694C257F95D0}"/>
              </a:ext>
            </a:extLst>
          </p:cNvPr>
          <p:cNvSpPr txBox="1"/>
          <p:nvPr/>
        </p:nvSpPr>
        <p:spPr>
          <a:xfrm>
            <a:off x="2406085" y="2826178"/>
            <a:ext cx="1648143"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User 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sp>
        <p:nvSpPr>
          <p:cNvPr id="13" name="文字方塊 12">
            <a:extLst>
              <a:ext uri="{FF2B5EF4-FFF2-40B4-BE49-F238E27FC236}">
                <a16:creationId xmlns:a16="http://schemas.microsoft.com/office/drawing/2014/main" id="{135342A1-718D-07F8-CAAA-357F24C5C482}"/>
              </a:ext>
            </a:extLst>
          </p:cNvPr>
          <p:cNvSpPr txBox="1"/>
          <p:nvPr/>
        </p:nvSpPr>
        <p:spPr>
          <a:xfrm>
            <a:off x="2695930" y="2070597"/>
            <a:ext cx="1365197"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User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pic>
        <p:nvPicPr>
          <p:cNvPr id="17" name="Google Shape;106;p16">
            <a:extLst>
              <a:ext uri="{FF2B5EF4-FFF2-40B4-BE49-F238E27FC236}">
                <a16:creationId xmlns:a16="http://schemas.microsoft.com/office/drawing/2014/main" id="{25790C7F-2722-61C9-AD75-6A0B4C11E65B}"/>
              </a:ext>
            </a:extLst>
          </p:cNvPr>
          <p:cNvPicPr preferRelativeResize="0"/>
          <p:nvPr/>
        </p:nvPicPr>
        <p:blipFill>
          <a:blip r:embed="rId3">
            <a:alphaModFix/>
          </a:blip>
          <a:stretch>
            <a:fillRect/>
          </a:stretch>
        </p:blipFill>
        <p:spPr>
          <a:xfrm>
            <a:off x="4371646" y="4595300"/>
            <a:ext cx="2220220" cy="628753"/>
          </a:xfrm>
          <a:prstGeom prst="rect">
            <a:avLst/>
          </a:prstGeom>
          <a:noFill/>
          <a:ln>
            <a:noFill/>
          </a:ln>
        </p:spPr>
      </p:pic>
      <p:cxnSp>
        <p:nvCxnSpPr>
          <p:cNvPr id="18" name="直線接點 17">
            <a:extLst>
              <a:ext uri="{FF2B5EF4-FFF2-40B4-BE49-F238E27FC236}">
                <a16:creationId xmlns:a16="http://schemas.microsoft.com/office/drawing/2014/main" id="{7CFD79F8-A520-00C7-1DA5-28022A7A0073}"/>
              </a:ext>
            </a:extLst>
          </p:cNvPr>
          <p:cNvCxnSpPr>
            <a:cxnSpLocks/>
          </p:cNvCxnSpPr>
          <p:nvPr/>
        </p:nvCxnSpPr>
        <p:spPr>
          <a:xfrm>
            <a:off x="4027894" y="4889216"/>
            <a:ext cx="709632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C8408FC7-AF25-CA45-F4B8-4BD2AE9C17DD}"/>
              </a:ext>
            </a:extLst>
          </p:cNvPr>
          <p:cNvCxnSpPr>
            <a:cxnSpLocks/>
          </p:cNvCxnSpPr>
          <p:nvPr/>
        </p:nvCxnSpPr>
        <p:spPr>
          <a:xfrm>
            <a:off x="4027894" y="5743745"/>
            <a:ext cx="6940398" cy="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0" name="Google Shape;106;p16">
            <a:extLst>
              <a:ext uri="{FF2B5EF4-FFF2-40B4-BE49-F238E27FC236}">
                <a16:creationId xmlns:a16="http://schemas.microsoft.com/office/drawing/2014/main" id="{C6CE925E-BF7C-BFB9-C703-60C4127180FA}"/>
              </a:ext>
            </a:extLst>
          </p:cNvPr>
          <p:cNvPicPr preferRelativeResize="0"/>
          <p:nvPr/>
        </p:nvPicPr>
        <p:blipFill>
          <a:blip r:embed="rId3">
            <a:alphaModFix/>
          </a:blip>
          <a:stretch>
            <a:fillRect/>
          </a:stretch>
        </p:blipFill>
        <p:spPr>
          <a:xfrm flipH="1">
            <a:off x="6380861" y="4594874"/>
            <a:ext cx="3590574" cy="628753"/>
          </a:xfrm>
          <a:prstGeom prst="rect">
            <a:avLst/>
          </a:prstGeom>
          <a:noFill/>
          <a:ln>
            <a:noFill/>
          </a:ln>
        </p:spPr>
      </p:pic>
      <p:pic>
        <p:nvPicPr>
          <p:cNvPr id="21" name="Google Shape;106;p16">
            <a:extLst>
              <a:ext uri="{FF2B5EF4-FFF2-40B4-BE49-F238E27FC236}">
                <a16:creationId xmlns:a16="http://schemas.microsoft.com/office/drawing/2014/main" id="{67B43991-F69B-B36F-F6E5-68B24BCD6F05}"/>
              </a:ext>
            </a:extLst>
          </p:cNvPr>
          <p:cNvPicPr preferRelativeResize="0"/>
          <p:nvPr/>
        </p:nvPicPr>
        <p:blipFill>
          <a:blip r:embed="rId3">
            <a:alphaModFix/>
            <a:duotone>
              <a:schemeClr val="accent2">
                <a:shade val="45000"/>
                <a:satMod val="135000"/>
              </a:schemeClr>
              <a:prstClr val="white"/>
            </a:duotone>
          </a:blip>
          <a:stretch>
            <a:fillRect/>
          </a:stretch>
        </p:blipFill>
        <p:spPr>
          <a:xfrm flipH="1">
            <a:off x="6150994" y="5429368"/>
            <a:ext cx="805544" cy="628753"/>
          </a:xfrm>
          <a:prstGeom prst="rect">
            <a:avLst/>
          </a:prstGeom>
          <a:noFill/>
          <a:ln>
            <a:noFill/>
          </a:ln>
        </p:spPr>
      </p:pic>
      <p:sp>
        <p:nvSpPr>
          <p:cNvPr id="22" name="文字方塊 21">
            <a:extLst>
              <a:ext uri="{FF2B5EF4-FFF2-40B4-BE49-F238E27FC236}">
                <a16:creationId xmlns:a16="http://schemas.microsoft.com/office/drawing/2014/main" id="{E4236A5C-25B7-8838-082F-D6729B94E879}"/>
              </a:ext>
            </a:extLst>
          </p:cNvPr>
          <p:cNvSpPr txBox="1"/>
          <p:nvPr/>
        </p:nvSpPr>
        <p:spPr>
          <a:xfrm>
            <a:off x="2379751" y="5487434"/>
            <a:ext cx="1648143"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Speaker 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sp>
        <p:nvSpPr>
          <p:cNvPr id="23" name="文字方塊 22">
            <a:extLst>
              <a:ext uri="{FF2B5EF4-FFF2-40B4-BE49-F238E27FC236}">
                <a16:creationId xmlns:a16="http://schemas.microsoft.com/office/drawing/2014/main" id="{0D006D80-EFF3-0397-DAAB-D4F6AA275C11}"/>
              </a:ext>
            </a:extLst>
          </p:cNvPr>
          <p:cNvSpPr txBox="1"/>
          <p:nvPr/>
        </p:nvSpPr>
        <p:spPr>
          <a:xfrm>
            <a:off x="2406086" y="4617553"/>
            <a:ext cx="1628708"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Speaker</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pic>
        <p:nvPicPr>
          <p:cNvPr id="24" name="Google Shape;106;p16">
            <a:extLst>
              <a:ext uri="{FF2B5EF4-FFF2-40B4-BE49-F238E27FC236}">
                <a16:creationId xmlns:a16="http://schemas.microsoft.com/office/drawing/2014/main" id="{924C48EB-17D5-7810-A4D1-E2EE5B105D31}"/>
              </a:ext>
            </a:extLst>
          </p:cNvPr>
          <p:cNvPicPr preferRelativeResize="0"/>
          <p:nvPr/>
        </p:nvPicPr>
        <p:blipFill>
          <a:blip r:embed="rId3">
            <a:alphaModFix/>
            <a:duotone>
              <a:schemeClr val="accent2">
                <a:shade val="45000"/>
                <a:satMod val="135000"/>
              </a:schemeClr>
              <a:prstClr val="white"/>
            </a:duotone>
          </a:blip>
          <a:stretch>
            <a:fillRect/>
          </a:stretch>
        </p:blipFill>
        <p:spPr>
          <a:xfrm flipH="1">
            <a:off x="9476078" y="5429368"/>
            <a:ext cx="1648143" cy="628753"/>
          </a:xfrm>
          <a:prstGeom prst="rect">
            <a:avLst/>
          </a:prstGeom>
          <a:noFill/>
          <a:ln>
            <a:noFill/>
          </a:ln>
        </p:spPr>
      </p:pic>
      <p:sp>
        <p:nvSpPr>
          <p:cNvPr id="26" name="文字方塊 25">
            <a:extLst>
              <a:ext uri="{FF2B5EF4-FFF2-40B4-BE49-F238E27FC236}">
                <a16:creationId xmlns:a16="http://schemas.microsoft.com/office/drawing/2014/main" id="{5CA8A0AA-A870-CD21-B1E7-4EC96FFF1FE7}"/>
              </a:ext>
            </a:extLst>
          </p:cNvPr>
          <p:cNvSpPr txBox="1"/>
          <p:nvPr/>
        </p:nvSpPr>
        <p:spPr>
          <a:xfrm>
            <a:off x="471259" y="1691333"/>
            <a:ext cx="254161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 Conversation</a:t>
            </a:r>
            <a:endParaRPr kumimoji="0" lang="zh-TW" altLang="en-US" sz="24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8" name="直線接點 27">
            <a:extLst>
              <a:ext uri="{FF2B5EF4-FFF2-40B4-BE49-F238E27FC236}">
                <a16:creationId xmlns:a16="http://schemas.microsoft.com/office/drawing/2014/main" id="{A7B082A6-3833-7B0E-0453-7AA8E0592885}"/>
              </a:ext>
            </a:extLst>
          </p:cNvPr>
          <p:cNvCxnSpPr/>
          <p:nvPr/>
        </p:nvCxnSpPr>
        <p:spPr>
          <a:xfrm>
            <a:off x="6561050" y="2016145"/>
            <a:ext cx="0" cy="1377606"/>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B20A1643-4269-5764-B874-5E6E8172B6B7}"/>
              </a:ext>
            </a:extLst>
          </p:cNvPr>
          <p:cNvCxnSpPr/>
          <p:nvPr/>
        </p:nvCxnSpPr>
        <p:spPr>
          <a:xfrm>
            <a:off x="8385548" y="1975145"/>
            <a:ext cx="0" cy="1377606"/>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9E9D2E2D-1BE8-B06F-A0FF-ABA9BD286ACF}"/>
              </a:ext>
            </a:extLst>
          </p:cNvPr>
          <p:cNvCxnSpPr/>
          <p:nvPr/>
        </p:nvCxnSpPr>
        <p:spPr>
          <a:xfrm>
            <a:off x="9403713" y="1975145"/>
            <a:ext cx="0" cy="1377606"/>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338E70A0-6B2A-F4FC-28C4-4126C3D6DEEA}"/>
              </a:ext>
            </a:extLst>
          </p:cNvPr>
          <p:cNvCxnSpPr/>
          <p:nvPr/>
        </p:nvCxnSpPr>
        <p:spPr>
          <a:xfrm>
            <a:off x="6133399" y="4571493"/>
            <a:ext cx="0" cy="1377606"/>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D3A328F1-A609-470B-4B25-A1C6E6124758}"/>
              </a:ext>
            </a:extLst>
          </p:cNvPr>
          <p:cNvCxnSpPr/>
          <p:nvPr/>
        </p:nvCxnSpPr>
        <p:spPr>
          <a:xfrm>
            <a:off x="6994638" y="4598503"/>
            <a:ext cx="0" cy="1377606"/>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433F0B31-5E03-F976-865C-12A82B3DCAF3}"/>
              </a:ext>
            </a:extLst>
          </p:cNvPr>
          <p:cNvCxnSpPr/>
          <p:nvPr/>
        </p:nvCxnSpPr>
        <p:spPr>
          <a:xfrm>
            <a:off x="9505249" y="4590543"/>
            <a:ext cx="0" cy="1377606"/>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0BD4BB83-67C0-9532-9E42-02220F90B622}"/>
              </a:ext>
            </a:extLst>
          </p:cNvPr>
          <p:cNvCxnSpPr/>
          <p:nvPr/>
        </p:nvCxnSpPr>
        <p:spPr>
          <a:xfrm>
            <a:off x="9971435" y="4598503"/>
            <a:ext cx="0" cy="1377606"/>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08757CFB-B388-AD56-7A82-9CE7C6B08707}"/>
              </a:ext>
            </a:extLst>
          </p:cNvPr>
          <p:cNvSpPr txBox="1"/>
          <p:nvPr/>
        </p:nvSpPr>
        <p:spPr>
          <a:xfrm>
            <a:off x="7044891" y="5163450"/>
            <a:ext cx="20192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overlap</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文字方塊 36">
            <a:extLst>
              <a:ext uri="{FF2B5EF4-FFF2-40B4-BE49-F238E27FC236}">
                <a16:creationId xmlns:a16="http://schemas.microsoft.com/office/drawing/2014/main" id="{E2ECE555-60DD-48BC-5330-52AAF19E1272}"/>
              </a:ext>
            </a:extLst>
          </p:cNvPr>
          <p:cNvSpPr txBox="1"/>
          <p:nvPr/>
        </p:nvSpPr>
        <p:spPr>
          <a:xfrm>
            <a:off x="471259" y="4045323"/>
            <a:ext cx="317689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Speech Conversation </a:t>
            </a:r>
            <a:endParaRPr kumimoji="0" lang="zh-TW" altLang="en-US" sz="2400" b="1" i="0" u="sng"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 name="矩形: 圓角 2">
            <a:extLst>
              <a:ext uri="{FF2B5EF4-FFF2-40B4-BE49-F238E27FC236}">
                <a16:creationId xmlns:a16="http://schemas.microsoft.com/office/drawing/2014/main" id="{709ACCC8-64CC-D58A-B2A7-DCC8B7B5D523}"/>
              </a:ext>
            </a:extLst>
          </p:cNvPr>
          <p:cNvSpPr/>
          <p:nvPr/>
        </p:nvSpPr>
        <p:spPr>
          <a:xfrm>
            <a:off x="4258733" y="2150284"/>
            <a:ext cx="2187228" cy="36031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7" name="矩形: 圓角 6">
            <a:extLst>
              <a:ext uri="{FF2B5EF4-FFF2-40B4-BE49-F238E27FC236}">
                <a16:creationId xmlns:a16="http://schemas.microsoft.com/office/drawing/2014/main" id="{F35F8A32-D2E6-3F6A-62BE-28AD7CCFC94F}"/>
              </a:ext>
            </a:extLst>
          </p:cNvPr>
          <p:cNvSpPr/>
          <p:nvPr/>
        </p:nvSpPr>
        <p:spPr>
          <a:xfrm>
            <a:off x="8443167" y="2160135"/>
            <a:ext cx="874254" cy="3600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圓角 9">
            <a:extLst>
              <a:ext uri="{FF2B5EF4-FFF2-40B4-BE49-F238E27FC236}">
                <a16:creationId xmlns:a16="http://schemas.microsoft.com/office/drawing/2014/main" id="{99E190A5-D9F7-AF97-BBB4-25C1A5DC2BEF}"/>
              </a:ext>
            </a:extLst>
          </p:cNvPr>
          <p:cNvSpPr/>
          <p:nvPr/>
        </p:nvSpPr>
        <p:spPr>
          <a:xfrm>
            <a:off x="6607763" y="2895647"/>
            <a:ext cx="1720163" cy="39218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矩形: 圓角 10">
            <a:extLst>
              <a:ext uri="{FF2B5EF4-FFF2-40B4-BE49-F238E27FC236}">
                <a16:creationId xmlns:a16="http://schemas.microsoft.com/office/drawing/2014/main" id="{8947C5CC-CBBD-0236-9912-9E44006989DE}"/>
              </a:ext>
            </a:extLst>
          </p:cNvPr>
          <p:cNvSpPr/>
          <p:nvPr/>
        </p:nvSpPr>
        <p:spPr>
          <a:xfrm>
            <a:off x="9440067" y="2874423"/>
            <a:ext cx="1720163" cy="39218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text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文字方塊 14">
            <a:extLst>
              <a:ext uri="{FF2B5EF4-FFF2-40B4-BE49-F238E27FC236}">
                <a16:creationId xmlns:a16="http://schemas.microsoft.com/office/drawing/2014/main" id="{7795A491-B4E5-BA19-6296-9D91E1866B59}"/>
              </a:ext>
            </a:extLst>
          </p:cNvPr>
          <p:cNvSpPr txBox="1"/>
          <p:nvPr/>
        </p:nvSpPr>
        <p:spPr>
          <a:xfrm>
            <a:off x="439672" y="2484096"/>
            <a:ext cx="2104046"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2400" b="0" i="1"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rPr>
              <a:t>Turn-based</a:t>
            </a:r>
            <a:endParaRPr kumimoji="0" lang="zh-TW" altLang="en-US" sz="2400" b="0" i="1" u="none" strike="noStrike" kern="1200" cap="none" spc="0" normalizeH="0" baseline="0" noProof="0" dirty="0">
              <a:ln>
                <a:noFill/>
              </a:ln>
              <a:solidFill>
                <a:prstClr val="black"/>
              </a:solidFill>
              <a:effectLst/>
              <a:uLnTx/>
              <a:uFillTx/>
              <a:latin typeface="Calibri" panose="020F0502020204030204"/>
              <a:ea typeface="微軟正黑體" panose="020B0604030504040204" pitchFamily="34" charset="-120"/>
              <a:cs typeface="+mn-cs"/>
            </a:endParaRPr>
          </a:p>
        </p:txBody>
      </p:sp>
      <p:sp>
        <p:nvSpPr>
          <p:cNvPr id="25" name="文字方塊 24">
            <a:extLst>
              <a:ext uri="{FF2B5EF4-FFF2-40B4-BE49-F238E27FC236}">
                <a16:creationId xmlns:a16="http://schemas.microsoft.com/office/drawing/2014/main" id="{629DDA55-A1AD-B0B1-5891-250C16A85E78}"/>
              </a:ext>
            </a:extLst>
          </p:cNvPr>
          <p:cNvSpPr txBox="1"/>
          <p:nvPr/>
        </p:nvSpPr>
        <p:spPr>
          <a:xfrm>
            <a:off x="1002930" y="5034659"/>
            <a:ext cx="17853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0" i="1" u="none" strike="noStrike" kern="1200" cap="none" spc="0" normalizeH="0" baseline="0" noProof="0" dirty="0">
                <a:ln>
                  <a:noFill/>
                </a:ln>
                <a:solidFill>
                  <a:prstClr val="black"/>
                </a:solidFill>
                <a:effectLst/>
                <a:uLnTx/>
                <a:uFillTx/>
                <a:latin typeface="Calibri"/>
                <a:ea typeface="Calibri"/>
                <a:cs typeface="Calibri"/>
                <a:sym typeface="Calibri"/>
              </a:rPr>
              <a:t>Full-duplex</a:t>
            </a:r>
          </a:p>
        </p:txBody>
      </p:sp>
    </p:spTree>
    <p:extLst>
      <p:ext uri="{BB962C8B-B14F-4D97-AF65-F5344CB8AC3E}">
        <p14:creationId xmlns:p14="http://schemas.microsoft.com/office/powerpoint/2010/main" val="30397601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2" grpId="0"/>
      <p:bldP spid="23" grpId="0"/>
      <p:bldP spid="36" grpId="0"/>
      <p:bldP spid="3" grpId="0" animBg="1"/>
      <p:bldP spid="7" grpId="0" animBg="1"/>
      <p:bldP spid="10" grpId="0" animBg="1"/>
      <p:bldP spid="11" grpId="0" animBg="1"/>
      <p:bldP spid="15" grpId="0"/>
      <p:bldP spid="2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A62FFA-7F54-7B32-77B9-F4E4DBE5DBEA}"/>
              </a:ext>
            </a:extLst>
          </p:cNvPr>
          <p:cNvSpPr>
            <a:spLocks noGrp="1"/>
          </p:cNvSpPr>
          <p:nvPr>
            <p:ph type="title"/>
          </p:nvPr>
        </p:nvSpPr>
        <p:spPr/>
        <p:txBody>
          <a:bodyPr/>
          <a:lstStyle/>
          <a:p>
            <a:endParaRPr lang="zh-TW" altLang="en-US" dirty="0"/>
          </a:p>
        </p:txBody>
      </p:sp>
      <p:pic>
        <p:nvPicPr>
          <p:cNvPr id="5" name="圖片 4" descr="一張含有 螢幕擷取畫面, 圖表, 行 的圖片&#10;&#10;AI 產生的內容可能不正確。">
            <a:extLst>
              <a:ext uri="{FF2B5EF4-FFF2-40B4-BE49-F238E27FC236}">
                <a16:creationId xmlns:a16="http://schemas.microsoft.com/office/drawing/2014/main" id="{7CBE8742-8D70-6032-A4B4-4BD754F5513B}"/>
              </a:ext>
            </a:extLst>
          </p:cNvPr>
          <p:cNvPicPr>
            <a:picLocks noChangeAspect="1"/>
          </p:cNvPicPr>
          <p:nvPr/>
        </p:nvPicPr>
        <p:blipFill>
          <a:blip r:embed="rId2"/>
          <a:stretch>
            <a:fillRect/>
          </a:stretch>
        </p:blipFill>
        <p:spPr>
          <a:xfrm>
            <a:off x="404403" y="148991"/>
            <a:ext cx="5858693" cy="3353268"/>
          </a:xfrm>
          <a:prstGeom prst="rect">
            <a:avLst/>
          </a:prstGeom>
        </p:spPr>
      </p:pic>
      <p:sp>
        <p:nvSpPr>
          <p:cNvPr id="7" name="文字方塊 6">
            <a:extLst>
              <a:ext uri="{FF2B5EF4-FFF2-40B4-BE49-F238E27FC236}">
                <a16:creationId xmlns:a16="http://schemas.microsoft.com/office/drawing/2014/main" id="{B27D3768-040D-EAE2-81CB-7A1D5091F3E0}"/>
              </a:ext>
            </a:extLst>
          </p:cNvPr>
          <p:cNvSpPr txBox="1"/>
          <p:nvPr/>
        </p:nvSpPr>
        <p:spPr>
          <a:xfrm>
            <a:off x="285749" y="3452530"/>
            <a:ext cx="6096000" cy="369332"/>
          </a:xfrm>
          <a:prstGeom prst="rect">
            <a:avLst/>
          </a:prstGeom>
          <a:noFill/>
        </p:spPr>
        <p:txBody>
          <a:bodyPr wrap="square">
            <a:spAutoFit/>
          </a:bodyPr>
          <a:lstStyle/>
          <a:p>
            <a:r>
              <a:rPr lang="zh-TW" altLang="en-US" dirty="0"/>
              <a:t>https://arxiv.org/abs/2503.04721</a:t>
            </a:r>
          </a:p>
        </p:txBody>
      </p:sp>
      <p:pic>
        <p:nvPicPr>
          <p:cNvPr id="9" name="圖片 8" descr="一張含有 文字, 螢幕擷取畫面, 圖表, 行 的圖片&#10;&#10;AI 產生的內容可能不正確。">
            <a:extLst>
              <a:ext uri="{FF2B5EF4-FFF2-40B4-BE49-F238E27FC236}">
                <a16:creationId xmlns:a16="http://schemas.microsoft.com/office/drawing/2014/main" id="{1F177A7A-A3D0-E758-7564-D357D16778FF}"/>
              </a:ext>
            </a:extLst>
          </p:cNvPr>
          <p:cNvPicPr>
            <a:picLocks noChangeAspect="1"/>
          </p:cNvPicPr>
          <p:nvPr/>
        </p:nvPicPr>
        <p:blipFill>
          <a:blip r:embed="rId3"/>
          <a:stretch>
            <a:fillRect/>
          </a:stretch>
        </p:blipFill>
        <p:spPr>
          <a:xfrm>
            <a:off x="3504781" y="1407523"/>
            <a:ext cx="5982535" cy="3477110"/>
          </a:xfrm>
          <a:prstGeom prst="rect">
            <a:avLst/>
          </a:prstGeom>
        </p:spPr>
      </p:pic>
      <p:sp>
        <p:nvSpPr>
          <p:cNvPr id="11" name="文字方塊 10">
            <a:extLst>
              <a:ext uri="{FF2B5EF4-FFF2-40B4-BE49-F238E27FC236}">
                <a16:creationId xmlns:a16="http://schemas.microsoft.com/office/drawing/2014/main" id="{3A0AE30B-1EE8-AC09-5B7F-5342A73D5ABC}"/>
              </a:ext>
            </a:extLst>
          </p:cNvPr>
          <p:cNvSpPr txBox="1"/>
          <p:nvPr/>
        </p:nvSpPr>
        <p:spPr>
          <a:xfrm>
            <a:off x="3153158" y="4890536"/>
            <a:ext cx="6096000" cy="369332"/>
          </a:xfrm>
          <a:prstGeom prst="rect">
            <a:avLst/>
          </a:prstGeom>
          <a:noFill/>
        </p:spPr>
        <p:txBody>
          <a:bodyPr wrap="square">
            <a:spAutoFit/>
          </a:bodyPr>
          <a:lstStyle/>
          <a:p>
            <a:r>
              <a:rPr lang="zh-TW" altLang="en-US" dirty="0"/>
              <a:t>https://arxiv.org/abs/2507.23159</a:t>
            </a:r>
          </a:p>
        </p:txBody>
      </p:sp>
      <p:sp>
        <p:nvSpPr>
          <p:cNvPr id="13" name="文字方塊 12">
            <a:extLst>
              <a:ext uri="{FF2B5EF4-FFF2-40B4-BE49-F238E27FC236}">
                <a16:creationId xmlns:a16="http://schemas.microsoft.com/office/drawing/2014/main" id="{E26494B7-88B6-186F-1D37-C231C0D1DA39}"/>
              </a:ext>
            </a:extLst>
          </p:cNvPr>
          <p:cNvSpPr txBox="1"/>
          <p:nvPr/>
        </p:nvSpPr>
        <p:spPr>
          <a:xfrm>
            <a:off x="404403" y="5947404"/>
            <a:ext cx="6096000" cy="387222"/>
          </a:xfrm>
          <a:prstGeom prst="rect">
            <a:avLst/>
          </a:prstGeom>
          <a:noFill/>
        </p:spPr>
        <p:txBody>
          <a:bodyPr wrap="square">
            <a:spAutoFit/>
          </a:bodyPr>
          <a:lstStyle/>
          <a:p>
            <a:pPr algn="l">
              <a:lnSpc>
                <a:spcPts val="2099"/>
              </a:lnSpc>
              <a:spcAft>
                <a:spcPts val="900"/>
              </a:spcAft>
              <a:buNone/>
            </a:pPr>
            <a:r>
              <a:rPr lang="en-US" altLang="zh-TW" sz="3200" b="1" i="0" dirty="0">
                <a:solidFill>
                  <a:srgbClr val="000000"/>
                </a:solidFill>
                <a:effectLst/>
                <a:latin typeface="Lucida Grande"/>
              </a:rPr>
              <a:t>Full-Duplex-Bench</a:t>
            </a:r>
          </a:p>
        </p:txBody>
      </p:sp>
      <p:pic>
        <p:nvPicPr>
          <p:cNvPr id="15" name="圖片 14" descr="一張含有 文字, 螢幕擷取畫面, 字型, 行 的圖片&#10;&#10;AI 產生的內容可能不正確。">
            <a:extLst>
              <a:ext uri="{FF2B5EF4-FFF2-40B4-BE49-F238E27FC236}">
                <a16:creationId xmlns:a16="http://schemas.microsoft.com/office/drawing/2014/main" id="{14DCF2A7-D4F8-9127-8319-A1278094259E}"/>
              </a:ext>
            </a:extLst>
          </p:cNvPr>
          <p:cNvPicPr>
            <a:picLocks noChangeAspect="1"/>
          </p:cNvPicPr>
          <p:nvPr/>
        </p:nvPicPr>
        <p:blipFill>
          <a:blip r:embed="rId4"/>
          <a:stretch>
            <a:fillRect/>
          </a:stretch>
        </p:blipFill>
        <p:spPr>
          <a:xfrm>
            <a:off x="6496049" y="2467829"/>
            <a:ext cx="5506218" cy="3534268"/>
          </a:xfrm>
          <a:prstGeom prst="rect">
            <a:avLst/>
          </a:prstGeom>
        </p:spPr>
      </p:pic>
      <p:sp>
        <p:nvSpPr>
          <p:cNvPr id="17" name="文字方塊 16">
            <a:extLst>
              <a:ext uri="{FF2B5EF4-FFF2-40B4-BE49-F238E27FC236}">
                <a16:creationId xmlns:a16="http://schemas.microsoft.com/office/drawing/2014/main" id="{B9741450-B7C9-D3B9-F745-5A1964ED0F69}"/>
              </a:ext>
            </a:extLst>
          </p:cNvPr>
          <p:cNvSpPr txBox="1"/>
          <p:nvPr/>
        </p:nvSpPr>
        <p:spPr>
          <a:xfrm>
            <a:off x="6496049" y="5976533"/>
            <a:ext cx="6096000" cy="369332"/>
          </a:xfrm>
          <a:prstGeom prst="rect">
            <a:avLst/>
          </a:prstGeom>
          <a:noFill/>
        </p:spPr>
        <p:txBody>
          <a:bodyPr wrap="square">
            <a:spAutoFit/>
          </a:bodyPr>
          <a:lstStyle/>
          <a:p>
            <a:r>
              <a:rPr lang="zh-TW" altLang="en-US" dirty="0"/>
              <a:t>https://arxiv.org/abs/2510.07838</a:t>
            </a:r>
          </a:p>
        </p:txBody>
      </p:sp>
      <p:pic>
        <p:nvPicPr>
          <p:cNvPr id="18" name="圖片 17" descr="一張含有 人員, 天空, 戶外, 服裝 的圖片&#10;&#10;自動產生的描述">
            <a:extLst>
              <a:ext uri="{FF2B5EF4-FFF2-40B4-BE49-F238E27FC236}">
                <a16:creationId xmlns:a16="http://schemas.microsoft.com/office/drawing/2014/main" id="{03E2690C-0119-0E96-E9E4-ECEC7A767F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6488" y="279296"/>
            <a:ext cx="1318935" cy="1325563"/>
          </a:xfrm>
          <a:prstGeom prst="rect">
            <a:avLst/>
          </a:prstGeom>
        </p:spPr>
      </p:pic>
      <p:sp>
        <p:nvSpPr>
          <p:cNvPr id="20" name="文字方塊 19">
            <a:extLst>
              <a:ext uri="{FF2B5EF4-FFF2-40B4-BE49-F238E27FC236}">
                <a16:creationId xmlns:a16="http://schemas.microsoft.com/office/drawing/2014/main" id="{A88FA269-2131-36EB-F136-A4A129B62A75}"/>
              </a:ext>
            </a:extLst>
          </p:cNvPr>
          <p:cNvSpPr txBox="1"/>
          <p:nvPr/>
        </p:nvSpPr>
        <p:spPr>
          <a:xfrm>
            <a:off x="9921845" y="1636327"/>
            <a:ext cx="1865752" cy="36933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Guan-Ting Lin </a:t>
            </a:r>
          </a:p>
        </p:txBody>
      </p:sp>
      <p:sp>
        <p:nvSpPr>
          <p:cNvPr id="23" name="文字方塊 22">
            <a:extLst>
              <a:ext uri="{FF2B5EF4-FFF2-40B4-BE49-F238E27FC236}">
                <a16:creationId xmlns:a16="http://schemas.microsoft.com/office/drawing/2014/main" id="{6D2F13C8-8F9B-2AA9-03B0-880BF6311AB9}"/>
              </a:ext>
            </a:extLst>
          </p:cNvPr>
          <p:cNvSpPr txBox="1"/>
          <p:nvPr/>
        </p:nvSpPr>
        <p:spPr>
          <a:xfrm>
            <a:off x="9168605" y="6374994"/>
            <a:ext cx="6448424" cy="369332"/>
          </a:xfrm>
          <a:prstGeom prst="rect">
            <a:avLst/>
          </a:prstGeom>
          <a:noFill/>
        </p:spPr>
        <p:txBody>
          <a:bodyPr wrap="square">
            <a:spAutoFit/>
          </a:bodyPr>
          <a:lstStyle/>
          <a:p>
            <a:r>
              <a:rPr lang="en-US" altLang="zh-TW" b="1" dirty="0"/>
              <a:t>(With Shih-Yun Shan Kuan)</a:t>
            </a:r>
            <a:endParaRPr lang="zh-TW" altLang="en-US" b="1" dirty="0"/>
          </a:p>
        </p:txBody>
      </p:sp>
    </p:spTree>
    <p:extLst>
      <p:ext uri="{BB962C8B-B14F-4D97-AF65-F5344CB8AC3E}">
        <p14:creationId xmlns:p14="http://schemas.microsoft.com/office/powerpoint/2010/main" val="317705051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853404-D77B-FEF5-4AF3-B51963A0FCE2}"/>
              </a:ext>
            </a:extLst>
          </p:cNvPr>
          <p:cNvSpPr>
            <a:spLocks noGrp="1"/>
          </p:cNvSpPr>
          <p:nvPr>
            <p:ph type="title"/>
          </p:nvPr>
        </p:nvSpPr>
        <p:spPr/>
        <p:txBody>
          <a:bodyPr/>
          <a:lstStyle/>
          <a:p>
            <a:r>
              <a:rPr lang="en-US" altLang="zh-TW" dirty="0"/>
              <a:t>Do speech LLMs know how long 10 seconds is?</a:t>
            </a:r>
            <a:endParaRPr lang="zh-TW" altLang="en-US" dirty="0"/>
          </a:p>
        </p:txBody>
      </p:sp>
      <p:sp>
        <p:nvSpPr>
          <p:cNvPr id="3" name="內容版面配置區 2">
            <a:extLst>
              <a:ext uri="{FF2B5EF4-FFF2-40B4-BE49-F238E27FC236}">
                <a16:creationId xmlns:a16="http://schemas.microsoft.com/office/drawing/2014/main" id="{48F19FB7-63FF-DE4A-0610-28B6E039907D}"/>
              </a:ext>
            </a:extLst>
          </p:cNvPr>
          <p:cNvSpPr>
            <a:spLocks noGrp="1"/>
          </p:cNvSpPr>
          <p:nvPr>
            <p:ph idx="1"/>
          </p:nvPr>
        </p:nvSpPr>
        <p:spPr/>
        <p:txBody>
          <a:bodyPr/>
          <a:lstStyle/>
          <a:p>
            <a:endParaRPr lang="zh-TW" altLang="en-US"/>
          </a:p>
        </p:txBody>
      </p:sp>
      <p:pic>
        <p:nvPicPr>
          <p:cNvPr id="5" name="圖片 4" descr="一張含有 文字, 螢幕擷取畫面, 字型, 數字 的圖片&#10;&#10;AI 產生的內容可能不正確。">
            <a:extLst>
              <a:ext uri="{FF2B5EF4-FFF2-40B4-BE49-F238E27FC236}">
                <a16:creationId xmlns:a16="http://schemas.microsoft.com/office/drawing/2014/main" id="{BCD627BD-212A-B5F3-2BBE-840965CD0B7E}"/>
              </a:ext>
            </a:extLst>
          </p:cNvPr>
          <p:cNvPicPr>
            <a:picLocks noChangeAspect="1"/>
          </p:cNvPicPr>
          <p:nvPr/>
        </p:nvPicPr>
        <p:blipFill>
          <a:blip r:embed="rId2"/>
          <a:stretch>
            <a:fillRect/>
          </a:stretch>
        </p:blipFill>
        <p:spPr>
          <a:xfrm>
            <a:off x="3940885" y="1690688"/>
            <a:ext cx="7648922" cy="4483851"/>
          </a:xfrm>
          <a:prstGeom prst="rect">
            <a:avLst/>
          </a:prstGeom>
        </p:spPr>
      </p:pic>
      <p:sp>
        <p:nvSpPr>
          <p:cNvPr id="6" name="文字方塊 5">
            <a:extLst>
              <a:ext uri="{FF2B5EF4-FFF2-40B4-BE49-F238E27FC236}">
                <a16:creationId xmlns:a16="http://schemas.microsoft.com/office/drawing/2014/main" id="{8F77C322-A875-0536-2D4E-3F8B1B5B888C}"/>
              </a:ext>
            </a:extLst>
          </p:cNvPr>
          <p:cNvSpPr txBox="1"/>
          <p:nvPr/>
        </p:nvSpPr>
        <p:spPr>
          <a:xfrm>
            <a:off x="1023064" y="3956456"/>
            <a:ext cx="22098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Kai-Wei Chang</a:t>
            </a:r>
          </a:p>
        </p:txBody>
      </p:sp>
      <p:pic>
        <p:nvPicPr>
          <p:cNvPr id="7" name="圖片 6" descr="一張含有 人員, 人的臉孔, 戶外, 天空 的圖片&#10;&#10;自動產生的描述">
            <a:extLst>
              <a:ext uri="{FF2B5EF4-FFF2-40B4-BE49-F238E27FC236}">
                <a16:creationId xmlns:a16="http://schemas.microsoft.com/office/drawing/2014/main" id="{C7C92BA6-8530-5CAA-BB5B-3F0CBAD90C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2861726"/>
            <a:ext cx="1512729" cy="1134547"/>
          </a:xfrm>
          <a:prstGeom prst="rect">
            <a:avLst/>
          </a:prstGeom>
        </p:spPr>
      </p:pic>
      <p:sp>
        <p:nvSpPr>
          <p:cNvPr id="9" name="文字方塊 8">
            <a:extLst>
              <a:ext uri="{FF2B5EF4-FFF2-40B4-BE49-F238E27FC236}">
                <a16:creationId xmlns:a16="http://schemas.microsoft.com/office/drawing/2014/main" id="{348D697D-1E8D-018B-47F8-1EA12F37C3E5}"/>
              </a:ext>
            </a:extLst>
          </p:cNvPr>
          <p:cNvSpPr txBox="1"/>
          <p:nvPr/>
        </p:nvSpPr>
        <p:spPr>
          <a:xfrm>
            <a:off x="538875" y="5651351"/>
            <a:ext cx="6096000" cy="369332"/>
          </a:xfrm>
          <a:prstGeom prst="rect">
            <a:avLst/>
          </a:prstGeom>
          <a:noFill/>
        </p:spPr>
        <p:txBody>
          <a:bodyPr wrap="square">
            <a:spAutoFit/>
          </a:bodyPr>
          <a:lstStyle/>
          <a:p>
            <a:r>
              <a:rPr lang="zh-TW" altLang="en-US" dirty="0"/>
              <a:t>https://arxiv.org/abs/2509.26388</a:t>
            </a:r>
          </a:p>
        </p:txBody>
      </p:sp>
    </p:spTree>
    <p:extLst>
      <p:ext uri="{BB962C8B-B14F-4D97-AF65-F5344CB8AC3E}">
        <p14:creationId xmlns:p14="http://schemas.microsoft.com/office/powerpoint/2010/main" val="6690529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2BF5E-D887-6829-A593-161B6377E2F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CCF50E4-F208-1A4D-5BDF-0867E9203343}"/>
              </a:ext>
            </a:extLst>
          </p:cNvPr>
          <p:cNvSpPr>
            <a:spLocks noGrp="1"/>
          </p:cNvSpPr>
          <p:nvPr>
            <p:ph type="title"/>
          </p:nvPr>
        </p:nvSpPr>
        <p:spPr/>
        <p:txBody>
          <a:bodyPr/>
          <a:lstStyle/>
          <a:p>
            <a:endParaRPr lang="zh-TW" altLang="en-US"/>
          </a:p>
        </p:txBody>
      </p:sp>
      <p:pic>
        <p:nvPicPr>
          <p:cNvPr id="9" name="內容版面配置區 8" descr="一張含有 文字, 螢幕擷取畫面, 字型, 數字 的圖片&#10;&#10;AI 產生的內容可能不正確。">
            <a:extLst>
              <a:ext uri="{FF2B5EF4-FFF2-40B4-BE49-F238E27FC236}">
                <a16:creationId xmlns:a16="http://schemas.microsoft.com/office/drawing/2014/main" id="{705BC958-EF43-E825-E7F7-C6FEF6474E8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90167" y="136626"/>
            <a:ext cx="5433238" cy="6721374"/>
          </a:xfrm>
        </p:spPr>
      </p:pic>
      <p:sp>
        <p:nvSpPr>
          <p:cNvPr id="5" name="文字方塊 4">
            <a:extLst>
              <a:ext uri="{FF2B5EF4-FFF2-40B4-BE49-F238E27FC236}">
                <a16:creationId xmlns:a16="http://schemas.microsoft.com/office/drawing/2014/main" id="{8F3B066D-BFDD-0FA0-34B3-171064D0E1E0}"/>
              </a:ext>
            </a:extLst>
          </p:cNvPr>
          <p:cNvSpPr txBox="1"/>
          <p:nvPr/>
        </p:nvSpPr>
        <p:spPr>
          <a:xfrm>
            <a:off x="567956" y="2774977"/>
            <a:ext cx="609245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https://arxiv.org/abs/2504.08528</a:t>
            </a:r>
          </a:p>
        </p:txBody>
      </p:sp>
      <p:pic>
        <p:nvPicPr>
          <p:cNvPr id="11" name="圖片 10">
            <a:extLst>
              <a:ext uri="{FF2B5EF4-FFF2-40B4-BE49-F238E27FC236}">
                <a16:creationId xmlns:a16="http://schemas.microsoft.com/office/drawing/2014/main" id="{63FD4E59-FE48-DFE9-92FF-DB125FB4374B}"/>
              </a:ext>
            </a:extLst>
          </p:cNvPr>
          <p:cNvPicPr>
            <a:picLocks noChangeAspect="1"/>
          </p:cNvPicPr>
          <p:nvPr/>
        </p:nvPicPr>
        <p:blipFill>
          <a:blip r:embed="rId4"/>
          <a:stretch>
            <a:fillRect/>
          </a:stretch>
        </p:blipFill>
        <p:spPr>
          <a:xfrm>
            <a:off x="567956" y="699949"/>
            <a:ext cx="5611008" cy="1981477"/>
          </a:xfrm>
          <a:prstGeom prst="rect">
            <a:avLst/>
          </a:prstGeom>
        </p:spPr>
      </p:pic>
      <p:pic>
        <p:nvPicPr>
          <p:cNvPr id="1026" name="Picture 2">
            <a:extLst>
              <a:ext uri="{FF2B5EF4-FFF2-40B4-BE49-F238E27FC236}">
                <a16:creationId xmlns:a16="http://schemas.microsoft.com/office/drawing/2014/main" id="{E0DBD0FE-E813-A62E-2D88-444A2AA5A1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5729" y="3407821"/>
            <a:ext cx="3186666" cy="3186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58854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3310</TotalTime>
  <Words>6721</Words>
  <Application>Microsoft Macintosh PowerPoint</Application>
  <PresentationFormat>寬螢幕</PresentationFormat>
  <Paragraphs>1520</Paragraphs>
  <Slides>128</Slides>
  <Notes>66</Notes>
  <HiddenSlides>0</HiddenSlides>
  <MMClips>33</MMClips>
  <ScaleCrop>false</ScaleCrop>
  <HeadingPairs>
    <vt:vector size="6" baseType="variant">
      <vt:variant>
        <vt:lpstr>使用字型</vt:lpstr>
      </vt:variant>
      <vt:variant>
        <vt:i4>20</vt:i4>
      </vt:variant>
      <vt:variant>
        <vt:lpstr>佈景主題</vt:lpstr>
      </vt:variant>
      <vt:variant>
        <vt:i4>4</vt:i4>
      </vt:variant>
      <vt:variant>
        <vt:lpstr>投影片標題</vt:lpstr>
      </vt:variant>
      <vt:variant>
        <vt:i4>128</vt:i4>
      </vt:variant>
    </vt:vector>
  </HeadingPairs>
  <TitlesOfParts>
    <vt:vector size="152" baseType="lpstr">
      <vt:lpstr>-apple-system</vt:lpstr>
      <vt:lpstr>微軟正黑體</vt:lpstr>
      <vt:lpstr>Google Sans</vt:lpstr>
      <vt:lpstr>inherit</vt:lpstr>
      <vt:lpstr>Optimistic Text Normal</vt:lpstr>
      <vt:lpstr>Optimistic Text, Helvetica, Helvetica Neue, Arial, sans-serif</vt:lpstr>
      <vt:lpstr>season</vt:lpstr>
      <vt:lpstr>Slack-Lato</vt:lpstr>
      <vt:lpstr>Söhne</vt:lpstr>
      <vt:lpstr>Aptos</vt:lpstr>
      <vt:lpstr>Aptos Display</vt:lpstr>
      <vt:lpstr>Arial</vt:lpstr>
      <vt:lpstr>Calibri</vt:lpstr>
      <vt:lpstr>Calibri Light</vt:lpstr>
      <vt:lpstr>Cambria Math</vt:lpstr>
      <vt:lpstr>Lato</vt:lpstr>
      <vt:lpstr>Lucida Grande</vt:lpstr>
      <vt:lpstr>Segoe UI Historic</vt:lpstr>
      <vt:lpstr>Times New Roman</vt:lpstr>
      <vt:lpstr>Wingdings</vt:lpstr>
      <vt:lpstr>Office 佈景主題</vt:lpstr>
      <vt:lpstr>1_Office 佈景主題</vt:lpstr>
      <vt:lpstr>2_Office 佈景主題</vt:lpstr>
      <vt:lpstr>3_Office 佈景主題</vt:lpstr>
      <vt:lpstr>語音語言模型的發展史</vt:lpstr>
      <vt:lpstr>免責聲明</vt:lpstr>
      <vt:lpstr>語音語言模型 (Speech Language Model)</vt:lpstr>
      <vt:lpstr>PowerPoint 簡報</vt:lpstr>
      <vt:lpstr>語音語言模型 (Speech Language Model)</vt:lpstr>
      <vt:lpstr>語音語言模型 (Speech Language Model)</vt:lpstr>
      <vt:lpstr>PowerPoint 簡報</vt:lpstr>
      <vt:lpstr>PowerPoint 簡報</vt:lpstr>
      <vt:lpstr>History of Automatic Speech Recognition … </vt:lpstr>
      <vt:lpstr>History of Automatic Speech Recognition … </vt:lpstr>
      <vt:lpstr>History of Automatic Speech Recognition … </vt:lpstr>
      <vt:lpstr>一般人想像中的技術發展</vt:lpstr>
      <vt:lpstr>實際上可能是這樣 ……</vt:lpstr>
      <vt:lpstr>PowerPoint 簡報</vt:lpstr>
      <vt:lpstr>1. 序章</vt:lpstr>
      <vt:lpstr>Spoken Content Retrieval</vt:lpstr>
      <vt:lpstr>PowerPoint 簡報</vt:lpstr>
      <vt:lpstr>Audio Word2Vector </vt:lpstr>
      <vt:lpstr>How can we automatically find certain types of boundaries in speech?</vt:lpstr>
      <vt:lpstr>Segmental Audio Word2Vector</vt:lpstr>
      <vt:lpstr>PowerPoint 簡報</vt:lpstr>
      <vt:lpstr>PowerPoint 簡報</vt:lpstr>
      <vt:lpstr>PowerPoint 簡報</vt:lpstr>
      <vt:lpstr>PowerPoint 簡報</vt:lpstr>
      <vt:lpstr>Is Unsupervised Speech Recognition possible?</vt:lpstr>
      <vt:lpstr>PowerPoint 簡報</vt:lpstr>
      <vt:lpstr>Speech BERT</vt:lpstr>
      <vt:lpstr>Masking</vt:lpstr>
      <vt:lpstr>Speech GPT</vt:lpstr>
      <vt:lpstr>Wav2vec / HuBERT</vt:lpstr>
      <vt:lpstr>PowerPoint 簡報</vt:lpstr>
      <vt:lpstr>PowerPoint 簡報</vt:lpstr>
      <vt:lpstr>PowerPoint 簡報</vt:lpstr>
      <vt:lpstr>Are speech representation models universal?</vt:lpstr>
      <vt:lpstr>PowerPoint 簡報</vt:lpstr>
      <vt:lpstr>PowerPoint 簡報</vt:lpstr>
      <vt:lpstr>PowerPoint 簡報</vt:lpstr>
      <vt:lpstr>Different Layers Encode Different Information </vt:lpstr>
      <vt:lpstr>PowerPoint 簡報</vt:lpstr>
      <vt:lpstr>PowerPoint 簡報</vt:lpstr>
      <vt:lpstr>PowerPoint 簡報</vt:lpstr>
      <vt:lpstr>PowerPoint 簡報</vt:lpstr>
      <vt:lpstr>Wav2vec-U: Unsupervised ASR with Wev2vec</vt:lpstr>
      <vt:lpstr>REBORN</vt:lpstr>
      <vt:lpstr>Listening Comprehension (Speech QA)</vt:lpstr>
      <vt:lpstr>Listening Comprehension </vt:lpstr>
      <vt:lpstr>Listening Comprehension (Speech QA)</vt:lpstr>
      <vt:lpstr>End-to-End Speech QA</vt:lpstr>
      <vt:lpstr>End-to-End Speech QA</vt:lpstr>
      <vt:lpstr>PowerPoint 簡報</vt:lpstr>
      <vt:lpstr>Useful Toolkit! </vt:lpstr>
      <vt:lpstr>2. 初代語音語言模型</vt:lpstr>
      <vt:lpstr>Speech LLM</vt:lpstr>
      <vt:lpstr>PowerPoint 簡報</vt:lpstr>
      <vt:lpstr>PowerPoint 簡報</vt:lpstr>
      <vt:lpstr>Various Types of Speech Tokenizers</vt:lpstr>
      <vt:lpstr>PowerPoint 簡報</vt:lpstr>
      <vt:lpstr>PowerPoint 簡報</vt:lpstr>
      <vt:lpstr>Very challenging!</vt:lpstr>
      <vt:lpstr>In-context Learning</vt:lpstr>
      <vt:lpstr>Prompting Speech LLM for Different Tasks </vt:lpstr>
      <vt:lpstr>Why is training speech LM so challenging?</vt:lpstr>
      <vt:lpstr>Why is training speech LM so challenging?</vt:lpstr>
      <vt:lpstr>Until …….</vt:lpstr>
      <vt:lpstr>Moshi</vt:lpstr>
      <vt:lpstr>3. 如何利用強大的文字模型</vt:lpstr>
      <vt:lpstr>PowerPoint 簡報</vt:lpstr>
      <vt:lpstr>Starting from Text LLM </vt:lpstr>
      <vt:lpstr>Starting from Text LLM  </vt:lpstr>
      <vt:lpstr>Jointly learned from the speech and text</vt:lpstr>
      <vt:lpstr>Jointly learned from the speech and text</vt:lpstr>
      <vt:lpstr>Text-Speech Hybrid Generation </vt:lpstr>
      <vt:lpstr>Text-Speech Hybrid Generation  </vt:lpstr>
      <vt:lpstr>PowerPoint 簡報</vt:lpstr>
      <vt:lpstr>Text-Speech Hybrid Generation </vt:lpstr>
      <vt:lpstr>PowerPoint 簡報</vt:lpstr>
      <vt:lpstr>PowerPoint 簡報</vt:lpstr>
      <vt:lpstr>PowerPoint 簡報</vt:lpstr>
      <vt:lpstr>4. 尋找更合適的語音表示方式</vt:lpstr>
      <vt:lpstr>PowerPoint 簡報</vt:lpstr>
      <vt:lpstr>Can we have speech tokens designed for text-speech hybrid generation?</vt:lpstr>
      <vt:lpstr>Can we have speech tokens designed for text-speech hybrid generation?</vt:lpstr>
      <vt:lpstr>Can we have speech tokens designed for text-speech hybrid generation?</vt:lpstr>
      <vt:lpstr>PowerPoint 簡報</vt:lpstr>
      <vt:lpstr>PowerPoint 簡報</vt:lpstr>
      <vt:lpstr>PowerPoint 簡報</vt:lpstr>
      <vt:lpstr>PowerPoint 簡報</vt:lpstr>
      <vt:lpstr>PowerPoint 簡報</vt:lpstr>
      <vt:lpstr>PowerPoint 簡報</vt:lpstr>
      <vt:lpstr>Training Speech LLM</vt:lpstr>
      <vt:lpstr>Compared with Other Pretrained Models </vt:lpstr>
      <vt:lpstr>Compared with Other Pretrained Models </vt:lpstr>
      <vt:lpstr>English Demo</vt:lpstr>
      <vt:lpstr>Chinese Demo </vt:lpstr>
      <vt:lpstr>Chinese Demo </vt:lpstr>
      <vt:lpstr>PowerPoint 簡報</vt:lpstr>
      <vt:lpstr>5. 語音語言模型 的三部曲</vt:lpstr>
      <vt:lpstr>How to Train Speech LLM</vt:lpstr>
      <vt:lpstr>How to Train Speech LLM</vt:lpstr>
      <vt:lpstr>Alignment with Feedback</vt:lpstr>
      <vt:lpstr>Alignment with Feedback</vt:lpstr>
      <vt:lpstr>Alignment with Feedback</vt:lpstr>
      <vt:lpstr>Alignment with Feedback</vt:lpstr>
      <vt:lpstr>Alignment with Feedback</vt:lpstr>
      <vt:lpstr>6. 一邊說一邊思考</vt:lpstr>
      <vt:lpstr>PowerPoint 簡報</vt:lpstr>
      <vt:lpstr>Text LLM + Reasoning </vt:lpstr>
      <vt:lpstr>Speech LLM + Reasoning </vt:lpstr>
      <vt:lpstr>Simultaneous Thinking and Talking?</vt:lpstr>
      <vt:lpstr>PowerPoint 簡報</vt:lpstr>
      <vt:lpstr>STITCH: Simultaneous Thinking and Talking with Chunked Reasoning </vt:lpstr>
      <vt:lpstr>STITCH: Simultaneous Thinking and Talking with Chunked Reasoning </vt:lpstr>
      <vt:lpstr>PowerPoint 簡報</vt:lpstr>
      <vt:lpstr>How to prepare training data</vt:lpstr>
      <vt:lpstr>PowerPoint 簡報</vt:lpstr>
      <vt:lpstr>PowerPoint 簡報</vt:lpstr>
      <vt:lpstr>Dynamic Reasoning Chunk Sizes </vt:lpstr>
      <vt:lpstr>Dynamic Reasoning Chunk Sizes </vt:lpstr>
      <vt:lpstr>PowerPoint 簡報</vt:lpstr>
      <vt:lpstr>PowerPoint 簡報</vt:lpstr>
      <vt:lpstr>PowerPoint 簡報</vt:lpstr>
      <vt:lpstr>Demo Video</vt:lpstr>
      <vt:lpstr>More ……</vt:lpstr>
      <vt:lpstr>PowerPoint 簡報</vt:lpstr>
      <vt:lpstr>Beyond the Turn-based Game</vt:lpstr>
      <vt:lpstr>PowerPoint 簡報</vt:lpstr>
      <vt:lpstr>Do speech LLMs know how long 10 seconds is?</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語音語言模型的發展史</dc:title>
  <dc:creator>Hung-yi Lee</dc:creator>
  <cp:lastModifiedBy>wilson chen</cp:lastModifiedBy>
  <cp:revision>131</cp:revision>
  <dcterms:created xsi:type="dcterms:W3CDTF">2025-11-06T18:22:24Z</dcterms:created>
  <dcterms:modified xsi:type="dcterms:W3CDTF">2025-12-20T09:04:41Z</dcterms:modified>
</cp:coreProperties>
</file>