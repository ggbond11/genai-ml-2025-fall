
<file path=[Content_Types].xml><?xml version="1.0" encoding="utf-8"?>
<Types xmlns="http://schemas.openxmlformats.org/package/2006/content-types">
  <Default Extension="jpeg" ContentType="image/jpeg"/>
  <Default Extension="JPG" ContentType="image/.jpg"/>
  <Default Extension="png" ContentType="image/png"/>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0" r:id="rId3"/>
  </p:sldMasterIdLst>
  <p:notesMasterIdLst>
    <p:notesMasterId r:id="rId5"/>
  </p:notesMasterIdLst>
  <p:sldIdLst>
    <p:sldId id="5361" r:id="rId4"/>
    <p:sldId id="5443" r:id="rId6"/>
    <p:sldId id="5414" r:id="rId7"/>
    <p:sldId id="5413" r:id="rId8"/>
    <p:sldId id="5422" r:id="rId9"/>
    <p:sldId id="3088" r:id="rId10"/>
    <p:sldId id="5425" r:id="rId11"/>
    <p:sldId id="5427" r:id="rId12"/>
    <p:sldId id="5426" r:id="rId13"/>
    <p:sldId id="5424" r:id="rId14"/>
    <p:sldId id="5468" r:id="rId15"/>
    <p:sldId id="5415" r:id="rId16"/>
    <p:sldId id="5428" r:id="rId17"/>
    <p:sldId id="4987" r:id="rId18"/>
    <p:sldId id="4995" r:id="rId19"/>
    <p:sldId id="5120" r:id="rId20"/>
    <p:sldId id="5121" r:id="rId21"/>
    <p:sldId id="5483" r:id="rId22"/>
    <p:sldId id="5433" r:id="rId23"/>
    <p:sldId id="5434" r:id="rId24"/>
    <p:sldId id="5435" r:id="rId25"/>
    <p:sldId id="5417" r:id="rId26"/>
    <p:sldId id="5432" r:id="rId27"/>
    <p:sldId id="5439" r:id="rId28"/>
    <p:sldId id="5440" r:id="rId29"/>
    <p:sldId id="5441" r:id="rId30"/>
    <p:sldId id="5444" r:id="rId31"/>
    <p:sldId id="5128" r:id="rId32"/>
    <p:sldId id="5145" r:id="rId33"/>
    <p:sldId id="5340" r:id="rId34"/>
    <p:sldId id="5419" r:id="rId35"/>
    <p:sldId id="5420" r:id="rId36"/>
    <p:sldId id="5421" r:id="rId37"/>
    <p:sldId id="5501" r:id="rId38"/>
    <p:sldId id="5011" r:id="rId39"/>
    <p:sldId id="5499" r:id="rId40"/>
    <p:sldId id="5500" r:id="rId41"/>
    <p:sldId id="5442" r:id="rId42"/>
    <p:sldId id="5458" r:id="rId43"/>
    <p:sldId id="5449" r:id="rId44"/>
    <p:sldId id="5437" r:id="rId45"/>
    <p:sldId id="5504" r:id="rId46"/>
    <p:sldId id="5446" r:id="rId47"/>
    <p:sldId id="5503" r:id="rId48"/>
    <p:sldId id="5447" r:id="rId49"/>
    <p:sldId id="5506" r:id="rId50"/>
    <p:sldId id="5484" r:id="rId51"/>
    <p:sldId id="5450" r:id="rId52"/>
    <p:sldId id="5389" r:id="rId53"/>
    <p:sldId id="5451" r:id="rId54"/>
    <p:sldId id="5393" r:id="rId55"/>
    <p:sldId id="5401" r:id="rId56"/>
    <p:sldId id="5438" r:id="rId57"/>
    <p:sldId id="5467" r:id="rId58"/>
    <p:sldId id="5491" r:id="rId59"/>
    <p:sldId id="5474" r:id="rId60"/>
    <p:sldId id="5475" r:id="rId61"/>
    <p:sldId id="5476" r:id="rId62"/>
    <p:sldId id="5469" r:id="rId63"/>
    <p:sldId id="5477" r:id="rId64"/>
    <p:sldId id="5479" r:id="rId65"/>
    <p:sldId id="5480" r:id="rId66"/>
    <p:sldId id="5232" r:id="rId67"/>
    <p:sldId id="5238" r:id="rId68"/>
    <p:sldId id="4843" r:id="rId69"/>
    <p:sldId id="4846" r:id="rId70"/>
    <p:sldId id="5485" r:id="rId71"/>
    <p:sldId id="5495" r:id="rId72"/>
    <p:sldId id="5488" r:id="rId73"/>
    <p:sldId id="5489" r:id="rId74"/>
    <p:sldId id="5492" r:id="rId75"/>
    <p:sldId id="5507" r:id="rId76"/>
    <p:sldId id="5472" r:id="rId77"/>
    <p:sldId id="5493" r:id="rId78"/>
    <p:sldId id="5497" r:id="rId79"/>
    <p:sldId id="5502" r:id="rId80"/>
    <p:sldId id="5498" r:id="rId81"/>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p:browse/>
    <p:sldAll/>
  </p:showPr>
  <p:clrMru>
    <a:srgbClr val="ECE5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71" autoAdjust="0"/>
    <p:restoredTop sz="82813" autoAdjust="0"/>
  </p:normalViewPr>
  <p:slideViewPr>
    <p:cSldViewPr snapToGrid="0">
      <p:cViewPr varScale="1">
        <p:scale>
          <a:sx n="48" d="100"/>
          <a:sy n="48" d="100"/>
        </p:scale>
        <p:origin x="1356" y="276"/>
      </p:cViewPr>
      <p:guideLst/>
    </p:cSldViewPr>
  </p:slideViewPr>
  <p:notesTextViewPr>
    <p:cViewPr>
      <p:scale>
        <a:sx n="75" d="100"/>
        <a:sy n="75" d="100"/>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4" Type="http://schemas.openxmlformats.org/officeDocument/2006/relationships/tableStyles" Target="tableStyles.xml"/><Relationship Id="rId83" Type="http://schemas.openxmlformats.org/officeDocument/2006/relationships/viewProps" Target="viewProps.xml"/><Relationship Id="rId82" Type="http://schemas.openxmlformats.org/officeDocument/2006/relationships/presProps" Target="presProps.xml"/><Relationship Id="rId81" Type="http://schemas.openxmlformats.org/officeDocument/2006/relationships/slide" Target="slides/slide77.xml"/><Relationship Id="rId80" Type="http://schemas.openxmlformats.org/officeDocument/2006/relationships/slide" Target="slides/slide76.xml"/><Relationship Id="rId8" Type="http://schemas.openxmlformats.org/officeDocument/2006/relationships/slide" Target="slides/slide4.xml"/><Relationship Id="rId79" Type="http://schemas.openxmlformats.org/officeDocument/2006/relationships/slide" Target="slides/slide75.xml"/><Relationship Id="rId78" Type="http://schemas.openxmlformats.org/officeDocument/2006/relationships/slide" Target="slides/slide74.xml"/><Relationship Id="rId77" Type="http://schemas.openxmlformats.org/officeDocument/2006/relationships/slide" Target="slides/slide73.xml"/><Relationship Id="rId76" Type="http://schemas.openxmlformats.org/officeDocument/2006/relationships/slide" Target="slides/slide72.xml"/><Relationship Id="rId75" Type="http://schemas.openxmlformats.org/officeDocument/2006/relationships/slide" Target="slides/slide71.xml"/><Relationship Id="rId74" Type="http://schemas.openxmlformats.org/officeDocument/2006/relationships/slide" Target="slides/slide70.xml"/><Relationship Id="rId73" Type="http://schemas.openxmlformats.org/officeDocument/2006/relationships/slide" Target="slides/slide69.xml"/><Relationship Id="rId72" Type="http://schemas.openxmlformats.org/officeDocument/2006/relationships/slide" Target="slides/slide68.xml"/><Relationship Id="rId71" Type="http://schemas.openxmlformats.org/officeDocument/2006/relationships/slide" Target="slides/slide67.xml"/><Relationship Id="rId70" Type="http://schemas.openxmlformats.org/officeDocument/2006/relationships/slide" Target="slides/slide66.xml"/><Relationship Id="rId7" Type="http://schemas.openxmlformats.org/officeDocument/2006/relationships/slide" Target="slides/slide3.xml"/><Relationship Id="rId69" Type="http://schemas.openxmlformats.org/officeDocument/2006/relationships/slide" Target="slides/slide65.xml"/><Relationship Id="rId68" Type="http://schemas.openxmlformats.org/officeDocument/2006/relationships/slide" Target="slides/slide64.xml"/><Relationship Id="rId67" Type="http://schemas.openxmlformats.org/officeDocument/2006/relationships/slide" Target="slides/slide63.xml"/><Relationship Id="rId66" Type="http://schemas.openxmlformats.org/officeDocument/2006/relationships/slide" Target="slides/slide62.xml"/><Relationship Id="rId65" Type="http://schemas.openxmlformats.org/officeDocument/2006/relationships/slide" Target="slides/slide61.xml"/><Relationship Id="rId64" Type="http://schemas.openxmlformats.org/officeDocument/2006/relationships/slide" Target="slides/slide60.xml"/><Relationship Id="rId63" Type="http://schemas.openxmlformats.org/officeDocument/2006/relationships/slide" Target="slides/slide59.xml"/><Relationship Id="rId62" Type="http://schemas.openxmlformats.org/officeDocument/2006/relationships/slide" Target="slides/slide58.xml"/><Relationship Id="rId61" Type="http://schemas.openxmlformats.org/officeDocument/2006/relationships/slide" Target="slides/slide57.xml"/><Relationship Id="rId60" Type="http://schemas.openxmlformats.org/officeDocument/2006/relationships/slide" Target="slides/slide56.xml"/><Relationship Id="rId6" Type="http://schemas.openxmlformats.org/officeDocument/2006/relationships/slide" Target="slides/slide2.xml"/><Relationship Id="rId59" Type="http://schemas.openxmlformats.org/officeDocument/2006/relationships/slide" Target="slides/slide55.xml"/><Relationship Id="rId58" Type="http://schemas.openxmlformats.org/officeDocument/2006/relationships/slide" Target="slides/slide54.xml"/><Relationship Id="rId57" Type="http://schemas.openxmlformats.org/officeDocument/2006/relationships/slide" Target="slides/slide53.xml"/><Relationship Id="rId56" Type="http://schemas.openxmlformats.org/officeDocument/2006/relationships/slide" Target="slides/slide52.xml"/><Relationship Id="rId55" Type="http://schemas.openxmlformats.org/officeDocument/2006/relationships/slide" Target="slides/slide51.xml"/><Relationship Id="rId54" Type="http://schemas.openxmlformats.org/officeDocument/2006/relationships/slide" Target="slides/slide50.xml"/><Relationship Id="rId53" Type="http://schemas.openxmlformats.org/officeDocument/2006/relationships/slide" Target="slides/slide49.xml"/><Relationship Id="rId52" Type="http://schemas.openxmlformats.org/officeDocument/2006/relationships/slide" Target="slides/slide48.xml"/><Relationship Id="rId51" Type="http://schemas.openxmlformats.org/officeDocument/2006/relationships/slide" Target="slides/slide47.xml"/><Relationship Id="rId50" Type="http://schemas.openxmlformats.org/officeDocument/2006/relationships/slide" Target="slides/slide46.xml"/><Relationship Id="rId5" Type="http://schemas.openxmlformats.org/officeDocument/2006/relationships/notesMaster" Target="notesMasters/notesMaster1.xml"/><Relationship Id="rId49" Type="http://schemas.openxmlformats.org/officeDocument/2006/relationships/slide" Target="slides/slide45.xml"/><Relationship Id="rId48" Type="http://schemas.openxmlformats.org/officeDocument/2006/relationships/slide" Target="slides/slide44.xml"/><Relationship Id="rId47" Type="http://schemas.openxmlformats.org/officeDocument/2006/relationships/slide" Target="slides/slide43.xml"/><Relationship Id="rId46" Type="http://schemas.openxmlformats.org/officeDocument/2006/relationships/slide" Target="slides/slide42.xml"/><Relationship Id="rId45" Type="http://schemas.openxmlformats.org/officeDocument/2006/relationships/slide" Target="slides/slide41.xml"/><Relationship Id="rId44" Type="http://schemas.openxmlformats.org/officeDocument/2006/relationships/slide" Target="slides/slide40.xml"/><Relationship Id="rId43" Type="http://schemas.openxmlformats.org/officeDocument/2006/relationships/slide" Target="slides/slide39.xml"/><Relationship Id="rId42" Type="http://schemas.openxmlformats.org/officeDocument/2006/relationships/slide" Target="slides/slide38.xml"/><Relationship Id="rId41" Type="http://schemas.openxmlformats.org/officeDocument/2006/relationships/slide" Target="slides/slide37.xml"/><Relationship Id="rId40" Type="http://schemas.openxmlformats.org/officeDocument/2006/relationships/slide" Target="slides/slide36.xml"/><Relationship Id="rId4" Type="http://schemas.openxmlformats.org/officeDocument/2006/relationships/slide" Target="slides/slide1.xml"/><Relationship Id="rId39" Type="http://schemas.openxmlformats.org/officeDocument/2006/relationships/slide" Target="slides/slide35.xml"/><Relationship Id="rId38" Type="http://schemas.openxmlformats.org/officeDocument/2006/relationships/slide" Target="slides/slide34.xml"/><Relationship Id="rId37" Type="http://schemas.openxmlformats.org/officeDocument/2006/relationships/slide" Target="slides/slide33.xml"/><Relationship Id="rId36" Type="http://schemas.openxmlformats.org/officeDocument/2006/relationships/slide" Target="slides/slide32.xml"/><Relationship Id="rId35" Type="http://schemas.openxmlformats.org/officeDocument/2006/relationships/slide" Target="slides/slide31.xml"/><Relationship Id="rId34" Type="http://schemas.openxmlformats.org/officeDocument/2006/relationships/slide" Target="slides/slide30.xml"/><Relationship Id="rId33" Type="http://schemas.openxmlformats.org/officeDocument/2006/relationships/slide" Target="slides/slide29.xml"/><Relationship Id="rId32" Type="http://schemas.openxmlformats.org/officeDocument/2006/relationships/slide" Target="slides/slide28.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E2C10D01-481E-401F-A5EF-5AD2E3E961EC}" type="doc">
      <dgm:prSet loTypeId="urn:microsoft.com/office/officeart/2005/8/layout/vList2" loCatId="list" qsTypeId="urn:microsoft.com/office/officeart/2005/8/quickstyle/simple1" qsCatId="simple" csTypeId="urn:microsoft.com/office/officeart/2005/8/colors/colorful4" csCatId="colorful" phldr="1"/>
      <dgm:spPr/>
      <dgm:t>
        <a:bodyPr/>
        <a:lstStyle/>
        <a:p>
          <a:endParaRPr lang="zh-TW" altLang="en-US"/>
        </a:p>
      </dgm:t>
    </dgm:pt>
    <dgm:pt modelId="{EA3CFF38-1F14-4878-851A-7EEB60212859}">
      <dgm:prSet phldrT="[文字]"/>
      <dgm:spPr/>
      <dgm:t>
        <a:bodyPr/>
        <a:lstStyle/>
        <a:p>
          <a:r>
            <a:rPr lang="en-US" altLang="zh-TW" dirty="0">
              <a:latin typeface="Microsoft JhengHei" panose="020B0604030504040204" pitchFamily="34" charset="-120"/>
              <a:ea typeface="Microsoft JhengHei" panose="020B0604030504040204" pitchFamily="34" charset="-120"/>
            </a:rPr>
            <a:t>Context </a:t>
          </a:r>
          <a:r>
            <a:rPr lang="zh-TW" altLang="en-US" dirty="0">
              <a:latin typeface="Microsoft JhengHei" panose="020B0604030504040204" pitchFamily="34" charset="-120"/>
              <a:ea typeface="Microsoft JhengHei" panose="020B0604030504040204" pitchFamily="34" charset="-120"/>
            </a:rPr>
            <a:t>裡面需要有什麼？</a:t>
          </a:r>
        </a:p>
      </dgm:t>
    </dgm:pt>
    <dgm:pt modelId="{A2024952-66C5-46BE-A4D4-12C7D1FC7F29}" cxnId="{E0036235-405F-4E30-BCBF-29DA25D1F744}" type="parTrans">
      <dgm:prSet/>
      <dgm:spPr/>
      <dgm:t>
        <a:bodyPr/>
        <a:lstStyle/>
        <a:p>
          <a:endParaRPr lang="zh-TW" altLang="en-US"/>
        </a:p>
      </dgm:t>
    </dgm:pt>
    <dgm:pt modelId="{75375E9D-3F64-472F-B61F-30C35F86993B}" cxnId="{E0036235-405F-4E30-BCBF-29DA25D1F744}" type="sibTrans">
      <dgm:prSet/>
      <dgm:spPr/>
      <dgm:t>
        <a:bodyPr/>
        <a:lstStyle/>
        <a:p>
          <a:endParaRPr lang="zh-TW" altLang="en-US"/>
        </a:p>
      </dgm:t>
    </dgm:pt>
    <dgm:pt modelId="{CBE1932E-9AD0-4158-A99A-2331C1A8323B}">
      <dgm:prSet phldrT="[文字]"/>
      <dgm:spPr/>
      <dgm:t>
        <a:bodyPr/>
        <a:lstStyle/>
        <a:p>
          <a:r>
            <a:rPr lang="zh-TW" altLang="en-US" dirty="0">
              <a:latin typeface="Microsoft JhengHei" panose="020B0604030504040204" pitchFamily="34" charset="-120"/>
              <a:ea typeface="Microsoft JhengHei" panose="020B0604030504040204" pitchFamily="34" charset="-120"/>
            </a:rPr>
            <a:t>為什麼</a:t>
          </a:r>
          <a:r>
            <a:rPr lang="en-US" altLang="zh-TW" dirty="0">
              <a:latin typeface="Microsoft JhengHei" panose="020B0604030504040204" pitchFamily="34" charset="-120"/>
              <a:ea typeface="Microsoft JhengHei" panose="020B0604030504040204" pitchFamily="34" charset="-120"/>
            </a:rPr>
            <a:t>AI</a:t>
          </a:r>
          <a:r>
            <a:rPr lang="zh-TW" altLang="en-US" dirty="0">
              <a:latin typeface="Microsoft JhengHei" panose="020B0604030504040204" pitchFamily="34" charset="-120"/>
              <a:ea typeface="Microsoft JhengHei" panose="020B0604030504040204" pitchFamily="34" charset="-120"/>
            </a:rPr>
            <a:t> </a:t>
          </a:r>
          <a:r>
            <a:rPr lang="en-US" altLang="zh-TW" dirty="0">
              <a:latin typeface="Microsoft JhengHei" panose="020B0604030504040204" pitchFamily="34" charset="-120"/>
              <a:ea typeface="Microsoft JhengHei" panose="020B0604030504040204" pitchFamily="34" charset="-120"/>
            </a:rPr>
            <a:t>Agent </a:t>
          </a:r>
          <a:r>
            <a:rPr lang="zh-TW" altLang="en-US" dirty="0">
              <a:latin typeface="Microsoft JhengHei" panose="020B0604030504040204" pitchFamily="34" charset="-120"/>
              <a:ea typeface="Microsoft JhengHei" panose="020B0604030504040204" pitchFamily="34" charset="-120"/>
            </a:rPr>
            <a:t>時代，需要  </a:t>
          </a:r>
          <a:r>
            <a:rPr lang="en-US" altLang="zh-TW" dirty="0">
              <a:latin typeface="Microsoft JhengHei" panose="020B0604030504040204" pitchFamily="34" charset="-120"/>
              <a:ea typeface="Microsoft JhengHei" panose="020B0604030504040204" pitchFamily="34" charset="-120"/>
            </a:rPr>
            <a:t>Context</a:t>
          </a:r>
          <a:r>
            <a:rPr lang="zh-TW" altLang="en-US" dirty="0">
              <a:latin typeface="Microsoft JhengHei" panose="020B0604030504040204" pitchFamily="34" charset="-120"/>
              <a:ea typeface="Microsoft JhengHei" panose="020B0604030504040204" pitchFamily="34" charset="-120"/>
            </a:rPr>
            <a:t> </a:t>
          </a:r>
          <a:r>
            <a:rPr lang="en-US" altLang="zh-TW" dirty="0">
              <a:latin typeface="Microsoft JhengHei" panose="020B0604030504040204" pitchFamily="34" charset="-120"/>
              <a:ea typeface="Microsoft JhengHei" panose="020B0604030504040204" pitchFamily="34" charset="-120"/>
            </a:rPr>
            <a:t>Engineering </a:t>
          </a:r>
          <a:endParaRPr lang="zh-TW" altLang="en-US" dirty="0">
            <a:latin typeface="Microsoft JhengHei" panose="020B0604030504040204" pitchFamily="34" charset="-120"/>
            <a:ea typeface="Microsoft JhengHei" panose="020B0604030504040204" pitchFamily="34" charset="-120"/>
          </a:endParaRPr>
        </a:p>
      </dgm:t>
    </dgm:pt>
    <dgm:pt modelId="{254F720D-ADE5-4602-8E44-7B5A09D7D5B2}" cxnId="{2ACE6DCB-F090-4BB8-975F-9664B51538E3}" type="parTrans">
      <dgm:prSet/>
      <dgm:spPr/>
      <dgm:t>
        <a:bodyPr/>
        <a:lstStyle/>
        <a:p>
          <a:endParaRPr lang="zh-TW" altLang="en-US"/>
        </a:p>
      </dgm:t>
    </dgm:pt>
    <dgm:pt modelId="{A382B864-E17A-4B61-ABB6-5AE70315522A}" cxnId="{2ACE6DCB-F090-4BB8-975F-9664B51538E3}" type="sibTrans">
      <dgm:prSet/>
      <dgm:spPr/>
      <dgm:t>
        <a:bodyPr/>
        <a:lstStyle/>
        <a:p>
          <a:endParaRPr lang="zh-TW" altLang="en-US"/>
        </a:p>
      </dgm:t>
    </dgm:pt>
    <dgm:pt modelId="{9AC83704-8F9D-45FD-A0E6-8FE2524D155F}">
      <dgm:prSet phldrT="[文字]"/>
      <dgm:spPr/>
      <dgm:t>
        <a:bodyPr/>
        <a:lstStyle/>
        <a:p>
          <a:r>
            <a:rPr lang="en-US" altLang="zh-TW" dirty="0">
              <a:latin typeface="Microsoft JhengHei" panose="020B0604030504040204" pitchFamily="34" charset="-120"/>
              <a:ea typeface="Microsoft JhengHei" panose="020B0604030504040204" pitchFamily="34" charset="-120"/>
            </a:rPr>
            <a:t>Context Engineering </a:t>
          </a:r>
          <a:r>
            <a:rPr lang="zh-TW" altLang="en-US" dirty="0">
              <a:latin typeface="Microsoft JhengHei" panose="020B0604030504040204" pitchFamily="34" charset="-120"/>
              <a:ea typeface="Microsoft JhengHei" panose="020B0604030504040204" pitchFamily="34" charset="-120"/>
            </a:rPr>
            <a:t>的基本方法</a:t>
          </a:r>
        </a:p>
      </dgm:t>
    </dgm:pt>
    <dgm:pt modelId="{C96D48B1-5990-4CD5-B2B8-CFF6D64FA0EF}" cxnId="{7791C1C7-2A20-4E41-B57C-62AD0CF0DB12}" type="parTrans">
      <dgm:prSet/>
      <dgm:spPr/>
      <dgm:t>
        <a:bodyPr/>
        <a:lstStyle/>
        <a:p>
          <a:endParaRPr lang="zh-TW" altLang="en-US"/>
        </a:p>
      </dgm:t>
    </dgm:pt>
    <dgm:pt modelId="{B9317CA1-EE8F-47A3-A814-075725956704}" cxnId="{7791C1C7-2A20-4E41-B57C-62AD0CF0DB12}" type="sibTrans">
      <dgm:prSet/>
      <dgm:spPr/>
      <dgm:t>
        <a:bodyPr/>
        <a:lstStyle/>
        <a:p>
          <a:endParaRPr lang="zh-TW" altLang="en-US"/>
        </a:p>
      </dgm:t>
    </dgm:pt>
    <dgm:pt modelId="{D2D01E93-052C-4683-8A2C-4C4E7493955B}" type="pres">
      <dgm:prSet presAssocID="{E2C10D01-481E-401F-A5EF-5AD2E3E961EC}" presName="linear" presStyleCnt="0">
        <dgm:presLayoutVars>
          <dgm:animLvl val="lvl"/>
          <dgm:resizeHandles val="exact"/>
        </dgm:presLayoutVars>
      </dgm:prSet>
      <dgm:spPr/>
    </dgm:pt>
    <dgm:pt modelId="{87B0383A-F74F-4C15-9D36-77D15AF8141E}" type="pres">
      <dgm:prSet presAssocID="{EA3CFF38-1F14-4878-851A-7EEB60212859}" presName="parentText" presStyleLbl="node1" presStyleIdx="0" presStyleCnt="3">
        <dgm:presLayoutVars>
          <dgm:chMax val="0"/>
          <dgm:bulletEnabled val="1"/>
        </dgm:presLayoutVars>
      </dgm:prSet>
      <dgm:spPr/>
    </dgm:pt>
    <dgm:pt modelId="{712F5441-E9E9-4137-9976-0B3CC47D342A}" type="pres">
      <dgm:prSet presAssocID="{75375E9D-3F64-472F-B61F-30C35F86993B}" presName="spacer" presStyleCnt="0"/>
      <dgm:spPr/>
    </dgm:pt>
    <dgm:pt modelId="{455A3931-7457-4218-B77B-F11A51DFBCF3}" type="pres">
      <dgm:prSet presAssocID="{CBE1932E-9AD0-4158-A99A-2331C1A8323B}" presName="parentText" presStyleLbl="node1" presStyleIdx="1" presStyleCnt="3">
        <dgm:presLayoutVars>
          <dgm:chMax val="0"/>
          <dgm:bulletEnabled val="1"/>
        </dgm:presLayoutVars>
      </dgm:prSet>
      <dgm:spPr/>
    </dgm:pt>
    <dgm:pt modelId="{8C0A54BF-72DB-441D-B02C-06DDC2D8F194}" type="pres">
      <dgm:prSet presAssocID="{A382B864-E17A-4B61-ABB6-5AE70315522A}" presName="spacer" presStyleCnt="0"/>
      <dgm:spPr/>
    </dgm:pt>
    <dgm:pt modelId="{14A4A351-B9D1-49AE-95DC-3AAB91C1E84E}" type="pres">
      <dgm:prSet presAssocID="{9AC83704-8F9D-45FD-A0E6-8FE2524D155F}" presName="parentText" presStyleLbl="node1" presStyleIdx="2" presStyleCnt="3">
        <dgm:presLayoutVars>
          <dgm:chMax val="0"/>
          <dgm:bulletEnabled val="1"/>
        </dgm:presLayoutVars>
      </dgm:prSet>
      <dgm:spPr/>
    </dgm:pt>
  </dgm:ptLst>
  <dgm:cxnLst>
    <dgm:cxn modelId="{E0036235-405F-4E30-BCBF-29DA25D1F744}" srcId="{E2C10D01-481E-401F-A5EF-5AD2E3E961EC}" destId="{EA3CFF38-1F14-4878-851A-7EEB60212859}" srcOrd="0" destOrd="0" parTransId="{A2024952-66C5-46BE-A4D4-12C7D1FC7F29}" sibTransId="{75375E9D-3F64-472F-B61F-30C35F86993B}"/>
    <dgm:cxn modelId="{F9B9047D-5353-431F-B70B-8016FAE595A5}" type="presOf" srcId="{CBE1932E-9AD0-4158-A99A-2331C1A8323B}" destId="{455A3931-7457-4218-B77B-F11A51DFBCF3}" srcOrd="0" destOrd="0" presId="urn:microsoft.com/office/officeart/2005/8/layout/vList2"/>
    <dgm:cxn modelId="{AE4E8F83-CBEF-4D2C-B4FE-706D09437A81}" type="presOf" srcId="{E2C10D01-481E-401F-A5EF-5AD2E3E961EC}" destId="{D2D01E93-052C-4683-8A2C-4C4E7493955B}" srcOrd="0" destOrd="0" presId="urn:microsoft.com/office/officeart/2005/8/layout/vList2"/>
    <dgm:cxn modelId="{BF17828C-C8EE-4F48-99BC-7B958F8B519F}" type="presOf" srcId="{9AC83704-8F9D-45FD-A0E6-8FE2524D155F}" destId="{14A4A351-B9D1-49AE-95DC-3AAB91C1E84E}" srcOrd="0" destOrd="0" presId="urn:microsoft.com/office/officeart/2005/8/layout/vList2"/>
    <dgm:cxn modelId="{7791C1C7-2A20-4E41-B57C-62AD0CF0DB12}" srcId="{E2C10D01-481E-401F-A5EF-5AD2E3E961EC}" destId="{9AC83704-8F9D-45FD-A0E6-8FE2524D155F}" srcOrd="2" destOrd="0" parTransId="{C96D48B1-5990-4CD5-B2B8-CFF6D64FA0EF}" sibTransId="{B9317CA1-EE8F-47A3-A814-075725956704}"/>
    <dgm:cxn modelId="{2ACE6DCB-F090-4BB8-975F-9664B51538E3}" srcId="{E2C10D01-481E-401F-A5EF-5AD2E3E961EC}" destId="{CBE1932E-9AD0-4158-A99A-2331C1A8323B}" srcOrd="1" destOrd="0" parTransId="{254F720D-ADE5-4602-8E44-7B5A09D7D5B2}" sibTransId="{A382B864-E17A-4B61-ABB6-5AE70315522A}"/>
    <dgm:cxn modelId="{11E14CD1-9F08-4160-AA42-0BDF77ABB733}" type="presOf" srcId="{EA3CFF38-1F14-4878-851A-7EEB60212859}" destId="{87B0383A-F74F-4C15-9D36-77D15AF8141E}" srcOrd="0" destOrd="0" presId="urn:microsoft.com/office/officeart/2005/8/layout/vList2"/>
    <dgm:cxn modelId="{4D968599-55A0-467E-B72E-619DAC96C2FF}" type="presParOf" srcId="{D2D01E93-052C-4683-8A2C-4C4E7493955B}" destId="{87B0383A-F74F-4C15-9D36-77D15AF8141E}" srcOrd="0" destOrd="0" presId="urn:microsoft.com/office/officeart/2005/8/layout/vList2"/>
    <dgm:cxn modelId="{D45F9448-DBE2-4B88-80EE-FD7E4DBDF6B0}" type="presParOf" srcId="{D2D01E93-052C-4683-8A2C-4C4E7493955B}" destId="{712F5441-E9E9-4137-9976-0B3CC47D342A}" srcOrd="1" destOrd="0" presId="urn:microsoft.com/office/officeart/2005/8/layout/vList2"/>
    <dgm:cxn modelId="{334EC8BD-CC58-4BFE-8592-0D2594A53233}" type="presParOf" srcId="{D2D01E93-052C-4683-8A2C-4C4E7493955B}" destId="{455A3931-7457-4218-B77B-F11A51DFBCF3}" srcOrd="2" destOrd="0" presId="urn:microsoft.com/office/officeart/2005/8/layout/vList2"/>
    <dgm:cxn modelId="{5BBFCD00-7040-41D2-9AAE-8C2CF90D2DEE}" type="presParOf" srcId="{D2D01E93-052C-4683-8A2C-4C4E7493955B}" destId="{8C0A54BF-72DB-441D-B02C-06DDC2D8F194}" srcOrd="3" destOrd="0" presId="urn:microsoft.com/office/officeart/2005/8/layout/vList2"/>
    <dgm:cxn modelId="{53865761-34BD-49F3-B89A-515FFDB59DBF}" type="presParOf" srcId="{D2D01E93-052C-4683-8A2C-4C4E7493955B}" destId="{14A4A351-B9D1-49AE-95DC-3AAB91C1E84E}" srcOrd="4" destOrd="0" presId="urn:microsoft.com/office/officeart/2005/8/layout/vList2"/>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556638E-5C08-4F06-8152-3584E6E89B8D}" type="doc">
      <dgm:prSet loTypeId="urn:microsoft.com/office/officeart/2005/8/layout/hierarchy4" loCatId="list" qsTypeId="urn:microsoft.com/office/officeart/2005/8/quickstyle/simple5" qsCatId="simple" csTypeId="urn:microsoft.com/office/officeart/2005/8/colors/colorful5" csCatId="colorful" phldr="1"/>
      <dgm:spPr/>
      <dgm:t>
        <a:bodyPr/>
        <a:lstStyle/>
        <a:p>
          <a:endParaRPr lang="zh-TW" altLang="en-US"/>
        </a:p>
      </dgm:t>
    </dgm:pt>
    <dgm:pt modelId="{DA3D4EB1-4AB8-4C46-84DB-46B8CA988A84}">
      <dgm:prSet phldrT="[文字]"/>
      <dgm:spPr/>
      <dgm:t>
        <a:bodyPr/>
        <a:lstStyle/>
        <a:p>
          <a:r>
            <a:rPr lang="en-US" altLang="zh-TW" dirty="0"/>
            <a:t>Select</a:t>
          </a:r>
          <a:endParaRPr lang="zh-TW" altLang="en-US" dirty="0"/>
        </a:p>
      </dgm:t>
    </dgm:pt>
    <dgm:pt modelId="{3F2698EC-2AA9-497A-8D12-1863FA704586}" cxnId="{4534DC35-5217-46DB-A12B-841476B901BF}" type="parTrans">
      <dgm:prSet/>
      <dgm:spPr/>
      <dgm:t>
        <a:bodyPr/>
        <a:lstStyle/>
        <a:p>
          <a:endParaRPr lang="zh-TW" altLang="en-US"/>
        </a:p>
      </dgm:t>
    </dgm:pt>
    <dgm:pt modelId="{BBFB87BA-1B01-4EE7-81CF-EF9AC09D7D62}" cxnId="{4534DC35-5217-46DB-A12B-841476B901BF}" type="sibTrans">
      <dgm:prSet/>
      <dgm:spPr/>
      <dgm:t>
        <a:bodyPr/>
        <a:lstStyle/>
        <a:p>
          <a:endParaRPr lang="zh-TW" altLang="en-US"/>
        </a:p>
      </dgm:t>
    </dgm:pt>
    <dgm:pt modelId="{5AFAA1B7-00F6-4548-A3E2-231AF0F83422}">
      <dgm:prSet phldrT="[文字]">
        <dgm:style>
          <a:lnRef idx="3">
            <a:schemeClr val="lt1"/>
          </a:lnRef>
          <a:fillRef idx="1">
            <a:schemeClr val="accent5"/>
          </a:fillRef>
          <a:effectRef idx="1">
            <a:schemeClr val="accent5"/>
          </a:effectRef>
          <a:fontRef idx="minor">
            <a:schemeClr val="lt1"/>
          </a:fontRef>
        </dgm:style>
      </dgm:prSet>
      <dgm:spPr/>
      <dgm:t>
        <a:bodyPr/>
        <a:lstStyle/>
        <a:p>
          <a:r>
            <a:rPr lang="en-US" altLang="zh-TW" dirty="0"/>
            <a:t>Compress</a:t>
          </a:r>
          <a:endParaRPr lang="zh-TW" altLang="en-US" dirty="0"/>
        </a:p>
      </dgm:t>
    </dgm:pt>
    <dgm:pt modelId="{6071178A-BA60-4138-A979-92A85FD68880}" cxnId="{F0F7DBFD-E3E5-4972-94B0-6D123A32A40C}" type="parTrans">
      <dgm:prSet/>
      <dgm:spPr/>
      <dgm:t>
        <a:bodyPr/>
        <a:lstStyle/>
        <a:p>
          <a:endParaRPr lang="zh-TW" altLang="en-US"/>
        </a:p>
      </dgm:t>
    </dgm:pt>
    <dgm:pt modelId="{04A61C1D-8CA7-4ED4-82FD-A5D932C421F5}" cxnId="{F0F7DBFD-E3E5-4972-94B0-6D123A32A40C}" type="sibTrans">
      <dgm:prSet/>
      <dgm:spPr/>
      <dgm:t>
        <a:bodyPr/>
        <a:lstStyle/>
        <a:p>
          <a:endParaRPr lang="zh-TW" altLang="en-US"/>
        </a:p>
      </dgm:t>
    </dgm:pt>
    <dgm:pt modelId="{1B19646E-D9B9-43D9-BFC4-F267B2CF67EA}">
      <dgm:prSet phldrT="[文字]">
        <dgm:style>
          <a:lnRef idx="3">
            <a:schemeClr val="lt1"/>
          </a:lnRef>
          <a:fillRef idx="1">
            <a:schemeClr val="accent6"/>
          </a:fillRef>
          <a:effectRef idx="1">
            <a:schemeClr val="accent6"/>
          </a:effectRef>
          <a:fontRef idx="minor">
            <a:schemeClr val="lt1"/>
          </a:fontRef>
        </dgm:style>
      </dgm:prSet>
      <dgm:spPr/>
      <dgm:t>
        <a:bodyPr/>
        <a:lstStyle/>
        <a:p>
          <a:r>
            <a:rPr lang="en-US" altLang="zh-TW" dirty="0"/>
            <a:t>Multi-Agent</a:t>
          </a:r>
          <a:endParaRPr lang="zh-TW" altLang="en-US" dirty="0"/>
        </a:p>
      </dgm:t>
    </dgm:pt>
    <dgm:pt modelId="{45079C28-4302-4B66-ACA4-92D83168F7B5}" cxnId="{C0F43D7A-9B3B-4803-8A5F-ABFF94202EAB}" type="parTrans">
      <dgm:prSet/>
      <dgm:spPr/>
      <dgm:t>
        <a:bodyPr/>
        <a:lstStyle/>
        <a:p>
          <a:endParaRPr lang="zh-TW" altLang="en-US"/>
        </a:p>
      </dgm:t>
    </dgm:pt>
    <dgm:pt modelId="{7F1D4E4C-1E00-434D-B7FF-E39B43C89FBE}" cxnId="{C0F43D7A-9B3B-4803-8A5F-ABFF94202EAB}" type="sibTrans">
      <dgm:prSet/>
      <dgm:spPr/>
      <dgm:t>
        <a:bodyPr/>
        <a:lstStyle/>
        <a:p>
          <a:endParaRPr lang="zh-TW" altLang="en-US"/>
        </a:p>
      </dgm:t>
    </dgm:pt>
    <dgm:pt modelId="{C7FCEFCE-BAF2-404B-BE7A-5D2C211E4002}" type="pres">
      <dgm:prSet presAssocID="{E556638E-5C08-4F06-8152-3584E6E89B8D}" presName="Name0" presStyleCnt="0">
        <dgm:presLayoutVars>
          <dgm:chPref val="1"/>
          <dgm:dir/>
          <dgm:animOne val="branch"/>
          <dgm:animLvl val="lvl"/>
          <dgm:resizeHandles/>
        </dgm:presLayoutVars>
      </dgm:prSet>
      <dgm:spPr/>
    </dgm:pt>
    <dgm:pt modelId="{821CE6F9-5C3E-4E59-A59B-AAE619E8CEB1}" type="pres">
      <dgm:prSet presAssocID="{DA3D4EB1-4AB8-4C46-84DB-46B8CA988A84}" presName="vertOne" presStyleCnt="0"/>
      <dgm:spPr/>
    </dgm:pt>
    <dgm:pt modelId="{A1425A52-F40B-4D90-966B-E21960245079}" type="pres">
      <dgm:prSet presAssocID="{DA3D4EB1-4AB8-4C46-84DB-46B8CA988A84}" presName="txOne" presStyleLbl="node0" presStyleIdx="0" presStyleCnt="3">
        <dgm:presLayoutVars>
          <dgm:chPref val="3"/>
        </dgm:presLayoutVars>
      </dgm:prSet>
      <dgm:spPr/>
    </dgm:pt>
    <dgm:pt modelId="{6AE8E796-9FAD-44CC-9965-16C5DC0098A8}" type="pres">
      <dgm:prSet presAssocID="{DA3D4EB1-4AB8-4C46-84DB-46B8CA988A84}" presName="horzOne" presStyleCnt="0"/>
      <dgm:spPr/>
    </dgm:pt>
    <dgm:pt modelId="{2B26EFEF-60D9-454C-88C2-D87BA2D2E75E}" type="pres">
      <dgm:prSet presAssocID="{BBFB87BA-1B01-4EE7-81CF-EF9AC09D7D62}" presName="sibSpaceOne" presStyleCnt="0"/>
      <dgm:spPr/>
    </dgm:pt>
    <dgm:pt modelId="{59F10E86-363B-4779-86B7-80E4A5A4054E}" type="pres">
      <dgm:prSet presAssocID="{5AFAA1B7-00F6-4548-A3E2-231AF0F83422}" presName="vertOne" presStyleCnt="0"/>
      <dgm:spPr/>
    </dgm:pt>
    <dgm:pt modelId="{B48F2111-9616-4D60-9D9E-7CE5E176158A}" type="pres">
      <dgm:prSet presAssocID="{5AFAA1B7-00F6-4548-A3E2-231AF0F83422}" presName="txOne" presStyleLbl="node0" presStyleIdx="1" presStyleCnt="3">
        <dgm:presLayoutVars>
          <dgm:chPref val="3"/>
        </dgm:presLayoutVars>
      </dgm:prSet>
      <dgm:spPr/>
    </dgm:pt>
    <dgm:pt modelId="{511C5B6A-AB60-4A08-9EE4-1DCFAB3F2848}" type="pres">
      <dgm:prSet presAssocID="{5AFAA1B7-00F6-4548-A3E2-231AF0F83422}" presName="horzOne" presStyleCnt="0"/>
      <dgm:spPr/>
    </dgm:pt>
    <dgm:pt modelId="{BC7F326B-38AD-4780-9A39-194869CFE25B}" type="pres">
      <dgm:prSet presAssocID="{04A61C1D-8CA7-4ED4-82FD-A5D932C421F5}" presName="sibSpaceOne" presStyleCnt="0"/>
      <dgm:spPr/>
    </dgm:pt>
    <dgm:pt modelId="{553906C3-F8EC-43E7-8432-567F5FAAFD62}" type="pres">
      <dgm:prSet presAssocID="{1B19646E-D9B9-43D9-BFC4-F267B2CF67EA}" presName="vertOne" presStyleCnt="0"/>
      <dgm:spPr/>
    </dgm:pt>
    <dgm:pt modelId="{1241A6EB-5260-4FA2-830F-10CC16A91B3A}" type="pres">
      <dgm:prSet presAssocID="{1B19646E-D9B9-43D9-BFC4-F267B2CF67EA}" presName="txOne" presStyleLbl="node0" presStyleIdx="2" presStyleCnt="3">
        <dgm:presLayoutVars>
          <dgm:chPref val="3"/>
        </dgm:presLayoutVars>
      </dgm:prSet>
      <dgm:spPr/>
    </dgm:pt>
    <dgm:pt modelId="{7FA6C91D-B406-4F85-B891-5FBC98F62F88}" type="pres">
      <dgm:prSet presAssocID="{1B19646E-D9B9-43D9-BFC4-F267B2CF67EA}" presName="horzOne" presStyleCnt="0"/>
      <dgm:spPr/>
    </dgm:pt>
  </dgm:ptLst>
  <dgm:cxnLst>
    <dgm:cxn modelId="{4534DC35-5217-46DB-A12B-841476B901BF}" srcId="{E556638E-5C08-4F06-8152-3584E6E89B8D}" destId="{DA3D4EB1-4AB8-4C46-84DB-46B8CA988A84}" srcOrd="0" destOrd="0" parTransId="{3F2698EC-2AA9-497A-8D12-1863FA704586}" sibTransId="{BBFB87BA-1B01-4EE7-81CF-EF9AC09D7D62}"/>
    <dgm:cxn modelId="{1D452C57-2082-4065-9F23-6DE800764239}" type="presOf" srcId="{DA3D4EB1-4AB8-4C46-84DB-46B8CA988A84}" destId="{A1425A52-F40B-4D90-966B-E21960245079}" srcOrd="0" destOrd="0" presId="urn:microsoft.com/office/officeart/2005/8/layout/hierarchy4"/>
    <dgm:cxn modelId="{C0F43D7A-9B3B-4803-8A5F-ABFF94202EAB}" srcId="{E556638E-5C08-4F06-8152-3584E6E89B8D}" destId="{1B19646E-D9B9-43D9-BFC4-F267B2CF67EA}" srcOrd="2" destOrd="0" parTransId="{45079C28-4302-4B66-ACA4-92D83168F7B5}" sibTransId="{7F1D4E4C-1E00-434D-B7FF-E39B43C89FBE}"/>
    <dgm:cxn modelId="{C6D3DC89-190A-44C4-A00E-7AF5F0C736ED}" type="presOf" srcId="{1B19646E-D9B9-43D9-BFC4-F267B2CF67EA}" destId="{1241A6EB-5260-4FA2-830F-10CC16A91B3A}" srcOrd="0" destOrd="0" presId="urn:microsoft.com/office/officeart/2005/8/layout/hierarchy4"/>
    <dgm:cxn modelId="{2603DD8B-7E7E-4F8D-8CC9-5E9404B2354F}" type="presOf" srcId="{E556638E-5C08-4F06-8152-3584E6E89B8D}" destId="{C7FCEFCE-BAF2-404B-BE7A-5D2C211E4002}" srcOrd="0" destOrd="0" presId="urn:microsoft.com/office/officeart/2005/8/layout/hierarchy4"/>
    <dgm:cxn modelId="{BFE4A0AC-AD59-46A5-8E90-6E5037CE5D19}" type="presOf" srcId="{5AFAA1B7-00F6-4548-A3E2-231AF0F83422}" destId="{B48F2111-9616-4D60-9D9E-7CE5E176158A}" srcOrd="0" destOrd="0" presId="urn:microsoft.com/office/officeart/2005/8/layout/hierarchy4"/>
    <dgm:cxn modelId="{F0F7DBFD-E3E5-4972-94B0-6D123A32A40C}" srcId="{E556638E-5C08-4F06-8152-3584E6E89B8D}" destId="{5AFAA1B7-00F6-4548-A3E2-231AF0F83422}" srcOrd="1" destOrd="0" parTransId="{6071178A-BA60-4138-A979-92A85FD68880}" sibTransId="{04A61C1D-8CA7-4ED4-82FD-A5D932C421F5}"/>
    <dgm:cxn modelId="{836F0CCD-BE0D-4B18-8F2A-214D71440DD7}" type="presParOf" srcId="{C7FCEFCE-BAF2-404B-BE7A-5D2C211E4002}" destId="{821CE6F9-5C3E-4E59-A59B-AAE619E8CEB1}" srcOrd="0" destOrd="0" presId="urn:microsoft.com/office/officeart/2005/8/layout/hierarchy4"/>
    <dgm:cxn modelId="{386075BA-3EE2-4A15-B2BD-371DB026959E}" type="presParOf" srcId="{821CE6F9-5C3E-4E59-A59B-AAE619E8CEB1}" destId="{A1425A52-F40B-4D90-966B-E21960245079}" srcOrd="0" destOrd="0" presId="urn:microsoft.com/office/officeart/2005/8/layout/hierarchy4"/>
    <dgm:cxn modelId="{DBBD214E-E2B4-485D-9CC4-68172B4A1E7B}" type="presParOf" srcId="{821CE6F9-5C3E-4E59-A59B-AAE619E8CEB1}" destId="{6AE8E796-9FAD-44CC-9965-16C5DC0098A8}" srcOrd="1" destOrd="0" presId="urn:microsoft.com/office/officeart/2005/8/layout/hierarchy4"/>
    <dgm:cxn modelId="{D9B461BE-9693-4651-B5D8-D58121E58BF8}" type="presParOf" srcId="{C7FCEFCE-BAF2-404B-BE7A-5D2C211E4002}" destId="{2B26EFEF-60D9-454C-88C2-D87BA2D2E75E}" srcOrd="1" destOrd="0" presId="urn:microsoft.com/office/officeart/2005/8/layout/hierarchy4"/>
    <dgm:cxn modelId="{E9C114F5-383C-4028-9400-C26ABA5A90AA}" type="presParOf" srcId="{C7FCEFCE-BAF2-404B-BE7A-5D2C211E4002}" destId="{59F10E86-363B-4779-86B7-80E4A5A4054E}" srcOrd="2" destOrd="0" presId="urn:microsoft.com/office/officeart/2005/8/layout/hierarchy4"/>
    <dgm:cxn modelId="{F65C841D-86DD-4D64-8226-D2E95CE2364C}" type="presParOf" srcId="{59F10E86-363B-4779-86B7-80E4A5A4054E}" destId="{B48F2111-9616-4D60-9D9E-7CE5E176158A}" srcOrd="0" destOrd="0" presId="urn:microsoft.com/office/officeart/2005/8/layout/hierarchy4"/>
    <dgm:cxn modelId="{BD18A3F2-7846-46F0-8099-C1591C16AF36}" type="presParOf" srcId="{59F10E86-363B-4779-86B7-80E4A5A4054E}" destId="{511C5B6A-AB60-4A08-9EE4-1DCFAB3F2848}" srcOrd="1" destOrd="0" presId="urn:microsoft.com/office/officeart/2005/8/layout/hierarchy4"/>
    <dgm:cxn modelId="{49D9C889-B2AC-4A9B-893E-AF94A5835AFC}" type="presParOf" srcId="{C7FCEFCE-BAF2-404B-BE7A-5D2C211E4002}" destId="{BC7F326B-38AD-4780-9A39-194869CFE25B}" srcOrd="3" destOrd="0" presId="urn:microsoft.com/office/officeart/2005/8/layout/hierarchy4"/>
    <dgm:cxn modelId="{E28BBC18-F86A-4F0B-B680-B483F606F4F2}" type="presParOf" srcId="{C7FCEFCE-BAF2-404B-BE7A-5D2C211E4002}" destId="{553906C3-F8EC-43E7-8432-567F5FAAFD62}" srcOrd="4" destOrd="0" presId="urn:microsoft.com/office/officeart/2005/8/layout/hierarchy4"/>
    <dgm:cxn modelId="{3FC067DE-D231-4135-9863-4A5D922947E4}" type="presParOf" srcId="{553906C3-F8EC-43E7-8432-567F5FAAFD62}" destId="{1241A6EB-5260-4FA2-830F-10CC16A91B3A}" srcOrd="0" destOrd="0" presId="urn:microsoft.com/office/officeart/2005/8/layout/hierarchy4"/>
    <dgm:cxn modelId="{2B31B7E5-C6AE-4194-BE36-29F6410B96E4}" type="presParOf" srcId="{553906C3-F8EC-43E7-8432-567F5FAAFD62}" destId="{7FA6C91D-B406-4F85-B891-5FBC98F62F88}" srcOrd="1" destOrd="0" presId="urn:microsoft.com/office/officeart/2005/8/layout/hierarchy4"/>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2C10D01-481E-401F-A5EF-5AD2E3E961EC}" type="doc">
      <dgm:prSet loTypeId="urn:microsoft.com/office/officeart/2005/8/layout/vList2" loCatId="list" qsTypeId="urn:microsoft.com/office/officeart/2005/8/quickstyle/simple1" qsCatId="simple" csTypeId="urn:microsoft.com/office/officeart/2005/8/colors/colorful4" csCatId="colorful" phldr="1"/>
      <dgm:spPr/>
      <dgm:t>
        <a:bodyPr/>
        <a:lstStyle/>
        <a:p>
          <a:endParaRPr lang="zh-TW" altLang="en-US"/>
        </a:p>
      </dgm:t>
    </dgm:pt>
    <dgm:pt modelId="{EA3CFF38-1F14-4878-851A-7EEB60212859}">
      <dgm:prSet phldrT="[文字]"/>
      <dgm:spPr/>
      <dgm:t>
        <a:bodyPr/>
        <a:lstStyle/>
        <a:p>
          <a:r>
            <a:rPr lang="en-US" altLang="zh-TW">
              <a:latin typeface="Microsoft JhengHei" panose="020B0604030504040204" pitchFamily="34" charset="-120"/>
              <a:ea typeface="Microsoft JhengHei" panose="020B0604030504040204" pitchFamily="34" charset="-120"/>
            </a:rPr>
            <a:t>Context </a:t>
          </a:r>
          <a:r>
            <a:rPr lang="zh-TW" altLang="en-US">
              <a:latin typeface="Microsoft JhengHei" panose="020B0604030504040204" pitchFamily="34" charset="-120"/>
              <a:ea typeface="Microsoft JhengHei" panose="020B0604030504040204" pitchFamily="34" charset="-120"/>
            </a:rPr>
            <a:t>裡面需要有什麼？</a:t>
          </a:r>
          <a:endParaRPr lang="zh-TW" altLang="en-US" dirty="0">
            <a:latin typeface="Microsoft JhengHei" panose="020B0604030504040204" pitchFamily="34" charset="-120"/>
            <a:ea typeface="Microsoft JhengHei" panose="020B0604030504040204" pitchFamily="34" charset="-120"/>
          </a:endParaRPr>
        </a:p>
      </dgm:t>
    </dgm:pt>
    <dgm:pt modelId="{A2024952-66C5-46BE-A4D4-12C7D1FC7F29}" cxnId="{E0036235-405F-4E30-BCBF-29DA25D1F744}" type="parTrans">
      <dgm:prSet/>
      <dgm:spPr/>
      <dgm:t>
        <a:bodyPr/>
        <a:lstStyle/>
        <a:p>
          <a:endParaRPr lang="zh-TW" altLang="en-US"/>
        </a:p>
      </dgm:t>
    </dgm:pt>
    <dgm:pt modelId="{75375E9D-3F64-472F-B61F-30C35F86993B}" cxnId="{E0036235-405F-4E30-BCBF-29DA25D1F744}" type="sibTrans">
      <dgm:prSet/>
      <dgm:spPr/>
      <dgm:t>
        <a:bodyPr/>
        <a:lstStyle/>
        <a:p>
          <a:endParaRPr lang="zh-TW" altLang="en-US"/>
        </a:p>
      </dgm:t>
    </dgm:pt>
    <dgm:pt modelId="{6481DFB6-907E-4448-AFEE-B1599DD2A9BD}">
      <dgm:prSet phldrT="[文字]"/>
      <dgm:spPr/>
      <dgm:t>
        <a:bodyPr/>
        <a:lstStyle/>
        <a:p>
          <a:r>
            <a:rPr lang="zh-TW" altLang="en-US" dirty="0">
              <a:latin typeface="Microsoft JhengHei" panose="020B0604030504040204" pitchFamily="34" charset="-120"/>
              <a:ea typeface="Microsoft JhengHei" panose="020B0604030504040204" pitchFamily="34" charset="-120"/>
            </a:rPr>
            <a:t>為什麼</a:t>
          </a:r>
          <a:r>
            <a:rPr lang="en-US" altLang="zh-TW" dirty="0">
              <a:latin typeface="Microsoft JhengHei" panose="020B0604030504040204" pitchFamily="34" charset="-120"/>
              <a:ea typeface="Microsoft JhengHei" panose="020B0604030504040204" pitchFamily="34" charset="-120"/>
            </a:rPr>
            <a:t>AI</a:t>
          </a:r>
          <a:r>
            <a:rPr lang="zh-TW" altLang="en-US" dirty="0">
              <a:latin typeface="Microsoft JhengHei" panose="020B0604030504040204" pitchFamily="34" charset="-120"/>
              <a:ea typeface="Microsoft JhengHei" panose="020B0604030504040204" pitchFamily="34" charset="-120"/>
            </a:rPr>
            <a:t> </a:t>
          </a:r>
          <a:r>
            <a:rPr lang="en-US" altLang="zh-TW" dirty="0">
              <a:latin typeface="Microsoft JhengHei" panose="020B0604030504040204" pitchFamily="34" charset="-120"/>
              <a:ea typeface="Microsoft JhengHei" panose="020B0604030504040204" pitchFamily="34" charset="-120"/>
            </a:rPr>
            <a:t>Agent </a:t>
          </a:r>
          <a:r>
            <a:rPr lang="zh-TW" altLang="en-US" dirty="0">
              <a:latin typeface="Microsoft JhengHei" panose="020B0604030504040204" pitchFamily="34" charset="-120"/>
              <a:ea typeface="Microsoft JhengHei" panose="020B0604030504040204" pitchFamily="34" charset="-120"/>
            </a:rPr>
            <a:t>時代，需要  </a:t>
          </a:r>
          <a:r>
            <a:rPr lang="en-US" altLang="zh-TW" dirty="0">
              <a:latin typeface="Microsoft JhengHei" panose="020B0604030504040204" pitchFamily="34" charset="-120"/>
              <a:ea typeface="Microsoft JhengHei" panose="020B0604030504040204" pitchFamily="34" charset="-120"/>
            </a:rPr>
            <a:t>Context</a:t>
          </a:r>
          <a:r>
            <a:rPr lang="zh-TW" altLang="en-US" dirty="0">
              <a:latin typeface="Microsoft JhengHei" panose="020B0604030504040204" pitchFamily="34" charset="-120"/>
              <a:ea typeface="Microsoft JhengHei" panose="020B0604030504040204" pitchFamily="34" charset="-120"/>
            </a:rPr>
            <a:t> </a:t>
          </a:r>
          <a:r>
            <a:rPr lang="en-US" altLang="zh-TW" dirty="0">
              <a:latin typeface="Microsoft JhengHei" panose="020B0604030504040204" pitchFamily="34" charset="-120"/>
              <a:ea typeface="Microsoft JhengHei" panose="020B0604030504040204" pitchFamily="34" charset="-120"/>
            </a:rPr>
            <a:t>Engineering </a:t>
          </a:r>
          <a:endParaRPr lang="zh-TW" altLang="en-US" dirty="0">
            <a:latin typeface="Microsoft JhengHei" panose="020B0604030504040204" pitchFamily="34" charset="-120"/>
            <a:ea typeface="Microsoft JhengHei" panose="020B0604030504040204" pitchFamily="34" charset="-120"/>
          </a:endParaRPr>
        </a:p>
      </dgm:t>
    </dgm:pt>
    <dgm:pt modelId="{42F86B77-FCC6-4B73-8465-AEE9AB2DE81E}" cxnId="{EEA605B3-B673-43A6-8699-20729E301F89}" type="parTrans">
      <dgm:prSet/>
      <dgm:spPr/>
      <dgm:t>
        <a:bodyPr/>
        <a:lstStyle/>
        <a:p>
          <a:endParaRPr lang="zh-TW" altLang="en-US"/>
        </a:p>
      </dgm:t>
    </dgm:pt>
    <dgm:pt modelId="{3D9FA471-1BEB-4EB3-BA4B-66850AE3EE36}" cxnId="{EEA605B3-B673-43A6-8699-20729E301F89}" type="sibTrans">
      <dgm:prSet/>
      <dgm:spPr/>
      <dgm:t>
        <a:bodyPr/>
        <a:lstStyle/>
        <a:p>
          <a:endParaRPr lang="zh-TW" altLang="en-US"/>
        </a:p>
      </dgm:t>
    </dgm:pt>
    <dgm:pt modelId="{9E1037A5-9AE6-4AA5-8FF9-390B7722FD76}">
      <dgm:prSet phldrT="[文字]"/>
      <dgm:spPr/>
      <dgm:t>
        <a:bodyPr/>
        <a:lstStyle/>
        <a:p>
          <a:r>
            <a:rPr lang="en-US" altLang="zh-TW" dirty="0">
              <a:latin typeface="Microsoft JhengHei" panose="020B0604030504040204" pitchFamily="34" charset="-120"/>
              <a:ea typeface="Microsoft JhengHei" panose="020B0604030504040204" pitchFamily="34" charset="-120"/>
            </a:rPr>
            <a:t>Context Engineering </a:t>
          </a:r>
          <a:r>
            <a:rPr lang="zh-TW" altLang="en-US" dirty="0">
              <a:latin typeface="Microsoft JhengHei" panose="020B0604030504040204" pitchFamily="34" charset="-120"/>
              <a:ea typeface="Microsoft JhengHei" panose="020B0604030504040204" pitchFamily="34" charset="-120"/>
            </a:rPr>
            <a:t>的基本方法</a:t>
          </a:r>
        </a:p>
      </dgm:t>
    </dgm:pt>
    <dgm:pt modelId="{97FD29CE-F0E0-44ED-B768-889A682227D3}" cxnId="{2627EFDB-6BE6-4F4C-A512-3D512E9C90F9}" type="parTrans">
      <dgm:prSet/>
      <dgm:spPr/>
      <dgm:t>
        <a:bodyPr/>
        <a:lstStyle/>
        <a:p>
          <a:endParaRPr lang="zh-TW" altLang="en-US"/>
        </a:p>
      </dgm:t>
    </dgm:pt>
    <dgm:pt modelId="{7B155F86-775F-4B9F-A352-5C806730ECC2}" cxnId="{2627EFDB-6BE6-4F4C-A512-3D512E9C90F9}" type="sibTrans">
      <dgm:prSet/>
      <dgm:spPr/>
      <dgm:t>
        <a:bodyPr/>
        <a:lstStyle/>
        <a:p>
          <a:endParaRPr lang="zh-TW" altLang="en-US"/>
        </a:p>
      </dgm:t>
    </dgm:pt>
    <dgm:pt modelId="{D2D01E93-052C-4683-8A2C-4C4E7493955B}" type="pres">
      <dgm:prSet presAssocID="{E2C10D01-481E-401F-A5EF-5AD2E3E961EC}" presName="linear" presStyleCnt="0">
        <dgm:presLayoutVars>
          <dgm:animLvl val="lvl"/>
          <dgm:resizeHandles val="exact"/>
        </dgm:presLayoutVars>
      </dgm:prSet>
      <dgm:spPr/>
    </dgm:pt>
    <dgm:pt modelId="{87B0383A-F74F-4C15-9D36-77D15AF8141E}" type="pres">
      <dgm:prSet presAssocID="{EA3CFF38-1F14-4878-851A-7EEB60212859}" presName="parentText" presStyleLbl="node1" presStyleIdx="0" presStyleCnt="3">
        <dgm:presLayoutVars>
          <dgm:chMax val="0"/>
          <dgm:bulletEnabled val="1"/>
        </dgm:presLayoutVars>
      </dgm:prSet>
      <dgm:spPr/>
    </dgm:pt>
    <dgm:pt modelId="{712F5441-E9E9-4137-9976-0B3CC47D342A}" type="pres">
      <dgm:prSet presAssocID="{75375E9D-3F64-472F-B61F-30C35F86993B}" presName="spacer" presStyleCnt="0"/>
      <dgm:spPr/>
    </dgm:pt>
    <dgm:pt modelId="{3D8C432D-D058-418D-A1FA-6992C71299D6}" type="pres">
      <dgm:prSet presAssocID="{6481DFB6-907E-4448-AFEE-B1599DD2A9BD}" presName="parentText" presStyleLbl="node1" presStyleIdx="1" presStyleCnt="3">
        <dgm:presLayoutVars>
          <dgm:chMax val="0"/>
          <dgm:bulletEnabled val="1"/>
        </dgm:presLayoutVars>
      </dgm:prSet>
      <dgm:spPr/>
    </dgm:pt>
    <dgm:pt modelId="{0BDBFABE-DD39-4B69-A9CC-B2411DDAFCD7}" type="pres">
      <dgm:prSet presAssocID="{3D9FA471-1BEB-4EB3-BA4B-66850AE3EE36}" presName="spacer" presStyleCnt="0"/>
      <dgm:spPr/>
    </dgm:pt>
    <dgm:pt modelId="{ABDE8154-3CDA-493A-935E-0604909E1535}" type="pres">
      <dgm:prSet presAssocID="{9E1037A5-9AE6-4AA5-8FF9-390B7722FD76}" presName="parentText" presStyleLbl="node1" presStyleIdx="2" presStyleCnt="3">
        <dgm:presLayoutVars>
          <dgm:chMax val="0"/>
          <dgm:bulletEnabled val="1"/>
        </dgm:presLayoutVars>
      </dgm:prSet>
      <dgm:spPr/>
    </dgm:pt>
  </dgm:ptLst>
  <dgm:cxnLst>
    <dgm:cxn modelId="{E0036235-405F-4E30-BCBF-29DA25D1F744}" srcId="{E2C10D01-481E-401F-A5EF-5AD2E3E961EC}" destId="{EA3CFF38-1F14-4878-851A-7EEB60212859}" srcOrd="0" destOrd="0" parTransId="{A2024952-66C5-46BE-A4D4-12C7D1FC7F29}" sibTransId="{75375E9D-3F64-472F-B61F-30C35F86993B}"/>
    <dgm:cxn modelId="{62A5EA3A-A2FA-4B01-8BA3-E0040C9DDBDA}" type="presOf" srcId="{6481DFB6-907E-4448-AFEE-B1599DD2A9BD}" destId="{3D8C432D-D058-418D-A1FA-6992C71299D6}" srcOrd="0" destOrd="0" presId="urn:microsoft.com/office/officeart/2005/8/layout/vList2"/>
    <dgm:cxn modelId="{AE4E8F83-CBEF-4D2C-B4FE-706D09437A81}" type="presOf" srcId="{E2C10D01-481E-401F-A5EF-5AD2E3E961EC}" destId="{D2D01E93-052C-4683-8A2C-4C4E7493955B}" srcOrd="0" destOrd="0" presId="urn:microsoft.com/office/officeart/2005/8/layout/vList2"/>
    <dgm:cxn modelId="{27FEB291-3BD0-40C9-993A-8A0A39952855}" type="presOf" srcId="{9E1037A5-9AE6-4AA5-8FF9-390B7722FD76}" destId="{ABDE8154-3CDA-493A-935E-0604909E1535}" srcOrd="0" destOrd="0" presId="urn:microsoft.com/office/officeart/2005/8/layout/vList2"/>
    <dgm:cxn modelId="{EEA605B3-B673-43A6-8699-20729E301F89}" srcId="{E2C10D01-481E-401F-A5EF-5AD2E3E961EC}" destId="{6481DFB6-907E-4448-AFEE-B1599DD2A9BD}" srcOrd="1" destOrd="0" parTransId="{42F86B77-FCC6-4B73-8465-AEE9AB2DE81E}" sibTransId="{3D9FA471-1BEB-4EB3-BA4B-66850AE3EE36}"/>
    <dgm:cxn modelId="{11E14CD1-9F08-4160-AA42-0BDF77ABB733}" type="presOf" srcId="{EA3CFF38-1F14-4878-851A-7EEB60212859}" destId="{87B0383A-F74F-4C15-9D36-77D15AF8141E}" srcOrd="0" destOrd="0" presId="urn:microsoft.com/office/officeart/2005/8/layout/vList2"/>
    <dgm:cxn modelId="{2627EFDB-6BE6-4F4C-A512-3D512E9C90F9}" srcId="{E2C10D01-481E-401F-A5EF-5AD2E3E961EC}" destId="{9E1037A5-9AE6-4AA5-8FF9-390B7722FD76}" srcOrd="2" destOrd="0" parTransId="{97FD29CE-F0E0-44ED-B768-889A682227D3}" sibTransId="{7B155F86-775F-4B9F-A352-5C806730ECC2}"/>
    <dgm:cxn modelId="{4D968599-55A0-467E-B72E-619DAC96C2FF}" type="presParOf" srcId="{D2D01E93-052C-4683-8A2C-4C4E7493955B}" destId="{87B0383A-F74F-4C15-9D36-77D15AF8141E}" srcOrd="0" destOrd="0" presId="urn:microsoft.com/office/officeart/2005/8/layout/vList2"/>
    <dgm:cxn modelId="{D45F9448-DBE2-4B88-80EE-FD7E4DBDF6B0}" type="presParOf" srcId="{D2D01E93-052C-4683-8A2C-4C4E7493955B}" destId="{712F5441-E9E9-4137-9976-0B3CC47D342A}" srcOrd="1" destOrd="0" presId="urn:microsoft.com/office/officeart/2005/8/layout/vList2"/>
    <dgm:cxn modelId="{31304F88-C31C-453C-8D10-68C53C993A41}" type="presParOf" srcId="{D2D01E93-052C-4683-8A2C-4C4E7493955B}" destId="{3D8C432D-D058-418D-A1FA-6992C71299D6}" srcOrd="2" destOrd="0" presId="urn:microsoft.com/office/officeart/2005/8/layout/vList2"/>
    <dgm:cxn modelId="{E59C256F-20CB-44D8-A3C9-5105DEE72C13}" type="presParOf" srcId="{D2D01E93-052C-4683-8A2C-4C4E7493955B}" destId="{0BDBFABE-DD39-4B69-A9CC-B2411DDAFCD7}" srcOrd="3" destOrd="0" presId="urn:microsoft.com/office/officeart/2005/8/layout/vList2"/>
    <dgm:cxn modelId="{632A41A1-4712-498D-813E-F5662E12092C}" type="presParOf" srcId="{D2D01E93-052C-4683-8A2C-4C4E7493955B}" destId="{ABDE8154-3CDA-493A-935E-0604909E1535}" srcOrd="4" destOrd="0" presId="urn:microsoft.com/office/officeart/2005/8/layout/vList2"/>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组合 1"/>
      <dsp:cNvGrpSpPr/>
    </dsp:nvGrpSpPr>
    <dsp:grpSpPr>
      <a:xfrm>
        <a:off x="0" y="0"/>
        <a:ext cx="10515600" cy="4351338"/>
        <a:chOff x="0" y="0"/>
        <a:chExt cx="10515600" cy="4351338"/>
      </a:xfrm>
    </dsp:grpSpPr>
    <dsp:sp modelId="{87B0383A-F74F-4C15-9D36-77D15AF8141E}">
      <dsp:nvSpPr>
        <dsp:cNvPr id="3" name="圆角矩形 2"/>
        <dsp:cNvSpPr/>
      </dsp:nvSpPr>
      <dsp:spPr bwMode="white">
        <a:xfrm>
          <a:off x="0" y="677552"/>
          <a:ext cx="10515600" cy="931545"/>
        </a:xfrm>
        <a:prstGeom prst="roundRect">
          <a:avLst/>
        </a:prstGeom>
      </dsp:spPr>
      <dsp:style>
        <a:lnRef idx="2">
          <a:schemeClr val="lt1"/>
        </a:lnRef>
        <a:fillRef idx="1">
          <a:schemeClr val="accent4">
            <a:hueOff val="0"/>
            <a:satOff val="0"/>
            <a:lumOff val="0"/>
            <a:alpha val="100000"/>
          </a:schemeClr>
        </a:fillRef>
        <a:effectRef idx="0">
          <a:scrgbClr r="0" g="0" b="0"/>
        </a:effectRef>
        <a:fontRef idx="minor">
          <a:schemeClr val="lt1"/>
        </a:fontRef>
      </dsp:style>
      <dsp:txBody>
        <a:bodyPr lIns="133350" tIns="133350" rIns="133350" bIns="133350" anchor="ctr"/>
        <a:lstStyle>
          <a:lvl1pPr algn="l">
            <a:defRPr sz="3500"/>
          </a:lvl1pPr>
          <a:lvl2pPr marL="228600" indent="-228600" algn="l">
            <a:defRPr sz="2700"/>
          </a:lvl2pPr>
          <a:lvl3pPr marL="457200" indent="-228600" algn="l">
            <a:defRPr sz="2700"/>
          </a:lvl3pPr>
          <a:lvl4pPr marL="685800" indent="-228600" algn="l">
            <a:defRPr sz="2700"/>
          </a:lvl4pPr>
          <a:lvl5pPr marL="914400" indent="-228600" algn="l">
            <a:defRPr sz="2700"/>
          </a:lvl5pPr>
          <a:lvl6pPr marL="1143000" indent="-228600" algn="l">
            <a:defRPr sz="2700"/>
          </a:lvl6pPr>
          <a:lvl7pPr marL="1371600" indent="-228600" algn="l">
            <a:defRPr sz="2700"/>
          </a:lvl7pPr>
          <a:lvl8pPr marL="1600200" indent="-228600" algn="l">
            <a:defRPr sz="2700"/>
          </a:lvl8pPr>
          <a:lvl9pPr marL="1828800" indent="-228600" algn="l">
            <a:defRPr sz="2700"/>
          </a:lvl9pPr>
        </a:lstStyle>
        <a:p>
          <a:pPr lvl="0">
            <a:lnSpc>
              <a:spcPct val="100000"/>
            </a:lnSpc>
            <a:spcBef>
              <a:spcPct val="0"/>
            </a:spcBef>
            <a:spcAft>
              <a:spcPct val="35000"/>
            </a:spcAft>
          </a:pPr>
          <a:r>
            <a:rPr lang="en-US" altLang="zh-TW" dirty="0">
              <a:latin typeface="Microsoft JhengHei" panose="020B0604030504040204" pitchFamily="34" charset="-120"/>
              <a:ea typeface="Microsoft JhengHei" panose="020B0604030504040204" pitchFamily="34" charset="-120"/>
            </a:rPr>
            <a:t>Context </a:t>
          </a:r>
          <a:r>
            <a:rPr lang="zh-TW" altLang="en-US" dirty="0">
              <a:latin typeface="Microsoft JhengHei" panose="020B0604030504040204" pitchFamily="34" charset="-120"/>
              <a:ea typeface="Microsoft JhengHei" panose="020B0604030504040204" pitchFamily="34" charset="-120"/>
            </a:rPr>
            <a:t>裡面需要有什麼？</a:t>
          </a:r>
        </a:p>
      </dsp:txBody>
      <dsp:txXfrm>
        <a:off x="0" y="677552"/>
        <a:ext cx="10515600" cy="931545"/>
      </dsp:txXfrm>
    </dsp:sp>
    <dsp:sp modelId="{455A3931-7457-4218-B77B-F11A51DFBCF3}">
      <dsp:nvSpPr>
        <dsp:cNvPr id="4" name="圆角矩形 3"/>
        <dsp:cNvSpPr/>
      </dsp:nvSpPr>
      <dsp:spPr bwMode="white">
        <a:xfrm>
          <a:off x="0" y="1709897"/>
          <a:ext cx="10515600" cy="931545"/>
        </a:xfrm>
        <a:prstGeom prst="roundRect">
          <a:avLst/>
        </a:prstGeom>
      </dsp:spPr>
      <dsp:style>
        <a:lnRef idx="2">
          <a:schemeClr val="lt1"/>
        </a:lnRef>
        <a:fillRef idx="1">
          <a:schemeClr val="accent4">
            <a:hueOff val="4890000"/>
            <a:satOff val="-20391"/>
            <a:lumOff val="4706"/>
            <a:alpha val="100000"/>
          </a:schemeClr>
        </a:fillRef>
        <a:effectRef idx="0">
          <a:scrgbClr r="0" g="0" b="0"/>
        </a:effectRef>
        <a:fontRef idx="minor">
          <a:schemeClr val="lt1"/>
        </a:fontRef>
      </dsp:style>
      <dsp:txBody>
        <a:bodyPr lIns="133350" tIns="133350" rIns="133350" bIns="133350" anchor="ctr"/>
        <a:lstStyle>
          <a:lvl1pPr algn="l">
            <a:defRPr sz="3500"/>
          </a:lvl1pPr>
          <a:lvl2pPr marL="228600" indent="-228600" algn="l">
            <a:defRPr sz="2700"/>
          </a:lvl2pPr>
          <a:lvl3pPr marL="457200" indent="-228600" algn="l">
            <a:defRPr sz="2700"/>
          </a:lvl3pPr>
          <a:lvl4pPr marL="685800" indent="-228600" algn="l">
            <a:defRPr sz="2700"/>
          </a:lvl4pPr>
          <a:lvl5pPr marL="914400" indent="-228600" algn="l">
            <a:defRPr sz="2700"/>
          </a:lvl5pPr>
          <a:lvl6pPr marL="1143000" indent="-228600" algn="l">
            <a:defRPr sz="2700"/>
          </a:lvl6pPr>
          <a:lvl7pPr marL="1371600" indent="-228600" algn="l">
            <a:defRPr sz="2700"/>
          </a:lvl7pPr>
          <a:lvl8pPr marL="1600200" indent="-228600" algn="l">
            <a:defRPr sz="2700"/>
          </a:lvl8pPr>
          <a:lvl9pPr marL="1828800" indent="-228600" algn="l">
            <a:defRPr sz="2700"/>
          </a:lvl9pPr>
        </a:lstStyle>
        <a:p>
          <a:pPr lvl="0">
            <a:lnSpc>
              <a:spcPct val="100000"/>
            </a:lnSpc>
            <a:spcBef>
              <a:spcPct val="0"/>
            </a:spcBef>
            <a:spcAft>
              <a:spcPct val="35000"/>
            </a:spcAft>
          </a:pPr>
          <a:r>
            <a:rPr lang="zh-TW" altLang="en-US" dirty="0">
              <a:latin typeface="Microsoft JhengHei" panose="020B0604030504040204" pitchFamily="34" charset="-120"/>
              <a:ea typeface="Microsoft JhengHei" panose="020B0604030504040204" pitchFamily="34" charset="-120"/>
            </a:rPr>
            <a:t>為什麼</a:t>
          </a:r>
          <a:r>
            <a:rPr lang="en-US" altLang="zh-TW" dirty="0">
              <a:latin typeface="Microsoft JhengHei" panose="020B0604030504040204" pitchFamily="34" charset="-120"/>
              <a:ea typeface="Microsoft JhengHei" panose="020B0604030504040204" pitchFamily="34" charset="-120"/>
            </a:rPr>
            <a:t>AI</a:t>
          </a:r>
          <a:r>
            <a:rPr lang="zh-TW" altLang="en-US" dirty="0">
              <a:latin typeface="Microsoft JhengHei" panose="020B0604030504040204" pitchFamily="34" charset="-120"/>
              <a:ea typeface="Microsoft JhengHei" panose="020B0604030504040204" pitchFamily="34" charset="-120"/>
            </a:rPr>
            <a:t> </a:t>
          </a:r>
          <a:r>
            <a:rPr lang="en-US" altLang="zh-TW" dirty="0">
              <a:latin typeface="Microsoft JhengHei" panose="020B0604030504040204" pitchFamily="34" charset="-120"/>
              <a:ea typeface="Microsoft JhengHei" panose="020B0604030504040204" pitchFamily="34" charset="-120"/>
            </a:rPr>
            <a:t>Agent </a:t>
          </a:r>
          <a:r>
            <a:rPr lang="zh-TW" altLang="en-US" dirty="0">
              <a:latin typeface="Microsoft JhengHei" panose="020B0604030504040204" pitchFamily="34" charset="-120"/>
              <a:ea typeface="Microsoft JhengHei" panose="020B0604030504040204" pitchFamily="34" charset="-120"/>
            </a:rPr>
            <a:t>時代，需要  </a:t>
          </a:r>
          <a:r>
            <a:rPr lang="en-US" altLang="zh-TW" dirty="0">
              <a:latin typeface="Microsoft JhengHei" panose="020B0604030504040204" pitchFamily="34" charset="-120"/>
              <a:ea typeface="Microsoft JhengHei" panose="020B0604030504040204" pitchFamily="34" charset="-120"/>
            </a:rPr>
            <a:t>Context</a:t>
          </a:r>
          <a:r>
            <a:rPr lang="zh-TW" altLang="en-US" dirty="0">
              <a:latin typeface="Microsoft JhengHei" panose="020B0604030504040204" pitchFamily="34" charset="-120"/>
              <a:ea typeface="Microsoft JhengHei" panose="020B0604030504040204" pitchFamily="34" charset="-120"/>
            </a:rPr>
            <a:t> </a:t>
          </a:r>
          <a:r>
            <a:rPr lang="en-US" altLang="zh-TW" dirty="0">
              <a:latin typeface="Microsoft JhengHei" panose="020B0604030504040204" pitchFamily="34" charset="-120"/>
              <a:ea typeface="Microsoft JhengHei" panose="020B0604030504040204" pitchFamily="34" charset="-120"/>
            </a:rPr>
            <a:t>Engineering </a:t>
          </a:r>
          <a:endParaRPr lang="zh-TW" altLang="en-US" dirty="0">
            <a:latin typeface="Microsoft JhengHei" panose="020B0604030504040204" pitchFamily="34" charset="-120"/>
            <a:ea typeface="Microsoft JhengHei" panose="020B0604030504040204" pitchFamily="34" charset="-120"/>
          </a:endParaRPr>
        </a:p>
      </dsp:txBody>
      <dsp:txXfrm>
        <a:off x="0" y="1709897"/>
        <a:ext cx="10515600" cy="931545"/>
      </dsp:txXfrm>
    </dsp:sp>
    <dsp:sp modelId="{14A4A351-B9D1-49AE-95DC-3AAB91C1E84E}">
      <dsp:nvSpPr>
        <dsp:cNvPr id="5" name="圆角矩形 4"/>
        <dsp:cNvSpPr/>
      </dsp:nvSpPr>
      <dsp:spPr bwMode="white">
        <a:xfrm>
          <a:off x="0" y="2742242"/>
          <a:ext cx="10515600" cy="931545"/>
        </a:xfrm>
        <a:prstGeom prst="roundRect">
          <a:avLst/>
        </a:prstGeom>
      </dsp:spPr>
      <dsp:style>
        <a:lnRef idx="2">
          <a:schemeClr val="lt1"/>
        </a:lnRef>
        <a:fillRef idx="1">
          <a:schemeClr val="accent4">
            <a:hueOff val="9780000"/>
            <a:satOff val="-40783"/>
            <a:lumOff val="9412"/>
            <a:alpha val="100000"/>
          </a:schemeClr>
        </a:fillRef>
        <a:effectRef idx="0">
          <a:scrgbClr r="0" g="0" b="0"/>
        </a:effectRef>
        <a:fontRef idx="minor">
          <a:schemeClr val="lt1"/>
        </a:fontRef>
      </dsp:style>
      <dsp:txBody>
        <a:bodyPr lIns="133350" tIns="133350" rIns="133350" bIns="133350" anchor="ctr"/>
        <a:lstStyle>
          <a:lvl1pPr algn="l">
            <a:defRPr sz="3500"/>
          </a:lvl1pPr>
          <a:lvl2pPr marL="228600" indent="-228600" algn="l">
            <a:defRPr sz="2700"/>
          </a:lvl2pPr>
          <a:lvl3pPr marL="457200" indent="-228600" algn="l">
            <a:defRPr sz="2700"/>
          </a:lvl3pPr>
          <a:lvl4pPr marL="685800" indent="-228600" algn="l">
            <a:defRPr sz="2700"/>
          </a:lvl4pPr>
          <a:lvl5pPr marL="914400" indent="-228600" algn="l">
            <a:defRPr sz="2700"/>
          </a:lvl5pPr>
          <a:lvl6pPr marL="1143000" indent="-228600" algn="l">
            <a:defRPr sz="2700"/>
          </a:lvl6pPr>
          <a:lvl7pPr marL="1371600" indent="-228600" algn="l">
            <a:defRPr sz="2700"/>
          </a:lvl7pPr>
          <a:lvl8pPr marL="1600200" indent="-228600" algn="l">
            <a:defRPr sz="2700"/>
          </a:lvl8pPr>
          <a:lvl9pPr marL="1828800" indent="-228600" algn="l">
            <a:defRPr sz="2700"/>
          </a:lvl9pPr>
        </a:lstStyle>
        <a:p>
          <a:pPr lvl="0">
            <a:lnSpc>
              <a:spcPct val="100000"/>
            </a:lnSpc>
            <a:spcBef>
              <a:spcPct val="0"/>
            </a:spcBef>
            <a:spcAft>
              <a:spcPct val="35000"/>
            </a:spcAft>
          </a:pPr>
          <a:r>
            <a:rPr lang="en-US" altLang="zh-TW" dirty="0">
              <a:latin typeface="Microsoft JhengHei" panose="020B0604030504040204" pitchFamily="34" charset="-120"/>
              <a:ea typeface="Microsoft JhengHei" panose="020B0604030504040204" pitchFamily="34" charset="-120"/>
            </a:rPr>
            <a:t>Context Engineering </a:t>
          </a:r>
          <a:r>
            <a:rPr lang="zh-TW" altLang="en-US" dirty="0">
              <a:latin typeface="Microsoft JhengHei" panose="020B0604030504040204" pitchFamily="34" charset="-120"/>
              <a:ea typeface="Microsoft JhengHei" panose="020B0604030504040204" pitchFamily="34" charset="-120"/>
            </a:rPr>
            <a:t>的基本方法</a:t>
          </a:r>
        </a:p>
      </dsp:txBody>
      <dsp:txXfrm>
        <a:off x="0" y="2742242"/>
        <a:ext cx="10515600" cy="93154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1425A52-F40B-4D90-966B-E21960245079}">
      <dsp:nvSpPr>
        <dsp:cNvPr id="0" name=""/>
        <dsp:cNvSpPr/>
      </dsp:nvSpPr>
      <dsp:spPr>
        <a:xfrm>
          <a:off x="7784" y="0"/>
          <a:ext cx="3147491" cy="4351338"/>
        </a:xfrm>
        <a:prstGeom prst="roundRect">
          <a:avLst>
            <a:gd name="adj" fmla="val 1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71450" tIns="171450" rIns="171450" bIns="171450" numCol="1" spcCol="1270" anchor="ctr" anchorCtr="0">
          <a:noAutofit/>
        </a:bodyPr>
        <a:lstStyle/>
        <a:p>
          <a:pPr marL="0" lvl="0" indent="0" algn="ctr" defTabSz="2000250">
            <a:lnSpc>
              <a:spcPct val="90000"/>
            </a:lnSpc>
            <a:spcBef>
              <a:spcPct val="0"/>
            </a:spcBef>
            <a:spcAft>
              <a:spcPct val="35000"/>
            </a:spcAft>
            <a:buNone/>
          </a:pPr>
          <a:r>
            <a:rPr lang="en-US" altLang="zh-TW" sz="4500" kern="1200" dirty="0"/>
            <a:t>Select</a:t>
          </a:r>
          <a:endParaRPr lang="zh-TW" altLang="en-US" sz="4500" kern="1200" dirty="0"/>
        </a:p>
      </dsp:txBody>
      <dsp:txXfrm>
        <a:off x="99971" y="92187"/>
        <a:ext cx="2963117" cy="4166964"/>
      </dsp:txXfrm>
    </dsp:sp>
    <dsp:sp modelId="{B48F2111-9616-4D60-9D9E-7CE5E176158A}">
      <dsp:nvSpPr>
        <dsp:cNvPr id="0" name=""/>
        <dsp:cNvSpPr/>
      </dsp:nvSpPr>
      <dsp:spPr>
        <a:xfrm>
          <a:off x="3684054" y="0"/>
          <a:ext cx="3147491" cy="4351338"/>
        </a:xfrm>
        <a:prstGeom prst="roundRect">
          <a:avLst>
            <a:gd name="adj" fmla="val 10000"/>
          </a:avLst>
        </a:prstGeom>
        <a:solidFill>
          <a:schemeClr val="accent5"/>
        </a:solidFill>
        <a:ln w="2540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171450" tIns="171450" rIns="171450" bIns="171450" numCol="1" spcCol="1270" anchor="ctr" anchorCtr="0">
          <a:noAutofit/>
        </a:bodyPr>
        <a:lstStyle/>
        <a:p>
          <a:pPr marL="0" lvl="0" indent="0" algn="ctr" defTabSz="2000250">
            <a:lnSpc>
              <a:spcPct val="90000"/>
            </a:lnSpc>
            <a:spcBef>
              <a:spcPct val="0"/>
            </a:spcBef>
            <a:spcAft>
              <a:spcPct val="35000"/>
            </a:spcAft>
            <a:buNone/>
          </a:pPr>
          <a:r>
            <a:rPr lang="en-US" altLang="zh-TW" sz="4500" kern="1200" dirty="0"/>
            <a:t>Compress</a:t>
          </a:r>
          <a:endParaRPr lang="zh-TW" altLang="en-US" sz="4500" kern="1200" dirty="0"/>
        </a:p>
      </dsp:txBody>
      <dsp:txXfrm>
        <a:off x="3776241" y="92187"/>
        <a:ext cx="2963117" cy="4166964"/>
      </dsp:txXfrm>
    </dsp:sp>
    <dsp:sp modelId="{1241A6EB-5260-4FA2-830F-10CC16A91B3A}">
      <dsp:nvSpPr>
        <dsp:cNvPr id="0" name=""/>
        <dsp:cNvSpPr/>
      </dsp:nvSpPr>
      <dsp:spPr>
        <a:xfrm>
          <a:off x="7360324" y="0"/>
          <a:ext cx="3147491" cy="4351338"/>
        </a:xfrm>
        <a:prstGeom prst="roundRect">
          <a:avLst>
            <a:gd name="adj" fmla="val 10000"/>
          </a:avLst>
        </a:prstGeom>
        <a:solidFill>
          <a:schemeClr val="accent6"/>
        </a:solidFill>
        <a:ln w="2540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171450" tIns="171450" rIns="171450" bIns="171450" numCol="1" spcCol="1270" anchor="ctr" anchorCtr="0">
          <a:noAutofit/>
        </a:bodyPr>
        <a:lstStyle/>
        <a:p>
          <a:pPr marL="0" lvl="0" indent="0" algn="ctr" defTabSz="2000250">
            <a:lnSpc>
              <a:spcPct val="90000"/>
            </a:lnSpc>
            <a:spcBef>
              <a:spcPct val="0"/>
            </a:spcBef>
            <a:spcAft>
              <a:spcPct val="35000"/>
            </a:spcAft>
            <a:buNone/>
          </a:pPr>
          <a:r>
            <a:rPr lang="en-US" altLang="zh-TW" sz="4500" kern="1200" dirty="0"/>
            <a:t>Multi-Agent</a:t>
          </a:r>
          <a:endParaRPr lang="zh-TW" altLang="en-US" sz="4500" kern="1200" dirty="0"/>
        </a:p>
      </dsp:txBody>
      <dsp:txXfrm>
        <a:off x="7452511" y="92187"/>
        <a:ext cx="2963117" cy="416696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B0383A-F74F-4C15-9D36-77D15AF8141E}">
      <dsp:nvSpPr>
        <dsp:cNvPr id="0" name=""/>
        <dsp:cNvSpPr/>
      </dsp:nvSpPr>
      <dsp:spPr>
        <a:xfrm>
          <a:off x="0" y="447106"/>
          <a:ext cx="10515600" cy="1085174"/>
        </a:xfrm>
        <a:prstGeom prst="round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l" defTabSz="1555750">
            <a:lnSpc>
              <a:spcPct val="90000"/>
            </a:lnSpc>
            <a:spcBef>
              <a:spcPct val="0"/>
            </a:spcBef>
            <a:spcAft>
              <a:spcPct val="35000"/>
            </a:spcAft>
            <a:buNone/>
          </a:pPr>
          <a:r>
            <a:rPr lang="en-US" altLang="zh-TW" sz="3500" kern="1200">
              <a:latin typeface="微軟正黑體" panose="020B0604030504040204" pitchFamily="34" charset="-120"/>
              <a:ea typeface="微軟正黑體" panose="020B0604030504040204" pitchFamily="34" charset="-120"/>
            </a:rPr>
            <a:t>Context </a:t>
          </a:r>
          <a:r>
            <a:rPr lang="zh-TW" altLang="en-US" sz="3500" kern="1200">
              <a:latin typeface="微軟正黑體" panose="020B0604030504040204" pitchFamily="34" charset="-120"/>
              <a:ea typeface="微軟正黑體" panose="020B0604030504040204" pitchFamily="34" charset="-120"/>
            </a:rPr>
            <a:t>裡面需要有什麼？</a:t>
          </a:r>
          <a:endParaRPr lang="zh-TW" altLang="en-US" sz="3500" kern="1200" dirty="0">
            <a:latin typeface="微軟正黑體" panose="020B0604030504040204" pitchFamily="34" charset="-120"/>
            <a:ea typeface="微軟正黑體" panose="020B0604030504040204" pitchFamily="34" charset="-120"/>
          </a:endParaRPr>
        </a:p>
      </dsp:txBody>
      <dsp:txXfrm>
        <a:off x="52974" y="500080"/>
        <a:ext cx="10409652" cy="979226"/>
      </dsp:txXfrm>
    </dsp:sp>
    <dsp:sp modelId="{3D8C432D-D058-418D-A1FA-6992C71299D6}">
      <dsp:nvSpPr>
        <dsp:cNvPr id="0" name=""/>
        <dsp:cNvSpPr/>
      </dsp:nvSpPr>
      <dsp:spPr>
        <a:xfrm>
          <a:off x="0" y="1633081"/>
          <a:ext cx="10515600" cy="1085174"/>
        </a:xfrm>
        <a:prstGeom prst="roundRect">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l" defTabSz="1555750">
            <a:lnSpc>
              <a:spcPct val="90000"/>
            </a:lnSpc>
            <a:spcBef>
              <a:spcPct val="0"/>
            </a:spcBef>
            <a:spcAft>
              <a:spcPct val="35000"/>
            </a:spcAft>
            <a:buNone/>
          </a:pPr>
          <a:r>
            <a:rPr lang="zh-TW" altLang="en-US" sz="3500" kern="1200" dirty="0">
              <a:latin typeface="微軟正黑體" panose="020B0604030504040204" pitchFamily="34" charset="-120"/>
              <a:ea typeface="微軟正黑體" panose="020B0604030504040204" pitchFamily="34" charset="-120"/>
            </a:rPr>
            <a:t>為什麼</a:t>
          </a:r>
          <a:r>
            <a:rPr lang="en-US" altLang="zh-TW" sz="3500" kern="1200" dirty="0">
              <a:latin typeface="微軟正黑體" panose="020B0604030504040204" pitchFamily="34" charset="-120"/>
              <a:ea typeface="微軟正黑體" panose="020B0604030504040204" pitchFamily="34" charset="-120"/>
            </a:rPr>
            <a:t>AI</a:t>
          </a:r>
          <a:r>
            <a:rPr lang="zh-TW" altLang="en-US" sz="3500" kern="1200" dirty="0">
              <a:latin typeface="微軟正黑體" panose="020B0604030504040204" pitchFamily="34" charset="-120"/>
              <a:ea typeface="微軟正黑體" panose="020B0604030504040204" pitchFamily="34" charset="-120"/>
            </a:rPr>
            <a:t> </a:t>
          </a:r>
          <a:r>
            <a:rPr lang="en-US" altLang="zh-TW" sz="3500" kern="1200" dirty="0">
              <a:latin typeface="微軟正黑體" panose="020B0604030504040204" pitchFamily="34" charset="-120"/>
              <a:ea typeface="微軟正黑體" panose="020B0604030504040204" pitchFamily="34" charset="-120"/>
            </a:rPr>
            <a:t>Agent </a:t>
          </a:r>
          <a:r>
            <a:rPr lang="zh-TW" altLang="en-US" sz="3500" kern="1200" dirty="0">
              <a:latin typeface="微軟正黑體" panose="020B0604030504040204" pitchFamily="34" charset="-120"/>
              <a:ea typeface="微軟正黑體" panose="020B0604030504040204" pitchFamily="34" charset="-120"/>
            </a:rPr>
            <a:t>時代，需要  </a:t>
          </a:r>
          <a:r>
            <a:rPr lang="en-US" altLang="zh-TW" sz="3500" kern="1200" dirty="0">
              <a:latin typeface="微軟正黑體" panose="020B0604030504040204" pitchFamily="34" charset="-120"/>
              <a:ea typeface="微軟正黑體" panose="020B0604030504040204" pitchFamily="34" charset="-120"/>
            </a:rPr>
            <a:t>Context</a:t>
          </a:r>
          <a:r>
            <a:rPr lang="zh-TW" altLang="en-US" sz="3500" kern="1200" dirty="0">
              <a:latin typeface="微軟正黑體" panose="020B0604030504040204" pitchFamily="34" charset="-120"/>
              <a:ea typeface="微軟正黑體" panose="020B0604030504040204" pitchFamily="34" charset="-120"/>
            </a:rPr>
            <a:t> </a:t>
          </a:r>
          <a:r>
            <a:rPr lang="en-US" altLang="zh-TW" sz="3500" kern="1200" dirty="0">
              <a:latin typeface="微軟正黑體" panose="020B0604030504040204" pitchFamily="34" charset="-120"/>
              <a:ea typeface="微軟正黑體" panose="020B0604030504040204" pitchFamily="34" charset="-120"/>
            </a:rPr>
            <a:t>Engineering </a:t>
          </a:r>
          <a:endParaRPr lang="zh-TW" altLang="en-US" sz="3500" kern="1200" dirty="0">
            <a:latin typeface="微軟正黑體" panose="020B0604030504040204" pitchFamily="34" charset="-120"/>
            <a:ea typeface="微軟正黑體" panose="020B0604030504040204" pitchFamily="34" charset="-120"/>
          </a:endParaRPr>
        </a:p>
      </dsp:txBody>
      <dsp:txXfrm>
        <a:off x="52974" y="1686055"/>
        <a:ext cx="10409652" cy="979226"/>
      </dsp:txXfrm>
    </dsp:sp>
    <dsp:sp modelId="{ABDE8154-3CDA-493A-935E-0604909E1535}">
      <dsp:nvSpPr>
        <dsp:cNvPr id="0" name=""/>
        <dsp:cNvSpPr/>
      </dsp:nvSpPr>
      <dsp:spPr>
        <a:xfrm>
          <a:off x="0" y="2819056"/>
          <a:ext cx="10515600" cy="1085174"/>
        </a:xfrm>
        <a:prstGeom prst="roundRect">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ctr" anchorCtr="0">
          <a:noAutofit/>
        </a:bodyPr>
        <a:lstStyle/>
        <a:p>
          <a:pPr marL="0" lvl="0" indent="0" algn="l" defTabSz="1555750">
            <a:lnSpc>
              <a:spcPct val="90000"/>
            </a:lnSpc>
            <a:spcBef>
              <a:spcPct val="0"/>
            </a:spcBef>
            <a:spcAft>
              <a:spcPct val="35000"/>
            </a:spcAft>
            <a:buNone/>
          </a:pPr>
          <a:r>
            <a:rPr lang="en-US" altLang="zh-TW" sz="3500" kern="1200" dirty="0">
              <a:latin typeface="微軟正黑體" panose="020B0604030504040204" pitchFamily="34" charset="-120"/>
              <a:ea typeface="微軟正黑體" panose="020B0604030504040204" pitchFamily="34" charset="-120"/>
            </a:rPr>
            <a:t>Context Engineering </a:t>
          </a:r>
          <a:r>
            <a:rPr lang="zh-TW" altLang="en-US" sz="3500" kern="1200" dirty="0">
              <a:latin typeface="微軟正黑體" panose="020B0604030504040204" pitchFamily="34" charset="-120"/>
              <a:ea typeface="微軟正黑體" panose="020B0604030504040204" pitchFamily="34" charset="-120"/>
            </a:rPr>
            <a:t>的基本方法</a:t>
          </a:r>
        </a:p>
      </dsp:txBody>
      <dsp:txXfrm>
        <a:off x="52974" y="2872030"/>
        <a:ext cx="10409652" cy="979226"/>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lnSpAfChP" val="20"/>
              <dgm:param type="stBulletLvl" val="1"/>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lnSpAfChP" val="20"/>
              <dgm:param type="stBulletLvl" val="1"/>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alignAcc1">
    <dgm:scene3d>
      <a:camera prst="orthographicFront"/>
      <a:lightRig rig="threePt" dir="t"/>
    </dgm:scene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txPr/>
    <dgm:style>
      <a:lnRef idx="1">
        <a:scrgbClr r="0" g="0" b="0"/>
      </a:lnRef>
      <a:fillRef idx="1">
        <a:scrgbClr r="0" g="0" b="0"/>
      </a:fillRef>
      <a:effectRef idx="2">
        <a:scrgbClr r="0" g="0" b="0"/>
      </a:effectRef>
      <a:fontRef idx="minor"/>
    </dgm:style>
  </dgm:styleLbl>
  <dgm:styleLbl name="alignImgPlace1">
    <dgm:scene3d>
      <a:camera prst="orthographicFront"/>
      <a:lightRig rig="threePt" dir="t"/>
    </dgm:scene3d>
    <dgm:txPr/>
    <dgm:style>
      <a:lnRef idx="0">
        <a:scrgbClr r="0" g="0" b="0"/>
      </a:lnRef>
      <a:fillRef idx="1">
        <a:scrgbClr r="0" g="0" b="0"/>
      </a:fillRef>
      <a:effectRef idx="3">
        <a:scrgbClr r="0" g="0" b="0"/>
      </a:effectRef>
      <a:fontRef idx="minor"/>
    </dgm:style>
  </dgm:styleLbl>
  <dgm:styleLbl name="alignNode1">
    <dgm:scene3d>
      <a:camera prst="orthographicFront"/>
      <a:lightRig rig="threePt" dir="t"/>
    </dgm:scene3d>
    <dgm:txPr/>
    <dgm:style>
      <a:lnRef idx="1">
        <a:scrgbClr r="0" g="0" b="0"/>
      </a:lnRef>
      <a:fillRef idx="3">
        <a:scrgbClr r="0" g="0" b="0"/>
      </a:fillRef>
      <a:effectRef idx="3">
        <a:scrgbClr r="0" g="0" b="0"/>
      </a:effectRef>
      <a:fontRef idx="minor">
        <a:schemeClr val="lt1"/>
      </a:fontRef>
    </dgm:style>
  </dgm:styleLbl>
  <dgm:styleLbl name="asst0">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bgAcc1">
    <dgm:scene3d>
      <a:camera prst="orthographicFront"/>
      <a:lightRig rig="threePt" dir="t"/>
    </dgm:scene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txPr/>
    <dgm:style>
      <a:lnRef idx="1">
        <a:scrgbClr r="0" g="0" b="0"/>
      </a:lnRef>
      <a:fillRef idx="1">
        <a:scrgbClr r="0" g="0" b="0"/>
      </a:fillRef>
      <a:effectRef idx="2">
        <a:scrgbClr r="0" g="0" b="0"/>
      </a:effectRef>
      <a:fontRef idx="minor"/>
    </dgm:style>
  </dgm:styleLbl>
  <dgm:styleLbl name="bgImgPlace1">
    <dgm:scene3d>
      <a:camera prst="orthographicFront"/>
      <a:lightRig rig="threePt" dir="t"/>
    </dgm:scene3d>
    <dgm:txPr/>
    <dgm:style>
      <a:lnRef idx="0">
        <a:scrgbClr r="0" g="0" b="0"/>
      </a:lnRef>
      <a:fillRef idx="1">
        <a:scrgbClr r="0" g="0" b="0"/>
      </a:fillRef>
      <a:effectRef idx="3">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2">
        <a:scrgbClr r="0" g="0" b="0"/>
      </a:effectRef>
      <a:fontRef idx="minor"/>
    </dgm:style>
  </dgm:styleLbl>
  <dgm:styleLbl name="bgSibTrans2D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callout">
    <dgm:scene3d>
      <a:camera prst="orthographicFront"/>
      <a:lightRig rig="threePt" dir="t"/>
    </dgm:scene3d>
    <dgm:txPr/>
    <dgm:style>
      <a:lnRef idx="1">
        <a:scrgbClr r="0" g="0" b="0"/>
      </a:lnRef>
      <a:fillRef idx="0">
        <a:scrgbClr r="0" g="0" b="0"/>
      </a:fillRef>
      <a:effectRef idx="1">
        <a:scrgbClr r="0" g="0" b="0"/>
      </a:effectRef>
      <a:fontRef idx="minor"/>
    </dgm:style>
  </dgm:styleLbl>
  <dgm:styleLbl name="conFgAcc1">
    <dgm:scene3d>
      <a:camera prst="orthographicFront"/>
      <a:lightRig rig="threePt" dir="t"/>
    </dgm:scene3d>
    <dgm:txPr/>
    <dgm:style>
      <a:lnRef idx="1">
        <a:scrgbClr r="0" g="0" b="0"/>
      </a:lnRef>
      <a:fillRef idx="1">
        <a:scrgbClr r="0" g="0" b="0"/>
      </a:fillRef>
      <a:effectRef idx="2">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3">
        <a:scrgbClr r="0" g="0" b="0"/>
      </a:effectRef>
      <a:fontRef idx="minor"/>
    </dgm:style>
  </dgm:styleLbl>
  <dgm:styleLbl name="fgAcc0">
    <dgm:scene3d>
      <a:camera prst="orthographicFront"/>
      <a:lightRig rig="threePt" dir="t"/>
    </dgm:scene3d>
    <dgm:txPr/>
    <dgm:style>
      <a:lnRef idx="1">
        <a:scrgbClr r="0" g="0" b="0"/>
      </a:lnRef>
      <a:fillRef idx="1">
        <a:scrgbClr r="0" g="0" b="0"/>
      </a:fillRef>
      <a:effectRef idx="2">
        <a:scrgbClr r="0" g="0" b="0"/>
      </a:effectRef>
      <a:fontRef idx="minor"/>
    </dgm:style>
  </dgm:styleLbl>
  <dgm:styleLbl name="fgAcc1">
    <dgm:scene3d>
      <a:camera prst="orthographicFront"/>
      <a:lightRig rig="threePt" dir="t"/>
    </dgm:scene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txPr/>
    <dgm:style>
      <a:lnRef idx="1">
        <a:scrgbClr r="0" g="0" b="0"/>
      </a:lnRef>
      <a:fillRef idx="1">
        <a:scrgbClr r="0" g="0" b="0"/>
      </a:fillRef>
      <a:effectRef idx="2">
        <a:scrgbClr r="0" g="0" b="0"/>
      </a:effectRef>
      <a:fontRef idx="minor"/>
    </dgm:style>
  </dgm:styleLbl>
  <dgm:styleLbl name="fgAccFollowNode1">
    <dgm:scene3d>
      <a:camera prst="orthographicFront"/>
      <a:lightRig rig="threePt" dir="t"/>
    </dgm:scene3d>
    <dgm:txPr/>
    <dgm:style>
      <a:lnRef idx="1">
        <a:scrgbClr r="0" g="0" b="0"/>
      </a:lnRef>
      <a:fillRef idx="1">
        <a:scrgbClr r="0" g="0" b="0"/>
      </a:fillRef>
      <a:effectRef idx="2">
        <a:scrgbClr r="0" g="0" b="0"/>
      </a:effectRef>
      <a:fontRef idx="minor"/>
    </dgm:style>
  </dgm:styleLbl>
  <dgm:styleLbl name="fgImgPlace1">
    <dgm:scene3d>
      <a:camera prst="orthographicFront"/>
      <a:lightRig rig="threePt" dir="t"/>
    </dgm:scene3d>
    <dgm:txPr/>
    <dgm:style>
      <a:lnRef idx="0">
        <a:scrgbClr r="0" g="0" b="0"/>
      </a:lnRef>
      <a:fillRef idx="1">
        <a:scrgbClr r="0" g="0" b="0"/>
      </a:fillRef>
      <a:effectRef idx="3">
        <a:scrgbClr r="0" g="0" b="0"/>
      </a:effectRef>
      <a:fontRef idx="minor"/>
    </dgm:style>
  </dgm:styleLbl>
  <dgm:styleLbl name="fgShp">
    <dgm:scene3d>
      <a:camera prst="orthographicFront"/>
      <a:lightRig rig="threePt" dir="t"/>
    </dgm:scene3d>
    <dgm:txPr/>
    <dgm:style>
      <a:lnRef idx="0">
        <a:scrgbClr r="0" g="0" b="0"/>
      </a:lnRef>
      <a:fillRef idx="3">
        <a:scrgbClr r="0" g="0" b="0"/>
      </a:fillRef>
      <a:effectRef idx="3">
        <a:scrgbClr r="0" g="0" b="0"/>
      </a:effectRef>
      <a:fontRef idx="minor"/>
    </dgm:style>
  </dgm:styleLbl>
  <dgm:styleLbl name="fgSibTrans2D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node0">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3">
        <a:scrgbClr r="0" g="0" b="0"/>
      </a:fillRef>
      <a:effectRef idx="3">
        <a:scrgbClr r="0" g="0" b="0"/>
      </a:effectRef>
      <a:fontRef idx="minor">
        <a:schemeClr val="lt1"/>
      </a:fontRef>
    </dgm:style>
  </dgm:styleLbl>
  <dgm:styleLbl name="solidAlignAcc1">
    <dgm:scene3d>
      <a:camera prst="orthographicFront"/>
      <a:lightRig rig="threePt" dir="t"/>
    </dgm:scene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txPr/>
    <dgm:style>
      <a:lnRef idx="1">
        <a:scrgbClr r="0" g="0" b="0"/>
      </a:lnRef>
      <a:fillRef idx="1">
        <a:scrgbClr r="0" g="0" b="0"/>
      </a:fillRef>
      <a:effectRef idx="3">
        <a:scrgbClr r="0" g="0" b="0"/>
      </a:effectRef>
      <a:fontRef idx="minor"/>
    </dgm:style>
  </dgm:styleLbl>
  <dgm:styleLbl name="solidFgAcc1">
    <dgm:scene3d>
      <a:camera prst="orthographicFront"/>
      <a:lightRig rig="threePt" dir="t"/>
    </dgm:scene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0">
        <a:scrgbClr r="0" g="0" b="0"/>
      </a:lnRef>
      <a:fillRef idx="3">
        <a:scrgbClr r="0" g="0" b="0"/>
      </a:fillRef>
      <a:effectRef idx="3">
        <a:scrgbClr r="0" g="0" b="0"/>
      </a:effectRef>
      <a:fontRef idx="minor">
        <a:schemeClr val="tx1"/>
      </a:fontRef>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AE5040-40BB-478E-83FD-8933ABF738AC}" type="datetimeFigureOut">
              <a:rPr lang="zh-TW" altLang="en-US" smtClean="0"/>
            </a:fld>
            <a:endParaRPr lang="zh-TW" altLang="en-US"/>
          </a:p>
        </p:txBody>
      </p:sp>
      <p:sp>
        <p:nvSpPr>
          <p:cNvPr id="4" name="投影片影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按一下以編輯母片文字樣式</a:t>
            </a:r>
            <a:endParaRPr lang="zh-TW" altLang="en-US"/>
          </a:p>
          <a:p>
            <a:pPr lvl="1"/>
            <a:r>
              <a:rPr lang="zh-TW" altLang="en-US"/>
              <a:t>第二層</a:t>
            </a:r>
            <a:endParaRPr lang="zh-TW" altLang="en-US"/>
          </a:p>
          <a:p>
            <a:pPr lvl="2"/>
            <a:r>
              <a:rPr lang="zh-TW" altLang="en-US"/>
              <a:t>第三層</a:t>
            </a:r>
            <a:endParaRPr lang="zh-TW" altLang="en-US"/>
          </a:p>
          <a:p>
            <a:pPr lvl="3"/>
            <a:r>
              <a:rPr lang="zh-TW" altLang="en-US"/>
              <a:t>第四層</a:t>
            </a:r>
            <a:endParaRPr lang="zh-TW" altLang="en-US"/>
          </a:p>
          <a:p>
            <a:pPr lvl="4"/>
            <a:r>
              <a:rPr lang="zh-TW" altLang="en-US"/>
              <a:t>第五層</a:t>
            </a:r>
            <a:endParaRPr lang="zh-TW" altLang="en-US"/>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DA5693-4DAE-4431-B0C6-A72D8B2D6A35}" type="slidenum">
              <a:rPr lang="zh-TW" altLang="en-US" smtClean="0"/>
            </a:fld>
            <a:endParaRPr lang="zh-TW"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6" Type="http://schemas.openxmlformats.org/officeDocument/2006/relationships/hyperlink" Target="https://www.langchain.com/langgraph" TargetMode="External"/><Relationship Id="rId5" Type="http://schemas.openxmlformats.org/officeDocument/2006/relationships/hyperlink" Target="https://www.llamaindex.ai/" TargetMode="External"/><Relationship Id="rId4" Type="http://schemas.openxmlformats.org/officeDocument/2006/relationships/hyperlink" Target="https://huggingface.co/docs/smolagents/en/index" TargetMode="External"/><Relationship Id="rId3" Type="http://schemas.openxmlformats.org/officeDocument/2006/relationships/hyperlink" Target="https://huggingface.co/learn/agents-course/en/unit0/introduction" TargetMode="External"/><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huggingface.co/datasets/empathetic_dialogues?fbclid=IwAR39S3gBZgK1C2Ry6jqszso4Ni0g0cM0rxXD3bSFayzoM44Syv4EfCPrxo4" TargetMode="External"/><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minimaxir.com/2024/02/chatgpt-tips-analysis/?ref=blog.langchain.com" TargetMode="External"/><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s://www.dbreunig.com/2025/06/22/how-contexts-fail-and-how-to-fix-them.html" TargetMode="External"/><Relationship Id="rId2" Type="http://schemas.openxmlformats.org/officeDocument/2006/relationships/notesMaster" Target="../notesMasters/notesMaster1.xml"/><Relationship Id="rId1" Type="http://schemas.openxmlformats.org/officeDocument/2006/relationships/slide" Target="../slides/slide48.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www.dbreunig.com/2025/06/17/an-agentic-case-study-playing-pok%C3%A9mon-with-gemini.html" TargetMode="External"/><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3.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9.xml"/></Relationships>
</file>

<file path=ppt/notesSlides/_rels/notesSlide30.xml.rels><?xml version="1.0" encoding="UTF-8" standalone="yes"?>
<Relationships xmlns="http://schemas.openxmlformats.org/package/2006/relationships"><Relationship Id="rId7" Type="http://schemas.openxmlformats.org/officeDocument/2006/relationships/hyperlink" Target="https://alignment.anthropic.com/2025/summarization-for-monitoring/?ref=blog.langchain.com#:~:text=We%20addressed%20these%20issues%20by,of%20our%20computer%20use%20capability" TargetMode="External"/><Relationship Id="rId6" Type="http://schemas.openxmlformats.org/officeDocument/2006/relationships/hyperlink" Target="https://arxiv.org/pdf/2308.15022?ref=blog.langchain.com#:~:text=the%20retrieved%20utterances%20capture%20the,based%203" TargetMode="External"/><Relationship Id="rId5" Type="http://schemas.openxmlformats.org/officeDocument/2006/relationships/hyperlink" Target="https://langchain-ai.github.io/langgraph/concepts/memory/?ref=blog.langchain.com&amp;ajs_aid=1e13411d-d395-49df-9909-7695f4184cc5#manage-short-term-memory" TargetMode="External"/><Relationship Id="rId4" Type="http://schemas.openxmlformats.org/officeDocument/2006/relationships/hyperlink" Target="https://docs.anthropic.com/en/docs/claude-code/costs?ref=blog.langchain.com" TargetMode="External"/><Relationship Id="rId3" Type="http://schemas.openxmlformats.org/officeDocument/2006/relationships/hyperlink" Target="https://www.anthropic.com/engineering/built-multi-agent-research-system?ref=blog.langchain.com" TargetMode="External"/><Relationship Id="rId2" Type="http://schemas.openxmlformats.org/officeDocument/2006/relationships/notesMaster" Target="../notesMasters/notesMaster1.xml"/><Relationship Id="rId1" Type="http://schemas.openxmlformats.org/officeDocument/2006/relationships/slide" Target="../slides/slide67.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8.xml"/></Relationships>
</file>

<file path=ppt/notesSlides/_rels/notesSlide32.xml.rels><?xml version="1.0" encoding="UTF-8" standalone="yes"?>
<Relationships xmlns="http://schemas.openxmlformats.org/package/2006/relationships"><Relationship Id="rId7" Type="http://schemas.openxmlformats.org/officeDocument/2006/relationships/hyperlink" Target="https://alignment.anthropic.com/2025/summarization-for-monitoring/?ref=blog.langchain.com#:~:text=We%20addressed%20these%20issues%20by,of%20our%20computer%20use%20capability" TargetMode="External"/><Relationship Id="rId6" Type="http://schemas.openxmlformats.org/officeDocument/2006/relationships/hyperlink" Target="https://arxiv.org/pdf/2308.15022?ref=blog.langchain.com#:~:text=the%20retrieved%20utterances%20capture%20the,based%203" TargetMode="External"/><Relationship Id="rId5" Type="http://schemas.openxmlformats.org/officeDocument/2006/relationships/hyperlink" Target="https://langchain-ai.github.io/langgraph/concepts/memory/?ref=blog.langchain.com&amp;ajs_aid=1e13411d-d395-49df-9909-7695f4184cc5#manage-short-term-memory" TargetMode="External"/><Relationship Id="rId4" Type="http://schemas.openxmlformats.org/officeDocument/2006/relationships/hyperlink" Target="https://docs.anthropic.com/en/docs/claude-code/costs?ref=blog.langchain.com" TargetMode="External"/><Relationship Id="rId3" Type="http://schemas.openxmlformats.org/officeDocument/2006/relationships/hyperlink" Target="https://www.anthropic.com/engineering/built-multi-agent-research-system?ref=blog.langchain.com" TargetMode="External"/><Relationship Id="rId2" Type="http://schemas.openxmlformats.org/officeDocument/2006/relationships/notesMaster" Target="../notesMasters/notesMaster1.xml"/><Relationship Id="rId1" Type="http://schemas.openxmlformats.org/officeDocument/2006/relationships/slide" Target="../slides/slide70.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2.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3.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4.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blog.langchain.com/benchmarking-multi-agent-architectures/" TargetMode="External"/><Relationship Id="rId2" Type="http://schemas.openxmlformats.org/officeDocument/2006/relationships/notesMaster" Target="../notesMasters/notesMaster1.xml"/><Relationship Id="rId1" Type="http://schemas.openxmlformats.org/officeDocument/2006/relationships/slide" Target="../slides/slide7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TW" sz="1200" b="0" i="0" kern="1200" dirty="0">
                <a:solidFill>
                  <a:schemeClr val="tx1"/>
                </a:solidFill>
                <a:effectLst/>
                <a:latin typeface="+mn-lt"/>
                <a:ea typeface="+mn-ea"/>
                <a:cs typeface="+mn-cs"/>
              </a:rPr>
              <a:t>hungyilee@eduroam.ntu.edu.tw</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Can LLMs Really Learn to Translate a Low-Resource Language from One Grammar Book?</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zh-TW" altLang="en-US" dirty="0"/>
              <a:t>到底要不要講 </a:t>
            </a:r>
            <a:r>
              <a:rPr lang="en-US" altLang="zh-TW" dirty="0"/>
              <a:t>MCP</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Waiting: prompt for computer use</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Todo: </a:t>
            </a:r>
            <a:r>
              <a:rPr lang="zh-TW" altLang="en-US" dirty="0"/>
              <a:t>沒有定義到 </a:t>
            </a:r>
            <a:r>
              <a:rPr lang="en-US" altLang="zh-TW" dirty="0"/>
              <a:t>context window</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Todo: MCP, A2A</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zh-TW" altLang="en-US" dirty="0"/>
              <a:t>https://www.dbreunig.com/2025/03/18/mcps-are-apis-for-llms.html</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HF course: https://huggingface.co/learn/mcp-course/unit0/introduction</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https://vocus.cc/article/67eac9cefd89780001bacf83</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zh-TW" altLang="en-US" dirty="0"/>
              <a:t>要不要放 </a:t>
            </a:r>
            <a:r>
              <a:rPr lang="en-US" altLang="zh-TW" b="1" dirty="0"/>
              <a:t>Provence </a:t>
            </a:r>
            <a:r>
              <a:rPr lang="zh-TW" altLang="en-US" b="1" dirty="0"/>
              <a:t>的結果</a:t>
            </a:r>
            <a:endParaRPr lang="zh-TW" altLang="en-US" dirty="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Todo: </a:t>
            </a:r>
            <a:r>
              <a:rPr lang="zh-TW" altLang="en-US" dirty="0"/>
              <a:t>兩個模型一起玩</a:t>
            </a:r>
            <a:r>
              <a:rPr lang="en-US" altLang="zh-TW" dirty="0"/>
              <a:t>? Text </a:t>
            </a:r>
            <a:r>
              <a:rPr lang="zh-TW" altLang="en-US" dirty="0"/>
              <a:t>文字冒險遊戲</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Todo: Can LLMs Really Learn to Translate a Low-Resource Language from One Grammar Book?</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Todo:</a:t>
            </a:r>
            <a:r>
              <a:rPr lang="zh-TW" altLang="en-US" dirty="0"/>
              <a:t> 範例提供了標準 </a:t>
            </a:r>
            <a:r>
              <a:rPr lang="en-US" altLang="zh-TW" dirty="0"/>
              <a:t>(</a:t>
            </a:r>
            <a:r>
              <a:rPr lang="zh-TW" altLang="en-US" dirty="0"/>
              <a:t>要不要一頁投影片說明</a:t>
            </a:r>
            <a:r>
              <a:rPr lang="en-US" altLang="zh-TW" dirty="0"/>
              <a:t>)</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Todo: </a:t>
            </a:r>
            <a:r>
              <a:rPr lang="zh-TW" altLang="en-US" dirty="0"/>
              <a:t>需要更詳細的介紹 </a:t>
            </a:r>
            <a:r>
              <a:rPr lang="en-US" altLang="zh-TW" dirty="0"/>
              <a:t>AI</a:t>
            </a:r>
            <a:r>
              <a:rPr lang="zh-TW" altLang="en-US" dirty="0"/>
              <a:t> </a:t>
            </a:r>
            <a:r>
              <a:rPr lang="en-US" altLang="zh-TW" dirty="0"/>
              <a:t>Agent </a:t>
            </a:r>
            <a:r>
              <a:rPr lang="zh-TW" altLang="en-US" dirty="0"/>
              <a:t>嗎</a:t>
            </a:r>
            <a:r>
              <a:rPr lang="en-US" altLang="zh-TW" dirty="0"/>
              <a:t>?</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Todo:</a:t>
            </a:r>
            <a:r>
              <a:rPr lang="zh-TW" altLang="en-US" dirty="0"/>
              <a:t>負面樣本對應 </a:t>
            </a:r>
            <a:r>
              <a:rPr lang="en-US" altLang="zh-TW" dirty="0" err="1"/>
              <a:t>gemini</a:t>
            </a:r>
            <a:r>
              <a:rPr lang="en-US" altLang="zh-TW" dirty="0"/>
              <a:t> </a:t>
            </a:r>
            <a:r>
              <a:rPr lang="zh-TW" altLang="en-US" dirty="0"/>
              <a:t>寶可夢的例子</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Todo: </a:t>
            </a:r>
            <a:r>
              <a:rPr lang="zh-TW" altLang="en-US" dirty="0"/>
              <a:t>要不要講 </a:t>
            </a:r>
            <a:r>
              <a:rPr lang="en-US" altLang="zh-TW" dirty="0"/>
              <a:t>lost in the middle </a:t>
            </a:r>
            <a:r>
              <a:rPr lang="zh-TW" altLang="en-US" dirty="0"/>
              <a:t>和 </a:t>
            </a:r>
            <a:r>
              <a:rPr lang="en-US" altLang="zh-TW" dirty="0"/>
              <a:t>context engineering </a:t>
            </a:r>
            <a:r>
              <a:rPr lang="zh-TW" altLang="en-US" dirty="0"/>
              <a:t>的關係</a:t>
            </a:r>
            <a:endParaRPr lang="zh-TW" altLang="en-US" dirty="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zh-TW" altLang="en-US" dirty="0"/>
              <a:t>＝＝＝</a:t>
            </a:r>
            <a:endParaRPr lang="en-US" altLang="zh-TW" dirty="0"/>
          </a:p>
          <a:p>
            <a:r>
              <a:rPr lang="en-US" altLang="zh-TW" dirty="0"/>
              <a:t>AI Agent course of HF: </a:t>
            </a:r>
            <a:r>
              <a:rPr lang="en-US" altLang="zh-TW" dirty="0">
                <a:hlinkClick r:id="rId3"/>
              </a:rPr>
              <a:t>https://huggingface.co/learn/agents-course/en/unit0/introduction</a:t>
            </a:r>
            <a:endParaRPr lang="en-US" altLang="zh-TW" dirty="0"/>
          </a:p>
          <a:p>
            <a:r>
              <a:rPr lang="en-US" altLang="zh-TW" dirty="0"/>
              <a:t>MCP: HF course: https://huggingface.co/learn/mcp-course/unit0/introduction</a:t>
            </a:r>
            <a:endParaRPr lang="zh-TW" altLang="en-US" dirty="0"/>
          </a:p>
          <a:p>
            <a:r>
              <a:rPr lang="en-US" altLang="zh-TW" dirty="0" err="1"/>
              <a:t>Antropic</a:t>
            </a:r>
            <a:r>
              <a:rPr lang="zh-TW" altLang="en-US" dirty="0"/>
              <a:t> </a:t>
            </a:r>
            <a:r>
              <a:rPr lang="en-US" altLang="zh-TW" dirty="0"/>
              <a:t>multi-agent blog: https://www.anthropic.com/engineering/built-multi-agent-research-system</a:t>
            </a:r>
            <a:endParaRPr lang="zh-TW" altLang="en-US" dirty="0"/>
          </a:p>
          <a:p>
            <a:pPr marL="0" marR="0" lvl="0" indent="0" algn="l" defTabSz="914400" rtl="0" eaLnBrk="1" fontAlgn="auto" latinLnBrk="0" hangingPunct="1">
              <a:lnSpc>
                <a:spcPct val="100000"/>
              </a:lnSpc>
              <a:spcBef>
                <a:spcPts val="0"/>
              </a:spcBef>
              <a:spcAft>
                <a:spcPts val="0"/>
              </a:spcAft>
              <a:buClrTx/>
              <a:buSzTx/>
              <a:buFontTx/>
              <a:buNone/>
              <a:defRPr/>
            </a:pPr>
            <a:r>
              <a:rPr lang="zh-TW" altLang="en-US" dirty="0"/>
              <a:t>＝＝＝</a:t>
            </a:r>
            <a:endParaRPr lang="en-US" altLang="zh-TW" dirty="0"/>
          </a:p>
          <a:p>
            <a:r>
              <a:rPr lang="en-US" altLang="zh-TW" dirty="0"/>
              <a:t>We will study:</a:t>
            </a:r>
            <a:endParaRPr lang="en-US" altLang="zh-TW" dirty="0"/>
          </a:p>
          <a:p>
            <a:r>
              <a:rPr lang="en-US" altLang="zh-TW" dirty="0"/>
              <a:t>In Unit 2.1: </a:t>
            </a:r>
            <a:r>
              <a:rPr lang="en-US" altLang="zh-TW" u="sng" dirty="0" err="1">
                <a:hlinkClick r:id="rId4"/>
              </a:rPr>
              <a:t>smolagents</a:t>
            </a:r>
            <a:endParaRPr lang="en-US" altLang="zh-TW" dirty="0"/>
          </a:p>
          <a:p>
            <a:r>
              <a:rPr lang="en-US" altLang="zh-TW" dirty="0"/>
              <a:t>In Unit 2.2: </a:t>
            </a:r>
            <a:r>
              <a:rPr lang="en-US" altLang="zh-TW" u="sng" dirty="0" err="1">
                <a:hlinkClick r:id="rId5"/>
              </a:rPr>
              <a:t>LlamaIndex</a:t>
            </a:r>
            <a:endParaRPr lang="en-US" altLang="zh-TW" dirty="0"/>
          </a:p>
          <a:p>
            <a:r>
              <a:rPr lang="en-US" altLang="zh-TW" dirty="0"/>
              <a:t>In Unit 2.3: </a:t>
            </a:r>
            <a:r>
              <a:rPr lang="en-US" altLang="zh-TW" u="sng" dirty="0">
                <a:hlinkClick r:id="rId6"/>
              </a:rPr>
              <a:t>LangGraph</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26AB1BD-4F7F-419C-AA50-21DFF22F7D63}" type="slidenum">
              <a:rPr kumimoji="0" lang="zh-TW" altLang="en-US" sz="1200" b="0" i="0" u="none" strike="noStrike" kern="1200" cap="none" spc="0" normalizeH="0" baseline="0" noProof="0" smtClean="0">
                <a:ln>
                  <a:noFill/>
                </a:ln>
                <a:solidFill>
                  <a:prstClr val="black"/>
                </a:solidFill>
                <a:effectLst/>
                <a:uLnTx/>
                <a:uFillTx/>
                <a:latin typeface="Aptos" panose="02110004020202020204"/>
                <a:ea typeface="PMingLiU" panose="02020500000000000000" pitchFamily="18" charset="-120"/>
                <a:cs typeface="+mn-cs"/>
              </a:rPr>
            </a:fld>
            <a:endParaRPr kumimoji="0" lang="zh-TW" altLang="en-US" sz="1200" b="0" i="0" u="none" strike="noStrike" kern="1200" cap="none" spc="0" normalizeH="0" baseline="0" noProof="0">
              <a:ln>
                <a:noFill/>
              </a:ln>
              <a:solidFill>
                <a:prstClr val="black"/>
              </a:solidFill>
              <a:effectLst/>
              <a:uLnTx/>
              <a:uFillTx/>
              <a:latin typeface="Aptos" panose="02110004020202020204"/>
              <a:ea typeface="PMingLiU" panose="02020500000000000000" pitchFamily="18" charset="-12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sz="1200" dirty="0">
                <a:latin typeface="Microsoft JhengHei" panose="020B0604030504040204" pitchFamily="34" charset="-120"/>
                <a:ea typeface="Microsoft JhengHei" panose="020B0604030504040204" pitchFamily="34" charset="-120"/>
              </a:rPr>
              <a:t>就好像把 </a:t>
            </a:r>
            <a:r>
              <a:rPr lang="en-US" altLang="zh-TW" sz="1200" dirty="0">
                <a:latin typeface="Microsoft JhengHei" panose="020B0604030504040204" pitchFamily="34" charset="-120"/>
                <a:ea typeface="Microsoft JhengHei" panose="020B0604030504040204" pitchFamily="34" charset="-120"/>
              </a:rPr>
              <a:t>Neural Network </a:t>
            </a:r>
            <a:r>
              <a:rPr lang="zh-TW" altLang="en-US" sz="1200" dirty="0">
                <a:latin typeface="Microsoft JhengHei" panose="020B0604030504040204" pitchFamily="34" charset="-120"/>
                <a:ea typeface="Microsoft JhengHei" panose="020B0604030504040204" pitchFamily="34" charset="-120"/>
              </a:rPr>
              <a:t>叫做 </a:t>
            </a:r>
            <a:r>
              <a:rPr lang="en-US" altLang="zh-TW" sz="1200" dirty="0">
                <a:latin typeface="Microsoft JhengHei" panose="020B0604030504040204" pitchFamily="34" charset="-120"/>
                <a:ea typeface="Microsoft JhengHei" panose="020B0604030504040204" pitchFamily="34" charset="-120"/>
              </a:rPr>
              <a:t>Deep Learning </a:t>
            </a:r>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algn="l"/>
            <a:endParaRPr lang="zh-TW" altLang="en-US" b="0" i="0" dirty="0">
              <a:solidFill>
                <a:srgbClr val="1C1E21"/>
              </a:solidFill>
              <a:effectLst/>
              <a:latin typeface="inherit"/>
            </a:endParaRPr>
          </a:p>
          <a:p>
            <a:pPr algn="l"/>
            <a:r>
              <a:rPr lang="zh-TW" altLang="en-US" b="0" i="0" dirty="0">
                <a:solidFill>
                  <a:srgbClr val="1C1E21"/>
                </a:solidFill>
                <a:effectLst/>
                <a:latin typeface="inherit"/>
              </a:rPr>
              <a:t>看來是這個</a:t>
            </a:r>
            <a:r>
              <a:rPr lang="en-US" altLang="zh-TW" b="0" i="0" dirty="0">
                <a:solidFill>
                  <a:srgbClr val="1C1E21"/>
                </a:solidFill>
                <a:effectLst/>
                <a:latin typeface="inherit"/>
              </a:rPr>
              <a:t>: </a:t>
            </a:r>
            <a:r>
              <a:rPr lang="en-US" altLang="zh-TW" b="0" i="0" u="sng" dirty="0">
                <a:solidFill>
                  <a:srgbClr val="1C1E21"/>
                </a:solidFill>
                <a:effectLst/>
                <a:latin typeface="inherit"/>
                <a:hlinkClick r:id="rId3"/>
              </a:rPr>
              <a:t>https://huggingface.co/datasets/empathetic_dialogues</a:t>
            </a:r>
            <a:endParaRPr lang="en-US" altLang="zh-TW" b="0" i="0" u="sng" dirty="0">
              <a:solidFill>
                <a:srgbClr val="1C1E21"/>
              </a:solidFill>
              <a:effectLst/>
              <a:latin typeface="inherit"/>
            </a:endParaRPr>
          </a:p>
          <a:p>
            <a:pPr algn="l"/>
            <a:r>
              <a:rPr lang="zh-TW" altLang="en-US" b="0" i="0" dirty="0">
                <a:solidFill>
                  <a:srgbClr val="202124"/>
                </a:solidFill>
                <a:effectLst/>
                <a:latin typeface="Google Sans"/>
              </a:rPr>
              <a:t>鄭承櫸</a:t>
            </a:r>
            <a:endParaRPr lang="zh-TW" altLang="en-US" b="0" i="0" dirty="0">
              <a:solidFill>
                <a:srgbClr val="1C1E21"/>
              </a:solidFill>
              <a:effectLst/>
              <a:latin typeface="inherit"/>
            </a:endParaRPr>
          </a:p>
          <a:p>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3BC02459-C233-4809-96A6-E4C316B742BE}" type="slidenum">
              <a:rPr kumimoji="0" lang="zh-TW" altLang="en-US" sz="1200" b="0" i="0" u="none" strike="noStrike" kern="1200" cap="none" spc="0" normalizeH="0" baseline="0" noProof="0" smtClean="0">
                <a:ln>
                  <a:noFill/>
                </a:ln>
                <a:solidFill>
                  <a:prstClr val="black"/>
                </a:solidFill>
                <a:effectLst/>
                <a:uLnTx/>
                <a:uFillTx/>
                <a:latin typeface="Calibri" panose="020F0502020204030204"/>
                <a:ea typeface="PMingLiU" panose="02020500000000000000" pitchFamily="18" charset="-120"/>
                <a:cs typeface="+mn-cs"/>
              </a:rPr>
            </a:fld>
            <a:endParaRPr kumimoji="0" lang="zh-TW" altLang="en-US" sz="1200" b="0" i="0" u="none" strike="noStrike" kern="1200" cap="none" spc="0" normalizeH="0" baseline="0" noProof="0">
              <a:ln>
                <a:noFill/>
              </a:ln>
              <a:solidFill>
                <a:prstClr val="black"/>
              </a:solidFill>
              <a:effectLst/>
              <a:uLnTx/>
              <a:uFillTx/>
              <a:latin typeface="Calibri" panose="020F0502020204030204"/>
              <a:ea typeface="PMingLiU" panose="02020500000000000000" pitchFamily="18" charset="-120"/>
              <a:cs typeface="+mn-c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hlinkClick r:id="rId3"/>
              </a:rPr>
              <a:t>https://minimaxir.com/2024/02/chatgpt-tips-analysis/?ref=blog.langchain.com</a:t>
            </a:r>
            <a:endParaRPr lang="en-US" altLang="zh-TW" dirty="0"/>
          </a:p>
          <a:p>
            <a:endParaRPr lang="en-US" altLang="zh-TW" dirty="0"/>
          </a:p>
          <a:p>
            <a:r>
              <a:rPr lang="en-US" altLang="zh-TW" dirty="0"/>
              <a:t>As models improve, prompt engineering tricks like</a:t>
            </a:r>
            <a:r>
              <a:rPr lang="en-US" altLang="zh-TW" b="1" dirty="0">
                <a:hlinkClick r:id="rId3"/>
              </a:rPr>
              <a:t> </a:t>
            </a:r>
            <a:r>
              <a:rPr lang="en-US" altLang="zh-TW" b="1" u="sng" dirty="0">
                <a:hlinkClick r:id="rId3"/>
              </a:rPr>
              <a:t>bribing an LLM with a tip</a:t>
            </a:r>
            <a:r>
              <a:rPr lang="en-US" altLang="zh-TW" dirty="0"/>
              <a:t> or worrying about JSON vs XML formatting will become near obsolete.</a:t>
            </a:r>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b="1" dirty="0"/>
              <a:t>Instructions / System Prompt</a:t>
            </a:r>
            <a:r>
              <a:rPr lang="en-US" altLang="zh-TW" dirty="0"/>
              <a:t>: </a:t>
            </a:r>
            <a:r>
              <a:rPr lang="zh-TW" altLang="en-US" dirty="0"/>
              <a:t>定義模型行為的初始指令和風格</a:t>
            </a:r>
            <a:endParaRPr lang="zh-TW" altLang="en-US" dirty="0"/>
          </a:p>
          <a:p>
            <a:r>
              <a:rPr lang="en-US" altLang="zh-TW" b="1" dirty="0"/>
              <a:t>User Prompt / User Input</a:t>
            </a:r>
            <a:r>
              <a:rPr lang="en-US" altLang="zh-TW" dirty="0"/>
              <a:t>: </a:t>
            </a:r>
            <a:r>
              <a:rPr lang="zh-TW" altLang="en-US" dirty="0"/>
              <a:t>使用者的請求、問題或輸入</a:t>
            </a:r>
            <a:endParaRPr lang="zh-TW" altLang="en-US" dirty="0"/>
          </a:p>
          <a:p>
            <a:r>
              <a:rPr lang="en-US" altLang="zh-TW" b="1" dirty="0"/>
              <a:t>State / History</a:t>
            </a:r>
            <a:r>
              <a:rPr lang="en-US" altLang="zh-TW" dirty="0"/>
              <a:t>: </a:t>
            </a:r>
            <a:r>
              <a:rPr lang="zh-TW" altLang="en-US" dirty="0"/>
              <a:t>當前對話的聊天歷史，包含所有使用者和模型的回應，這又叫做「短期記憶」</a:t>
            </a:r>
            <a:endParaRPr lang="zh-TW" altLang="en-US" dirty="0"/>
          </a:p>
          <a:p>
            <a:r>
              <a:rPr lang="en-US" altLang="zh-TW" b="1" dirty="0"/>
              <a:t>Long-Term Memory</a:t>
            </a:r>
            <a:r>
              <a:rPr lang="en-US" altLang="zh-TW" dirty="0"/>
              <a:t>: </a:t>
            </a:r>
            <a:r>
              <a:rPr lang="zh-TW" altLang="en-US" dirty="0"/>
              <a:t>跨對話的持久知識庫，包含學習到的使用者偏好、過去對話摘要、被告知要記住的事實，這又叫做「長期記憶」</a:t>
            </a:r>
            <a:endParaRPr lang="zh-TW" altLang="en-US" dirty="0"/>
          </a:p>
          <a:p>
            <a:r>
              <a:rPr lang="en-US" altLang="zh-TW" b="1" dirty="0"/>
              <a:t>Retrieved Information (RAG)</a:t>
            </a:r>
            <a:r>
              <a:rPr lang="en-US" altLang="zh-TW" dirty="0"/>
              <a:t>: </a:t>
            </a:r>
            <a:r>
              <a:rPr lang="zh-TW" altLang="en-US" dirty="0"/>
              <a:t>外部的最新知識，從文件、資料庫或 </a:t>
            </a:r>
            <a:r>
              <a:rPr lang="en-US" altLang="zh-TW" dirty="0"/>
              <a:t>API </a:t>
            </a:r>
            <a:r>
              <a:rPr lang="zh-TW" altLang="en-US" dirty="0"/>
              <a:t>檢索的相關資訊</a:t>
            </a:r>
            <a:endParaRPr lang="zh-TW" altLang="en-US" dirty="0"/>
          </a:p>
          <a:p>
            <a:r>
              <a:rPr lang="en-US" altLang="zh-TW" b="1" dirty="0"/>
              <a:t>Available Tools</a:t>
            </a:r>
            <a:r>
              <a:rPr lang="en-US" altLang="zh-TW" dirty="0"/>
              <a:t>: </a:t>
            </a:r>
            <a:r>
              <a:rPr lang="zh-TW" altLang="en-US" dirty="0"/>
              <a:t>所有可呼叫的函數或工具定義</a:t>
            </a:r>
            <a:endParaRPr lang="zh-TW" altLang="en-US" dirty="0"/>
          </a:p>
          <a:p>
            <a:r>
              <a:rPr lang="en-US" altLang="zh-TW" b="1" dirty="0"/>
              <a:t>Responses from tools</a:t>
            </a:r>
            <a:r>
              <a:rPr lang="en-US" altLang="zh-TW" dirty="0"/>
              <a:t>: </a:t>
            </a:r>
            <a:r>
              <a:rPr lang="zh-TW" altLang="en-US" dirty="0"/>
              <a:t>工具執行的結果</a:t>
            </a:r>
            <a:endParaRPr lang="zh-TW" altLang="en-US" dirty="0"/>
          </a:p>
          <a:p>
            <a:r>
              <a:rPr lang="en-US" altLang="zh-TW" b="1" dirty="0"/>
              <a:t>Structured Output</a:t>
            </a:r>
            <a:r>
              <a:rPr lang="en-US" altLang="zh-TW" dirty="0"/>
              <a:t>: </a:t>
            </a:r>
            <a:r>
              <a:rPr lang="zh-TW" altLang="en-US" dirty="0"/>
              <a:t>定義模型回應格式，例如 </a:t>
            </a:r>
            <a:r>
              <a:rPr lang="en-US" altLang="zh-TW" dirty="0"/>
              <a:t>JSON </a:t>
            </a:r>
            <a:r>
              <a:rPr lang="zh-TW" altLang="en-US" dirty="0"/>
              <a:t>或 </a:t>
            </a:r>
            <a:r>
              <a:rPr lang="en-US" altLang="zh-TW" dirty="0"/>
              <a:t>XML</a:t>
            </a:r>
            <a:endParaRPr lang="en-US" altLang="zh-TW" dirty="0"/>
          </a:p>
          <a:p>
            <a:r>
              <a:rPr lang="en-US" altLang="zh-TW" b="1" dirty="0"/>
              <a:t>Global State / Workflow Context</a:t>
            </a:r>
            <a:r>
              <a:rPr lang="en-US" altLang="zh-TW" dirty="0"/>
              <a:t>: </a:t>
            </a:r>
            <a:r>
              <a:rPr lang="zh-TW" altLang="en-US" dirty="0"/>
              <a:t>在多步驟驟 </a:t>
            </a:r>
            <a:r>
              <a:rPr lang="en-US" altLang="zh-TW" dirty="0"/>
              <a:t>Agent </a:t>
            </a:r>
            <a:r>
              <a:rPr lang="zh-TW" altLang="en-US" dirty="0"/>
              <a:t>或 </a:t>
            </a:r>
            <a:r>
              <a:rPr lang="en-US" altLang="zh-TW" dirty="0"/>
              <a:t>Workflow </a:t>
            </a:r>
            <a:r>
              <a:rPr lang="zh-TW" altLang="en-US" dirty="0"/>
              <a:t>中，暫存全域變數、任務進度、先前結果等等。</a:t>
            </a:r>
            <a:endParaRPr lang="zh-TW" altLang="en-US" dirty="0"/>
          </a:p>
          <a:p>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algn="ctr"/>
            <a:r>
              <a:rPr lang="zh-TW" altLang="en-US" sz="1200" dirty="0">
                <a:latin typeface="Microsoft JhengHei" panose="020B0604030504040204" pitchFamily="34" charset="-120"/>
                <a:ea typeface="Microsoft JhengHei" panose="020B0604030504040204" pitchFamily="34" charset="-120"/>
              </a:rPr>
              <a:t>把大型語言模型想成一個在線的工讀生</a:t>
            </a:r>
            <a:endParaRPr lang="zh-TW" altLang="en-US" sz="1200" dirty="0">
              <a:latin typeface="Microsoft JhengHei" panose="020B0604030504040204" pitchFamily="34" charset="-120"/>
              <a:ea typeface="Microsoft JhengHei" panose="020B0604030504040204" pitchFamily="34" charset="-120"/>
            </a:endParaRPr>
          </a:p>
          <a:p>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B30D3A2D-B4B4-44FE-AA86-AB8E2DF68F9F}" type="slidenum">
              <a:rPr kumimoji="0" lang="zh-TW" altLang="en-US" sz="1200" b="0" i="0" u="none" strike="noStrike" kern="1200" cap="none" spc="0" normalizeH="0" baseline="0" noProof="0" smtClean="0">
                <a:ln>
                  <a:noFill/>
                </a:ln>
                <a:solidFill>
                  <a:prstClr val="black"/>
                </a:solidFill>
                <a:effectLst/>
                <a:uLnTx/>
                <a:uFillTx/>
                <a:latin typeface="Aptos" panose="02110004020202020204"/>
                <a:ea typeface="PMingLiU" panose="02020500000000000000" pitchFamily="18" charset="-120"/>
                <a:cs typeface="+mn-cs"/>
              </a:rPr>
            </a:fld>
            <a:endParaRPr kumimoji="0" lang="zh-TW" altLang="en-US" sz="1200" b="0" i="0" u="none" strike="noStrike" kern="1200" cap="none" spc="0" normalizeH="0" baseline="0" noProof="0">
              <a:ln>
                <a:noFill/>
              </a:ln>
              <a:solidFill>
                <a:prstClr val="black"/>
              </a:solidFill>
              <a:effectLst/>
              <a:uLnTx/>
              <a:uFillTx/>
              <a:latin typeface="Aptos" panose="02110004020202020204"/>
              <a:ea typeface="PMingLiU" panose="02020500000000000000" pitchFamily="18" charset="-120"/>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TW" b="0" i="0" dirty="0">
                <a:solidFill>
                  <a:srgbClr val="212529"/>
                </a:solidFill>
                <a:effectLst/>
                <a:latin typeface="-apple-system"/>
              </a:rPr>
              <a:t>The mystery is that the LM isn’t trained to learn from examples. Because of this, there’s seemingly a mismatch between pretraining (what it’s trained to do, which is next token prediction) and in-context learning (what we’re asking it to do).</a:t>
            </a:r>
            <a:endParaRPr lang="en-US" altLang="zh-TW" b="0" i="0" dirty="0">
              <a:solidFill>
                <a:srgbClr val="212529"/>
              </a:solidFill>
              <a:effectLst/>
              <a:latin typeface="-apple-system"/>
            </a:endParaRPr>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http://ai.stanford.edu/blog/understanding-incontext/</a:t>
            </a:r>
            <a:endParaRPr lang="zh-TW" altLang="en-US" dirty="0"/>
          </a:p>
          <a:p>
            <a:pPr marL="0" marR="0" lvl="0" indent="0" algn="l" defTabSz="914400" rtl="0" eaLnBrk="1" fontAlgn="auto" latinLnBrk="0" hangingPunct="1">
              <a:lnSpc>
                <a:spcPct val="100000"/>
              </a:lnSpc>
              <a:spcBef>
                <a:spcPts val="0"/>
              </a:spcBef>
              <a:spcAft>
                <a:spcPts val="0"/>
              </a:spcAft>
              <a:buClrTx/>
              <a:buSzTx/>
              <a:buFontTx/>
              <a:buNone/>
              <a:defRPr/>
            </a:pPr>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11C0245C-3768-4961-8FED-AE21EB15CBA9}" type="slidenum">
              <a:rPr kumimoji="0" lang="zh-TW" altLang="en-US" sz="1200" b="0" i="0" u="none" strike="noStrike" kern="1200" cap="none" spc="0" normalizeH="0" baseline="0" noProof="0" smtClean="0">
                <a:ln>
                  <a:noFill/>
                </a:ln>
                <a:solidFill>
                  <a:prstClr val="black"/>
                </a:solidFill>
                <a:effectLst/>
                <a:uLnTx/>
                <a:uFillTx/>
                <a:latin typeface="Calibri" panose="020F0502020204030204"/>
                <a:ea typeface="PMingLiU" panose="02020500000000000000" pitchFamily="18" charset="-120"/>
                <a:cs typeface="+mn-cs"/>
              </a:rPr>
            </a:fld>
            <a:endParaRPr kumimoji="0" lang="zh-TW" altLang="en-US" sz="1200" b="0" i="0" u="none" strike="noStrike" kern="1200" cap="none" spc="0" normalizeH="0" baseline="0" noProof="0">
              <a:ln>
                <a:noFill/>
              </a:ln>
              <a:solidFill>
                <a:prstClr val="black"/>
              </a:solidFill>
              <a:effectLst/>
              <a:uLnTx/>
              <a:uFillTx/>
              <a:latin typeface="Calibri" panose="020F0502020204030204"/>
              <a:ea typeface="PMingLiU" panose="02020500000000000000" pitchFamily="18" charset="-120"/>
              <a:cs typeface="+mn-c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TW" b="0" i="0" dirty="0">
                <a:solidFill>
                  <a:srgbClr val="212529"/>
                </a:solidFill>
                <a:effectLst/>
                <a:latin typeface="-apple-system"/>
              </a:rPr>
              <a:t>The mystery is that the LM isn’t trained to learn from examples. Because of this, there’s seemingly a mismatch between pretraining (what it’s trained to do, which is next token prediction) and in-context learning (what we’re asking it to do).</a:t>
            </a:r>
            <a:endParaRPr lang="en-US" altLang="zh-TW" b="0" i="0" dirty="0">
              <a:solidFill>
                <a:srgbClr val="212529"/>
              </a:solidFill>
              <a:effectLst/>
              <a:latin typeface="-apple-system"/>
            </a:endParaRPr>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http://ai.stanford.edu/blog/understanding-incontext/</a:t>
            </a:r>
            <a:endParaRPr lang="zh-TW" altLang="en-US" dirty="0"/>
          </a:p>
          <a:p>
            <a:pPr marL="0" marR="0" lvl="0" indent="0" algn="l" defTabSz="914400" rtl="0" eaLnBrk="1" fontAlgn="auto" latinLnBrk="0" hangingPunct="1">
              <a:lnSpc>
                <a:spcPct val="100000"/>
              </a:lnSpc>
              <a:spcBef>
                <a:spcPts val="0"/>
              </a:spcBef>
              <a:spcAft>
                <a:spcPts val="0"/>
              </a:spcAft>
              <a:buClrTx/>
              <a:buSzTx/>
              <a:buFontTx/>
              <a:buNone/>
              <a:defRPr/>
            </a:pPr>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11C0245C-3768-4961-8FED-AE21EB15CBA9}" type="slidenum">
              <a:rPr kumimoji="0" lang="zh-TW" altLang="en-US" sz="1200" b="0" i="0" u="none" strike="noStrike" kern="1200" cap="none" spc="0" normalizeH="0" baseline="0" noProof="0" smtClean="0">
                <a:ln>
                  <a:noFill/>
                </a:ln>
                <a:solidFill>
                  <a:prstClr val="black"/>
                </a:solidFill>
                <a:effectLst/>
                <a:uLnTx/>
                <a:uFillTx/>
                <a:latin typeface="Calibri" panose="020F0502020204030204"/>
                <a:ea typeface="PMingLiU" panose="02020500000000000000" pitchFamily="18" charset="-120"/>
                <a:cs typeface="+mn-cs"/>
              </a:rPr>
            </a:fld>
            <a:endParaRPr kumimoji="0" lang="zh-TW" altLang="en-US" sz="1200" b="0" i="0" u="none" strike="noStrike" kern="1200" cap="none" spc="0" normalizeH="0" baseline="0" noProof="0">
              <a:ln>
                <a:noFill/>
              </a:ln>
              <a:solidFill>
                <a:prstClr val="black"/>
              </a:solidFill>
              <a:effectLst/>
              <a:uLnTx/>
              <a:uFillTx/>
              <a:latin typeface="Calibri" panose="020F0502020204030204"/>
              <a:ea typeface="PMingLiU" panose="02020500000000000000" pitchFamily="18" charset="-120"/>
              <a:cs typeface="+mn-c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Can LLMs Really Learn to Translate a Low-Resource Language from One Grammar Book?</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262BC1B-55DA-4C9C-9730-8AD02EEF4044}" type="slidenum">
              <a:rPr kumimoji="0" lang="zh-TW" altLang="en-US" sz="1200" b="0" i="0" u="none" strike="noStrike" kern="1200" cap="none" spc="0" normalizeH="0" baseline="0" noProof="0" smtClean="0">
                <a:ln>
                  <a:noFill/>
                </a:ln>
                <a:solidFill>
                  <a:prstClr val="black"/>
                </a:solidFill>
                <a:effectLst/>
                <a:uLnTx/>
                <a:uFillTx/>
                <a:latin typeface="Calibri" panose="020F0502020204030204"/>
                <a:ea typeface="PMingLiU" panose="02020500000000000000" pitchFamily="18" charset="-120"/>
                <a:cs typeface="+mn-cs"/>
              </a:rPr>
            </a:fld>
            <a:endParaRPr kumimoji="0" lang="zh-TW" altLang="en-US" sz="1200" b="0" i="0" u="none" strike="noStrike" kern="1200" cap="none" spc="0" normalizeH="0" baseline="0" noProof="0">
              <a:ln>
                <a:noFill/>
              </a:ln>
              <a:solidFill>
                <a:prstClr val="black"/>
              </a:solidFill>
              <a:effectLst/>
              <a:uLnTx/>
              <a:uFillTx/>
              <a:latin typeface="Calibri" panose="020F0502020204030204"/>
              <a:ea typeface="PMingLiU" panose="02020500000000000000" pitchFamily="18" charset="-120"/>
              <a:cs typeface="+mn-cs"/>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TW" sz="1200" b="1" dirty="0"/>
              <a:t>Retrieval Augmented Generation (RAG)</a:t>
            </a:r>
            <a:endParaRPr lang="en-US" altLang="zh-TW" sz="1200" b="1" dirty="0"/>
          </a:p>
          <a:p>
            <a:r>
              <a:rPr lang="zh-TW" altLang="en-US" sz="1200" dirty="0">
                <a:latin typeface="Microsoft JhengHei" panose="020B0604030504040204" pitchFamily="34" charset="-120"/>
                <a:ea typeface="Microsoft JhengHei" panose="020B0604030504040204" pitchFamily="34" charset="-120"/>
              </a:rPr>
              <a:t>搜尋到的</a:t>
            </a:r>
            <a:endParaRPr lang="en-US" altLang="zh-TW" sz="1200" dirty="0">
              <a:latin typeface="Microsoft JhengHei" panose="020B0604030504040204" pitchFamily="34" charset="-120"/>
              <a:ea typeface="Microsoft JhengHei" panose="020B0604030504040204" pitchFamily="34" charset="-120"/>
            </a:endParaRPr>
          </a:p>
          <a:p>
            <a:r>
              <a:rPr lang="zh-TW" altLang="en-US" sz="1200" dirty="0">
                <a:latin typeface="Microsoft JhengHei" panose="020B0604030504040204" pitchFamily="34" charset="-120"/>
                <a:ea typeface="Microsoft JhengHei" panose="020B0604030504040204" pitchFamily="34" charset="-120"/>
              </a:rPr>
              <a:t>資料有錯 </a:t>
            </a:r>
            <a:r>
              <a:rPr lang="en-US" altLang="zh-TW" sz="1200" dirty="0">
                <a:latin typeface="Microsoft JhengHei" panose="020B0604030504040204" pitchFamily="34" charset="-120"/>
                <a:ea typeface="Microsoft JhengHei" panose="020B0604030504040204" pitchFamily="34" charset="-120"/>
              </a:rPr>
              <a:t>…</a:t>
            </a:r>
            <a:endParaRPr lang="zh-TW" altLang="en-US" sz="1200" dirty="0">
              <a:latin typeface="Microsoft JhengHei" panose="020B0604030504040204" pitchFamily="34" charset="-120"/>
              <a:ea typeface="Microsoft JhengHei" panose="020B0604030504040204" pitchFamily="34" charset="-120"/>
            </a:endParaRPr>
          </a:p>
          <a:p>
            <a:pPr marL="0" marR="0" lvl="0" indent="0" algn="l" defTabSz="914400" rtl="0" eaLnBrk="1" fontAlgn="auto" latinLnBrk="0" hangingPunct="1">
              <a:lnSpc>
                <a:spcPct val="100000"/>
              </a:lnSpc>
              <a:spcBef>
                <a:spcPts val="0"/>
              </a:spcBef>
              <a:spcAft>
                <a:spcPts val="0"/>
              </a:spcAft>
              <a:buClrTx/>
              <a:buSzTx/>
              <a:buFontTx/>
              <a:buNone/>
              <a:defRPr/>
            </a:pPr>
            <a:endParaRPr lang="zh-TW" altLang="en-US" sz="1200" b="1" dirty="0"/>
          </a:p>
          <a:p>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A2651DEE-975D-4DE8-9229-C34DC29B3B5C}" type="slidenum">
              <a:rPr kumimoji="0" lang="zh-TW" altLang="en-US" sz="1200" b="0" i="0" u="none" strike="noStrike" kern="1200" cap="none" spc="0" normalizeH="0" baseline="0" noProof="0" smtClean="0">
                <a:ln>
                  <a:noFill/>
                </a:ln>
                <a:solidFill>
                  <a:prstClr val="black"/>
                </a:solidFill>
                <a:effectLst/>
                <a:uLnTx/>
                <a:uFillTx/>
                <a:latin typeface="Aptos" panose="02110004020202020204"/>
                <a:ea typeface="PMingLiU" panose="02020500000000000000" pitchFamily="18" charset="-120"/>
                <a:cs typeface="+mn-cs"/>
              </a:rPr>
            </a:fld>
            <a:endParaRPr kumimoji="0" lang="zh-TW" altLang="en-US" sz="1200" b="0" i="0" u="none" strike="noStrike" kern="1200" cap="none" spc="0" normalizeH="0" baseline="0" noProof="0">
              <a:ln>
                <a:noFill/>
              </a:ln>
              <a:solidFill>
                <a:prstClr val="black"/>
              </a:solidFill>
              <a:effectLst/>
              <a:uLnTx/>
              <a:uFillTx/>
              <a:latin typeface="Aptos" panose="02110004020202020204"/>
              <a:ea typeface="PMingLiU" panose="02020500000000000000" pitchFamily="18" charset="-120"/>
              <a:cs typeface="+mn-cs"/>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12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工具：只需要知道怎麼使用，不需要知道內部運作原理</a:t>
            </a:r>
            <a:endParaRPr kumimoji="0" lang="zh-TW" altLang="en-US" sz="12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endParaRPr lang="en-US" altLang="zh-TW" dirty="0"/>
          </a:p>
          <a:p>
            <a:endParaRPr lang="en-US" altLang="zh-TW" dirty="0"/>
          </a:p>
          <a:p>
            <a:r>
              <a:rPr lang="en-US" altLang="zh-TW" dirty="0"/>
              <a:t>Different capabilities, stronger but </a:t>
            </a:r>
            <a:r>
              <a:rPr lang="en-US" altLang="zh-TW" dirty="0" err="1"/>
              <a:t>costl</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zh-TW" altLang="en-US" dirty="0"/>
              <a:t>沒有工具 </a:t>
            </a:r>
            <a:r>
              <a:rPr lang="en-US" altLang="zh-TW" dirty="0"/>
              <a:t>o3 </a:t>
            </a:r>
            <a:r>
              <a:rPr lang="zh-TW" altLang="en-US" dirty="0"/>
              <a:t>加法也會算錯</a:t>
            </a:r>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A2651DEE-975D-4DE8-9229-C34DC29B3B5C}" type="slidenum">
              <a:rPr kumimoji="0" lang="zh-TW" altLang="en-US" sz="1200" b="0" i="0" u="none" strike="noStrike" kern="1200" cap="none" spc="0" normalizeH="0" baseline="0" noProof="0" smtClean="0">
                <a:ln>
                  <a:noFill/>
                </a:ln>
                <a:solidFill>
                  <a:prstClr val="black"/>
                </a:solidFill>
                <a:effectLst/>
                <a:uLnTx/>
                <a:uFillTx/>
                <a:latin typeface="Aptos" panose="02110004020202020204"/>
                <a:ea typeface="PMingLiU" panose="02020500000000000000" pitchFamily="18" charset="-120"/>
                <a:cs typeface="+mn-cs"/>
              </a:rPr>
            </a:fld>
            <a:endParaRPr kumimoji="0" lang="zh-TW" altLang="en-US" sz="1200" b="0" i="0" u="none" strike="noStrike" kern="1200" cap="none" spc="0" normalizeH="0" baseline="0" noProof="0">
              <a:ln>
                <a:noFill/>
              </a:ln>
              <a:solidFill>
                <a:prstClr val="black"/>
              </a:solidFill>
              <a:effectLst/>
              <a:uLnTx/>
              <a:uFillTx/>
              <a:latin typeface="Aptos" panose="02110004020202020204"/>
              <a:ea typeface="PMingLiU" panose="02020500000000000000" pitchFamily="18" charset="-120"/>
              <a:cs typeface="+mn-c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工具的特色</a:t>
            </a:r>
            <a:endParaRPr lang="en-US" altLang="zh-TW" dirty="0"/>
          </a:p>
          <a:p>
            <a:r>
              <a:rPr lang="zh-TW" altLang="en-US" dirty="0"/>
              <a:t>講一下 </a:t>
            </a:r>
            <a:r>
              <a:rPr lang="en-US" altLang="zh-TW" dirty="0"/>
              <a:t>function call </a:t>
            </a:r>
            <a:r>
              <a:rPr lang="zh-TW" altLang="en-US" dirty="0"/>
              <a:t>這件事</a:t>
            </a:r>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A2651DEE-975D-4DE8-9229-C34DC29B3B5C}" type="slidenum">
              <a:rPr kumimoji="0" lang="zh-TW" altLang="en-US" sz="1200" b="0" i="0" u="none" strike="noStrike" kern="1200" cap="none" spc="0" normalizeH="0" baseline="0" noProof="0" smtClean="0">
                <a:ln>
                  <a:noFill/>
                </a:ln>
                <a:solidFill>
                  <a:prstClr val="black"/>
                </a:solidFill>
                <a:effectLst/>
                <a:uLnTx/>
                <a:uFillTx/>
                <a:latin typeface="Aptos" panose="02110004020202020204"/>
                <a:ea typeface="PMingLiU" panose="02020500000000000000" pitchFamily="18" charset="-120"/>
                <a:cs typeface="+mn-cs"/>
              </a:rPr>
            </a:fld>
            <a:endParaRPr kumimoji="0" lang="zh-TW" altLang="en-US" sz="1200" b="0" i="0" u="none" strike="noStrike" kern="1200" cap="none" spc="0" normalizeH="0" baseline="0" noProof="0">
              <a:ln>
                <a:noFill/>
              </a:ln>
              <a:solidFill>
                <a:prstClr val="black"/>
              </a:solidFill>
              <a:effectLst/>
              <a:uLnTx/>
              <a:uFillTx/>
              <a:latin typeface="Aptos" panose="02110004020202020204"/>
              <a:ea typeface="PMingLiU" panose="02020500000000000000" pitchFamily="18" charset="-120"/>
              <a:cs typeface="+mn-c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工具的特色</a:t>
            </a:r>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A2651DEE-975D-4DE8-9229-C34DC29B3B5C}" type="slidenum">
              <a:rPr kumimoji="0" lang="zh-TW" altLang="en-US" sz="1200" b="0" i="0" u="none" strike="noStrike" kern="1200" cap="none" spc="0" normalizeH="0" baseline="0" noProof="0" smtClean="0">
                <a:ln>
                  <a:noFill/>
                </a:ln>
                <a:solidFill>
                  <a:prstClr val="black"/>
                </a:solidFill>
                <a:effectLst/>
                <a:uLnTx/>
                <a:uFillTx/>
                <a:latin typeface="Aptos" panose="02110004020202020204"/>
                <a:ea typeface="PMingLiU" panose="02020500000000000000" pitchFamily="18" charset="-120"/>
                <a:cs typeface="+mn-cs"/>
              </a:rPr>
            </a:fld>
            <a:endParaRPr kumimoji="0" lang="zh-TW" altLang="en-US" sz="1200" b="0" i="0" u="none" strike="noStrike" kern="1200" cap="none" spc="0" normalizeH="0" baseline="0" noProof="0">
              <a:ln>
                <a:noFill/>
              </a:ln>
              <a:solidFill>
                <a:prstClr val="black"/>
              </a:solidFill>
              <a:effectLst/>
              <a:uLnTx/>
              <a:uFillTx/>
              <a:latin typeface="Aptos" panose="02110004020202020204"/>
              <a:ea typeface="PMingLiU" panose="02020500000000000000" pitchFamily="18" charset="-120"/>
              <a:cs typeface="+mn-c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B30D3A2D-B4B4-44FE-AA86-AB8E2DF68F9F}" type="slidenum">
              <a:rPr kumimoji="0" lang="zh-TW" altLang="en-US" sz="1200" b="0" i="0" u="none" strike="noStrike" kern="1200" cap="none" spc="0" normalizeH="0" baseline="0" noProof="0" smtClean="0">
                <a:ln>
                  <a:noFill/>
                </a:ln>
                <a:solidFill>
                  <a:prstClr val="black"/>
                </a:solidFill>
                <a:effectLst/>
                <a:uLnTx/>
                <a:uFillTx/>
                <a:latin typeface="Aptos" panose="02110004020202020204"/>
                <a:ea typeface="PMingLiU" panose="02020500000000000000" pitchFamily="18" charset="-120"/>
                <a:cs typeface="+mn-cs"/>
              </a:rPr>
            </a:fld>
            <a:endParaRPr kumimoji="0" lang="zh-TW" altLang="en-US" sz="1200" b="0" i="0" u="none" strike="noStrike" kern="1200" cap="none" spc="0" normalizeH="0" baseline="0" noProof="0">
              <a:ln>
                <a:noFill/>
              </a:ln>
              <a:solidFill>
                <a:prstClr val="black"/>
              </a:solidFill>
              <a:effectLst/>
              <a:uLnTx/>
              <a:uFillTx/>
              <a:latin typeface="Aptos" panose="02110004020202020204"/>
              <a:ea typeface="PMingLiU" panose="02020500000000000000" pitchFamily="18" charset="-120"/>
              <a:cs typeface="+mn-c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https://chatgpt.com/c/68cc093a-fa54-832f-a990-975404936905</a:t>
            </a:r>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B30D3A2D-B4B4-44FE-AA86-AB8E2DF68F9F}" type="slidenum">
              <a:rPr kumimoji="0" lang="zh-TW" altLang="en-US" sz="1200" b="0" i="0" u="none" strike="noStrike" kern="1200" cap="none" spc="0" normalizeH="0" baseline="0" noProof="0" smtClean="0">
                <a:ln>
                  <a:noFill/>
                </a:ln>
                <a:solidFill>
                  <a:prstClr val="black"/>
                </a:solidFill>
                <a:effectLst/>
                <a:uLnTx/>
                <a:uFillTx/>
                <a:latin typeface="Aptos" panose="02110004020202020204"/>
                <a:ea typeface="PMingLiU" panose="02020500000000000000" pitchFamily="18" charset="-120"/>
                <a:cs typeface="+mn-cs"/>
              </a:rPr>
            </a:fld>
            <a:endParaRPr kumimoji="0" lang="zh-TW" altLang="en-US" sz="1200" b="0" i="0" u="none" strike="noStrike" kern="1200" cap="none" spc="0" normalizeH="0" baseline="0" noProof="0">
              <a:ln>
                <a:noFill/>
              </a:ln>
              <a:solidFill>
                <a:prstClr val="black"/>
              </a:solidFill>
              <a:effectLst/>
              <a:uLnTx/>
              <a:uFillTx/>
              <a:latin typeface="Aptos" panose="02110004020202020204"/>
              <a:ea typeface="PMingLiU" panose="02020500000000000000" pitchFamily="18" charset="-120"/>
              <a:cs typeface="+mn-c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https://chatgpt.com/c/68cc0d63-b634-8332-8b31-348d01cef0b1</a:t>
            </a:r>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7BDA5693-4DAE-4431-B0C6-A72D8B2D6A35}" type="slidenum">
              <a:rPr kumimoji="0" lang="zh-TW" altLang="en-US" sz="1200" b="0" i="0" u="none" strike="noStrike" kern="1200" cap="none" spc="0" normalizeH="0" baseline="0" noProof="0" smtClean="0">
                <a:ln>
                  <a:noFill/>
                </a:ln>
                <a:solidFill>
                  <a:prstClr val="black"/>
                </a:solidFill>
                <a:effectLst/>
                <a:uLnTx/>
                <a:uFillTx/>
                <a:latin typeface="Aptos" panose="02110004020202020204"/>
                <a:ea typeface="PMingLiU" panose="02020500000000000000" pitchFamily="18" charset="-120"/>
                <a:cs typeface="+mn-cs"/>
              </a:rPr>
            </a:fld>
            <a:endParaRPr kumimoji="0" lang="zh-TW" altLang="en-US" sz="1200" b="0" i="0" u="none" strike="noStrike" kern="1200" cap="none" spc="0" normalizeH="0" baseline="0" noProof="0">
              <a:ln>
                <a:noFill/>
              </a:ln>
              <a:solidFill>
                <a:prstClr val="black"/>
              </a:solidFill>
              <a:effectLst/>
              <a:uLnTx/>
              <a:uFillTx/>
              <a:latin typeface="Aptos" panose="02110004020202020204"/>
              <a:ea typeface="PMingLiU" panose="02020500000000000000" pitchFamily="18" charset="-120"/>
              <a:cs typeface="+mn-c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zh-TW" altLang="en-US" dirty="0">
                <a:solidFill>
                  <a:schemeClr val="bg1"/>
                </a:solidFill>
              </a:rPr>
              <a:t>核心目標</a:t>
            </a:r>
            <a:endParaRPr lang="zh-TW" altLang="en-US" dirty="0">
              <a:solidFill>
                <a:schemeClr val="bg1"/>
              </a:solidFill>
            </a:endParaRPr>
          </a:p>
          <a:p>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zh-TW" altLang="en-US" sz="1200" dirty="0">
                <a:latin typeface="Microsoft JhengHei" panose="020B0604030504040204" pitchFamily="34" charset="-120"/>
                <a:ea typeface="Microsoft JhengHei" panose="020B0604030504040204" pitchFamily="34" charset="-120"/>
              </a:rPr>
              <a:t>如果要完成複雜的任務需要多</a:t>
            </a:r>
            <a:endParaRPr lang="zh-TW" altLang="en-US" sz="1200" dirty="0">
              <a:latin typeface="Microsoft JhengHei" panose="020B0604030504040204" pitchFamily="34" charset="-120"/>
              <a:ea typeface="Microsoft JhengHei" panose="020B0604030504040204" pitchFamily="34" charset="-120"/>
            </a:endParaRPr>
          </a:p>
          <a:p>
            <a:pPr marL="0" marR="0" lvl="0" indent="0" algn="l" defTabSz="914400" rtl="0" eaLnBrk="1" fontAlgn="auto" latinLnBrk="0" hangingPunct="1">
              <a:lnSpc>
                <a:spcPct val="100000"/>
              </a:lnSpc>
              <a:spcBef>
                <a:spcPts val="0"/>
              </a:spcBef>
              <a:spcAft>
                <a:spcPts val="0"/>
              </a:spcAft>
              <a:buClrTx/>
              <a:buSzTx/>
              <a:buFontTx/>
              <a:buNone/>
              <a:defRPr/>
            </a:pPr>
            <a:r>
              <a:rPr lang="zh-TW" altLang="en-US" sz="1200" dirty="0">
                <a:latin typeface="Microsoft JhengHei" panose="020B0604030504040204" pitchFamily="34" charset="-120"/>
                <a:ea typeface="Microsoft JhengHei" panose="020B0604030504040204" pitchFamily="34" charset="-120"/>
              </a:rPr>
              <a:t>如果要完成複雜的任務需要多</a:t>
            </a:r>
            <a:endParaRPr lang="zh-TW" altLang="en-US" sz="1200" dirty="0">
              <a:latin typeface="Microsoft JhengHei" panose="020B0604030504040204" pitchFamily="34" charset="-120"/>
              <a:ea typeface="Microsoft JhengHei" panose="020B0604030504040204" pitchFamily="34" charset="-120"/>
            </a:endParaRPr>
          </a:p>
          <a:p>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A2651DEE-975D-4DE8-9229-C34DC29B3B5C}" type="slidenum">
              <a:rPr kumimoji="0" lang="zh-TW" altLang="en-US" sz="1200" b="0" i="0" u="none" strike="noStrike" kern="1200" cap="none" spc="0" normalizeH="0" baseline="0" noProof="0" smtClean="0">
                <a:ln>
                  <a:noFill/>
                </a:ln>
                <a:solidFill>
                  <a:prstClr val="black"/>
                </a:solidFill>
                <a:effectLst/>
                <a:uLnTx/>
                <a:uFillTx/>
                <a:latin typeface="Aptos" panose="02110004020202020204"/>
                <a:ea typeface="PMingLiU" panose="02020500000000000000" pitchFamily="18" charset="-120"/>
                <a:cs typeface="+mn-cs"/>
              </a:rPr>
            </a:fld>
            <a:endParaRPr kumimoji="0" lang="zh-TW" altLang="en-US" sz="1200" b="0" i="0" u="none" strike="noStrike" kern="1200" cap="none" spc="0" normalizeH="0" baseline="0" noProof="0">
              <a:ln>
                <a:noFill/>
              </a:ln>
              <a:solidFill>
                <a:prstClr val="black"/>
              </a:solidFill>
              <a:effectLst/>
              <a:uLnTx/>
              <a:uFillTx/>
              <a:latin typeface="Aptos" panose="02110004020202020204"/>
              <a:ea typeface="PMingLiU" panose="02020500000000000000" pitchFamily="18" charset="-120"/>
              <a:cs typeface="+mn-cs"/>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有一個目標</a:t>
            </a:r>
            <a:endParaRPr lang="en-US" altLang="zh-TW" dirty="0"/>
          </a:p>
          <a:p>
            <a:r>
              <a:rPr lang="zh-TW" altLang="en-US" dirty="0"/>
              <a:t>現在的輸入</a:t>
            </a:r>
            <a:endParaRPr lang="en-US" altLang="zh-TW" dirty="0"/>
          </a:p>
          <a:p>
            <a:r>
              <a:rPr lang="zh-TW" altLang="en-US" dirty="0"/>
              <a:t>輸出</a:t>
            </a:r>
            <a:endParaRPr lang="en-US" altLang="zh-TW" dirty="0"/>
          </a:p>
          <a:p>
            <a:r>
              <a:rPr lang="zh-TW" altLang="en-US" dirty="0"/>
              <a:t>改變狀態</a:t>
            </a:r>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A2651DEE-975D-4DE8-9229-C34DC29B3B5C}" type="slidenum">
              <a:rPr kumimoji="0" lang="zh-TW" altLang="en-US" sz="1200" b="0" i="0" u="none" strike="noStrike" kern="1200" cap="none" spc="0" normalizeH="0" baseline="0" noProof="0" smtClean="0">
                <a:ln>
                  <a:noFill/>
                </a:ln>
                <a:solidFill>
                  <a:prstClr val="black"/>
                </a:solidFill>
                <a:effectLst/>
                <a:uLnTx/>
                <a:uFillTx/>
                <a:latin typeface="Aptos" panose="02110004020202020204"/>
                <a:ea typeface="PMingLiU" panose="02020500000000000000" pitchFamily="18" charset="-120"/>
                <a:cs typeface="+mn-cs"/>
              </a:rPr>
            </a:fld>
            <a:endParaRPr kumimoji="0" lang="zh-TW" altLang="en-US" sz="1200" b="0" i="0" u="none" strike="noStrike" kern="1200" cap="none" spc="0" normalizeH="0" baseline="0" noProof="0">
              <a:ln>
                <a:noFill/>
              </a:ln>
              <a:solidFill>
                <a:prstClr val="black"/>
              </a:solidFill>
              <a:effectLst/>
              <a:uLnTx/>
              <a:uFillTx/>
              <a:latin typeface="Aptos" panose="02110004020202020204"/>
              <a:ea typeface="PMingLiU" panose="02020500000000000000" pitchFamily="18" charset="-120"/>
              <a:cs typeface="+mn-cs"/>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Context Window of LLMs</a:t>
            </a:r>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However,</a:t>
            </a:r>
            <a:r>
              <a:rPr lang="en-US" altLang="zh-TW" dirty="0">
                <a:hlinkClick r:id="rId3"/>
              </a:rPr>
              <a:t> </a:t>
            </a:r>
            <a:r>
              <a:rPr lang="en-US" altLang="zh-TW" u="sng" dirty="0">
                <a:hlinkClick r:id="rId3"/>
              </a:rPr>
              <a:t>this excellent article</a:t>
            </a:r>
            <a:r>
              <a:rPr lang="en-US" altLang="zh-TW" dirty="0"/>
              <a:t> written by Drew Breunig shows four surprising ways the context can get out of hand, even when the model in question supports 1 million token context windows. In this section, I will quickly describe the issues described by Drew Breunig and the context engineering patterns that solve them—I strongly recommend reading Breunig’s article for more details.</a:t>
            </a:r>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a:p>
          <a:p>
            <a:r>
              <a:rPr lang="en-US" altLang="zh-TW" dirty="0"/>
              <a:t>We find that LLMs often make assumptions in early turns and prematurely attempt to generate final solutions, on which they overly rely. In simpler terms, we discover that when LLMs take a wrong turn in a conversation, they get lost and do not recover.</a:t>
            </a:r>
            <a:br>
              <a:rPr lang="en-US" altLang="zh-TW" dirty="0"/>
            </a:br>
            <a:endParaRPr lang="en-US" altLang="zh-TW" dirty="0"/>
          </a:p>
          <a:p>
            <a:endParaRPr lang="en-US" altLang="zh-TW" dirty="0"/>
          </a:p>
          <a:p>
            <a:pPr fontAlgn="base"/>
            <a:r>
              <a:rPr lang="en-US" altLang="zh-TW" b="1" dirty="0"/>
              <a:t>An Agentic Case Study: Playing Pokémon with Gemini</a:t>
            </a:r>
            <a:endParaRPr lang="en-US" altLang="zh-TW" b="1" dirty="0"/>
          </a:p>
          <a:p>
            <a:pPr fontAlgn="base"/>
            <a:r>
              <a:rPr lang="en-US" altLang="zh-TW" b="1" i="1" dirty="0"/>
              <a:t>DeepMind Shows Us the Messy Reality of Agent Building</a:t>
            </a:r>
            <a:endParaRPr lang="en-US" altLang="zh-TW" b="1" i="1" dirty="0"/>
          </a:p>
          <a:p>
            <a:r>
              <a:rPr lang="en-US" altLang="zh-TW" dirty="0">
                <a:hlinkClick r:id="rId3"/>
              </a:rPr>
              <a:t>https://www.dbreunig.com/2025/06/17/an-agentic-case-study-playing-pok%C3%A9mon-with-gemini.html</a:t>
            </a:r>
            <a:endParaRPr lang="en-US" altLang="zh-TW" dirty="0"/>
          </a:p>
          <a:p>
            <a:r>
              <a:rPr lang="en-US" altLang="zh-TW" b="1" dirty="0"/>
              <a:t>Long contexts tripped up Gemini’s gameplay.</a:t>
            </a:r>
            <a:r>
              <a:rPr lang="en-US" altLang="zh-TW" dirty="0"/>
              <a:t> </a:t>
            </a:r>
            <a:r>
              <a:rPr lang="en-US" altLang="zh-TW" i="1" dirty="0"/>
              <a:t>So much</a:t>
            </a:r>
            <a:r>
              <a:rPr lang="en-US" altLang="zh-TW" dirty="0"/>
              <a:t> about agents is information control, what gets put in the context. While benchmarks demonstrated Gemini’s unmatched ability to retrieve facts from massive contexts, leveraging long contexts to inform Pokémon decision making </a:t>
            </a:r>
            <a:r>
              <a:rPr lang="en-US" altLang="zh-TW" i="1" dirty="0"/>
              <a:t>resulted in worse performance</a:t>
            </a:r>
            <a:r>
              <a:rPr lang="en-US" altLang="zh-TW" dirty="0"/>
              <a:t>: “As the context grew significantly beyond 100k tokens, the agent showed a tendency toward favoring repeating actions from its vast history rather than synthesizing novel plans.” This is an important lesson and one that underscores the need to build your own evals when designing an agent, as the benchmark performances would lead you astray.</a:t>
            </a:r>
            <a:endParaRPr lang="en-US" altLang="zh-TW" dirty="0"/>
          </a:p>
          <a:p>
            <a:r>
              <a:rPr lang="en-US" altLang="zh-TW" b="1" dirty="0"/>
              <a:t>Hallucinations would poison the context.</a:t>
            </a:r>
            <a:r>
              <a:rPr lang="en-US" altLang="zh-TW" dirty="0"/>
              <a:t> To reduce the size of the context and remain focused, the model would update a scratchpad of goals. However, if a hallucination (like the above tea example) made it into the goals list, the model would become, “fixated on achieving impossible or irrelevant goals.” The Google team calls this “context poisoning.</a:t>
            </a:r>
            <a:endParaRPr lang="zh-TW" altLang="en-US" dirty="0"/>
          </a:p>
          <a:p>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zh-TW" altLang="en-US" dirty="0"/>
              <a:t>https://blog.langchain.com/context-engineering-for-agents/</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74</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13</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Reduce 3</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Select 3</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Offload 3 </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Multi-agent 4</a:t>
            </a:r>
            <a:endParaRPr lang="zh-TW" altLang="en-US" dirty="0"/>
          </a:p>
          <a:p>
            <a:endParaRPr lang="en-US" altLang="zh-TW" dirty="0"/>
          </a:p>
          <a:p>
            <a:endParaRPr lang="en-US" altLang="zh-TW" dirty="0"/>
          </a:p>
          <a:p>
            <a:r>
              <a:rPr lang="zh-TW" altLang="en-US" dirty="0"/>
              <a:t>只挑需要的</a:t>
            </a:r>
            <a:endParaRPr lang="en-US" altLang="zh-TW" dirty="0"/>
          </a:p>
          <a:p>
            <a:r>
              <a:rPr lang="zh-TW" altLang="en-US" dirty="0"/>
              <a:t>壓縮</a:t>
            </a:r>
            <a:endParaRPr lang="en-US" altLang="zh-TW" dirty="0"/>
          </a:p>
          <a:p>
            <a:r>
              <a:rPr lang="zh-TW" altLang="en-US" dirty="0"/>
              <a:t>寫去其他地方</a:t>
            </a:r>
            <a:endParaRPr lang="en-US" altLang="zh-TW" dirty="0"/>
          </a:p>
          <a:p>
            <a:r>
              <a:rPr lang="zh-TW" altLang="en-US" dirty="0"/>
              <a:t>分層負責</a:t>
            </a:r>
            <a:endParaRPr lang="en-US" altLang="zh-TW" dirty="0"/>
          </a:p>
          <a:p>
            <a:endParaRPr lang="en-US" altLang="zh-TW" dirty="0"/>
          </a:p>
          <a:p>
            <a:r>
              <a:rPr lang="en-US" altLang="zh-TW" dirty="0"/>
              <a:t>===</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zh-TW" altLang="en-US" dirty="0"/>
              <a:t>https://www.arxiv.org/pdf/2506.15841</a:t>
            </a:r>
            <a:endParaRPr lang="zh-TW" altLang="en-US" dirty="0"/>
          </a:p>
          <a:p>
            <a:endParaRPr lang="en-US" altLang="zh-TW"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12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Very Small</a:t>
            </a:r>
            <a:endParaRPr kumimoji="0" lang="en-US" altLang="zh-TW" sz="12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Tool rag: </a:t>
            </a:r>
            <a:r>
              <a:rPr lang="en-US" altLang="zh-TW" b="1" dirty="0"/>
              <a:t>RAG-MCP: Mitigating Prompt Bloat in LLM Tool Selection via Retrieval-Augmented Generation</a:t>
            </a:r>
            <a:endParaRPr lang="en-US" altLang="zh-TW" b="1" dirty="0"/>
          </a:p>
          <a:p>
            <a:pPr marL="0" marR="0" lvl="0" indent="0" algn="l" defTabSz="914400" rtl="0" eaLnBrk="1" fontAlgn="auto" latinLnBrk="0" hangingPunct="1">
              <a:lnSpc>
                <a:spcPct val="100000"/>
              </a:lnSpc>
              <a:spcBef>
                <a:spcPts val="0"/>
              </a:spcBef>
              <a:spcAft>
                <a:spcPts val="0"/>
              </a:spcAft>
              <a:buClrTx/>
              <a:buSzTx/>
              <a:buFontTx/>
              <a:buNone/>
              <a:defRPr/>
            </a:pPr>
            <a:r>
              <a:rPr lang="zh-TW" altLang="en-US" sz="1200" dirty="0">
                <a:latin typeface="Microsoft JhengHei" panose="020B0604030504040204" pitchFamily="34" charset="-120"/>
                <a:ea typeface="Microsoft JhengHei" panose="020B0604030504040204" pitchFamily="34" charset="-120"/>
              </a:rPr>
              <a:t>每輪對話的時候，語言模型看到可用工具說明都是不一樣的</a:t>
            </a:r>
            <a:endParaRPr lang="zh-TW" altLang="en-US" sz="1200" dirty="0">
              <a:latin typeface="Microsoft JhengHei" panose="020B0604030504040204" pitchFamily="34" charset="-120"/>
              <a:ea typeface="Microsoft JhengHei" panose="020B0604030504040204" pitchFamily="34" charset="-120"/>
            </a:endParaRPr>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b="1" dirty="0"/>
          </a:p>
          <a:p>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要不要講更多變形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Agent interactions can span </a:t>
            </a:r>
            <a:r>
              <a:rPr lang="en-US" altLang="zh-TW" b="1" dirty="0">
                <a:hlinkClick r:id="rId3"/>
              </a:rPr>
              <a:t>hundreds of turns</a:t>
            </a:r>
            <a:r>
              <a:rPr lang="en-US" altLang="zh-TW" dirty="0"/>
              <a:t> and use token-heavy tool calls. Summarization is one common way to manage these challenges. If you’ve used Claude Code, you’ve seen this in action. Claude Code runs “</a:t>
            </a:r>
            <a:r>
              <a:rPr lang="en-US" altLang="zh-TW" b="1" dirty="0">
                <a:hlinkClick r:id="rId4"/>
              </a:rPr>
              <a:t>auto-compact</a:t>
            </a:r>
            <a:r>
              <a:rPr lang="en-US" altLang="zh-TW" dirty="0"/>
              <a:t>” after you exceed 95% of the context window and it will summarize the full trajectory of user-agent interactions. This type of compression across an </a:t>
            </a:r>
            <a:r>
              <a:rPr lang="en-US" altLang="zh-TW" b="1" dirty="0">
                <a:hlinkClick r:id="rId5"/>
              </a:rPr>
              <a:t>agent trajectory</a:t>
            </a:r>
            <a:r>
              <a:rPr lang="en-US" altLang="zh-TW" dirty="0"/>
              <a:t> can use various strategies such as </a:t>
            </a:r>
            <a:r>
              <a:rPr lang="en-US" altLang="zh-TW" b="1" dirty="0">
                <a:hlinkClick r:id="rId6"/>
              </a:rPr>
              <a:t>recursive</a:t>
            </a:r>
            <a:r>
              <a:rPr lang="en-US" altLang="zh-TW" dirty="0"/>
              <a:t> or </a:t>
            </a:r>
            <a:r>
              <a:rPr lang="en-US" altLang="zh-TW" b="1" dirty="0">
                <a:hlinkClick r:id="rId7"/>
              </a:rPr>
              <a:t>hierarchical</a:t>
            </a:r>
            <a:r>
              <a:rPr lang="en-US" altLang="zh-TW" dirty="0"/>
              <a:t> summarization.</a:t>
            </a:r>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Claude code </a:t>
            </a:r>
            <a:r>
              <a:rPr lang="zh-TW" altLang="en-US" dirty="0"/>
              <a:t>壓縮有很多選擇</a:t>
            </a:r>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要不要講更多變形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Agent interactions can span </a:t>
            </a:r>
            <a:r>
              <a:rPr lang="en-US" altLang="zh-TW" b="1" dirty="0">
                <a:hlinkClick r:id="rId3"/>
              </a:rPr>
              <a:t>hundreds of turns</a:t>
            </a:r>
            <a:r>
              <a:rPr lang="en-US" altLang="zh-TW" dirty="0"/>
              <a:t> and use token-heavy tool calls. Summarization is one common way to manage these challenges. If you’ve used Claude Code, you’ve seen this in action. Claude Code runs “</a:t>
            </a:r>
            <a:r>
              <a:rPr lang="en-US" altLang="zh-TW" b="1" dirty="0">
                <a:hlinkClick r:id="rId4"/>
              </a:rPr>
              <a:t>auto-compact</a:t>
            </a:r>
            <a:r>
              <a:rPr lang="en-US" altLang="zh-TW" dirty="0"/>
              <a:t>” after you exceed 95% of the context window and it will summarize the full trajectory of user-agent interactions. This type of compression across an </a:t>
            </a:r>
            <a:r>
              <a:rPr lang="en-US" altLang="zh-TW" b="1" dirty="0">
                <a:hlinkClick r:id="rId5"/>
              </a:rPr>
              <a:t>agent trajectory</a:t>
            </a:r>
            <a:r>
              <a:rPr lang="en-US" altLang="zh-TW" dirty="0"/>
              <a:t> can use various strategies such as </a:t>
            </a:r>
            <a:r>
              <a:rPr lang="en-US" altLang="zh-TW" b="1" dirty="0">
                <a:hlinkClick r:id="rId6"/>
              </a:rPr>
              <a:t>recursive</a:t>
            </a:r>
            <a:r>
              <a:rPr lang="en-US" altLang="zh-TW" dirty="0"/>
              <a:t> or </a:t>
            </a:r>
            <a:r>
              <a:rPr lang="en-US" altLang="zh-TW" b="1" dirty="0">
                <a:hlinkClick r:id="rId7"/>
              </a:rPr>
              <a:t>hierarchical</a:t>
            </a:r>
            <a:r>
              <a:rPr lang="en-US" altLang="zh-TW" dirty="0"/>
              <a:t> summarization.</a:t>
            </a:r>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每個 </a:t>
            </a:r>
            <a:r>
              <a:rPr lang="en-US" altLang="zh-TW" dirty="0"/>
              <a:t>Agent </a:t>
            </a:r>
            <a:r>
              <a:rPr lang="zh-TW" altLang="en-US" dirty="0"/>
              <a:t>看到不同的東西</a:t>
            </a:r>
            <a:endParaRPr lang="en-US" altLang="zh-TW" dirty="0"/>
          </a:p>
          <a:p>
            <a:r>
              <a:rPr lang="en-US" altLang="zh-TW" dirty="0"/>
              <a:t> A common pattern in multi-agent interactions is </a:t>
            </a:r>
            <a:r>
              <a:rPr lang="en-US" altLang="zh-TW" b="1" dirty="0"/>
              <a:t>handoffs</a:t>
            </a:r>
            <a:r>
              <a:rPr lang="en-US" altLang="zh-TW" dirty="0"/>
              <a:t>, where one agent </a:t>
            </a:r>
            <a:r>
              <a:rPr lang="en-US" altLang="zh-TW" i="1" dirty="0"/>
              <a:t>hands off</a:t>
            </a:r>
            <a:r>
              <a:rPr lang="en-US" altLang="zh-TW" dirty="0"/>
              <a:t> control to another.</a:t>
            </a:r>
            <a:endParaRPr lang="en-US" altLang="zh-TW" dirty="0"/>
          </a:p>
          <a:p>
            <a:r>
              <a:rPr lang="en-US" altLang="zh-TW" dirty="0"/>
              <a:t>Ref: https://langchain-ai.github.io/langgraph/concepts/multi_agent/#using-different-state-schemas</a:t>
            </a:r>
            <a:endParaRPr lang="zh-TW" altLang="en-US" dirty="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Ref: https://langchain-ai.github.io/langgraph/concepts/multi_agent/#using-different-state-schemas</a:t>
            </a:r>
            <a:endParaRPr lang="zh-TW" altLang="en-US" dirty="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A compromise approach is using </a:t>
            </a:r>
            <a:r>
              <a:rPr lang="en-US" altLang="zh-TW" i="1" dirty="0"/>
              <a:t>tool-like subagents</a:t>
            </a:r>
            <a:r>
              <a:rPr lang="en-US" altLang="zh-TW" dirty="0"/>
              <a:t> that have narrow output. For example, Hugging Face’s </a:t>
            </a:r>
            <a:r>
              <a:rPr lang="en-US" altLang="zh-TW" i="1" dirty="0"/>
              <a:t>Deep Researcher</a:t>
            </a:r>
            <a:r>
              <a:rPr lang="en-US" altLang="zh-TW" dirty="0"/>
              <a:t> agent isolates context by using a scratchpad environment: the agent’s chain of thought and tool uses are kept separate from the user-facing conversation, effectively sandboxing the verbose reasoning so the user (and model on the next turn) only sees the distilled outcome. This isolation prevents irrelevant details or errors from one part of the process leaking into another.</a:t>
            </a:r>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每個 </a:t>
            </a:r>
            <a:r>
              <a:rPr lang="en-US" altLang="zh-TW" dirty="0"/>
              <a:t>Agent </a:t>
            </a:r>
            <a:r>
              <a:rPr lang="zh-TW" altLang="en-US" dirty="0"/>
              <a:t>看到不同的東西</a:t>
            </a:r>
            <a:endParaRPr lang="en-US" altLang="zh-TW" dirty="0"/>
          </a:p>
          <a:p>
            <a:r>
              <a:rPr lang="en-US" altLang="zh-TW" dirty="0"/>
              <a:t> A common pattern in multi-agent interactions is </a:t>
            </a:r>
            <a:r>
              <a:rPr lang="en-US" altLang="zh-TW" b="1" dirty="0"/>
              <a:t>handoffs</a:t>
            </a:r>
            <a:r>
              <a:rPr lang="en-US" altLang="zh-TW" dirty="0"/>
              <a:t>, where one agent </a:t>
            </a:r>
            <a:r>
              <a:rPr lang="en-US" altLang="zh-TW" i="1" dirty="0"/>
              <a:t>hands off</a:t>
            </a:r>
            <a:r>
              <a:rPr lang="en-US" altLang="zh-TW" dirty="0"/>
              <a:t> control to another.</a:t>
            </a:r>
            <a:endParaRPr lang="en-US" altLang="zh-TW" dirty="0"/>
          </a:p>
          <a:p>
            <a:r>
              <a:rPr lang="en-US" altLang="zh-TW" dirty="0"/>
              <a:t>Ref: https://langchain-ai.github.io/langgraph/concepts/multi_agent/#using-different-state-schemas</a:t>
            </a:r>
            <a:endParaRPr lang="zh-TW" altLang="en-US" dirty="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Ref: https://langchain-ai.github.io/langgraph/concepts/multi_agent/#using-different-state-schemas</a:t>
            </a:r>
            <a:endParaRPr lang="zh-TW" altLang="en-US" dirty="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A compromise approach is using </a:t>
            </a:r>
            <a:r>
              <a:rPr lang="en-US" altLang="zh-TW" i="1" dirty="0"/>
              <a:t>tool-like subagents</a:t>
            </a:r>
            <a:r>
              <a:rPr lang="en-US" altLang="zh-TW" dirty="0"/>
              <a:t> that have narrow output. For example, Hugging Face’s </a:t>
            </a:r>
            <a:r>
              <a:rPr lang="en-US" altLang="zh-TW" i="1" dirty="0"/>
              <a:t>Deep Researcher</a:t>
            </a:r>
            <a:r>
              <a:rPr lang="en-US" altLang="zh-TW" dirty="0"/>
              <a:t> agent isolates context by using a scratchpad environment: the agent’s chain of thought and tool uses are kept separate from the user-facing conversation, effectively sandboxing the verbose reasoning so the user (and model on the next turn) only sees the distilled outcome. This isolation prevents irrelevant details or errors from one part of the process leaking into another.</a:t>
            </a:r>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TW" dirty="0"/>
              <a:t>One more notable example is </a:t>
            </a:r>
            <a:r>
              <a:rPr lang="en-US" altLang="zh-TW" dirty="0" err="1"/>
              <a:t>Anthropic’s</a:t>
            </a:r>
            <a:r>
              <a:rPr lang="en-US" altLang="zh-TW" dirty="0"/>
              <a:t> parallel research agents. Their case study (“How we built our multi-agent research system”) vividly shows context engineering trade-offs. Initially, one might think having a single agent with a 100k token window means it could just read everything sequentially. But their results found that splitting the work among subagents (each with their own 100k window, effectively) and then compressing their findings back to the lead agent was far more effective. It’s context engineering in the sense of </a:t>
            </a:r>
            <a:r>
              <a:rPr lang="en-US" altLang="zh-TW" i="1" dirty="0"/>
              <a:t>allocating attention</a:t>
            </a:r>
            <a:r>
              <a:rPr lang="en-US" altLang="zh-TW" dirty="0"/>
              <a:t>: each agent’s context is curated for depth in one area, and the lead agent’s context is filled with the distilled outputs of those specialists. The performance boost came largely from the system being able to </a:t>
            </a:r>
            <a:r>
              <a:rPr lang="en-US" altLang="zh-TW" i="1" dirty="0"/>
              <a:t>spend more total tokens</a:t>
            </a:r>
            <a:r>
              <a:rPr lang="en-US" altLang="zh-TW" dirty="0"/>
              <a:t> on the problem (since each subagent could consume tokens in parallel). But that only worked because of a careful context hand-off: the lead agent had to have a context that). This example mirrors the “from contexts to agents” idea: by engineering how context is spread and exchanged between multiple LLMs, we created a more powerful </a:t>
            </a:r>
            <a:r>
              <a:rPr lang="en-US" altLang="zh-TW" i="1" dirty="0"/>
              <a:t>collective agent</a:t>
            </a:r>
            <a:r>
              <a:rPr lang="en-US" altLang="zh-TW" dirty="0"/>
              <a:t> that could do things a single context could not.</a:t>
            </a:r>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err="1"/>
              <a:t>LangChain</a:t>
            </a:r>
            <a:r>
              <a:rPr lang="en-US" altLang="zh-TW" dirty="0"/>
              <a:t> </a:t>
            </a:r>
            <a:r>
              <a:rPr lang="zh-TW" altLang="en-US" dirty="0"/>
              <a:t>近期也有一篇 </a:t>
            </a:r>
            <a:r>
              <a:rPr lang="en-US" altLang="zh-TW" dirty="0">
                <a:hlinkClick r:id="rId3"/>
              </a:rPr>
              <a:t>Benchmarking Multi-Agent Architectures</a:t>
            </a:r>
            <a:r>
              <a:rPr lang="en-US" altLang="zh-TW" dirty="0"/>
              <a:t> </a:t>
            </a:r>
            <a:r>
              <a:rPr lang="zh-TW" altLang="en-US" dirty="0"/>
              <a:t>一針對不同架構進行實驗，對比了三種常見形式：</a:t>
            </a:r>
            <a:endParaRPr lang="zh-TW" altLang="en-US" dirty="0"/>
          </a:p>
          <a:p>
            <a:r>
              <a:rPr lang="en-US" altLang="zh-TW" dirty="0"/>
              <a:t>Single Agent: </a:t>
            </a:r>
            <a:r>
              <a:rPr lang="zh-TW" altLang="en-US" dirty="0"/>
              <a:t>單一 </a:t>
            </a:r>
            <a:r>
              <a:rPr lang="en-US" altLang="zh-TW" dirty="0"/>
              <a:t>Agent </a:t>
            </a:r>
            <a:r>
              <a:rPr lang="zh-TW" altLang="en-US" dirty="0"/>
              <a:t>擁有所有工具與指令集，直接處理任務</a:t>
            </a:r>
            <a:endParaRPr lang="zh-TW" altLang="en-US" dirty="0"/>
          </a:p>
          <a:p>
            <a:r>
              <a:rPr lang="en-US" altLang="zh-TW" dirty="0"/>
              <a:t>Multi-Agent (Supervisor): </a:t>
            </a:r>
            <a:r>
              <a:rPr lang="zh-TW" altLang="en-US" dirty="0"/>
              <a:t>主 </a:t>
            </a:r>
            <a:r>
              <a:rPr lang="en-US" altLang="zh-TW" dirty="0"/>
              <a:t>Agent </a:t>
            </a:r>
            <a:r>
              <a:rPr lang="zh-TW" altLang="en-US" dirty="0"/>
              <a:t>負責接收任務並將子任務分派給不同 </a:t>
            </a:r>
            <a:r>
              <a:rPr lang="en-US" altLang="zh-TW" dirty="0"/>
              <a:t>Sub Agent</a:t>
            </a:r>
            <a:r>
              <a:rPr lang="zh-TW" altLang="en-US" dirty="0"/>
              <a:t>，再彙整結果</a:t>
            </a:r>
            <a:endParaRPr lang="zh-TW" altLang="en-US" dirty="0"/>
          </a:p>
          <a:p>
            <a:r>
              <a:rPr lang="en-US" altLang="zh-TW" dirty="0"/>
              <a:t>Multi-Agent (Handoff): </a:t>
            </a:r>
            <a:r>
              <a:rPr lang="zh-TW" altLang="en-US" dirty="0"/>
              <a:t>所有 </a:t>
            </a:r>
            <a:r>
              <a:rPr lang="en-US" altLang="zh-TW" dirty="0"/>
              <a:t>Agent </a:t>
            </a:r>
            <a:r>
              <a:rPr lang="zh-TW" altLang="en-US" dirty="0"/>
              <a:t>對等，彼此可互相 </a:t>
            </a:r>
            <a:r>
              <a:rPr lang="en-US" altLang="zh-TW" dirty="0"/>
              <a:t>handoff </a:t>
            </a:r>
            <a:r>
              <a:rPr lang="zh-TW" altLang="en-US" dirty="0"/>
              <a:t>任務，當下只有一位 </a:t>
            </a:r>
            <a:r>
              <a:rPr lang="en-US" altLang="zh-TW" dirty="0"/>
              <a:t>Agent </a:t>
            </a:r>
            <a:r>
              <a:rPr lang="zh-TW" altLang="en-US" dirty="0"/>
              <a:t>活躍</a:t>
            </a:r>
            <a:endParaRPr lang="zh-TW" altLang="en-US" dirty="0"/>
          </a:p>
          <a:p>
            <a:r>
              <a:rPr lang="zh-TW" altLang="en-US" dirty="0"/>
              <a:t>單一任務 </a:t>
            </a:r>
            <a:r>
              <a:rPr lang="en-US" altLang="zh-TW" dirty="0"/>
              <a:t>+ </a:t>
            </a:r>
            <a:r>
              <a:rPr lang="zh-TW" altLang="en-US" dirty="0"/>
              <a:t>工具少時，</a:t>
            </a:r>
            <a:r>
              <a:rPr lang="en-US" altLang="zh-TW" dirty="0"/>
              <a:t>Single Agent </a:t>
            </a:r>
            <a:r>
              <a:rPr lang="zh-TW" altLang="en-US" dirty="0"/>
              <a:t>表現最佳，執行路徑簡單、不需額外協調。</a:t>
            </a:r>
            <a:endParaRPr lang="zh-TW" altLang="en-US" dirty="0"/>
          </a:p>
          <a:p>
            <a:r>
              <a:rPr lang="zh-TW" altLang="en-US" dirty="0"/>
              <a:t>任務多元 </a:t>
            </a:r>
            <a:r>
              <a:rPr lang="en-US" altLang="zh-TW" dirty="0"/>
              <a:t>+ </a:t>
            </a:r>
            <a:r>
              <a:rPr lang="zh-TW" altLang="en-US" dirty="0"/>
              <a:t>工具繁雜時， </a:t>
            </a:r>
            <a:r>
              <a:rPr lang="en-US" altLang="zh-TW" dirty="0"/>
              <a:t>Multi-Agent (Handoff) </a:t>
            </a:r>
            <a:r>
              <a:rPr lang="zh-TW" altLang="en-US" dirty="0"/>
              <a:t>架構略勝一籌，因為可直接回應使用者。</a:t>
            </a:r>
            <a:r>
              <a:rPr lang="en-US" altLang="zh-TW" dirty="0"/>
              <a:t>Multi-Agent (Supervisor) </a:t>
            </a:r>
            <a:r>
              <a:rPr lang="zh-TW" altLang="en-US" dirty="0"/>
              <a:t>架構需要透過 </a:t>
            </a:r>
            <a:r>
              <a:rPr lang="en-US" altLang="zh-TW" dirty="0"/>
              <a:t>Lead Agent </a:t>
            </a:r>
            <a:r>
              <a:rPr lang="zh-TW" altLang="en-US" dirty="0"/>
              <a:t>在轉回給用戶，表現次佳。</a:t>
            </a:r>
            <a:endParaRPr lang="zh-TW" altLang="en-US" dirty="0"/>
          </a:p>
          <a:p>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7BDA5693-4DAE-4431-B0C6-A72D8B2D6A35}" type="slidenum">
              <a:rPr lang="zh-TW" altLang="en-US" smtClean="0"/>
            </a:fld>
            <a:endParaRPr lang="zh-TW"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endParaRPr lang="zh-TW" altLang="en-US"/>
          </a:p>
        </p:txBody>
      </p:sp>
      <p:sp>
        <p:nvSpPr>
          <p:cNvPr id="3" name="副標題 2"/>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zh-TW" altLang="en-US"/>
          </a:p>
        </p:txBody>
      </p:sp>
      <p:sp>
        <p:nvSpPr>
          <p:cNvPr id="4" name="日期版面配置區 3"/>
          <p:cNvSpPr>
            <a:spLocks noGrp="1"/>
          </p:cNvSpPr>
          <p:nvPr>
            <p:ph type="dt" sz="half" idx="10"/>
          </p:nvPr>
        </p:nvSpPr>
        <p:spPr/>
        <p:txBody>
          <a:bodyPr/>
          <a:lstStyle/>
          <a:p>
            <a:fld id="{25D3F93F-215B-451C-B97D-16C61A292374}" type="datetimeFigureOut">
              <a:rPr lang="zh-TW" altLang="en-US" smtClean="0"/>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71CB6872-61BE-457C-9387-346643FB029D}" type="slidenum">
              <a:rPr lang="zh-TW" altLang="en-US" smtClean="0"/>
            </a:fld>
            <a:endParaRPr lang="zh-TW"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endParaRPr lang="zh-TW" altLang="en-US"/>
          </a:p>
        </p:txBody>
      </p:sp>
      <p:sp>
        <p:nvSpPr>
          <p:cNvPr id="3" name="內容版面配置區 2"/>
          <p:cNvSpPr>
            <a:spLocks noGrp="1"/>
          </p:cNvSpPr>
          <p:nvPr>
            <p:ph idx="1"/>
          </p:nvPr>
        </p:nvSpPr>
        <p:spPr/>
        <p:txBody>
          <a:bodyPr/>
          <a:lstStyle/>
          <a:p>
            <a:pPr lvl="0"/>
            <a:r>
              <a:rPr lang="zh-TW" altLang="en-US"/>
              <a:t>按一下以編輯母片文字樣式</a:t>
            </a:r>
            <a:endParaRPr lang="zh-TW" altLang="en-US"/>
          </a:p>
          <a:p>
            <a:pPr lvl="1"/>
            <a:r>
              <a:rPr lang="zh-TW" altLang="en-US"/>
              <a:t>第二層</a:t>
            </a:r>
            <a:endParaRPr lang="zh-TW" altLang="en-US"/>
          </a:p>
          <a:p>
            <a:pPr lvl="2"/>
            <a:r>
              <a:rPr lang="zh-TW" altLang="en-US"/>
              <a:t>第三層</a:t>
            </a:r>
            <a:endParaRPr lang="zh-TW" altLang="en-US"/>
          </a:p>
          <a:p>
            <a:pPr lvl="3"/>
            <a:r>
              <a:rPr lang="zh-TW" altLang="en-US"/>
              <a:t>第四層</a:t>
            </a:r>
            <a:endParaRPr lang="zh-TW" altLang="en-US"/>
          </a:p>
          <a:p>
            <a:pPr lvl="4"/>
            <a:r>
              <a:rPr lang="zh-TW" altLang="en-US"/>
              <a:t>第五層</a:t>
            </a:r>
            <a:endParaRPr lang="zh-TW" altLang="en-US"/>
          </a:p>
        </p:txBody>
      </p:sp>
      <p:sp>
        <p:nvSpPr>
          <p:cNvPr id="4" name="日期版面配置區 3"/>
          <p:cNvSpPr>
            <a:spLocks noGrp="1"/>
          </p:cNvSpPr>
          <p:nvPr>
            <p:ph type="dt" sz="half" idx="10"/>
          </p:nvPr>
        </p:nvSpPr>
        <p:spPr/>
        <p:txBody>
          <a:bodyPr/>
          <a:lstStyle/>
          <a:p>
            <a:fld id="{25D3F93F-215B-451C-B97D-16C61A292374}" type="datetimeFigureOut">
              <a:rPr lang="zh-TW" altLang="en-US" smtClean="0"/>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71CB6872-61BE-457C-9387-346643FB029D}" type="slidenum">
              <a:rPr lang="zh-TW" altLang="en-US" smtClean="0"/>
            </a:fld>
            <a:endParaRPr lang="zh-TW"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endParaRPr lang="zh-TW" altLang="en-US"/>
          </a:p>
        </p:txBody>
      </p:sp>
      <p:sp>
        <p:nvSpPr>
          <p:cNvPr id="3" name="文字版面配置區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TW" altLang="en-US"/>
              <a:t>按一下以編輯母片文字樣式</a:t>
            </a:r>
            <a:endParaRPr lang="zh-TW" altLang="en-US"/>
          </a:p>
        </p:txBody>
      </p:sp>
      <p:sp>
        <p:nvSpPr>
          <p:cNvPr id="4" name="日期版面配置區 3"/>
          <p:cNvSpPr>
            <a:spLocks noGrp="1"/>
          </p:cNvSpPr>
          <p:nvPr>
            <p:ph type="dt" sz="half" idx="10"/>
          </p:nvPr>
        </p:nvSpPr>
        <p:spPr/>
        <p:txBody>
          <a:bodyPr/>
          <a:lstStyle/>
          <a:p>
            <a:fld id="{25D3F93F-215B-451C-B97D-16C61A292374}" type="datetimeFigureOut">
              <a:rPr lang="zh-TW" altLang="en-US" smtClean="0"/>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71CB6872-61BE-457C-9387-346643FB029D}" type="slidenum">
              <a:rPr lang="zh-TW" altLang="en-US" smtClean="0"/>
            </a:fld>
            <a:endParaRPr lang="zh-TW"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endParaRPr lang="zh-TW" altLang="en-US"/>
          </a:p>
        </p:txBody>
      </p:sp>
      <p:sp>
        <p:nvSpPr>
          <p:cNvPr id="3" name="內容版面配置區 2"/>
          <p:cNvSpPr>
            <a:spLocks noGrp="1"/>
          </p:cNvSpPr>
          <p:nvPr>
            <p:ph sz="half" idx="1"/>
          </p:nvPr>
        </p:nvSpPr>
        <p:spPr>
          <a:xfrm>
            <a:off x="838200" y="1825625"/>
            <a:ext cx="5181600" cy="4351338"/>
          </a:xfrm>
        </p:spPr>
        <p:txBody>
          <a:bodyPr/>
          <a:lstStyle/>
          <a:p>
            <a:pPr lvl="0"/>
            <a:r>
              <a:rPr lang="zh-TW" altLang="en-US"/>
              <a:t>按一下以編輯母片文字樣式</a:t>
            </a:r>
            <a:endParaRPr lang="zh-TW" altLang="en-US"/>
          </a:p>
          <a:p>
            <a:pPr lvl="1"/>
            <a:r>
              <a:rPr lang="zh-TW" altLang="en-US"/>
              <a:t>第二層</a:t>
            </a:r>
            <a:endParaRPr lang="zh-TW" altLang="en-US"/>
          </a:p>
          <a:p>
            <a:pPr lvl="2"/>
            <a:r>
              <a:rPr lang="zh-TW" altLang="en-US"/>
              <a:t>第三層</a:t>
            </a:r>
            <a:endParaRPr lang="zh-TW" altLang="en-US"/>
          </a:p>
          <a:p>
            <a:pPr lvl="3"/>
            <a:r>
              <a:rPr lang="zh-TW" altLang="en-US"/>
              <a:t>第四層</a:t>
            </a:r>
            <a:endParaRPr lang="zh-TW" altLang="en-US"/>
          </a:p>
          <a:p>
            <a:pPr lvl="4"/>
            <a:r>
              <a:rPr lang="zh-TW" altLang="en-US"/>
              <a:t>第五層</a:t>
            </a:r>
            <a:endParaRPr lang="zh-TW" altLang="en-US"/>
          </a:p>
        </p:txBody>
      </p:sp>
      <p:sp>
        <p:nvSpPr>
          <p:cNvPr id="4" name="內容版面配置區 3"/>
          <p:cNvSpPr>
            <a:spLocks noGrp="1"/>
          </p:cNvSpPr>
          <p:nvPr>
            <p:ph sz="half" idx="2"/>
          </p:nvPr>
        </p:nvSpPr>
        <p:spPr>
          <a:xfrm>
            <a:off x="6172200" y="1825625"/>
            <a:ext cx="5181600" cy="4351338"/>
          </a:xfrm>
        </p:spPr>
        <p:txBody>
          <a:bodyPr/>
          <a:lstStyle/>
          <a:p>
            <a:pPr lvl="0"/>
            <a:r>
              <a:rPr lang="zh-TW" altLang="en-US"/>
              <a:t>按一下以編輯母片文字樣式</a:t>
            </a:r>
            <a:endParaRPr lang="zh-TW" altLang="en-US"/>
          </a:p>
          <a:p>
            <a:pPr lvl="1"/>
            <a:r>
              <a:rPr lang="zh-TW" altLang="en-US"/>
              <a:t>第二層</a:t>
            </a:r>
            <a:endParaRPr lang="zh-TW" altLang="en-US"/>
          </a:p>
          <a:p>
            <a:pPr lvl="2"/>
            <a:r>
              <a:rPr lang="zh-TW" altLang="en-US"/>
              <a:t>第三層</a:t>
            </a:r>
            <a:endParaRPr lang="zh-TW" altLang="en-US"/>
          </a:p>
          <a:p>
            <a:pPr lvl="3"/>
            <a:r>
              <a:rPr lang="zh-TW" altLang="en-US"/>
              <a:t>第四層</a:t>
            </a:r>
            <a:endParaRPr lang="zh-TW" altLang="en-US"/>
          </a:p>
          <a:p>
            <a:pPr lvl="4"/>
            <a:r>
              <a:rPr lang="zh-TW" altLang="en-US"/>
              <a:t>第五層</a:t>
            </a:r>
            <a:endParaRPr lang="zh-TW" altLang="en-US"/>
          </a:p>
        </p:txBody>
      </p:sp>
      <p:sp>
        <p:nvSpPr>
          <p:cNvPr id="5" name="日期版面配置區 4"/>
          <p:cNvSpPr>
            <a:spLocks noGrp="1"/>
          </p:cNvSpPr>
          <p:nvPr>
            <p:ph type="dt" sz="half" idx="10"/>
          </p:nvPr>
        </p:nvSpPr>
        <p:spPr/>
        <p:txBody>
          <a:bodyPr/>
          <a:lstStyle/>
          <a:p>
            <a:fld id="{25D3F93F-215B-451C-B97D-16C61A292374}" type="datetimeFigureOut">
              <a:rPr lang="zh-TW" altLang="en-US" smtClean="0"/>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71CB6872-61BE-457C-9387-346643FB029D}" type="slidenum">
              <a:rPr lang="zh-TW" altLang="en-US" smtClean="0"/>
            </a:fld>
            <a:endParaRPr lang="zh-TW"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p:cNvSpPr>
            <a:spLocks noGrp="1"/>
          </p:cNvSpPr>
          <p:nvPr>
            <p:ph type="title"/>
          </p:nvPr>
        </p:nvSpPr>
        <p:spPr>
          <a:xfrm>
            <a:off x="839788" y="365125"/>
            <a:ext cx="10515600" cy="1325563"/>
          </a:xfrm>
        </p:spPr>
        <p:txBody>
          <a:bodyPr/>
          <a:lstStyle/>
          <a:p>
            <a:r>
              <a:rPr lang="zh-TW" altLang="en-US"/>
              <a:t>按一下以編輯母片標題樣式</a:t>
            </a:r>
            <a:endParaRPr lang="zh-TW" altLang="en-US"/>
          </a:p>
        </p:txBody>
      </p:sp>
      <p:sp>
        <p:nvSpPr>
          <p:cNvPr id="3" name="文字版面配置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endParaRPr lang="zh-TW" altLang="en-US"/>
          </a:p>
        </p:txBody>
      </p:sp>
      <p:sp>
        <p:nvSpPr>
          <p:cNvPr id="4" name="內容版面配置區 3"/>
          <p:cNvSpPr>
            <a:spLocks noGrp="1"/>
          </p:cNvSpPr>
          <p:nvPr>
            <p:ph sz="half" idx="2"/>
          </p:nvPr>
        </p:nvSpPr>
        <p:spPr>
          <a:xfrm>
            <a:off x="839788" y="2505075"/>
            <a:ext cx="5157787" cy="3684588"/>
          </a:xfrm>
        </p:spPr>
        <p:txBody>
          <a:bodyPr/>
          <a:lstStyle/>
          <a:p>
            <a:pPr lvl="0"/>
            <a:r>
              <a:rPr lang="zh-TW" altLang="en-US"/>
              <a:t>按一下以編輯母片文字樣式</a:t>
            </a:r>
            <a:endParaRPr lang="zh-TW" altLang="en-US"/>
          </a:p>
          <a:p>
            <a:pPr lvl="1"/>
            <a:r>
              <a:rPr lang="zh-TW" altLang="en-US"/>
              <a:t>第二層</a:t>
            </a:r>
            <a:endParaRPr lang="zh-TW" altLang="en-US"/>
          </a:p>
          <a:p>
            <a:pPr lvl="2"/>
            <a:r>
              <a:rPr lang="zh-TW" altLang="en-US"/>
              <a:t>第三層</a:t>
            </a:r>
            <a:endParaRPr lang="zh-TW" altLang="en-US"/>
          </a:p>
          <a:p>
            <a:pPr lvl="3"/>
            <a:r>
              <a:rPr lang="zh-TW" altLang="en-US"/>
              <a:t>第四層</a:t>
            </a:r>
            <a:endParaRPr lang="zh-TW" altLang="en-US"/>
          </a:p>
          <a:p>
            <a:pPr lvl="4"/>
            <a:r>
              <a:rPr lang="zh-TW" altLang="en-US"/>
              <a:t>第五層</a:t>
            </a:r>
            <a:endParaRPr lang="zh-TW" altLang="en-US"/>
          </a:p>
        </p:txBody>
      </p:sp>
      <p:sp>
        <p:nvSpPr>
          <p:cNvPr id="5" name="文字版面配置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endParaRPr lang="zh-TW" altLang="en-US"/>
          </a:p>
        </p:txBody>
      </p:sp>
      <p:sp>
        <p:nvSpPr>
          <p:cNvPr id="6" name="內容版面配置區 5"/>
          <p:cNvSpPr>
            <a:spLocks noGrp="1"/>
          </p:cNvSpPr>
          <p:nvPr>
            <p:ph sz="quarter" idx="4"/>
          </p:nvPr>
        </p:nvSpPr>
        <p:spPr>
          <a:xfrm>
            <a:off x="6172200" y="2505075"/>
            <a:ext cx="5183188" cy="3684588"/>
          </a:xfrm>
        </p:spPr>
        <p:txBody>
          <a:bodyPr/>
          <a:lstStyle/>
          <a:p>
            <a:pPr lvl="0"/>
            <a:r>
              <a:rPr lang="zh-TW" altLang="en-US"/>
              <a:t>按一下以編輯母片文字樣式</a:t>
            </a:r>
            <a:endParaRPr lang="zh-TW" altLang="en-US"/>
          </a:p>
          <a:p>
            <a:pPr lvl="1"/>
            <a:r>
              <a:rPr lang="zh-TW" altLang="en-US"/>
              <a:t>第二層</a:t>
            </a:r>
            <a:endParaRPr lang="zh-TW" altLang="en-US"/>
          </a:p>
          <a:p>
            <a:pPr lvl="2"/>
            <a:r>
              <a:rPr lang="zh-TW" altLang="en-US"/>
              <a:t>第三層</a:t>
            </a:r>
            <a:endParaRPr lang="zh-TW" altLang="en-US"/>
          </a:p>
          <a:p>
            <a:pPr lvl="3"/>
            <a:r>
              <a:rPr lang="zh-TW" altLang="en-US"/>
              <a:t>第四層</a:t>
            </a:r>
            <a:endParaRPr lang="zh-TW" altLang="en-US"/>
          </a:p>
          <a:p>
            <a:pPr lvl="4"/>
            <a:r>
              <a:rPr lang="zh-TW" altLang="en-US"/>
              <a:t>第五層</a:t>
            </a:r>
            <a:endParaRPr lang="zh-TW" altLang="en-US"/>
          </a:p>
        </p:txBody>
      </p:sp>
      <p:sp>
        <p:nvSpPr>
          <p:cNvPr id="7" name="日期版面配置區 6"/>
          <p:cNvSpPr>
            <a:spLocks noGrp="1"/>
          </p:cNvSpPr>
          <p:nvPr>
            <p:ph type="dt" sz="half" idx="10"/>
          </p:nvPr>
        </p:nvSpPr>
        <p:spPr/>
        <p:txBody>
          <a:bodyPr/>
          <a:lstStyle/>
          <a:p>
            <a:fld id="{25D3F93F-215B-451C-B97D-16C61A292374}" type="datetimeFigureOut">
              <a:rPr lang="zh-TW" altLang="en-US" smtClean="0"/>
            </a:fld>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71CB6872-61BE-457C-9387-346643FB029D}" type="slidenum">
              <a:rPr lang="zh-TW" altLang="en-US" smtClean="0"/>
            </a:fld>
            <a:endParaRPr lang="zh-TW"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endParaRPr lang="zh-TW" altLang="en-US"/>
          </a:p>
        </p:txBody>
      </p:sp>
      <p:sp>
        <p:nvSpPr>
          <p:cNvPr id="3" name="日期版面配置區 2"/>
          <p:cNvSpPr>
            <a:spLocks noGrp="1"/>
          </p:cNvSpPr>
          <p:nvPr>
            <p:ph type="dt" sz="half" idx="10"/>
          </p:nvPr>
        </p:nvSpPr>
        <p:spPr/>
        <p:txBody>
          <a:bodyPr/>
          <a:lstStyle/>
          <a:p>
            <a:fld id="{25D3F93F-215B-451C-B97D-16C61A292374}" type="datetimeFigureOut">
              <a:rPr lang="zh-TW" altLang="en-US" smtClean="0"/>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71CB6872-61BE-457C-9387-346643FB029D}" type="slidenum">
              <a:rPr lang="zh-TW" altLang="en-US" smtClean="0"/>
            </a:fld>
            <a:endParaRPr lang="zh-TW"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fld id="{25D3F93F-215B-451C-B97D-16C61A292374}" type="datetimeFigureOut">
              <a:rPr lang="zh-TW" altLang="en-US" smtClean="0"/>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71CB6872-61BE-457C-9387-346643FB029D}" type="slidenum">
              <a:rPr lang="zh-TW" altLang="en-US" smtClean="0"/>
            </a:fld>
            <a:endParaRPr lang="zh-TW"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endParaRPr lang="zh-TW" altLang="en-US"/>
          </a:p>
        </p:txBody>
      </p:sp>
      <p:sp>
        <p:nvSpPr>
          <p:cNvPr id="3" name="內容版面配置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endParaRPr lang="zh-TW" altLang="en-US"/>
          </a:p>
          <a:p>
            <a:pPr lvl="1"/>
            <a:r>
              <a:rPr lang="zh-TW" altLang="en-US"/>
              <a:t>第二層</a:t>
            </a:r>
            <a:endParaRPr lang="zh-TW" altLang="en-US"/>
          </a:p>
          <a:p>
            <a:pPr lvl="2"/>
            <a:r>
              <a:rPr lang="zh-TW" altLang="en-US"/>
              <a:t>第三層</a:t>
            </a:r>
            <a:endParaRPr lang="zh-TW" altLang="en-US"/>
          </a:p>
          <a:p>
            <a:pPr lvl="3"/>
            <a:r>
              <a:rPr lang="zh-TW" altLang="en-US"/>
              <a:t>第四層</a:t>
            </a:r>
            <a:endParaRPr lang="zh-TW" altLang="en-US"/>
          </a:p>
          <a:p>
            <a:pPr lvl="4"/>
            <a:r>
              <a:rPr lang="zh-TW" altLang="en-US"/>
              <a:t>第五層</a:t>
            </a:r>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endParaRPr lang="zh-TW" altLang="en-US"/>
          </a:p>
        </p:txBody>
      </p:sp>
      <p:sp>
        <p:nvSpPr>
          <p:cNvPr id="5" name="日期版面配置區 4"/>
          <p:cNvSpPr>
            <a:spLocks noGrp="1"/>
          </p:cNvSpPr>
          <p:nvPr>
            <p:ph type="dt" sz="half" idx="10"/>
          </p:nvPr>
        </p:nvSpPr>
        <p:spPr/>
        <p:txBody>
          <a:bodyPr/>
          <a:lstStyle/>
          <a:p>
            <a:fld id="{25D3F93F-215B-451C-B97D-16C61A292374}" type="datetimeFigureOut">
              <a:rPr lang="zh-TW" altLang="en-US" smtClean="0"/>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71CB6872-61BE-457C-9387-346643FB029D}" type="slidenum">
              <a:rPr lang="zh-TW" altLang="en-US" smtClean="0"/>
            </a:fld>
            <a:endParaRPr lang="zh-TW"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endParaRPr lang="zh-TW" altLang="en-US"/>
          </a:p>
        </p:txBody>
      </p:sp>
      <p:sp>
        <p:nvSpPr>
          <p:cNvPr id="3" name="圖片版面配置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endParaRPr lang="zh-TW" altLang="en-US"/>
          </a:p>
        </p:txBody>
      </p:sp>
      <p:sp>
        <p:nvSpPr>
          <p:cNvPr id="5" name="日期版面配置區 4"/>
          <p:cNvSpPr>
            <a:spLocks noGrp="1"/>
          </p:cNvSpPr>
          <p:nvPr>
            <p:ph type="dt" sz="half" idx="10"/>
          </p:nvPr>
        </p:nvSpPr>
        <p:spPr/>
        <p:txBody>
          <a:bodyPr/>
          <a:lstStyle/>
          <a:p>
            <a:fld id="{25D3F93F-215B-451C-B97D-16C61A292374}" type="datetimeFigureOut">
              <a:rPr lang="zh-TW" altLang="en-US" smtClean="0"/>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71CB6872-61BE-457C-9387-346643FB029D}" type="slidenum">
              <a:rPr lang="zh-TW" altLang="en-US" smtClean="0"/>
            </a:fld>
            <a:endParaRPr lang="zh-TW"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endParaRPr lang="zh-TW" altLang="en-US"/>
          </a:p>
        </p:txBody>
      </p:sp>
      <p:sp>
        <p:nvSpPr>
          <p:cNvPr id="3" name="直排文字版面配置區 2"/>
          <p:cNvSpPr>
            <a:spLocks noGrp="1"/>
          </p:cNvSpPr>
          <p:nvPr>
            <p:ph type="body" orient="vert" idx="1"/>
          </p:nvPr>
        </p:nvSpPr>
        <p:spPr/>
        <p:txBody>
          <a:bodyPr vert="eaVert"/>
          <a:lstStyle/>
          <a:p>
            <a:pPr lvl="0"/>
            <a:r>
              <a:rPr lang="zh-TW" altLang="en-US"/>
              <a:t>按一下以編輯母片文字樣式</a:t>
            </a:r>
            <a:endParaRPr lang="zh-TW" altLang="en-US"/>
          </a:p>
          <a:p>
            <a:pPr lvl="1"/>
            <a:r>
              <a:rPr lang="zh-TW" altLang="en-US"/>
              <a:t>第二層</a:t>
            </a:r>
            <a:endParaRPr lang="zh-TW" altLang="en-US"/>
          </a:p>
          <a:p>
            <a:pPr lvl="2"/>
            <a:r>
              <a:rPr lang="zh-TW" altLang="en-US"/>
              <a:t>第三層</a:t>
            </a:r>
            <a:endParaRPr lang="zh-TW" altLang="en-US"/>
          </a:p>
          <a:p>
            <a:pPr lvl="3"/>
            <a:r>
              <a:rPr lang="zh-TW" altLang="en-US"/>
              <a:t>第四層</a:t>
            </a:r>
            <a:endParaRPr lang="zh-TW" altLang="en-US"/>
          </a:p>
          <a:p>
            <a:pPr lvl="4"/>
            <a:r>
              <a:rPr lang="zh-TW" altLang="en-US"/>
              <a:t>第五層</a:t>
            </a:r>
            <a:endParaRPr lang="zh-TW" altLang="en-US"/>
          </a:p>
        </p:txBody>
      </p:sp>
      <p:sp>
        <p:nvSpPr>
          <p:cNvPr id="4" name="日期版面配置區 3"/>
          <p:cNvSpPr>
            <a:spLocks noGrp="1"/>
          </p:cNvSpPr>
          <p:nvPr>
            <p:ph type="dt" sz="half" idx="10"/>
          </p:nvPr>
        </p:nvSpPr>
        <p:spPr/>
        <p:txBody>
          <a:bodyPr/>
          <a:lstStyle/>
          <a:p>
            <a:fld id="{25D3F93F-215B-451C-B97D-16C61A292374}" type="datetimeFigureOut">
              <a:rPr lang="zh-TW" altLang="en-US" smtClean="0"/>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71CB6872-61BE-457C-9387-346643FB029D}" type="slidenum">
              <a:rPr lang="zh-TW" altLang="en-US" smtClean="0"/>
            </a:fld>
            <a:endParaRPr lang="zh-TW"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8724900" y="365125"/>
            <a:ext cx="2628900" cy="5811838"/>
          </a:xfrm>
        </p:spPr>
        <p:txBody>
          <a:bodyPr vert="eaVert"/>
          <a:lstStyle/>
          <a:p>
            <a:r>
              <a:rPr lang="zh-TW" altLang="en-US"/>
              <a:t>按一下以編輯母片標題樣式</a:t>
            </a:r>
            <a:endParaRPr lang="zh-TW" altLang="en-US"/>
          </a:p>
        </p:txBody>
      </p:sp>
      <p:sp>
        <p:nvSpPr>
          <p:cNvPr id="3" name="直排文字版面配置區 2"/>
          <p:cNvSpPr>
            <a:spLocks noGrp="1"/>
          </p:cNvSpPr>
          <p:nvPr>
            <p:ph type="body" orient="vert" idx="1"/>
          </p:nvPr>
        </p:nvSpPr>
        <p:spPr>
          <a:xfrm>
            <a:off x="838200" y="365125"/>
            <a:ext cx="7734300" cy="5811838"/>
          </a:xfrm>
        </p:spPr>
        <p:txBody>
          <a:bodyPr vert="eaVert"/>
          <a:lstStyle/>
          <a:p>
            <a:pPr lvl="0"/>
            <a:r>
              <a:rPr lang="zh-TW" altLang="en-US"/>
              <a:t>按一下以編輯母片文字樣式</a:t>
            </a:r>
            <a:endParaRPr lang="zh-TW" altLang="en-US"/>
          </a:p>
          <a:p>
            <a:pPr lvl="1"/>
            <a:r>
              <a:rPr lang="zh-TW" altLang="en-US"/>
              <a:t>第二層</a:t>
            </a:r>
            <a:endParaRPr lang="zh-TW" altLang="en-US"/>
          </a:p>
          <a:p>
            <a:pPr lvl="2"/>
            <a:r>
              <a:rPr lang="zh-TW" altLang="en-US"/>
              <a:t>第三層</a:t>
            </a:r>
            <a:endParaRPr lang="zh-TW" altLang="en-US"/>
          </a:p>
          <a:p>
            <a:pPr lvl="3"/>
            <a:r>
              <a:rPr lang="zh-TW" altLang="en-US"/>
              <a:t>第四層</a:t>
            </a:r>
            <a:endParaRPr lang="zh-TW" altLang="en-US"/>
          </a:p>
          <a:p>
            <a:pPr lvl="4"/>
            <a:r>
              <a:rPr lang="zh-TW" altLang="en-US"/>
              <a:t>第五層</a:t>
            </a:r>
            <a:endParaRPr lang="zh-TW" altLang="en-US"/>
          </a:p>
        </p:txBody>
      </p:sp>
      <p:sp>
        <p:nvSpPr>
          <p:cNvPr id="4" name="日期版面配置區 3"/>
          <p:cNvSpPr>
            <a:spLocks noGrp="1"/>
          </p:cNvSpPr>
          <p:nvPr>
            <p:ph type="dt" sz="half" idx="10"/>
          </p:nvPr>
        </p:nvSpPr>
        <p:spPr/>
        <p:txBody>
          <a:bodyPr/>
          <a:lstStyle/>
          <a:p>
            <a:fld id="{25D3F93F-215B-451C-B97D-16C61A292374}" type="datetimeFigureOut">
              <a:rPr lang="zh-TW" altLang="en-US" smtClean="0"/>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71CB6872-61BE-457C-9387-346643FB029D}" type="slidenum">
              <a:rPr lang="zh-TW" altLang="en-US" smtClean="0"/>
            </a:fld>
            <a:endParaRPr lang="zh-TW"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endParaRPr lang="zh-TW" altLang="en-US"/>
          </a:p>
        </p:txBody>
      </p:sp>
      <p:sp>
        <p:nvSpPr>
          <p:cNvPr id="3" name="副標題 2"/>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zh-TW" altLang="en-US"/>
          </a:p>
        </p:txBody>
      </p:sp>
      <p:sp>
        <p:nvSpPr>
          <p:cNvPr id="4" name="日期版面配置區 3"/>
          <p:cNvSpPr>
            <a:spLocks noGrp="1"/>
          </p:cNvSpPr>
          <p:nvPr>
            <p:ph type="dt" sz="half" idx="10"/>
          </p:nvPr>
        </p:nvSpPr>
        <p:spPr/>
        <p:txBody>
          <a:bodyPr/>
          <a:lstStyle/>
          <a:p>
            <a:fld id="{DB6AC99C-D50E-4E91-A691-9BDF38185A97}" type="datetimeFigureOut">
              <a:rPr lang="zh-TW" altLang="en-US" smtClean="0"/>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234749F2-A68F-44FD-956F-573CA8BB6502}" type="slidenum">
              <a:rPr lang="zh-TW" altLang="en-US" smtClean="0"/>
            </a:fld>
            <a:endParaRPr lang="zh-TW"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endParaRPr lang="zh-TW" altLang="en-US"/>
          </a:p>
        </p:txBody>
      </p:sp>
      <p:sp>
        <p:nvSpPr>
          <p:cNvPr id="3" name="內容版面配置區 2"/>
          <p:cNvSpPr>
            <a:spLocks noGrp="1"/>
          </p:cNvSpPr>
          <p:nvPr>
            <p:ph idx="1"/>
          </p:nvPr>
        </p:nvSpPr>
        <p:spPr/>
        <p:txBody>
          <a:bodyPr/>
          <a:lstStyle/>
          <a:p>
            <a:pPr lvl="0"/>
            <a:r>
              <a:rPr lang="zh-TW" altLang="en-US"/>
              <a:t>按一下以編輯母片文字樣式</a:t>
            </a:r>
            <a:endParaRPr lang="zh-TW" altLang="en-US"/>
          </a:p>
          <a:p>
            <a:pPr lvl="1"/>
            <a:r>
              <a:rPr lang="zh-TW" altLang="en-US"/>
              <a:t>第二層</a:t>
            </a:r>
            <a:endParaRPr lang="zh-TW" altLang="en-US"/>
          </a:p>
          <a:p>
            <a:pPr lvl="2"/>
            <a:r>
              <a:rPr lang="zh-TW" altLang="en-US"/>
              <a:t>第三層</a:t>
            </a:r>
            <a:endParaRPr lang="zh-TW" altLang="en-US"/>
          </a:p>
          <a:p>
            <a:pPr lvl="3"/>
            <a:r>
              <a:rPr lang="zh-TW" altLang="en-US"/>
              <a:t>第四層</a:t>
            </a:r>
            <a:endParaRPr lang="zh-TW" altLang="en-US"/>
          </a:p>
          <a:p>
            <a:pPr lvl="4"/>
            <a:r>
              <a:rPr lang="zh-TW" altLang="en-US"/>
              <a:t>第五層</a:t>
            </a:r>
            <a:endParaRPr lang="zh-TW" altLang="en-US"/>
          </a:p>
        </p:txBody>
      </p:sp>
      <p:sp>
        <p:nvSpPr>
          <p:cNvPr id="4" name="日期版面配置區 3"/>
          <p:cNvSpPr>
            <a:spLocks noGrp="1"/>
          </p:cNvSpPr>
          <p:nvPr>
            <p:ph type="dt" sz="half" idx="10"/>
          </p:nvPr>
        </p:nvSpPr>
        <p:spPr/>
        <p:txBody>
          <a:bodyPr/>
          <a:lstStyle/>
          <a:p>
            <a:fld id="{DB6AC99C-D50E-4E91-A691-9BDF38185A97}" type="datetimeFigureOut">
              <a:rPr lang="zh-TW" altLang="en-US" smtClean="0"/>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234749F2-A68F-44FD-956F-573CA8BB6502}" type="slidenum">
              <a:rPr lang="zh-TW" altLang="en-US" smtClean="0"/>
            </a:fld>
            <a:endParaRPr lang="zh-TW"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endParaRPr lang="zh-TW" altLang="en-US"/>
          </a:p>
        </p:txBody>
      </p:sp>
      <p:sp>
        <p:nvSpPr>
          <p:cNvPr id="3" name="文字版面配置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按一下以編輯母片文字樣式</a:t>
            </a:r>
            <a:endParaRPr lang="zh-TW" altLang="en-US"/>
          </a:p>
        </p:txBody>
      </p:sp>
      <p:sp>
        <p:nvSpPr>
          <p:cNvPr id="4" name="日期版面配置區 3"/>
          <p:cNvSpPr>
            <a:spLocks noGrp="1"/>
          </p:cNvSpPr>
          <p:nvPr>
            <p:ph type="dt" sz="half" idx="10"/>
          </p:nvPr>
        </p:nvSpPr>
        <p:spPr/>
        <p:txBody>
          <a:bodyPr/>
          <a:lstStyle/>
          <a:p>
            <a:fld id="{DB6AC99C-D50E-4E91-A691-9BDF38185A97}" type="datetimeFigureOut">
              <a:rPr lang="zh-TW" altLang="en-US" smtClean="0"/>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234749F2-A68F-44FD-956F-573CA8BB6502}" type="slidenum">
              <a:rPr lang="zh-TW" altLang="en-US" smtClean="0"/>
            </a:fld>
            <a:endParaRPr lang="zh-TW"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endParaRPr lang="zh-TW" altLang="en-US"/>
          </a:p>
        </p:txBody>
      </p:sp>
      <p:sp>
        <p:nvSpPr>
          <p:cNvPr id="3" name="內容版面配置區 2"/>
          <p:cNvSpPr>
            <a:spLocks noGrp="1"/>
          </p:cNvSpPr>
          <p:nvPr>
            <p:ph sz="half" idx="1"/>
          </p:nvPr>
        </p:nvSpPr>
        <p:spPr>
          <a:xfrm>
            <a:off x="838200" y="1825625"/>
            <a:ext cx="5181600" cy="4351338"/>
          </a:xfrm>
        </p:spPr>
        <p:txBody>
          <a:bodyPr/>
          <a:lstStyle/>
          <a:p>
            <a:pPr lvl="0"/>
            <a:r>
              <a:rPr lang="zh-TW" altLang="en-US"/>
              <a:t>按一下以編輯母片文字樣式</a:t>
            </a:r>
            <a:endParaRPr lang="zh-TW" altLang="en-US"/>
          </a:p>
          <a:p>
            <a:pPr lvl="1"/>
            <a:r>
              <a:rPr lang="zh-TW" altLang="en-US"/>
              <a:t>第二層</a:t>
            </a:r>
            <a:endParaRPr lang="zh-TW" altLang="en-US"/>
          </a:p>
          <a:p>
            <a:pPr lvl="2"/>
            <a:r>
              <a:rPr lang="zh-TW" altLang="en-US"/>
              <a:t>第三層</a:t>
            </a:r>
            <a:endParaRPr lang="zh-TW" altLang="en-US"/>
          </a:p>
          <a:p>
            <a:pPr lvl="3"/>
            <a:r>
              <a:rPr lang="zh-TW" altLang="en-US"/>
              <a:t>第四層</a:t>
            </a:r>
            <a:endParaRPr lang="zh-TW" altLang="en-US"/>
          </a:p>
          <a:p>
            <a:pPr lvl="4"/>
            <a:r>
              <a:rPr lang="zh-TW" altLang="en-US"/>
              <a:t>第五層</a:t>
            </a:r>
            <a:endParaRPr lang="zh-TW" altLang="en-US"/>
          </a:p>
        </p:txBody>
      </p:sp>
      <p:sp>
        <p:nvSpPr>
          <p:cNvPr id="4" name="內容版面配置區 3"/>
          <p:cNvSpPr>
            <a:spLocks noGrp="1"/>
          </p:cNvSpPr>
          <p:nvPr>
            <p:ph sz="half" idx="2"/>
          </p:nvPr>
        </p:nvSpPr>
        <p:spPr>
          <a:xfrm>
            <a:off x="6172200" y="1825625"/>
            <a:ext cx="5181600" cy="4351338"/>
          </a:xfrm>
        </p:spPr>
        <p:txBody>
          <a:bodyPr/>
          <a:lstStyle/>
          <a:p>
            <a:pPr lvl="0"/>
            <a:r>
              <a:rPr lang="zh-TW" altLang="en-US"/>
              <a:t>按一下以編輯母片文字樣式</a:t>
            </a:r>
            <a:endParaRPr lang="zh-TW" altLang="en-US"/>
          </a:p>
          <a:p>
            <a:pPr lvl="1"/>
            <a:r>
              <a:rPr lang="zh-TW" altLang="en-US"/>
              <a:t>第二層</a:t>
            </a:r>
            <a:endParaRPr lang="zh-TW" altLang="en-US"/>
          </a:p>
          <a:p>
            <a:pPr lvl="2"/>
            <a:r>
              <a:rPr lang="zh-TW" altLang="en-US"/>
              <a:t>第三層</a:t>
            </a:r>
            <a:endParaRPr lang="zh-TW" altLang="en-US"/>
          </a:p>
          <a:p>
            <a:pPr lvl="3"/>
            <a:r>
              <a:rPr lang="zh-TW" altLang="en-US"/>
              <a:t>第四層</a:t>
            </a:r>
            <a:endParaRPr lang="zh-TW" altLang="en-US"/>
          </a:p>
          <a:p>
            <a:pPr lvl="4"/>
            <a:r>
              <a:rPr lang="zh-TW" altLang="en-US"/>
              <a:t>第五層</a:t>
            </a:r>
            <a:endParaRPr lang="zh-TW" altLang="en-US"/>
          </a:p>
        </p:txBody>
      </p:sp>
      <p:sp>
        <p:nvSpPr>
          <p:cNvPr id="5" name="日期版面配置區 4"/>
          <p:cNvSpPr>
            <a:spLocks noGrp="1"/>
          </p:cNvSpPr>
          <p:nvPr>
            <p:ph type="dt" sz="half" idx="10"/>
          </p:nvPr>
        </p:nvSpPr>
        <p:spPr/>
        <p:txBody>
          <a:bodyPr/>
          <a:lstStyle/>
          <a:p>
            <a:fld id="{DB6AC99C-D50E-4E91-A691-9BDF38185A97}" type="datetimeFigureOut">
              <a:rPr lang="zh-TW" altLang="en-US" smtClean="0"/>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234749F2-A68F-44FD-956F-573CA8BB6502}" type="slidenum">
              <a:rPr lang="zh-TW" altLang="en-US" smtClean="0"/>
            </a:fld>
            <a:endParaRPr lang="zh-TW"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p:cNvSpPr>
            <a:spLocks noGrp="1"/>
          </p:cNvSpPr>
          <p:nvPr>
            <p:ph type="title"/>
          </p:nvPr>
        </p:nvSpPr>
        <p:spPr>
          <a:xfrm>
            <a:off x="839788" y="365125"/>
            <a:ext cx="10515600" cy="1325563"/>
          </a:xfrm>
        </p:spPr>
        <p:txBody>
          <a:bodyPr/>
          <a:lstStyle/>
          <a:p>
            <a:r>
              <a:rPr lang="zh-TW" altLang="en-US"/>
              <a:t>按一下以編輯母片標題樣式</a:t>
            </a:r>
            <a:endParaRPr lang="zh-TW" altLang="en-US"/>
          </a:p>
        </p:txBody>
      </p:sp>
      <p:sp>
        <p:nvSpPr>
          <p:cNvPr id="3" name="文字版面配置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endParaRPr lang="zh-TW" altLang="en-US"/>
          </a:p>
        </p:txBody>
      </p:sp>
      <p:sp>
        <p:nvSpPr>
          <p:cNvPr id="4" name="內容版面配置區 3"/>
          <p:cNvSpPr>
            <a:spLocks noGrp="1"/>
          </p:cNvSpPr>
          <p:nvPr>
            <p:ph sz="half" idx="2"/>
          </p:nvPr>
        </p:nvSpPr>
        <p:spPr>
          <a:xfrm>
            <a:off x="839788" y="2505075"/>
            <a:ext cx="5157787" cy="3684588"/>
          </a:xfrm>
        </p:spPr>
        <p:txBody>
          <a:bodyPr/>
          <a:lstStyle/>
          <a:p>
            <a:pPr lvl="0"/>
            <a:r>
              <a:rPr lang="zh-TW" altLang="en-US"/>
              <a:t>按一下以編輯母片文字樣式</a:t>
            </a:r>
            <a:endParaRPr lang="zh-TW" altLang="en-US"/>
          </a:p>
          <a:p>
            <a:pPr lvl="1"/>
            <a:r>
              <a:rPr lang="zh-TW" altLang="en-US"/>
              <a:t>第二層</a:t>
            </a:r>
            <a:endParaRPr lang="zh-TW" altLang="en-US"/>
          </a:p>
          <a:p>
            <a:pPr lvl="2"/>
            <a:r>
              <a:rPr lang="zh-TW" altLang="en-US"/>
              <a:t>第三層</a:t>
            </a:r>
            <a:endParaRPr lang="zh-TW" altLang="en-US"/>
          </a:p>
          <a:p>
            <a:pPr lvl="3"/>
            <a:r>
              <a:rPr lang="zh-TW" altLang="en-US"/>
              <a:t>第四層</a:t>
            </a:r>
            <a:endParaRPr lang="zh-TW" altLang="en-US"/>
          </a:p>
          <a:p>
            <a:pPr lvl="4"/>
            <a:r>
              <a:rPr lang="zh-TW" altLang="en-US"/>
              <a:t>第五層</a:t>
            </a:r>
            <a:endParaRPr lang="zh-TW" altLang="en-US"/>
          </a:p>
        </p:txBody>
      </p:sp>
      <p:sp>
        <p:nvSpPr>
          <p:cNvPr id="5" name="文字版面配置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endParaRPr lang="zh-TW" altLang="en-US"/>
          </a:p>
        </p:txBody>
      </p:sp>
      <p:sp>
        <p:nvSpPr>
          <p:cNvPr id="6" name="內容版面配置區 5"/>
          <p:cNvSpPr>
            <a:spLocks noGrp="1"/>
          </p:cNvSpPr>
          <p:nvPr>
            <p:ph sz="quarter" idx="4"/>
          </p:nvPr>
        </p:nvSpPr>
        <p:spPr>
          <a:xfrm>
            <a:off x="6172200" y="2505075"/>
            <a:ext cx="5183188" cy="3684588"/>
          </a:xfrm>
        </p:spPr>
        <p:txBody>
          <a:bodyPr/>
          <a:lstStyle/>
          <a:p>
            <a:pPr lvl="0"/>
            <a:r>
              <a:rPr lang="zh-TW" altLang="en-US"/>
              <a:t>按一下以編輯母片文字樣式</a:t>
            </a:r>
            <a:endParaRPr lang="zh-TW" altLang="en-US"/>
          </a:p>
          <a:p>
            <a:pPr lvl="1"/>
            <a:r>
              <a:rPr lang="zh-TW" altLang="en-US"/>
              <a:t>第二層</a:t>
            </a:r>
            <a:endParaRPr lang="zh-TW" altLang="en-US"/>
          </a:p>
          <a:p>
            <a:pPr lvl="2"/>
            <a:r>
              <a:rPr lang="zh-TW" altLang="en-US"/>
              <a:t>第三層</a:t>
            </a:r>
            <a:endParaRPr lang="zh-TW" altLang="en-US"/>
          </a:p>
          <a:p>
            <a:pPr lvl="3"/>
            <a:r>
              <a:rPr lang="zh-TW" altLang="en-US"/>
              <a:t>第四層</a:t>
            </a:r>
            <a:endParaRPr lang="zh-TW" altLang="en-US"/>
          </a:p>
          <a:p>
            <a:pPr lvl="4"/>
            <a:r>
              <a:rPr lang="zh-TW" altLang="en-US"/>
              <a:t>第五層</a:t>
            </a:r>
            <a:endParaRPr lang="zh-TW" altLang="en-US"/>
          </a:p>
        </p:txBody>
      </p:sp>
      <p:sp>
        <p:nvSpPr>
          <p:cNvPr id="7" name="日期版面配置區 6"/>
          <p:cNvSpPr>
            <a:spLocks noGrp="1"/>
          </p:cNvSpPr>
          <p:nvPr>
            <p:ph type="dt" sz="half" idx="10"/>
          </p:nvPr>
        </p:nvSpPr>
        <p:spPr/>
        <p:txBody>
          <a:bodyPr/>
          <a:lstStyle/>
          <a:p>
            <a:fld id="{DB6AC99C-D50E-4E91-A691-9BDF38185A97}" type="datetimeFigureOut">
              <a:rPr lang="zh-TW" altLang="en-US" smtClean="0"/>
            </a:fld>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234749F2-A68F-44FD-956F-573CA8BB6502}" type="slidenum">
              <a:rPr lang="zh-TW" altLang="en-US" smtClean="0"/>
            </a:fld>
            <a:endParaRPr lang="zh-TW"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endParaRPr lang="zh-TW" altLang="en-US"/>
          </a:p>
        </p:txBody>
      </p:sp>
      <p:sp>
        <p:nvSpPr>
          <p:cNvPr id="3" name="日期版面配置區 2"/>
          <p:cNvSpPr>
            <a:spLocks noGrp="1"/>
          </p:cNvSpPr>
          <p:nvPr>
            <p:ph type="dt" sz="half" idx="10"/>
          </p:nvPr>
        </p:nvSpPr>
        <p:spPr/>
        <p:txBody>
          <a:bodyPr/>
          <a:lstStyle/>
          <a:p>
            <a:fld id="{DB6AC99C-D50E-4E91-A691-9BDF38185A97}" type="datetimeFigureOut">
              <a:rPr lang="zh-TW" altLang="en-US" smtClean="0"/>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234749F2-A68F-44FD-956F-573CA8BB6502}" type="slidenum">
              <a:rPr lang="zh-TW" altLang="en-US" smtClean="0"/>
            </a:fld>
            <a:endParaRPr lang="zh-TW"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fld id="{DB6AC99C-D50E-4E91-A691-9BDF38185A97}" type="datetimeFigureOut">
              <a:rPr lang="zh-TW" altLang="en-US" smtClean="0"/>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234749F2-A68F-44FD-956F-573CA8BB6502}" type="slidenum">
              <a:rPr lang="zh-TW" altLang="en-US" smtClean="0"/>
            </a:fld>
            <a:endParaRPr lang="zh-TW" alt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endParaRPr lang="zh-TW" altLang="en-US"/>
          </a:p>
        </p:txBody>
      </p:sp>
      <p:sp>
        <p:nvSpPr>
          <p:cNvPr id="3" name="內容版面配置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endParaRPr lang="zh-TW" altLang="en-US"/>
          </a:p>
          <a:p>
            <a:pPr lvl="1"/>
            <a:r>
              <a:rPr lang="zh-TW" altLang="en-US"/>
              <a:t>第二層</a:t>
            </a:r>
            <a:endParaRPr lang="zh-TW" altLang="en-US"/>
          </a:p>
          <a:p>
            <a:pPr lvl="2"/>
            <a:r>
              <a:rPr lang="zh-TW" altLang="en-US"/>
              <a:t>第三層</a:t>
            </a:r>
            <a:endParaRPr lang="zh-TW" altLang="en-US"/>
          </a:p>
          <a:p>
            <a:pPr lvl="3"/>
            <a:r>
              <a:rPr lang="zh-TW" altLang="en-US"/>
              <a:t>第四層</a:t>
            </a:r>
            <a:endParaRPr lang="zh-TW" altLang="en-US"/>
          </a:p>
          <a:p>
            <a:pPr lvl="4"/>
            <a:r>
              <a:rPr lang="zh-TW" altLang="en-US"/>
              <a:t>第五層</a:t>
            </a:r>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endParaRPr lang="zh-TW" altLang="en-US"/>
          </a:p>
        </p:txBody>
      </p:sp>
      <p:sp>
        <p:nvSpPr>
          <p:cNvPr id="5" name="日期版面配置區 4"/>
          <p:cNvSpPr>
            <a:spLocks noGrp="1"/>
          </p:cNvSpPr>
          <p:nvPr>
            <p:ph type="dt" sz="half" idx="10"/>
          </p:nvPr>
        </p:nvSpPr>
        <p:spPr/>
        <p:txBody>
          <a:bodyPr/>
          <a:lstStyle/>
          <a:p>
            <a:fld id="{DB6AC99C-D50E-4E91-A691-9BDF38185A97}" type="datetimeFigureOut">
              <a:rPr lang="zh-TW" altLang="en-US" smtClean="0"/>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234749F2-A68F-44FD-956F-573CA8BB6502}" type="slidenum">
              <a:rPr lang="zh-TW" altLang="en-US" smtClean="0"/>
            </a:fld>
            <a:endParaRPr lang="zh-TW" alt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endParaRPr lang="zh-TW" altLang="en-US"/>
          </a:p>
        </p:txBody>
      </p:sp>
      <p:sp>
        <p:nvSpPr>
          <p:cNvPr id="3" name="圖片版面配置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endParaRPr lang="zh-TW" altLang="en-US"/>
          </a:p>
        </p:txBody>
      </p:sp>
      <p:sp>
        <p:nvSpPr>
          <p:cNvPr id="5" name="日期版面配置區 4"/>
          <p:cNvSpPr>
            <a:spLocks noGrp="1"/>
          </p:cNvSpPr>
          <p:nvPr>
            <p:ph type="dt" sz="half" idx="10"/>
          </p:nvPr>
        </p:nvSpPr>
        <p:spPr/>
        <p:txBody>
          <a:bodyPr/>
          <a:lstStyle/>
          <a:p>
            <a:fld id="{DB6AC99C-D50E-4E91-A691-9BDF38185A97}" type="datetimeFigureOut">
              <a:rPr lang="zh-TW" altLang="en-US" smtClean="0"/>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234749F2-A68F-44FD-956F-573CA8BB6502}" type="slidenum">
              <a:rPr lang="zh-TW" altLang="en-US" smtClean="0"/>
            </a:fld>
            <a:endParaRPr lang="zh-TW"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endParaRPr lang="zh-TW" altLang="en-US"/>
          </a:p>
        </p:txBody>
      </p:sp>
      <p:sp>
        <p:nvSpPr>
          <p:cNvPr id="3" name="直排文字版面配置區 2"/>
          <p:cNvSpPr>
            <a:spLocks noGrp="1"/>
          </p:cNvSpPr>
          <p:nvPr>
            <p:ph type="body" orient="vert" idx="1"/>
          </p:nvPr>
        </p:nvSpPr>
        <p:spPr/>
        <p:txBody>
          <a:bodyPr vert="eaVert"/>
          <a:lstStyle/>
          <a:p>
            <a:pPr lvl="0"/>
            <a:r>
              <a:rPr lang="zh-TW" altLang="en-US"/>
              <a:t>按一下以編輯母片文字樣式</a:t>
            </a:r>
            <a:endParaRPr lang="zh-TW" altLang="en-US"/>
          </a:p>
          <a:p>
            <a:pPr lvl="1"/>
            <a:r>
              <a:rPr lang="zh-TW" altLang="en-US"/>
              <a:t>第二層</a:t>
            </a:r>
            <a:endParaRPr lang="zh-TW" altLang="en-US"/>
          </a:p>
          <a:p>
            <a:pPr lvl="2"/>
            <a:r>
              <a:rPr lang="zh-TW" altLang="en-US"/>
              <a:t>第三層</a:t>
            </a:r>
            <a:endParaRPr lang="zh-TW" altLang="en-US"/>
          </a:p>
          <a:p>
            <a:pPr lvl="3"/>
            <a:r>
              <a:rPr lang="zh-TW" altLang="en-US"/>
              <a:t>第四層</a:t>
            </a:r>
            <a:endParaRPr lang="zh-TW" altLang="en-US"/>
          </a:p>
          <a:p>
            <a:pPr lvl="4"/>
            <a:r>
              <a:rPr lang="zh-TW" altLang="en-US"/>
              <a:t>第五層</a:t>
            </a:r>
            <a:endParaRPr lang="zh-TW" altLang="en-US"/>
          </a:p>
        </p:txBody>
      </p:sp>
      <p:sp>
        <p:nvSpPr>
          <p:cNvPr id="4" name="日期版面配置區 3"/>
          <p:cNvSpPr>
            <a:spLocks noGrp="1"/>
          </p:cNvSpPr>
          <p:nvPr>
            <p:ph type="dt" sz="half" idx="10"/>
          </p:nvPr>
        </p:nvSpPr>
        <p:spPr/>
        <p:txBody>
          <a:bodyPr/>
          <a:lstStyle/>
          <a:p>
            <a:fld id="{DB6AC99C-D50E-4E91-A691-9BDF38185A97}" type="datetimeFigureOut">
              <a:rPr lang="zh-TW" altLang="en-US" smtClean="0"/>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234749F2-A68F-44FD-956F-573CA8BB6502}" type="slidenum">
              <a:rPr lang="zh-TW" altLang="en-US" smtClean="0"/>
            </a:fld>
            <a:endParaRPr lang="zh-TW" alt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8724900" y="365125"/>
            <a:ext cx="2628900" cy="5811838"/>
          </a:xfrm>
        </p:spPr>
        <p:txBody>
          <a:bodyPr vert="eaVert"/>
          <a:lstStyle/>
          <a:p>
            <a:r>
              <a:rPr lang="zh-TW" altLang="en-US"/>
              <a:t>按一下以編輯母片標題樣式</a:t>
            </a:r>
            <a:endParaRPr lang="zh-TW" altLang="en-US"/>
          </a:p>
        </p:txBody>
      </p:sp>
      <p:sp>
        <p:nvSpPr>
          <p:cNvPr id="3" name="直排文字版面配置區 2"/>
          <p:cNvSpPr>
            <a:spLocks noGrp="1"/>
          </p:cNvSpPr>
          <p:nvPr>
            <p:ph type="body" orient="vert" idx="1"/>
          </p:nvPr>
        </p:nvSpPr>
        <p:spPr>
          <a:xfrm>
            <a:off x="838200" y="365125"/>
            <a:ext cx="7734300" cy="5811838"/>
          </a:xfrm>
        </p:spPr>
        <p:txBody>
          <a:bodyPr vert="eaVert"/>
          <a:lstStyle/>
          <a:p>
            <a:pPr lvl="0"/>
            <a:r>
              <a:rPr lang="zh-TW" altLang="en-US"/>
              <a:t>按一下以編輯母片文字樣式</a:t>
            </a:r>
            <a:endParaRPr lang="zh-TW" altLang="en-US"/>
          </a:p>
          <a:p>
            <a:pPr lvl="1"/>
            <a:r>
              <a:rPr lang="zh-TW" altLang="en-US"/>
              <a:t>第二層</a:t>
            </a:r>
            <a:endParaRPr lang="zh-TW" altLang="en-US"/>
          </a:p>
          <a:p>
            <a:pPr lvl="2"/>
            <a:r>
              <a:rPr lang="zh-TW" altLang="en-US"/>
              <a:t>第三層</a:t>
            </a:r>
            <a:endParaRPr lang="zh-TW" altLang="en-US"/>
          </a:p>
          <a:p>
            <a:pPr lvl="3"/>
            <a:r>
              <a:rPr lang="zh-TW" altLang="en-US"/>
              <a:t>第四層</a:t>
            </a:r>
            <a:endParaRPr lang="zh-TW" altLang="en-US"/>
          </a:p>
          <a:p>
            <a:pPr lvl="4"/>
            <a:r>
              <a:rPr lang="zh-TW" altLang="en-US"/>
              <a:t>第五層</a:t>
            </a:r>
            <a:endParaRPr lang="zh-TW" altLang="en-US"/>
          </a:p>
        </p:txBody>
      </p:sp>
      <p:sp>
        <p:nvSpPr>
          <p:cNvPr id="4" name="日期版面配置區 3"/>
          <p:cNvSpPr>
            <a:spLocks noGrp="1"/>
          </p:cNvSpPr>
          <p:nvPr>
            <p:ph type="dt" sz="half" idx="10"/>
          </p:nvPr>
        </p:nvSpPr>
        <p:spPr/>
        <p:txBody>
          <a:bodyPr/>
          <a:lstStyle/>
          <a:p>
            <a:fld id="{DB6AC99C-D50E-4E91-A691-9BDF38185A97}" type="datetimeFigureOut">
              <a:rPr lang="zh-TW" altLang="en-US" smtClean="0"/>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234749F2-A68F-44FD-956F-573CA8BB6502}" type="slidenum">
              <a:rPr lang="zh-TW" altLang="en-US" smtClean="0"/>
            </a:fld>
            <a:endParaRPr lang="zh-TW"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0.xml"/><Relationship Id="rId8" Type="http://schemas.openxmlformats.org/officeDocument/2006/relationships/slideLayout" Target="../slideLayouts/slideLayout19.xml"/><Relationship Id="rId7" Type="http://schemas.openxmlformats.org/officeDocument/2006/relationships/slideLayout" Target="../slideLayouts/slideLayout18.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3" Type="http://schemas.openxmlformats.org/officeDocument/2006/relationships/slideLayout" Target="../slideLayouts/slideLayout14.xml"/><Relationship Id="rId2" Type="http://schemas.openxmlformats.org/officeDocument/2006/relationships/slideLayout" Target="../slideLayouts/slideLayout13.xml"/><Relationship Id="rId12" Type="http://schemas.openxmlformats.org/officeDocument/2006/relationships/theme" Target="../theme/theme2.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endParaRPr lang="zh-TW" altLang="en-US"/>
          </a:p>
        </p:txBody>
      </p:sp>
      <p:sp>
        <p:nvSpPr>
          <p:cNvPr id="3" name="文字版面配置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按一下以編輯母片文字樣式</a:t>
            </a:r>
            <a:endParaRPr lang="zh-TW" altLang="en-US"/>
          </a:p>
          <a:p>
            <a:pPr lvl="1"/>
            <a:r>
              <a:rPr lang="zh-TW" altLang="en-US"/>
              <a:t>第二層</a:t>
            </a:r>
            <a:endParaRPr lang="zh-TW" altLang="en-US"/>
          </a:p>
          <a:p>
            <a:pPr lvl="2"/>
            <a:r>
              <a:rPr lang="zh-TW" altLang="en-US"/>
              <a:t>第三層</a:t>
            </a:r>
            <a:endParaRPr lang="zh-TW" altLang="en-US"/>
          </a:p>
          <a:p>
            <a:pPr lvl="3"/>
            <a:r>
              <a:rPr lang="zh-TW" altLang="en-US"/>
              <a:t>第四層</a:t>
            </a:r>
            <a:endParaRPr lang="zh-TW" altLang="en-US"/>
          </a:p>
          <a:p>
            <a:pPr lvl="4"/>
            <a:r>
              <a:rPr lang="zh-TW" altLang="en-US"/>
              <a:t>第五層</a:t>
            </a:r>
            <a:endParaRPr lang="zh-TW" altLang="en-US"/>
          </a:p>
        </p:txBody>
      </p:sp>
      <p:sp>
        <p:nvSpPr>
          <p:cNvPr id="4" name="日期版面配置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5D3F93F-215B-451C-B97D-16C61A292374}" type="datetimeFigureOut">
              <a:rPr lang="zh-TW" altLang="en-US" smtClean="0"/>
            </a:fld>
            <a:endParaRPr lang="zh-TW" altLang="en-US"/>
          </a:p>
        </p:txBody>
      </p:sp>
      <p:sp>
        <p:nvSpPr>
          <p:cNvPr id="5" name="頁尾版面配置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TW" altLang="en-US"/>
          </a:p>
        </p:txBody>
      </p:sp>
      <p:sp>
        <p:nvSpPr>
          <p:cNvPr id="6" name="投影片編號版面配置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1CB6872-61BE-457C-9387-346643FB029D}" type="slidenum">
              <a:rPr lang="zh-TW" altLang="en-US" smtClean="0"/>
            </a:fld>
            <a:endParaRPr lang="zh-TW"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endParaRPr lang="zh-TW" altLang="en-US"/>
          </a:p>
        </p:txBody>
      </p:sp>
      <p:sp>
        <p:nvSpPr>
          <p:cNvPr id="3" name="文字版面配置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按一下以編輯母片文字樣式</a:t>
            </a:r>
            <a:endParaRPr lang="zh-TW" altLang="en-US"/>
          </a:p>
          <a:p>
            <a:pPr lvl="1"/>
            <a:r>
              <a:rPr lang="zh-TW" altLang="en-US"/>
              <a:t>第二層</a:t>
            </a:r>
            <a:endParaRPr lang="zh-TW" altLang="en-US"/>
          </a:p>
          <a:p>
            <a:pPr lvl="2"/>
            <a:r>
              <a:rPr lang="zh-TW" altLang="en-US"/>
              <a:t>第三層</a:t>
            </a:r>
            <a:endParaRPr lang="zh-TW" altLang="en-US"/>
          </a:p>
          <a:p>
            <a:pPr lvl="3"/>
            <a:r>
              <a:rPr lang="zh-TW" altLang="en-US"/>
              <a:t>第四層</a:t>
            </a:r>
            <a:endParaRPr lang="zh-TW" altLang="en-US"/>
          </a:p>
          <a:p>
            <a:pPr lvl="4"/>
            <a:r>
              <a:rPr lang="zh-TW" altLang="en-US"/>
              <a:t>第五層</a:t>
            </a:r>
            <a:endParaRPr lang="zh-TW" altLang="en-US"/>
          </a:p>
        </p:txBody>
      </p:sp>
      <p:sp>
        <p:nvSpPr>
          <p:cNvPr id="4" name="日期版面配置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B6AC99C-D50E-4E91-A691-9BDF38185A97}" type="datetimeFigureOut">
              <a:rPr lang="zh-TW" altLang="en-US" smtClean="0"/>
            </a:fld>
            <a:endParaRPr lang="zh-TW" altLang="en-US"/>
          </a:p>
        </p:txBody>
      </p:sp>
      <p:sp>
        <p:nvSpPr>
          <p:cNvPr id="5" name="頁尾版面配置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34749F2-A68F-44FD-956F-573CA8BB6502}" type="slidenum">
              <a:rPr lang="zh-TW" altLang="en-US" smtClean="0"/>
            </a:fld>
            <a:endParaRPr lang="zh-TW" alt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image" Target="../media/image2.png"/><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6.png"/><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7.jpe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3.xml"/><Relationship Id="rId1" Type="http://schemas.openxmlformats.org/officeDocument/2006/relationships/image" Target="../media/image8.png"/></Relationships>
</file>

<file path=ppt/slides/_rels/slide7.xml.rels><?xml version="1.0" encoding="UTF-8" standalone="yes"?>
<Relationships xmlns="http://schemas.openxmlformats.org/package/2006/relationships"><Relationship Id="rId7" Type="http://schemas.openxmlformats.org/officeDocument/2006/relationships/notesSlide" Target="../notesSlides/notesSlide4.xml"/><Relationship Id="rId6" Type="http://schemas.openxmlformats.org/officeDocument/2006/relationships/slideLayout" Target="../slideLayouts/slideLayout13.xml"/><Relationship Id="rId5" Type="http://schemas.openxmlformats.org/officeDocument/2006/relationships/image" Target="../media/image13.png"/><Relationship Id="rId4" Type="http://schemas.openxmlformats.org/officeDocument/2006/relationships/image" Target="../media/image12.png"/><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3.xml"/><Relationship Id="rId1"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6" Type="http://schemas.openxmlformats.org/officeDocument/2006/relationships/slideLayout" Target="../slideLayouts/slideLayout13.xml"/><Relationship Id="rId5" Type="http://schemas.microsoft.com/office/2007/relationships/diagramDrawing" Target="../diagrams/drawing1.xml"/><Relationship Id="rId4" Type="http://schemas.openxmlformats.org/officeDocument/2006/relationships/diagramColors" Target="../diagrams/colors1.xml"/><Relationship Id="rId3" Type="http://schemas.openxmlformats.org/officeDocument/2006/relationships/diagramQuickStyle" Target="../diagrams/quickStyle1.xml"/><Relationship Id="rId2" Type="http://schemas.openxmlformats.org/officeDocument/2006/relationships/diagramLayout" Target="../diagrams/layout1.xml"/><Relationship Id="rId1" Type="http://schemas.openxmlformats.org/officeDocument/2006/relationships/diagramData" Target="../diagrams/data1.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image" Target="../media/image15.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2.xml"/><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image" Target="../media/image16.png"/></Relationships>
</file>

<file path=ppt/slides/_rels/slide15.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image" Target="../media/image19.jpeg"/></Relationships>
</file>

<file path=ppt/slides/_rels/slide16.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23.png"/><Relationship Id="rId1" Type="http://schemas.openxmlformats.org/officeDocument/2006/relationships/image" Target="../media/image22.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2.xml"/><Relationship Id="rId2" Type="http://schemas.openxmlformats.org/officeDocument/2006/relationships/image" Target="../media/image25.png"/><Relationship Id="rId1" Type="http://schemas.openxmlformats.org/officeDocument/2006/relationships/image" Target="../media/image24.pn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7.png"/><Relationship Id="rId1"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9.png"/><Relationship Id="rId1" Type="http://schemas.openxmlformats.org/officeDocument/2006/relationships/image" Target="../media/image28.png"/></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21.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2.xml"/><Relationship Id="rId2" Type="http://schemas.openxmlformats.org/officeDocument/2006/relationships/image" Target="../media/image29.png"/><Relationship Id="rId1" Type="http://schemas.openxmlformats.org/officeDocument/2006/relationships/image" Target="../media/image28.png"/></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hyperlink" Target="https://docs.anthropic.com/" TargetMode="External"/></Relationships>
</file>

<file path=ppt/slides/_rels/slide24.xml.rels><?xml version="1.0" encoding="UTF-8" standalone="yes"?>
<Relationships xmlns="http://schemas.openxmlformats.org/package/2006/relationships"><Relationship Id="rId7" Type="http://schemas.openxmlformats.org/officeDocument/2006/relationships/slideLayout" Target="../slideLayouts/slideLayout13.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image" Target="../media/image32.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38.png"/></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image" Target="../media/image40.png"/><Relationship Id="rId1" Type="http://schemas.openxmlformats.org/officeDocument/2006/relationships/image" Target="../media/image39.png"/></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image" Target="../media/image42.png"/><Relationship Id="rId1" Type="http://schemas.openxmlformats.org/officeDocument/2006/relationships/image" Target="../media/image41.png"/></Relationships>
</file>

<file path=ppt/slides/_rels/slide28.xml.rels><?xml version="1.0" encoding="UTF-8" standalone="yes"?>
<Relationships xmlns="http://schemas.openxmlformats.org/package/2006/relationships"><Relationship Id="rId6" Type="http://schemas.openxmlformats.org/officeDocument/2006/relationships/notesSlide" Target="../notesSlides/notesSlide11.xml"/><Relationship Id="rId5" Type="http://schemas.openxmlformats.org/officeDocument/2006/relationships/slideLayout" Target="../slideLayouts/slideLayout13.xml"/><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3.xml"/><Relationship Id="rId1" Type="http://schemas.openxmlformats.org/officeDocument/2006/relationships/image" Target="../media/image47.png"/></Relationships>
</file>

<file path=ppt/slides/_rels/slide30.xml.rels><?xml version="1.0" encoding="UTF-8" standalone="yes"?>
<Relationships xmlns="http://schemas.openxmlformats.org/package/2006/relationships"><Relationship Id="rId4" Type="http://schemas.openxmlformats.org/officeDocument/2006/relationships/slideLayout" Target="../slideLayouts/slideLayout13.xml"/><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image" Target="../media/image48.png"/></Relationships>
</file>

<file path=ppt/slides/_rels/slide31.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13.xml"/><Relationship Id="rId4" Type="http://schemas.openxmlformats.org/officeDocument/2006/relationships/image" Target="../media/image54.png"/><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image" Target="../media/image51.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55.png"/></Relationships>
</file>

<file path=ppt/slides/_rels/slide35.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13.xml"/><Relationship Id="rId3" Type="http://schemas.openxmlformats.org/officeDocument/2006/relationships/image" Target="../media/image58.png"/><Relationship Id="rId2" Type="http://schemas.openxmlformats.org/officeDocument/2006/relationships/image" Target="../media/image57.jpeg"/><Relationship Id="rId1" Type="http://schemas.openxmlformats.org/officeDocument/2006/relationships/image" Target="../media/image56.png"/></Relationships>
</file>

<file path=ppt/slides/_rels/slide36.xml.rels><?xml version="1.0" encoding="UTF-8" standalone="yes"?>
<Relationships xmlns="http://schemas.openxmlformats.org/package/2006/relationships"><Relationship Id="rId5" Type="http://schemas.openxmlformats.org/officeDocument/2006/relationships/notesSlide" Target="../notesSlides/notesSlide17.xml"/><Relationship Id="rId4" Type="http://schemas.openxmlformats.org/officeDocument/2006/relationships/slideLayout" Target="../slideLayouts/slideLayout13.xml"/><Relationship Id="rId3" Type="http://schemas.openxmlformats.org/officeDocument/2006/relationships/image" Target="../media/image59.png"/><Relationship Id="rId2" Type="http://schemas.microsoft.com/office/2007/relationships/media" Target="../media/media1.mp4"/><Relationship Id="rId1" Type="http://schemas.openxmlformats.org/officeDocument/2006/relationships/video" Target="../media/media1.mp4"/></Relationships>
</file>

<file path=ppt/slides/_rels/slide37.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13.xml"/><Relationship Id="rId2" Type="http://schemas.openxmlformats.org/officeDocument/2006/relationships/image" Target="../media/image61.png"/><Relationship Id="rId1" Type="http://schemas.openxmlformats.org/officeDocument/2006/relationships/image" Target="../media/image60.png"/></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62.png"/></Relationships>
</file>

<file path=ppt/slides/_rels/slide39.xml.rels><?xml version="1.0" encoding="UTF-8" standalone="yes"?>
<Relationships xmlns="http://schemas.openxmlformats.org/package/2006/relationships"><Relationship Id="rId4" Type="http://schemas.openxmlformats.org/officeDocument/2006/relationships/notesSlide" Target="../notesSlides/notesSlide19.xml"/><Relationship Id="rId3" Type="http://schemas.openxmlformats.org/officeDocument/2006/relationships/slideLayout" Target="../slideLayouts/slideLayout13.xml"/><Relationship Id="rId2" Type="http://schemas.openxmlformats.org/officeDocument/2006/relationships/image" Target="../media/image64.png"/><Relationship Id="rId1" Type="http://schemas.openxmlformats.org/officeDocument/2006/relationships/image" Target="../media/image6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2.xml"/><Relationship Id="rId1" Type="http://schemas.openxmlformats.org/officeDocument/2006/relationships/image" Target="../media/image65.jpeg"/></Relationships>
</file>

<file path=ppt/slides/_rels/slide42.xml.rels><?xml version="1.0" encoding="UTF-8" standalone="yes"?>
<Relationships xmlns="http://schemas.openxmlformats.org/package/2006/relationships"><Relationship Id="rId7" Type="http://schemas.openxmlformats.org/officeDocument/2006/relationships/notesSlide" Target="../notesSlides/notesSlide21.xml"/><Relationship Id="rId6" Type="http://schemas.openxmlformats.org/officeDocument/2006/relationships/slideLayout" Target="../slideLayouts/slideLayout13.xml"/><Relationship Id="rId5" Type="http://schemas.openxmlformats.org/officeDocument/2006/relationships/image" Target="../media/image69.png"/><Relationship Id="rId4" Type="http://schemas.openxmlformats.org/officeDocument/2006/relationships/image" Target="../media/image68.png"/><Relationship Id="rId3" Type="http://schemas.openxmlformats.org/officeDocument/2006/relationships/image" Target="../media/image67.png"/><Relationship Id="rId2" Type="http://schemas.openxmlformats.org/officeDocument/2006/relationships/image" Target="../media/image62.png"/><Relationship Id="rId1" Type="http://schemas.openxmlformats.org/officeDocument/2006/relationships/image" Target="../media/image66.png"/></Relationships>
</file>

<file path=ppt/slides/_rels/slide43.xml.rels><?xml version="1.0" encoding="UTF-8" standalone="yes"?>
<Relationships xmlns="http://schemas.openxmlformats.org/package/2006/relationships"><Relationship Id="rId4" Type="http://schemas.openxmlformats.org/officeDocument/2006/relationships/notesSlide" Target="../notesSlides/notesSlide22.xml"/><Relationship Id="rId3" Type="http://schemas.openxmlformats.org/officeDocument/2006/relationships/slideLayout" Target="../slideLayouts/slideLayout13.xml"/><Relationship Id="rId2" Type="http://schemas.openxmlformats.org/officeDocument/2006/relationships/image" Target="../media/image70.png"/><Relationship Id="rId1" Type="http://schemas.openxmlformats.org/officeDocument/2006/relationships/image" Target="../media/image62.png"/></Relationships>
</file>

<file path=ppt/slides/_rels/slide44.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71.png"/></Relationships>
</file>

<file path=ppt/slides/_rels/slide45.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image" Target="../media/image70.png"/><Relationship Id="rId1" Type="http://schemas.openxmlformats.org/officeDocument/2006/relationships/image" Target="../media/image62.png"/></Relationships>
</file>

<file path=ppt/slides/_rels/slide46.xml.rels><?xml version="1.0" encoding="UTF-8" standalone="yes"?>
<Relationships xmlns="http://schemas.openxmlformats.org/package/2006/relationships"><Relationship Id="rId5" Type="http://schemas.openxmlformats.org/officeDocument/2006/relationships/notesSlide" Target="../notesSlides/notesSlide23.xml"/><Relationship Id="rId4" Type="http://schemas.openxmlformats.org/officeDocument/2006/relationships/slideLayout" Target="../slideLayouts/slideLayout13.xml"/><Relationship Id="rId3" Type="http://schemas.openxmlformats.org/officeDocument/2006/relationships/image" Target="../media/image72.png"/><Relationship Id="rId2" Type="http://schemas.openxmlformats.org/officeDocument/2006/relationships/image" Target="../media/image70.png"/><Relationship Id="rId1"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13.xml"/><Relationship Id="rId1" Type="http://schemas.openxmlformats.org/officeDocument/2006/relationships/image" Target="../media/image73.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13.xml"/><Relationship Id="rId1" Type="http://schemas.openxmlformats.org/officeDocument/2006/relationships/image" Target="../media/image74.png"/></Relationships>
</file>

<file path=ppt/slides/_rels/slide49.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75.png"/></Relationships>
</file>

<file path=ppt/slides/_rels/slide5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6.png"/></Relationships>
</file>

<file path=ppt/slides/_rels/slide51.xml.rels><?xml version="1.0" encoding="UTF-8" standalone="yes"?>
<Relationships xmlns="http://schemas.openxmlformats.org/package/2006/relationships"><Relationship Id="rId4" Type="http://schemas.openxmlformats.org/officeDocument/2006/relationships/notesSlide" Target="../notesSlides/notesSlide26.xml"/><Relationship Id="rId3" Type="http://schemas.openxmlformats.org/officeDocument/2006/relationships/slideLayout" Target="../slideLayouts/slideLayout2.xml"/><Relationship Id="rId2" Type="http://schemas.openxmlformats.org/officeDocument/2006/relationships/image" Target="../media/image78.png"/><Relationship Id="rId1" Type="http://schemas.openxmlformats.org/officeDocument/2006/relationships/image" Target="../media/image77.png"/></Relationships>
</file>

<file path=ppt/slides/_rels/slide5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80.png"/><Relationship Id="rId1" Type="http://schemas.openxmlformats.org/officeDocument/2006/relationships/image" Target="../media/image79.png"/></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1.xml"/><Relationship Id="rId1" Type="http://schemas.openxmlformats.org/officeDocument/2006/relationships/image" Target="../media/image81.jpeg"/></Relationships>
</file>

<file path=ppt/slides/_rels/slide54.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image" Target="../media/image83.png"/><Relationship Id="rId1" Type="http://schemas.openxmlformats.org/officeDocument/2006/relationships/image" Target="../media/image82.png"/></Relationships>
</file>

<file path=ppt/slides/_rels/slide55.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microsoft.com/office/2007/relationships/diagramDrawing" Target="../diagrams/drawing2.xml"/><Relationship Id="rId4" Type="http://schemas.openxmlformats.org/officeDocument/2006/relationships/diagramColors" Target="../diagrams/colors2.xml"/><Relationship Id="rId3" Type="http://schemas.openxmlformats.org/officeDocument/2006/relationships/diagramQuickStyle" Target="../diagrams/quickStyle2.xml"/><Relationship Id="rId2" Type="http://schemas.openxmlformats.org/officeDocument/2006/relationships/diagramLayout" Target="../diagrams/layout2.xml"/><Relationship Id="rId1" Type="http://schemas.openxmlformats.org/officeDocument/2006/relationships/diagramData" Target="../diagrams/data2.xml"/></Relationships>
</file>

<file path=ppt/slides/_rels/slide56.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87.png"/><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image" Target="../media/image84.png"/></Relationships>
</file>

<file path=ppt/slides/_rels/slide57.xml.rels><?xml version="1.0" encoding="UTF-8" standalone="yes"?>
<Relationships xmlns="http://schemas.openxmlformats.org/package/2006/relationships"><Relationship Id="rId8" Type="http://schemas.openxmlformats.org/officeDocument/2006/relationships/slideLayout" Target="../slideLayouts/slideLayout2.xml"/><Relationship Id="rId7" Type="http://schemas.openxmlformats.org/officeDocument/2006/relationships/image" Target="../media/image87.png"/><Relationship Id="rId6" Type="http://schemas.openxmlformats.org/officeDocument/2006/relationships/image" Target="../media/image86.png"/><Relationship Id="rId5" Type="http://schemas.openxmlformats.org/officeDocument/2006/relationships/image" Target="../media/image90.png"/><Relationship Id="rId4" Type="http://schemas.openxmlformats.org/officeDocument/2006/relationships/image" Target="../media/image89.png"/><Relationship Id="rId3" Type="http://schemas.openxmlformats.org/officeDocument/2006/relationships/image" Target="../media/image88.png"/><Relationship Id="rId2" Type="http://schemas.openxmlformats.org/officeDocument/2006/relationships/image" Target="../media/image85.png"/><Relationship Id="rId1" Type="http://schemas.openxmlformats.org/officeDocument/2006/relationships/image" Target="../media/image84.png"/></Relationships>
</file>

<file path=ppt/slides/_rels/slide58.xml.rels><?xml version="1.0" encoding="UTF-8" standalone="yes"?>
<Relationships xmlns="http://schemas.openxmlformats.org/package/2006/relationships"><Relationship Id="rId7" Type="http://schemas.openxmlformats.org/officeDocument/2006/relationships/notesSlide" Target="../notesSlides/notesSlide28.xml"/><Relationship Id="rId6" Type="http://schemas.openxmlformats.org/officeDocument/2006/relationships/slideLayout" Target="../slideLayouts/slideLayout2.xml"/><Relationship Id="rId5" Type="http://schemas.openxmlformats.org/officeDocument/2006/relationships/image" Target="../media/image87.png"/><Relationship Id="rId4" Type="http://schemas.openxmlformats.org/officeDocument/2006/relationships/image" Target="../media/image86.png"/><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image" Target="../media/image88.png"/></Relationships>
</file>

<file path=ppt/slides/_rels/slide59.xml.rels><?xml version="1.0" encoding="UTF-8" standalone="yes"?>
<Relationships xmlns="http://schemas.openxmlformats.org/package/2006/relationships"><Relationship Id="rId6" Type="http://schemas.openxmlformats.org/officeDocument/2006/relationships/notesSlide" Target="../notesSlides/notesSlide29.xml"/><Relationship Id="rId5" Type="http://schemas.openxmlformats.org/officeDocument/2006/relationships/slideLayout" Target="../slideLayouts/slideLayout2.xml"/><Relationship Id="rId4" Type="http://schemas.openxmlformats.org/officeDocument/2006/relationships/image" Target="../media/image93.png"/><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image" Target="../media/image85.png"/></Relationships>
</file>

<file path=ppt/slides/_rels/slide6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72.png"/><Relationship Id="rId1" Type="http://schemas.openxmlformats.org/officeDocument/2006/relationships/image" Target="../media/image62.png"/></Relationships>
</file>

<file path=ppt/slides/_rels/slide6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94.png"/></Relationships>
</file>

<file path=ppt/slides/_rels/slide6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95.png"/></Relationships>
</file>

<file path=ppt/slides/_rels/slide63.xml.rels><?xml version="1.0" encoding="UTF-8" standalone="yes"?>
<Relationships xmlns="http://schemas.openxmlformats.org/package/2006/relationships"><Relationship Id="rId9" Type="http://schemas.openxmlformats.org/officeDocument/2006/relationships/slideLayout" Target="../slideLayouts/slideLayout13.xml"/><Relationship Id="rId8" Type="http://schemas.openxmlformats.org/officeDocument/2006/relationships/image" Target="../media/image101.jpeg"/><Relationship Id="rId7" Type="http://schemas.openxmlformats.org/officeDocument/2006/relationships/image" Target="../media/image70.png"/><Relationship Id="rId6" Type="http://schemas.openxmlformats.org/officeDocument/2006/relationships/image" Target="../media/image62.png"/><Relationship Id="rId5" Type="http://schemas.openxmlformats.org/officeDocument/2006/relationships/image" Target="../media/image100.png"/><Relationship Id="rId4" Type="http://schemas.openxmlformats.org/officeDocument/2006/relationships/image" Target="../media/image99.png"/><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image" Target="../media/image96.png"/></Relationships>
</file>

<file path=ppt/slides/_rels/slide64.xml.rels><?xml version="1.0" encoding="UTF-8" standalone="yes"?>
<Relationships xmlns="http://schemas.openxmlformats.org/package/2006/relationships"><Relationship Id="rId6" Type="http://schemas.openxmlformats.org/officeDocument/2006/relationships/slideLayout" Target="../slideLayouts/slideLayout13.xml"/><Relationship Id="rId5" Type="http://schemas.openxmlformats.org/officeDocument/2006/relationships/image" Target="../media/image62.png"/><Relationship Id="rId4" Type="http://schemas.openxmlformats.org/officeDocument/2006/relationships/image" Target="../media/image100.png"/><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image" Target="../media/image97.png"/></Relationships>
</file>

<file path=ppt/slides/_rels/slide65.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102.png"/></Relationships>
</file>

<file path=ppt/slides/_rels/slide66.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103.png"/></Relationships>
</file>

<file path=ppt/slides/_rels/slide67.xml.rels><?xml version="1.0" encoding="UTF-8" standalone="yes"?>
<Relationships xmlns="http://schemas.openxmlformats.org/package/2006/relationships"><Relationship Id="rId4" Type="http://schemas.openxmlformats.org/officeDocument/2006/relationships/notesSlide" Target="../notesSlides/notesSlide30.xml"/><Relationship Id="rId3" Type="http://schemas.openxmlformats.org/officeDocument/2006/relationships/slideLayout" Target="../slideLayouts/slideLayout2.xml"/><Relationship Id="rId2" Type="http://schemas.openxmlformats.org/officeDocument/2006/relationships/image" Target="../media/image72.png"/><Relationship Id="rId1" Type="http://schemas.openxmlformats.org/officeDocument/2006/relationships/image" Target="../media/image62.png"/></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62.png"/><Relationship Id="rId1" Type="http://schemas.openxmlformats.org/officeDocument/2006/relationships/image" Target="../media/image56.png"/></Relationships>
</file>

<file path=ppt/slides/_rels/slide70.xml.rels><?xml version="1.0" encoding="UTF-8" standalone="yes"?>
<Relationships xmlns="http://schemas.openxmlformats.org/package/2006/relationships"><Relationship Id="rId5" Type="http://schemas.openxmlformats.org/officeDocument/2006/relationships/notesSlide" Target="../notesSlides/notesSlide32.xml"/><Relationship Id="rId4" Type="http://schemas.openxmlformats.org/officeDocument/2006/relationships/slideLayout" Target="../slideLayouts/slideLayout2.xml"/><Relationship Id="rId3" Type="http://schemas.openxmlformats.org/officeDocument/2006/relationships/image" Target="../media/image104.png"/><Relationship Id="rId2" Type="http://schemas.openxmlformats.org/officeDocument/2006/relationships/image" Target="../media/image72.png"/><Relationship Id="rId1" Type="http://schemas.openxmlformats.org/officeDocument/2006/relationships/image" Target="../media/image62.png"/></Relationships>
</file>

<file path=ppt/slides/_rels/slide71.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hyperlink" Target="https://arxiv.org/abs/2307.07924" TargetMode="External"/><Relationship Id="rId3" Type="http://schemas.openxmlformats.org/officeDocument/2006/relationships/hyperlink" Target="https://github.com/OpenBMB/ChatDev" TargetMode="External"/><Relationship Id="rId2" Type="http://schemas.openxmlformats.org/officeDocument/2006/relationships/image" Target="../media/image106.png"/><Relationship Id="rId1" Type="http://schemas.openxmlformats.org/officeDocument/2006/relationships/image" Target="../media/image105.png"/></Relationships>
</file>

<file path=ppt/slides/_rels/slide72.xml.rels><?xml version="1.0" encoding="UTF-8" standalone="yes"?>
<Relationships xmlns="http://schemas.openxmlformats.org/package/2006/relationships"><Relationship Id="rId5" Type="http://schemas.openxmlformats.org/officeDocument/2006/relationships/notesSlide" Target="../notesSlides/notesSlide33.xml"/><Relationship Id="rId4" Type="http://schemas.openxmlformats.org/officeDocument/2006/relationships/slideLayout" Target="../slideLayouts/slideLayout2.xml"/><Relationship Id="rId3" Type="http://schemas.openxmlformats.org/officeDocument/2006/relationships/image" Target="../media/image72.png"/><Relationship Id="rId2" Type="http://schemas.openxmlformats.org/officeDocument/2006/relationships/image" Target="../media/image107.png"/><Relationship Id="rId1" Type="http://schemas.openxmlformats.org/officeDocument/2006/relationships/image" Target="../media/image62.png"/></Relationships>
</file>

<file path=ppt/slides/_rels/slide73.xml.rels><?xml version="1.0" encoding="UTF-8" standalone="yes"?>
<Relationships xmlns="http://schemas.openxmlformats.org/package/2006/relationships"><Relationship Id="rId4" Type="http://schemas.openxmlformats.org/officeDocument/2006/relationships/notesSlide" Target="../notesSlides/notesSlide34.xml"/><Relationship Id="rId3" Type="http://schemas.openxmlformats.org/officeDocument/2006/relationships/slideLayout" Target="../slideLayouts/slideLayout2.xml"/><Relationship Id="rId2" Type="http://schemas.openxmlformats.org/officeDocument/2006/relationships/image" Target="../media/image107.png"/><Relationship Id="rId1" Type="http://schemas.openxmlformats.org/officeDocument/2006/relationships/image" Target="../media/image62.png"/></Relationships>
</file>

<file path=ppt/slides/_rels/slide74.xml.rels><?xml version="1.0" encoding="UTF-8" standalone="yes"?>
<Relationships xmlns="http://schemas.openxmlformats.org/package/2006/relationships"><Relationship Id="rId8" Type="http://schemas.openxmlformats.org/officeDocument/2006/relationships/notesSlide" Target="../notesSlides/notesSlide35.xml"/><Relationship Id="rId7" Type="http://schemas.openxmlformats.org/officeDocument/2006/relationships/slideLayout" Target="../slideLayouts/slideLayout2.xml"/><Relationship Id="rId6" Type="http://schemas.openxmlformats.org/officeDocument/2006/relationships/image" Target="../media/image72.png"/><Relationship Id="rId5" Type="http://schemas.openxmlformats.org/officeDocument/2006/relationships/image" Target="../media/image62.png"/><Relationship Id="rId4" Type="http://schemas.openxmlformats.org/officeDocument/2006/relationships/image" Target="../media/image111.png"/><Relationship Id="rId3" Type="http://schemas.openxmlformats.org/officeDocument/2006/relationships/image" Target="../media/image110.png"/><Relationship Id="rId2" Type="http://schemas.openxmlformats.org/officeDocument/2006/relationships/image" Target="../media/image109.png"/><Relationship Id="rId1" Type="http://schemas.openxmlformats.org/officeDocument/2006/relationships/image" Target="../media/image108.png"/></Relationships>
</file>

<file path=ppt/slides/_rels/slide75.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111.png"/><Relationship Id="rId3" Type="http://schemas.openxmlformats.org/officeDocument/2006/relationships/image" Target="../media/image110.png"/><Relationship Id="rId2" Type="http://schemas.openxmlformats.org/officeDocument/2006/relationships/image" Target="../media/image109.png"/><Relationship Id="rId1" Type="http://schemas.openxmlformats.org/officeDocument/2006/relationships/image" Target="../media/image108.png"/></Relationships>
</file>

<file path=ppt/slides/_rels/slide76.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2.xml"/><Relationship Id="rId1" Type="http://schemas.openxmlformats.org/officeDocument/2006/relationships/image" Target="../media/image112.png"/></Relationships>
</file>

<file path=ppt/slides/_rels/slide77.xml.rels><?xml version="1.0" encoding="UTF-8" standalone="yes"?>
<Relationships xmlns="http://schemas.openxmlformats.org/package/2006/relationships"><Relationship Id="rId6" Type="http://schemas.openxmlformats.org/officeDocument/2006/relationships/slideLayout" Target="../slideLayouts/slideLayout13.xml"/><Relationship Id="rId5" Type="http://schemas.microsoft.com/office/2007/relationships/diagramDrawing" Target="../diagrams/drawing3.xml"/><Relationship Id="rId4" Type="http://schemas.openxmlformats.org/officeDocument/2006/relationships/diagramColors" Target="../diagrams/colors3.xml"/><Relationship Id="rId3" Type="http://schemas.openxmlformats.org/officeDocument/2006/relationships/diagramQuickStyle" Target="../diagrams/quickStyle3.xml"/><Relationship Id="rId2" Type="http://schemas.openxmlformats.org/officeDocument/2006/relationships/diagramLayout" Target="../diagrams/layout3.xml"/><Relationship Id="rId1" Type="http://schemas.openxmlformats.org/officeDocument/2006/relationships/diagramData" Target="../diagrams/data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p:cNvSpPr>
            <a:spLocks noGrp="1" noRot="1" noChangeAspect="1" noMove="1" noResize="1" noEditPoints="1" noAdjustHandles="1" noChangeArrowheads="1" noChangeShapeType="1" noTextEdit="1"/>
          </p:cNvSpPr>
          <p:nvPr/>
        </p:nvSpPr>
        <p:spPr>
          <a:xfrm>
            <a:off x="0" y="0"/>
            <a:ext cx="12192000" cy="68580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標題 1"/>
          <p:cNvSpPr>
            <a:spLocks noGrp="1"/>
          </p:cNvSpPr>
          <p:nvPr>
            <p:ph type="ctrTitle"/>
          </p:nvPr>
        </p:nvSpPr>
        <p:spPr>
          <a:xfrm>
            <a:off x="512805" y="780932"/>
            <a:ext cx="11166389" cy="4560920"/>
          </a:xfrm>
        </p:spPr>
        <p:txBody>
          <a:bodyPr anchor="b">
            <a:normAutofit/>
          </a:bodyPr>
          <a:lstStyle/>
          <a:p>
            <a:pPr algn="l"/>
            <a:r>
              <a:rPr lang="zh-TW" altLang="en-US" sz="8800" dirty="0">
                <a:latin typeface="Microsoft JhengHei" panose="020B0604030504040204" pitchFamily="34" charset="-120"/>
                <a:ea typeface="Microsoft JhengHei" panose="020B0604030504040204" pitchFamily="34" charset="-120"/>
              </a:rPr>
              <a:t>一堂課搞懂</a:t>
            </a:r>
            <a:br>
              <a:rPr lang="en-US" altLang="zh-TW" sz="8800" dirty="0">
                <a:latin typeface="Microsoft JhengHei" panose="020B0604030504040204" pitchFamily="34" charset="-120"/>
                <a:ea typeface="Microsoft JhengHei" panose="020B0604030504040204" pitchFamily="34" charset="-120"/>
              </a:rPr>
            </a:br>
            <a:r>
              <a:rPr lang="en-US" altLang="zh-TW" sz="8800" dirty="0">
                <a:latin typeface="Microsoft JhengHei" panose="020B0604030504040204" pitchFamily="34" charset="-120"/>
                <a:ea typeface="Microsoft JhengHei" panose="020B0604030504040204" pitchFamily="34" charset="-120"/>
              </a:rPr>
              <a:t>Context Engineering</a:t>
            </a:r>
            <a:br>
              <a:rPr lang="en-US" altLang="zh-TW" sz="8800" dirty="0">
                <a:latin typeface="Microsoft JhengHei" panose="020B0604030504040204" pitchFamily="34" charset="-120"/>
                <a:ea typeface="Microsoft JhengHei" panose="020B0604030504040204" pitchFamily="34" charset="-120"/>
              </a:rPr>
            </a:br>
            <a:r>
              <a:rPr lang="zh-TW" altLang="en-US" sz="8800" dirty="0">
                <a:latin typeface="Microsoft JhengHei" panose="020B0604030504040204" pitchFamily="34" charset="-120"/>
                <a:ea typeface="Microsoft JhengHei" panose="020B0604030504040204" pitchFamily="34" charset="-120"/>
              </a:rPr>
              <a:t>的概念</a:t>
            </a:r>
            <a:r>
              <a:rPr lang="en-US" altLang="zh-TW" sz="8800" dirty="0">
                <a:latin typeface="Microsoft JhengHei" panose="020B0604030504040204" pitchFamily="34" charset="-120"/>
                <a:ea typeface="Microsoft JhengHei" panose="020B0604030504040204" pitchFamily="34" charset="-120"/>
              </a:rPr>
              <a:t> </a:t>
            </a:r>
            <a:endParaRPr lang="zh-TW" altLang="en-US" sz="8800" dirty="0">
              <a:latin typeface="Microsoft JhengHei" panose="020B0604030504040204" pitchFamily="34" charset="-120"/>
              <a:ea typeface="Microsoft JhengHei" panose="020B0604030504040204" pitchFamily="34" charset="-120"/>
            </a:endParaRPr>
          </a:p>
        </p:txBody>
      </p:sp>
      <p:sp>
        <p:nvSpPr>
          <p:cNvPr id="3" name="副標題 2"/>
          <p:cNvSpPr>
            <a:spLocks noGrp="1"/>
          </p:cNvSpPr>
          <p:nvPr>
            <p:ph type="subTitle" idx="1"/>
          </p:nvPr>
        </p:nvSpPr>
        <p:spPr>
          <a:xfrm>
            <a:off x="263611" y="482759"/>
            <a:ext cx="7772886" cy="596347"/>
          </a:xfrm>
        </p:spPr>
        <p:txBody>
          <a:bodyPr anchor="t">
            <a:normAutofit/>
          </a:bodyPr>
          <a:lstStyle/>
          <a:p>
            <a:pPr algn="l"/>
            <a:endParaRPr lang="zh-TW" altLang="en-US" sz="2000"/>
          </a:p>
        </p:txBody>
      </p:sp>
      <p:sp>
        <p:nvSpPr>
          <p:cNvPr id="4" name="標題 1"/>
          <p:cNvSpPr txBox="1"/>
          <p:nvPr/>
        </p:nvSpPr>
        <p:spPr>
          <a:xfrm>
            <a:off x="7613729" y="4745270"/>
            <a:ext cx="3343926" cy="1360284"/>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r" defTabSz="914400" rtl="0" eaLnBrk="1" fontAlgn="auto" latinLnBrk="0" hangingPunct="1">
              <a:lnSpc>
                <a:spcPct val="90000"/>
              </a:lnSpc>
              <a:spcBef>
                <a:spcPct val="0"/>
              </a:spcBef>
              <a:spcAft>
                <a:spcPts val="0"/>
              </a:spcAft>
              <a:buClrTx/>
              <a:buSzTx/>
              <a:buFontTx/>
              <a:buNone/>
              <a:defRPr/>
            </a:pPr>
            <a:r>
              <a:rPr kumimoji="0" lang="zh-TW" altLang="en-US" sz="6000" b="1" i="0" u="none" strike="noStrike" kern="1200" cap="none" spc="0" normalizeH="0" baseline="0" noProof="0" dirty="0">
                <a:ln>
                  <a:noFill/>
                </a:ln>
                <a:solidFill>
                  <a:srgbClr val="FFFF00"/>
                </a:solidFill>
                <a:effectLst/>
                <a:uLnTx/>
                <a:uFillTx/>
                <a:latin typeface="Microsoft JhengHei" panose="020B0604030504040204" pitchFamily="34" charset="-120"/>
                <a:ea typeface="Microsoft JhengHei" panose="020B0604030504040204" pitchFamily="34" charset="-120"/>
                <a:cs typeface="+mj-cs"/>
              </a:rPr>
              <a:t>李宏毅</a:t>
            </a:r>
            <a:endParaRPr kumimoji="0" lang="zh-TW" altLang="en-US" sz="6000" b="1" i="0" u="none" strike="noStrike" kern="1200" cap="none" spc="0" normalizeH="0" baseline="0" noProof="0" dirty="0">
              <a:ln>
                <a:noFill/>
              </a:ln>
              <a:solidFill>
                <a:srgbClr val="FFFF00"/>
              </a:solidFill>
              <a:effectLst/>
              <a:uLnTx/>
              <a:uFillTx/>
              <a:latin typeface="Microsoft JhengHei" panose="020B0604030504040204" pitchFamily="34" charset="-120"/>
              <a:ea typeface="Microsoft JhengHei" panose="020B0604030504040204" pitchFamily="34" charset="-120"/>
              <a:cs typeface="+mj-cs"/>
            </a:endParaRPr>
          </a:p>
        </p:txBody>
      </p:sp>
    </p:spTree>
  </p:cSld>
  <p:clrMapOvr>
    <a:overrideClrMapping bg1="dk1" tx1="lt1" bg2="dk2" tx2="lt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讓 </a:t>
            </a:r>
            <a:r>
              <a:rPr lang="en-US" altLang="zh-TW" dirty="0">
                <a:latin typeface="Microsoft JhengHei" panose="020B0604030504040204" pitchFamily="34" charset="-120"/>
                <a:ea typeface="Microsoft JhengHei" panose="020B0604030504040204" pitchFamily="34" charset="-120"/>
              </a:rPr>
              <a:t>AI</a:t>
            </a:r>
            <a:r>
              <a:rPr lang="zh-TW" altLang="en-US" dirty="0">
                <a:latin typeface="Microsoft JhengHei" panose="020B0604030504040204" pitchFamily="34" charset="-120"/>
                <a:ea typeface="Microsoft JhengHei" panose="020B0604030504040204" pitchFamily="34" charset="-120"/>
              </a:rPr>
              <a:t> </a:t>
            </a:r>
            <a:r>
              <a:rPr lang="en-US" altLang="zh-TW" dirty="0">
                <a:latin typeface="Microsoft JhengHei" panose="020B0604030504040204" pitchFamily="34" charset="-120"/>
                <a:ea typeface="Microsoft JhengHei" panose="020B0604030504040204" pitchFamily="34" charset="-120"/>
              </a:rPr>
              <a:t>Agent</a:t>
            </a:r>
            <a:r>
              <a:rPr lang="zh-TW" altLang="en-US" dirty="0">
                <a:latin typeface="Microsoft JhengHei" panose="020B0604030504040204" pitchFamily="34" charset="-120"/>
                <a:ea typeface="Microsoft JhengHei" panose="020B0604030504040204" pitchFamily="34" charset="-120"/>
              </a:rPr>
              <a:t> 成功運行的關鍵技術</a:t>
            </a:r>
            <a:endParaRPr lang="zh-TW" altLang="en-US" dirty="0">
              <a:latin typeface="Microsoft JhengHei" panose="020B0604030504040204" pitchFamily="34" charset="-120"/>
              <a:ea typeface="Microsoft JhengHei" panose="020B0604030504040204" pitchFamily="34" charset="-120"/>
            </a:endParaRPr>
          </a:p>
        </p:txBody>
      </p:sp>
      <p:pic>
        <p:nvPicPr>
          <p:cNvPr id="4" name="圖片 3"/>
          <p:cNvPicPr>
            <a:picLocks noChangeAspect="1"/>
          </p:cNvPicPr>
          <p:nvPr/>
        </p:nvPicPr>
        <p:blipFill>
          <a:blip r:embed="rId1"/>
          <a:stretch>
            <a:fillRect/>
          </a:stretch>
        </p:blipFill>
        <p:spPr>
          <a:xfrm>
            <a:off x="973013" y="2039634"/>
            <a:ext cx="6018141" cy="3413452"/>
          </a:xfrm>
          <a:prstGeom prst="rect">
            <a:avLst/>
          </a:prstGeom>
        </p:spPr>
      </p:pic>
      <p:sp>
        <p:nvSpPr>
          <p:cNvPr id="5" name="文字方塊 4"/>
          <p:cNvSpPr txBox="1"/>
          <p:nvPr/>
        </p:nvSpPr>
        <p:spPr>
          <a:xfrm>
            <a:off x="838200" y="5588023"/>
            <a:ext cx="6018141" cy="36933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https://youtu.be/M2Yg1kwPpts?si=Dw3UvnKQTITxNdci</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01196" y="1868563"/>
            <a:ext cx="4088792" cy="408879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Context Engineering </a:t>
            </a:r>
            <a:endParaRPr lang="zh-TW" altLang="en-US" dirty="0"/>
          </a:p>
        </p:txBody>
      </p:sp>
      <p:sp>
        <p:nvSpPr>
          <p:cNvPr id="19" name="矩形: 圓角 18"/>
          <p:cNvSpPr/>
          <p:nvPr/>
        </p:nvSpPr>
        <p:spPr>
          <a:xfrm>
            <a:off x="5504673" y="2331316"/>
            <a:ext cx="1693981" cy="1097684"/>
          </a:xfrm>
          <a:prstGeom prst="roundRect">
            <a:avLst/>
          </a:prstGeom>
          <a:solidFill>
            <a:srgbClr val="4472C4">
              <a:lumMod val="20000"/>
              <a:lumOff val="80000"/>
            </a:srgbClr>
          </a:solidFill>
          <a:ln w="5715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語言</a:t>
            </a:r>
            <a:endPar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ctr" defTabSz="914400" eaLnBrk="1" fontAlgn="auto" latinLnBrk="0" hangingPunct="1">
              <a:lnSpc>
                <a:spcPct val="100000"/>
              </a:lnSpc>
              <a:spcBef>
                <a:spcPts val="0"/>
              </a:spcBef>
              <a:spcAft>
                <a:spcPts val="0"/>
              </a:spcAft>
              <a:buClrTx/>
              <a:buSzTx/>
              <a:buFontTx/>
              <a:buNone/>
              <a:defRPr/>
            </a:pPr>
            <a:r>
              <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模型</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20" name="直線單箭頭接點 19"/>
          <p:cNvCxnSpPr>
            <a:stCxn id="30" idx="3"/>
          </p:cNvCxnSpPr>
          <p:nvPr/>
        </p:nvCxnSpPr>
        <p:spPr>
          <a:xfrm>
            <a:off x="3736443" y="2868391"/>
            <a:ext cx="1609970" cy="1"/>
          </a:xfrm>
          <a:prstGeom prst="straightConnector1">
            <a:avLst/>
          </a:prstGeom>
          <a:noFill/>
          <a:ln w="57150" cap="flat" cmpd="sng" algn="ctr">
            <a:solidFill>
              <a:sysClr val="windowText" lastClr="000000"/>
            </a:solidFill>
            <a:prstDash val="solid"/>
            <a:miter lim="800000"/>
            <a:tailEnd type="triangle"/>
          </a:ln>
          <a:effectLst/>
        </p:spPr>
      </p:cxnSp>
      <p:sp>
        <p:nvSpPr>
          <p:cNvPr id="30" name="文字方塊 29"/>
          <p:cNvSpPr txBox="1"/>
          <p:nvPr/>
        </p:nvSpPr>
        <p:spPr>
          <a:xfrm>
            <a:off x="1990949" y="2452892"/>
            <a:ext cx="1745494" cy="830997"/>
          </a:xfrm>
          <a:prstGeom prst="rect">
            <a:avLst/>
          </a:prstGeom>
          <a:noFill/>
        </p:spPr>
        <p:txBody>
          <a:bodyPr wrap="square" rtlCol="0">
            <a:spAutoFit/>
          </a:bodyPr>
          <a:lstStyle/>
          <a:p>
            <a:pPr algn="ctr">
              <a:defRPr/>
            </a:pPr>
            <a:r>
              <a:rPr lang="zh-TW" altLang="en-US" sz="2400" dirty="0">
                <a:solidFill>
                  <a:prstClr val="black"/>
                </a:solidFill>
                <a:latin typeface="Microsoft JhengHei" panose="020B0604030504040204" pitchFamily="34" charset="-120"/>
                <a:ea typeface="Microsoft JhengHei" panose="020B0604030504040204" pitchFamily="34" charset="-120"/>
              </a:rPr>
              <a:t>輸入 </a:t>
            </a:r>
            <a:r>
              <a:rPr lang="en-US" altLang="zh-TW" sz="2400" dirty="0">
                <a:solidFill>
                  <a:prstClr val="black"/>
                </a:solidFill>
                <a:latin typeface="Microsoft JhengHei" panose="020B0604030504040204" pitchFamily="34" charset="-120"/>
                <a:ea typeface="Microsoft JhengHei" panose="020B0604030504040204" pitchFamily="34" charset="-120"/>
              </a:rPr>
              <a:t>(Prompt)</a:t>
            </a:r>
            <a:endParaRPr lang="zh-TW" altLang="en-US" sz="2400" dirty="0">
              <a:solidFill>
                <a:prstClr val="black"/>
              </a:solidFill>
              <a:latin typeface="Microsoft JhengHei" panose="020B0604030504040204" pitchFamily="34" charset="-120"/>
              <a:ea typeface="Microsoft JhengHei" panose="020B0604030504040204" pitchFamily="34" charset="-120"/>
            </a:endParaRPr>
          </a:p>
        </p:txBody>
      </p:sp>
      <mc:AlternateContent xmlns:mc="http://schemas.openxmlformats.org/markup-compatibility/2006">
        <mc:Choice xmlns:a14="http://schemas.microsoft.com/office/drawing/2010/main" Requires="a14">
          <p:sp>
            <p:nvSpPr>
              <p:cNvPr id="31" name="文字方塊 30"/>
              <p:cNvSpPr txBox="1"/>
              <p:nvPr/>
            </p:nvSpPr>
            <p:spPr>
              <a:xfrm>
                <a:off x="6206944" y="3499332"/>
                <a:ext cx="289438" cy="430887"/>
              </a:xfrm>
              <a:prstGeom prst="rect">
                <a:avLst/>
              </a:prstGeom>
              <a:noFill/>
            </p:spPr>
            <p:txBody>
              <a:bodyPr wrap="none" lIns="0" tIns="0" rIns="0" bIns="0" rtlCol="0">
                <a:spAutoFit/>
              </a:bodyPr>
              <a:lstStyle/>
              <a:p>
                <a:pPr>
                  <a:defRPr/>
                </a:pPr>
                <a14:m>
                  <m:oMathPara xmlns:m="http://schemas.openxmlformats.org/officeDocument/2006/math">
                    <m:oMathParaPr>
                      <m:jc m:val="centerGroup"/>
                    </m:oMathParaPr>
                    <m:oMath xmlns:m="http://schemas.openxmlformats.org/officeDocument/2006/math">
                      <m:r>
                        <a:rPr lang="en-US" altLang="zh-TW" sz="2800" i="1" smtClean="0">
                          <a:solidFill>
                            <a:prstClr val="black"/>
                          </a:solidFill>
                          <a:latin typeface="Cambria Math" panose="02040503050406030204" pitchFamily="18" charset="0"/>
                        </a:rPr>
                        <m:t>𝑓</m:t>
                      </m:r>
                    </m:oMath>
                  </m:oMathPara>
                </a14:m>
                <a:endParaRPr lang="zh-TW" altLang="en-US" sz="2800" dirty="0">
                  <a:solidFill>
                    <a:prstClr val="black"/>
                  </a:solidFill>
                  <a:latin typeface="Calibri" panose="020F0502020204030204"/>
                </a:endParaRPr>
              </a:p>
            </p:txBody>
          </p:sp>
        </mc:Choice>
        <mc:Fallback>
          <p:sp>
            <p:nvSpPr>
              <p:cNvPr id="31" name="文字方塊 30"/>
              <p:cNvSpPr txBox="1">
                <a:spLocks noRot="1" noChangeAspect="1" noMove="1" noResize="1" noEditPoints="1" noAdjustHandles="1" noChangeArrowheads="1" noChangeShapeType="1" noTextEdit="1"/>
              </p:cNvSpPr>
              <p:nvPr/>
            </p:nvSpPr>
            <p:spPr>
              <a:xfrm>
                <a:off x="6206944" y="3499332"/>
                <a:ext cx="289438" cy="430887"/>
              </a:xfrm>
              <a:prstGeom prst="rect">
                <a:avLst/>
              </a:prstGeom>
              <a:blipFill rotWithShape="1">
                <a:blip r:embed="rId1"/>
                <a:stretch>
                  <a:fillRect l="-157" t="-112" r="-11732" b="47"/>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2" name="文字方塊 31"/>
              <p:cNvSpPr txBox="1"/>
              <p:nvPr/>
            </p:nvSpPr>
            <p:spPr>
              <a:xfrm>
                <a:off x="2721990" y="3283889"/>
                <a:ext cx="283411" cy="430887"/>
              </a:xfrm>
              <a:prstGeom prst="rect">
                <a:avLst/>
              </a:prstGeom>
              <a:noFill/>
            </p:spPr>
            <p:txBody>
              <a:bodyPr wrap="none" lIns="0" tIns="0" rIns="0" bIns="0" rtlCol="0">
                <a:spAutoFit/>
              </a:bodyPr>
              <a:lstStyle/>
              <a:p>
                <a:pPr>
                  <a:defRPr/>
                </a:pPr>
                <a14:m>
                  <m:oMathPara xmlns:m="http://schemas.openxmlformats.org/officeDocument/2006/math">
                    <m:oMathParaPr>
                      <m:jc m:val="centerGroup"/>
                    </m:oMathParaPr>
                    <m:oMath xmlns:m="http://schemas.openxmlformats.org/officeDocument/2006/math">
                      <m:r>
                        <a:rPr lang="en-US" altLang="zh-TW" sz="2800" i="1" smtClean="0">
                          <a:solidFill>
                            <a:prstClr val="black"/>
                          </a:solidFill>
                          <a:latin typeface="Cambria Math" panose="02040503050406030204" pitchFamily="18" charset="0"/>
                        </a:rPr>
                        <m:t>𝑥</m:t>
                      </m:r>
                    </m:oMath>
                  </m:oMathPara>
                </a14:m>
                <a:endParaRPr lang="zh-TW" altLang="en-US" sz="2800" dirty="0">
                  <a:solidFill>
                    <a:prstClr val="black"/>
                  </a:solidFill>
                  <a:latin typeface="Calibri" panose="020F0502020204030204"/>
                </a:endParaRPr>
              </a:p>
            </p:txBody>
          </p:sp>
        </mc:Choice>
        <mc:Fallback>
          <p:sp>
            <p:nvSpPr>
              <p:cNvPr id="32" name="文字方塊 31"/>
              <p:cNvSpPr txBox="1">
                <a:spLocks noRot="1" noChangeAspect="1" noMove="1" noResize="1" noEditPoints="1" noAdjustHandles="1" noChangeArrowheads="1" noChangeShapeType="1" noTextEdit="1"/>
              </p:cNvSpPr>
              <p:nvPr/>
            </p:nvSpPr>
            <p:spPr>
              <a:xfrm>
                <a:off x="2721990" y="3283889"/>
                <a:ext cx="283411" cy="430887"/>
              </a:xfrm>
              <a:prstGeom prst="rect">
                <a:avLst/>
              </a:prstGeom>
              <a:blipFill rotWithShape="1">
                <a:blip r:embed="rId2"/>
                <a:stretch>
                  <a:fillRect l="-134" t="-71" r="-12118" b="6"/>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3" name="文字方塊 32"/>
              <p:cNvSpPr txBox="1"/>
              <p:nvPr/>
            </p:nvSpPr>
            <p:spPr>
              <a:xfrm>
                <a:off x="9207254" y="3318256"/>
                <a:ext cx="789126" cy="430887"/>
              </a:xfrm>
              <a:prstGeom prst="rect">
                <a:avLst/>
              </a:prstGeom>
              <a:noFill/>
            </p:spPr>
            <p:txBody>
              <a:bodyPr wrap="none" lIns="0" tIns="0" rIns="0" bIns="0" rtlCol="0">
                <a:spAutoFit/>
              </a:bodyPr>
              <a:lstStyle/>
              <a:p>
                <a:pPr>
                  <a:defRPr/>
                </a:pPr>
                <a14:m>
                  <m:oMathPara xmlns:m="http://schemas.openxmlformats.org/officeDocument/2006/math">
                    <m:oMathParaPr>
                      <m:jc m:val="centerGroup"/>
                    </m:oMathParaPr>
                    <m:oMath xmlns:m="http://schemas.openxmlformats.org/officeDocument/2006/math">
                      <m:r>
                        <a:rPr lang="en-US" altLang="zh-TW" sz="2800" i="1">
                          <a:solidFill>
                            <a:prstClr val="black"/>
                          </a:solidFill>
                          <a:latin typeface="Cambria Math" panose="02040503050406030204" pitchFamily="18" charset="0"/>
                        </a:rPr>
                        <m:t>𝑓</m:t>
                      </m:r>
                      <m:d>
                        <m:dPr>
                          <m:ctrlPr>
                            <a:rPr lang="en-US" altLang="zh-TW" sz="2800" i="1" smtClean="0">
                              <a:solidFill>
                                <a:prstClr val="black"/>
                              </a:solidFill>
                              <a:latin typeface="Cambria Math" panose="02040503050406030204" pitchFamily="18" charset="0"/>
                            </a:rPr>
                          </m:ctrlPr>
                        </m:dPr>
                        <m:e>
                          <m:r>
                            <a:rPr lang="en-US" altLang="zh-TW" sz="2800" i="1">
                              <a:solidFill>
                                <a:prstClr val="black"/>
                              </a:solidFill>
                              <a:latin typeface="Cambria Math" panose="02040503050406030204" pitchFamily="18" charset="0"/>
                            </a:rPr>
                            <m:t>𝑥</m:t>
                          </m:r>
                        </m:e>
                      </m:d>
                    </m:oMath>
                  </m:oMathPara>
                </a14:m>
                <a:endParaRPr lang="zh-TW" altLang="en-US" sz="2800" dirty="0">
                  <a:solidFill>
                    <a:prstClr val="black"/>
                  </a:solidFill>
                  <a:latin typeface="Calibri" panose="020F0502020204030204"/>
                </a:endParaRPr>
              </a:p>
            </p:txBody>
          </p:sp>
        </mc:Choice>
        <mc:Fallback>
          <p:sp>
            <p:nvSpPr>
              <p:cNvPr id="33" name="文字方塊 32"/>
              <p:cNvSpPr txBox="1">
                <a:spLocks noRot="1" noChangeAspect="1" noMove="1" noResize="1" noEditPoints="1" noAdjustHandles="1" noChangeArrowheads="1" noChangeShapeType="1" noTextEdit="1"/>
              </p:cNvSpPr>
              <p:nvPr/>
            </p:nvSpPr>
            <p:spPr>
              <a:xfrm>
                <a:off x="9207254" y="3318256"/>
                <a:ext cx="789126" cy="430887"/>
              </a:xfrm>
              <a:prstGeom prst="rect">
                <a:avLst/>
              </a:prstGeom>
              <a:blipFill rotWithShape="1">
                <a:blip r:embed="rId3"/>
                <a:stretch>
                  <a:fillRect l="-49" t="-88" r="-3353" b="24"/>
                </a:stretch>
              </a:blipFill>
            </p:spPr>
            <p:txBody>
              <a:bodyPr/>
              <a:lstStyle/>
              <a:p>
                <a:r>
                  <a:rPr lang="zh-CN" altLang="en-US">
                    <a:noFill/>
                  </a:rPr>
                  <a:t> </a:t>
                </a:r>
              </a:p>
            </p:txBody>
          </p:sp>
        </mc:Fallback>
      </mc:AlternateContent>
      <p:sp>
        <p:nvSpPr>
          <p:cNvPr id="34" name="文字方塊 33"/>
          <p:cNvSpPr txBox="1"/>
          <p:nvPr/>
        </p:nvSpPr>
        <p:spPr>
          <a:xfrm>
            <a:off x="8966884" y="2452892"/>
            <a:ext cx="1269867" cy="830997"/>
          </a:xfrm>
          <a:prstGeom prst="rect">
            <a:avLst/>
          </a:prstGeom>
          <a:noFill/>
        </p:spPr>
        <p:txBody>
          <a:bodyPr wrap="square" rtlCol="0">
            <a:spAutoFit/>
          </a:bodyPr>
          <a:lstStyle/>
          <a:p>
            <a:pPr algn="ctr">
              <a:defRPr/>
            </a:pPr>
            <a:r>
              <a:rPr lang="zh-TW" altLang="en-US" sz="2400" dirty="0">
                <a:solidFill>
                  <a:prstClr val="black"/>
                </a:solidFill>
                <a:latin typeface="Microsoft JhengHei" panose="020B0604030504040204" pitchFamily="34" charset="-120"/>
                <a:ea typeface="Microsoft JhengHei" panose="020B0604030504040204" pitchFamily="34" charset="-120"/>
              </a:rPr>
              <a:t>下一個</a:t>
            </a:r>
            <a:r>
              <a:rPr lang="en-US" altLang="zh-TW" sz="2400" dirty="0">
                <a:solidFill>
                  <a:prstClr val="black"/>
                </a:solidFill>
                <a:latin typeface="Microsoft JhengHei" panose="020B0604030504040204" pitchFamily="34" charset="-120"/>
                <a:ea typeface="Microsoft JhengHei" panose="020B0604030504040204" pitchFamily="34" charset="-120"/>
              </a:rPr>
              <a:t> token</a:t>
            </a:r>
            <a:endParaRPr lang="zh-TW" altLang="en-US" sz="2400" dirty="0">
              <a:solidFill>
                <a:prstClr val="black"/>
              </a:solidFill>
              <a:latin typeface="Microsoft JhengHei" panose="020B0604030504040204" pitchFamily="34" charset="-120"/>
              <a:ea typeface="Microsoft JhengHei" panose="020B0604030504040204" pitchFamily="34" charset="-120"/>
            </a:endParaRPr>
          </a:p>
        </p:txBody>
      </p:sp>
      <p:cxnSp>
        <p:nvCxnSpPr>
          <p:cNvPr id="36" name="直線單箭頭接點 35"/>
          <p:cNvCxnSpPr/>
          <p:nvPr/>
        </p:nvCxnSpPr>
        <p:spPr>
          <a:xfrm>
            <a:off x="7356914" y="2868389"/>
            <a:ext cx="1609970" cy="1"/>
          </a:xfrm>
          <a:prstGeom prst="straightConnector1">
            <a:avLst/>
          </a:prstGeom>
          <a:noFill/>
          <a:ln w="57150" cap="flat" cmpd="sng" algn="ctr">
            <a:solidFill>
              <a:sysClr val="windowText" lastClr="000000"/>
            </a:solidFill>
            <a:prstDash val="solid"/>
            <a:miter lim="800000"/>
            <a:tailEnd type="triangle"/>
          </a:ln>
          <a:effectLst/>
        </p:spPr>
      </p:cxnSp>
      <p:sp>
        <p:nvSpPr>
          <p:cNvPr id="37" name="文字方塊 36"/>
          <p:cNvSpPr txBox="1"/>
          <p:nvPr/>
        </p:nvSpPr>
        <p:spPr>
          <a:xfrm>
            <a:off x="8794877" y="4608625"/>
            <a:ext cx="1613880" cy="461665"/>
          </a:xfrm>
          <a:prstGeom prst="rect">
            <a:avLst/>
          </a:prstGeom>
          <a:noFill/>
        </p:spPr>
        <p:txBody>
          <a:bodyPr wrap="square" rtlCol="0">
            <a:spAutoFit/>
          </a:bodyPr>
          <a:lstStyle/>
          <a:p>
            <a:r>
              <a:rPr lang="zh-TW" altLang="en-US" sz="2400" dirty="0">
                <a:solidFill>
                  <a:srgbClr val="FF0000"/>
                </a:solidFill>
                <a:latin typeface="Microsoft JhengHei" panose="020B0604030504040204" pitchFamily="34" charset="-120"/>
                <a:ea typeface="Microsoft JhengHei" panose="020B0604030504040204" pitchFamily="34" charset="-120"/>
              </a:rPr>
              <a:t>不如預期</a:t>
            </a:r>
            <a:r>
              <a:rPr lang="en-US" altLang="zh-TW" sz="2400" dirty="0">
                <a:solidFill>
                  <a:srgbClr val="FF0000"/>
                </a:solidFill>
                <a:latin typeface="Microsoft JhengHei" panose="020B0604030504040204" pitchFamily="34" charset="-120"/>
                <a:ea typeface="Microsoft JhengHei" panose="020B0604030504040204" pitchFamily="34" charset="-120"/>
              </a:rPr>
              <a:t>?!</a:t>
            </a:r>
            <a:endParaRPr lang="zh-TW" altLang="en-US" sz="2400" dirty="0">
              <a:solidFill>
                <a:srgbClr val="FF0000"/>
              </a:solidFill>
              <a:latin typeface="Microsoft JhengHei" panose="020B0604030504040204" pitchFamily="34" charset="-120"/>
              <a:ea typeface="Microsoft JhengHei" panose="020B0604030504040204" pitchFamily="34" charset="-120"/>
            </a:endParaRPr>
          </a:p>
        </p:txBody>
      </p:sp>
      <p:sp>
        <p:nvSpPr>
          <p:cNvPr id="38" name="文字方塊 37"/>
          <p:cNvSpPr txBox="1"/>
          <p:nvPr/>
        </p:nvSpPr>
        <p:spPr>
          <a:xfrm>
            <a:off x="5544723" y="4608625"/>
            <a:ext cx="1613880" cy="461665"/>
          </a:xfrm>
          <a:prstGeom prst="rect">
            <a:avLst/>
          </a:prstGeom>
          <a:noFill/>
        </p:spPr>
        <p:txBody>
          <a:bodyPr wrap="square" rtlCol="0">
            <a:spAutoFit/>
          </a:bodyPr>
          <a:lstStyle/>
          <a:p>
            <a:pPr algn="ctr"/>
            <a:r>
              <a:rPr lang="en-US" altLang="zh-TW" sz="2400" dirty="0">
                <a:solidFill>
                  <a:srgbClr val="FF0000"/>
                </a:solidFill>
                <a:latin typeface="Microsoft JhengHei" panose="020B0604030504040204" pitchFamily="34" charset="-120"/>
                <a:ea typeface="Microsoft JhengHei" panose="020B0604030504040204" pitchFamily="34" charset="-120"/>
              </a:rPr>
              <a:t>?</a:t>
            </a:r>
            <a:endParaRPr lang="zh-TW" altLang="en-US" sz="2400" dirty="0">
              <a:solidFill>
                <a:srgbClr val="FF0000"/>
              </a:solidFill>
              <a:latin typeface="Microsoft JhengHei" panose="020B0604030504040204" pitchFamily="34" charset="-120"/>
              <a:ea typeface="Microsoft JhengHei" panose="020B0604030504040204" pitchFamily="34" charset="-120"/>
            </a:endParaRPr>
          </a:p>
        </p:txBody>
      </p:sp>
      <p:sp>
        <p:nvSpPr>
          <p:cNvPr id="39" name="文字方塊 38"/>
          <p:cNvSpPr txBox="1"/>
          <p:nvPr/>
        </p:nvSpPr>
        <p:spPr>
          <a:xfrm>
            <a:off x="2027727" y="4608625"/>
            <a:ext cx="1613880" cy="461665"/>
          </a:xfrm>
          <a:prstGeom prst="rect">
            <a:avLst/>
          </a:prstGeom>
          <a:noFill/>
        </p:spPr>
        <p:txBody>
          <a:bodyPr wrap="square" rtlCol="0">
            <a:spAutoFit/>
          </a:bodyPr>
          <a:lstStyle/>
          <a:p>
            <a:pPr algn="ctr"/>
            <a:r>
              <a:rPr lang="en-US" altLang="zh-TW" sz="2400" dirty="0">
                <a:solidFill>
                  <a:srgbClr val="FF0000"/>
                </a:solidFill>
                <a:latin typeface="Microsoft JhengHei" panose="020B0604030504040204" pitchFamily="34" charset="-120"/>
                <a:ea typeface="Microsoft JhengHei" panose="020B0604030504040204" pitchFamily="34" charset="-120"/>
              </a:rPr>
              <a:t>?</a:t>
            </a:r>
            <a:endParaRPr lang="zh-TW" altLang="en-US" sz="2400" dirty="0">
              <a:solidFill>
                <a:srgbClr val="FF0000"/>
              </a:solidFill>
              <a:latin typeface="Microsoft JhengHei" panose="020B0604030504040204" pitchFamily="34" charset="-120"/>
              <a:ea typeface="Microsoft JhengHei" panose="020B0604030504040204" pitchFamily="34" charset="-120"/>
            </a:endParaRPr>
          </a:p>
        </p:txBody>
      </p:sp>
      <p:cxnSp>
        <p:nvCxnSpPr>
          <p:cNvPr id="41" name="直線單箭頭接點 40"/>
          <p:cNvCxnSpPr/>
          <p:nvPr/>
        </p:nvCxnSpPr>
        <p:spPr>
          <a:xfrm>
            <a:off x="9544667" y="4018075"/>
            <a:ext cx="0" cy="533400"/>
          </a:xfrm>
          <a:prstGeom prst="straightConnector1">
            <a:avLst/>
          </a:prstGeom>
          <a:ln w="57150">
            <a:solidFill>
              <a:srgbClr val="FF0000"/>
            </a:solidFill>
            <a:prstDash val="sysDot"/>
            <a:tailEnd type="triangle"/>
          </a:ln>
        </p:spPr>
        <p:style>
          <a:lnRef idx="2">
            <a:schemeClr val="accent1"/>
          </a:lnRef>
          <a:fillRef idx="0">
            <a:schemeClr val="accent1"/>
          </a:fillRef>
          <a:effectRef idx="1">
            <a:schemeClr val="accent1"/>
          </a:effectRef>
          <a:fontRef idx="minor">
            <a:schemeClr val="tx1"/>
          </a:fontRef>
        </p:style>
      </p:cxnSp>
      <p:cxnSp>
        <p:nvCxnSpPr>
          <p:cNvPr id="42" name="直線單箭頭接點 41"/>
          <p:cNvCxnSpPr/>
          <p:nvPr/>
        </p:nvCxnSpPr>
        <p:spPr>
          <a:xfrm>
            <a:off x="6351663" y="4082619"/>
            <a:ext cx="0" cy="533400"/>
          </a:xfrm>
          <a:prstGeom prst="straightConnector1">
            <a:avLst/>
          </a:prstGeom>
          <a:ln w="57150">
            <a:solidFill>
              <a:srgbClr val="FF0000"/>
            </a:solidFill>
            <a:prstDash val="sysDot"/>
            <a:tailEnd type="triangle"/>
          </a:ln>
        </p:spPr>
        <p:style>
          <a:lnRef idx="2">
            <a:schemeClr val="accent1"/>
          </a:lnRef>
          <a:fillRef idx="0">
            <a:schemeClr val="accent1"/>
          </a:fillRef>
          <a:effectRef idx="1">
            <a:schemeClr val="accent1"/>
          </a:effectRef>
          <a:fontRef idx="minor">
            <a:schemeClr val="tx1"/>
          </a:fontRef>
        </p:style>
      </p:cxnSp>
      <p:cxnSp>
        <p:nvCxnSpPr>
          <p:cNvPr id="43" name="直線單箭頭接點 42"/>
          <p:cNvCxnSpPr/>
          <p:nvPr/>
        </p:nvCxnSpPr>
        <p:spPr>
          <a:xfrm>
            <a:off x="2832851" y="4018075"/>
            <a:ext cx="0" cy="533400"/>
          </a:xfrm>
          <a:prstGeom prst="straightConnector1">
            <a:avLst/>
          </a:prstGeom>
          <a:ln w="57150">
            <a:solidFill>
              <a:srgbClr val="FF0000"/>
            </a:solidFill>
            <a:prstDash val="sysDot"/>
            <a:tailEnd type="triangle"/>
          </a:ln>
        </p:spPr>
        <p:style>
          <a:lnRef idx="2">
            <a:schemeClr val="accent1"/>
          </a:lnRef>
          <a:fillRef idx="0">
            <a:schemeClr val="accent1"/>
          </a:fillRef>
          <a:effectRef idx="1">
            <a:schemeClr val="accent1"/>
          </a:effectRef>
          <a:fontRef idx="minor">
            <a:schemeClr val="tx1"/>
          </a:fontRef>
        </p:style>
      </p:cxnSp>
      <p:sp>
        <p:nvSpPr>
          <p:cNvPr id="44" name="文字方塊 43"/>
          <p:cNvSpPr txBox="1"/>
          <p:nvPr/>
        </p:nvSpPr>
        <p:spPr>
          <a:xfrm>
            <a:off x="4351121" y="5141887"/>
            <a:ext cx="4039994" cy="461665"/>
          </a:xfrm>
          <a:prstGeom prst="rect">
            <a:avLst/>
          </a:prstGeom>
          <a:noFill/>
        </p:spPr>
        <p:txBody>
          <a:bodyPr wrap="square" rtlCol="0">
            <a:spAutoFit/>
          </a:bodyPr>
          <a:lstStyle/>
          <a:p>
            <a:pPr algn="ctr"/>
            <a:r>
              <a:rPr lang="zh-TW" altLang="en-US" sz="2400" dirty="0">
                <a:latin typeface="Microsoft JhengHei" panose="020B0604030504040204" pitchFamily="34" charset="-120"/>
                <a:ea typeface="Microsoft JhengHei" panose="020B0604030504040204" pitchFamily="34" charset="-120"/>
              </a:rPr>
              <a:t>假設語言模型沒問題 </a:t>
            </a:r>
            <a:endParaRPr lang="en-US" altLang="zh-TW" sz="2400" dirty="0">
              <a:latin typeface="Microsoft JhengHei" panose="020B0604030504040204" pitchFamily="34" charset="-120"/>
              <a:ea typeface="Microsoft JhengHei" panose="020B0604030504040204" pitchFamily="34" charset="-120"/>
            </a:endParaRPr>
          </a:p>
        </p:txBody>
      </p:sp>
      <p:sp>
        <p:nvSpPr>
          <p:cNvPr id="45" name="文字方塊 44"/>
          <p:cNvSpPr txBox="1"/>
          <p:nvPr/>
        </p:nvSpPr>
        <p:spPr>
          <a:xfrm>
            <a:off x="843698" y="5116456"/>
            <a:ext cx="4039994" cy="461665"/>
          </a:xfrm>
          <a:prstGeom prst="rect">
            <a:avLst/>
          </a:prstGeom>
          <a:noFill/>
        </p:spPr>
        <p:txBody>
          <a:bodyPr wrap="square" rtlCol="0">
            <a:spAutoFit/>
          </a:bodyPr>
          <a:lstStyle/>
          <a:p>
            <a:pPr algn="ctr"/>
            <a:r>
              <a:rPr lang="zh-TW" altLang="en-US" sz="2400" dirty="0">
                <a:latin typeface="Microsoft JhengHei" panose="020B0604030504040204" pitchFamily="34" charset="-120"/>
                <a:ea typeface="Microsoft JhengHei" panose="020B0604030504040204" pitchFamily="34" charset="-120"/>
              </a:rPr>
              <a:t>準備合適的輸入</a:t>
            </a:r>
            <a:endParaRPr lang="en-US" altLang="zh-TW" sz="2400" dirty="0">
              <a:latin typeface="Microsoft JhengHei" panose="020B0604030504040204" pitchFamily="34" charset="-120"/>
              <a:ea typeface="Microsoft JhengHei" panose="020B0604030504040204" pitchFamily="34" charset="-120"/>
            </a:endParaRPr>
          </a:p>
        </p:txBody>
      </p:sp>
      <mc:AlternateContent xmlns:mc="http://schemas.openxmlformats.org/markup-compatibility/2006">
        <mc:Choice xmlns:a14="http://schemas.microsoft.com/office/drawing/2010/main" Requires="a14">
          <p:sp>
            <p:nvSpPr>
              <p:cNvPr id="3" name="文字方塊 2"/>
              <p:cNvSpPr txBox="1"/>
              <p:nvPr/>
            </p:nvSpPr>
            <p:spPr>
              <a:xfrm>
                <a:off x="6888046" y="745996"/>
                <a:ext cx="4702035" cy="830997"/>
              </a:xfrm>
              <a:prstGeom prst="rect">
                <a:avLst/>
              </a:prstGeom>
              <a:noFill/>
            </p:spPr>
            <p:txBody>
              <a:bodyPr wrap="square" rtlCol="0">
                <a:spAutoFit/>
              </a:bodyPr>
              <a:lstStyle/>
              <a:p>
                <a:r>
                  <a:rPr lang="zh-TW" altLang="en-US" sz="2400" dirty="0">
                    <a:latin typeface="Microsoft JhengHei" panose="020B0604030504040204" pitchFamily="34" charset="-120"/>
                    <a:ea typeface="Microsoft JhengHei" panose="020B0604030504040204" pitchFamily="34" charset="-120"/>
                  </a:rPr>
                  <a:t>改變 </a:t>
                </a:r>
                <a14:m>
                  <m:oMath xmlns:m="http://schemas.openxmlformats.org/officeDocument/2006/math">
                    <m:r>
                      <a:rPr lang="en-US" altLang="zh-TW" sz="2400" i="1">
                        <a:solidFill>
                          <a:prstClr val="black"/>
                        </a:solidFill>
                        <a:latin typeface="Cambria Math" panose="02040503050406030204" pitchFamily="18" charset="0"/>
                      </a:rPr>
                      <m:t>𝑓</m:t>
                    </m:r>
                  </m:oMath>
                </a14:m>
                <a:r>
                  <a:rPr lang="zh-TW" altLang="en-US" sz="2400" dirty="0">
                    <a:solidFill>
                      <a:prstClr val="black"/>
                    </a:solidFill>
                    <a:latin typeface="Calibri" panose="020F0502020204030204"/>
                  </a:rPr>
                  <a:t> </a:t>
                </a:r>
                <a:r>
                  <a:rPr lang="zh-TW" altLang="en-US" sz="2400" dirty="0">
                    <a:latin typeface="Microsoft JhengHei" panose="020B0604030504040204" pitchFamily="34" charset="-120"/>
                    <a:ea typeface="Microsoft JhengHei" panose="020B0604030504040204" pitchFamily="34" charset="-120"/>
                  </a:rPr>
                  <a:t>中的參數叫做「訓練」</a:t>
                </a:r>
                <a:r>
                  <a:rPr lang="en-US" altLang="zh-TW" sz="2400" dirty="0">
                    <a:latin typeface="Microsoft JhengHei" panose="020B0604030504040204" pitchFamily="34" charset="-120"/>
                    <a:ea typeface="Microsoft JhengHei" panose="020B0604030504040204" pitchFamily="34" charset="-120"/>
                  </a:rPr>
                  <a:t>(Training)</a:t>
                </a:r>
                <a:r>
                  <a:rPr lang="zh-TW" altLang="en-US" sz="2400" dirty="0">
                    <a:latin typeface="Microsoft JhengHei" panose="020B0604030504040204" pitchFamily="34" charset="-120"/>
                    <a:ea typeface="Microsoft JhengHei" panose="020B0604030504040204" pitchFamily="34" charset="-120"/>
                  </a:rPr>
                  <a:t> 或「學習」 </a:t>
                </a:r>
                <a:r>
                  <a:rPr lang="en-US" altLang="zh-TW" sz="2400" dirty="0">
                    <a:latin typeface="Microsoft JhengHei" panose="020B0604030504040204" pitchFamily="34" charset="-120"/>
                    <a:ea typeface="Microsoft JhengHei" panose="020B0604030504040204" pitchFamily="34" charset="-120"/>
                  </a:rPr>
                  <a:t>(Learning)</a:t>
                </a:r>
                <a:endParaRPr lang="zh-TW" altLang="en-US" sz="2400" dirty="0">
                  <a:latin typeface="Microsoft JhengHei" panose="020B0604030504040204" pitchFamily="34" charset="-120"/>
                  <a:ea typeface="Microsoft JhengHei" panose="020B0604030504040204" pitchFamily="34" charset="-120"/>
                </a:endParaRPr>
              </a:p>
            </p:txBody>
          </p:sp>
        </mc:Choice>
        <mc:Fallback>
          <p:sp>
            <p:nvSpPr>
              <p:cNvPr id="3" name="文字方塊 2"/>
              <p:cNvSpPr txBox="1">
                <a:spLocks noRot="1" noChangeAspect="1" noMove="1" noResize="1" noEditPoints="1" noAdjustHandles="1" noChangeArrowheads="1" noChangeShapeType="1" noTextEdit="1"/>
              </p:cNvSpPr>
              <p:nvPr/>
            </p:nvSpPr>
            <p:spPr>
              <a:xfrm>
                <a:off x="6888046" y="745996"/>
                <a:ext cx="4702035" cy="830997"/>
              </a:xfrm>
              <a:prstGeom prst="rect">
                <a:avLst/>
              </a:prstGeom>
              <a:blipFill rotWithShape="1">
                <a:blip r:embed="rId4"/>
                <a:stretch>
                  <a:fillRect l="-4" t="-61" r="1" b="35"/>
                </a:stretch>
              </a:blipFill>
            </p:spPr>
            <p:txBody>
              <a:bodyPr/>
              <a:lstStyle/>
              <a:p>
                <a:r>
                  <a:rPr lang="zh-CN" altLang="en-US">
                    <a:noFill/>
                  </a:rPr>
                  <a:t> </a:t>
                </a:r>
              </a:p>
            </p:txBody>
          </p:sp>
        </mc:Fallback>
      </mc:AlternateContent>
      <p:cxnSp>
        <p:nvCxnSpPr>
          <p:cNvPr id="4" name="直線單箭頭接點 3"/>
          <p:cNvCxnSpPr/>
          <p:nvPr/>
        </p:nvCxnSpPr>
        <p:spPr>
          <a:xfrm flipH="1">
            <a:off x="6351663" y="1625424"/>
            <a:ext cx="536383" cy="533399"/>
          </a:xfrm>
          <a:prstGeom prst="straightConnector1">
            <a:avLst/>
          </a:prstGeom>
          <a:ln w="57150">
            <a:solidFill>
              <a:schemeClr val="tx1"/>
            </a:solidFill>
            <a:prstDash val="sysDot"/>
            <a:tailEnd type="triangle"/>
          </a:ln>
        </p:spPr>
        <p:style>
          <a:lnRef idx="2">
            <a:schemeClr val="accent1"/>
          </a:lnRef>
          <a:fillRef idx="0">
            <a:schemeClr val="accent1"/>
          </a:fillRef>
          <a:effectRef idx="1">
            <a:schemeClr val="accent1"/>
          </a:effectRef>
          <a:fontRef idx="minor">
            <a:schemeClr val="tx1"/>
          </a:fontRef>
        </p:style>
      </p:cxnSp>
      <p:sp>
        <p:nvSpPr>
          <p:cNvPr id="5" name="文字方塊 4"/>
          <p:cNvSpPr txBox="1"/>
          <p:nvPr/>
        </p:nvSpPr>
        <p:spPr>
          <a:xfrm>
            <a:off x="8637144" y="1632492"/>
            <a:ext cx="2952937" cy="461665"/>
          </a:xfrm>
          <a:prstGeom prst="rect">
            <a:avLst/>
          </a:prstGeom>
          <a:noFill/>
        </p:spPr>
        <p:txBody>
          <a:bodyPr wrap="square" rtlCol="0">
            <a:spAutoFit/>
          </a:bodyPr>
          <a:lstStyle/>
          <a:p>
            <a:r>
              <a:rPr lang="en-US" altLang="zh-TW" sz="2400" dirty="0">
                <a:latin typeface="Microsoft JhengHei" panose="020B0604030504040204" pitchFamily="34" charset="-120"/>
                <a:ea typeface="Microsoft JhengHei" panose="020B0604030504040204" pitchFamily="34" charset="-120"/>
              </a:rPr>
              <a:t>(</a:t>
            </a:r>
            <a:r>
              <a:rPr lang="zh-TW" altLang="en-US" sz="2400" dirty="0">
                <a:latin typeface="Microsoft JhengHei" panose="020B0604030504040204" pitchFamily="34" charset="-120"/>
                <a:ea typeface="Microsoft JhengHei" panose="020B0604030504040204" pitchFamily="34" charset="-120"/>
              </a:rPr>
              <a:t>第五講後才會提到</a:t>
            </a:r>
            <a:r>
              <a:rPr lang="en-US" altLang="zh-TW" sz="2400" dirty="0">
                <a:latin typeface="Microsoft JhengHei" panose="020B0604030504040204" pitchFamily="34" charset="-120"/>
                <a:ea typeface="Microsoft JhengHei" panose="020B0604030504040204" pitchFamily="34" charset="-120"/>
              </a:rPr>
              <a:t>)</a:t>
            </a:r>
            <a:endParaRPr lang="zh-TW" altLang="en-US" sz="2400" dirty="0">
              <a:latin typeface="Microsoft JhengHei" panose="020B0604030504040204" pitchFamily="34" charset="-120"/>
              <a:ea typeface="Microsoft JhengHei" panose="020B0604030504040204" pitchFamily="34" charset="-120"/>
            </a:endParaRPr>
          </a:p>
        </p:txBody>
      </p:sp>
      <p:sp>
        <p:nvSpPr>
          <p:cNvPr id="7" name="文字方塊 6"/>
          <p:cNvSpPr txBox="1"/>
          <p:nvPr/>
        </p:nvSpPr>
        <p:spPr>
          <a:xfrm>
            <a:off x="3971758" y="5545187"/>
            <a:ext cx="4798719" cy="461664"/>
          </a:xfrm>
          <a:prstGeom prst="rect">
            <a:avLst/>
          </a:prstGeom>
          <a:noFill/>
        </p:spPr>
        <p:txBody>
          <a:bodyPr wrap="square">
            <a:spAutoFit/>
          </a:bodyPr>
          <a:lstStyle/>
          <a:p>
            <a:pPr algn="ctr"/>
            <a:r>
              <a:rPr lang="en-US" altLang="zh-TW" sz="2400" dirty="0">
                <a:latin typeface="Microsoft JhengHei" panose="020B0604030504040204" pitchFamily="34" charset="-120"/>
                <a:ea typeface="Microsoft JhengHei" panose="020B0604030504040204" pitchFamily="34" charset="-120"/>
              </a:rPr>
              <a:t>(</a:t>
            </a:r>
            <a:r>
              <a:rPr lang="zh-TW" altLang="en-US" sz="2400" dirty="0">
                <a:latin typeface="Microsoft JhengHei" panose="020B0604030504040204" pitchFamily="34" charset="-120"/>
                <a:ea typeface="Microsoft JhengHei" panose="020B0604030504040204" pitchFamily="34" charset="-120"/>
              </a:rPr>
              <a:t>就算有問題你也改不了</a:t>
            </a:r>
            <a:r>
              <a:rPr lang="en-US" altLang="zh-TW" sz="2400" dirty="0">
                <a:latin typeface="Microsoft JhengHei" panose="020B0604030504040204" pitchFamily="34" charset="-120"/>
                <a:ea typeface="Microsoft JhengHei" panose="020B0604030504040204" pitchFamily="34" charset="-120"/>
              </a:rPr>
              <a:t>)</a:t>
            </a:r>
            <a:r>
              <a:rPr lang="zh-TW" altLang="en-US" sz="2400" dirty="0">
                <a:latin typeface="Microsoft JhengHei" panose="020B0604030504040204" pitchFamily="34" charset="-120"/>
                <a:ea typeface="Microsoft JhengHei" panose="020B0604030504040204" pitchFamily="34" charset="-120"/>
              </a:rPr>
              <a:t> </a:t>
            </a:r>
            <a:endParaRPr lang="zh-TW" altLang="en-US" sz="2400" dirty="0">
              <a:latin typeface="Microsoft JhengHei" panose="020B0604030504040204" pitchFamily="34" charset="-120"/>
              <a:ea typeface="Microsoft JhengHei" panose="020B0604030504040204" pitchFamily="34" charset="-120"/>
            </a:endParaRPr>
          </a:p>
        </p:txBody>
      </p:sp>
      <p:sp>
        <p:nvSpPr>
          <p:cNvPr id="9" name="文字方塊 8"/>
          <p:cNvSpPr txBox="1"/>
          <p:nvPr/>
        </p:nvSpPr>
        <p:spPr>
          <a:xfrm>
            <a:off x="1045080" y="5519756"/>
            <a:ext cx="3484022" cy="461665"/>
          </a:xfrm>
          <a:prstGeom prst="rect">
            <a:avLst/>
          </a:prstGeom>
          <a:noFill/>
        </p:spPr>
        <p:txBody>
          <a:bodyPr wrap="square">
            <a:spAutoFit/>
          </a:bodyPr>
          <a:lstStyle/>
          <a:p>
            <a:pPr algn="ctr"/>
            <a:r>
              <a:rPr lang="en-US" altLang="zh-TW" sz="2400" dirty="0">
                <a:latin typeface="Microsoft JhengHei" panose="020B0604030504040204" pitchFamily="34" charset="-120"/>
                <a:ea typeface="Microsoft JhengHei" panose="020B0604030504040204" pitchFamily="34" charset="-120"/>
              </a:rPr>
              <a:t>(</a:t>
            </a:r>
            <a:r>
              <a:rPr lang="zh-TW" altLang="en-US" sz="2400" dirty="0">
                <a:latin typeface="Microsoft JhengHei" panose="020B0604030504040204" pitchFamily="34" charset="-120"/>
                <a:ea typeface="Microsoft JhengHei" panose="020B0604030504040204" pitchFamily="34" charset="-120"/>
              </a:rPr>
              <a:t>這是每個人都可以做的</a:t>
            </a:r>
            <a:r>
              <a:rPr lang="en-US" altLang="zh-TW" sz="2400" dirty="0">
                <a:latin typeface="Microsoft JhengHei" panose="020B0604030504040204" pitchFamily="34" charset="-120"/>
                <a:ea typeface="Microsoft JhengHei" panose="020B0604030504040204" pitchFamily="34" charset="-120"/>
              </a:rPr>
              <a:t>)</a:t>
            </a:r>
            <a:endParaRPr lang="zh-TW" altLang="en-US" sz="2400" dirty="0">
              <a:latin typeface="Microsoft JhengHei" panose="020B0604030504040204" pitchFamily="34" charset="-120"/>
              <a:ea typeface="Microsoft JhengHei" panose="020B0604030504040204" pitchFamily="34" charset="-120"/>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4"/>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45"/>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P spid="32" grpId="0"/>
      <p:bldP spid="33" grpId="0"/>
      <p:bldP spid="37" grpId="0"/>
      <p:bldP spid="38" grpId="0"/>
      <p:bldP spid="39" grpId="0"/>
      <p:bldP spid="44" grpId="0"/>
      <p:bldP spid="45" grpId="0"/>
      <p:bldP spid="3" grpId="0"/>
      <p:bldP spid="5" grpId="0"/>
      <p:bldP spid="7" grpId="0"/>
      <p:bldP spid="9"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2" name="Rectangle 9"/>
          <p:cNvSpPr>
            <a:spLocks noGrp="1" noRot="1" noChangeAspect="1" noMove="1" noResize="1" noEditPoints="1" noAdjustHandles="1" noChangeArrowheads="1" noChangeShapeType="1" noTextEdit="1"/>
          </p:cNvSpPr>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一張含有 地圖, 大自然 的圖片&#10;&#10;自動產生的描述"/>
          <p:cNvPicPr>
            <a:picLocks noChangeAspect="1"/>
          </p:cNvPicPr>
          <p:nvPr/>
        </p:nvPicPr>
        <p:blipFill>
          <a:blip r:embed="rId1">
            <a:alphaModFix amt="50000"/>
          </a:blip>
          <a:srcRect t="1913" b="12860"/>
          <a:stretch>
            <a:fillRect/>
          </a:stretch>
        </p:blipFill>
        <p:spPr>
          <a:xfrm>
            <a:off x="20" y="1"/>
            <a:ext cx="12191980" cy="6857999"/>
          </a:xfrm>
          <a:prstGeom prst="rect">
            <a:avLst/>
          </a:prstGeom>
        </p:spPr>
      </p:pic>
      <p:sp>
        <p:nvSpPr>
          <p:cNvPr id="2" name="標題 1"/>
          <p:cNvSpPr>
            <a:spLocks noGrp="1"/>
          </p:cNvSpPr>
          <p:nvPr>
            <p:ph type="ctrTitle"/>
          </p:nvPr>
        </p:nvSpPr>
        <p:spPr>
          <a:xfrm>
            <a:off x="1524000" y="1122362"/>
            <a:ext cx="9144000" cy="2900518"/>
          </a:xfrm>
        </p:spPr>
        <p:txBody>
          <a:bodyPr>
            <a:normAutofit/>
          </a:bodyPr>
          <a:lstStyle/>
          <a:p>
            <a:br>
              <a:rPr lang="en-US" altLang="zh-TW" b="1" dirty="0">
                <a:ln w="22225">
                  <a:solidFill>
                    <a:schemeClr val="tx1"/>
                  </a:solidFill>
                  <a:miter lim="800000"/>
                </a:ln>
                <a:solidFill>
                  <a:srgbClr val="FFFFFF"/>
                </a:solidFill>
                <a:latin typeface="Microsoft JhengHei" panose="020B0604030504040204" pitchFamily="34" charset="-120"/>
                <a:ea typeface="Microsoft JhengHei" panose="020B0604030504040204" pitchFamily="34" charset="-120"/>
              </a:rPr>
            </a:br>
            <a:r>
              <a:rPr lang="zh-TW" altLang="en-US" b="1" dirty="0">
                <a:ln w="22225">
                  <a:solidFill>
                    <a:schemeClr val="tx1"/>
                  </a:solidFill>
                  <a:miter lim="800000"/>
                </a:ln>
                <a:solidFill>
                  <a:srgbClr val="FFFFFF"/>
                </a:solidFill>
                <a:latin typeface="Microsoft JhengHei" panose="020B0604030504040204" pitchFamily="34" charset="-120"/>
                <a:ea typeface="Microsoft JhengHei" panose="020B0604030504040204" pitchFamily="34" charset="-120"/>
              </a:rPr>
              <a:t>請注意在這堂課中</a:t>
            </a:r>
            <a:br>
              <a:rPr lang="en-US" altLang="zh-TW" b="1" dirty="0">
                <a:ln w="22225">
                  <a:solidFill>
                    <a:schemeClr val="tx1"/>
                  </a:solidFill>
                  <a:miter lim="800000"/>
                </a:ln>
                <a:solidFill>
                  <a:srgbClr val="FFFFFF"/>
                </a:solidFill>
                <a:latin typeface="Microsoft JhengHei" panose="020B0604030504040204" pitchFamily="34" charset="-120"/>
                <a:ea typeface="Microsoft JhengHei" panose="020B0604030504040204" pitchFamily="34" charset="-120"/>
              </a:rPr>
            </a:br>
            <a:r>
              <a:rPr lang="zh-TW" altLang="en-US" b="1" dirty="0">
                <a:ln w="22225">
                  <a:solidFill>
                    <a:schemeClr val="tx1"/>
                  </a:solidFill>
                  <a:miter lim="800000"/>
                </a:ln>
                <a:solidFill>
                  <a:srgbClr val="FFFFFF"/>
                </a:solidFill>
                <a:latin typeface="Microsoft JhengHei" panose="020B0604030504040204" pitchFamily="34" charset="-120"/>
                <a:ea typeface="Microsoft JhengHei" panose="020B0604030504040204" pitchFamily="34" charset="-120"/>
              </a:rPr>
              <a:t>沒有任何模型被訓練</a:t>
            </a:r>
            <a:endParaRPr lang="zh-TW" altLang="en-US" b="1" dirty="0">
              <a:ln w="22225">
                <a:solidFill>
                  <a:schemeClr val="tx1"/>
                </a:solidFill>
                <a:miter lim="800000"/>
              </a:ln>
              <a:solidFill>
                <a:srgbClr val="FFFFFF"/>
              </a:solidFill>
              <a:latin typeface="Microsoft JhengHei" panose="020B0604030504040204" pitchFamily="34" charset="-120"/>
              <a:ea typeface="Microsoft JhengHei" panose="020B0604030504040204" pitchFamily="34" charset="-120"/>
            </a:endParaRPr>
          </a:p>
        </p:txBody>
      </p:sp>
      <p:sp>
        <p:nvSpPr>
          <p:cNvPr id="3" name="副標題 2"/>
          <p:cNvSpPr>
            <a:spLocks noGrp="1"/>
          </p:cNvSpPr>
          <p:nvPr>
            <p:ph type="subTitle" idx="1"/>
          </p:nvPr>
        </p:nvSpPr>
        <p:spPr>
          <a:xfrm>
            <a:off x="1524000" y="4159404"/>
            <a:ext cx="9144000" cy="1098395"/>
          </a:xfrm>
        </p:spPr>
        <p:txBody>
          <a:bodyPr>
            <a:normAutofit/>
          </a:bodyPr>
          <a:lstStyle/>
          <a:p>
            <a:r>
              <a:rPr lang="zh-TW" altLang="en-US" sz="6000" b="1" dirty="0">
                <a:ln w="22225">
                  <a:solidFill>
                    <a:schemeClr val="tx1"/>
                  </a:solidFill>
                  <a:miter lim="800000"/>
                </a:ln>
                <a:solidFill>
                  <a:srgbClr val="FFFF00"/>
                </a:solidFill>
                <a:latin typeface="Microsoft JhengHei" panose="020B0604030504040204" pitchFamily="34" charset="-120"/>
                <a:ea typeface="Microsoft JhengHei" panose="020B0604030504040204" pitchFamily="34" charset="-120"/>
                <a:cs typeface="+mj-cs"/>
              </a:rPr>
              <a:t>這堂課只訓練人類</a:t>
            </a:r>
            <a:endParaRPr lang="zh-TW" altLang="en-US" sz="6000" b="1" dirty="0">
              <a:ln w="22225">
                <a:solidFill>
                  <a:schemeClr val="tx1"/>
                </a:solidFill>
                <a:miter lim="800000"/>
              </a:ln>
              <a:solidFill>
                <a:srgbClr val="FFFF00"/>
              </a:solidFill>
              <a:latin typeface="Microsoft JhengHei" panose="020B0604030504040204" pitchFamily="34" charset="-120"/>
              <a:ea typeface="Microsoft JhengHei" panose="020B0604030504040204" pitchFamily="34" charset="-120"/>
              <a:cs typeface="+mj-cs"/>
            </a:endParaRPr>
          </a:p>
        </p:txBody>
      </p:sp>
    </p:spTree>
  </p:cSld>
  <p:clrMapOvr>
    <a:overrideClrMapping bg1="dk1" tx1="lt1" bg2="dk2" tx2="lt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Context Engineering vs Prompt Engineering </a:t>
            </a:r>
            <a:endParaRPr lang="zh-TW" altLang="en-US" dirty="0"/>
          </a:p>
        </p:txBody>
      </p:sp>
      <p:sp>
        <p:nvSpPr>
          <p:cNvPr id="3" name="內容版面配置區 2"/>
          <p:cNvSpPr>
            <a:spLocks noGrp="1"/>
          </p:cNvSpPr>
          <p:nvPr>
            <p:ph idx="1"/>
          </p:nvPr>
        </p:nvSpPr>
        <p:spPr/>
        <p:txBody>
          <a:bodyPr>
            <a:normAutofit/>
          </a:bodyPr>
          <a:lstStyle/>
          <a:p>
            <a:r>
              <a:rPr lang="zh-TW" altLang="en-US" sz="2400" dirty="0">
                <a:latin typeface="Microsoft JhengHei" panose="020B0604030504040204" pitchFamily="34" charset="-120"/>
                <a:ea typeface="Microsoft JhengHei" panose="020B0604030504040204" pitchFamily="34" charset="-120"/>
              </a:rPr>
              <a:t>有甚麼不同？相同的概念，關注不同的重點 </a:t>
            </a:r>
            <a:endParaRPr lang="zh-TW" altLang="en-US" sz="2400" dirty="0">
              <a:latin typeface="Microsoft JhengHei" panose="020B0604030504040204" pitchFamily="34" charset="-120"/>
              <a:ea typeface="Microsoft JhengHei" panose="020B0604030504040204" pitchFamily="34" charset="-120"/>
            </a:endParaRPr>
          </a:p>
        </p:txBody>
      </p:sp>
      <p:sp>
        <p:nvSpPr>
          <p:cNvPr id="4" name="矩形: 圓角 3"/>
          <p:cNvSpPr/>
          <p:nvPr/>
        </p:nvSpPr>
        <p:spPr>
          <a:xfrm>
            <a:off x="8077663" y="3973348"/>
            <a:ext cx="1693981" cy="1097684"/>
          </a:xfrm>
          <a:prstGeom prst="roundRect">
            <a:avLst/>
          </a:prstGeom>
          <a:solidFill>
            <a:srgbClr val="4472C4">
              <a:lumMod val="20000"/>
              <a:lumOff val="80000"/>
            </a:srgbClr>
          </a:solidFill>
          <a:ln w="5715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語言</a:t>
            </a:r>
            <a:endPar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ctr" defTabSz="914400" eaLnBrk="1" fontAlgn="auto" latinLnBrk="0" hangingPunct="1">
              <a:lnSpc>
                <a:spcPct val="100000"/>
              </a:lnSpc>
              <a:spcBef>
                <a:spcPts val="0"/>
              </a:spcBef>
              <a:spcAft>
                <a:spcPts val="0"/>
              </a:spcAft>
              <a:buClrTx/>
              <a:buSzTx/>
              <a:buFontTx/>
              <a:buNone/>
              <a:defRPr/>
            </a:pPr>
            <a:r>
              <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模型</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5" name="直線單箭頭接點 4"/>
          <p:cNvCxnSpPr/>
          <p:nvPr/>
        </p:nvCxnSpPr>
        <p:spPr>
          <a:xfrm>
            <a:off x="7290684" y="4522191"/>
            <a:ext cx="735688" cy="0"/>
          </a:xfrm>
          <a:prstGeom prst="straightConnector1">
            <a:avLst/>
          </a:prstGeom>
          <a:noFill/>
          <a:ln w="57150" cap="flat" cmpd="sng" algn="ctr">
            <a:solidFill>
              <a:sysClr val="windowText" lastClr="000000"/>
            </a:solidFill>
            <a:prstDash val="solid"/>
            <a:miter lim="800000"/>
            <a:tailEnd type="triangle"/>
          </a:ln>
          <a:effectLst/>
        </p:spPr>
      </p:cxnSp>
      <p:sp>
        <p:nvSpPr>
          <p:cNvPr id="6" name="文字方塊 5"/>
          <p:cNvSpPr txBox="1"/>
          <p:nvPr/>
        </p:nvSpPr>
        <p:spPr>
          <a:xfrm>
            <a:off x="5862699" y="4152951"/>
            <a:ext cx="1745494" cy="830997"/>
          </a:xfrm>
          <a:prstGeom prst="rect">
            <a:avLst/>
          </a:prstGeom>
          <a:noFill/>
        </p:spPr>
        <p:txBody>
          <a:bodyPr wrap="square" rtlCol="0">
            <a:spAutoFit/>
          </a:bodyPr>
          <a:lstStyle/>
          <a:p>
            <a:pPr algn="ctr">
              <a:defRPr/>
            </a:pPr>
            <a:r>
              <a:rPr lang="zh-TW" altLang="en-US" sz="2400" dirty="0">
                <a:solidFill>
                  <a:prstClr val="black"/>
                </a:solidFill>
                <a:latin typeface="Microsoft JhengHei" panose="020B0604030504040204" pitchFamily="34" charset="-120"/>
                <a:ea typeface="Microsoft JhengHei" panose="020B0604030504040204" pitchFamily="34" charset="-120"/>
              </a:rPr>
              <a:t>輸入 </a:t>
            </a:r>
            <a:r>
              <a:rPr lang="en-US" altLang="zh-TW" sz="2400" dirty="0">
                <a:solidFill>
                  <a:prstClr val="black"/>
                </a:solidFill>
                <a:latin typeface="Microsoft JhengHei" panose="020B0604030504040204" pitchFamily="34" charset="-120"/>
                <a:ea typeface="Microsoft JhengHei" panose="020B0604030504040204" pitchFamily="34" charset="-120"/>
              </a:rPr>
              <a:t>(Prompt)</a:t>
            </a:r>
            <a:endParaRPr lang="zh-TW" altLang="en-US" sz="2400" dirty="0">
              <a:solidFill>
                <a:prstClr val="black"/>
              </a:solidFill>
              <a:latin typeface="Microsoft JhengHei" panose="020B0604030504040204" pitchFamily="34" charset="-120"/>
              <a:ea typeface="Microsoft JhengHei" panose="020B0604030504040204" pitchFamily="34" charset="-120"/>
            </a:endParaRPr>
          </a:p>
        </p:txBody>
      </p:sp>
      <p:sp>
        <p:nvSpPr>
          <p:cNvPr id="7" name="文字方塊 6"/>
          <p:cNvSpPr txBox="1"/>
          <p:nvPr/>
        </p:nvSpPr>
        <p:spPr>
          <a:xfrm>
            <a:off x="10422274" y="4135720"/>
            <a:ext cx="1269867" cy="830997"/>
          </a:xfrm>
          <a:prstGeom prst="rect">
            <a:avLst/>
          </a:prstGeom>
          <a:noFill/>
        </p:spPr>
        <p:txBody>
          <a:bodyPr wrap="square" rtlCol="0">
            <a:spAutoFit/>
          </a:bodyPr>
          <a:lstStyle/>
          <a:p>
            <a:pPr algn="ctr">
              <a:defRPr/>
            </a:pPr>
            <a:r>
              <a:rPr lang="zh-TW" altLang="en-US" sz="2400" dirty="0">
                <a:solidFill>
                  <a:prstClr val="black"/>
                </a:solidFill>
                <a:latin typeface="Microsoft JhengHei" panose="020B0604030504040204" pitchFamily="34" charset="-120"/>
                <a:ea typeface="Microsoft JhengHei" panose="020B0604030504040204" pitchFamily="34" charset="-120"/>
              </a:rPr>
              <a:t>下一個</a:t>
            </a:r>
            <a:r>
              <a:rPr lang="en-US" altLang="zh-TW" sz="2400" dirty="0">
                <a:solidFill>
                  <a:prstClr val="black"/>
                </a:solidFill>
                <a:latin typeface="Microsoft JhengHei" panose="020B0604030504040204" pitchFamily="34" charset="-120"/>
                <a:ea typeface="Microsoft JhengHei" panose="020B0604030504040204" pitchFamily="34" charset="-120"/>
              </a:rPr>
              <a:t> token</a:t>
            </a:r>
            <a:endParaRPr lang="zh-TW" altLang="en-US" sz="2400" dirty="0">
              <a:solidFill>
                <a:prstClr val="black"/>
              </a:solidFill>
              <a:latin typeface="Microsoft JhengHei" panose="020B0604030504040204" pitchFamily="34" charset="-120"/>
              <a:ea typeface="Microsoft JhengHei" panose="020B0604030504040204" pitchFamily="34" charset="-120"/>
            </a:endParaRPr>
          </a:p>
        </p:txBody>
      </p:sp>
      <p:cxnSp>
        <p:nvCxnSpPr>
          <p:cNvPr id="8" name="直線單箭頭接點 7"/>
          <p:cNvCxnSpPr/>
          <p:nvPr/>
        </p:nvCxnSpPr>
        <p:spPr>
          <a:xfrm>
            <a:off x="9874227" y="4522190"/>
            <a:ext cx="548047" cy="0"/>
          </a:xfrm>
          <a:prstGeom prst="straightConnector1">
            <a:avLst/>
          </a:prstGeom>
          <a:noFill/>
          <a:ln w="57150" cap="flat" cmpd="sng" algn="ctr">
            <a:solidFill>
              <a:sysClr val="windowText" lastClr="000000"/>
            </a:solidFill>
            <a:prstDash val="solid"/>
            <a:miter lim="800000"/>
            <a:tailEnd type="triangle"/>
          </a:ln>
          <a:effectLst/>
        </p:spPr>
      </p:cxnSp>
      <p:sp>
        <p:nvSpPr>
          <p:cNvPr id="12" name="文字方塊 11"/>
          <p:cNvSpPr txBox="1"/>
          <p:nvPr/>
        </p:nvSpPr>
        <p:spPr>
          <a:xfrm>
            <a:off x="1291770" y="2809629"/>
            <a:ext cx="1745494" cy="830997"/>
          </a:xfrm>
          <a:prstGeom prst="rect">
            <a:avLst/>
          </a:prstGeom>
          <a:noFill/>
        </p:spPr>
        <p:txBody>
          <a:bodyPr wrap="square" rtlCol="0">
            <a:spAutoFit/>
          </a:bodyPr>
          <a:lstStyle/>
          <a:p>
            <a:pPr algn="ctr"/>
            <a:r>
              <a:rPr lang="en-US" altLang="zh-TW" sz="2400" b="1" u="sng" dirty="0"/>
              <a:t>Prompt Engineering </a:t>
            </a:r>
            <a:endParaRPr lang="zh-TW" altLang="en-US" sz="2400" b="1" u="sng" dirty="0"/>
          </a:p>
        </p:txBody>
      </p:sp>
      <p:sp>
        <p:nvSpPr>
          <p:cNvPr id="13" name="文字方塊 12"/>
          <p:cNvSpPr txBox="1"/>
          <p:nvPr/>
        </p:nvSpPr>
        <p:spPr>
          <a:xfrm>
            <a:off x="3127014" y="2878564"/>
            <a:ext cx="1968751" cy="830997"/>
          </a:xfrm>
          <a:prstGeom prst="rect">
            <a:avLst/>
          </a:prstGeom>
          <a:noFill/>
        </p:spPr>
        <p:txBody>
          <a:bodyPr wrap="square" rtlCol="0">
            <a:spAutoFit/>
          </a:bodyPr>
          <a:lstStyle/>
          <a:p>
            <a:pPr marL="285750" indent="-285750">
              <a:buFont typeface="Arial" panose="020B0604020202020204" pitchFamily="34" charset="0"/>
              <a:buChar char="•"/>
            </a:pPr>
            <a:r>
              <a:rPr lang="zh-TW" altLang="en-US" sz="2400" dirty="0">
                <a:latin typeface="Microsoft JhengHei" panose="020B0604030504040204" pitchFamily="34" charset="-120"/>
                <a:ea typeface="Microsoft JhengHei" panose="020B0604030504040204" pitchFamily="34" charset="-120"/>
              </a:rPr>
              <a:t>輸入格式</a:t>
            </a:r>
            <a:endParaRPr lang="en-US" altLang="zh-TW" sz="2400" dirty="0">
              <a:latin typeface="Microsoft JhengHei" panose="020B0604030504040204" pitchFamily="34" charset="-120"/>
              <a:ea typeface="Microsoft JhengHei" panose="020B0604030504040204" pitchFamily="34" charset="-120"/>
            </a:endParaRPr>
          </a:p>
          <a:p>
            <a:pPr marL="285750" indent="-285750">
              <a:buFont typeface="Arial" panose="020B0604020202020204" pitchFamily="34" charset="0"/>
              <a:buChar char="•"/>
            </a:pPr>
            <a:r>
              <a:rPr lang="zh-TW" altLang="en-US" sz="2400" dirty="0">
                <a:latin typeface="Microsoft JhengHei" panose="020B0604030504040204" pitchFamily="34" charset="-120"/>
                <a:ea typeface="Microsoft JhengHei" panose="020B0604030504040204" pitchFamily="34" charset="-120"/>
              </a:rPr>
              <a:t>神奇咒語</a:t>
            </a:r>
            <a:endParaRPr lang="zh-TW" altLang="en-US" sz="2400" dirty="0">
              <a:latin typeface="Microsoft JhengHei" panose="020B0604030504040204" pitchFamily="34" charset="-120"/>
              <a:ea typeface="Microsoft JhengHei" panose="020B0604030504040204" pitchFamily="34" charset="-120"/>
            </a:endParaRPr>
          </a:p>
        </p:txBody>
      </p:sp>
      <p:cxnSp>
        <p:nvCxnSpPr>
          <p:cNvPr id="14" name="直線單箭頭接點 13"/>
          <p:cNvCxnSpPr/>
          <p:nvPr/>
        </p:nvCxnSpPr>
        <p:spPr>
          <a:xfrm>
            <a:off x="4963831" y="3429000"/>
            <a:ext cx="1016055" cy="1043429"/>
          </a:xfrm>
          <a:prstGeom prst="straightConnector1">
            <a:avLst/>
          </a:prstGeom>
          <a:noFill/>
          <a:ln w="57150" cap="flat" cmpd="sng" algn="ctr">
            <a:solidFill>
              <a:sysClr val="windowText" lastClr="000000"/>
            </a:solidFill>
            <a:prstDash val="sysDot"/>
            <a:miter lim="800000"/>
            <a:tailEnd type="triangle"/>
          </a:ln>
          <a:effectLst/>
        </p:spPr>
      </p:cxn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神奇咒語？</a:t>
            </a:r>
            <a:r>
              <a:rPr lang="en-US" altLang="zh-TW" dirty="0">
                <a:latin typeface="Microsoft JhengHei" panose="020B0604030504040204" pitchFamily="34" charset="-120"/>
                <a:ea typeface="Microsoft JhengHei" panose="020B0604030504040204" pitchFamily="34" charset="-120"/>
              </a:rPr>
              <a:t> </a:t>
            </a:r>
            <a:endParaRPr lang="zh-TW" altLang="en-US" dirty="0"/>
          </a:p>
        </p:txBody>
      </p:sp>
      <p:sp>
        <p:nvSpPr>
          <p:cNvPr id="3" name="內容版面配置區 2"/>
          <p:cNvSpPr>
            <a:spLocks noGrp="1"/>
          </p:cNvSpPr>
          <p:nvPr>
            <p:ph idx="1"/>
          </p:nvPr>
        </p:nvSpPr>
        <p:spPr/>
        <p:txBody>
          <a:bodyPr>
            <a:normAutofit/>
          </a:bodyPr>
          <a:lstStyle/>
          <a:p>
            <a:r>
              <a:rPr lang="zh-TW" altLang="en-US" sz="2400" dirty="0">
                <a:latin typeface="Microsoft JhengHei" panose="020B0604030504040204" pitchFamily="34" charset="-120"/>
                <a:ea typeface="Microsoft JhengHei" panose="020B0604030504040204" pitchFamily="34" charset="-120"/>
              </a:rPr>
              <a:t>讓語言模型回應越長越好</a:t>
            </a:r>
            <a:endParaRPr lang="en-US" altLang="zh-TW" sz="2400" dirty="0">
              <a:latin typeface="Microsoft JhengHei" panose="020B0604030504040204" pitchFamily="34" charset="-120"/>
              <a:ea typeface="Microsoft JhengHei" panose="020B0604030504040204" pitchFamily="34" charset="-120"/>
            </a:endParaRPr>
          </a:p>
          <a:p>
            <a:r>
              <a:rPr lang="zh-TW" altLang="en-US" sz="2400" dirty="0">
                <a:latin typeface="Microsoft JhengHei" panose="020B0604030504040204" pitchFamily="34" charset="-120"/>
                <a:ea typeface="Microsoft JhengHei" panose="020B0604030504040204" pitchFamily="34" charset="-120"/>
              </a:rPr>
              <a:t>模型：</a:t>
            </a:r>
            <a:r>
              <a:rPr lang="en-US" altLang="zh-TW" sz="2400" dirty="0">
                <a:latin typeface="Microsoft JhengHei" panose="020B0604030504040204" pitchFamily="34" charset="-120"/>
                <a:ea typeface="Microsoft JhengHei" panose="020B0604030504040204" pitchFamily="34" charset="-120"/>
              </a:rPr>
              <a:t>GPT-3</a:t>
            </a:r>
            <a:endParaRPr lang="zh-TW" altLang="en-US" sz="2400" dirty="0">
              <a:latin typeface="Microsoft JhengHei" panose="020B0604030504040204" pitchFamily="34" charset="-120"/>
              <a:ea typeface="Microsoft JhengHei" panose="020B0604030504040204" pitchFamily="34" charset="-120"/>
            </a:endParaRPr>
          </a:p>
        </p:txBody>
      </p:sp>
      <p:pic>
        <p:nvPicPr>
          <p:cNvPr id="4" name="Google Shape;315;p41"/>
          <p:cNvPicPr preferRelativeResize="0"/>
          <p:nvPr/>
        </p:nvPicPr>
        <p:blipFill>
          <a:blip r:embed="rId1"/>
          <a:stretch>
            <a:fillRect/>
          </a:stretch>
        </p:blipFill>
        <p:spPr>
          <a:xfrm>
            <a:off x="4402236" y="2488386"/>
            <a:ext cx="7105587" cy="3518783"/>
          </a:xfrm>
          <a:prstGeom prst="rect">
            <a:avLst/>
          </a:prstGeom>
          <a:noFill/>
          <a:ln>
            <a:noFill/>
          </a:ln>
        </p:spPr>
      </p:pic>
      <p:sp>
        <p:nvSpPr>
          <p:cNvPr id="5" name="文字方塊 4"/>
          <p:cNvSpPr txBox="1"/>
          <p:nvPr/>
        </p:nvSpPr>
        <p:spPr>
          <a:xfrm rot="16200000">
            <a:off x="1875192" y="3883923"/>
            <a:ext cx="4578262" cy="461665"/>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回應長度</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9" name="文字方塊 8"/>
          <p:cNvSpPr txBox="1"/>
          <p:nvPr/>
        </p:nvSpPr>
        <p:spPr>
          <a:xfrm>
            <a:off x="9486901" y="180459"/>
            <a:ext cx="270509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台達電產學合作案產出</a:t>
            </a:r>
            <a:endParaRPr kumimoji="0" lang="zh-TW" altLang="en-US"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0" name="矩形 9"/>
          <p:cNvSpPr/>
          <p:nvPr/>
        </p:nvSpPr>
        <p:spPr>
          <a:xfrm>
            <a:off x="4849740" y="5720512"/>
            <a:ext cx="6487732" cy="83099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
        <p:nvSpPr>
          <p:cNvPr id="7" name="文字方塊 6"/>
          <p:cNvSpPr txBox="1"/>
          <p:nvPr/>
        </p:nvSpPr>
        <p:spPr>
          <a:xfrm>
            <a:off x="4679389" y="5716021"/>
            <a:ext cx="2251673" cy="83099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直接叫模型答案越長越好</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8" name="文字方塊 7"/>
          <p:cNvSpPr txBox="1"/>
          <p:nvPr/>
        </p:nvSpPr>
        <p:spPr>
          <a:xfrm>
            <a:off x="5786066" y="1728420"/>
            <a:ext cx="5644745"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“ways </a:t>
            </a:r>
            <a:r>
              <a:rPr kumimoji="0" lang="en-US" altLang="zh-TW" sz="2400" b="0" i="0" u="none" strike="noStrike" kern="120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ways</a:t>
            </a: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a:t>
            </a:r>
            <a:r>
              <a:rPr kumimoji="0" lang="en-US" altLang="zh-TW" sz="2400" b="0" i="0" u="none" strike="noStrike" kern="120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ways</a:t>
            </a: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a:t>
            </a:r>
            <a:r>
              <a:rPr kumimoji="0" lang="en-US" altLang="zh-TW" sz="2400" b="0" i="0" u="none" strike="noStrike" kern="120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ways</a:t>
            </a: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a:t>
            </a:r>
            <a:r>
              <a:rPr kumimoji="0" lang="en-US" altLang="zh-TW" sz="2400" b="0" i="0" u="none" strike="noStrike" kern="120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ways</a:t>
            </a: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a:t>
            </a:r>
            <a:r>
              <a:rPr kumimoji="0" lang="en-US" altLang="zh-TW" sz="2400" b="0" i="0" u="none" strike="noStrike" kern="120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ways</a:t>
            </a: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a:t>
            </a:r>
            <a:r>
              <a:rPr kumimoji="0" lang="en-US" altLang="zh-TW" sz="2400" b="0" i="0" u="none" strike="noStrike" kern="120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ways</a:t>
            </a: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6" name="文字方塊 5"/>
          <p:cNvSpPr txBox="1"/>
          <p:nvPr/>
        </p:nvSpPr>
        <p:spPr>
          <a:xfrm>
            <a:off x="9103434" y="5738253"/>
            <a:ext cx="2251673" cy="461665"/>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正常回答</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1" name="文字方塊 10"/>
          <p:cNvSpPr txBox="1"/>
          <p:nvPr/>
        </p:nvSpPr>
        <p:spPr>
          <a:xfrm>
            <a:off x="6882593" y="5708674"/>
            <a:ext cx="2251673" cy="83099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神奇咒語</a:t>
            </a:r>
            <a:endPar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咒語</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13" name="直線單箭頭接點 12"/>
          <p:cNvCxnSpPr/>
          <p:nvPr/>
        </p:nvCxnSpPr>
        <p:spPr>
          <a:xfrm flipV="1">
            <a:off x="8033657" y="2190085"/>
            <a:ext cx="375557" cy="536786"/>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文字方塊 11"/>
          <p:cNvSpPr txBox="1"/>
          <p:nvPr/>
        </p:nvSpPr>
        <p:spPr>
          <a:xfrm>
            <a:off x="5760195" y="535002"/>
            <a:ext cx="6223000" cy="369332"/>
          </a:xfrm>
          <a:prstGeom prst="rect">
            <a:avLst/>
          </a:prstGeom>
          <a:noFill/>
        </p:spPr>
        <p:txBody>
          <a:bodyPr wrap="square" rtlCol="0">
            <a:spAutoFit/>
          </a:bodyPr>
          <a:lstStyle/>
          <a:p>
            <a:pPr lvl="0" algn="r">
              <a:defRPr/>
            </a:pPr>
            <a:r>
              <a:rPr kumimoji="0" lang="zh-TW" altLang="en-US"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感謝尤展鴻</a:t>
            </a:r>
            <a:r>
              <a:rPr lang="zh-TW" altLang="en-US" dirty="0">
                <a:solidFill>
                  <a:srgbClr val="202124"/>
                </a:solidFill>
                <a:latin typeface="Microsoft JhengHei" panose="020B0604030504040204" pitchFamily="34" charset="-120"/>
                <a:ea typeface="Microsoft JhengHei" panose="020B0604030504040204" pitchFamily="34" charset="-120"/>
              </a:rPr>
              <a:t>同學</a:t>
            </a:r>
            <a:r>
              <a:rPr kumimoji="0" lang="zh-TW" altLang="en-US"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、樊樺</a:t>
            </a:r>
            <a:r>
              <a:rPr lang="zh-TW" altLang="en-US" dirty="0">
                <a:solidFill>
                  <a:srgbClr val="202124"/>
                </a:solidFill>
                <a:latin typeface="Microsoft JhengHei" panose="020B0604030504040204" pitchFamily="34" charset="-120"/>
                <a:ea typeface="Microsoft JhengHei" panose="020B0604030504040204" pitchFamily="34" charset="-120"/>
              </a:rPr>
              <a:t>同學</a:t>
            </a:r>
            <a:r>
              <a:rPr kumimoji="0" lang="zh-TW" altLang="en-US"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t>
            </a:r>
            <a:r>
              <a:rPr kumimoji="0" lang="zh-TW" altLang="en-US" sz="1800" b="0" i="0" u="none" strike="noStrike" kern="1200" cap="none" spc="0" normalizeH="0" baseline="0" noProof="0" dirty="0">
                <a:ln>
                  <a:noFill/>
                </a:ln>
                <a:solidFill>
                  <a:srgbClr val="202124"/>
                </a:solidFill>
                <a:effectLst/>
                <a:uLnTx/>
                <a:uFillTx/>
                <a:latin typeface="Microsoft JhengHei" panose="020B0604030504040204" pitchFamily="34" charset="-120"/>
                <a:ea typeface="Microsoft JhengHei" panose="020B0604030504040204" pitchFamily="34" charset="-120"/>
                <a:cs typeface="+mn-cs"/>
              </a:rPr>
              <a:t>鄭承櫸同學</a:t>
            </a:r>
            <a:r>
              <a:rPr kumimoji="0" lang="zh-TW" altLang="en-US"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提供結果</a:t>
            </a:r>
            <a:endParaRPr kumimoji="0" lang="zh-TW" altLang="en-US"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5" name="文字方塊 14"/>
          <p:cNvSpPr txBox="1"/>
          <p:nvPr/>
        </p:nvSpPr>
        <p:spPr>
          <a:xfrm>
            <a:off x="761189" y="6077194"/>
            <a:ext cx="6096000" cy="369332"/>
          </a:xfrm>
          <a:prstGeom prst="rect">
            <a:avLst/>
          </a:prstGeom>
          <a:noFill/>
        </p:spPr>
        <p:txBody>
          <a:bodyPr wrap="square">
            <a:spAutoFit/>
          </a:bodyPr>
          <a:lstStyle/>
          <a:p>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https://arxiv.org/abs/2206.03931</a:t>
            </a:r>
            <a:endParaRPr lang="zh-TW" altLang="en-US" dirty="0"/>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6" grpId="0"/>
      <p:bldP spid="1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endParaRPr lang="zh-TW" altLang="en-US"/>
          </a:p>
        </p:txBody>
      </p:sp>
      <p:sp>
        <p:nvSpPr>
          <p:cNvPr id="4" name="文字方塊 3"/>
          <p:cNvSpPr txBox="1"/>
          <p:nvPr/>
        </p:nvSpPr>
        <p:spPr>
          <a:xfrm>
            <a:off x="285612" y="2532627"/>
            <a:ext cx="6093500" cy="369332"/>
          </a:xfrm>
          <a:prstGeom prst="rect">
            <a:avLst/>
          </a:prstGeom>
          <a:noFill/>
        </p:spPr>
        <p:txBody>
          <a:bodyPr wrap="square">
            <a:spAutoFit/>
          </a:bodyPr>
          <a:lstStyle/>
          <a:p>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https://arxiv.org/abs/2205.11916</a:t>
            </a:r>
            <a:endParaRPr lang="zh-TW" altLang="en-US" dirty="0"/>
          </a:p>
        </p:txBody>
      </p:sp>
      <p:pic>
        <p:nvPicPr>
          <p:cNvPr id="5" name="圖片 4"/>
          <p:cNvPicPr>
            <a:picLocks noChangeAspect="1"/>
          </p:cNvPicPr>
          <p:nvPr/>
        </p:nvPicPr>
        <p:blipFill>
          <a:blip r:embed="rId1"/>
          <a:stretch>
            <a:fillRect/>
          </a:stretch>
        </p:blipFill>
        <p:spPr>
          <a:xfrm>
            <a:off x="285612" y="112939"/>
            <a:ext cx="7059010" cy="2419688"/>
          </a:xfrm>
          <a:prstGeom prst="rect">
            <a:avLst/>
          </a:prstGeom>
        </p:spPr>
      </p:pic>
      <p:pic>
        <p:nvPicPr>
          <p:cNvPr id="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05907" y="135058"/>
            <a:ext cx="12192000" cy="5705475"/>
          </a:xfrm>
          <a:prstGeom prst="rect">
            <a:avLst/>
          </a:prstGeom>
          <a:noFill/>
          <a:extLst>
            <a:ext uri="{909E8E84-426E-40DD-AFC4-6F175D3DCCD1}">
              <a14:hiddenFill xmlns:a14="http://schemas.microsoft.com/office/drawing/2010/main">
                <a:solidFill>
                  <a:srgbClr val="FFFFFF"/>
                </a:solidFill>
              </a14:hiddenFill>
            </a:ext>
          </a:extLst>
        </p:spPr>
      </p:pic>
      <p:sp>
        <p:nvSpPr>
          <p:cNvPr id="7" name="文字方塊 6"/>
          <p:cNvSpPr txBox="1"/>
          <p:nvPr/>
        </p:nvSpPr>
        <p:spPr>
          <a:xfrm>
            <a:off x="2058253" y="4366964"/>
            <a:ext cx="1904148" cy="646331"/>
          </a:xfrm>
          <a:prstGeom prst="rect">
            <a:avLst/>
          </a:prstGeom>
          <a:noFill/>
        </p:spPr>
        <p:txBody>
          <a:bodyPr wrap="square">
            <a:spAutoFit/>
          </a:bodyPr>
          <a:lstStyle/>
          <a:p>
            <a:r>
              <a:rPr lang="zh-TW" altLang="en-US" dirty="0"/>
              <a:t>https://arxiv.org/abs/2211.01910</a:t>
            </a:r>
            <a:endParaRPr lang="zh-TW" altLang="en-US" dirty="0"/>
          </a:p>
        </p:txBody>
      </p:sp>
      <p:grpSp>
        <p:nvGrpSpPr>
          <p:cNvPr id="8" name="群組 7"/>
          <p:cNvGrpSpPr/>
          <p:nvPr/>
        </p:nvGrpSpPr>
        <p:grpSpPr>
          <a:xfrm>
            <a:off x="419100" y="2217173"/>
            <a:ext cx="11196601" cy="4216401"/>
            <a:chOff x="838200" y="2254250"/>
            <a:chExt cx="11196601" cy="4216401"/>
          </a:xfrm>
        </p:grpSpPr>
        <p:pic>
          <p:nvPicPr>
            <p:cNvPr id="9" name="圖片 8"/>
            <p:cNvPicPr>
              <a:picLocks noChangeAspect="1"/>
            </p:cNvPicPr>
            <p:nvPr/>
          </p:nvPicPr>
          <p:blipFill>
            <a:blip r:embed="rId3"/>
            <a:stretch>
              <a:fillRect/>
            </a:stretch>
          </p:blipFill>
          <p:spPr>
            <a:xfrm>
              <a:off x="838200" y="2254250"/>
              <a:ext cx="11196601" cy="4216401"/>
            </a:xfrm>
            <a:prstGeom prst="rect">
              <a:avLst/>
            </a:prstGeom>
            <a:ln w="38100" cap="sq">
              <a:solidFill>
                <a:srgbClr val="000000"/>
              </a:solidFill>
              <a:prstDash val="solid"/>
              <a:miter lim="800000"/>
              <a:headEnd/>
              <a:tailEnd/>
            </a:ln>
            <a:effectLst>
              <a:outerShdw blurRad="50800" dist="38100" dir="2700000" algn="tl" rotWithShape="0">
                <a:srgbClr val="000000">
                  <a:alpha val="43000"/>
                </a:srgbClr>
              </a:outerShdw>
            </a:effectLst>
          </p:spPr>
        </p:pic>
        <p:sp>
          <p:nvSpPr>
            <p:cNvPr id="10" name="文字方塊 9"/>
            <p:cNvSpPr txBox="1"/>
            <p:nvPr/>
          </p:nvSpPr>
          <p:spPr>
            <a:xfrm>
              <a:off x="919127" y="6073384"/>
              <a:ext cx="3462374" cy="369332"/>
            </a:xfrm>
            <a:prstGeom prst="rect">
              <a:avLst/>
            </a:prstGeom>
            <a:noFill/>
          </p:spPr>
          <p:txBody>
            <a:bodyPr wrap="square">
              <a:spAutoFit/>
            </a:bodyPr>
            <a:lstStyle/>
            <a:p>
              <a:r>
                <a:rPr lang="zh-TW" altLang="en-US" dirty="0"/>
                <a:t>https://arxiv.org/abs/2309.03409</a:t>
              </a:r>
              <a:endParaRPr lang="zh-TW" altLang="en-US" dirty="0"/>
            </a:p>
          </p:txBody>
        </p:sp>
      </p:grpSp>
      <p:grpSp>
        <p:nvGrpSpPr>
          <p:cNvPr id="14" name="群組 13"/>
          <p:cNvGrpSpPr/>
          <p:nvPr/>
        </p:nvGrpSpPr>
        <p:grpSpPr>
          <a:xfrm>
            <a:off x="2361351" y="1805731"/>
            <a:ext cx="9802080" cy="5027733"/>
            <a:chOff x="2287703" y="1690688"/>
            <a:chExt cx="9802080" cy="5027733"/>
          </a:xfrm>
        </p:grpSpPr>
        <p:pic>
          <p:nvPicPr>
            <p:cNvPr id="12" name="圖片 11"/>
            <p:cNvPicPr>
              <a:picLocks noChangeAspect="1"/>
            </p:cNvPicPr>
            <p:nvPr/>
          </p:nvPicPr>
          <p:blipFill>
            <a:blip r:embed="rId4"/>
            <a:stretch>
              <a:fillRect/>
            </a:stretch>
          </p:blipFill>
          <p:spPr>
            <a:xfrm>
              <a:off x="2287703" y="1690688"/>
              <a:ext cx="9802080" cy="5027733"/>
            </a:xfrm>
            <a:prstGeom prst="rect">
              <a:avLst/>
            </a:prstGeom>
          </p:spPr>
        </p:pic>
        <p:sp>
          <p:nvSpPr>
            <p:cNvPr id="13" name="文字方塊 12"/>
            <p:cNvSpPr txBox="1"/>
            <p:nvPr/>
          </p:nvSpPr>
          <p:spPr>
            <a:xfrm>
              <a:off x="9400009" y="5889371"/>
              <a:ext cx="2372891" cy="646331"/>
            </a:xfrm>
            <a:prstGeom prst="rect">
              <a:avLst/>
            </a:prstGeom>
            <a:noFill/>
          </p:spPr>
          <p:txBody>
            <a:bodyPr wrap="square">
              <a:spAutoFit/>
            </a:bodyPr>
            <a:lstStyle/>
            <a:p>
              <a:r>
                <a:rPr lang="zh-TW" altLang="en-US" dirty="0"/>
                <a:t>https://arxiv.org/abs/2307.11760</a:t>
              </a:r>
              <a:endParaRPr lang="zh-TW" altLang="en-US" dirty="0"/>
            </a:p>
          </p:txBody>
        </p:sp>
      </p:grpSp>
      <p:grpSp>
        <p:nvGrpSpPr>
          <p:cNvPr id="21" name="群組 20"/>
          <p:cNvGrpSpPr/>
          <p:nvPr/>
        </p:nvGrpSpPr>
        <p:grpSpPr>
          <a:xfrm>
            <a:off x="218536" y="2961021"/>
            <a:ext cx="11944895" cy="2448332"/>
            <a:chOff x="218536" y="2961021"/>
            <a:chExt cx="11944895" cy="2448332"/>
          </a:xfrm>
        </p:grpSpPr>
        <p:pic>
          <p:nvPicPr>
            <p:cNvPr id="18" name="圖片 17"/>
            <p:cNvPicPr>
              <a:picLocks noChangeAspect="1"/>
            </p:cNvPicPr>
            <p:nvPr/>
          </p:nvPicPr>
          <p:blipFill>
            <a:blip r:embed="rId5"/>
            <a:stretch>
              <a:fillRect/>
            </a:stretch>
          </p:blipFill>
          <p:spPr>
            <a:xfrm>
              <a:off x="218536" y="2961021"/>
              <a:ext cx="11944895" cy="2448332"/>
            </a:xfrm>
            <a:prstGeom prst="rect">
              <a:avLst/>
            </a:prstGeom>
          </p:spPr>
        </p:pic>
        <p:sp>
          <p:nvSpPr>
            <p:cNvPr id="20" name="文字方塊 19"/>
            <p:cNvSpPr txBox="1"/>
            <p:nvPr/>
          </p:nvSpPr>
          <p:spPr>
            <a:xfrm>
              <a:off x="8803443" y="3014148"/>
              <a:ext cx="3359988" cy="369332"/>
            </a:xfrm>
            <a:prstGeom prst="rect">
              <a:avLst/>
            </a:prstGeom>
            <a:noFill/>
          </p:spPr>
          <p:txBody>
            <a:bodyPr wrap="square">
              <a:spAutoFit/>
            </a:bodyPr>
            <a:lstStyle/>
            <a:p>
              <a:r>
                <a:rPr lang="zh-TW" altLang="en-US" dirty="0"/>
                <a:t>https://arxiv.org/abs/2312.16171</a:t>
              </a:r>
              <a:endParaRPr lang="zh-TW" altLang="en-US" dirty="0"/>
            </a:p>
          </p:txBody>
        </p:sp>
      </p:gr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神奇咒語？</a:t>
            </a:r>
            <a:r>
              <a:rPr lang="en-US" altLang="zh-TW" dirty="0">
                <a:latin typeface="Microsoft JhengHei" panose="020B0604030504040204" pitchFamily="34" charset="-120"/>
                <a:ea typeface="Microsoft JhengHei" panose="020B0604030504040204" pitchFamily="34" charset="-120"/>
              </a:rPr>
              <a:t> </a:t>
            </a:r>
            <a:endParaRPr lang="zh-TW" altLang="en-US" dirty="0"/>
          </a:p>
        </p:txBody>
      </p:sp>
      <p:sp>
        <p:nvSpPr>
          <p:cNvPr id="3" name="內容版面配置區 2"/>
          <p:cNvSpPr>
            <a:spLocks noGrp="1"/>
          </p:cNvSpPr>
          <p:nvPr>
            <p:ph idx="1"/>
          </p:nvPr>
        </p:nvSpPr>
        <p:spPr/>
        <p:txBody>
          <a:bodyPr/>
          <a:lstStyle/>
          <a:p>
            <a:endParaRPr lang="zh-TW" altLang="en-US"/>
          </a:p>
        </p:txBody>
      </p:sp>
      <p:pic>
        <p:nvPicPr>
          <p:cNvPr id="5" name="圖片 4"/>
          <p:cNvPicPr>
            <a:picLocks noChangeAspect="1"/>
          </p:cNvPicPr>
          <p:nvPr/>
        </p:nvPicPr>
        <p:blipFill>
          <a:blip r:embed="rId1"/>
          <a:stretch>
            <a:fillRect/>
          </a:stretch>
        </p:blipFill>
        <p:spPr>
          <a:xfrm>
            <a:off x="1571647" y="1565769"/>
            <a:ext cx="9642691" cy="4871050"/>
          </a:xfrm>
          <a:prstGeom prst="rect">
            <a:avLst/>
          </a:prstGeom>
        </p:spPr>
      </p:pic>
      <p:sp>
        <p:nvSpPr>
          <p:cNvPr id="7" name="文字方塊 6"/>
          <p:cNvSpPr txBox="1"/>
          <p:nvPr/>
        </p:nvSpPr>
        <p:spPr>
          <a:xfrm>
            <a:off x="6258465" y="537638"/>
            <a:ext cx="6098874" cy="369332"/>
          </a:xfrm>
          <a:prstGeom prst="rect">
            <a:avLst/>
          </a:prstGeom>
          <a:noFill/>
        </p:spPr>
        <p:txBody>
          <a:bodyPr wrap="square">
            <a:spAutoFit/>
          </a:bodyPr>
          <a:lstStyle/>
          <a:p>
            <a:r>
              <a:rPr lang="zh-TW" altLang="en-US" dirty="0"/>
              <a:t>https://minimaxir.com/2024/02/chatgpt-tips-analysis/</a:t>
            </a:r>
            <a:endParaRPr lang="zh-TW" altLang="en-US" dirty="0"/>
          </a:p>
        </p:txBody>
      </p:sp>
      <p:sp>
        <p:nvSpPr>
          <p:cNvPr id="4" name="文字方塊 3"/>
          <p:cNvSpPr txBox="1"/>
          <p:nvPr/>
        </p:nvSpPr>
        <p:spPr>
          <a:xfrm>
            <a:off x="9382504" y="1275189"/>
            <a:ext cx="2041027" cy="830997"/>
          </a:xfrm>
          <a:prstGeom prst="rect">
            <a:avLst/>
          </a:prstGeom>
          <a:noFill/>
        </p:spPr>
        <p:txBody>
          <a:bodyPr wrap="square" rtlCol="0">
            <a:spAutoFit/>
          </a:bodyPr>
          <a:lstStyle/>
          <a:p>
            <a:r>
              <a:rPr lang="en-US" altLang="zh-TW" sz="2400" dirty="0">
                <a:latin typeface="Microsoft JhengHei" panose="020B0604030504040204" pitchFamily="34" charset="-120"/>
                <a:ea typeface="Microsoft JhengHei" panose="020B0604030504040204" pitchFamily="34" charset="-120"/>
              </a:rPr>
              <a:t>ChatGPT </a:t>
            </a:r>
            <a:r>
              <a:rPr lang="zh-TW" altLang="en-US" sz="2400" dirty="0">
                <a:latin typeface="Microsoft JhengHei" panose="020B0604030504040204" pitchFamily="34" charset="-120"/>
                <a:ea typeface="Microsoft JhengHei" panose="020B0604030504040204" pitchFamily="34" charset="-120"/>
              </a:rPr>
              <a:t>最在意世界和平</a:t>
            </a:r>
            <a:endParaRPr lang="zh-TW" altLang="en-US" sz="2400" dirty="0">
              <a:latin typeface="Microsoft JhengHei" panose="020B0604030504040204" pitchFamily="34" charset="-120"/>
              <a:ea typeface="Microsoft JhengHei" panose="020B0604030504040204" pitchFamily="34" charset="-120"/>
            </a:endParaRPr>
          </a:p>
        </p:txBody>
      </p:sp>
      <p:sp>
        <p:nvSpPr>
          <p:cNvPr id="6" name="文字方塊 5"/>
          <p:cNvSpPr txBox="1"/>
          <p:nvPr/>
        </p:nvSpPr>
        <p:spPr>
          <a:xfrm>
            <a:off x="192039" y="4001294"/>
            <a:ext cx="2759216" cy="830997"/>
          </a:xfrm>
          <a:prstGeom prst="rect">
            <a:avLst/>
          </a:prstGeom>
          <a:noFill/>
        </p:spPr>
        <p:txBody>
          <a:bodyPr wrap="square" rtlCol="0">
            <a:spAutoFit/>
          </a:bodyPr>
          <a:lstStyle/>
          <a:p>
            <a:r>
              <a:rPr lang="en-US" altLang="zh-TW" sz="2400" dirty="0">
                <a:latin typeface="Microsoft JhengHei" panose="020B0604030504040204" pitchFamily="34" charset="-120"/>
                <a:ea typeface="Microsoft JhengHei" panose="020B0604030504040204" pitchFamily="34" charset="-120"/>
              </a:rPr>
              <a:t>ChatGPT </a:t>
            </a:r>
            <a:r>
              <a:rPr lang="zh-TW" altLang="en-US" sz="2400" dirty="0">
                <a:latin typeface="Microsoft JhengHei" panose="020B0604030504040204" pitchFamily="34" charset="-120"/>
                <a:ea typeface="Microsoft JhengHei" panose="020B0604030504040204" pitchFamily="34" charset="-120"/>
              </a:rPr>
              <a:t>最不在意自己的母親</a:t>
            </a:r>
            <a:endParaRPr lang="zh-TW" altLang="en-US" sz="2400" dirty="0">
              <a:latin typeface="Microsoft JhengHei" panose="020B0604030504040204" pitchFamily="34" charset="-120"/>
              <a:ea typeface="Microsoft JhengHei" panose="020B0604030504040204" pitchFamily="34" charset="-120"/>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神奇咒語？</a:t>
            </a:r>
            <a:r>
              <a:rPr lang="en-US" altLang="zh-TW" dirty="0">
                <a:latin typeface="Microsoft JhengHei" panose="020B0604030504040204" pitchFamily="34" charset="-120"/>
                <a:ea typeface="Microsoft JhengHei" panose="020B0604030504040204" pitchFamily="34" charset="-120"/>
              </a:rPr>
              <a:t> </a:t>
            </a:r>
            <a:endParaRPr lang="zh-TW" altLang="en-US" dirty="0"/>
          </a:p>
        </p:txBody>
      </p:sp>
      <p:sp>
        <p:nvSpPr>
          <p:cNvPr id="3" name="內容版面配置區 2"/>
          <p:cNvSpPr>
            <a:spLocks noGrp="1"/>
          </p:cNvSpPr>
          <p:nvPr>
            <p:ph idx="1"/>
          </p:nvPr>
        </p:nvSpPr>
        <p:spPr/>
        <p:txBody>
          <a:bodyPr/>
          <a:lstStyle/>
          <a:p>
            <a:r>
              <a:rPr lang="zh-TW" altLang="en-US" dirty="0">
                <a:latin typeface="Microsoft JhengHei" panose="020B0604030504040204" pitchFamily="34" charset="-120"/>
                <a:ea typeface="Microsoft JhengHei" panose="020B0604030504040204" pitchFamily="34" charset="-120"/>
              </a:rPr>
              <a:t>神奇咒語越來越不神奇 </a:t>
            </a:r>
            <a:r>
              <a:rPr lang="en-US" altLang="zh-TW" dirty="0">
                <a:latin typeface="Microsoft JhengHei" panose="020B0604030504040204" pitchFamily="34" charset="-120"/>
                <a:ea typeface="Microsoft JhengHei" panose="020B0604030504040204" pitchFamily="34" charset="-120"/>
              </a:rPr>
              <a:t>……</a:t>
            </a:r>
            <a:endParaRPr lang="zh-TW" altLang="en-US" dirty="0">
              <a:latin typeface="Microsoft JhengHei" panose="020B0604030504040204" pitchFamily="34" charset="-120"/>
              <a:ea typeface="Microsoft JhengHei" panose="020B0604030504040204" pitchFamily="34" charset="-120"/>
            </a:endParaRPr>
          </a:p>
        </p:txBody>
      </p:sp>
      <p:graphicFrame>
        <p:nvGraphicFramePr>
          <p:cNvPr id="4" name="表格 3"/>
          <p:cNvGraphicFramePr>
            <a:graphicFrameLocks noGrp="1"/>
          </p:cNvGraphicFramePr>
          <p:nvPr/>
        </p:nvGraphicFramePr>
        <p:xfrm>
          <a:off x="1834804" y="2730398"/>
          <a:ext cx="9550399" cy="1981200"/>
        </p:xfrm>
        <a:graphic>
          <a:graphicData uri="http://schemas.openxmlformats.org/drawingml/2006/table">
            <a:tbl>
              <a:tblPr firstRow="1" bandRow="1">
                <a:tableStyleId>{5C22544A-7EE6-4342-B048-85BDC9FD1C3A}</a:tableStyleId>
              </a:tblPr>
              <a:tblGrid>
                <a:gridCol w="3777343"/>
                <a:gridCol w="2886528"/>
                <a:gridCol w="2886528"/>
              </a:tblGrid>
              <a:tr h="370840">
                <a:tc>
                  <a:txBody>
                    <a:bodyPr/>
                    <a:lstStyle/>
                    <a:p>
                      <a:pPr algn="ctr"/>
                      <a:r>
                        <a:rPr lang="en-US" altLang="zh-TW" sz="2800" dirty="0">
                          <a:latin typeface="Microsoft JhengHei" panose="020B0604030504040204" pitchFamily="34" charset="-120"/>
                          <a:ea typeface="Microsoft JhengHei" panose="020B0604030504040204" pitchFamily="34" charset="-120"/>
                        </a:rPr>
                        <a:t>GPT 3.5 </a:t>
                      </a:r>
                      <a:endParaRPr lang="zh-TW" altLang="en-US" sz="2800" dirty="0">
                        <a:latin typeface="Microsoft JhengHei" panose="020B0604030504040204" pitchFamily="34" charset="-120"/>
                        <a:ea typeface="Microsoft JhengHei" panose="020B0604030504040204" pitchFamily="34" charset="-120"/>
                      </a:endParaRPr>
                    </a:p>
                  </a:txBody>
                  <a:tcPr anchor="ctr"/>
                </a:tc>
                <a:tc>
                  <a:txBody>
                    <a:bodyPr/>
                    <a:lstStyle/>
                    <a:p>
                      <a:pPr algn="ctr"/>
                      <a:r>
                        <a:rPr lang="en-US" altLang="zh-TW" sz="2800" dirty="0">
                          <a:latin typeface="Microsoft JhengHei" panose="020B0604030504040204" pitchFamily="34" charset="-120"/>
                          <a:ea typeface="Microsoft JhengHei" panose="020B0604030504040204" pitchFamily="34" charset="-120"/>
                        </a:rPr>
                        <a:t>2023 </a:t>
                      </a:r>
                      <a:r>
                        <a:rPr lang="zh-TW" altLang="en-US" sz="2800" dirty="0">
                          <a:latin typeface="Microsoft JhengHei" panose="020B0604030504040204" pitchFamily="34" charset="-120"/>
                          <a:ea typeface="Microsoft JhengHei" panose="020B0604030504040204" pitchFamily="34" charset="-120"/>
                        </a:rPr>
                        <a:t>年 </a:t>
                      </a:r>
                      <a:r>
                        <a:rPr lang="en-US" altLang="zh-TW" sz="2800" dirty="0">
                          <a:latin typeface="Microsoft JhengHei" panose="020B0604030504040204" pitchFamily="34" charset="-120"/>
                          <a:ea typeface="Microsoft JhengHei" panose="020B0604030504040204" pitchFamily="34" charset="-120"/>
                        </a:rPr>
                        <a:t>6</a:t>
                      </a:r>
                      <a:r>
                        <a:rPr lang="zh-TW" altLang="en-US" sz="2800" dirty="0">
                          <a:latin typeface="Microsoft JhengHei" panose="020B0604030504040204" pitchFamily="34" charset="-120"/>
                          <a:ea typeface="Microsoft JhengHei" panose="020B0604030504040204" pitchFamily="34" charset="-120"/>
                        </a:rPr>
                        <a:t>月</a:t>
                      </a:r>
                      <a:endParaRPr lang="en-US" altLang="zh-TW" sz="2800" dirty="0">
                        <a:latin typeface="Microsoft JhengHei" panose="020B0604030504040204" pitchFamily="34" charset="-120"/>
                        <a:ea typeface="Microsoft JhengHei" panose="020B0604030504040204" pitchFamily="34" charset="-120"/>
                      </a:endParaRPr>
                    </a:p>
                    <a:p>
                      <a:pPr algn="ctr"/>
                      <a:r>
                        <a:rPr lang="zh-TW" altLang="en-US" sz="2800" dirty="0">
                          <a:latin typeface="Microsoft JhengHei" panose="020B0604030504040204" pitchFamily="34" charset="-120"/>
                          <a:ea typeface="Microsoft JhengHei" panose="020B0604030504040204" pitchFamily="34" charset="-120"/>
                        </a:rPr>
                        <a:t>的舊版本</a:t>
                      </a:r>
                      <a:endParaRPr lang="zh-TW" altLang="en-US" sz="2800" dirty="0">
                        <a:latin typeface="Microsoft JhengHei" panose="020B0604030504040204" pitchFamily="34" charset="-120"/>
                        <a:ea typeface="Microsoft JhengHei" panose="020B0604030504040204" pitchFamily="34" charset="-12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TW" sz="2800" dirty="0">
                          <a:latin typeface="Microsoft JhengHei" panose="020B0604030504040204" pitchFamily="34" charset="-120"/>
                          <a:ea typeface="Microsoft JhengHei" panose="020B0604030504040204" pitchFamily="34" charset="-120"/>
                        </a:rPr>
                        <a:t>2024 </a:t>
                      </a:r>
                      <a:r>
                        <a:rPr lang="zh-TW" altLang="en-US" sz="2800" dirty="0">
                          <a:latin typeface="Microsoft JhengHei" panose="020B0604030504040204" pitchFamily="34" charset="-120"/>
                          <a:ea typeface="Microsoft JhengHei" panose="020B0604030504040204" pitchFamily="34" charset="-120"/>
                        </a:rPr>
                        <a:t>年 </a:t>
                      </a:r>
                      <a:r>
                        <a:rPr lang="en-US" altLang="zh-TW" sz="2800" dirty="0">
                          <a:latin typeface="Microsoft JhengHei" panose="020B0604030504040204" pitchFamily="34" charset="-120"/>
                          <a:ea typeface="Microsoft JhengHei" panose="020B0604030504040204" pitchFamily="34" charset="-120"/>
                        </a:rPr>
                        <a:t>2 </a:t>
                      </a:r>
                      <a:r>
                        <a:rPr lang="zh-TW" altLang="en-US" sz="2800" dirty="0">
                          <a:latin typeface="Microsoft JhengHei" panose="020B0604030504040204" pitchFamily="34" charset="-120"/>
                          <a:ea typeface="Microsoft JhengHei" panose="020B0604030504040204" pitchFamily="34" charset="-120"/>
                        </a:rPr>
                        <a:t>月</a:t>
                      </a:r>
                      <a:endParaRPr lang="en-US" altLang="zh-TW" sz="2800" dirty="0">
                        <a:latin typeface="Microsoft JhengHei" panose="020B0604030504040204" pitchFamily="34" charset="-120"/>
                        <a:ea typeface="Microsoft JhengHei" panose="020B0604030504040204" pitchFamily="34" charset="-120"/>
                      </a:endParaRPr>
                    </a:p>
                    <a:p>
                      <a:pPr marL="0" marR="0" lvl="0" indent="0" algn="ctr" defTabSz="914400" rtl="0" eaLnBrk="1" fontAlgn="auto" latinLnBrk="0" hangingPunct="1">
                        <a:lnSpc>
                          <a:spcPct val="100000"/>
                        </a:lnSpc>
                        <a:spcBef>
                          <a:spcPts val="0"/>
                        </a:spcBef>
                        <a:spcAft>
                          <a:spcPts val="0"/>
                        </a:spcAft>
                        <a:buClrTx/>
                        <a:buSzTx/>
                        <a:buFontTx/>
                        <a:buNone/>
                        <a:defRPr/>
                      </a:pPr>
                      <a:r>
                        <a:rPr lang="zh-TW" altLang="en-US" sz="2800" dirty="0">
                          <a:latin typeface="Microsoft JhengHei" panose="020B0604030504040204" pitchFamily="34" charset="-120"/>
                          <a:ea typeface="Microsoft JhengHei" panose="020B0604030504040204" pitchFamily="34" charset="-120"/>
                        </a:rPr>
                        <a:t>最新的版本 </a:t>
                      </a:r>
                      <a:endParaRPr lang="zh-TW" altLang="en-US" sz="2800" dirty="0">
                        <a:latin typeface="Microsoft JhengHei" panose="020B0604030504040204" pitchFamily="34" charset="-120"/>
                        <a:ea typeface="Microsoft JhengHei" panose="020B0604030504040204" pitchFamily="34" charset="-120"/>
                      </a:endParaRPr>
                    </a:p>
                  </a:txBody>
                  <a:tcPr anchor="ctr"/>
                </a:tc>
              </a:tr>
              <a:tr h="370840">
                <a:tc>
                  <a:txBody>
                    <a:bodyPr/>
                    <a:lstStyle/>
                    <a:p>
                      <a:pPr algn="ctr"/>
                      <a:r>
                        <a:rPr lang="zh-TW" altLang="en-US" sz="2800" dirty="0">
                          <a:latin typeface="Microsoft JhengHei" panose="020B0604030504040204" pitchFamily="34" charset="-120"/>
                          <a:ea typeface="Microsoft JhengHei" panose="020B0604030504040204" pitchFamily="34" charset="-120"/>
                        </a:rPr>
                        <a:t>沒有神奇咒語</a:t>
                      </a:r>
                      <a:endParaRPr lang="zh-TW" altLang="en-US" sz="2800" dirty="0">
                        <a:latin typeface="Microsoft JhengHei" panose="020B0604030504040204" pitchFamily="34" charset="-120"/>
                        <a:ea typeface="Microsoft JhengHei" panose="020B0604030504040204" pitchFamily="34" charset="-120"/>
                      </a:endParaRPr>
                    </a:p>
                  </a:txBody>
                  <a:tcPr/>
                </a:tc>
                <a:tc>
                  <a:txBody>
                    <a:bodyPr/>
                    <a:lstStyle/>
                    <a:p>
                      <a:pPr algn="ctr"/>
                      <a:r>
                        <a:rPr lang="en-US" altLang="zh-TW" sz="2800" dirty="0">
                          <a:latin typeface="Microsoft JhengHei" panose="020B0604030504040204" pitchFamily="34" charset="-120"/>
                          <a:ea typeface="Microsoft JhengHei" panose="020B0604030504040204" pitchFamily="34" charset="-120"/>
                        </a:rPr>
                        <a:t>72%</a:t>
                      </a:r>
                      <a:endParaRPr lang="zh-TW" altLang="en-US" sz="2800" dirty="0">
                        <a:latin typeface="Microsoft JhengHei" panose="020B0604030504040204" pitchFamily="34" charset="-120"/>
                        <a:ea typeface="Microsoft JhengHei" panose="020B0604030504040204" pitchFamily="34" charset="-120"/>
                      </a:endParaRPr>
                    </a:p>
                  </a:txBody>
                  <a:tcPr/>
                </a:tc>
                <a:tc>
                  <a:txBody>
                    <a:bodyPr/>
                    <a:lstStyle/>
                    <a:p>
                      <a:pPr algn="ctr"/>
                      <a:r>
                        <a:rPr lang="en-US" altLang="zh-TW" sz="2800" dirty="0">
                          <a:latin typeface="Microsoft JhengHei" panose="020B0604030504040204" pitchFamily="34" charset="-120"/>
                          <a:ea typeface="Microsoft JhengHei" panose="020B0604030504040204" pitchFamily="34" charset="-120"/>
                        </a:rPr>
                        <a:t>85%</a:t>
                      </a:r>
                      <a:endParaRPr lang="zh-TW" altLang="en-US" sz="2800" dirty="0">
                        <a:latin typeface="Microsoft JhengHei" panose="020B0604030504040204" pitchFamily="34" charset="-120"/>
                        <a:ea typeface="Microsoft JhengHei" panose="020B0604030504040204" pitchFamily="34" charset="-120"/>
                      </a:endParaRPr>
                    </a:p>
                  </a:txBody>
                  <a:tcPr/>
                </a:tc>
              </a:tr>
              <a:tr h="370840">
                <a:tc>
                  <a:txBody>
                    <a:bodyPr/>
                    <a:lstStyle/>
                    <a:p>
                      <a:pPr algn="ctr"/>
                      <a:r>
                        <a:rPr lang="en-US" altLang="zh-TW" sz="2800" dirty="0">
                          <a:latin typeface="+mn-lt"/>
                          <a:ea typeface="Microsoft JhengHei" panose="020B0604030504040204" pitchFamily="34" charset="-120"/>
                        </a:rPr>
                        <a:t>“Let’s think step by step”</a:t>
                      </a:r>
                      <a:endParaRPr lang="zh-TW" altLang="en-US" sz="2800" dirty="0">
                        <a:latin typeface="+mn-lt"/>
                        <a:ea typeface="Microsoft JhengHei" panose="020B0604030504040204" pitchFamily="34" charset="-120"/>
                      </a:endParaRPr>
                    </a:p>
                  </a:txBody>
                  <a:tcPr/>
                </a:tc>
                <a:tc>
                  <a:txBody>
                    <a:bodyPr/>
                    <a:lstStyle/>
                    <a:p>
                      <a:pPr algn="ctr"/>
                      <a:r>
                        <a:rPr lang="en-US" altLang="zh-TW" sz="2800" dirty="0">
                          <a:latin typeface="Microsoft JhengHei" panose="020B0604030504040204" pitchFamily="34" charset="-120"/>
                          <a:ea typeface="Microsoft JhengHei" panose="020B0604030504040204" pitchFamily="34" charset="-120"/>
                        </a:rPr>
                        <a:t>88%</a:t>
                      </a:r>
                      <a:endParaRPr lang="zh-TW" altLang="en-US" sz="2800" dirty="0">
                        <a:latin typeface="Microsoft JhengHei" panose="020B0604030504040204" pitchFamily="34" charset="-120"/>
                        <a:ea typeface="Microsoft JhengHei" panose="020B0604030504040204" pitchFamily="34" charset="-120"/>
                      </a:endParaRPr>
                    </a:p>
                  </a:txBody>
                  <a:tcPr/>
                </a:tc>
                <a:tc>
                  <a:txBody>
                    <a:bodyPr/>
                    <a:lstStyle/>
                    <a:p>
                      <a:pPr algn="ctr"/>
                      <a:r>
                        <a:rPr lang="en-US" altLang="zh-TW" sz="2800" dirty="0">
                          <a:latin typeface="Microsoft JhengHei" panose="020B0604030504040204" pitchFamily="34" charset="-120"/>
                          <a:ea typeface="Microsoft JhengHei" panose="020B0604030504040204" pitchFamily="34" charset="-120"/>
                        </a:rPr>
                        <a:t>89%</a:t>
                      </a:r>
                      <a:endParaRPr lang="zh-TW" altLang="en-US" sz="2800" dirty="0">
                        <a:latin typeface="Microsoft JhengHei" panose="020B0604030504040204" pitchFamily="34" charset="-120"/>
                        <a:ea typeface="Microsoft JhengHei" panose="020B0604030504040204" pitchFamily="34" charset="-120"/>
                      </a:endParaRPr>
                    </a:p>
                  </a:txBody>
                  <a:tcPr/>
                </a:tc>
              </a:tr>
            </a:tbl>
          </a:graphicData>
        </a:graphic>
      </p:graphicFrame>
      <p:sp>
        <p:nvSpPr>
          <p:cNvPr id="5" name="文字方塊 4"/>
          <p:cNvSpPr txBox="1"/>
          <p:nvPr/>
        </p:nvSpPr>
        <p:spPr>
          <a:xfrm>
            <a:off x="1562662" y="5346665"/>
            <a:ext cx="9550398"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模型應該要隨時使出全力，怎麼可以要求思考才思考 </a:t>
            </a:r>
            <a:r>
              <a:rPr kumimoji="0" lang="en-US" altLang="zh-TW" sz="2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t>
            </a:r>
            <a:endParaRPr kumimoji="0" lang="zh-TW" altLang="en-US" sz="2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6" name="文字方塊 5"/>
          <p:cNvSpPr txBox="1"/>
          <p:nvPr/>
        </p:nvSpPr>
        <p:spPr>
          <a:xfrm>
            <a:off x="207036" y="3303233"/>
            <a:ext cx="1524000" cy="954107"/>
          </a:xfrm>
          <a:prstGeom prst="rect">
            <a:avLst/>
          </a:prstGeom>
          <a:noFill/>
        </p:spPr>
        <p:txBody>
          <a:bodyPr wrap="square" rtlCol="0">
            <a:spAutoFit/>
          </a:bodyPr>
          <a:lstStyle/>
          <a:p>
            <a:pPr algn="r"/>
            <a:r>
              <a:rPr lang="zh-TW" altLang="en-US" sz="2800" dirty="0">
                <a:latin typeface="Microsoft JhengHei" panose="020B0604030504040204" pitchFamily="34" charset="-120"/>
                <a:ea typeface="Microsoft JhengHei" panose="020B0604030504040204" pitchFamily="34" charset="-120"/>
              </a:rPr>
              <a:t>解數學應用題</a:t>
            </a:r>
            <a:endParaRPr lang="zh-TW" altLang="en-US" sz="2800" dirty="0">
              <a:latin typeface="Microsoft JhengHei" panose="020B0604030504040204" pitchFamily="34" charset="-120"/>
              <a:ea typeface="Microsoft JhengHei" panose="020B0604030504040204" pitchFamily="34" charset="-120"/>
            </a:endParaRPr>
          </a:p>
        </p:txBody>
      </p:sp>
      <p:sp>
        <p:nvSpPr>
          <p:cNvPr id="8" name="文字方塊 7"/>
          <p:cNvSpPr txBox="1"/>
          <p:nvPr/>
        </p:nvSpPr>
        <p:spPr>
          <a:xfrm>
            <a:off x="4184302" y="618702"/>
            <a:ext cx="7455247" cy="646331"/>
          </a:xfrm>
          <a:prstGeom prst="rect">
            <a:avLst/>
          </a:prstGeom>
          <a:noFill/>
        </p:spPr>
        <p:txBody>
          <a:bodyPr wrap="square">
            <a:spAutoFit/>
          </a:bodyPr>
          <a:lstStyle/>
          <a:p>
            <a:pPr algn="r"/>
            <a:r>
              <a:rPr lang="en-US" altLang="zh-TW" dirty="0">
                <a:latin typeface="Microsoft JhengHei" panose="020B0604030504040204" pitchFamily="34" charset="-120"/>
                <a:ea typeface="Microsoft JhengHei" panose="020B0604030504040204" pitchFamily="34" charset="-120"/>
              </a:rPr>
              <a:t>《</a:t>
            </a:r>
            <a:r>
              <a:rPr lang="zh-TW" altLang="en-US" dirty="0">
                <a:latin typeface="Microsoft JhengHei" panose="020B0604030504040204" pitchFamily="34" charset="-120"/>
                <a:ea typeface="Microsoft JhengHei" panose="020B0604030504040204" pitchFamily="34" charset="-120"/>
              </a:rPr>
              <a:t>生成式人工智慧導論 </a:t>
            </a:r>
            <a:r>
              <a:rPr lang="en-US" altLang="zh-TW" dirty="0">
                <a:latin typeface="Microsoft JhengHei" panose="020B0604030504040204" pitchFamily="34" charset="-120"/>
                <a:ea typeface="Microsoft JhengHei" panose="020B0604030504040204" pitchFamily="34" charset="-120"/>
              </a:rPr>
              <a:t>2024》</a:t>
            </a:r>
            <a:endParaRPr lang="en-US" altLang="zh-TW" dirty="0">
              <a:latin typeface="Microsoft JhengHei" panose="020B0604030504040204" pitchFamily="34" charset="-120"/>
              <a:ea typeface="Microsoft JhengHei" panose="020B0604030504040204" pitchFamily="34" charset="-120"/>
            </a:endParaRPr>
          </a:p>
          <a:p>
            <a:pPr algn="r"/>
            <a:r>
              <a:rPr lang="zh-TW" altLang="en-US" dirty="0"/>
              <a:t>https://youtu.be/A3Yx35KrSN0?si=vLfdNcQOhocAN1uc&amp;t=1035</a:t>
            </a:r>
            <a:endParaRPr lang="zh-TW" altLang="en-US" dirty="0"/>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Context Engineering vs Prompt Engineering </a:t>
            </a:r>
            <a:endParaRPr lang="zh-TW" altLang="en-US" dirty="0"/>
          </a:p>
        </p:txBody>
      </p:sp>
      <p:sp>
        <p:nvSpPr>
          <p:cNvPr id="3" name="內容版面配置區 2"/>
          <p:cNvSpPr>
            <a:spLocks noGrp="1"/>
          </p:cNvSpPr>
          <p:nvPr>
            <p:ph idx="1"/>
          </p:nvPr>
        </p:nvSpPr>
        <p:spPr/>
        <p:txBody>
          <a:bodyPr>
            <a:normAutofit/>
          </a:bodyPr>
          <a:lstStyle/>
          <a:p>
            <a:r>
              <a:rPr lang="zh-TW" altLang="en-US" sz="2400" dirty="0">
                <a:latin typeface="Microsoft JhengHei" panose="020B0604030504040204" pitchFamily="34" charset="-120"/>
                <a:ea typeface="Microsoft JhengHei" panose="020B0604030504040204" pitchFamily="34" charset="-120"/>
              </a:rPr>
              <a:t>有甚麼不同？相同的概念，關注不同的重點 </a:t>
            </a:r>
            <a:endParaRPr lang="zh-TW" altLang="en-US" sz="2400" dirty="0">
              <a:latin typeface="Microsoft JhengHei" panose="020B0604030504040204" pitchFamily="34" charset="-120"/>
              <a:ea typeface="Microsoft JhengHei" panose="020B0604030504040204" pitchFamily="34" charset="-120"/>
            </a:endParaRPr>
          </a:p>
        </p:txBody>
      </p:sp>
      <p:sp>
        <p:nvSpPr>
          <p:cNvPr id="4" name="矩形: 圓角 3"/>
          <p:cNvSpPr/>
          <p:nvPr/>
        </p:nvSpPr>
        <p:spPr>
          <a:xfrm>
            <a:off x="8077663" y="3973348"/>
            <a:ext cx="1693981" cy="1097684"/>
          </a:xfrm>
          <a:prstGeom prst="roundRect">
            <a:avLst/>
          </a:prstGeom>
          <a:solidFill>
            <a:srgbClr val="4472C4">
              <a:lumMod val="20000"/>
              <a:lumOff val="80000"/>
            </a:srgbClr>
          </a:solidFill>
          <a:ln w="5715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語言</a:t>
            </a:r>
            <a:endPar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ctr" defTabSz="914400" eaLnBrk="1" fontAlgn="auto" latinLnBrk="0" hangingPunct="1">
              <a:lnSpc>
                <a:spcPct val="100000"/>
              </a:lnSpc>
              <a:spcBef>
                <a:spcPts val="0"/>
              </a:spcBef>
              <a:spcAft>
                <a:spcPts val="0"/>
              </a:spcAft>
              <a:buClrTx/>
              <a:buSzTx/>
              <a:buFontTx/>
              <a:buNone/>
              <a:defRPr/>
            </a:pPr>
            <a:r>
              <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模型</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5" name="直線單箭頭接點 4"/>
          <p:cNvCxnSpPr/>
          <p:nvPr/>
        </p:nvCxnSpPr>
        <p:spPr>
          <a:xfrm>
            <a:off x="7290684" y="4522191"/>
            <a:ext cx="735688" cy="0"/>
          </a:xfrm>
          <a:prstGeom prst="straightConnector1">
            <a:avLst/>
          </a:prstGeom>
          <a:noFill/>
          <a:ln w="57150" cap="flat" cmpd="sng" algn="ctr">
            <a:solidFill>
              <a:sysClr val="windowText" lastClr="000000"/>
            </a:solidFill>
            <a:prstDash val="solid"/>
            <a:miter lim="800000"/>
            <a:tailEnd type="triangle"/>
          </a:ln>
          <a:effectLst/>
        </p:spPr>
      </p:cxnSp>
      <p:sp>
        <p:nvSpPr>
          <p:cNvPr id="6" name="文字方塊 5"/>
          <p:cNvSpPr txBox="1"/>
          <p:nvPr/>
        </p:nvSpPr>
        <p:spPr>
          <a:xfrm>
            <a:off x="5862699" y="4152951"/>
            <a:ext cx="1745494" cy="830997"/>
          </a:xfrm>
          <a:prstGeom prst="rect">
            <a:avLst/>
          </a:prstGeom>
          <a:noFill/>
        </p:spPr>
        <p:txBody>
          <a:bodyPr wrap="square" rtlCol="0">
            <a:spAutoFit/>
          </a:bodyPr>
          <a:lstStyle/>
          <a:p>
            <a:pPr algn="ctr">
              <a:defRPr/>
            </a:pPr>
            <a:r>
              <a:rPr lang="zh-TW" altLang="en-US" sz="2400" dirty="0">
                <a:solidFill>
                  <a:prstClr val="black"/>
                </a:solidFill>
                <a:latin typeface="Microsoft JhengHei" panose="020B0604030504040204" pitchFamily="34" charset="-120"/>
                <a:ea typeface="Microsoft JhengHei" panose="020B0604030504040204" pitchFamily="34" charset="-120"/>
              </a:rPr>
              <a:t>輸入 </a:t>
            </a:r>
            <a:r>
              <a:rPr lang="en-US" altLang="zh-TW" sz="2400" dirty="0">
                <a:solidFill>
                  <a:prstClr val="black"/>
                </a:solidFill>
                <a:latin typeface="Microsoft JhengHei" panose="020B0604030504040204" pitchFamily="34" charset="-120"/>
                <a:ea typeface="Microsoft JhengHei" panose="020B0604030504040204" pitchFamily="34" charset="-120"/>
              </a:rPr>
              <a:t>(Prompt)</a:t>
            </a:r>
            <a:endParaRPr lang="zh-TW" altLang="en-US" sz="2400" dirty="0">
              <a:solidFill>
                <a:prstClr val="black"/>
              </a:solidFill>
              <a:latin typeface="Microsoft JhengHei" panose="020B0604030504040204" pitchFamily="34" charset="-120"/>
              <a:ea typeface="Microsoft JhengHei" panose="020B0604030504040204" pitchFamily="34" charset="-120"/>
            </a:endParaRPr>
          </a:p>
        </p:txBody>
      </p:sp>
      <p:sp>
        <p:nvSpPr>
          <p:cNvPr id="7" name="文字方塊 6"/>
          <p:cNvSpPr txBox="1"/>
          <p:nvPr/>
        </p:nvSpPr>
        <p:spPr>
          <a:xfrm>
            <a:off x="10422274" y="4135720"/>
            <a:ext cx="1269867" cy="830997"/>
          </a:xfrm>
          <a:prstGeom prst="rect">
            <a:avLst/>
          </a:prstGeom>
          <a:noFill/>
        </p:spPr>
        <p:txBody>
          <a:bodyPr wrap="square" rtlCol="0">
            <a:spAutoFit/>
          </a:bodyPr>
          <a:lstStyle/>
          <a:p>
            <a:pPr algn="ctr">
              <a:defRPr/>
            </a:pPr>
            <a:r>
              <a:rPr lang="zh-TW" altLang="en-US" sz="2400" dirty="0">
                <a:solidFill>
                  <a:prstClr val="black"/>
                </a:solidFill>
                <a:latin typeface="Microsoft JhengHei" panose="020B0604030504040204" pitchFamily="34" charset="-120"/>
                <a:ea typeface="Microsoft JhengHei" panose="020B0604030504040204" pitchFamily="34" charset="-120"/>
              </a:rPr>
              <a:t>下一個</a:t>
            </a:r>
            <a:r>
              <a:rPr lang="en-US" altLang="zh-TW" sz="2400" dirty="0">
                <a:solidFill>
                  <a:prstClr val="black"/>
                </a:solidFill>
                <a:latin typeface="Microsoft JhengHei" panose="020B0604030504040204" pitchFamily="34" charset="-120"/>
                <a:ea typeface="Microsoft JhengHei" panose="020B0604030504040204" pitchFamily="34" charset="-120"/>
              </a:rPr>
              <a:t> token</a:t>
            </a:r>
            <a:endParaRPr lang="zh-TW" altLang="en-US" sz="2400" dirty="0">
              <a:solidFill>
                <a:prstClr val="black"/>
              </a:solidFill>
              <a:latin typeface="Microsoft JhengHei" panose="020B0604030504040204" pitchFamily="34" charset="-120"/>
              <a:ea typeface="Microsoft JhengHei" panose="020B0604030504040204" pitchFamily="34" charset="-120"/>
            </a:endParaRPr>
          </a:p>
        </p:txBody>
      </p:sp>
      <p:cxnSp>
        <p:nvCxnSpPr>
          <p:cNvPr id="8" name="直線單箭頭接點 7"/>
          <p:cNvCxnSpPr/>
          <p:nvPr/>
        </p:nvCxnSpPr>
        <p:spPr>
          <a:xfrm>
            <a:off x="9874227" y="4522190"/>
            <a:ext cx="548047" cy="0"/>
          </a:xfrm>
          <a:prstGeom prst="straightConnector1">
            <a:avLst/>
          </a:prstGeom>
          <a:noFill/>
          <a:ln w="57150" cap="flat" cmpd="sng" algn="ctr">
            <a:solidFill>
              <a:sysClr val="windowText" lastClr="000000"/>
            </a:solidFill>
            <a:prstDash val="solid"/>
            <a:miter lim="800000"/>
            <a:tailEnd type="triangle"/>
          </a:ln>
          <a:effectLst/>
        </p:spPr>
      </p:cxnSp>
      <p:sp>
        <p:nvSpPr>
          <p:cNvPr id="12" name="文字方塊 11"/>
          <p:cNvSpPr txBox="1"/>
          <p:nvPr/>
        </p:nvSpPr>
        <p:spPr>
          <a:xfrm>
            <a:off x="1291770" y="2809629"/>
            <a:ext cx="1745494" cy="830997"/>
          </a:xfrm>
          <a:prstGeom prst="rect">
            <a:avLst/>
          </a:prstGeom>
          <a:noFill/>
        </p:spPr>
        <p:txBody>
          <a:bodyPr wrap="square" rtlCol="0">
            <a:spAutoFit/>
          </a:bodyPr>
          <a:lstStyle/>
          <a:p>
            <a:pPr algn="ctr"/>
            <a:r>
              <a:rPr lang="en-US" altLang="zh-TW" sz="2400" b="1" u="sng" dirty="0"/>
              <a:t>Prompt Engineering </a:t>
            </a:r>
            <a:endParaRPr lang="zh-TW" altLang="en-US" sz="2400" b="1" u="sng" dirty="0"/>
          </a:p>
        </p:txBody>
      </p:sp>
      <p:sp>
        <p:nvSpPr>
          <p:cNvPr id="13" name="文字方塊 12"/>
          <p:cNvSpPr txBox="1"/>
          <p:nvPr/>
        </p:nvSpPr>
        <p:spPr>
          <a:xfrm>
            <a:off x="3037264" y="2878564"/>
            <a:ext cx="1968751" cy="830997"/>
          </a:xfrm>
          <a:prstGeom prst="rect">
            <a:avLst/>
          </a:prstGeom>
          <a:noFill/>
        </p:spPr>
        <p:txBody>
          <a:bodyPr wrap="square" rtlCol="0">
            <a:spAutoFit/>
          </a:bodyPr>
          <a:lstStyle/>
          <a:p>
            <a:pPr marL="285750" indent="-285750">
              <a:buFont typeface="Arial" panose="020B0604020202020204" pitchFamily="34" charset="0"/>
              <a:buChar char="•"/>
            </a:pPr>
            <a:r>
              <a:rPr lang="zh-TW" altLang="en-US" sz="2400" dirty="0">
                <a:latin typeface="Microsoft JhengHei" panose="020B0604030504040204" pitchFamily="34" charset="-120"/>
                <a:ea typeface="Microsoft JhengHei" panose="020B0604030504040204" pitchFamily="34" charset="-120"/>
              </a:rPr>
              <a:t>輸入格式</a:t>
            </a:r>
            <a:endParaRPr lang="en-US" altLang="zh-TW" sz="2400" dirty="0">
              <a:latin typeface="Microsoft JhengHei" panose="020B0604030504040204" pitchFamily="34" charset="-120"/>
              <a:ea typeface="Microsoft JhengHei" panose="020B0604030504040204" pitchFamily="34" charset="-120"/>
            </a:endParaRPr>
          </a:p>
          <a:p>
            <a:pPr marL="285750" indent="-285750">
              <a:buFont typeface="Arial" panose="020B0604020202020204" pitchFamily="34" charset="0"/>
              <a:buChar char="•"/>
            </a:pPr>
            <a:r>
              <a:rPr lang="zh-TW" altLang="en-US" sz="2400" dirty="0">
                <a:latin typeface="Microsoft JhengHei" panose="020B0604030504040204" pitchFamily="34" charset="-120"/>
                <a:ea typeface="Microsoft JhengHei" panose="020B0604030504040204" pitchFamily="34" charset="-120"/>
              </a:rPr>
              <a:t>神奇咒語</a:t>
            </a:r>
            <a:endParaRPr lang="zh-TW" altLang="en-US" sz="2400" dirty="0">
              <a:latin typeface="Microsoft JhengHei" panose="020B0604030504040204" pitchFamily="34" charset="-120"/>
              <a:ea typeface="Microsoft JhengHei" panose="020B0604030504040204" pitchFamily="34" charset="-120"/>
            </a:endParaRPr>
          </a:p>
        </p:txBody>
      </p:sp>
      <p:cxnSp>
        <p:nvCxnSpPr>
          <p:cNvPr id="14" name="直線單箭頭接點 13"/>
          <p:cNvCxnSpPr/>
          <p:nvPr/>
        </p:nvCxnSpPr>
        <p:spPr>
          <a:xfrm>
            <a:off x="4963831" y="3429000"/>
            <a:ext cx="1016055" cy="1043429"/>
          </a:xfrm>
          <a:prstGeom prst="straightConnector1">
            <a:avLst/>
          </a:prstGeom>
          <a:noFill/>
          <a:ln w="57150" cap="flat" cmpd="sng" algn="ctr">
            <a:solidFill>
              <a:sysClr val="windowText" lastClr="000000"/>
            </a:solidFill>
            <a:prstDash val="sysDot"/>
            <a:miter lim="800000"/>
            <a:tailEnd type="triangle"/>
          </a:ln>
          <a:effectLst/>
        </p:spPr>
      </p:cxnSp>
      <p:sp>
        <p:nvSpPr>
          <p:cNvPr id="9" name="文字方塊 8"/>
          <p:cNvSpPr txBox="1"/>
          <p:nvPr/>
        </p:nvSpPr>
        <p:spPr>
          <a:xfrm>
            <a:off x="1291770" y="5071032"/>
            <a:ext cx="1745494" cy="830997"/>
          </a:xfrm>
          <a:prstGeom prst="rect">
            <a:avLst/>
          </a:prstGeom>
          <a:noFill/>
        </p:spPr>
        <p:txBody>
          <a:bodyPr wrap="square" rtlCol="0">
            <a:spAutoFit/>
          </a:bodyPr>
          <a:lstStyle/>
          <a:p>
            <a:pPr algn="ctr"/>
            <a:r>
              <a:rPr lang="en-US" altLang="zh-TW" sz="2400" b="1" u="sng" dirty="0"/>
              <a:t>Context Engineering </a:t>
            </a:r>
            <a:endParaRPr lang="zh-TW" altLang="en-US" sz="2400" b="1" u="sng" dirty="0"/>
          </a:p>
        </p:txBody>
      </p:sp>
      <p:sp>
        <p:nvSpPr>
          <p:cNvPr id="10" name="文字方塊 9"/>
          <p:cNvSpPr txBox="1"/>
          <p:nvPr/>
        </p:nvSpPr>
        <p:spPr>
          <a:xfrm>
            <a:off x="2995079" y="5022865"/>
            <a:ext cx="1968751" cy="1200329"/>
          </a:xfrm>
          <a:prstGeom prst="rect">
            <a:avLst/>
          </a:prstGeom>
          <a:noFill/>
        </p:spPr>
        <p:txBody>
          <a:bodyPr wrap="square" rtlCol="0">
            <a:spAutoFit/>
          </a:bodyPr>
          <a:lstStyle/>
          <a:p>
            <a:pPr marL="285750" indent="-285750">
              <a:buFont typeface="Arial" panose="020B0604020202020204" pitchFamily="34" charset="0"/>
              <a:buChar char="•"/>
            </a:pPr>
            <a:r>
              <a:rPr lang="zh-TW" altLang="en-US" sz="2400" dirty="0">
                <a:latin typeface="Microsoft JhengHei" panose="020B0604030504040204" pitchFamily="34" charset="-120"/>
                <a:ea typeface="Microsoft JhengHei" panose="020B0604030504040204" pitchFamily="34" charset="-120"/>
              </a:rPr>
              <a:t>自動化管理 </a:t>
            </a:r>
            <a:r>
              <a:rPr lang="en-US" altLang="zh-TW" sz="2400" dirty="0">
                <a:latin typeface="Microsoft JhengHei" panose="020B0604030504040204" pitchFamily="34" charset="-120"/>
                <a:ea typeface="Microsoft JhengHei" panose="020B0604030504040204" pitchFamily="34" charset="-120"/>
              </a:rPr>
              <a:t>(</a:t>
            </a:r>
            <a:r>
              <a:rPr lang="zh-TW" altLang="en-US" sz="2400" dirty="0">
                <a:latin typeface="Microsoft JhengHei" panose="020B0604030504040204" pitchFamily="34" charset="-120"/>
                <a:ea typeface="Microsoft JhengHei" panose="020B0604030504040204" pitchFamily="34" charset="-120"/>
              </a:rPr>
              <a:t>使用語言模型</a:t>
            </a:r>
            <a:r>
              <a:rPr lang="en-US" altLang="zh-TW" sz="2400" dirty="0">
                <a:latin typeface="Microsoft JhengHei" panose="020B0604030504040204" pitchFamily="34" charset="-120"/>
                <a:ea typeface="Microsoft JhengHei" panose="020B0604030504040204" pitchFamily="34" charset="-120"/>
              </a:rPr>
              <a:t>)</a:t>
            </a:r>
            <a:endParaRPr lang="en-US" altLang="zh-TW" sz="2400" dirty="0">
              <a:latin typeface="Microsoft JhengHei" panose="020B0604030504040204" pitchFamily="34" charset="-120"/>
              <a:ea typeface="Microsoft JhengHei" panose="020B0604030504040204" pitchFamily="34" charset="-120"/>
            </a:endParaRPr>
          </a:p>
        </p:txBody>
      </p:sp>
      <p:cxnSp>
        <p:nvCxnSpPr>
          <p:cNvPr id="11" name="直線單箭頭接點 10"/>
          <p:cNvCxnSpPr/>
          <p:nvPr/>
        </p:nvCxnSpPr>
        <p:spPr>
          <a:xfrm flipV="1">
            <a:off x="4963830" y="4634935"/>
            <a:ext cx="1016055" cy="1043429"/>
          </a:xfrm>
          <a:prstGeom prst="straightConnector1">
            <a:avLst/>
          </a:prstGeom>
          <a:noFill/>
          <a:ln w="57150" cap="flat" cmpd="sng" algn="ctr">
            <a:solidFill>
              <a:sysClr val="windowText" lastClr="000000"/>
            </a:solidFill>
            <a:prstDash val="sysDot"/>
            <a:miter lim="800000"/>
            <a:tailEnd type="triangle"/>
          </a:ln>
          <a:effectLst/>
        </p:spPr>
      </p:cxnSp>
      <p:sp>
        <p:nvSpPr>
          <p:cNvPr id="15" name="文字方塊 14"/>
          <p:cNvSpPr txBox="1"/>
          <p:nvPr/>
        </p:nvSpPr>
        <p:spPr>
          <a:xfrm>
            <a:off x="5513844" y="5678489"/>
            <a:ext cx="6178297" cy="461665"/>
          </a:xfrm>
          <a:prstGeom prst="rect">
            <a:avLst/>
          </a:prstGeom>
          <a:noFill/>
        </p:spPr>
        <p:txBody>
          <a:bodyPr wrap="square" rtlCol="0">
            <a:spAutoFit/>
          </a:bodyPr>
          <a:lstStyle/>
          <a:p>
            <a:pPr>
              <a:defRPr/>
            </a:pPr>
            <a:r>
              <a:rPr lang="zh-TW" altLang="en-US" sz="2400" dirty="0">
                <a:solidFill>
                  <a:prstClr val="black"/>
                </a:solidFill>
                <a:latin typeface="Microsoft JhengHei" panose="020B0604030504040204" pitchFamily="34" charset="-120"/>
                <a:ea typeface="Microsoft JhengHei" panose="020B0604030504040204" pitchFamily="34" charset="-120"/>
              </a:rPr>
              <a:t>這裡先暫時把 </a:t>
            </a:r>
            <a:r>
              <a:rPr lang="en-US" altLang="zh-TW" sz="2400" dirty="0">
                <a:solidFill>
                  <a:prstClr val="black"/>
                </a:solidFill>
                <a:latin typeface="Microsoft JhengHei" panose="020B0604030504040204" pitchFamily="34" charset="-120"/>
                <a:ea typeface="Microsoft JhengHei" panose="020B0604030504040204" pitchFamily="34" charset="-120"/>
              </a:rPr>
              <a:t>Context</a:t>
            </a:r>
            <a:r>
              <a:rPr lang="zh-TW" altLang="en-US" sz="2400" dirty="0">
                <a:solidFill>
                  <a:prstClr val="black"/>
                </a:solidFill>
                <a:latin typeface="Microsoft JhengHei" panose="020B0604030504040204" pitchFamily="34" charset="-120"/>
                <a:ea typeface="Microsoft JhengHei" panose="020B0604030504040204" pitchFamily="34" charset="-120"/>
              </a:rPr>
              <a:t> 和 </a:t>
            </a:r>
            <a:r>
              <a:rPr lang="en-US" altLang="zh-TW" sz="2400" dirty="0">
                <a:solidFill>
                  <a:prstClr val="black"/>
                </a:solidFill>
                <a:latin typeface="Microsoft JhengHei" panose="020B0604030504040204" pitchFamily="34" charset="-120"/>
                <a:ea typeface="Microsoft JhengHei" panose="020B0604030504040204" pitchFamily="34" charset="-120"/>
              </a:rPr>
              <a:t>Prompt </a:t>
            </a:r>
            <a:r>
              <a:rPr lang="zh-TW" altLang="en-US" sz="2400" dirty="0">
                <a:solidFill>
                  <a:prstClr val="black"/>
                </a:solidFill>
                <a:latin typeface="Microsoft JhengHei" panose="020B0604030504040204" pitchFamily="34" charset="-120"/>
                <a:ea typeface="Microsoft JhengHei" panose="020B0604030504040204" pitchFamily="34" charset="-120"/>
              </a:rPr>
              <a:t>畫上等號</a:t>
            </a:r>
            <a:endParaRPr lang="zh-TW" altLang="en-US" sz="2400" dirty="0">
              <a:solidFill>
                <a:prstClr val="black"/>
              </a:solidFill>
              <a:latin typeface="Microsoft JhengHei" panose="020B0604030504040204" pitchFamily="34" charset="-120"/>
              <a:ea typeface="Microsoft JhengHei" panose="020B0604030504040204" pitchFamily="34" charset="-120"/>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Outline</a:t>
            </a:r>
            <a:endParaRPr lang="zh-TW" altLang="en-US" dirty="0"/>
          </a:p>
        </p:txBody>
      </p:sp>
      <p:graphicFrame>
        <p:nvGraphicFramePr>
          <p:cNvPr id="4" name="內容版面配置區 3"/>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9" name="Rectangle 8"/>
          <p:cNvSpPr>
            <a:spLocks noGrp="1" noRot="1" noChangeAspect="1" noMove="1" noResize="1" noEditPoints="1" noAdjustHandles="1" noChangeArrowheads="1" noChangeShapeType="1" noTextEdit="1"/>
          </p:cNvSpPr>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p:cNvPicPr>
            <a:picLocks noChangeAspect="1"/>
          </p:cNvPicPr>
          <p:nvPr/>
        </p:nvPicPr>
        <p:blipFill>
          <a:blip r:embed="rId1">
            <a:alphaModFix amt="50000"/>
          </a:blip>
          <a:srcRect t="11409" b="4321"/>
          <a:stretch>
            <a:fillRect/>
          </a:stretch>
        </p:blipFill>
        <p:spPr>
          <a:xfrm>
            <a:off x="20" y="1"/>
            <a:ext cx="12191980" cy="6857999"/>
          </a:xfrm>
          <a:prstGeom prst="rect">
            <a:avLst/>
          </a:prstGeom>
        </p:spPr>
      </p:pic>
      <p:sp>
        <p:nvSpPr>
          <p:cNvPr id="2" name="標題 1"/>
          <p:cNvSpPr>
            <a:spLocks noGrp="1"/>
          </p:cNvSpPr>
          <p:nvPr>
            <p:ph type="ctrTitle"/>
          </p:nvPr>
        </p:nvSpPr>
        <p:spPr>
          <a:xfrm>
            <a:off x="1524000" y="1122362"/>
            <a:ext cx="9144000" cy="2900518"/>
          </a:xfrm>
        </p:spPr>
        <p:txBody>
          <a:bodyPr>
            <a:normAutofit/>
          </a:bodyPr>
          <a:lstStyle/>
          <a:p>
            <a:r>
              <a:rPr lang="en-US" altLang="zh-TW" b="1" dirty="0">
                <a:solidFill>
                  <a:srgbClr val="FFFFFF"/>
                </a:solidFill>
                <a:latin typeface="Microsoft JhengHei" panose="020B0604030504040204" pitchFamily="34" charset="-120"/>
                <a:ea typeface="Microsoft JhengHei" panose="020B0604030504040204" pitchFamily="34" charset="-120"/>
              </a:rPr>
              <a:t>Context </a:t>
            </a:r>
            <a:r>
              <a:rPr lang="zh-TW" altLang="en-US" b="1" dirty="0">
                <a:solidFill>
                  <a:srgbClr val="FFFFFF"/>
                </a:solidFill>
                <a:latin typeface="Microsoft JhengHei" panose="020B0604030504040204" pitchFamily="34" charset="-120"/>
                <a:ea typeface="Microsoft JhengHei" panose="020B0604030504040204" pitchFamily="34" charset="-120"/>
              </a:rPr>
              <a:t>裡面需要有什麼？</a:t>
            </a:r>
            <a:endParaRPr lang="zh-TW" altLang="en-US" b="1" dirty="0">
              <a:solidFill>
                <a:srgbClr val="FFFFFF"/>
              </a:solidFill>
              <a:latin typeface="Microsoft JhengHei" panose="020B0604030504040204" pitchFamily="34" charset="-120"/>
              <a:ea typeface="Microsoft JhengHei" panose="020B0604030504040204" pitchFamily="34" charset="-120"/>
            </a:endParaRPr>
          </a:p>
        </p:txBody>
      </p:sp>
      <p:sp>
        <p:nvSpPr>
          <p:cNvPr id="3" name="副標題 2"/>
          <p:cNvSpPr>
            <a:spLocks noGrp="1"/>
          </p:cNvSpPr>
          <p:nvPr>
            <p:ph type="subTitle" idx="1"/>
          </p:nvPr>
        </p:nvSpPr>
        <p:spPr>
          <a:xfrm>
            <a:off x="1524000" y="4159404"/>
            <a:ext cx="9144000" cy="1098395"/>
          </a:xfrm>
        </p:spPr>
        <p:txBody>
          <a:bodyPr>
            <a:normAutofit/>
          </a:bodyPr>
          <a:lstStyle/>
          <a:p>
            <a:endParaRPr lang="zh-TW" altLang="en-US">
              <a:solidFill>
                <a:srgbClr val="FFFFFF"/>
              </a:solidFill>
            </a:endParaRPr>
          </a:p>
        </p:txBody>
      </p:sp>
    </p:spTree>
  </p:cSld>
  <p:clrMapOvr>
    <a:overrideClrMapping bg1="dk1" tx1="lt1" bg2="dk2" tx2="lt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User Prompt </a:t>
            </a:r>
            <a:endParaRPr lang="zh-TW" altLang="en-US" dirty="0"/>
          </a:p>
        </p:txBody>
      </p:sp>
      <p:graphicFrame>
        <p:nvGraphicFramePr>
          <p:cNvPr id="4" name="表格 3"/>
          <p:cNvGraphicFramePr>
            <a:graphicFrameLocks noGrp="1"/>
          </p:cNvGraphicFramePr>
          <p:nvPr/>
        </p:nvGraphicFramePr>
        <p:xfrm>
          <a:off x="1422398" y="2028984"/>
          <a:ext cx="9724572" cy="3017520"/>
        </p:xfrm>
        <a:graphic>
          <a:graphicData uri="http://schemas.openxmlformats.org/drawingml/2006/table">
            <a:tbl>
              <a:tblPr firstRow="1" bandRow="1">
                <a:tableStyleId>{5C22544A-7EE6-4342-B048-85BDC9FD1C3A}</a:tableStyleId>
              </a:tblPr>
              <a:tblGrid>
                <a:gridCol w="3675205"/>
                <a:gridCol w="6049367"/>
              </a:tblGrid>
              <a:tr h="370840">
                <a:tc>
                  <a:txBody>
                    <a:bodyPr/>
                    <a:lstStyle/>
                    <a:p>
                      <a:r>
                        <a:rPr lang="en-US" altLang="zh-TW" sz="2400" dirty="0">
                          <a:latin typeface="Microsoft JhengHei" panose="020B0604030504040204" pitchFamily="34" charset="-120"/>
                          <a:ea typeface="Microsoft JhengHei" panose="020B0604030504040204" pitchFamily="34" charset="-120"/>
                        </a:rPr>
                        <a:t>User Prompt</a:t>
                      </a:r>
                      <a:endParaRPr lang="zh-TW" altLang="en-US" sz="2400" dirty="0">
                        <a:latin typeface="Microsoft JhengHei" panose="020B0604030504040204" pitchFamily="34" charset="-120"/>
                        <a:ea typeface="Microsoft JhengHei" panose="020B0604030504040204" pitchFamily="34" charset="-120"/>
                      </a:endParaRPr>
                    </a:p>
                  </a:txBody>
                  <a:tcPr/>
                </a:tc>
                <a:tc>
                  <a:txBody>
                    <a:bodyPr/>
                    <a:lstStyle/>
                    <a:p>
                      <a:r>
                        <a:rPr lang="en-US" altLang="zh-TW" sz="2400" dirty="0">
                          <a:latin typeface="Microsoft JhengHei" panose="020B0604030504040204" pitchFamily="34" charset="-120"/>
                          <a:ea typeface="Microsoft JhengHei" panose="020B0604030504040204" pitchFamily="34" charset="-120"/>
                        </a:rPr>
                        <a:t>Example </a:t>
                      </a:r>
                      <a:endParaRPr lang="zh-TW" altLang="en-US" sz="2400" dirty="0">
                        <a:latin typeface="Microsoft JhengHei" panose="020B0604030504040204" pitchFamily="34" charset="-120"/>
                        <a:ea typeface="Microsoft JhengHei" panose="020B0604030504040204" pitchFamily="34" charset="-120"/>
                      </a:endParaRPr>
                    </a:p>
                  </a:txBody>
                  <a:tcPr/>
                </a:tc>
              </a:tr>
              <a:tr h="370840">
                <a:tc>
                  <a:txBody>
                    <a:bodyPr/>
                    <a:lstStyle/>
                    <a:p>
                      <a:r>
                        <a:rPr lang="zh-TW" altLang="en-US" sz="2400" dirty="0">
                          <a:latin typeface="Microsoft JhengHei" panose="020B0604030504040204" pitchFamily="34" charset="-120"/>
                          <a:ea typeface="Microsoft JhengHei" panose="020B0604030504040204" pitchFamily="34" charset="-120"/>
                        </a:rPr>
                        <a:t>任務說明</a:t>
                      </a:r>
                      <a:endParaRPr lang="zh-TW" altLang="en-US" sz="2400" dirty="0">
                        <a:latin typeface="Microsoft JhengHei" panose="020B0604030504040204" pitchFamily="34" charset="-120"/>
                        <a:ea typeface="Microsoft JhengHei" panose="020B0604030504040204" pitchFamily="34" charset="-120"/>
                      </a:endParaRPr>
                    </a:p>
                  </a:txBody>
                  <a:tcPr/>
                </a:tc>
                <a:tc>
                  <a:txBody>
                    <a:bodyPr/>
                    <a:lstStyle/>
                    <a:p>
                      <a:r>
                        <a:rPr lang="en-US" altLang="zh-TW" sz="2400" dirty="0">
                          <a:latin typeface="Microsoft JhengHei" panose="020B0604030504040204" pitchFamily="34" charset="-120"/>
                          <a:ea typeface="Microsoft JhengHei" panose="020B0604030504040204" pitchFamily="34" charset="-120"/>
                        </a:rPr>
                        <a:t>“</a:t>
                      </a:r>
                      <a:r>
                        <a:rPr lang="zh-TW" altLang="en-US" sz="2400" dirty="0">
                          <a:latin typeface="Microsoft JhengHei" panose="020B0604030504040204" pitchFamily="34" charset="-120"/>
                          <a:ea typeface="Microsoft JhengHei" panose="020B0604030504040204" pitchFamily="34" charset="-120"/>
                        </a:rPr>
                        <a:t>寫一封信跟老師說 </a:t>
                      </a:r>
                      <a:r>
                        <a:rPr lang="en-US" altLang="zh-TW" sz="2400" dirty="0">
                          <a:latin typeface="Microsoft JhengHei" panose="020B0604030504040204" pitchFamily="34" charset="-120"/>
                          <a:ea typeface="Microsoft JhengHei" panose="020B0604030504040204" pitchFamily="34" charset="-120"/>
                        </a:rPr>
                        <a:t>meeting </a:t>
                      </a:r>
                      <a:r>
                        <a:rPr lang="zh-TW" altLang="en-US" sz="2400" dirty="0">
                          <a:latin typeface="Microsoft JhengHei" panose="020B0604030504040204" pitchFamily="34" charset="-120"/>
                          <a:ea typeface="Microsoft JhengHei" panose="020B0604030504040204" pitchFamily="34" charset="-120"/>
                        </a:rPr>
                        <a:t>要請假</a:t>
                      </a:r>
                      <a:r>
                        <a:rPr lang="en-US" altLang="zh-TW" sz="2400" dirty="0">
                          <a:latin typeface="Microsoft JhengHei" panose="020B0604030504040204" pitchFamily="34" charset="-120"/>
                          <a:ea typeface="Microsoft JhengHei" panose="020B0604030504040204" pitchFamily="34" charset="-120"/>
                        </a:rPr>
                        <a:t>”</a:t>
                      </a:r>
                      <a:endParaRPr lang="zh-TW" altLang="en-US" sz="2400" dirty="0">
                        <a:latin typeface="Microsoft JhengHei" panose="020B0604030504040204" pitchFamily="34" charset="-120"/>
                        <a:ea typeface="Microsoft JhengHei" panose="020B0604030504040204" pitchFamily="34" charset="-120"/>
                      </a:endParaRPr>
                    </a:p>
                  </a:txBody>
                  <a:tcPr/>
                </a:tc>
              </a:tr>
              <a:tr h="370840">
                <a:tc>
                  <a:txBody>
                    <a:bodyPr/>
                    <a:lstStyle/>
                    <a:p>
                      <a:r>
                        <a:rPr lang="zh-TW" altLang="en-US" sz="2400" dirty="0">
                          <a:latin typeface="Microsoft JhengHei" panose="020B0604030504040204" pitchFamily="34" charset="-120"/>
                          <a:ea typeface="Microsoft JhengHei" panose="020B0604030504040204" pitchFamily="34" charset="-120"/>
                        </a:rPr>
                        <a:t>詳細指引 </a:t>
                      </a:r>
                      <a:r>
                        <a:rPr lang="en-US" altLang="zh-TW" sz="2400" dirty="0">
                          <a:latin typeface="Microsoft JhengHei" panose="020B0604030504040204" pitchFamily="34" charset="-120"/>
                          <a:ea typeface="Microsoft JhengHei" panose="020B0604030504040204" pitchFamily="34" charset="-120"/>
                        </a:rPr>
                        <a:t>(optional)</a:t>
                      </a:r>
                      <a:endParaRPr lang="zh-TW" altLang="en-US" sz="2400" dirty="0">
                        <a:latin typeface="Microsoft JhengHei" panose="020B0604030504040204" pitchFamily="34" charset="-120"/>
                        <a:ea typeface="Microsoft JhengHei" panose="020B0604030504040204" pitchFamily="34" charset="-120"/>
                      </a:endParaRPr>
                    </a:p>
                  </a:txBody>
                  <a:tcPr/>
                </a:tc>
                <a:tc>
                  <a:txBody>
                    <a:bodyPr/>
                    <a:lstStyle/>
                    <a:p>
                      <a:r>
                        <a:rPr lang="en-US" altLang="zh-TW" sz="2400" dirty="0">
                          <a:latin typeface="Microsoft JhengHei" panose="020B0604030504040204" pitchFamily="34" charset="-120"/>
                          <a:ea typeface="Microsoft JhengHei" panose="020B0604030504040204" pitchFamily="34" charset="-120"/>
                        </a:rPr>
                        <a:t>“</a:t>
                      </a:r>
                      <a:r>
                        <a:rPr lang="zh-TW" altLang="en-US" sz="2400" dirty="0">
                          <a:latin typeface="Microsoft JhengHei" panose="020B0604030504040204" pitchFamily="34" charset="-120"/>
                          <a:ea typeface="Microsoft JhengHei" panose="020B0604030504040204" pitchFamily="34" charset="-120"/>
                        </a:rPr>
                        <a:t>開頭先道歉，然後說明遲到理由 </a:t>
                      </a:r>
                      <a:r>
                        <a:rPr lang="en-US" altLang="zh-TW" sz="2400" dirty="0">
                          <a:latin typeface="Microsoft JhengHei" panose="020B0604030504040204" pitchFamily="34" charset="-120"/>
                          <a:ea typeface="Microsoft JhengHei" panose="020B0604030504040204" pitchFamily="34" charset="-120"/>
                        </a:rPr>
                        <a:t>(</a:t>
                      </a:r>
                      <a:r>
                        <a:rPr lang="zh-TW" altLang="en-US" sz="2400" dirty="0">
                          <a:latin typeface="Microsoft JhengHei" panose="020B0604030504040204" pitchFamily="34" charset="-120"/>
                          <a:ea typeface="Microsoft JhengHei" panose="020B0604030504040204" pitchFamily="34" charset="-120"/>
                        </a:rPr>
                        <a:t>因為身體不適</a:t>
                      </a:r>
                      <a:r>
                        <a:rPr lang="en-US" altLang="zh-TW" sz="2400" dirty="0">
                          <a:latin typeface="Microsoft JhengHei" panose="020B0604030504040204" pitchFamily="34" charset="-120"/>
                          <a:ea typeface="Microsoft JhengHei" panose="020B0604030504040204" pitchFamily="34" charset="-120"/>
                        </a:rPr>
                        <a:t>)</a:t>
                      </a:r>
                      <a:r>
                        <a:rPr lang="zh-TW" altLang="en-US" sz="2400" dirty="0">
                          <a:latin typeface="Microsoft JhengHei" panose="020B0604030504040204" pitchFamily="34" charset="-120"/>
                          <a:ea typeface="Microsoft JhengHei" panose="020B0604030504040204" pitchFamily="34" charset="-120"/>
                        </a:rPr>
                        <a:t>，最後說之後再找時間跟老師更新進度</a:t>
                      </a:r>
                      <a:r>
                        <a:rPr lang="en-US" altLang="zh-TW" sz="2400" dirty="0">
                          <a:latin typeface="Microsoft JhengHei" panose="020B0604030504040204" pitchFamily="34" charset="-120"/>
                          <a:ea typeface="Microsoft JhengHei" panose="020B0604030504040204" pitchFamily="34" charset="-120"/>
                        </a:rPr>
                        <a:t>”</a:t>
                      </a:r>
                      <a:endParaRPr lang="zh-TW" altLang="en-US" sz="2400" dirty="0">
                        <a:latin typeface="Microsoft JhengHei" panose="020B0604030504040204" pitchFamily="34" charset="-120"/>
                        <a:ea typeface="Microsoft JhengHei" panose="020B0604030504040204" pitchFamily="34" charset="-120"/>
                      </a:endParaRPr>
                    </a:p>
                  </a:txBody>
                  <a:tcPr/>
                </a:tc>
              </a:tr>
              <a:tr h="370840">
                <a:tc>
                  <a:txBody>
                    <a:bodyPr/>
                    <a:lstStyle/>
                    <a:p>
                      <a:r>
                        <a:rPr lang="zh-TW" altLang="en-US" sz="2400" dirty="0">
                          <a:latin typeface="Microsoft JhengHei" panose="020B0604030504040204" pitchFamily="34" charset="-120"/>
                          <a:ea typeface="Microsoft JhengHei" panose="020B0604030504040204" pitchFamily="34" charset="-120"/>
                        </a:rPr>
                        <a:t>額外條件</a:t>
                      </a:r>
                      <a:endParaRPr lang="zh-TW" altLang="en-US" sz="2400" dirty="0">
                        <a:latin typeface="Microsoft JhengHei" panose="020B0604030504040204" pitchFamily="34" charset="-120"/>
                        <a:ea typeface="Microsoft JhengHei" panose="020B0604030504040204" pitchFamily="34" charset="-120"/>
                      </a:endParaRPr>
                    </a:p>
                  </a:txBody>
                  <a:tcPr/>
                </a:tc>
                <a:tc>
                  <a:txBody>
                    <a:bodyPr/>
                    <a:lstStyle/>
                    <a:p>
                      <a:r>
                        <a:rPr lang="en-US" altLang="zh-TW" sz="2400" dirty="0">
                          <a:latin typeface="Microsoft JhengHei" panose="020B0604030504040204" pitchFamily="34" charset="-120"/>
                          <a:ea typeface="Microsoft JhengHei" panose="020B0604030504040204" pitchFamily="34" charset="-120"/>
                        </a:rPr>
                        <a:t>“100 </a:t>
                      </a:r>
                      <a:r>
                        <a:rPr lang="zh-TW" altLang="en-US" sz="2400" dirty="0">
                          <a:latin typeface="Microsoft JhengHei" panose="020B0604030504040204" pitchFamily="34" charset="-120"/>
                          <a:ea typeface="Microsoft JhengHei" panose="020B0604030504040204" pitchFamily="34" charset="-120"/>
                        </a:rPr>
                        <a:t>字以內</a:t>
                      </a:r>
                      <a:r>
                        <a:rPr lang="en-US" altLang="zh-TW" sz="2400" dirty="0">
                          <a:latin typeface="Microsoft JhengHei" panose="020B0604030504040204" pitchFamily="34" charset="-120"/>
                          <a:ea typeface="Microsoft JhengHei" panose="020B0604030504040204" pitchFamily="34" charset="-120"/>
                        </a:rPr>
                        <a:t>”</a:t>
                      </a:r>
                      <a:endParaRPr lang="zh-TW" altLang="en-US" sz="2400" dirty="0">
                        <a:latin typeface="Microsoft JhengHei" panose="020B0604030504040204" pitchFamily="34" charset="-120"/>
                        <a:ea typeface="Microsoft JhengHei" panose="020B0604030504040204" pitchFamily="34" charset="-120"/>
                      </a:endParaRPr>
                    </a:p>
                  </a:txBody>
                  <a:tcPr/>
                </a:tc>
              </a:tr>
              <a:tr h="370840">
                <a:tc>
                  <a:txBody>
                    <a:bodyPr/>
                    <a:lstStyle/>
                    <a:p>
                      <a:r>
                        <a:rPr lang="zh-TW" altLang="en-US" sz="2400" dirty="0">
                          <a:latin typeface="Microsoft JhengHei" panose="020B0604030504040204" pitchFamily="34" charset="-120"/>
                          <a:ea typeface="Microsoft JhengHei" panose="020B0604030504040204" pitchFamily="34" charset="-120"/>
                        </a:rPr>
                        <a:t>輸出風格</a:t>
                      </a:r>
                      <a:endParaRPr lang="zh-TW" altLang="en-US" sz="2400" dirty="0">
                        <a:latin typeface="Microsoft JhengHei" panose="020B0604030504040204" pitchFamily="34" charset="-120"/>
                        <a:ea typeface="Microsoft JhengHei" panose="020B0604030504040204" pitchFamily="34" charset="-120"/>
                      </a:endParaRPr>
                    </a:p>
                  </a:txBody>
                  <a:tcPr/>
                </a:tc>
                <a:tc>
                  <a:txBody>
                    <a:bodyPr/>
                    <a:lstStyle/>
                    <a:p>
                      <a:r>
                        <a:rPr lang="en-US" altLang="zh-TW" sz="2400" dirty="0">
                          <a:latin typeface="Microsoft JhengHei" panose="020B0604030504040204" pitchFamily="34" charset="-120"/>
                          <a:ea typeface="Microsoft JhengHei" panose="020B0604030504040204" pitchFamily="34" charset="-120"/>
                        </a:rPr>
                        <a:t>“</a:t>
                      </a:r>
                      <a:r>
                        <a:rPr lang="zh-TW" altLang="en-US" sz="2400" dirty="0">
                          <a:latin typeface="Microsoft JhengHei" panose="020B0604030504040204" pitchFamily="34" charset="-120"/>
                          <a:ea typeface="Microsoft JhengHei" panose="020B0604030504040204" pitchFamily="34" charset="-120"/>
                        </a:rPr>
                        <a:t>非常嚴肅</a:t>
                      </a:r>
                      <a:r>
                        <a:rPr lang="en-US" altLang="zh-TW" sz="2400" dirty="0">
                          <a:latin typeface="Microsoft JhengHei" panose="020B0604030504040204" pitchFamily="34" charset="-120"/>
                          <a:ea typeface="Microsoft JhengHei" panose="020B0604030504040204" pitchFamily="34" charset="-120"/>
                        </a:rPr>
                        <a:t>”</a:t>
                      </a:r>
                      <a:endParaRPr lang="zh-TW" altLang="en-US" sz="2400" dirty="0">
                        <a:latin typeface="Microsoft JhengHei" panose="020B0604030504040204" pitchFamily="34" charset="-120"/>
                        <a:ea typeface="Microsoft JhengHei" panose="020B0604030504040204" pitchFamily="34" charset="-120"/>
                      </a:endParaRPr>
                    </a:p>
                  </a:txBody>
                  <a:tcPr/>
                </a:tc>
              </a:tr>
            </a:tbl>
          </a:graphicData>
        </a:graphic>
      </p:graphicFrame>
      <p:sp>
        <p:nvSpPr>
          <p:cNvPr id="5" name="文字方塊 4"/>
          <p:cNvSpPr txBox="1"/>
          <p:nvPr/>
        </p:nvSpPr>
        <p:spPr>
          <a:xfrm>
            <a:off x="1451428" y="5384800"/>
            <a:ext cx="9289143" cy="461665"/>
          </a:xfrm>
          <a:prstGeom prst="rect">
            <a:avLst/>
          </a:prstGeom>
          <a:noFill/>
        </p:spPr>
        <p:txBody>
          <a:bodyPr wrap="square" rtlCol="0">
            <a:spAutoFit/>
          </a:bodyPr>
          <a:lstStyle/>
          <a:p>
            <a:pPr algn="ctr"/>
            <a:r>
              <a:rPr lang="zh-TW" altLang="en-US" sz="2400" b="1" dirty="0">
                <a:latin typeface="Microsoft JhengHei" panose="020B0604030504040204" pitchFamily="34" charset="-120"/>
                <a:ea typeface="Microsoft JhengHei" panose="020B0604030504040204" pitchFamily="34" charset="-120"/>
              </a:rPr>
              <a:t>請注意：語言模型不會讀心術</a:t>
            </a:r>
            <a:endParaRPr lang="zh-TW" altLang="en-US" sz="2400" b="1" dirty="0">
              <a:latin typeface="Microsoft JhengHei" panose="020B0604030504040204" pitchFamily="34" charset="-120"/>
              <a:ea typeface="Microsoft JhengHei" panose="020B0604030504040204" pitchFamily="34" charset="-120"/>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圖片 14" descr="一張含有 文字, 螢幕擷取畫面, 字型, 數字 的圖片&#10;&#10;自動產生的描述"/>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78693" y="1470561"/>
            <a:ext cx="8687347" cy="4077970"/>
          </a:xfrm>
          <a:prstGeom prst="rect">
            <a:avLst/>
          </a:prstGeom>
        </p:spPr>
      </p:pic>
      <p:sp>
        <p:nvSpPr>
          <p:cNvPr id="2" name="標題 1"/>
          <p:cNvSpPr>
            <a:spLocks noGrp="1"/>
          </p:cNvSpPr>
          <p:nvPr>
            <p:ph type="title"/>
          </p:nvPr>
        </p:nvSpPr>
        <p:spPr/>
        <p:txBody>
          <a:bodyPr/>
          <a:lstStyle/>
          <a:p>
            <a:r>
              <a:rPr lang="en-US" altLang="zh-TW" dirty="0"/>
              <a:t>User Prompt:</a:t>
            </a:r>
            <a:r>
              <a:rPr lang="zh-TW" altLang="en-US" dirty="0"/>
              <a:t> </a:t>
            </a:r>
            <a:r>
              <a:rPr lang="zh-TW" altLang="en-US" dirty="0">
                <a:latin typeface="Microsoft JhengHei" panose="020B0604030504040204" pitchFamily="34" charset="-120"/>
                <a:ea typeface="Microsoft JhengHei" panose="020B0604030504040204" pitchFamily="34" charset="-120"/>
              </a:rPr>
              <a:t>提供前提</a:t>
            </a:r>
            <a:endParaRPr lang="zh-TW" altLang="en-US" dirty="0">
              <a:latin typeface="Microsoft JhengHei" panose="020B0604030504040204" pitchFamily="34" charset="-120"/>
              <a:ea typeface="Microsoft JhengHei" panose="020B0604030504040204" pitchFamily="34" charset="-120"/>
            </a:endParaRPr>
          </a:p>
        </p:txBody>
      </p:sp>
      <p:pic>
        <p:nvPicPr>
          <p:cNvPr id="2050" name="Picture 2" descr="發票載具-手機載具"/>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34722" y="526102"/>
            <a:ext cx="3159893" cy="2676091"/>
          </a:xfrm>
          <a:prstGeom prst="rect">
            <a:avLst/>
          </a:prstGeom>
          <a:noFill/>
          <a:extLst>
            <a:ext uri="{909E8E84-426E-40DD-AFC4-6F175D3DCCD1}">
              <a14:hiddenFill xmlns:a14="http://schemas.microsoft.com/office/drawing/2010/main">
                <a:solidFill>
                  <a:srgbClr val="FFFFFF"/>
                </a:solidFill>
              </a14:hiddenFill>
            </a:ext>
          </a:extLst>
        </p:spPr>
      </p:pic>
      <p:sp>
        <p:nvSpPr>
          <p:cNvPr id="7" name="文字方塊 6"/>
          <p:cNvSpPr txBox="1"/>
          <p:nvPr/>
        </p:nvSpPr>
        <p:spPr>
          <a:xfrm>
            <a:off x="8964320" y="156770"/>
            <a:ext cx="276839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https://www.cinvoice.tw/</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pic>
        <p:nvPicPr>
          <p:cNvPr id="21" name="圖片 20" descr="一張含有 文字, 螢幕擷取畫面, 字型, 數字 的圖片&#10;&#10;自動產生的描述"/>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8179" y="3270877"/>
            <a:ext cx="9125128" cy="4195024"/>
          </a:xfrm>
          <a:prstGeom prst="rect">
            <a:avLst/>
          </a:prstGeom>
        </p:spPr>
      </p:pic>
      <p:cxnSp>
        <p:nvCxnSpPr>
          <p:cNvPr id="32" name="直線接點 31"/>
          <p:cNvCxnSpPr/>
          <p:nvPr/>
        </p:nvCxnSpPr>
        <p:spPr>
          <a:xfrm>
            <a:off x="5917307" y="3642560"/>
            <a:ext cx="242483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直線接點 35"/>
          <p:cNvCxnSpPr/>
          <p:nvPr/>
        </p:nvCxnSpPr>
        <p:spPr>
          <a:xfrm>
            <a:off x="3896192" y="5790675"/>
            <a:ext cx="404222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內容版面配置區 4" descr="一張含有 水, 戶外, 湖泊, 鳥類 的圖片&#10;&#10;自動產生的描述"/>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7145175" y="365125"/>
            <a:ext cx="4665825" cy="6217053"/>
          </a:xfrm>
        </p:spPr>
      </p:pic>
      <p:pic>
        <p:nvPicPr>
          <p:cNvPr id="7" name="圖片 6"/>
          <p:cNvPicPr>
            <a:picLocks noChangeAspect="1"/>
          </p:cNvPicPr>
          <p:nvPr/>
        </p:nvPicPr>
        <p:blipFill>
          <a:blip r:embed="rId2"/>
          <a:stretch>
            <a:fillRect/>
          </a:stretch>
        </p:blipFill>
        <p:spPr>
          <a:xfrm>
            <a:off x="1181100" y="774102"/>
            <a:ext cx="8837780" cy="2521548"/>
          </a:xfrm>
          <a:prstGeom prst="rect">
            <a:avLst/>
          </a:prstGeom>
        </p:spPr>
      </p:pic>
      <p:pic>
        <p:nvPicPr>
          <p:cNvPr id="9" name="圖片 8"/>
          <p:cNvPicPr>
            <a:picLocks noChangeAspect="1"/>
          </p:cNvPicPr>
          <p:nvPr/>
        </p:nvPicPr>
        <p:blipFill>
          <a:blip r:embed="rId3"/>
          <a:stretch>
            <a:fillRect/>
          </a:stretch>
        </p:blipFill>
        <p:spPr>
          <a:xfrm>
            <a:off x="1181100" y="3473651"/>
            <a:ext cx="8837780" cy="3284728"/>
          </a:xfrm>
          <a:prstGeom prst="rect">
            <a:avLst/>
          </a:prstGeom>
        </p:spPr>
      </p:pic>
      <p:sp>
        <p:nvSpPr>
          <p:cNvPr id="2" name="標題 1"/>
          <p:cNvSpPr>
            <a:spLocks noGrp="1"/>
          </p:cNvSpPr>
          <p:nvPr>
            <p:ph type="title"/>
          </p:nvPr>
        </p:nvSpPr>
        <p:spPr/>
        <p:txBody>
          <a:bodyPr/>
          <a:lstStyle/>
          <a:p>
            <a:r>
              <a:rPr lang="en-US" altLang="zh-TW" dirty="0"/>
              <a:t>User Prompt:</a:t>
            </a:r>
            <a:r>
              <a:rPr lang="zh-TW" altLang="en-US" dirty="0">
                <a:latin typeface="Microsoft JhengHei" panose="020B0604030504040204" pitchFamily="34" charset="-120"/>
                <a:ea typeface="Microsoft JhengHei" panose="020B0604030504040204" pitchFamily="34" charset="-120"/>
              </a:rPr>
              <a:t>提供前提</a:t>
            </a:r>
            <a:endParaRPr lang="zh-TW" altLang="en-US" dirty="0"/>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User Prompt:</a:t>
            </a:r>
            <a:r>
              <a:rPr lang="zh-TW" altLang="en-US" dirty="0"/>
              <a:t> </a:t>
            </a:r>
            <a:r>
              <a:rPr lang="zh-TW" altLang="en-US" dirty="0">
                <a:latin typeface="Microsoft JhengHei" panose="020B0604030504040204" pitchFamily="34" charset="-120"/>
                <a:ea typeface="Microsoft JhengHei" panose="020B0604030504040204" pitchFamily="34" charset="-120"/>
              </a:rPr>
              <a:t>給範例</a:t>
            </a:r>
            <a:r>
              <a:rPr lang="en-US" altLang="zh-TW" dirty="0">
                <a:latin typeface="Microsoft JhengHei" panose="020B0604030504040204" pitchFamily="34" charset="-120"/>
                <a:ea typeface="Microsoft JhengHei" panose="020B0604030504040204" pitchFamily="34" charset="-120"/>
              </a:rPr>
              <a:t> </a:t>
            </a:r>
            <a:endParaRPr lang="zh-TW" altLang="en-US" dirty="0">
              <a:latin typeface="Microsoft JhengHei" panose="020B0604030504040204" pitchFamily="34" charset="-120"/>
              <a:ea typeface="Microsoft JhengHei" panose="020B0604030504040204" pitchFamily="34" charset="-120"/>
            </a:endParaRPr>
          </a:p>
        </p:txBody>
      </p:sp>
      <p:pic>
        <p:nvPicPr>
          <p:cNvPr id="19" name="圖片 18"/>
          <p:cNvPicPr>
            <a:picLocks noChangeAspect="1"/>
          </p:cNvPicPr>
          <p:nvPr/>
        </p:nvPicPr>
        <p:blipFill>
          <a:blip r:embed="rId1"/>
          <a:stretch>
            <a:fillRect/>
          </a:stretch>
        </p:blipFill>
        <p:spPr>
          <a:xfrm>
            <a:off x="4228220" y="1373957"/>
            <a:ext cx="7537393" cy="3144342"/>
          </a:xfrm>
          <a:prstGeom prst="rect">
            <a:avLst/>
          </a:prstGeom>
        </p:spPr>
      </p:pic>
      <p:pic>
        <p:nvPicPr>
          <p:cNvPr id="22" name="圖片 21"/>
          <p:cNvPicPr>
            <a:picLocks noChangeAspect="1"/>
          </p:cNvPicPr>
          <p:nvPr/>
        </p:nvPicPr>
        <p:blipFill>
          <a:blip r:embed="rId2"/>
          <a:stretch>
            <a:fillRect/>
          </a:stretch>
        </p:blipFill>
        <p:spPr>
          <a:xfrm>
            <a:off x="553064" y="4518299"/>
            <a:ext cx="11212549" cy="214741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User Prompt:</a:t>
            </a:r>
            <a:r>
              <a:rPr lang="zh-TW" altLang="en-US" dirty="0"/>
              <a:t> </a:t>
            </a:r>
            <a:r>
              <a:rPr lang="zh-TW" altLang="en-US" dirty="0">
                <a:latin typeface="Microsoft JhengHei" panose="020B0604030504040204" pitchFamily="34" charset="-120"/>
                <a:ea typeface="Microsoft JhengHei" panose="020B0604030504040204" pitchFamily="34" charset="-120"/>
              </a:rPr>
              <a:t>給範例</a:t>
            </a:r>
            <a:r>
              <a:rPr lang="en-US" altLang="zh-TW" dirty="0">
                <a:latin typeface="Microsoft JhengHei" panose="020B0604030504040204" pitchFamily="34" charset="-120"/>
                <a:ea typeface="Microsoft JhengHei" panose="020B0604030504040204" pitchFamily="34" charset="-120"/>
              </a:rPr>
              <a:t> </a:t>
            </a:r>
            <a:endParaRPr lang="zh-TW" altLang="en-US" dirty="0"/>
          </a:p>
        </p:txBody>
      </p:sp>
      <p:pic>
        <p:nvPicPr>
          <p:cNvPr id="4" name="圖片 3"/>
          <p:cNvPicPr>
            <a:picLocks noChangeAspect="1"/>
          </p:cNvPicPr>
          <p:nvPr/>
        </p:nvPicPr>
        <p:blipFill>
          <a:blip r:embed="rId1"/>
          <a:stretch>
            <a:fillRect/>
          </a:stretch>
        </p:blipFill>
        <p:spPr>
          <a:xfrm>
            <a:off x="4232195" y="1406748"/>
            <a:ext cx="7406741" cy="4323059"/>
          </a:xfrm>
          <a:prstGeom prst="rect">
            <a:avLst/>
          </a:prstGeom>
        </p:spPr>
      </p:pic>
      <p:pic>
        <p:nvPicPr>
          <p:cNvPr id="6" name="圖片 5"/>
          <p:cNvPicPr>
            <a:picLocks noChangeAspect="1"/>
          </p:cNvPicPr>
          <p:nvPr/>
        </p:nvPicPr>
        <p:blipFill>
          <a:blip r:embed="rId2"/>
          <a:stretch>
            <a:fillRect/>
          </a:stretch>
        </p:blipFill>
        <p:spPr>
          <a:xfrm>
            <a:off x="553064" y="4498908"/>
            <a:ext cx="11037267" cy="2108745"/>
          </a:xfrm>
          <a:prstGeom prst="rect">
            <a:avLst/>
          </a:prstGeom>
        </p:spPr>
      </p:pic>
      <p:sp>
        <p:nvSpPr>
          <p:cNvPr id="5" name="文字方塊 4"/>
          <p:cNvSpPr txBox="1"/>
          <p:nvPr/>
        </p:nvSpPr>
        <p:spPr>
          <a:xfrm>
            <a:off x="257869" y="2509670"/>
            <a:ext cx="3910462" cy="461665"/>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舉例說明</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8" name="矩形: 圓角 7"/>
          <p:cNvSpPr/>
          <p:nvPr/>
        </p:nvSpPr>
        <p:spPr>
          <a:xfrm>
            <a:off x="4453467" y="2261810"/>
            <a:ext cx="6900333" cy="957386"/>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User Prompt:</a:t>
            </a:r>
            <a:r>
              <a:rPr lang="zh-TW" altLang="en-US" dirty="0"/>
              <a:t> </a:t>
            </a:r>
            <a:r>
              <a:rPr lang="zh-TW" altLang="en-US" dirty="0">
                <a:latin typeface="Microsoft JhengHei" panose="020B0604030504040204" pitchFamily="34" charset="-120"/>
                <a:ea typeface="Microsoft JhengHei" panose="020B0604030504040204" pitchFamily="34" charset="-120"/>
              </a:rPr>
              <a:t>給範例</a:t>
            </a:r>
            <a:r>
              <a:rPr lang="en-US" altLang="zh-TW" dirty="0">
                <a:latin typeface="Microsoft JhengHei" panose="020B0604030504040204" pitchFamily="34" charset="-120"/>
                <a:ea typeface="Microsoft JhengHei" panose="020B0604030504040204" pitchFamily="34" charset="-120"/>
              </a:rPr>
              <a:t> </a:t>
            </a:r>
            <a:endParaRPr lang="zh-TW" altLang="en-US" dirty="0"/>
          </a:p>
        </p:txBody>
      </p:sp>
      <p:sp>
        <p:nvSpPr>
          <p:cNvPr id="3" name="內容版面配置區 2"/>
          <p:cNvSpPr>
            <a:spLocks noGrp="1"/>
          </p:cNvSpPr>
          <p:nvPr>
            <p:ph idx="1"/>
          </p:nvPr>
        </p:nvSpPr>
        <p:spPr/>
        <p:txBody>
          <a:bodyPr/>
          <a:lstStyle/>
          <a:p>
            <a:r>
              <a:rPr lang="en-US" altLang="zh-TW" dirty="0"/>
              <a:t>GPT-3</a:t>
            </a:r>
            <a:endParaRPr lang="zh-TW" altLang="en-US" dirty="0"/>
          </a:p>
        </p:txBody>
      </p:sp>
      <p:sp>
        <p:nvSpPr>
          <p:cNvPr id="5" name="文字方塊 4"/>
          <p:cNvSpPr txBox="1"/>
          <p:nvPr/>
        </p:nvSpPr>
        <p:spPr>
          <a:xfrm>
            <a:off x="996593" y="2222628"/>
            <a:ext cx="2152650" cy="646331"/>
          </a:xfrm>
          <a:prstGeom prst="rect">
            <a:avLst/>
          </a:prstGeom>
          <a:noFill/>
        </p:spPr>
        <p:txBody>
          <a:bodyPr wrap="square">
            <a:spAutoFit/>
          </a:bodyPr>
          <a:lstStyle/>
          <a:p>
            <a:r>
              <a:rPr lang="zh-TW" altLang="en-US" dirty="0"/>
              <a:t>https://arxiv.org/abs/2005.14165</a:t>
            </a:r>
            <a:endParaRPr lang="zh-TW" altLang="en-US" dirty="0"/>
          </a:p>
        </p:txBody>
      </p:sp>
      <p:pic>
        <p:nvPicPr>
          <p:cNvPr id="7" name="圖片 6"/>
          <p:cNvPicPr>
            <a:picLocks noChangeAspect="1"/>
          </p:cNvPicPr>
          <p:nvPr/>
        </p:nvPicPr>
        <p:blipFill>
          <a:blip r:embed="rId1"/>
          <a:stretch>
            <a:fillRect/>
          </a:stretch>
        </p:blipFill>
        <p:spPr>
          <a:xfrm>
            <a:off x="3829694" y="3045268"/>
            <a:ext cx="8102826" cy="3552643"/>
          </a:xfrm>
          <a:prstGeom prst="rect">
            <a:avLst/>
          </a:prstGeom>
        </p:spPr>
      </p:pic>
      <p:pic>
        <p:nvPicPr>
          <p:cNvPr id="9" name="圖片 8"/>
          <p:cNvPicPr>
            <a:picLocks noChangeAspect="1"/>
          </p:cNvPicPr>
          <p:nvPr/>
        </p:nvPicPr>
        <p:blipFill>
          <a:blip r:embed="rId2"/>
          <a:stretch>
            <a:fillRect/>
          </a:stretch>
        </p:blipFill>
        <p:spPr>
          <a:xfrm>
            <a:off x="3829694" y="1346163"/>
            <a:ext cx="8102826" cy="1752929"/>
          </a:xfrm>
          <a:prstGeom prst="rect">
            <a:avLst/>
          </a:prstGeom>
        </p:spPr>
      </p:pic>
      <p:sp>
        <p:nvSpPr>
          <p:cNvPr id="4" name="文字方塊 3"/>
          <p:cNvSpPr txBox="1"/>
          <p:nvPr/>
        </p:nvSpPr>
        <p:spPr>
          <a:xfrm>
            <a:off x="996593" y="4001294"/>
            <a:ext cx="2254382" cy="107721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3200" b="1" i="0" u="sng"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In-context “Learning”</a:t>
            </a:r>
            <a:endParaRPr kumimoji="0" lang="zh-TW" altLang="en-US" sz="3200" b="1" i="0" u="sng"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6" name="文字方塊 5"/>
          <p:cNvSpPr txBox="1"/>
          <p:nvPr/>
        </p:nvSpPr>
        <p:spPr>
          <a:xfrm>
            <a:off x="996593" y="5166151"/>
            <a:ext cx="1828800" cy="830997"/>
          </a:xfrm>
          <a:prstGeom prst="rect">
            <a:avLst/>
          </a:prstGeom>
          <a:noFill/>
        </p:spPr>
        <p:txBody>
          <a:bodyPr wrap="square" rtlCol="0">
            <a:spAutoFit/>
          </a:bodyPr>
          <a:lstStyle/>
          <a:p>
            <a:r>
              <a:rPr lang="en-US" altLang="zh-TW" sz="2400" dirty="0">
                <a:latin typeface="Microsoft JhengHei" panose="020B0604030504040204" pitchFamily="34" charset="-120"/>
                <a:ea typeface="Microsoft JhengHei" panose="020B0604030504040204" pitchFamily="34" charset="-120"/>
              </a:rPr>
              <a:t>(</a:t>
            </a:r>
            <a:r>
              <a:rPr lang="zh-TW" altLang="en-US" sz="2400" dirty="0">
                <a:latin typeface="Microsoft JhengHei" panose="020B0604030504040204" pitchFamily="34" charset="-120"/>
                <a:ea typeface="Microsoft JhengHei" panose="020B0604030504040204" pitchFamily="34" charset="-120"/>
              </a:rPr>
              <a:t>模型參數並沒有被改變</a:t>
            </a:r>
            <a:r>
              <a:rPr lang="en-US" altLang="zh-TW" sz="2400" dirty="0">
                <a:latin typeface="Microsoft JhengHei" panose="020B0604030504040204" pitchFamily="34" charset="-120"/>
                <a:ea typeface="Microsoft JhengHei" panose="020B0604030504040204" pitchFamily="34" charset="-120"/>
              </a:rPr>
              <a:t>)</a:t>
            </a:r>
            <a:endParaRPr lang="zh-TW" altLang="en-US" sz="2400" dirty="0">
              <a:latin typeface="Microsoft JhengHei" panose="020B0604030504040204" pitchFamily="34" charset="-120"/>
              <a:ea typeface="Microsoft JhengHei" panose="020B0604030504040204" pitchFamily="34" charset="-120"/>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p:cNvSpPr txBox="1"/>
          <p:nvPr/>
        </p:nvSpPr>
        <p:spPr>
          <a:xfrm>
            <a:off x="-475482" y="6358894"/>
            <a:ext cx="11963400" cy="369332"/>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Tx/>
              <a:buSzTx/>
              <a:buFontTx/>
              <a:buNone/>
              <a:defRPr/>
            </a:pP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https://storage.googleapis.com/deepmind-media/gemini/gemini_v1_5_report.pdf</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pic>
        <p:nvPicPr>
          <p:cNvPr id="7" name="圖片 6"/>
          <p:cNvPicPr>
            <a:picLocks noChangeAspect="1"/>
          </p:cNvPicPr>
          <p:nvPr/>
        </p:nvPicPr>
        <p:blipFill>
          <a:blip r:embed="rId1"/>
          <a:stretch>
            <a:fillRect/>
          </a:stretch>
        </p:blipFill>
        <p:spPr>
          <a:xfrm>
            <a:off x="-53787" y="1434812"/>
            <a:ext cx="6992763" cy="4367453"/>
          </a:xfrm>
          <a:prstGeom prst="rect">
            <a:avLst/>
          </a:prstGeom>
        </p:spPr>
      </p:pic>
      <p:pic>
        <p:nvPicPr>
          <p:cNvPr id="9" name="圖片 8"/>
          <p:cNvPicPr>
            <a:picLocks noChangeAspect="1"/>
          </p:cNvPicPr>
          <p:nvPr/>
        </p:nvPicPr>
        <p:blipFill>
          <a:blip r:embed="rId2"/>
          <a:stretch>
            <a:fillRect/>
          </a:stretch>
        </p:blipFill>
        <p:spPr>
          <a:xfrm>
            <a:off x="9070910" y="1786216"/>
            <a:ext cx="3121090" cy="3646422"/>
          </a:xfrm>
          <a:prstGeom prst="rect">
            <a:avLst/>
          </a:prstGeom>
        </p:spPr>
      </p:pic>
      <p:sp>
        <p:nvSpPr>
          <p:cNvPr id="11" name="文字方塊 10"/>
          <p:cNvSpPr txBox="1"/>
          <p:nvPr/>
        </p:nvSpPr>
        <p:spPr>
          <a:xfrm>
            <a:off x="271463" y="365125"/>
            <a:ext cx="6334124"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3200" b="1" i="0" u="sng"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Gemini</a:t>
            </a:r>
            <a:r>
              <a:rPr kumimoji="0" lang="zh-TW" altLang="en-US" sz="3200" b="1" i="0" u="sng"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a:t>
            </a:r>
            <a:r>
              <a:rPr kumimoji="0" lang="en-US" altLang="zh-TW" sz="3200" b="1" i="0" u="sng"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1.5 In-context Learning</a:t>
            </a:r>
            <a:endParaRPr kumimoji="0" lang="zh-TW" altLang="en-US" sz="3200" b="1" i="0" u="sng"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12" name="矩形: 圓角 11"/>
          <p:cNvSpPr/>
          <p:nvPr/>
        </p:nvSpPr>
        <p:spPr>
          <a:xfrm>
            <a:off x="7336495" y="3025236"/>
            <a:ext cx="1226241" cy="1362829"/>
          </a:xfrm>
          <a:prstGeom prst="roundRect">
            <a:avLst/>
          </a:prstGeom>
          <a:solidFill>
            <a:schemeClr val="accent1">
              <a:lumMod val="20000"/>
              <a:lumOff val="80000"/>
            </a:schemeClr>
          </a:solidFill>
          <a:ln w="57150">
            <a:solidFill>
              <a:schemeClr val="tx1"/>
            </a:solidFill>
          </a:ln>
        </p:spPr>
        <p:style>
          <a:lnRef idx="1">
            <a:schemeClr val="accent3"/>
          </a:lnRef>
          <a:fillRef idx="2">
            <a:schemeClr val="accent3"/>
          </a:fillRef>
          <a:effectRef idx="1">
            <a:schemeClr val="accent3"/>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語言</a:t>
            </a:r>
            <a:endPar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ctr" defTabSz="4572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模型</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cxnSp>
        <p:nvCxnSpPr>
          <p:cNvPr id="13" name="直線單箭頭接點 12"/>
          <p:cNvCxnSpPr/>
          <p:nvPr/>
        </p:nvCxnSpPr>
        <p:spPr>
          <a:xfrm>
            <a:off x="6828321" y="3738800"/>
            <a:ext cx="508174"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線單箭頭接點 16"/>
          <p:cNvCxnSpPr/>
          <p:nvPr/>
        </p:nvCxnSpPr>
        <p:spPr>
          <a:xfrm>
            <a:off x="8562736" y="3706650"/>
            <a:ext cx="508174"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17"/>
          <p:cNvSpPr/>
          <p:nvPr/>
        </p:nvSpPr>
        <p:spPr>
          <a:xfrm>
            <a:off x="-699247" y="1201271"/>
            <a:ext cx="4159623" cy="515762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
        <p:nvSpPr>
          <p:cNvPr id="19" name="文字方塊 18"/>
          <p:cNvSpPr txBox="1"/>
          <p:nvPr/>
        </p:nvSpPr>
        <p:spPr>
          <a:xfrm>
            <a:off x="9164609" y="3495119"/>
            <a:ext cx="1466846"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2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a:t>
            </a:r>
            <a:endParaRPr kumimoji="0" lang="zh-TW" altLang="en-US" sz="2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19"/>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8" grpId="0" animBg="1"/>
      <p:bldP spid="19" grpId="0"/>
      <p:bldP spid="19" grpId="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endParaRPr lang="zh-TW" altLang="en-US" dirty="0"/>
          </a:p>
        </p:txBody>
      </p:sp>
      <p:pic>
        <p:nvPicPr>
          <p:cNvPr id="5" name="圖片 4"/>
          <p:cNvPicPr>
            <a:picLocks noChangeAspect="1"/>
          </p:cNvPicPr>
          <p:nvPr/>
        </p:nvPicPr>
        <p:blipFill>
          <a:blip r:embed="rId1"/>
          <a:stretch>
            <a:fillRect/>
          </a:stretch>
        </p:blipFill>
        <p:spPr>
          <a:xfrm>
            <a:off x="328657" y="1406360"/>
            <a:ext cx="11510317" cy="4097969"/>
          </a:xfrm>
          <a:prstGeom prst="rect">
            <a:avLst/>
          </a:prstGeom>
        </p:spPr>
      </p:pic>
      <p:sp>
        <p:nvSpPr>
          <p:cNvPr id="6" name="文字方塊 5"/>
          <p:cNvSpPr txBox="1"/>
          <p:nvPr/>
        </p:nvSpPr>
        <p:spPr>
          <a:xfrm>
            <a:off x="-124426" y="947331"/>
            <a:ext cx="11963400" cy="369332"/>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Tx/>
              <a:buSzTx/>
              <a:buFontTx/>
              <a:buNone/>
              <a:defRPr/>
            </a:pP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https://storage.googleapis.com/deepmind-media/gemini/gemini_v1_5_report.pdf</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7" name="文字方塊 6"/>
          <p:cNvSpPr txBox="1"/>
          <p:nvPr/>
        </p:nvSpPr>
        <p:spPr>
          <a:xfrm>
            <a:off x="271463" y="365125"/>
            <a:ext cx="6334124"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3200" b="1" i="0" u="sng"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Gemini</a:t>
            </a:r>
            <a:r>
              <a:rPr kumimoji="0" lang="zh-TW" altLang="en-US" sz="3200" b="1" i="0" u="sng"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a:t>
            </a:r>
            <a:r>
              <a:rPr kumimoji="0" lang="en-US" altLang="zh-TW" sz="3200" b="1" i="0" u="sng"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1.5 In-context Learning</a:t>
            </a:r>
            <a:endParaRPr kumimoji="0" lang="zh-TW" altLang="en-US" sz="3200" b="1" i="0" u="sng"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9" name="矩形 8"/>
          <p:cNvSpPr/>
          <p:nvPr/>
        </p:nvSpPr>
        <p:spPr>
          <a:xfrm>
            <a:off x="328657" y="2767058"/>
            <a:ext cx="10790984" cy="329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
        <p:nvSpPr>
          <p:cNvPr id="10" name="矩形 9"/>
          <p:cNvSpPr/>
          <p:nvPr/>
        </p:nvSpPr>
        <p:spPr>
          <a:xfrm>
            <a:off x="328657" y="3426379"/>
            <a:ext cx="10790984" cy="329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
        <p:nvSpPr>
          <p:cNvPr id="11" name="矩形 10"/>
          <p:cNvSpPr/>
          <p:nvPr/>
        </p:nvSpPr>
        <p:spPr>
          <a:xfrm>
            <a:off x="353026" y="4172810"/>
            <a:ext cx="10790984" cy="329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
        <p:nvSpPr>
          <p:cNvPr id="12" name="矩形 11"/>
          <p:cNvSpPr/>
          <p:nvPr/>
        </p:nvSpPr>
        <p:spPr>
          <a:xfrm>
            <a:off x="271463" y="4489288"/>
            <a:ext cx="10790984" cy="329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
        <p:nvSpPr>
          <p:cNvPr id="13" name="矩形 12"/>
          <p:cNvSpPr/>
          <p:nvPr/>
        </p:nvSpPr>
        <p:spPr>
          <a:xfrm>
            <a:off x="328657" y="4845332"/>
            <a:ext cx="11567511" cy="70634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
        <p:nvSpPr>
          <p:cNvPr id="14" name="文字方塊 13"/>
          <p:cNvSpPr txBox="1"/>
          <p:nvPr/>
        </p:nvSpPr>
        <p:spPr>
          <a:xfrm>
            <a:off x="353026" y="5639266"/>
            <a:ext cx="8451311" cy="830997"/>
          </a:xfrm>
          <a:prstGeom prst="rect">
            <a:avLst/>
          </a:prstGeom>
          <a:noFill/>
        </p:spPr>
        <p:txBody>
          <a:bodyPr wrap="square">
            <a:spAutoFit/>
          </a:bodyPr>
          <a:lstStyle/>
          <a:p>
            <a:r>
              <a:rPr lang="en-US" altLang="zh-TW" sz="2400" dirty="0">
                <a:solidFill>
                  <a:srgbClr val="000000"/>
                </a:solidFill>
                <a:latin typeface="Lucida Grande"/>
              </a:rPr>
              <a:t>“A</a:t>
            </a:r>
            <a:r>
              <a:rPr lang="en-US" altLang="zh-TW" sz="2400" b="0" i="0" dirty="0">
                <a:solidFill>
                  <a:srgbClr val="000000"/>
                </a:solidFill>
                <a:effectLst/>
                <a:latin typeface="Lucida Grande"/>
              </a:rPr>
              <a:t>lmost all improvements stem from the book's parallel examples rather than its grammatical explanations.”</a:t>
            </a:r>
            <a:endParaRPr lang="zh-TW" altLang="en-US" sz="2400" dirty="0"/>
          </a:p>
        </p:txBody>
      </p:sp>
      <p:sp>
        <p:nvSpPr>
          <p:cNvPr id="8" name="文字方塊 7"/>
          <p:cNvSpPr txBox="1"/>
          <p:nvPr/>
        </p:nvSpPr>
        <p:spPr>
          <a:xfrm>
            <a:off x="10359003" y="5433154"/>
            <a:ext cx="1751155"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t>
            </a: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滿分 </a:t>
            </a:r>
            <a:r>
              <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6 </a:t>
            </a: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分</a:t>
            </a:r>
            <a:r>
              <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6" name="文字方塊 15"/>
          <p:cNvSpPr txBox="1"/>
          <p:nvPr/>
        </p:nvSpPr>
        <p:spPr>
          <a:xfrm>
            <a:off x="7681913" y="6264550"/>
            <a:ext cx="6257924" cy="369332"/>
          </a:xfrm>
          <a:prstGeom prst="rect">
            <a:avLst/>
          </a:prstGeom>
          <a:noFill/>
        </p:spPr>
        <p:txBody>
          <a:bodyPr wrap="square">
            <a:spAutoFit/>
          </a:bodyPr>
          <a:lstStyle/>
          <a:p>
            <a:r>
              <a:rPr lang="zh-TW" altLang="en-US" dirty="0"/>
              <a:t>https://arxiv.org/abs/2409.19151</a:t>
            </a:r>
            <a:endParaRPr lang="zh-TW" altLang="en-US" dirty="0"/>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p:bldP spid="16"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p:cNvSpPr txBox="1"/>
          <p:nvPr/>
        </p:nvSpPr>
        <p:spPr>
          <a:xfrm>
            <a:off x="-475482" y="6358894"/>
            <a:ext cx="11963400" cy="369332"/>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Tx/>
              <a:buSzTx/>
              <a:buFontTx/>
              <a:buNone/>
              <a:defRPr/>
            </a:pP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https://storage.googleapis.com/deepmind-media/gemini/gemini_v1_5_report.pdf</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pic>
        <p:nvPicPr>
          <p:cNvPr id="7" name="圖片 6"/>
          <p:cNvPicPr>
            <a:picLocks noChangeAspect="1"/>
          </p:cNvPicPr>
          <p:nvPr/>
        </p:nvPicPr>
        <p:blipFill>
          <a:blip r:embed="rId1"/>
          <a:stretch>
            <a:fillRect/>
          </a:stretch>
        </p:blipFill>
        <p:spPr>
          <a:xfrm>
            <a:off x="-53787" y="1434812"/>
            <a:ext cx="6992763" cy="4367453"/>
          </a:xfrm>
          <a:prstGeom prst="rect">
            <a:avLst/>
          </a:prstGeom>
        </p:spPr>
      </p:pic>
      <p:sp>
        <p:nvSpPr>
          <p:cNvPr id="11" name="文字方塊 10"/>
          <p:cNvSpPr txBox="1"/>
          <p:nvPr/>
        </p:nvSpPr>
        <p:spPr>
          <a:xfrm>
            <a:off x="271463" y="365125"/>
            <a:ext cx="6334124"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3200" b="1" i="0" u="sng"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Gemini</a:t>
            </a:r>
            <a:r>
              <a:rPr kumimoji="0" lang="zh-TW" altLang="en-US" sz="3200" b="1" i="0" u="sng"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a:t>
            </a:r>
            <a:r>
              <a:rPr kumimoji="0" lang="en-US" altLang="zh-TW" sz="3200" b="1" i="0" u="sng"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1.5 In-context Learning</a:t>
            </a:r>
            <a:endParaRPr kumimoji="0" lang="zh-TW" altLang="en-US" sz="3200" b="1" i="0" u="sng"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12" name="矩形: 圓角 11"/>
          <p:cNvSpPr/>
          <p:nvPr/>
        </p:nvSpPr>
        <p:spPr>
          <a:xfrm>
            <a:off x="7336495" y="3025236"/>
            <a:ext cx="1226241" cy="1362829"/>
          </a:xfrm>
          <a:prstGeom prst="roundRect">
            <a:avLst/>
          </a:prstGeom>
          <a:solidFill>
            <a:schemeClr val="accent1">
              <a:lumMod val="20000"/>
              <a:lumOff val="80000"/>
            </a:schemeClr>
          </a:solidFill>
          <a:ln w="57150">
            <a:solidFill>
              <a:schemeClr val="tx1"/>
            </a:solidFill>
          </a:ln>
        </p:spPr>
        <p:style>
          <a:lnRef idx="1">
            <a:schemeClr val="accent3"/>
          </a:lnRef>
          <a:fillRef idx="2">
            <a:schemeClr val="accent3"/>
          </a:fillRef>
          <a:effectRef idx="1">
            <a:schemeClr val="accent3"/>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語言</a:t>
            </a:r>
            <a:endPar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ctr" defTabSz="4572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模型</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cxnSp>
        <p:nvCxnSpPr>
          <p:cNvPr id="13" name="直線單箭頭接點 12"/>
          <p:cNvCxnSpPr/>
          <p:nvPr/>
        </p:nvCxnSpPr>
        <p:spPr>
          <a:xfrm>
            <a:off x="6828321" y="3738800"/>
            <a:ext cx="508174"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線單箭頭接點 16"/>
          <p:cNvCxnSpPr/>
          <p:nvPr/>
        </p:nvCxnSpPr>
        <p:spPr>
          <a:xfrm>
            <a:off x="8562736" y="3706650"/>
            <a:ext cx="508174"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17"/>
          <p:cNvSpPr/>
          <p:nvPr/>
        </p:nvSpPr>
        <p:spPr>
          <a:xfrm>
            <a:off x="-699247" y="1201271"/>
            <a:ext cx="4159623" cy="515762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
        <p:nvSpPr>
          <p:cNvPr id="19" name="文字方塊 18"/>
          <p:cNvSpPr txBox="1"/>
          <p:nvPr/>
        </p:nvSpPr>
        <p:spPr>
          <a:xfrm>
            <a:off x="9164609" y="3495119"/>
            <a:ext cx="1466846"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2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a:t>
            </a:r>
            <a:endParaRPr kumimoji="0" lang="zh-TW" altLang="en-US" sz="2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2" name="文字方塊 1"/>
          <p:cNvSpPr txBox="1"/>
          <p:nvPr/>
        </p:nvSpPr>
        <p:spPr>
          <a:xfrm>
            <a:off x="7062120" y="4529195"/>
            <a:ext cx="1719072"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1" i="0" u="none" strike="noStrike" kern="1200" cap="none" spc="0" normalizeH="0" baseline="0" noProof="0" dirty="0">
                <a:ln>
                  <a:noFill/>
                </a:ln>
                <a:solidFill>
                  <a:srgbClr val="FF0000"/>
                </a:solidFill>
                <a:effectLst/>
                <a:uLnTx/>
                <a:uFillTx/>
                <a:latin typeface="Microsoft JhengHei" panose="020B0604030504040204" pitchFamily="34" charset="-120"/>
                <a:ea typeface="Microsoft JhengHei" panose="020B0604030504040204" pitchFamily="34" charset="-120"/>
                <a:cs typeface="+mn-cs"/>
              </a:rPr>
              <a:t>文字接龍的能力不變</a:t>
            </a:r>
            <a:endParaRPr kumimoji="0" lang="zh-TW" altLang="en-US" sz="2400" b="1" i="0" u="none" strike="noStrike" kern="1200" cap="none" spc="0" normalizeH="0" baseline="0" noProof="0" dirty="0">
              <a:ln>
                <a:noFill/>
              </a:ln>
              <a:solidFill>
                <a:srgbClr val="FF0000"/>
              </a:solidFill>
              <a:effectLst/>
              <a:uLnTx/>
              <a:uFillTx/>
              <a:latin typeface="Microsoft JhengHei" panose="020B0604030504040204" pitchFamily="34" charset="-120"/>
              <a:ea typeface="Microsoft JhengHei" panose="020B0604030504040204" pitchFamily="34" charset="-120"/>
              <a:cs typeface="+mn-cs"/>
            </a:endParaRPr>
          </a:p>
        </p:txBody>
      </p:sp>
      <p:pic>
        <p:nvPicPr>
          <p:cNvPr id="9" name="圖片 8"/>
          <p:cNvPicPr>
            <a:picLocks noChangeAspect="1"/>
          </p:cNvPicPr>
          <p:nvPr/>
        </p:nvPicPr>
        <p:blipFill>
          <a:blip r:embed="rId2"/>
          <a:stretch>
            <a:fillRect/>
          </a:stretch>
        </p:blipFill>
        <p:spPr>
          <a:xfrm>
            <a:off x="9070910" y="1786216"/>
            <a:ext cx="3121090" cy="3646422"/>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System prompt </a:t>
            </a:r>
            <a:endParaRPr lang="zh-TW" altLang="en-US" dirty="0"/>
          </a:p>
        </p:txBody>
      </p:sp>
      <p:sp>
        <p:nvSpPr>
          <p:cNvPr id="3" name="內容版面配置區 2"/>
          <p:cNvSpPr>
            <a:spLocks noGrp="1"/>
          </p:cNvSpPr>
          <p:nvPr>
            <p:ph idx="1"/>
          </p:nvPr>
        </p:nvSpPr>
        <p:spPr/>
        <p:txBody>
          <a:bodyPr/>
          <a:lstStyle/>
          <a:p>
            <a:r>
              <a:rPr lang="en-US" altLang="zh-TW" sz="2400" dirty="0"/>
              <a:t>System prompt of Claude: https://docs.anthropic.com/en/release-notes/system-prompts#august-5-2025 </a:t>
            </a:r>
            <a:endParaRPr lang="en-US" altLang="zh-TW" sz="2400" dirty="0"/>
          </a:p>
          <a:p>
            <a:pPr lvl="1"/>
            <a:r>
              <a:rPr lang="en-US" altLang="zh-TW" b="1" dirty="0"/>
              <a:t>Claude Opus 4.1</a:t>
            </a:r>
            <a:endParaRPr lang="en-US" altLang="zh-TW" sz="2000" dirty="0"/>
          </a:p>
          <a:p>
            <a:endParaRPr lang="en-US" altLang="zh-TW" dirty="0"/>
          </a:p>
          <a:p>
            <a:endParaRPr lang="zh-TW" altLang="en-US" dirty="0"/>
          </a:p>
        </p:txBody>
      </p:sp>
      <p:sp>
        <p:nvSpPr>
          <p:cNvPr id="4" name="文字方塊 3"/>
          <p:cNvSpPr txBox="1"/>
          <p:nvPr/>
        </p:nvSpPr>
        <p:spPr>
          <a:xfrm>
            <a:off x="7532914" y="681037"/>
            <a:ext cx="4049486" cy="646331"/>
          </a:xfrm>
          <a:prstGeom prst="rect">
            <a:avLst/>
          </a:prstGeom>
          <a:noFill/>
        </p:spPr>
        <p:txBody>
          <a:bodyPr wrap="square" rtlCol="0">
            <a:spAutoFit/>
          </a:bodyPr>
          <a:lstStyle/>
          <a:p>
            <a:r>
              <a:rPr lang="en-US" altLang="zh-TW" dirty="0">
                <a:latin typeface="Microsoft JhengHei" panose="020B0604030504040204" pitchFamily="34" charset="-120"/>
                <a:ea typeface="Microsoft JhengHei" panose="020B0604030504040204" pitchFamily="34" charset="-120"/>
              </a:rPr>
              <a:t>(</a:t>
            </a:r>
            <a:r>
              <a:rPr lang="zh-TW" altLang="en-US" dirty="0">
                <a:latin typeface="Microsoft JhengHei" panose="020B0604030504040204" pitchFamily="34" charset="-120"/>
                <a:ea typeface="Microsoft JhengHei" panose="020B0604030504040204" pitchFamily="34" charset="-120"/>
              </a:rPr>
              <a:t>網路上有其他版本，不知真假，此處用 </a:t>
            </a:r>
            <a:r>
              <a:rPr lang="en-US" altLang="zh-TW" dirty="0">
                <a:latin typeface="Microsoft JhengHei" panose="020B0604030504040204" pitchFamily="34" charset="-120"/>
                <a:ea typeface="Microsoft JhengHei" panose="020B0604030504040204" pitchFamily="34" charset="-120"/>
              </a:rPr>
              <a:t>Claude </a:t>
            </a:r>
            <a:r>
              <a:rPr lang="zh-TW" altLang="en-US" dirty="0">
                <a:latin typeface="Microsoft JhengHei" panose="020B0604030504040204" pitchFamily="34" charset="-120"/>
                <a:ea typeface="Microsoft JhengHei" panose="020B0604030504040204" pitchFamily="34" charset="-120"/>
              </a:rPr>
              <a:t>官方公布的版本</a:t>
            </a:r>
            <a:r>
              <a:rPr lang="en-US" altLang="zh-TW" dirty="0">
                <a:latin typeface="Microsoft JhengHei" panose="020B0604030504040204" pitchFamily="34" charset="-120"/>
                <a:ea typeface="Microsoft JhengHei" panose="020B0604030504040204" pitchFamily="34" charset="-120"/>
              </a:rPr>
              <a:t>)</a:t>
            </a:r>
            <a:endParaRPr lang="zh-TW" altLang="en-US" dirty="0">
              <a:latin typeface="Microsoft JhengHei" panose="020B0604030504040204" pitchFamily="34" charset="-120"/>
              <a:ea typeface="Microsoft JhengHei" panose="020B0604030504040204" pitchFamily="34" charset="-120"/>
            </a:endParaRPr>
          </a:p>
        </p:txBody>
      </p:sp>
      <p:pic>
        <p:nvPicPr>
          <p:cNvPr id="6" name="圖片 5"/>
          <p:cNvPicPr>
            <a:picLocks noChangeAspect="1"/>
          </p:cNvPicPr>
          <p:nvPr/>
        </p:nvPicPr>
        <p:blipFill>
          <a:blip r:embed="rId1"/>
          <a:stretch>
            <a:fillRect/>
          </a:stretch>
        </p:blipFill>
        <p:spPr>
          <a:xfrm>
            <a:off x="4237308" y="2628646"/>
            <a:ext cx="7581812" cy="7366508"/>
          </a:xfrm>
          <a:prstGeom prst="rect">
            <a:avLst/>
          </a:prstGeom>
        </p:spPr>
      </p:pic>
      <p:sp>
        <p:nvSpPr>
          <p:cNvPr id="9" name="文字方塊 8"/>
          <p:cNvSpPr txBox="1"/>
          <p:nvPr/>
        </p:nvSpPr>
        <p:spPr>
          <a:xfrm>
            <a:off x="2076450" y="5969655"/>
            <a:ext cx="6096000" cy="523220"/>
          </a:xfrm>
          <a:prstGeom prst="rect">
            <a:avLst/>
          </a:prstGeom>
          <a:noFill/>
        </p:spPr>
        <p:txBody>
          <a:bodyPr wrap="square">
            <a:spAutoFit/>
          </a:bodyPr>
          <a:lstStyle/>
          <a:p>
            <a:r>
              <a:rPr lang="en-US" altLang="zh-TW" sz="2800" b="1" dirty="0"/>
              <a:t>2516 words!</a:t>
            </a:r>
            <a:endParaRPr lang="zh-TW" altLang="en-US" sz="2800" dirty="0"/>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System prompt </a:t>
            </a:r>
            <a:endParaRPr lang="zh-TW" altLang="en-US" dirty="0"/>
          </a:p>
        </p:txBody>
      </p:sp>
      <p:sp>
        <p:nvSpPr>
          <p:cNvPr id="4" name="Rectangle 1"/>
          <p:cNvSpPr>
            <a:spLocks noGrp="1" noChangeArrowheads="1"/>
          </p:cNvSpPr>
          <p:nvPr>
            <p:ph idx="1"/>
          </p:nvPr>
        </p:nvSpPr>
        <p:spPr bwMode="auto">
          <a:xfrm>
            <a:off x="838201" y="1739137"/>
            <a:ext cx="10515600"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Char char="•"/>
            </a:pPr>
            <a:r>
              <a:rPr kumimoji="0" lang="zh-TW" altLang="zh-TW" sz="2400" b="1" i="0" u="none" strike="noStrike" cap="none" normalizeH="0" baseline="0" dirty="0">
                <a:ln>
                  <a:noFill/>
                </a:ln>
                <a:solidFill>
                  <a:schemeClr val="tx1"/>
                </a:solidFill>
                <a:effectLst/>
                <a:latin typeface="Microsoft JhengHei" panose="020B0604030504040204" pitchFamily="34" charset="-120"/>
                <a:ea typeface="Microsoft JhengHei" panose="020B0604030504040204" pitchFamily="34" charset="-120"/>
              </a:rPr>
              <a:t>基本身分與產品資訊</a:t>
            </a:r>
            <a:r>
              <a:rPr kumimoji="0" lang="zh-TW" altLang="zh-TW" sz="2400" b="0" i="0" u="none" strike="noStrike" cap="none" normalizeH="0" baseline="0" dirty="0">
                <a:ln>
                  <a:noFill/>
                </a:ln>
                <a:solidFill>
                  <a:schemeClr val="tx1"/>
                </a:solidFill>
                <a:effectLst/>
                <a:latin typeface="Microsoft JhengHei" panose="020B0604030504040204" pitchFamily="34" charset="-120"/>
                <a:ea typeface="Microsoft JhengHei" panose="020B0604030504040204" pitchFamily="34" charset="-120"/>
              </a:rPr>
              <a:t> </a:t>
            </a:r>
            <a:r>
              <a:rPr kumimoji="0" lang="zh-TW" altLang="zh-TW" sz="2400" b="0" i="0" u="none" strike="noStrike" cap="none" normalizeH="0" baseline="0" dirty="0">
                <a:ln>
                  <a:noFill/>
                </a:ln>
                <a:solidFill>
                  <a:schemeClr val="tx1"/>
                </a:solidFill>
                <a:effectLst/>
                <a:latin typeface="+mj-lt"/>
                <a:ea typeface="Microsoft JhengHei" panose="020B0604030504040204" pitchFamily="34" charset="-120"/>
              </a:rPr>
              <a:t>(The assistant is Claude, created by Anthropic)</a:t>
            </a:r>
            <a:endParaRPr kumimoji="0" lang="zh-TW" altLang="zh-TW" sz="2400" b="0" i="0" u="none" strike="noStrike" cap="none" normalizeH="0" baseline="0" dirty="0">
              <a:ln>
                <a:noFill/>
              </a:ln>
              <a:solidFill>
                <a:schemeClr val="tx1"/>
              </a:solidFill>
              <a:effectLst/>
              <a:latin typeface="+mj-lt"/>
              <a:ea typeface="Microsoft JhengHei" panose="020B0604030504040204" pitchFamily="34" charset="-120"/>
            </a:endParaRPr>
          </a:p>
          <a:p>
            <a:pPr marL="0" indent="0" eaLnBrk="0" fontAlgn="base" hangingPunct="0">
              <a:lnSpc>
                <a:spcPct val="100000"/>
              </a:lnSpc>
              <a:spcBef>
                <a:spcPct val="0"/>
              </a:spcBef>
              <a:spcAft>
                <a:spcPct val="0"/>
              </a:spcAft>
              <a:buFontTx/>
              <a:buChar char="•"/>
            </a:pPr>
            <a:r>
              <a:rPr kumimoji="0" lang="zh-TW" altLang="zh-TW" sz="2400" b="1" i="0" u="none" strike="noStrike" cap="none" normalizeH="0" baseline="0" dirty="0">
                <a:ln>
                  <a:noFill/>
                </a:ln>
                <a:solidFill>
                  <a:schemeClr val="tx1"/>
                </a:solidFill>
                <a:effectLst/>
                <a:latin typeface="Microsoft JhengHei" panose="020B0604030504040204" pitchFamily="34" charset="-120"/>
                <a:ea typeface="Microsoft JhengHei" panose="020B0604030504040204" pitchFamily="34" charset="-120"/>
              </a:rPr>
              <a:t>使用說明與限制</a:t>
            </a:r>
            <a:r>
              <a:rPr kumimoji="0" lang="zh-TW" altLang="zh-TW" sz="2400" b="0" i="0" u="none" strike="noStrike" cap="none" normalizeH="0" baseline="0" dirty="0">
                <a:ln>
                  <a:noFill/>
                </a:ln>
                <a:solidFill>
                  <a:schemeClr val="tx1"/>
                </a:solidFill>
                <a:effectLst/>
                <a:latin typeface="Microsoft JhengHei" panose="020B0604030504040204" pitchFamily="34" charset="-120"/>
                <a:ea typeface="Microsoft JhengHei" panose="020B0604030504040204" pitchFamily="34" charset="-120"/>
              </a:rPr>
              <a:t> </a:t>
            </a:r>
            <a:r>
              <a:rPr lang="zh-TW" altLang="zh-TW" sz="2400" dirty="0">
                <a:latin typeface="+mj-lt"/>
                <a:ea typeface="Microsoft JhengHei" panose="020B0604030504040204" pitchFamily="34" charset="-120"/>
              </a:rPr>
              <a:t>(If asked about the Anthropic API, point to </a:t>
            </a:r>
            <a:r>
              <a:rPr lang="zh-TW" altLang="zh-TW" sz="2400" dirty="0">
                <a:latin typeface="+mj-lt"/>
                <a:ea typeface="Microsoft JhengHei" panose="020B0604030504040204" pitchFamily="34" charset="-120"/>
                <a:hlinkClick r:id="rId1"/>
              </a:rPr>
              <a:t>https://docs.anthropic.com</a:t>
            </a:r>
            <a:r>
              <a:rPr lang="zh-TW" altLang="zh-TW" sz="2400" dirty="0">
                <a:latin typeface="+mj-lt"/>
                <a:ea typeface="Microsoft JhengHei" panose="020B0604030504040204" pitchFamily="34" charset="-120"/>
              </a:rPr>
              <a:t>)</a:t>
            </a:r>
            <a:endParaRPr lang="zh-TW" altLang="zh-TW" sz="2400" dirty="0">
              <a:latin typeface="+mj-lt"/>
              <a:ea typeface="Microsoft JhengHei"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pPr>
            <a:r>
              <a:rPr kumimoji="0" lang="zh-TW" altLang="zh-TW" sz="2400" b="1" i="0" u="none" strike="noStrike" cap="none" normalizeH="0" baseline="0" dirty="0">
                <a:ln>
                  <a:noFill/>
                </a:ln>
                <a:solidFill>
                  <a:schemeClr val="tx1"/>
                </a:solidFill>
                <a:effectLst/>
                <a:latin typeface="Microsoft JhengHei" panose="020B0604030504040204" pitchFamily="34" charset="-120"/>
                <a:ea typeface="Microsoft JhengHei" panose="020B0604030504040204" pitchFamily="34" charset="-120"/>
              </a:rPr>
              <a:t>互動態度與使用者回饋</a:t>
            </a:r>
            <a:r>
              <a:rPr kumimoji="0" lang="zh-TW" altLang="zh-TW" sz="2400" b="0" i="0" u="none" strike="noStrike" cap="none" normalizeH="0" baseline="0" dirty="0">
                <a:ln>
                  <a:noFill/>
                </a:ln>
                <a:solidFill>
                  <a:schemeClr val="tx1"/>
                </a:solidFill>
                <a:effectLst/>
                <a:latin typeface="Microsoft JhengHei" panose="020B0604030504040204" pitchFamily="34" charset="-120"/>
                <a:ea typeface="Microsoft JhengHei" panose="020B0604030504040204" pitchFamily="34" charset="-120"/>
              </a:rPr>
              <a:t> </a:t>
            </a:r>
            <a:r>
              <a:rPr lang="zh-TW" altLang="zh-TW" sz="2400" dirty="0">
                <a:latin typeface="+mj-lt"/>
                <a:ea typeface="Microsoft JhengHei" panose="020B0604030504040204" pitchFamily="34" charset="-120"/>
              </a:rPr>
              <a:t>(If user is unhappy, suggest pressing the thumbs down button)</a:t>
            </a:r>
            <a:endParaRPr lang="zh-TW" altLang="zh-TW" sz="2400" dirty="0">
              <a:latin typeface="+mj-lt"/>
              <a:ea typeface="Microsoft JhengHei"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pPr>
            <a:r>
              <a:rPr kumimoji="0" lang="zh-TW" altLang="zh-TW" sz="2400" b="1" i="0" u="none" strike="noStrike" cap="none" normalizeH="0" baseline="0" dirty="0">
                <a:ln>
                  <a:noFill/>
                </a:ln>
                <a:solidFill>
                  <a:schemeClr val="tx1"/>
                </a:solidFill>
                <a:effectLst/>
                <a:latin typeface="Microsoft JhengHei" panose="020B0604030504040204" pitchFamily="34" charset="-120"/>
                <a:ea typeface="Microsoft JhengHei" panose="020B0604030504040204" pitchFamily="34" charset="-120"/>
              </a:rPr>
              <a:t>安全與禁止事項</a:t>
            </a:r>
            <a:r>
              <a:rPr kumimoji="0" lang="zh-TW" altLang="zh-TW" sz="2400" b="0" i="0" u="none" strike="noStrike" cap="none" normalizeH="0" baseline="0" dirty="0">
                <a:ln>
                  <a:noFill/>
                </a:ln>
                <a:solidFill>
                  <a:schemeClr val="tx1"/>
                </a:solidFill>
                <a:effectLst/>
                <a:latin typeface="Microsoft JhengHei" panose="020B0604030504040204" pitchFamily="34" charset="-120"/>
                <a:ea typeface="Microsoft JhengHei" panose="020B0604030504040204" pitchFamily="34" charset="-120"/>
              </a:rPr>
              <a:t> </a:t>
            </a:r>
            <a:r>
              <a:rPr lang="zh-TW" altLang="zh-TW" sz="2400" dirty="0">
                <a:latin typeface="+mj-lt"/>
                <a:ea typeface="Microsoft JhengHei" panose="020B0604030504040204" pitchFamily="34" charset="-120"/>
              </a:rPr>
              <a:t>(Claude does not provide info to make chemical or nuclear weapons)</a:t>
            </a:r>
            <a:endParaRPr lang="zh-TW" altLang="zh-TW" sz="2400" dirty="0">
              <a:latin typeface="+mj-lt"/>
              <a:ea typeface="Microsoft JhengHei" panose="020B0604030504040204" pitchFamily="34" charset="-120"/>
            </a:endParaRPr>
          </a:p>
          <a:p>
            <a:pPr marL="0" indent="0" eaLnBrk="0" fontAlgn="base" hangingPunct="0">
              <a:lnSpc>
                <a:spcPct val="100000"/>
              </a:lnSpc>
              <a:spcBef>
                <a:spcPct val="0"/>
              </a:spcBef>
              <a:spcAft>
                <a:spcPct val="0"/>
              </a:spcAft>
              <a:buFontTx/>
              <a:buChar char="•"/>
            </a:pPr>
            <a:r>
              <a:rPr kumimoji="0" lang="zh-TW" altLang="zh-TW" sz="2400" b="1" i="0" u="none" strike="noStrike" cap="none" normalizeH="0" baseline="0" dirty="0">
                <a:ln>
                  <a:noFill/>
                </a:ln>
                <a:solidFill>
                  <a:schemeClr val="tx1"/>
                </a:solidFill>
                <a:effectLst/>
                <a:latin typeface="Microsoft JhengHei" panose="020B0604030504040204" pitchFamily="34" charset="-120"/>
                <a:ea typeface="Microsoft JhengHei" panose="020B0604030504040204" pitchFamily="34" charset="-120"/>
              </a:rPr>
              <a:t>回應風格與格式</a:t>
            </a:r>
            <a:r>
              <a:rPr kumimoji="0" lang="zh-TW" altLang="zh-TW" sz="2400" b="0" i="0" u="none" strike="noStrike" cap="none" normalizeH="0" baseline="0" dirty="0">
                <a:ln>
                  <a:noFill/>
                </a:ln>
                <a:solidFill>
                  <a:schemeClr val="tx1"/>
                </a:solidFill>
                <a:effectLst/>
                <a:latin typeface="Microsoft JhengHei" panose="020B0604030504040204" pitchFamily="34" charset="-120"/>
                <a:ea typeface="Microsoft JhengHei" panose="020B0604030504040204" pitchFamily="34" charset="-120"/>
              </a:rPr>
              <a:t> </a:t>
            </a:r>
            <a:r>
              <a:rPr lang="zh-TW" altLang="zh-TW" sz="2400" dirty="0">
                <a:latin typeface="+mj-lt"/>
                <a:ea typeface="Microsoft JhengHei" panose="020B0604030504040204" pitchFamily="34" charset="-120"/>
              </a:rPr>
              <a:t>(Claude never starts its response with 'good question')</a:t>
            </a:r>
            <a:endParaRPr lang="zh-TW" altLang="zh-TW" sz="2400" dirty="0">
              <a:latin typeface="+mj-lt"/>
              <a:ea typeface="Microsoft JhengHei" panose="020B0604030504040204" pitchFamily="34" charset="-120"/>
            </a:endParaRPr>
          </a:p>
          <a:p>
            <a:pPr marL="0" indent="0" eaLnBrk="0" fontAlgn="base" hangingPunct="0">
              <a:lnSpc>
                <a:spcPct val="100000"/>
              </a:lnSpc>
              <a:spcBef>
                <a:spcPct val="0"/>
              </a:spcBef>
              <a:spcAft>
                <a:spcPct val="0"/>
              </a:spcAft>
              <a:buFontTx/>
              <a:buChar char="•"/>
            </a:pPr>
            <a:r>
              <a:rPr kumimoji="0" lang="zh-TW" altLang="zh-TW" sz="2400" b="1" i="0" u="none" strike="noStrike" cap="none" normalizeH="0" baseline="0" dirty="0">
                <a:ln>
                  <a:noFill/>
                </a:ln>
                <a:solidFill>
                  <a:schemeClr val="tx1"/>
                </a:solidFill>
                <a:effectLst/>
                <a:latin typeface="Microsoft JhengHei" panose="020B0604030504040204" pitchFamily="34" charset="-120"/>
                <a:ea typeface="Microsoft JhengHei" panose="020B0604030504040204" pitchFamily="34" charset="-120"/>
              </a:rPr>
              <a:t>知識與事實性</a:t>
            </a:r>
            <a:r>
              <a:rPr kumimoji="0" lang="zh-TW" altLang="zh-TW" sz="2400" b="0" i="0" u="none" strike="noStrike" cap="none" normalizeH="0" baseline="0" dirty="0">
                <a:ln>
                  <a:noFill/>
                </a:ln>
                <a:solidFill>
                  <a:schemeClr val="tx1"/>
                </a:solidFill>
                <a:effectLst/>
                <a:latin typeface="Microsoft JhengHei" panose="020B0604030504040204" pitchFamily="34" charset="-120"/>
                <a:ea typeface="Microsoft JhengHei" panose="020B0604030504040204" pitchFamily="34" charset="-120"/>
              </a:rPr>
              <a:t> </a:t>
            </a:r>
            <a:r>
              <a:rPr lang="zh-TW" altLang="zh-TW" sz="2400" dirty="0">
                <a:latin typeface="+mj-lt"/>
                <a:ea typeface="Microsoft JhengHei" panose="020B0604030504040204" pitchFamily="34" charset="-120"/>
              </a:rPr>
              <a:t>(Claude’s knowledge cutoff is Jan 2025)</a:t>
            </a:r>
            <a:endParaRPr lang="zh-TW" altLang="zh-TW" sz="2400" dirty="0">
              <a:latin typeface="+mj-lt"/>
              <a:ea typeface="Microsoft JhengHei" panose="020B0604030504040204" pitchFamily="34" charset="-120"/>
            </a:endParaRPr>
          </a:p>
          <a:p>
            <a:pPr marL="0" indent="0" eaLnBrk="0" fontAlgn="base" hangingPunct="0">
              <a:lnSpc>
                <a:spcPct val="100000"/>
              </a:lnSpc>
              <a:spcBef>
                <a:spcPct val="0"/>
              </a:spcBef>
              <a:spcAft>
                <a:spcPct val="0"/>
              </a:spcAft>
              <a:buFontTx/>
              <a:buChar char="•"/>
            </a:pPr>
            <a:r>
              <a:rPr kumimoji="0" lang="zh-TW" altLang="zh-TW" sz="2400" b="1" i="0" u="none" strike="noStrike" cap="none" normalizeH="0" baseline="0" dirty="0">
                <a:ln>
                  <a:noFill/>
                </a:ln>
                <a:solidFill>
                  <a:schemeClr val="tx1"/>
                </a:solidFill>
                <a:effectLst/>
                <a:latin typeface="Microsoft JhengHei" panose="020B0604030504040204" pitchFamily="34" charset="-120"/>
                <a:ea typeface="Microsoft JhengHei" panose="020B0604030504040204" pitchFamily="34" charset="-120"/>
              </a:rPr>
              <a:t>自我定位與哲學原則</a:t>
            </a:r>
            <a:r>
              <a:rPr kumimoji="0" lang="zh-TW" altLang="zh-TW" sz="2400" b="0" i="0" u="none" strike="noStrike" cap="none" normalizeH="0" baseline="0" dirty="0">
                <a:ln>
                  <a:noFill/>
                </a:ln>
                <a:solidFill>
                  <a:schemeClr val="tx1"/>
                </a:solidFill>
                <a:effectLst/>
                <a:latin typeface="Microsoft JhengHei" panose="020B0604030504040204" pitchFamily="34" charset="-120"/>
                <a:ea typeface="Microsoft JhengHei" panose="020B0604030504040204" pitchFamily="34" charset="-120"/>
              </a:rPr>
              <a:t> </a:t>
            </a:r>
            <a:r>
              <a:rPr lang="zh-TW" altLang="zh-TW" sz="2400" dirty="0">
                <a:latin typeface="+mj-lt"/>
                <a:ea typeface="Microsoft JhengHei" panose="020B0604030504040204" pitchFamily="34" charset="-120"/>
              </a:rPr>
              <a:t>(Claude does not claim to be human or conscious)</a:t>
            </a:r>
            <a:endParaRPr lang="zh-TW" altLang="zh-TW" sz="2400" dirty="0">
              <a:latin typeface="+mj-lt"/>
              <a:ea typeface="Microsoft JhengHei"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pPr>
            <a:r>
              <a:rPr kumimoji="0" lang="zh-TW" altLang="zh-TW" sz="2400" b="1" i="0" u="none" strike="noStrike" cap="none" normalizeH="0" baseline="0" dirty="0">
                <a:ln>
                  <a:noFill/>
                </a:ln>
                <a:solidFill>
                  <a:schemeClr val="tx1"/>
                </a:solidFill>
                <a:effectLst/>
                <a:latin typeface="Microsoft JhengHei" panose="020B0604030504040204" pitchFamily="34" charset="-120"/>
                <a:ea typeface="Microsoft JhengHei" panose="020B0604030504040204" pitchFamily="34" charset="-120"/>
              </a:rPr>
              <a:t>錯誤處理與互動細節</a:t>
            </a:r>
            <a:r>
              <a:rPr kumimoji="0" lang="zh-TW" altLang="zh-TW" sz="2400" b="0" i="0" u="none" strike="noStrike" cap="none" normalizeH="0" baseline="0" dirty="0">
                <a:ln>
                  <a:noFill/>
                </a:ln>
                <a:solidFill>
                  <a:schemeClr val="tx1"/>
                </a:solidFill>
                <a:effectLst/>
                <a:latin typeface="Microsoft JhengHei" panose="020B0604030504040204" pitchFamily="34" charset="-120"/>
                <a:ea typeface="Microsoft JhengHei" panose="020B0604030504040204" pitchFamily="34" charset="-120"/>
              </a:rPr>
              <a:t> </a:t>
            </a:r>
            <a:r>
              <a:rPr lang="zh-TW" altLang="zh-TW" sz="2400" dirty="0">
                <a:latin typeface="+mj-lt"/>
                <a:ea typeface="Microsoft JhengHei" panose="020B0604030504040204" pitchFamily="34" charset="-120"/>
              </a:rPr>
              <a:t>(If corrected, Claude first thinks carefully before acknowledging)</a:t>
            </a:r>
            <a:endParaRPr lang="zh-TW" altLang="zh-TW" sz="2400" dirty="0">
              <a:latin typeface="+mj-lt"/>
              <a:ea typeface="Microsoft JhengHei" panose="020B0604030504040204" pitchFamily="34" charset="-120"/>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latin typeface="Microsoft JhengHei" panose="020B0604030504040204" pitchFamily="34" charset="-120"/>
                <a:ea typeface="Microsoft JhengHei" panose="020B0604030504040204" pitchFamily="34" charset="-120"/>
              </a:rPr>
              <a:t>Dialogue History (</a:t>
            </a:r>
            <a:r>
              <a:rPr lang="zh-TW" altLang="en-US" dirty="0">
                <a:latin typeface="Microsoft JhengHei" panose="020B0604030504040204" pitchFamily="34" charset="-120"/>
                <a:ea typeface="Microsoft JhengHei" panose="020B0604030504040204" pitchFamily="34" charset="-120"/>
              </a:rPr>
              <a:t>短期記憶</a:t>
            </a:r>
            <a:r>
              <a:rPr lang="en-US" altLang="zh-TW" dirty="0">
                <a:latin typeface="Microsoft JhengHei" panose="020B0604030504040204" pitchFamily="34" charset="-120"/>
                <a:ea typeface="Microsoft JhengHei" panose="020B0604030504040204" pitchFamily="34" charset="-120"/>
              </a:rPr>
              <a:t>)</a:t>
            </a:r>
            <a:endParaRPr lang="zh-TW" altLang="en-US" dirty="0">
              <a:latin typeface="Microsoft JhengHei" panose="020B0604030504040204" pitchFamily="34" charset="-120"/>
              <a:ea typeface="Microsoft JhengHei" panose="020B0604030504040204" pitchFamily="34" charset="-120"/>
            </a:endParaRPr>
          </a:p>
        </p:txBody>
      </p:sp>
      <p:pic>
        <p:nvPicPr>
          <p:cNvPr id="11" name="圖片 10"/>
          <p:cNvPicPr>
            <a:picLocks noChangeAspect="1"/>
          </p:cNvPicPr>
          <p:nvPr/>
        </p:nvPicPr>
        <p:blipFill>
          <a:blip r:embed="rId1"/>
          <a:stretch>
            <a:fillRect/>
          </a:stretch>
        </p:blipFill>
        <p:spPr>
          <a:xfrm>
            <a:off x="7573099" y="1443881"/>
            <a:ext cx="4007329" cy="815972"/>
          </a:xfrm>
          <a:prstGeom prst="rect">
            <a:avLst/>
          </a:prstGeom>
        </p:spPr>
      </p:pic>
      <p:pic>
        <p:nvPicPr>
          <p:cNvPr id="13" name="圖片 12"/>
          <p:cNvPicPr>
            <a:picLocks noChangeAspect="1"/>
          </p:cNvPicPr>
          <p:nvPr/>
        </p:nvPicPr>
        <p:blipFill>
          <a:blip r:embed="rId2"/>
          <a:stretch>
            <a:fillRect/>
          </a:stretch>
        </p:blipFill>
        <p:spPr>
          <a:xfrm>
            <a:off x="767212" y="2301288"/>
            <a:ext cx="11162204" cy="980348"/>
          </a:xfrm>
          <a:prstGeom prst="rect">
            <a:avLst/>
          </a:prstGeom>
        </p:spPr>
      </p:pic>
      <p:pic>
        <p:nvPicPr>
          <p:cNvPr id="15" name="圖片 14"/>
          <p:cNvPicPr>
            <a:picLocks noChangeAspect="1"/>
          </p:cNvPicPr>
          <p:nvPr/>
        </p:nvPicPr>
        <p:blipFill>
          <a:blip r:embed="rId3"/>
          <a:stretch>
            <a:fillRect/>
          </a:stretch>
        </p:blipFill>
        <p:spPr>
          <a:xfrm>
            <a:off x="8129936" y="3320546"/>
            <a:ext cx="3450492" cy="834797"/>
          </a:xfrm>
          <a:prstGeom prst="rect">
            <a:avLst/>
          </a:prstGeom>
        </p:spPr>
      </p:pic>
      <p:pic>
        <p:nvPicPr>
          <p:cNvPr id="17" name="圖片 16"/>
          <p:cNvPicPr>
            <a:picLocks noChangeAspect="1"/>
          </p:cNvPicPr>
          <p:nvPr/>
        </p:nvPicPr>
        <p:blipFill>
          <a:blip r:embed="rId4"/>
          <a:stretch>
            <a:fillRect/>
          </a:stretch>
        </p:blipFill>
        <p:spPr>
          <a:xfrm>
            <a:off x="680937" y="4140940"/>
            <a:ext cx="5136204" cy="639804"/>
          </a:xfrm>
          <a:prstGeom prst="rect">
            <a:avLst/>
          </a:prstGeom>
        </p:spPr>
      </p:pic>
      <p:pic>
        <p:nvPicPr>
          <p:cNvPr id="19" name="圖片 18"/>
          <p:cNvPicPr>
            <a:picLocks noChangeAspect="1"/>
          </p:cNvPicPr>
          <p:nvPr/>
        </p:nvPicPr>
        <p:blipFill>
          <a:blip r:embed="rId5"/>
          <a:stretch>
            <a:fillRect/>
          </a:stretch>
        </p:blipFill>
        <p:spPr>
          <a:xfrm>
            <a:off x="7391123" y="4780744"/>
            <a:ext cx="4189305" cy="974256"/>
          </a:xfrm>
          <a:prstGeom prst="rect">
            <a:avLst/>
          </a:prstGeom>
        </p:spPr>
      </p:pic>
      <p:pic>
        <p:nvPicPr>
          <p:cNvPr id="21" name="圖片 20"/>
          <p:cNvPicPr>
            <a:picLocks noChangeAspect="1"/>
          </p:cNvPicPr>
          <p:nvPr/>
        </p:nvPicPr>
        <p:blipFill>
          <a:blip r:embed="rId6"/>
          <a:stretch>
            <a:fillRect/>
          </a:stretch>
        </p:blipFill>
        <p:spPr>
          <a:xfrm>
            <a:off x="767212" y="5918786"/>
            <a:ext cx="4887003" cy="775428"/>
          </a:xfrm>
          <a:prstGeom prst="rect">
            <a:avLst/>
          </a:prstGeom>
        </p:spPr>
      </p:pic>
      <p:sp>
        <p:nvSpPr>
          <p:cNvPr id="22" name="矩形: 圓角 21"/>
          <p:cNvSpPr/>
          <p:nvPr/>
        </p:nvSpPr>
        <p:spPr>
          <a:xfrm>
            <a:off x="583661" y="1443881"/>
            <a:ext cx="11248479" cy="4311119"/>
          </a:xfrm>
          <a:prstGeom prst="roundRect">
            <a:avLst>
              <a:gd name="adj" fmla="val 7190"/>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4" name="直線單箭頭接點 23"/>
          <p:cNvCxnSpPr/>
          <p:nvPr/>
        </p:nvCxnSpPr>
        <p:spPr>
          <a:xfrm>
            <a:off x="1575881" y="5755000"/>
            <a:ext cx="0" cy="327572"/>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文字方塊 2"/>
          <p:cNvSpPr txBox="1"/>
          <p:nvPr/>
        </p:nvSpPr>
        <p:spPr>
          <a:xfrm>
            <a:off x="7141778" y="6082572"/>
            <a:ext cx="4438650" cy="523220"/>
          </a:xfrm>
          <a:prstGeom prst="rect">
            <a:avLst/>
          </a:prstGeom>
          <a:noFill/>
        </p:spPr>
        <p:txBody>
          <a:bodyPr wrap="square" rtlCol="0">
            <a:spAutoFit/>
          </a:bodyPr>
          <a:lstStyle/>
          <a:p>
            <a:pPr algn="r"/>
            <a:r>
              <a:rPr lang="zh-TW" altLang="en-US" sz="2800" b="1" dirty="0">
                <a:solidFill>
                  <a:srgbClr val="FF0000"/>
                </a:solidFill>
                <a:latin typeface="Microsoft JhengHei" panose="020B0604030504040204" pitchFamily="34" charset="-120"/>
                <a:ea typeface="Microsoft JhengHei" panose="020B0604030504040204" pitchFamily="34" charset="-120"/>
              </a:rPr>
              <a:t>以上對話並沒有訓練模型</a:t>
            </a:r>
            <a:endParaRPr lang="zh-TW" altLang="en-US" sz="2800" b="1" dirty="0">
              <a:solidFill>
                <a:srgbClr val="FF0000"/>
              </a:solidFill>
              <a:latin typeface="Microsoft JhengHei" panose="020B0604030504040204" pitchFamily="34" charset="-120"/>
              <a:ea typeface="Microsoft JhengHei" panose="020B0604030504040204" pitchFamily="34" charset="-120"/>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3"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圖片 3"/>
          <p:cNvPicPr>
            <a:picLocks noChangeAspect="1"/>
          </p:cNvPicPr>
          <p:nvPr/>
        </p:nvPicPr>
        <p:blipFill>
          <a:blip r:embed="rId1"/>
          <a:stretch>
            <a:fillRect/>
          </a:stretch>
        </p:blipFill>
        <p:spPr>
          <a:xfrm>
            <a:off x="483127" y="309890"/>
            <a:ext cx="11225745" cy="5747313"/>
          </a:xfrm>
          <a:prstGeom prst="rect">
            <a:avLst/>
          </a:prstGeom>
        </p:spPr>
      </p:pic>
      <p:sp>
        <p:nvSpPr>
          <p:cNvPr id="5" name="文字方塊 4"/>
          <p:cNvSpPr txBox="1"/>
          <p:nvPr/>
        </p:nvSpPr>
        <p:spPr>
          <a:xfrm>
            <a:off x="7529210" y="6057203"/>
            <a:ext cx="4487906" cy="523220"/>
          </a:xfrm>
          <a:prstGeom prst="rect">
            <a:avLst/>
          </a:prstGeom>
          <a:noFill/>
        </p:spPr>
        <p:txBody>
          <a:bodyPr wrap="square" rtlCol="0">
            <a:spAutoFit/>
          </a:bodyPr>
          <a:lstStyle/>
          <a:p>
            <a:r>
              <a:rPr lang="zh-TW" altLang="en-US" sz="2800" dirty="0">
                <a:latin typeface="Microsoft JhengHei" panose="020B0604030504040204" pitchFamily="34" charset="-120"/>
                <a:ea typeface="Microsoft JhengHei" panose="020B0604030504040204" pitchFamily="34" charset="-120"/>
              </a:rPr>
              <a:t>這是 </a:t>
            </a:r>
            <a:r>
              <a:rPr lang="en-US" altLang="zh-TW" sz="2800" dirty="0">
                <a:latin typeface="Microsoft JhengHei" panose="020B0604030504040204" pitchFamily="34" charset="-120"/>
                <a:ea typeface="Microsoft JhengHei" panose="020B0604030504040204" pitchFamily="34" charset="-120"/>
              </a:rPr>
              <a:t>2024 </a:t>
            </a:r>
            <a:r>
              <a:rPr lang="zh-TW" altLang="en-US" sz="2800" dirty="0">
                <a:latin typeface="Microsoft JhengHei" panose="020B0604030504040204" pitchFamily="34" charset="-120"/>
                <a:ea typeface="Microsoft JhengHei" panose="020B0604030504040204" pitchFamily="34" charset="-120"/>
              </a:rPr>
              <a:t>年 </a:t>
            </a:r>
            <a:r>
              <a:rPr lang="en-US" altLang="zh-TW" sz="2800" dirty="0">
                <a:latin typeface="Microsoft JhengHei" panose="020B0604030504040204" pitchFamily="34" charset="-120"/>
                <a:ea typeface="Microsoft JhengHei" panose="020B0604030504040204" pitchFamily="34" charset="-120"/>
              </a:rPr>
              <a:t>9 </a:t>
            </a:r>
            <a:r>
              <a:rPr lang="zh-TW" altLang="en-US" sz="2800" dirty="0">
                <a:latin typeface="Microsoft JhengHei" panose="020B0604030504040204" pitchFamily="34" charset="-120"/>
                <a:ea typeface="Microsoft JhengHei" panose="020B0604030504040204" pitchFamily="34" charset="-120"/>
              </a:rPr>
              <a:t>月之前 </a:t>
            </a:r>
            <a:r>
              <a:rPr lang="en-US" altLang="zh-TW" sz="2800" dirty="0">
                <a:latin typeface="Microsoft JhengHei" panose="020B0604030504040204" pitchFamily="34" charset="-120"/>
                <a:ea typeface="Microsoft JhengHei" panose="020B0604030504040204" pitchFamily="34" charset="-120"/>
              </a:rPr>
              <a:t>……</a:t>
            </a:r>
            <a:endParaRPr lang="zh-TW" altLang="en-US" sz="2800" dirty="0">
              <a:latin typeface="Microsoft JhengHei" panose="020B0604030504040204" pitchFamily="34" charset="-120"/>
              <a:ea typeface="Microsoft JhengHei" panose="020B0604030504040204" pitchFamily="34" charset="-120"/>
            </a:endParaRPr>
          </a:p>
        </p:txBody>
      </p:sp>
      <p:sp>
        <p:nvSpPr>
          <p:cNvPr id="6" name="文字方塊 5"/>
          <p:cNvSpPr txBox="1"/>
          <p:nvPr/>
        </p:nvSpPr>
        <p:spPr>
          <a:xfrm>
            <a:off x="415047" y="277577"/>
            <a:ext cx="5680953" cy="523220"/>
          </a:xfrm>
          <a:prstGeom prst="rect">
            <a:avLst/>
          </a:prstGeom>
          <a:noFill/>
        </p:spPr>
        <p:txBody>
          <a:bodyPr wrap="square" rtlCol="0">
            <a:spAutoFit/>
          </a:bodyPr>
          <a:lstStyle/>
          <a:p>
            <a:r>
              <a:rPr lang="zh-TW" altLang="en-US" sz="2800" dirty="0">
                <a:latin typeface="Microsoft JhengHei" panose="020B0604030504040204" pitchFamily="34" charset="-120"/>
                <a:ea typeface="Microsoft JhengHei" panose="020B0604030504040204" pitchFamily="34" charset="-120"/>
              </a:rPr>
              <a:t>過去如果開啟新對話 </a:t>
            </a:r>
            <a:r>
              <a:rPr lang="en-US" altLang="zh-TW" sz="2800" dirty="0">
                <a:latin typeface="Microsoft JhengHei" panose="020B0604030504040204" pitchFamily="34" charset="-120"/>
                <a:ea typeface="Microsoft JhengHei" panose="020B0604030504040204" pitchFamily="34" charset="-120"/>
              </a:rPr>
              <a:t>……</a:t>
            </a:r>
            <a:endParaRPr lang="zh-TW" altLang="en-US" sz="2800" dirty="0">
              <a:latin typeface="Microsoft JhengHei" panose="020B0604030504040204" pitchFamily="34" charset="-120"/>
              <a:ea typeface="Microsoft JhengHei" panose="020B0604030504040204" pitchFamily="34" charset="-120"/>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latin typeface="Microsoft JhengHei" panose="020B0604030504040204" pitchFamily="34" charset="-120"/>
                <a:ea typeface="Microsoft JhengHei" panose="020B0604030504040204" pitchFamily="34" charset="-120"/>
              </a:rPr>
              <a:t>Long-term Memory (</a:t>
            </a:r>
            <a:r>
              <a:rPr lang="zh-TW" altLang="en-US" dirty="0">
                <a:latin typeface="Microsoft JhengHei" panose="020B0604030504040204" pitchFamily="34" charset="-120"/>
                <a:ea typeface="Microsoft JhengHei" panose="020B0604030504040204" pitchFamily="34" charset="-120"/>
              </a:rPr>
              <a:t>長期記憶</a:t>
            </a:r>
            <a:r>
              <a:rPr lang="en-US" altLang="zh-TW" dirty="0">
                <a:latin typeface="Microsoft JhengHei" panose="020B0604030504040204" pitchFamily="34" charset="-120"/>
                <a:ea typeface="Microsoft JhengHei" panose="020B0604030504040204" pitchFamily="34" charset="-120"/>
              </a:rPr>
              <a:t>)</a:t>
            </a:r>
            <a:endParaRPr lang="zh-TW" altLang="en-US" dirty="0">
              <a:latin typeface="Microsoft JhengHei" panose="020B0604030504040204" pitchFamily="34" charset="-120"/>
              <a:ea typeface="Microsoft JhengHei" panose="020B0604030504040204" pitchFamily="34" charset="-120"/>
            </a:endParaRPr>
          </a:p>
        </p:txBody>
      </p:sp>
      <p:sp>
        <p:nvSpPr>
          <p:cNvPr id="3" name="內容版面配置區 2"/>
          <p:cNvSpPr>
            <a:spLocks noGrp="1"/>
          </p:cNvSpPr>
          <p:nvPr>
            <p:ph idx="1"/>
          </p:nvPr>
        </p:nvSpPr>
        <p:spPr/>
        <p:txBody>
          <a:bodyPr/>
          <a:lstStyle/>
          <a:p>
            <a:endParaRPr lang="zh-TW" altLang="en-US"/>
          </a:p>
        </p:txBody>
      </p:sp>
      <p:pic>
        <p:nvPicPr>
          <p:cNvPr id="5" name="圖片 4"/>
          <p:cNvPicPr>
            <a:picLocks noChangeAspect="1"/>
          </p:cNvPicPr>
          <p:nvPr/>
        </p:nvPicPr>
        <p:blipFill>
          <a:blip r:embed="rId1"/>
          <a:stretch>
            <a:fillRect/>
          </a:stretch>
        </p:blipFill>
        <p:spPr>
          <a:xfrm>
            <a:off x="838200" y="1825625"/>
            <a:ext cx="3746271" cy="4351338"/>
          </a:xfrm>
          <a:prstGeom prst="rect">
            <a:avLst/>
          </a:prstGeom>
        </p:spPr>
      </p:pic>
      <p:pic>
        <p:nvPicPr>
          <p:cNvPr id="7" name="圖片 6"/>
          <p:cNvPicPr>
            <a:picLocks noChangeAspect="1"/>
          </p:cNvPicPr>
          <p:nvPr/>
        </p:nvPicPr>
        <p:blipFill>
          <a:blip r:embed="rId2"/>
          <a:stretch>
            <a:fillRect/>
          </a:stretch>
        </p:blipFill>
        <p:spPr>
          <a:xfrm>
            <a:off x="4751462" y="1591139"/>
            <a:ext cx="6602338" cy="4901736"/>
          </a:xfrm>
          <a:prstGeom prst="rect">
            <a:avLst/>
          </a:prstGeom>
        </p:spPr>
      </p:pic>
      <p:sp>
        <p:nvSpPr>
          <p:cNvPr id="4" name="矩形: 圓角 3"/>
          <p:cNvSpPr/>
          <p:nvPr/>
        </p:nvSpPr>
        <p:spPr>
          <a:xfrm>
            <a:off x="6515100" y="2895600"/>
            <a:ext cx="4819650" cy="1600200"/>
          </a:xfrm>
          <a:prstGeom prst="roundRect">
            <a:avLst>
              <a:gd name="adj" fmla="val 8246"/>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圖片 11"/>
          <p:cNvPicPr>
            <a:picLocks noChangeAspect="1"/>
          </p:cNvPicPr>
          <p:nvPr/>
        </p:nvPicPr>
        <p:blipFill>
          <a:blip r:embed="rId1"/>
          <a:stretch>
            <a:fillRect/>
          </a:stretch>
        </p:blipFill>
        <p:spPr>
          <a:xfrm>
            <a:off x="1074197" y="1626512"/>
            <a:ext cx="10279603" cy="5231488"/>
          </a:xfrm>
          <a:prstGeom prst="rect">
            <a:avLst/>
          </a:prstGeom>
        </p:spPr>
      </p:pic>
      <p:sp>
        <p:nvSpPr>
          <p:cNvPr id="2" name="標題 1"/>
          <p:cNvSpPr>
            <a:spLocks noGrp="1"/>
          </p:cNvSpPr>
          <p:nvPr>
            <p:ph type="title"/>
          </p:nvPr>
        </p:nvSpPr>
        <p:spPr/>
        <p:txBody>
          <a:bodyPr/>
          <a:lstStyle/>
          <a:p>
            <a:r>
              <a:rPr lang="en-US" altLang="zh-TW" dirty="0">
                <a:latin typeface="Microsoft JhengHei" panose="020B0604030504040204" pitchFamily="34" charset="-120"/>
                <a:ea typeface="Microsoft JhengHei" panose="020B0604030504040204" pitchFamily="34" charset="-120"/>
              </a:rPr>
              <a:t>Long-term Memory (</a:t>
            </a:r>
            <a:r>
              <a:rPr lang="zh-TW" altLang="en-US" dirty="0">
                <a:latin typeface="Microsoft JhengHei" panose="020B0604030504040204" pitchFamily="34" charset="-120"/>
                <a:ea typeface="Microsoft JhengHei" panose="020B0604030504040204" pitchFamily="34" charset="-120"/>
              </a:rPr>
              <a:t>長期記憶</a:t>
            </a:r>
            <a:r>
              <a:rPr lang="en-US" altLang="zh-TW" dirty="0">
                <a:latin typeface="Microsoft JhengHei" panose="020B0604030504040204" pitchFamily="34" charset="-120"/>
                <a:ea typeface="Microsoft JhengHei" panose="020B0604030504040204" pitchFamily="34" charset="-120"/>
              </a:rPr>
              <a:t>)</a:t>
            </a:r>
            <a:endParaRPr lang="zh-TW" altLang="en-US" dirty="0"/>
          </a:p>
        </p:txBody>
      </p:sp>
      <p:pic>
        <p:nvPicPr>
          <p:cNvPr id="5" name="圖片 4"/>
          <p:cNvPicPr>
            <a:picLocks noChangeAspect="1"/>
          </p:cNvPicPr>
          <p:nvPr/>
        </p:nvPicPr>
        <p:blipFill>
          <a:blip r:embed="rId2"/>
          <a:stretch>
            <a:fillRect/>
          </a:stretch>
        </p:blipFill>
        <p:spPr>
          <a:xfrm>
            <a:off x="9028886" y="1203758"/>
            <a:ext cx="2831867" cy="865794"/>
          </a:xfrm>
          <a:prstGeom prst="rect">
            <a:avLst/>
          </a:prstGeom>
        </p:spPr>
      </p:pic>
      <p:sp>
        <p:nvSpPr>
          <p:cNvPr id="6" name="矩形: 圓角 5"/>
          <p:cNvSpPr/>
          <p:nvPr/>
        </p:nvSpPr>
        <p:spPr>
          <a:xfrm>
            <a:off x="9166087" y="365125"/>
            <a:ext cx="2557463" cy="89266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2800" dirty="0">
                <a:solidFill>
                  <a:schemeClr val="tx1"/>
                </a:solidFill>
              </a:rPr>
              <a:t>Long-term</a:t>
            </a:r>
            <a:endParaRPr lang="en-US" altLang="zh-TW" sz="2800" dirty="0">
              <a:solidFill>
                <a:schemeClr val="tx1"/>
              </a:solidFill>
            </a:endParaRPr>
          </a:p>
          <a:p>
            <a:pPr algn="ctr"/>
            <a:r>
              <a:rPr lang="en-US" altLang="zh-TW" sz="2800" dirty="0">
                <a:solidFill>
                  <a:schemeClr val="tx1"/>
                </a:solidFill>
              </a:rPr>
              <a:t>Memory </a:t>
            </a:r>
            <a:endParaRPr lang="zh-TW" altLang="en-US" sz="2800" dirty="0">
              <a:solidFill>
                <a:schemeClr val="tx1"/>
              </a:solidFill>
            </a:endParaRPr>
          </a:p>
        </p:txBody>
      </p:sp>
      <p:cxnSp>
        <p:nvCxnSpPr>
          <p:cNvPr id="14" name="直線接點 13"/>
          <p:cNvCxnSpPr/>
          <p:nvPr/>
        </p:nvCxnSpPr>
        <p:spPr>
          <a:xfrm>
            <a:off x="3715966" y="6264613"/>
            <a:ext cx="3463047"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來自其他資料源的相關資訊</a:t>
            </a:r>
            <a:endParaRPr lang="zh-TW" altLang="en-US" dirty="0">
              <a:latin typeface="Microsoft JhengHei" panose="020B0604030504040204" pitchFamily="34" charset="-120"/>
              <a:ea typeface="Microsoft JhengHei" panose="020B0604030504040204" pitchFamily="34" charset="-120"/>
            </a:endParaRPr>
          </a:p>
        </p:txBody>
      </p:sp>
      <p:pic>
        <p:nvPicPr>
          <p:cNvPr id="7"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433258" y="2709930"/>
            <a:ext cx="1037141" cy="1037141"/>
          </a:xfrm>
          <a:prstGeom prst="rect">
            <a:avLst/>
          </a:prstGeom>
          <a:noFill/>
          <a:extLst>
            <a:ext uri="{909E8E84-426E-40DD-AFC4-6F175D3DCCD1}">
              <a14:hiddenFill xmlns:a14="http://schemas.microsoft.com/office/drawing/2010/main">
                <a:solidFill>
                  <a:srgbClr val="FFFFFF"/>
                </a:solidFill>
              </a14:hiddenFill>
            </a:ext>
          </a:extLst>
        </p:spPr>
      </p:pic>
      <p:sp>
        <p:nvSpPr>
          <p:cNvPr id="8" name="文字方塊 7"/>
          <p:cNvSpPr txBox="1"/>
          <p:nvPr/>
        </p:nvSpPr>
        <p:spPr>
          <a:xfrm>
            <a:off x="45376" y="2838361"/>
            <a:ext cx="1714500"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網路 或</a:t>
            </a:r>
            <a:endPar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資料庫</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9" name="文字方塊 8"/>
          <p:cNvSpPr txBox="1"/>
          <p:nvPr/>
        </p:nvSpPr>
        <p:spPr>
          <a:xfrm>
            <a:off x="4345014" y="1965922"/>
            <a:ext cx="3292133"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任務</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0" name="矩形: 圓角 9"/>
          <p:cNvSpPr/>
          <p:nvPr/>
        </p:nvSpPr>
        <p:spPr>
          <a:xfrm>
            <a:off x="7851151" y="2646385"/>
            <a:ext cx="1693981" cy="1097684"/>
          </a:xfrm>
          <a:prstGeom prst="roundRect">
            <a:avLst/>
          </a:prstGeom>
          <a:solidFill>
            <a:schemeClr val="accent1">
              <a:lumMod val="20000"/>
              <a:lumOff val="80000"/>
            </a:schemeClr>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語言模型</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11" name="直線單箭頭接點 10"/>
          <p:cNvCxnSpPr/>
          <p:nvPr/>
        </p:nvCxnSpPr>
        <p:spPr>
          <a:xfrm>
            <a:off x="7133418" y="3170372"/>
            <a:ext cx="657170"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07844" y="3800336"/>
            <a:ext cx="1022191" cy="1022191"/>
          </a:xfrm>
          <a:prstGeom prst="rect">
            <a:avLst/>
          </a:prstGeom>
          <a:noFill/>
          <a:extLst>
            <a:ext uri="{909E8E84-426E-40DD-AFC4-6F175D3DCCD1}">
              <a14:hiddenFill xmlns:a14="http://schemas.microsoft.com/office/drawing/2010/main">
                <a:solidFill>
                  <a:srgbClr val="FFFFFF"/>
                </a:solidFill>
              </a14:hiddenFill>
            </a:ext>
          </a:extLst>
        </p:spPr>
      </p:pic>
      <p:cxnSp>
        <p:nvCxnSpPr>
          <p:cNvPr id="17" name="直線單箭頭接點 16"/>
          <p:cNvCxnSpPr/>
          <p:nvPr/>
        </p:nvCxnSpPr>
        <p:spPr>
          <a:xfrm>
            <a:off x="9545132" y="3195227"/>
            <a:ext cx="552203"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接點 20"/>
          <p:cNvCxnSpPr/>
          <p:nvPr/>
        </p:nvCxnSpPr>
        <p:spPr>
          <a:xfrm flipH="1">
            <a:off x="2876149" y="2172000"/>
            <a:ext cx="2276884"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線接點 23"/>
          <p:cNvCxnSpPr/>
          <p:nvPr/>
        </p:nvCxnSpPr>
        <p:spPr>
          <a:xfrm>
            <a:off x="2818999" y="2131480"/>
            <a:ext cx="0" cy="486113"/>
          </a:xfrm>
          <a:prstGeom prst="line">
            <a:avLst/>
          </a:prstGeom>
          <a:ln w="571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2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263604" y="2709930"/>
            <a:ext cx="1037141" cy="1037141"/>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093950" y="2709930"/>
            <a:ext cx="1037141" cy="1037141"/>
          </a:xfrm>
          <a:prstGeom prst="rect">
            <a:avLst/>
          </a:prstGeom>
          <a:noFill/>
          <a:extLst>
            <a:ext uri="{909E8E84-426E-40DD-AFC4-6F175D3DCCD1}">
              <a14:hiddenFill xmlns:a14="http://schemas.microsoft.com/office/drawing/2010/main">
                <a:solidFill>
                  <a:srgbClr val="FFFFFF"/>
                </a:solidFill>
              </a14:hiddenFill>
            </a:ext>
          </a:extLst>
        </p:spPr>
      </p:pic>
      <p:cxnSp>
        <p:nvCxnSpPr>
          <p:cNvPr id="28" name="直線接點 27"/>
          <p:cNvCxnSpPr/>
          <p:nvPr/>
        </p:nvCxnSpPr>
        <p:spPr>
          <a:xfrm>
            <a:off x="2876149" y="4319038"/>
            <a:ext cx="2276884" cy="0"/>
          </a:xfrm>
          <a:prstGeom prst="line">
            <a:avLst/>
          </a:prstGeom>
          <a:ln w="571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直線接點 29"/>
          <p:cNvCxnSpPr/>
          <p:nvPr/>
        </p:nvCxnSpPr>
        <p:spPr>
          <a:xfrm>
            <a:off x="2839324" y="3833784"/>
            <a:ext cx="0" cy="486113"/>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3" name="文字方塊 32"/>
          <p:cNvSpPr txBox="1"/>
          <p:nvPr/>
        </p:nvSpPr>
        <p:spPr>
          <a:xfrm>
            <a:off x="3387120" y="1655184"/>
            <a:ext cx="125494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搜尋</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pic>
        <p:nvPicPr>
          <p:cNvPr id="20" name="圖片 19" descr="一張含有 Rectangle, 正方形, 視窗, 螢幕擷取畫面 的圖片&#10;&#10;自動產生的描述"/>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81954" y="2564636"/>
            <a:ext cx="1261182" cy="1261182"/>
          </a:xfrm>
          <a:prstGeom prst="rect">
            <a:avLst/>
          </a:prstGeom>
        </p:spPr>
      </p:pic>
      <p:cxnSp>
        <p:nvCxnSpPr>
          <p:cNvPr id="34" name="直線接點 33"/>
          <p:cNvCxnSpPr/>
          <p:nvPr/>
        </p:nvCxnSpPr>
        <p:spPr>
          <a:xfrm>
            <a:off x="7133418" y="2223817"/>
            <a:ext cx="0" cy="946555"/>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直線接點 36"/>
          <p:cNvCxnSpPr/>
          <p:nvPr/>
        </p:nvCxnSpPr>
        <p:spPr>
          <a:xfrm flipH="1">
            <a:off x="6662489" y="2172001"/>
            <a:ext cx="470929"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直線接點 38"/>
          <p:cNvCxnSpPr/>
          <p:nvPr/>
        </p:nvCxnSpPr>
        <p:spPr>
          <a:xfrm flipH="1">
            <a:off x="6662489" y="4329415"/>
            <a:ext cx="470929"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直線接點 40"/>
          <p:cNvCxnSpPr/>
          <p:nvPr/>
        </p:nvCxnSpPr>
        <p:spPr>
          <a:xfrm>
            <a:off x="7133418" y="3210516"/>
            <a:ext cx="0" cy="1100915"/>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 name="文字方塊 3"/>
          <p:cNvSpPr txBox="1"/>
          <p:nvPr/>
        </p:nvSpPr>
        <p:spPr>
          <a:xfrm>
            <a:off x="4345013" y="3318890"/>
            <a:ext cx="3292133"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額外資訊</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5" name="文字方塊 4"/>
          <p:cNvSpPr txBox="1"/>
          <p:nvPr/>
        </p:nvSpPr>
        <p:spPr>
          <a:xfrm>
            <a:off x="7851152" y="4076839"/>
            <a:ext cx="4223618"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Retrieval Augmented Generation (RAG)</a:t>
            </a:r>
            <a:endParaRPr kumimoji="0" lang="zh-TW" altLang="en-US"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pic>
        <p:nvPicPr>
          <p:cNvPr id="6" name="圖片 5"/>
          <p:cNvPicPr>
            <a:picLocks noChangeAspect="1"/>
          </p:cNvPicPr>
          <p:nvPr/>
        </p:nvPicPr>
        <p:blipFill>
          <a:blip r:embed="rId4"/>
          <a:stretch>
            <a:fillRect/>
          </a:stretch>
        </p:blipFill>
        <p:spPr>
          <a:xfrm>
            <a:off x="3356096" y="5248608"/>
            <a:ext cx="8211813" cy="1419326"/>
          </a:xfrm>
          <a:prstGeom prst="rect">
            <a:avLst/>
          </a:prstGeom>
        </p:spPr>
      </p:pic>
      <p:sp>
        <p:nvSpPr>
          <p:cNvPr id="12" name="文字方塊 11"/>
          <p:cNvSpPr txBox="1"/>
          <p:nvPr/>
        </p:nvSpPr>
        <p:spPr>
          <a:xfrm>
            <a:off x="679867" y="5542772"/>
            <a:ext cx="2972140"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ChatGPT </a:t>
            </a: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可以輕易搭配搜尋引擎使用</a:t>
            </a:r>
            <a:endParaRPr kumimoji="0" lang="en-US" altLang="zh-TW" sz="2400" b="0" i="0" u="none" strike="noStrike" kern="1200" cap="none" spc="0" normalizeH="0" baseline="0" noProof="0" dirty="0">
              <a:ln>
                <a:noFill/>
              </a:ln>
              <a:solidFill>
                <a:srgbClr val="FF0000"/>
              </a:solidFill>
              <a:effectLst/>
              <a:uLnTx/>
              <a:uFillTx/>
              <a:latin typeface="Microsoft JhengHei" panose="020B0604030504040204" pitchFamily="34" charset="-120"/>
              <a:ea typeface="Microsoft JhengHei" panose="020B0604030504040204" pitchFamily="34" charset="-120"/>
              <a:cs typeface="+mn-cs"/>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5"/>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12"/>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33" grpId="0"/>
      <p:bldP spid="4" grpId="0"/>
      <p:bldP spid="5" grpId="0"/>
      <p:bldP spid="1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來自其他資料源的相關資訊</a:t>
            </a:r>
            <a:endParaRPr lang="zh-TW" altLang="en-US" dirty="0">
              <a:latin typeface="Microsoft JhengHei" panose="020B0604030504040204" pitchFamily="34" charset="-120"/>
              <a:ea typeface="Microsoft JhengHei" panose="020B0604030504040204" pitchFamily="34" charset="-120"/>
            </a:endParaRPr>
          </a:p>
        </p:txBody>
      </p:sp>
      <p:sp>
        <p:nvSpPr>
          <p:cNvPr id="5" name="文字方塊 4"/>
          <p:cNvSpPr txBox="1"/>
          <p:nvPr/>
        </p:nvSpPr>
        <p:spPr>
          <a:xfrm>
            <a:off x="838200" y="6099680"/>
            <a:ext cx="11029122"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Source of image: </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https://www.linkedin.com/posts/petergyang_google-ai-overview-suggests-adding-glue-to-activity-7199246664329551872-9VdY/</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pic>
        <p:nvPicPr>
          <p:cNvPr id="6" name="圖片 5"/>
          <p:cNvPicPr>
            <a:picLocks noChangeAspect="1"/>
          </p:cNvPicPr>
          <p:nvPr/>
        </p:nvPicPr>
        <p:blipFill>
          <a:blip r:embed="rId1"/>
          <a:stretch>
            <a:fillRect/>
          </a:stretch>
        </p:blipFill>
        <p:spPr>
          <a:xfrm>
            <a:off x="1636330" y="1609195"/>
            <a:ext cx="9434431" cy="4351338"/>
          </a:xfrm>
          <a:prstGeom prst="rect">
            <a:avLst/>
          </a:prstGeom>
        </p:spPr>
      </p:pic>
      <p:sp>
        <p:nvSpPr>
          <p:cNvPr id="3" name="矩形 2"/>
          <p:cNvSpPr/>
          <p:nvPr/>
        </p:nvSpPr>
        <p:spPr>
          <a:xfrm>
            <a:off x="6251161" y="1450021"/>
            <a:ext cx="6325612" cy="466968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字方塊 3"/>
          <p:cNvSpPr txBox="1"/>
          <p:nvPr/>
        </p:nvSpPr>
        <p:spPr>
          <a:xfrm>
            <a:off x="360738" y="890468"/>
            <a:ext cx="3802488" cy="80021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2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ChatGPT 4o</a:t>
            </a:r>
            <a:endParaRPr kumimoji="0" lang="en-US" altLang="zh-TW" sz="2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1800" b="0" i="0" u="none" strike="noStrike" kern="1200" cap="none" spc="0" normalizeH="0" baseline="0" noProof="0" dirty="0">
                <a:ln>
                  <a:noFill/>
                </a:ln>
                <a:solidFill>
                  <a:srgbClr val="FF0000"/>
                </a:solidFill>
                <a:effectLst/>
                <a:uLnTx/>
                <a:uFillTx/>
                <a:latin typeface="Microsoft JhengHei" panose="020B0604030504040204" pitchFamily="34" charset="-120"/>
                <a:ea typeface="Microsoft JhengHei" panose="020B0604030504040204" pitchFamily="34" charset="-120"/>
                <a:cs typeface="+mn-cs"/>
              </a:rPr>
              <a:t>(</a:t>
            </a:r>
            <a:r>
              <a:rPr kumimoji="0" lang="zh-TW" altLang="en-US" sz="1800" b="1" i="0" u="none" strike="noStrike" kern="1200" cap="none" spc="0" normalizeH="0" baseline="0" noProof="0" dirty="0">
                <a:ln>
                  <a:noFill/>
                </a:ln>
                <a:solidFill>
                  <a:srgbClr val="FF0000"/>
                </a:solidFill>
                <a:effectLst/>
                <a:uLnTx/>
                <a:uFillTx/>
                <a:latin typeface="Microsoft JhengHei" panose="020B0604030504040204" pitchFamily="34" charset="-120"/>
                <a:ea typeface="Microsoft JhengHei" panose="020B0604030504040204" pitchFamily="34" charset="-120"/>
                <a:cs typeface="+mn-cs"/>
              </a:rPr>
              <a:t>開啟</a:t>
            </a:r>
            <a:r>
              <a:rPr kumimoji="0" lang="zh-TW" altLang="en-US" sz="1800" b="0" i="0" u="none" strike="noStrike" kern="1200" cap="none" spc="0" normalizeH="0" baseline="0" noProof="0" dirty="0">
                <a:ln>
                  <a:noFill/>
                </a:ln>
                <a:solidFill>
                  <a:srgbClr val="FF0000"/>
                </a:solidFill>
                <a:effectLst/>
                <a:uLnTx/>
                <a:uFillTx/>
                <a:latin typeface="Microsoft JhengHei" panose="020B0604030504040204" pitchFamily="34" charset="-120"/>
                <a:ea typeface="Microsoft JhengHei" panose="020B0604030504040204" pitchFamily="34" charset="-120"/>
                <a:cs typeface="+mn-cs"/>
              </a:rPr>
              <a:t>使用搜尋引擎的功能</a:t>
            </a:r>
            <a:r>
              <a:rPr kumimoji="0" lang="en-US" altLang="zh-TW" sz="1800" b="0" i="0" u="none" strike="noStrike" kern="1200" cap="none" spc="0" normalizeH="0" baseline="0" noProof="0" dirty="0">
                <a:ln>
                  <a:noFill/>
                </a:ln>
                <a:solidFill>
                  <a:srgbClr val="FF0000"/>
                </a:solidFill>
                <a:effectLst/>
                <a:uLnTx/>
                <a:uFillTx/>
                <a:latin typeface="Microsoft JhengHei" panose="020B0604030504040204" pitchFamily="34" charset="-120"/>
                <a:ea typeface="Microsoft JhengHei" panose="020B0604030504040204" pitchFamily="34" charset="-120"/>
                <a:cs typeface="+mn-cs"/>
              </a:rPr>
              <a:t>)</a:t>
            </a:r>
            <a:endParaRPr kumimoji="0" lang="en-US" altLang="zh-TW" sz="1800" b="0" i="0" u="none" strike="noStrike" kern="1200" cap="none" spc="0" normalizeH="0" baseline="0" noProof="0" dirty="0">
              <a:ln>
                <a:noFill/>
              </a:ln>
              <a:solidFill>
                <a:srgbClr val="FF0000"/>
              </a:solidFill>
              <a:effectLst/>
              <a:uLnTx/>
              <a:uFillTx/>
              <a:latin typeface="Microsoft JhengHei" panose="020B0604030504040204" pitchFamily="34" charset="-120"/>
              <a:ea typeface="Microsoft JhengHei" panose="020B0604030504040204" pitchFamily="34" charset="-120"/>
              <a:cs typeface="+mn-cs"/>
            </a:endParaRPr>
          </a:p>
        </p:txBody>
      </p:sp>
      <p:pic>
        <p:nvPicPr>
          <p:cNvPr id="3" name="圖片 2"/>
          <p:cNvPicPr>
            <a:picLocks noChangeAspect="1"/>
          </p:cNvPicPr>
          <p:nvPr/>
        </p:nvPicPr>
        <p:blipFill>
          <a:blip r:embed="rId1"/>
          <a:stretch>
            <a:fillRect/>
          </a:stretch>
        </p:blipFill>
        <p:spPr>
          <a:xfrm>
            <a:off x="4168152" y="408632"/>
            <a:ext cx="7672904" cy="1287286"/>
          </a:xfrm>
          <a:prstGeom prst="rect">
            <a:avLst/>
          </a:prstGeom>
        </p:spPr>
      </p:pic>
      <p:sp>
        <p:nvSpPr>
          <p:cNvPr id="7" name="文字方塊 6"/>
          <p:cNvSpPr txBox="1"/>
          <p:nvPr/>
        </p:nvSpPr>
        <p:spPr>
          <a:xfrm>
            <a:off x="360738" y="85466"/>
            <a:ext cx="1016459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https://chatgpt.com/share/688f1941-68c8-8010-b1f0-5dd30a5af184</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pic>
        <p:nvPicPr>
          <p:cNvPr id="11" name="圖片 10"/>
          <p:cNvPicPr>
            <a:picLocks noChangeAspect="1"/>
          </p:cNvPicPr>
          <p:nvPr/>
        </p:nvPicPr>
        <p:blipFill>
          <a:blip r:embed="rId2"/>
          <a:stretch>
            <a:fillRect/>
          </a:stretch>
        </p:blipFill>
        <p:spPr>
          <a:xfrm>
            <a:off x="360738" y="1849358"/>
            <a:ext cx="8469660" cy="4430284"/>
          </a:xfrm>
          <a:prstGeom prst="rect">
            <a:avLst/>
          </a:prstGeom>
        </p:spPr>
      </p:pic>
      <p:pic>
        <p:nvPicPr>
          <p:cNvPr id="13" name="圖片 12"/>
          <p:cNvPicPr>
            <a:picLocks noChangeAspect="1"/>
          </p:cNvPicPr>
          <p:nvPr/>
        </p:nvPicPr>
        <p:blipFill>
          <a:blip r:embed="rId3"/>
          <a:stretch>
            <a:fillRect/>
          </a:stretch>
        </p:blipFill>
        <p:spPr>
          <a:xfrm>
            <a:off x="3296921" y="2444002"/>
            <a:ext cx="8895079" cy="4413998"/>
          </a:xfrm>
          <a:prstGeom prst="rect">
            <a:avLst/>
          </a:prstGeom>
        </p:spPr>
      </p:pic>
      <p:sp>
        <p:nvSpPr>
          <p:cNvPr id="14" name="矩形: 圓角 13"/>
          <p:cNvSpPr/>
          <p:nvPr/>
        </p:nvSpPr>
        <p:spPr>
          <a:xfrm>
            <a:off x="4847771" y="2902857"/>
            <a:ext cx="1886858" cy="34834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latin typeface="Microsoft JhengHei" panose="020B0604030504040204" pitchFamily="34" charset="-120"/>
                <a:ea typeface="Microsoft JhengHei" panose="020B0604030504040204" pitchFamily="34" charset="-120"/>
              </a:rPr>
              <a:t>Tool Use</a:t>
            </a:r>
            <a:endParaRPr lang="zh-TW" altLang="en-US" dirty="0">
              <a:latin typeface="Microsoft JhengHei" panose="020B0604030504040204" pitchFamily="34" charset="-120"/>
              <a:ea typeface="Microsoft JhengHei" panose="020B0604030504040204" pitchFamily="34" charset="-120"/>
            </a:endParaRPr>
          </a:p>
        </p:txBody>
      </p:sp>
      <p:pic>
        <p:nvPicPr>
          <p:cNvPr id="1028" name="Picture 4"/>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785683" y="1529448"/>
            <a:ext cx="995920" cy="995920"/>
          </a:xfrm>
          <a:prstGeom prst="rect">
            <a:avLst/>
          </a:prstGeom>
          <a:noFill/>
          <a:extLst>
            <a:ext uri="{909E8E84-426E-40DD-AFC4-6F175D3DCCD1}">
              <a14:hiddenFill xmlns:a14="http://schemas.microsoft.com/office/drawing/2010/main">
                <a:solidFill>
                  <a:srgbClr val="FFFFFF"/>
                </a:solidFill>
              </a14:hiddenFill>
            </a:ext>
          </a:extLst>
        </p:spPr>
      </p:pic>
      <p:sp>
        <p:nvSpPr>
          <p:cNvPr id="4" name="文字方塊 3"/>
          <p:cNvSpPr txBox="1"/>
          <p:nvPr/>
        </p:nvSpPr>
        <p:spPr>
          <a:xfrm>
            <a:off x="1396110" y="4257017"/>
            <a:ext cx="1809750"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Gmail</a:t>
            </a:r>
            <a:endParaRPr kumimoji="0" lang="zh-TW" altLang="en-US" sz="2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5" name="文字方塊 4"/>
          <p:cNvSpPr txBox="1"/>
          <p:nvPr/>
        </p:nvSpPr>
        <p:spPr>
          <a:xfrm>
            <a:off x="907280" y="2525368"/>
            <a:ext cx="2752725"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Search </a:t>
            </a:r>
            <a:endParaRPr kumimoji="0" lang="en-US" altLang="zh-TW" sz="2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6" name="文字方塊 5"/>
          <p:cNvSpPr txBox="1"/>
          <p:nvPr/>
        </p:nvSpPr>
        <p:spPr>
          <a:xfrm>
            <a:off x="1148171" y="6043386"/>
            <a:ext cx="2305628"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Calendar</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pic>
        <p:nvPicPr>
          <p:cNvPr id="15362" name="Picture 2" descr="undefined"/>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53847" y="3220981"/>
            <a:ext cx="1294277" cy="970708"/>
          </a:xfrm>
          <a:prstGeom prst="rect">
            <a:avLst/>
          </a:prstGeom>
          <a:noFill/>
          <a:extLst>
            <a:ext uri="{909E8E84-426E-40DD-AFC4-6F175D3DCCD1}">
              <a14:hiddenFill xmlns:a14="http://schemas.microsoft.com/office/drawing/2010/main">
                <a:solidFill>
                  <a:srgbClr val="FFFFFF"/>
                </a:solidFill>
              </a14:hiddenFill>
            </a:ext>
          </a:extLst>
        </p:spPr>
      </p:pic>
      <p:pic>
        <p:nvPicPr>
          <p:cNvPr id="15364" name="Picture 4" descr="Google-Calendar_Product"/>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53847" y="4845565"/>
            <a:ext cx="1294277" cy="1294277"/>
          </a:xfrm>
          <a:prstGeom prst="rect">
            <a:avLst/>
          </a:prstGeom>
          <a:noFill/>
          <a:extLst>
            <a:ext uri="{909E8E84-426E-40DD-AFC4-6F175D3DCCD1}">
              <a14:hiddenFill xmlns:a14="http://schemas.microsoft.com/office/drawing/2010/main">
                <a:solidFill>
                  <a:srgbClr val="FFFFFF"/>
                </a:solidFill>
              </a14:hiddenFill>
            </a:ext>
          </a:extLst>
        </p:spPr>
      </p:pic>
      <p:pic>
        <p:nvPicPr>
          <p:cNvPr id="11" name="圖片 10"/>
          <p:cNvPicPr>
            <a:picLocks noChangeAspect="1"/>
          </p:cNvPicPr>
          <p:nvPr/>
        </p:nvPicPr>
        <p:blipFill>
          <a:blip r:embed="rId4"/>
          <a:stretch>
            <a:fillRect/>
          </a:stretch>
        </p:blipFill>
        <p:spPr>
          <a:xfrm>
            <a:off x="3669830" y="1529448"/>
            <a:ext cx="7936807" cy="4820576"/>
          </a:xfrm>
          <a:prstGeom prst="rect">
            <a:avLst/>
          </a:prstGeom>
        </p:spPr>
      </p:pic>
      <p:sp>
        <p:nvSpPr>
          <p:cNvPr id="3" name="文字方塊 2"/>
          <p:cNvSpPr txBox="1"/>
          <p:nvPr/>
        </p:nvSpPr>
        <p:spPr>
          <a:xfrm>
            <a:off x="9202444" y="1027906"/>
            <a:ext cx="2367387" cy="523220"/>
          </a:xfrm>
          <a:prstGeom prst="rect">
            <a:avLst/>
          </a:prstGeom>
          <a:noFill/>
        </p:spPr>
        <p:txBody>
          <a:bodyPr wrap="square" rtlCol="0">
            <a:spAutoFit/>
          </a:bodyPr>
          <a:lstStyle/>
          <a:p>
            <a:pPr algn="r"/>
            <a:r>
              <a:rPr lang="en-US" altLang="zh-TW" sz="2800" dirty="0"/>
              <a:t>Gemini</a:t>
            </a:r>
            <a:endParaRPr lang="zh-TW" altLang="en-US" sz="2800" dirty="0"/>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latin typeface="Microsoft JhengHei" panose="020B0604030504040204" pitchFamily="34" charset="-120"/>
                <a:ea typeface="Microsoft JhengHei" panose="020B0604030504040204" pitchFamily="34" charset="-120"/>
              </a:rPr>
              <a:t>Tool Use</a:t>
            </a:r>
            <a:endParaRPr lang="zh-TW" altLang="en-US" dirty="0">
              <a:latin typeface="Microsoft JhengHei" panose="020B0604030504040204" pitchFamily="34" charset="-120"/>
              <a:ea typeface="Microsoft JhengHei" panose="020B0604030504040204" pitchFamily="34" charset="-120"/>
            </a:endParaRPr>
          </a:p>
        </p:txBody>
      </p:sp>
      <p:sp>
        <p:nvSpPr>
          <p:cNvPr id="6" name="文字方塊 5"/>
          <p:cNvSpPr txBox="1"/>
          <p:nvPr/>
        </p:nvSpPr>
        <p:spPr>
          <a:xfrm>
            <a:off x="1428750" y="1502525"/>
            <a:ext cx="7810500"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如果遇到根據你的知識無法回答的問題，使用工具</a:t>
            </a:r>
            <a:endPar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把使用工具的指令放在 &lt;tool&gt; 和 &lt;/tool&gt; 中間，使用完工具後你會得到輸出，放在 &lt;output&gt; 和 &lt;/output&gt; 中間</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7" name="矩形: 圓角 6"/>
          <p:cNvSpPr/>
          <p:nvPr/>
        </p:nvSpPr>
        <p:spPr>
          <a:xfrm>
            <a:off x="4943475" y="4822997"/>
            <a:ext cx="1228725" cy="918462"/>
          </a:xfrm>
          <a:prstGeom prst="roundRect">
            <a:avLst/>
          </a:prstGeom>
          <a:ln w="38100">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語言</a:t>
            </a:r>
            <a:endPar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模型</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9" name="文字方塊 8"/>
          <p:cNvSpPr txBox="1"/>
          <p:nvPr/>
        </p:nvSpPr>
        <p:spPr>
          <a:xfrm>
            <a:off x="1466851" y="2836322"/>
            <a:ext cx="8153400" cy="92333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現在你可以使用的工具如下：</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查詢某地、某時溫度的函式 Temperature(location, time)，使用範例：Temperature('台北', '2025.02.22 14:26') </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11" name="文字方塊 10"/>
          <p:cNvSpPr txBox="1"/>
          <p:nvPr/>
        </p:nvSpPr>
        <p:spPr>
          <a:xfrm>
            <a:off x="1485900" y="3950212"/>
            <a:ext cx="767715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2025 </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年 </a:t>
            </a: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3 </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月 </a:t>
            </a: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10 </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日那天下午 </a:t>
            </a: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2:00 </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，高雄氣溫如何</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cxnSp>
        <p:nvCxnSpPr>
          <p:cNvPr id="15" name="直線單箭頭接點 14"/>
          <p:cNvCxnSpPr>
            <a:stCxn id="7" idx="2"/>
          </p:cNvCxnSpPr>
          <p:nvPr/>
        </p:nvCxnSpPr>
        <p:spPr>
          <a:xfrm flipH="1">
            <a:off x="5557837" y="5741459"/>
            <a:ext cx="1" cy="38396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單箭頭接點 15"/>
          <p:cNvCxnSpPr/>
          <p:nvPr/>
        </p:nvCxnSpPr>
        <p:spPr>
          <a:xfrm flipH="1">
            <a:off x="5567361" y="4391990"/>
            <a:ext cx="1" cy="38396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p:cNvSpPr txBox="1"/>
          <p:nvPr/>
        </p:nvSpPr>
        <p:spPr>
          <a:xfrm>
            <a:off x="9268278" y="1712326"/>
            <a:ext cx="154350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如何使用所有工具</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20" name="文字方塊 19"/>
          <p:cNvSpPr txBox="1"/>
          <p:nvPr/>
        </p:nvSpPr>
        <p:spPr>
          <a:xfrm>
            <a:off x="9306379" y="2818281"/>
            <a:ext cx="154350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特定工具使用方式</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21" name="文字方塊 20"/>
          <p:cNvSpPr txBox="1"/>
          <p:nvPr/>
        </p:nvSpPr>
        <p:spPr>
          <a:xfrm>
            <a:off x="6624640" y="3912112"/>
            <a:ext cx="2218874"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2400" b="1" i="0" u="none" strike="noStrike" kern="1200" cap="none" spc="0" normalizeH="0" baseline="0" noProof="0" dirty="0">
                <a:ln>
                  <a:noFill/>
                </a:ln>
                <a:solidFill>
                  <a:srgbClr val="0000FF"/>
                </a:solidFill>
                <a:effectLst/>
                <a:uLnTx/>
                <a:uFillTx/>
                <a:latin typeface="Microsoft JhengHei" panose="020B0604030504040204" pitchFamily="34" charset="-120"/>
                <a:ea typeface="Microsoft JhengHei" panose="020B0604030504040204" pitchFamily="34" charset="-120"/>
                <a:cs typeface="+mn-cs"/>
              </a:rPr>
              <a:t>User Prompt</a:t>
            </a:r>
            <a:endParaRPr kumimoji="0" lang="zh-TW" altLang="en-US" sz="2400" b="1" i="0" u="none" strike="noStrike" kern="1200" cap="none" spc="0" normalizeH="0" baseline="0" noProof="0" dirty="0">
              <a:ln>
                <a:noFill/>
              </a:ln>
              <a:solidFill>
                <a:srgbClr val="0000FF"/>
              </a:solidFill>
              <a:effectLst/>
              <a:uLnTx/>
              <a:uFillTx/>
              <a:latin typeface="Microsoft JhengHei" panose="020B0604030504040204" pitchFamily="34" charset="-120"/>
              <a:ea typeface="Microsoft JhengHei" panose="020B0604030504040204" pitchFamily="34" charset="-120"/>
              <a:cs typeface="+mn-cs"/>
            </a:endParaRPr>
          </a:p>
        </p:txBody>
      </p:sp>
      <p:sp>
        <p:nvSpPr>
          <p:cNvPr id="23" name="矩形: 圓角 22"/>
          <p:cNvSpPr/>
          <p:nvPr/>
        </p:nvSpPr>
        <p:spPr>
          <a:xfrm>
            <a:off x="1428750" y="1533913"/>
            <a:ext cx="7810500" cy="1139351"/>
          </a:xfrm>
          <a:prstGeom prst="roundRect">
            <a:avLst>
              <a:gd name="adj" fmla="val 10097"/>
            </a:avLst>
          </a:prstGeom>
          <a:noFill/>
          <a:ln w="38100">
            <a:solidFill>
              <a:schemeClr val="tx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
        <p:nvSpPr>
          <p:cNvPr id="24" name="矩形: 圓角 23"/>
          <p:cNvSpPr/>
          <p:nvPr/>
        </p:nvSpPr>
        <p:spPr>
          <a:xfrm>
            <a:off x="1428750" y="2818281"/>
            <a:ext cx="7810500" cy="937804"/>
          </a:xfrm>
          <a:prstGeom prst="roundRect">
            <a:avLst>
              <a:gd name="adj" fmla="val 10097"/>
            </a:avLst>
          </a:prstGeom>
          <a:noFill/>
          <a:ln w="38100">
            <a:solidFill>
              <a:schemeClr val="tx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
        <p:nvSpPr>
          <p:cNvPr id="25" name="矩形: 圓角 24"/>
          <p:cNvSpPr/>
          <p:nvPr/>
        </p:nvSpPr>
        <p:spPr>
          <a:xfrm>
            <a:off x="1333499" y="3951215"/>
            <a:ext cx="5295891" cy="393729"/>
          </a:xfrm>
          <a:prstGeom prst="roundRect">
            <a:avLst>
              <a:gd name="adj" fmla="val 10097"/>
            </a:avLst>
          </a:prstGeom>
          <a:noFill/>
          <a:ln w="38100">
            <a:solidFill>
              <a:srgbClr val="00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
        <p:nvSpPr>
          <p:cNvPr id="26" name="矩形: 圓角 25"/>
          <p:cNvSpPr/>
          <p:nvPr/>
        </p:nvSpPr>
        <p:spPr>
          <a:xfrm>
            <a:off x="1143002" y="1429615"/>
            <a:ext cx="9706882" cy="3025927"/>
          </a:xfrm>
          <a:prstGeom prst="roundRect">
            <a:avLst>
              <a:gd name="adj" fmla="val 4705"/>
            </a:avLst>
          </a:prstGeom>
          <a:noFill/>
          <a:ln w="38100">
            <a:solidFill>
              <a:srgbClr val="00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
        <p:nvSpPr>
          <p:cNvPr id="28" name="文字方塊 27"/>
          <p:cNvSpPr txBox="1"/>
          <p:nvPr/>
        </p:nvSpPr>
        <p:spPr>
          <a:xfrm>
            <a:off x="6834412" y="6077376"/>
            <a:ext cx="5171625"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2400" b="1" i="0" u="none" strike="noStrike" kern="1200" cap="none" spc="0" normalizeH="0" baseline="0" noProof="0" dirty="0">
                <a:ln>
                  <a:noFill/>
                </a:ln>
                <a:solidFill>
                  <a:srgbClr val="0000FF"/>
                </a:solidFill>
                <a:effectLst/>
                <a:uLnTx/>
                <a:uFillTx/>
                <a:latin typeface="Microsoft JhengHei" panose="020B0604030504040204" pitchFamily="34" charset="-120"/>
                <a:ea typeface="Microsoft JhengHei" panose="020B0604030504040204" pitchFamily="34" charset="-120"/>
                <a:cs typeface="+mn-cs"/>
              </a:rPr>
              <a:t>這就是一串文字，無法真的呼叫</a:t>
            </a:r>
            <a:r>
              <a:rPr lang="zh-TW" altLang="en-US" sz="2400" b="1" dirty="0">
                <a:solidFill>
                  <a:srgbClr val="0000FF"/>
                </a:solidFill>
                <a:latin typeface="Microsoft JhengHei" panose="020B0604030504040204" pitchFamily="34" charset="-120"/>
                <a:ea typeface="Microsoft JhengHei" panose="020B0604030504040204" pitchFamily="34" charset="-120"/>
              </a:rPr>
              <a:t>工具</a:t>
            </a:r>
            <a:endParaRPr kumimoji="0" lang="zh-TW" altLang="en-US" sz="2400" b="1" i="0" u="none" strike="noStrike" kern="1200" cap="none" spc="0" normalizeH="0" baseline="0" noProof="0" dirty="0">
              <a:ln>
                <a:noFill/>
              </a:ln>
              <a:solidFill>
                <a:srgbClr val="0000FF"/>
              </a:solidFill>
              <a:effectLst/>
              <a:uLnTx/>
              <a:uFillTx/>
              <a:latin typeface="Microsoft JhengHei" panose="020B0604030504040204" pitchFamily="34" charset="-120"/>
              <a:ea typeface="Microsoft JhengHei" panose="020B0604030504040204" pitchFamily="34" charset="-120"/>
              <a:cs typeface="+mn-cs"/>
            </a:endParaRPr>
          </a:p>
        </p:txBody>
      </p:sp>
      <p:sp>
        <p:nvSpPr>
          <p:cNvPr id="30" name="文字方塊 29"/>
          <p:cNvSpPr txBox="1"/>
          <p:nvPr/>
        </p:nvSpPr>
        <p:spPr>
          <a:xfrm>
            <a:off x="1695450" y="6123543"/>
            <a:ext cx="6096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&lt;tool&gt;Temperature('</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高雄</a:t>
            </a: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'2025.03.10 14:00')&lt;/tool&gt;</a:t>
            </a:r>
            <a:endPar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31" name="文字方塊 30"/>
          <p:cNvSpPr txBox="1"/>
          <p:nvPr/>
        </p:nvSpPr>
        <p:spPr>
          <a:xfrm>
            <a:off x="6215569" y="5119810"/>
            <a:ext cx="3151761"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gpt-4o-mini</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3" name="文字方塊 2"/>
          <p:cNvSpPr txBox="1"/>
          <p:nvPr/>
        </p:nvSpPr>
        <p:spPr>
          <a:xfrm>
            <a:off x="6739161" y="95855"/>
            <a:ext cx="556736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t>
            </a:r>
            <a:r>
              <a:rPr kumimoji="0" lang="zh-TW" altLang="en-US"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使用工具的方法很多，這邊是只是一個通用的方法</a:t>
            </a:r>
            <a:r>
              <a:rPr kumimoji="0" lang="en-US" altLang="zh-TW"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t>
            </a:r>
            <a:endParaRPr kumimoji="0" lang="zh-TW" altLang="en-US"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19" grpId="0"/>
      <p:bldP spid="20" grpId="0"/>
      <p:bldP spid="21" grpId="0"/>
      <p:bldP spid="23" grpId="0" animBg="1"/>
      <p:bldP spid="24" grpId="0" animBg="1"/>
      <p:bldP spid="25" grpId="0" animBg="1"/>
      <p:bldP spid="26" grpId="0" animBg="1"/>
      <p:bldP spid="28" grpId="0"/>
      <p:bldP spid="30"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矩形: 圓角 37"/>
          <p:cNvSpPr/>
          <p:nvPr/>
        </p:nvSpPr>
        <p:spPr>
          <a:xfrm>
            <a:off x="6796413" y="4166382"/>
            <a:ext cx="3060824" cy="365465"/>
          </a:xfrm>
          <a:prstGeom prst="roundRect">
            <a:avLst/>
          </a:prstGeom>
          <a:solidFill>
            <a:schemeClr val="accent5">
              <a:lumMod val="20000"/>
              <a:lumOff val="80000"/>
            </a:schemeClr>
          </a:solidFill>
          <a:ln w="19050">
            <a:noFill/>
            <a:prstDash val="sysDot"/>
          </a:ln>
        </p:spPr>
        <p:style>
          <a:lnRef idx="1">
            <a:schemeClr val="accent5"/>
          </a:lnRef>
          <a:fillRef idx="2">
            <a:schemeClr val="accent5"/>
          </a:fillRef>
          <a:effectRef idx="1">
            <a:schemeClr val="accent5"/>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37" name="矩形: 圓角 36"/>
          <p:cNvSpPr/>
          <p:nvPr/>
        </p:nvSpPr>
        <p:spPr>
          <a:xfrm>
            <a:off x="1618880" y="4176513"/>
            <a:ext cx="5155433" cy="365465"/>
          </a:xfrm>
          <a:prstGeom prst="roundRect">
            <a:avLst/>
          </a:prstGeom>
          <a:solidFill>
            <a:schemeClr val="accent5">
              <a:lumMod val="20000"/>
              <a:lumOff val="80000"/>
            </a:schemeClr>
          </a:solidFill>
          <a:ln w="19050">
            <a:noFill/>
            <a:prstDash val="sysDot"/>
          </a:ln>
        </p:spPr>
        <p:style>
          <a:lnRef idx="1">
            <a:schemeClr val="accent5"/>
          </a:lnRef>
          <a:fillRef idx="2">
            <a:schemeClr val="accent5"/>
          </a:fillRef>
          <a:effectRef idx="1">
            <a:schemeClr val="accent5"/>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2" name="標題 1"/>
          <p:cNvSpPr>
            <a:spLocks noGrp="1"/>
          </p:cNvSpPr>
          <p:nvPr>
            <p:ph type="title"/>
          </p:nvPr>
        </p:nvSpPr>
        <p:spPr/>
        <p:txBody>
          <a:bodyPr/>
          <a:lstStyle/>
          <a:p>
            <a:r>
              <a:rPr lang="en-US" altLang="zh-TW" dirty="0">
                <a:latin typeface="Microsoft JhengHei" panose="020B0604030504040204" pitchFamily="34" charset="-120"/>
                <a:ea typeface="Microsoft JhengHei" panose="020B0604030504040204" pitchFamily="34" charset="-120"/>
              </a:rPr>
              <a:t>Tool Use</a:t>
            </a:r>
            <a:endParaRPr lang="zh-TW" altLang="en-US" dirty="0"/>
          </a:p>
        </p:txBody>
      </p:sp>
      <p:sp>
        <p:nvSpPr>
          <p:cNvPr id="7" name="矩形: 圓角 6"/>
          <p:cNvSpPr/>
          <p:nvPr/>
        </p:nvSpPr>
        <p:spPr>
          <a:xfrm>
            <a:off x="4943475" y="2841797"/>
            <a:ext cx="1228725" cy="918462"/>
          </a:xfrm>
          <a:prstGeom prst="roundRect">
            <a:avLst/>
          </a:prstGeom>
          <a:ln w="38100">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語言</a:t>
            </a:r>
            <a:endPar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模型</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1" name="文字方塊 10"/>
          <p:cNvSpPr txBox="1"/>
          <p:nvPr/>
        </p:nvSpPr>
        <p:spPr>
          <a:xfrm>
            <a:off x="1485900" y="1969012"/>
            <a:ext cx="767715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2025 </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年 </a:t>
            </a: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3 </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月 </a:t>
            </a: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10 </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日那天下午 </a:t>
            </a: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2:00 </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，高雄氣溫如何</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13" name="文字方塊 12"/>
          <p:cNvSpPr txBox="1"/>
          <p:nvPr/>
        </p:nvSpPr>
        <p:spPr>
          <a:xfrm>
            <a:off x="1695450" y="4142343"/>
            <a:ext cx="6096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&lt;tool&gt;Temperature('</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高雄</a:t>
            </a: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'2025.03.10 14:00')&lt;/tool&gt;</a:t>
            </a:r>
            <a:endPar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cxnSp>
        <p:nvCxnSpPr>
          <p:cNvPr id="15" name="直線單箭頭接點 14"/>
          <p:cNvCxnSpPr>
            <a:stCxn id="7" idx="2"/>
          </p:cNvCxnSpPr>
          <p:nvPr/>
        </p:nvCxnSpPr>
        <p:spPr>
          <a:xfrm flipH="1">
            <a:off x="5557837" y="3760259"/>
            <a:ext cx="1" cy="38396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單箭頭接點 15"/>
          <p:cNvCxnSpPr/>
          <p:nvPr/>
        </p:nvCxnSpPr>
        <p:spPr>
          <a:xfrm flipH="1">
            <a:off x="5567361" y="2410790"/>
            <a:ext cx="1" cy="38396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字方塊 20"/>
          <p:cNvSpPr txBox="1"/>
          <p:nvPr/>
        </p:nvSpPr>
        <p:spPr>
          <a:xfrm>
            <a:off x="6624640" y="1930912"/>
            <a:ext cx="2218874"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2400" b="1" i="0" u="none" strike="noStrike" kern="1200" cap="none" spc="0" normalizeH="0" baseline="0" noProof="0" dirty="0">
                <a:ln>
                  <a:noFill/>
                </a:ln>
                <a:solidFill>
                  <a:srgbClr val="0000FF"/>
                </a:solidFill>
                <a:effectLst/>
                <a:uLnTx/>
                <a:uFillTx/>
                <a:latin typeface="Microsoft JhengHei" panose="020B0604030504040204" pitchFamily="34" charset="-120"/>
                <a:ea typeface="Microsoft JhengHei" panose="020B0604030504040204" pitchFamily="34" charset="-120"/>
                <a:cs typeface="+mn-cs"/>
              </a:rPr>
              <a:t>User Prompt</a:t>
            </a:r>
            <a:endParaRPr kumimoji="0" lang="zh-TW" altLang="en-US" sz="2400" b="1" i="0" u="none" strike="noStrike" kern="1200" cap="none" spc="0" normalizeH="0" baseline="0" noProof="0" dirty="0">
              <a:ln>
                <a:noFill/>
              </a:ln>
              <a:solidFill>
                <a:srgbClr val="0000FF"/>
              </a:solidFill>
              <a:effectLst/>
              <a:uLnTx/>
              <a:uFillTx/>
              <a:latin typeface="Microsoft JhengHei" panose="020B0604030504040204" pitchFamily="34" charset="-120"/>
              <a:ea typeface="Microsoft JhengHei" panose="020B0604030504040204" pitchFamily="34" charset="-120"/>
              <a:cs typeface="+mn-cs"/>
            </a:endParaRPr>
          </a:p>
        </p:txBody>
      </p:sp>
      <p:sp>
        <p:nvSpPr>
          <p:cNvPr id="22" name="文字方塊 21"/>
          <p:cNvSpPr txBox="1"/>
          <p:nvPr/>
        </p:nvSpPr>
        <p:spPr>
          <a:xfrm>
            <a:off x="6624640" y="1371337"/>
            <a:ext cx="2835731"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2400" b="1" i="0" u="none" strike="noStrike" kern="1200" cap="none" spc="0" normalizeH="0" baseline="0" noProof="0" dirty="0">
                <a:ln>
                  <a:noFill/>
                </a:ln>
                <a:solidFill>
                  <a:srgbClr val="0000FF"/>
                </a:solidFill>
                <a:effectLst/>
                <a:uLnTx/>
                <a:uFillTx/>
                <a:latin typeface="Microsoft JhengHei" panose="020B0604030504040204" pitchFamily="34" charset="-120"/>
                <a:ea typeface="Microsoft JhengHei" panose="020B0604030504040204" pitchFamily="34" charset="-120"/>
                <a:cs typeface="+mn-cs"/>
              </a:rPr>
              <a:t>Tool Use</a:t>
            </a:r>
            <a:endParaRPr kumimoji="0" lang="zh-TW" altLang="en-US" sz="2400" b="1" i="0" u="none" strike="noStrike" kern="1200" cap="none" spc="0" normalizeH="0" baseline="0" noProof="0" dirty="0">
              <a:ln>
                <a:noFill/>
              </a:ln>
              <a:solidFill>
                <a:srgbClr val="0000FF"/>
              </a:solidFill>
              <a:effectLst/>
              <a:uLnTx/>
              <a:uFillTx/>
              <a:latin typeface="Microsoft JhengHei" panose="020B0604030504040204" pitchFamily="34" charset="-120"/>
              <a:ea typeface="Microsoft JhengHei" panose="020B0604030504040204" pitchFamily="34" charset="-120"/>
              <a:cs typeface="+mn-cs"/>
            </a:endParaRPr>
          </a:p>
        </p:txBody>
      </p:sp>
      <p:sp>
        <p:nvSpPr>
          <p:cNvPr id="25" name="矩形: 圓角 24"/>
          <p:cNvSpPr/>
          <p:nvPr/>
        </p:nvSpPr>
        <p:spPr>
          <a:xfrm>
            <a:off x="1333499" y="1970015"/>
            <a:ext cx="5295891" cy="393729"/>
          </a:xfrm>
          <a:prstGeom prst="roundRect">
            <a:avLst>
              <a:gd name="adj" fmla="val 10097"/>
            </a:avLst>
          </a:prstGeom>
          <a:noFill/>
          <a:ln w="38100">
            <a:solidFill>
              <a:srgbClr val="00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
        <p:nvSpPr>
          <p:cNvPr id="26" name="矩形: 圓角 25"/>
          <p:cNvSpPr/>
          <p:nvPr/>
        </p:nvSpPr>
        <p:spPr>
          <a:xfrm>
            <a:off x="1333501" y="1371337"/>
            <a:ext cx="5291140" cy="461665"/>
          </a:xfrm>
          <a:prstGeom prst="roundRect">
            <a:avLst>
              <a:gd name="adj" fmla="val 4705"/>
            </a:avLst>
          </a:prstGeom>
          <a:noFill/>
          <a:ln w="38100">
            <a:solidFill>
              <a:srgbClr val="00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
        <p:nvSpPr>
          <p:cNvPr id="3" name="文字方塊 2"/>
          <p:cNvSpPr txBox="1"/>
          <p:nvPr/>
        </p:nvSpPr>
        <p:spPr>
          <a:xfrm>
            <a:off x="1490435" y="1405538"/>
            <a:ext cx="5011965" cy="369332"/>
          </a:xfrm>
          <a:prstGeom prst="rect">
            <a:avLst/>
          </a:prstGeom>
          <a:noFill/>
        </p:spPr>
        <p:txBody>
          <a:bodyPr wrap="square">
            <a:spAutoFit/>
          </a:bodyPr>
          <a:lstStyle/>
          <a:p>
            <a:pPr lvl="0">
              <a:defRPr/>
            </a:pPr>
            <a:r>
              <a:rPr lang="zh-TW" altLang="en-US" dirty="0">
                <a:solidFill>
                  <a:prstClr val="black"/>
                </a:solidFill>
              </a:rPr>
              <a:t>把使用工具的指令放在 </a:t>
            </a:r>
            <a:r>
              <a:rPr lang="en-US" altLang="zh-TW" dirty="0">
                <a:solidFill>
                  <a:prstClr val="black"/>
                </a:solidFill>
              </a:rPr>
              <a:t>……</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4" name="文字方塊 3"/>
          <p:cNvSpPr txBox="1"/>
          <p:nvPr/>
        </p:nvSpPr>
        <p:spPr>
          <a:xfrm>
            <a:off x="6774321" y="4150325"/>
            <a:ext cx="3245977"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&lt;output&gt;</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攝氏 </a:t>
            </a: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32 </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度</a:t>
            </a: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&lt;/output&gt;</a:t>
            </a:r>
            <a:endPar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5" name="文字方塊 4"/>
          <p:cNvSpPr txBox="1"/>
          <p:nvPr/>
        </p:nvSpPr>
        <p:spPr>
          <a:xfrm>
            <a:off x="646680" y="3631480"/>
            <a:ext cx="265974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不需要呈現給使用者看</a:t>
            </a:r>
            <a:endParaRPr kumimoji="0" lang="zh-TW" altLang="en-US"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0" name="矩形: 圓角 9"/>
          <p:cNvSpPr/>
          <p:nvPr/>
        </p:nvSpPr>
        <p:spPr>
          <a:xfrm>
            <a:off x="3083379" y="5136964"/>
            <a:ext cx="2241096" cy="554303"/>
          </a:xfrm>
          <a:prstGeom prst="roundRect">
            <a:avLst/>
          </a:prstGeom>
          <a:solidFill>
            <a:schemeClr val="accent4">
              <a:lumMod val="20000"/>
              <a:lumOff val="80000"/>
            </a:schemeClr>
          </a:solidFill>
          <a:ln w="38100">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Temperature</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12" name="直線單箭頭接點 11"/>
          <p:cNvCxnSpPr/>
          <p:nvPr/>
        </p:nvCxnSpPr>
        <p:spPr>
          <a:xfrm flipH="1">
            <a:off x="4212543" y="4709461"/>
            <a:ext cx="1" cy="38396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右大括弧 13"/>
          <p:cNvSpPr/>
          <p:nvPr/>
        </p:nvSpPr>
        <p:spPr>
          <a:xfrm rot="5400000">
            <a:off x="4078269" y="2732611"/>
            <a:ext cx="274224" cy="3761236"/>
          </a:xfrm>
          <a:prstGeom prst="rightBrace">
            <a:avLst>
              <a:gd name="adj1" fmla="val 39564"/>
              <a:gd name="adj2" fmla="val 50000"/>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black"/>
              </a:solidFill>
              <a:effectLst/>
              <a:uLnTx/>
              <a:uFillTx/>
              <a:latin typeface="Calibri" panose="020F0502020204030204"/>
              <a:ea typeface="PMingLiU" panose="02020500000000000000" pitchFamily="18" charset="-120"/>
              <a:cs typeface="+mn-cs"/>
            </a:endParaRPr>
          </a:p>
        </p:txBody>
      </p:sp>
      <p:sp>
        <p:nvSpPr>
          <p:cNvPr id="17" name="右大括弧 16"/>
          <p:cNvSpPr/>
          <p:nvPr/>
        </p:nvSpPr>
        <p:spPr>
          <a:xfrm rot="5400000">
            <a:off x="8152662" y="4044975"/>
            <a:ext cx="250944" cy="1130760"/>
          </a:xfrm>
          <a:prstGeom prst="rightBrace">
            <a:avLst>
              <a:gd name="adj1" fmla="val 39564"/>
              <a:gd name="adj2" fmla="val 50000"/>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black"/>
              </a:solidFill>
              <a:effectLst/>
              <a:uLnTx/>
              <a:uFillTx/>
              <a:latin typeface="Calibri" panose="020F0502020204030204"/>
              <a:ea typeface="PMingLiU" panose="02020500000000000000" pitchFamily="18" charset="-120"/>
              <a:cs typeface="+mn-cs"/>
            </a:endParaRPr>
          </a:p>
        </p:txBody>
      </p:sp>
      <p:sp>
        <p:nvSpPr>
          <p:cNvPr id="18" name="文字方塊 17"/>
          <p:cNvSpPr txBox="1"/>
          <p:nvPr/>
        </p:nvSpPr>
        <p:spPr>
          <a:xfrm>
            <a:off x="7708392" y="3624422"/>
            <a:ext cx="265974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不需要呈現給使用者看</a:t>
            </a:r>
            <a:endParaRPr kumimoji="0" lang="zh-TW" altLang="en-US"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27" name="直線單箭頭接點 26"/>
          <p:cNvCxnSpPr/>
          <p:nvPr/>
        </p:nvCxnSpPr>
        <p:spPr>
          <a:xfrm flipV="1">
            <a:off x="8278133" y="4721313"/>
            <a:ext cx="0" cy="68831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單箭頭接點 29"/>
          <p:cNvCxnSpPr/>
          <p:nvPr/>
        </p:nvCxnSpPr>
        <p:spPr>
          <a:xfrm>
            <a:off x="5343524" y="5409628"/>
            <a:ext cx="2934611" cy="1"/>
          </a:xfrm>
          <a:prstGeom prst="straightConnector1">
            <a:avLst/>
          </a:prstGeom>
          <a:ln w="381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直線單箭頭接點 32"/>
          <p:cNvCxnSpPr/>
          <p:nvPr/>
        </p:nvCxnSpPr>
        <p:spPr>
          <a:xfrm flipH="1" flipV="1">
            <a:off x="1753222" y="3956532"/>
            <a:ext cx="322603" cy="253549"/>
          </a:xfrm>
          <a:prstGeom prst="straightConnector1">
            <a:avLst/>
          </a:prstGeom>
          <a:ln w="3810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35" name="直線單箭頭接點 34"/>
          <p:cNvCxnSpPr/>
          <p:nvPr/>
        </p:nvCxnSpPr>
        <p:spPr>
          <a:xfrm flipV="1">
            <a:off x="7326256" y="3903677"/>
            <a:ext cx="407821" cy="284027"/>
          </a:xfrm>
          <a:prstGeom prst="straightConnector1">
            <a:avLst/>
          </a:prstGeom>
          <a:ln w="3810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文字方塊 39"/>
          <p:cNvSpPr txBox="1"/>
          <p:nvPr/>
        </p:nvSpPr>
        <p:spPr>
          <a:xfrm>
            <a:off x="3726313" y="6023582"/>
            <a:ext cx="6096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2025 </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年 </a:t>
            </a: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3 </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月 </a:t>
            </a: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10 </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日下午 </a:t>
            </a: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2:00</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，高雄的氣溫為攝氏</a:t>
            </a: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32</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度。</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41" name="文字方塊 40"/>
          <p:cNvSpPr txBox="1"/>
          <p:nvPr/>
        </p:nvSpPr>
        <p:spPr>
          <a:xfrm>
            <a:off x="1534527" y="6023582"/>
            <a:ext cx="259366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繼續去做接龍 </a:t>
            </a: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42" name="文字方塊 41"/>
          <p:cNvSpPr txBox="1"/>
          <p:nvPr/>
        </p:nvSpPr>
        <p:spPr>
          <a:xfrm>
            <a:off x="9537877" y="5500563"/>
            <a:ext cx="265974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使用者看到的輸出</a:t>
            </a:r>
            <a:endParaRPr kumimoji="0" lang="zh-TW" altLang="en-US"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43" name="直線單箭頭接點 42"/>
          <p:cNvCxnSpPr/>
          <p:nvPr/>
        </p:nvCxnSpPr>
        <p:spPr>
          <a:xfrm flipV="1">
            <a:off x="9038263" y="5714279"/>
            <a:ext cx="497962" cy="280253"/>
          </a:xfrm>
          <a:prstGeom prst="straightConnector1">
            <a:avLst/>
          </a:prstGeom>
          <a:ln w="3810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5" name="文字方塊 44"/>
          <p:cNvSpPr txBox="1"/>
          <p:nvPr/>
        </p:nvSpPr>
        <p:spPr>
          <a:xfrm>
            <a:off x="6215569" y="3075561"/>
            <a:ext cx="3151761"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gpt-4o-mini</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6" name="文字方塊 5"/>
          <p:cNvSpPr txBox="1"/>
          <p:nvPr/>
        </p:nvSpPr>
        <p:spPr>
          <a:xfrm>
            <a:off x="6739161" y="95855"/>
            <a:ext cx="556736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t>
            </a:r>
            <a:r>
              <a:rPr kumimoji="0" lang="zh-TW" altLang="en-US"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使用工具的方法很多，這邊是只是一個通用的方法</a:t>
            </a:r>
            <a:r>
              <a:rPr kumimoji="0" lang="en-US" altLang="zh-TW"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t>
            </a:r>
            <a:endParaRPr kumimoji="0" lang="zh-TW" altLang="en-US" sz="1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0"/>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7" grpId="0" animBg="1"/>
      <p:bldP spid="4" grpId="0"/>
      <p:bldP spid="5" grpId="0"/>
      <p:bldP spid="10" grpId="0" animBg="1"/>
      <p:bldP spid="14" grpId="0" animBg="1"/>
      <p:bldP spid="17" grpId="0" animBg="1"/>
      <p:bldP spid="18" grpId="0"/>
      <p:bldP spid="40" grpId="0"/>
      <p:bldP spid="41" grpId="0"/>
      <p:bldP spid="42"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latin typeface="Microsoft JhengHei" panose="020B0604030504040204" pitchFamily="34" charset="-120"/>
                <a:ea typeface="Microsoft JhengHei" panose="020B0604030504040204" pitchFamily="34" charset="-120"/>
              </a:rPr>
              <a:t>Tool Use</a:t>
            </a:r>
            <a:endParaRPr lang="zh-TW" altLang="en-US" dirty="0"/>
          </a:p>
        </p:txBody>
      </p:sp>
      <p:sp>
        <p:nvSpPr>
          <p:cNvPr id="3" name="內容版面配置區 2"/>
          <p:cNvSpPr>
            <a:spLocks noGrp="1"/>
          </p:cNvSpPr>
          <p:nvPr>
            <p:ph idx="1"/>
          </p:nvPr>
        </p:nvSpPr>
        <p:spPr>
          <a:xfrm>
            <a:off x="838200" y="1825625"/>
            <a:ext cx="4800600" cy="4351338"/>
          </a:xfrm>
        </p:spPr>
        <p:txBody>
          <a:bodyPr>
            <a:normAutofit/>
          </a:bodyPr>
          <a:lstStyle/>
          <a:p>
            <a:r>
              <a:rPr lang="zh-TW" altLang="en-US" sz="2400" dirty="0">
                <a:latin typeface="Microsoft JhengHei" panose="020B0604030504040204" pitchFamily="34" charset="-120"/>
                <a:ea typeface="Microsoft JhengHei" panose="020B0604030504040204" pitchFamily="34" charset="-120"/>
              </a:rPr>
              <a:t>概念解說範例程式：</a:t>
            </a:r>
            <a:r>
              <a:rPr lang="en-US" altLang="zh-TW" sz="2400" dirty="0">
                <a:latin typeface="Microsoft JhengHei" panose="020B0604030504040204" pitchFamily="34" charset="-120"/>
                <a:ea typeface="Microsoft JhengHei" panose="020B0604030504040204" pitchFamily="34" charset="-120"/>
              </a:rPr>
              <a:t>https://colab.research.google.com/drive/1t347cQEyMikpHUHV_ap83A-mq9PMSl3O?usp=sharing</a:t>
            </a:r>
            <a:endParaRPr lang="zh-TW" altLang="en-US" sz="2400" dirty="0">
              <a:latin typeface="Microsoft JhengHei" panose="020B0604030504040204" pitchFamily="34" charset="-120"/>
              <a:ea typeface="Microsoft JhengHei" panose="020B0604030504040204" pitchFamily="34" charset="-120"/>
            </a:endParaRPr>
          </a:p>
        </p:txBody>
      </p:sp>
      <p:pic>
        <p:nvPicPr>
          <p:cNvPr id="4098"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6096000" y="758825"/>
            <a:ext cx="5734050" cy="573405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latin typeface="Microsoft JhengHei" panose="020B0604030504040204" pitchFamily="34" charset="-120"/>
                <a:ea typeface="Microsoft JhengHei" panose="020B0604030504040204" pitchFamily="34" charset="-120"/>
              </a:rPr>
              <a:t>Tool Use:</a:t>
            </a:r>
            <a:r>
              <a:rPr lang="zh-TW" altLang="en-US" dirty="0">
                <a:latin typeface="Microsoft JhengHei" panose="020B0604030504040204" pitchFamily="34" charset="-120"/>
                <a:ea typeface="Microsoft JhengHei" panose="020B0604030504040204" pitchFamily="34" charset="-120"/>
              </a:rPr>
              <a:t> </a:t>
            </a:r>
            <a:r>
              <a:rPr lang="en-US" altLang="zh-TW" dirty="0">
                <a:latin typeface="Microsoft JhengHei" panose="020B0604030504040204" pitchFamily="34" charset="-120"/>
                <a:ea typeface="Microsoft JhengHei" panose="020B0604030504040204" pitchFamily="34" charset="-120"/>
              </a:rPr>
              <a:t>Computer</a:t>
            </a:r>
            <a:r>
              <a:rPr lang="zh-TW" altLang="en-US" dirty="0">
                <a:latin typeface="Microsoft JhengHei" panose="020B0604030504040204" pitchFamily="34" charset="-120"/>
                <a:ea typeface="Microsoft JhengHei" panose="020B0604030504040204" pitchFamily="34" charset="-120"/>
              </a:rPr>
              <a:t> </a:t>
            </a:r>
            <a:r>
              <a:rPr lang="en-US" altLang="zh-TW" dirty="0">
                <a:latin typeface="Microsoft JhengHei" panose="020B0604030504040204" pitchFamily="34" charset="-120"/>
                <a:ea typeface="Microsoft JhengHei" panose="020B0604030504040204" pitchFamily="34" charset="-120"/>
              </a:rPr>
              <a:t>Use</a:t>
            </a:r>
            <a:endParaRPr lang="zh-TW" altLang="en-US" dirty="0">
              <a:latin typeface="Microsoft JhengHei" panose="020B0604030504040204" pitchFamily="34" charset="-120"/>
              <a:ea typeface="Microsoft JhengHei" panose="020B0604030504040204" pitchFamily="34" charset="-120"/>
            </a:endParaRPr>
          </a:p>
        </p:txBody>
      </p:sp>
      <p:sp>
        <p:nvSpPr>
          <p:cNvPr id="6" name="文字方塊 5"/>
          <p:cNvSpPr txBox="1"/>
          <p:nvPr/>
        </p:nvSpPr>
        <p:spPr>
          <a:xfrm>
            <a:off x="5689601" y="41959"/>
            <a:ext cx="6502399"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https://www.anthropic.com/news/3-5-models-and-computer-use</a:t>
            </a:r>
            <a:endPar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https://openai.com/zh-Hant/index/introducing-chatgpt-agent/</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pic>
        <p:nvPicPr>
          <p:cNvPr id="7" name="Google Shape;186;p24"/>
          <p:cNvPicPr preferRelativeResize="0"/>
          <p:nvPr/>
        </p:nvPicPr>
        <p:blipFill>
          <a:blip r:embed="rId1"/>
          <a:stretch>
            <a:fillRect/>
          </a:stretch>
        </p:blipFill>
        <p:spPr>
          <a:xfrm>
            <a:off x="1738821" y="3137688"/>
            <a:ext cx="2005350" cy="2072732"/>
          </a:xfrm>
          <a:prstGeom prst="rect">
            <a:avLst/>
          </a:prstGeom>
          <a:noFill/>
          <a:ln>
            <a:noFill/>
          </a:ln>
        </p:spPr>
      </p:pic>
      <p:sp>
        <p:nvSpPr>
          <p:cNvPr id="8" name="Google Shape;187;p24"/>
          <p:cNvSpPr txBox="1"/>
          <p:nvPr/>
        </p:nvSpPr>
        <p:spPr>
          <a:xfrm>
            <a:off x="1738821" y="5262836"/>
            <a:ext cx="2005350" cy="775500"/>
          </a:xfrm>
          <a:prstGeom prst="rect">
            <a:avLst/>
          </a:prstGeom>
          <a:noFill/>
          <a:ln>
            <a:noFill/>
          </a:ln>
        </p:spPr>
        <p:txBody>
          <a:bodyPr spcFirstLastPara="1" wrap="square" lIns="91425" tIns="91425" rIns="91425" bIns="91425" anchor="t" anchorCtr="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srgbClr val="44546A"/>
                </a:solidFill>
                <a:effectLst/>
                <a:uLnTx/>
                <a:uFillTx/>
                <a:latin typeface="Microsoft JhengHei" panose="020B0604030504040204" pitchFamily="34" charset="-120"/>
                <a:ea typeface="Microsoft JhengHei" panose="020B0604030504040204" pitchFamily="34" charset="-120"/>
                <a:cs typeface="+mn-cs"/>
              </a:rPr>
              <a:t>螢幕畫面</a:t>
            </a:r>
            <a:endParaRPr kumimoji="0" sz="2400" b="0" i="0" u="none" strike="noStrike" kern="1200" cap="none" spc="0" normalizeH="0" baseline="0" noProof="0" dirty="0">
              <a:ln>
                <a:noFill/>
              </a:ln>
              <a:solidFill>
                <a:srgbClr val="44546A"/>
              </a:solidFill>
              <a:effectLst/>
              <a:uLnTx/>
              <a:uFillTx/>
              <a:latin typeface="Microsoft JhengHei" panose="020B0604030504040204" pitchFamily="34" charset="-120"/>
              <a:ea typeface="Microsoft JhengHei" panose="020B0604030504040204" pitchFamily="34" charset="-120"/>
              <a:cs typeface="+mn-cs"/>
            </a:endParaRPr>
          </a:p>
        </p:txBody>
      </p:sp>
      <p:pic>
        <p:nvPicPr>
          <p:cNvPr id="9" name="Google Shape;188;p24"/>
          <p:cNvPicPr preferRelativeResize="0"/>
          <p:nvPr/>
        </p:nvPicPr>
        <p:blipFill>
          <a:blip r:embed="rId2"/>
          <a:stretch>
            <a:fillRect/>
          </a:stretch>
        </p:blipFill>
        <p:spPr>
          <a:xfrm>
            <a:off x="8407615" y="3137688"/>
            <a:ext cx="1526404" cy="2223967"/>
          </a:xfrm>
          <a:prstGeom prst="rect">
            <a:avLst/>
          </a:prstGeom>
          <a:noFill/>
          <a:ln>
            <a:noFill/>
          </a:ln>
        </p:spPr>
      </p:pic>
      <p:sp>
        <p:nvSpPr>
          <p:cNvPr id="12" name="Google Shape;187;p24"/>
          <p:cNvSpPr txBox="1"/>
          <p:nvPr/>
        </p:nvSpPr>
        <p:spPr>
          <a:xfrm>
            <a:off x="5093325" y="2215405"/>
            <a:ext cx="2005350" cy="580643"/>
          </a:xfrm>
          <a:prstGeom prst="rect">
            <a:avLst/>
          </a:prstGeom>
          <a:noFill/>
          <a:ln>
            <a:noFill/>
          </a:ln>
        </p:spPr>
        <p:txBody>
          <a:bodyPr spcFirstLastPara="1" wrap="square" lIns="91425" tIns="91425" rIns="91425" bIns="91425" anchor="t" anchorCtr="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任務指示</a:t>
            </a:r>
            <a:endParaRPr kumimoji="0"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3" name="矩形: 圓角 12"/>
          <p:cNvSpPr/>
          <p:nvPr/>
        </p:nvSpPr>
        <p:spPr>
          <a:xfrm>
            <a:off x="5249009" y="3594162"/>
            <a:ext cx="1693981" cy="1097684"/>
          </a:xfrm>
          <a:prstGeom prst="roundRect">
            <a:avLst/>
          </a:prstGeom>
          <a:solidFill>
            <a:schemeClr val="accent1">
              <a:lumMod val="20000"/>
              <a:lumOff val="80000"/>
            </a:schemeClr>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語言</a:t>
            </a:r>
            <a:endPar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模型</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15" name="直線單箭頭接點 14"/>
          <p:cNvCxnSpPr>
            <a:stCxn id="12" idx="2"/>
          </p:cNvCxnSpPr>
          <p:nvPr/>
        </p:nvCxnSpPr>
        <p:spPr>
          <a:xfrm>
            <a:off x="6096000" y="2796048"/>
            <a:ext cx="0" cy="70313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線單箭頭接點 16"/>
          <p:cNvCxnSpPr/>
          <p:nvPr/>
        </p:nvCxnSpPr>
        <p:spPr>
          <a:xfrm>
            <a:off x="3900080" y="4146573"/>
            <a:ext cx="1193245"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線單箭頭接點 18"/>
          <p:cNvCxnSpPr/>
          <p:nvPr/>
        </p:nvCxnSpPr>
        <p:spPr>
          <a:xfrm>
            <a:off x="7078680" y="4143004"/>
            <a:ext cx="1193245"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70817" y="4431386"/>
            <a:ext cx="1219200" cy="1219200"/>
          </a:xfrm>
          <a:prstGeom prst="rect">
            <a:avLst/>
          </a:prstGeom>
          <a:noFill/>
          <a:extLst>
            <a:ext uri="{909E8E84-426E-40DD-AFC4-6F175D3DCCD1}">
              <a14:hiddenFill xmlns:a14="http://schemas.microsoft.com/office/drawing/2010/main">
                <a:solidFill>
                  <a:srgbClr val="FFFFFF"/>
                </a:solidFill>
              </a14:hiddenFill>
            </a:ext>
          </a:extLst>
        </p:spPr>
      </p:pic>
      <p:sp>
        <p:nvSpPr>
          <p:cNvPr id="3" name="文字方塊 2"/>
          <p:cNvSpPr txBox="1"/>
          <p:nvPr/>
        </p:nvSpPr>
        <p:spPr>
          <a:xfrm>
            <a:off x="984359" y="1416747"/>
            <a:ext cx="7024686" cy="461665"/>
          </a:xfrm>
          <a:prstGeom prst="rect">
            <a:avLst/>
          </a:prstGeom>
          <a:noFill/>
        </p:spPr>
        <p:txBody>
          <a:bodyPr wrap="square" rtlCol="0">
            <a:spAutoFit/>
          </a:bodyPr>
          <a:lstStyle/>
          <a:p>
            <a:pPr lvl="0">
              <a:defRPr/>
            </a:pPr>
            <a:r>
              <a:rPr lang="zh-TW" altLang="en-US" sz="2400" dirty="0">
                <a:solidFill>
                  <a:prstClr val="black"/>
                </a:solidFill>
                <a:latin typeface="Microsoft JhengHei" panose="020B0604030504040204" pitchFamily="34" charset="-120"/>
                <a:ea typeface="Microsoft JhengHei" panose="020B0604030504040204" pitchFamily="34" charset="-120"/>
              </a:rPr>
              <a:t>語言模型</a:t>
            </a: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使用滑鼠、鍵盤去操控電腦</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5" name="文字方塊 4"/>
          <p:cNvSpPr txBox="1"/>
          <p:nvPr/>
        </p:nvSpPr>
        <p:spPr>
          <a:xfrm>
            <a:off x="4914900" y="5985544"/>
            <a:ext cx="7538243" cy="523220"/>
          </a:xfrm>
          <a:prstGeom prst="rect">
            <a:avLst/>
          </a:prstGeom>
          <a:noFill/>
        </p:spPr>
        <p:txBody>
          <a:bodyPr wrap="square" rtlCol="0">
            <a:spAutoFit/>
          </a:bodyPr>
          <a:lstStyle/>
          <a:p>
            <a:pPr lvl="0">
              <a:defRPr/>
            </a:pPr>
            <a:r>
              <a:rPr kumimoji="0" lang="zh-TW" altLang="en-US" sz="2800" b="1"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人類能用電腦做的事情，語言模型也能做</a:t>
            </a:r>
            <a:r>
              <a:rPr kumimoji="0" lang="en-US" altLang="zh-TW" sz="2800" b="1"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t>
            </a:r>
            <a:endParaRPr kumimoji="0" lang="zh-TW" altLang="en-US" sz="2800" b="1"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2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2" grpId="0"/>
      <p:bldP spid="3" grpId="0"/>
      <p:bldP spid="5"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p:cNvSpPr txBox="1"/>
          <p:nvPr/>
        </p:nvSpPr>
        <p:spPr>
          <a:xfrm>
            <a:off x="3624263" y="307800"/>
            <a:ext cx="7024686" cy="461665"/>
          </a:xfrm>
          <a:prstGeom prst="rect">
            <a:avLst/>
          </a:prstGeom>
          <a:noFill/>
        </p:spPr>
        <p:txBody>
          <a:bodyPr wrap="square" rtlCol="0">
            <a:spAutoFit/>
          </a:bodyPr>
          <a:lstStyle/>
          <a:p>
            <a:pPr lvl="0">
              <a:defRPr/>
            </a:pPr>
            <a:r>
              <a:rPr lang="zh-TW" altLang="en-US" sz="2400" dirty="0">
                <a:solidFill>
                  <a:prstClr val="black"/>
                </a:solidFill>
                <a:latin typeface="Microsoft JhengHei" panose="020B0604030504040204" pitchFamily="34" charset="-120"/>
                <a:ea typeface="Microsoft JhengHei" panose="020B0604030504040204" pitchFamily="34" charset="-120"/>
              </a:rPr>
              <a:t>語言模型</a:t>
            </a: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使用滑鼠、鍵盤去操控電腦</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pic>
        <p:nvPicPr>
          <p:cNvPr id="5" name="錄製內容 2025-09-18 213321">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543050" y="1036415"/>
            <a:ext cx="9105899" cy="5331155"/>
          </a:xfrm>
          <a:prstGeom prst="rect">
            <a:avLst/>
          </a:prstGeom>
        </p:spPr>
      </p:pic>
      <p:sp>
        <p:nvSpPr>
          <p:cNvPr id="11" name="文字方塊 10"/>
          <p:cNvSpPr txBox="1"/>
          <p:nvPr/>
        </p:nvSpPr>
        <p:spPr>
          <a:xfrm>
            <a:off x="428626" y="184690"/>
            <a:ext cx="6391274" cy="584775"/>
          </a:xfrm>
          <a:prstGeom prst="rect">
            <a:avLst/>
          </a:prstGeom>
          <a:noFill/>
        </p:spPr>
        <p:txBody>
          <a:bodyPr wrap="square">
            <a:spAutoFit/>
          </a:bodyPr>
          <a:lstStyle/>
          <a:p>
            <a:r>
              <a:rPr lang="en-US" altLang="zh-TW" sz="3200" u="sng" dirty="0">
                <a:latin typeface="Microsoft JhengHei" panose="020B0604030504040204" pitchFamily="34" charset="-120"/>
                <a:ea typeface="Microsoft JhengHei" panose="020B0604030504040204" pitchFamily="34" charset="-120"/>
              </a:rPr>
              <a:t>Computer</a:t>
            </a:r>
            <a:r>
              <a:rPr lang="zh-TW" altLang="en-US" sz="3200" u="sng" dirty="0">
                <a:latin typeface="Microsoft JhengHei" panose="020B0604030504040204" pitchFamily="34" charset="-120"/>
                <a:ea typeface="Microsoft JhengHei" panose="020B0604030504040204" pitchFamily="34" charset="-120"/>
              </a:rPr>
              <a:t> </a:t>
            </a:r>
            <a:r>
              <a:rPr lang="en-US" altLang="zh-TW" sz="3200" u="sng" dirty="0">
                <a:latin typeface="Microsoft JhengHei" panose="020B0604030504040204" pitchFamily="34" charset="-120"/>
                <a:ea typeface="Microsoft JhengHei" panose="020B0604030504040204" pitchFamily="34" charset="-120"/>
              </a:rPr>
              <a:t>Use</a:t>
            </a:r>
            <a:endParaRPr lang="zh-TW" altLang="en-US" sz="3200" u="sng" dirty="0"/>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endParaRPr lang="zh-TW" altLang="en-US"/>
          </a:p>
        </p:txBody>
      </p:sp>
      <p:sp>
        <p:nvSpPr>
          <p:cNvPr id="4" name="文字方塊 3"/>
          <p:cNvSpPr txBox="1"/>
          <p:nvPr/>
        </p:nvSpPr>
        <p:spPr>
          <a:xfrm>
            <a:off x="3624263" y="307800"/>
            <a:ext cx="7024686" cy="461665"/>
          </a:xfrm>
          <a:prstGeom prst="rect">
            <a:avLst/>
          </a:prstGeom>
          <a:noFill/>
        </p:spPr>
        <p:txBody>
          <a:bodyPr wrap="square" rtlCol="0">
            <a:spAutoFit/>
          </a:bodyPr>
          <a:lstStyle/>
          <a:p>
            <a:pPr lvl="0">
              <a:defRPr/>
            </a:pPr>
            <a:r>
              <a:rPr lang="zh-TW" altLang="en-US" sz="2400" dirty="0">
                <a:solidFill>
                  <a:prstClr val="black"/>
                </a:solidFill>
                <a:latin typeface="Microsoft JhengHei" panose="020B0604030504040204" pitchFamily="34" charset="-120"/>
                <a:ea typeface="Microsoft JhengHei" panose="020B0604030504040204" pitchFamily="34" charset="-120"/>
              </a:rPr>
              <a:t>語言模型</a:t>
            </a: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使用滑鼠、鍵盤去操控電腦</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5" name="文字方塊 4"/>
          <p:cNvSpPr txBox="1"/>
          <p:nvPr/>
        </p:nvSpPr>
        <p:spPr>
          <a:xfrm>
            <a:off x="428626" y="184690"/>
            <a:ext cx="6391274" cy="584775"/>
          </a:xfrm>
          <a:prstGeom prst="rect">
            <a:avLst/>
          </a:prstGeom>
          <a:noFill/>
        </p:spPr>
        <p:txBody>
          <a:bodyPr wrap="square">
            <a:spAutoFit/>
          </a:bodyPr>
          <a:lstStyle/>
          <a:p>
            <a:r>
              <a:rPr lang="en-US" altLang="zh-TW" sz="3200" u="sng" dirty="0">
                <a:latin typeface="Microsoft JhengHei" panose="020B0604030504040204" pitchFamily="34" charset="-120"/>
                <a:ea typeface="Microsoft JhengHei" panose="020B0604030504040204" pitchFamily="34" charset="-120"/>
              </a:rPr>
              <a:t>Computer</a:t>
            </a:r>
            <a:r>
              <a:rPr lang="zh-TW" altLang="en-US" sz="3200" u="sng" dirty="0">
                <a:latin typeface="Microsoft JhengHei" panose="020B0604030504040204" pitchFamily="34" charset="-120"/>
                <a:ea typeface="Microsoft JhengHei" panose="020B0604030504040204" pitchFamily="34" charset="-120"/>
              </a:rPr>
              <a:t> </a:t>
            </a:r>
            <a:r>
              <a:rPr lang="en-US" altLang="zh-TW" sz="3200" u="sng" dirty="0">
                <a:latin typeface="Microsoft JhengHei" panose="020B0604030504040204" pitchFamily="34" charset="-120"/>
                <a:ea typeface="Microsoft JhengHei" panose="020B0604030504040204" pitchFamily="34" charset="-120"/>
              </a:rPr>
              <a:t>Use</a:t>
            </a:r>
            <a:endParaRPr lang="zh-TW" altLang="en-US" sz="3200" u="sng" dirty="0"/>
          </a:p>
        </p:txBody>
      </p:sp>
      <p:pic>
        <p:nvPicPr>
          <p:cNvPr id="6" name="圖片 5"/>
          <p:cNvPicPr>
            <a:picLocks noChangeAspect="1"/>
          </p:cNvPicPr>
          <p:nvPr/>
        </p:nvPicPr>
        <p:blipFill>
          <a:blip r:embed="rId1"/>
          <a:stretch>
            <a:fillRect/>
          </a:stretch>
        </p:blipFill>
        <p:spPr>
          <a:xfrm>
            <a:off x="205616" y="2100607"/>
            <a:ext cx="6671208" cy="3750273"/>
          </a:xfrm>
          <a:prstGeom prst="rect">
            <a:avLst/>
          </a:prstGeom>
        </p:spPr>
      </p:pic>
      <p:pic>
        <p:nvPicPr>
          <p:cNvPr id="7" name="圖片 6"/>
          <p:cNvPicPr>
            <a:picLocks noChangeAspect="1"/>
          </p:cNvPicPr>
          <p:nvPr/>
        </p:nvPicPr>
        <p:blipFill>
          <a:blip r:embed="rId2"/>
          <a:stretch>
            <a:fillRect/>
          </a:stretch>
        </p:blipFill>
        <p:spPr>
          <a:xfrm>
            <a:off x="6876824" y="1866900"/>
            <a:ext cx="5149686" cy="4217688"/>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模型自己產生的思考過程 </a:t>
            </a:r>
            <a:r>
              <a:rPr lang="en-US" altLang="zh-TW" dirty="0">
                <a:latin typeface="Microsoft JhengHei" panose="020B0604030504040204" pitchFamily="34" charset="-120"/>
                <a:ea typeface="Microsoft JhengHei" panose="020B0604030504040204" pitchFamily="34" charset="-120"/>
              </a:rPr>
              <a:t>(Reasoning) </a:t>
            </a:r>
            <a:endParaRPr lang="zh-TW" altLang="en-US" dirty="0">
              <a:latin typeface="Microsoft JhengHei" panose="020B0604030504040204" pitchFamily="34" charset="-120"/>
              <a:ea typeface="Microsoft JhengHei" panose="020B0604030504040204" pitchFamily="34" charset="-120"/>
            </a:endParaRPr>
          </a:p>
        </p:txBody>
      </p:sp>
      <p:sp>
        <p:nvSpPr>
          <p:cNvPr id="3" name="內容版面配置區 2"/>
          <p:cNvSpPr>
            <a:spLocks noGrp="1"/>
          </p:cNvSpPr>
          <p:nvPr>
            <p:ph idx="1"/>
          </p:nvPr>
        </p:nvSpPr>
        <p:spPr/>
        <p:txBody>
          <a:bodyPr/>
          <a:lstStyle/>
          <a:p>
            <a:r>
              <a:rPr lang="en-US" altLang="zh-TW" dirty="0">
                <a:solidFill>
                  <a:prstClr val="black"/>
                </a:solidFill>
                <a:latin typeface="Microsoft JhengHei" panose="020B0604030504040204" pitchFamily="34" charset="-120"/>
                <a:ea typeface="Microsoft JhengHei" panose="020B0604030504040204" pitchFamily="34" charset="-120"/>
              </a:rPr>
              <a:t>ChatGPT </a:t>
            </a:r>
            <a:r>
              <a:rPr lang="zh-TW" altLang="en-US" dirty="0">
                <a:solidFill>
                  <a:prstClr val="black"/>
                </a:solidFill>
                <a:latin typeface="Microsoft JhengHei" panose="020B0604030504040204" pitchFamily="34" charset="-120"/>
                <a:ea typeface="Microsoft JhengHei" panose="020B0604030504040204" pitchFamily="34" charset="-120"/>
              </a:rPr>
              <a:t>系列、</a:t>
            </a:r>
            <a:r>
              <a:rPr lang="en-US" altLang="zh-TW" dirty="0">
                <a:solidFill>
                  <a:prstClr val="black"/>
                </a:solidFill>
                <a:latin typeface="Microsoft JhengHei" panose="020B0604030504040204" pitchFamily="34" charset="-120"/>
                <a:ea typeface="Microsoft JhengHei" panose="020B0604030504040204" pitchFamily="34" charset="-120"/>
              </a:rPr>
              <a:t>DeepSeek R </a:t>
            </a:r>
            <a:r>
              <a:rPr lang="zh-TW" altLang="en-US" dirty="0">
                <a:solidFill>
                  <a:prstClr val="black"/>
                </a:solidFill>
                <a:latin typeface="Microsoft JhengHei" panose="020B0604030504040204" pitchFamily="34" charset="-120"/>
                <a:ea typeface="Microsoft JhengHei" panose="020B0604030504040204" pitchFamily="34" charset="-120"/>
              </a:rPr>
              <a:t>系列、</a:t>
            </a:r>
            <a:r>
              <a:rPr lang="en-US" altLang="zh-TW" dirty="0">
                <a:solidFill>
                  <a:prstClr val="black"/>
                </a:solidFill>
                <a:latin typeface="Microsoft JhengHei" panose="020B0604030504040204" pitchFamily="34" charset="-120"/>
                <a:ea typeface="Microsoft JhengHei" panose="020B0604030504040204" pitchFamily="34" charset="-120"/>
              </a:rPr>
              <a:t>Gemini</a:t>
            </a:r>
            <a:r>
              <a:rPr lang="zh-TW" altLang="en-US" dirty="0">
                <a:solidFill>
                  <a:prstClr val="black"/>
                </a:solidFill>
                <a:latin typeface="Microsoft JhengHei" panose="020B0604030504040204" pitchFamily="34" charset="-120"/>
                <a:ea typeface="Microsoft JhengHei" panose="020B0604030504040204" pitchFamily="34" charset="-120"/>
              </a:rPr>
              <a:t> </a:t>
            </a:r>
            <a:r>
              <a:rPr lang="en-US" altLang="zh-TW" dirty="0">
                <a:solidFill>
                  <a:prstClr val="black"/>
                </a:solidFill>
                <a:latin typeface="Microsoft JhengHei" panose="020B0604030504040204" pitchFamily="34" charset="-120"/>
                <a:ea typeface="Microsoft JhengHei" panose="020B0604030504040204" pitchFamily="34" charset="-120"/>
              </a:rPr>
              <a:t>Deep Think </a:t>
            </a:r>
            <a:r>
              <a:rPr lang="zh-TW" altLang="en-US" dirty="0">
                <a:solidFill>
                  <a:prstClr val="black"/>
                </a:solidFill>
                <a:latin typeface="Microsoft JhengHei" panose="020B0604030504040204" pitchFamily="34" charset="-120"/>
                <a:ea typeface="Microsoft JhengHei" panose="020B0604030504040204" pitchFamily="34" charset="-120"/>
              </a:rPr>
              <a:t> </a:t>
            </a:r>
            <a:r>
              <a:rPr lang="en-US" altLang="zh-TW" dirty="0">
                <a:solidFill>
                  <a:prstClr val="black"/>
                </a:solidFill>
                <a:latin typeface="Microsoft JhengHei" panose="020B0604030504040204" pitchFamily="34" charset="-120"/>
                <a:ea typeface="Microsoft JhengHei" panose="020B0604030504040204" pitchFamily="34" charset="-120"/>
              </a:rPr>
              <a:t>…..</a:t>
            </a:r>
            <a:endParaRPr lang="zh-TW" altLang="en-US" dirty="0">
              <a:solidFill>
                <a:prstClr val="black"/>
              </a:solidFill>
              <a:latin typeface="Microsoft JhengHei" panose="020B0604030504040204" pitchFamily="34" charset="-120"/>
              <a:ea typeface="Microsoft JhengHei" panose="020B0604030504040204" pitchFamily="34" charset="-120"/>
            </a:endParaRPr>
          </a:p>
          <a:p>
            <a:endParaRPr lang="zh-TW" altLang="en-US" dirty="0"/>
          </a:p>
        </p:txBody>
      </p:sp>
      <p:pic>
        <p:nvPicPr>
          <p:cNvPr id="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138395" y="2606093"/>
            <a:ext cx="1219200" cy="12192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線單箭頭接點 4"/>
          <p:cNvCxnSpPr/>
          <p:nvPr/>
        </p:nvCxnSpPr>
        <p:spPr>
          <a:xfrm>
            <a:off x="1910084" y="3343839"/>
            <a:ext cx="1047336"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文字方塊 5"/>
          <p:cNvSpPr txBox="1"/>
          <p:nvPr/>
        </p:nvSpPr>
        <p:spPr>
          <a:xfrm>
            <a:off x="700409" y="3078271"/>
            <a:ext cx="1219200"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問題</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7" name="直線單箭頭接點 6"/>
          <p:cNvCxnSpPr/>
          <p:nvPr/>
        </p:nvCxnSpPr>
        <p:spPr>
          <a:xfrm>
            <a:off x="4662395" y="3343839"/>
            <a:ext cx="1047336"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p:cNvSpPr txBox="1"/>
          <p:nvPr/>
        </p:nvSpPr>
        <p:spPr>
          <a:xfrm>
            <a:off x="5909756" y="3113006"/>
            <a:ext cx="2780886"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我們先看</a:t>
            </a:r>
            <a:r>
              <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a:t>
            </a: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解法</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9" name="文字方塊 8"/>
          <p:cNvSpPr txBox="1"/>
          <p:nvPr/>
        </p:nvSpPr>
        <p:spPr>
          <a:xfrm>
            <a:off x="8272370" y="3113006"/>
            <a:ext cx="1571211"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驗證一下</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0" name="文字方塊 9"/>
          <p:cNvSpPr txBox="1"/>
          <p:nvPr/>
        </p:nvSpPr>
        <p:spPr>
          <a:xfrm>
            <a:off x="9776078" y="3113006"/>
            <a:ext cx="1571211"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恩 </a:t>
            </a:r>
            <a:r>
              <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 </a:t>
            </a: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不對</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1" name="文字方塊 10"/>
          <p:cNvSpPr txBox="1"/>
          <p:nvPr/>
        </p:nvSpPr>
        <p:spPr>
          <a:xfrm>
            <a:off x="5938126" y="3664761"/>
            <a:ext cx="2780886"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我們再試</a:t>
            </a:r>
            <a:r>
              <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B</a:t>
            </a: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解法</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2" name="文字方塊 11"/>
          <p:cNvSpPr txBox="1"/>
          <p:nvPr/>
        </p:nvSpPr>
        <p:spPr>
          <a:xfrm>
            <a:off x="8272370" y="3664761"/>
            <a:ext cx="1571211"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驗證一下</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3" name="文字方塊 12"/>
          <p:cNvSpPr txBox="1"/>
          <p:nvPr/>
        </p:nvSpPr>
        <p:spPr>
          <a:xfrm>
            <a:off x="9776078" y="3694752"/>
            <a:ext cx="1943100"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好像是對的</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4" name="文字方塊 13"/>
          <p:cNvSpPr txBox="1"/>
          <p:nvPr/>
        </p:nvSpPr>
        <p:spPr>
          <a:xfrm>
            <a:off x="5938331" y="4205003"/>
            <a:ext cx="2780886"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還可以嘗試</a:t>
            </a:r>
            <a:r>
              <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C</a:t>
            </a: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解法</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5" name="文字方塊 14"/>
          <p:cNvSpPr txBox="1"/>
          <p:nvPr/>
        </p:nvSpPr>
        <p:spPr>
          <a:xfrm>
            <a:off x="8529545" y="4205004"/>
            <a:ext cx="2466561"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 </a:t>
            </a: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看起來不好</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6" name="文字方塊 15"/>
          <p:cNvSpPr txBox="1"/>
          <p:nvPr/>
        </p:nvSpPr>
        <p:spPr>
          <a:xfrm>
            <a:off x="5742243" y="5441711"/>
            <a:ext cx="5953538"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使用 </a:t>
            </a:r>
            <a:r>
              <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B</a:t>
            </a: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 方法來解題，給你最終答案</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7" name="矩形: 圓角 16"/>
          <p:cNvSpPr/>
          <p:nvPr/>
        </p:nvSpPr>
        <p:spPr>
          <a:xfrm>
            <a:off x="5765640" y="2935080"/>
            <a:ext cx="5840066" cy="1866900"/>
          </a:xfrm>
          <a:prstGeom prst="roundRect">
            <a:avLst>
              <a:gd name="adj" fmla="val 7483"/>
            </a:avLst>
          </a:prstGeom>
          <a:noFill/>
          <a:ln w="57150">
            <a:solidFill>
              <a:schemeClr val="tx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Aptos" panose="02110004020202020204"/>
              <a:ea typeface="PMingLiU" panose="02020500000000000000" pitchFamily="18" charset="-120"/>
              <a:cs typeface="+mn-cs"/>
            </a:endParaRPr>
          </a:p>
        </p:txBody>
      </p:sp>
      <p:sp>
        <p:nvSpPr>
          <p:cNvPr id="18" name="文字方塊 17"/>
          <p:cNvSpPr txBox="1"/>
          <p:nvPr/>
        </p:nvSpPr>
        <p:spPr>
          <a:xfrm>
            <a:off x="2796775" y="4303888"/>
            <a:ext cx="1891633" cy="461665"/>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srgbClr val="FF0000"/>
                </a:solidFill>
                <a:effectLst/>
                <a:uLnTx/>
                <a:uFillTx/>
                <a:latin typeface="Microsoft JhengHei" panose="020B0604030504040204" pitchFamily="34" charset="-120"/>
                <a:ea typeface="Microsoft JhengHei" panose="020B0604030504040204" pitchFamily="34" charset="-120"/>
                <a:cs typeface="+mn-cs"/>
              </a:rPr>
              <a:t>腦內小劇場</a:t>
            </a:r>
            <a:endParaRPr kumimoji="0" lang="zh-TW" altLang="en-US" sz="2400" b="0" i="0" u="none" strike="noStrike" kern="1200" cap="none" spc="0" normalizeH="0" baseline="0" noProof="0" dirty="0">
              <a:ln>
                <a:noFill/>
              </a:ln>
              <a:solidFill>
                <a:srgbClr val="FF0000"/>
              </a:solidFill>
              <a:effectLst/>
              <a:uLnTx/>
              <a:uFillTx/>
              <a:latin typeface="Microsoft JhengHei" panose="020B0604030504040204" pitchFamily="34" charset="-120"/>
              <a:ea typeface="Microsoft JhengHei" panose="020B0604030504040204" pitchFamily="34" charset="-120"/>
              <a:cs typeface="+mn-cs"/>
            </a:endParaRPr>
          </a:p>
        </p:txBody>
      </p:sp>
      <p:cxnSp>
        <p:nvCxnSpPr>
          <p:cNvPr id="19" name="直線單箭頭接點 18"/>
          <p:cNvCxnSpPr/>
          <p:nvPr/>
        </p:nvCxnSpPr>
        <p:spPr>
          <a:xfrm flipV="1">
            <a:off x="4790283" y="3809811"/>
            <a:ext cx="1119473" cy="626024"/>
          </a:xfrm>
          <a:prstGeom prst="straightConnector1">
            <a:avLst/>
          </a:prstGeom>
          <a:ln w="5715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1" name="文字方塊 20"/>
          <p:cNvSpPr txBox="1"/>
          <p:nvPr/>
        </p:nvSpPr>
        <p:spPr>
          <a:xfrm>
            <a:off x="1645107" y="5000447"/>
            <a:ext cx="3480274" cy="1200329"/>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規劃、嘗試、驗證 </a:t>
            </a:r>
            <a:endPar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使用者可以選擇不看 </a:t>
            </a:r>
            <a:r>
              <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t>
            </a: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甚至不能看</a:t>
            </a:r>
            <a:r>
              <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20" name="直線單箭頭接點 19"/>
          <p:cNvCxnSpPr/>
          <p:nvPr/>
        </p:nvCxnSpPr>
        <p:spPr>
          <a:xfrm>
            <a:off x="6490990" y="4881017"/>
            <a:ext cx="0" cy="509954"/>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0"/>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9" grpId="0"/>
      <p:bldP spid="10" grpId="0"/>
      <p:bldP spid="11" grpId="0"/>
      <p:bldP spid="12" grpId="0"/>
      <p:bldP spid="13" grpId="0"/>
      <p:bldP spid="14" grpId="0"/>
      <p:bldP spid="15" grpId="0"/>
      <p:bldP spid="16" grpId="0"/>
      <p:bldP spid="17" grpId="0" animBg="1"/>
      <p:bldP spid="18" grpId="0"/>
      <p:bldP spid="21"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模型自己產生的思考過程 </a:t>
            </a:r>
            <a:r>
              <a:rPr lang="en-US" altLang="zh-TW" dirty="0">
                <a:latin typeface="Microsoft JhengHei" panose="020B0604030504040204" pitchFamily="34" charset="-120"/>
                <a:ea typeface="Microsoft JhengHei" panose="020B0604030504040204" pitchFamily="34" charset="-120"/>
              </a:rPr>
              <a:t>(Reasoning) </a:t>
            </a:r>
            <a:endParaRPr lang="zh-TW" altLang="en-US" dirty="0"/>
          </a:p>
        </p:txBody>
      </p:sp>
      <p:pic>
        <p:nvPicPr>
          <p:cNvPr id="5" name="圖片 4"/>
          <p:cNvPicPr>
            <a:picLocks noChangeAspect="1"/>
          </p:cNvPicPr>
          <p:nvPr/>
        </p:nvPicPr>
        <p:blipFill>
          <a:blip r:embed="rId1"/>
          <a:stretch>
            <a:fillRect/>
          </a:stretch>
        </p:blipFill>
        <p:spPr>
          <a:xfrm>
            <a:off x="939800" y="1690688"/>
            <a:ext cx="6894279" cy="4377602"/>
          </a:xfrm>
          <a:prstGeom prst="rect">
            <a:avLst/>
          </a:prstGeom>
        </p:spPr>
      </p:pic>
      <p:sp>
        <p:nvSpPr>
          <p:cNvPr id="7" name="文字方塊 6"/>
          <p:cNvSpPr txBox="1"/>
          <p:nvPr/>
        </p:nvSpPr>
        <p:spPr>
          <a:xfrm>
            <a:off x="2409372" y="6123543"/>
            <a:ext cx="6096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1800" b="0" i="0" u="none" strike="noStrike" kern="1200" cap="none" spc="0" normalizeH="0" baseline="0" noProof="0">
                <a:ln>
                  <a:noFill/>
                </a:ln>
                <a:solidFill>
                  <a:prstClr val="black"/>
                </a:solidFill>
                <a:effectLst/>
                <a:uLnTx/>
                <a:uFillTx/>
                <a:latin typeface="Calibri" panose="020F0502020204030204"/>
                <a:ea typeface="PMingLiU" panose="02020500000000000000" pitchFamily="18" charset="-120"/>
                <a:cs typeface="+mn-cs"/>
              </a:rPr>
              <a:t>https://youtu.be/bJFtcwLSNxI?si=hT-nKkFEEd-zJypH</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29814" y="2009208"/>
            <a:ext cx="3795814" cy="379581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What is in the context?</a:t>
            </a:r>
            <a:endParaRPr lang="zh-TW" altLang="en-US" dirty="0"/>
          </a:p>
        </p:txBody>
      </p:sp>
      <p:sp>
        <p:nvSpPr>
          <p:cNvPr id="3" name="內容版面配置區 2"/>
          <p:cNvSpPr>
            <a:spLocks noGrp="1"/>
          </p:cNvSpPr>
          <p:nvPr>
            <p:ph idx="1"/>
          </p:nvPr>
        </p:nvSpPr>
        <p:spPr/>
        <p:txBody>
          <a:bodyPr/>
          <a:lstStyle/>
          <a:p>
            <a:r>
              <a:rPr lang="en-US" altLang="zh-TW" dirty="0"/>
              <a:t>User prompt (including examples …)</a:t>
            </a:r>
            <a:endParaRPr lang="en-US" altLang="zh-TW" dirty="0"/>
          </a:p>
          <a:p>
            <a:r>
              <a:rPr lang="en-US" altLang="zh-TW" dirty="0"/>
              <a:t>System prompt (persona, behaviors, etc.)</a:t>
            </a:r>
            <a:endParaRPr lang="en-US" altLang="zh-TW" dirty="0"/>
          </a:p>
          <a:p>
            <a:r>
              <a:rPr lang="en-US" altLang="zh-TW" dirty="0"/>
              <a:t>Dialogue history </a:t>
            </a:r>
            <a:endParaRPr lang="en-US" altLang="zh-TW" dirty="0"/>
          </a:p>
          <a:p>
            <a:r>
              <a:rPr lang="en-US" altLang="zh-TW" dirty="0"/>
              <a:t>Memory </a:t>
            </a:r>
            <a:endParaRPr lang="en-US" altLang="zh-TW" dirty="0"/>
          </a:p>
          <a:p>
            <a:r>
              <a:rPr lang="en-US" altLang="zh-TW" dirty="0"/>
              <a:t>Relevant information from other sources </a:t>
            </a:r>
            <a:endParaRPr lang="en-US" altLang="zh-TW" dirty="0"/>
          </a:p>
          <a:p>
            <a:r>
              <a:rPr lang="en-US" altLang="zh-TW" dirty="0"/>
              <a:t>Tool use</a:t>
            </a:r>
            <a:endParaRPr lang="en-US" altLang="zh-TW" dirty="0"/>
          </a:p>
          <a:p>
            <a:r>
              <a:rPr lang="en-US" altLang="zh-TW" dirty="0"/>
              <a:t>Reasoning </a:t>
            </a:r>
            <a:endParaRPr lang="en-US" altLang="zh-TW" dirty="0"/>
          </a:p>
          <a:p>
            <a:endParaRPr lang="zh-TW" altLang="en-US" dirty="0"/>
          </a:p>
        </p:txBody>
      </p:sp>
      <p:sp>
        <p:nvSpPr>
          <p:cNvPr id="4" name="右大括弧 3"/>
          <p:cNvSpPr/>
          <p:nvPr/>
        </p:nvSpPr>
        <p:spPr>
          <a:xfrm>
            <a:off x="7277100" y="1825625"/>
            <a:ext cx="666750" cy="3641725"/>
          </a:xfrm>
          <a:prstGeom prst="rightBrace">
            <a:avLst>
              <a:gd name="adj1" fmla="val 40641"/>
              <a:gd name="adj2" fmla="val 50000"/>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black"/>
              </a:solidFill>
              <a:effectLst/>
              <a:uLnTx/>
              <a:uFillTx/>
              <a:latin typeface="Calibri" panose="020F0502020204030204"/>
              <a:ea typeface="PMingLiU" panose="02020500000000000000" pitchFamily="18" charset="-120"/>
              <a:cs typeface="+mn-cs"/>
            </a:endParaRPr>
          </a:p>
        </p:txBody>
      </p:sp>
      <p:sp>
        <p:nvSpPr>
          <p:cNvPr id="6" name="文字方塊 5"/>
          <p:cNvSpPr txBox="1"/>
          <p:nvPr/>
        </p:nvSpPr>
        <p:spPr>
          <a:xfrm>
            <a:off x="8115300" y="3365827"/>
            <a:ext cx="2400300"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2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Very long!!!</a:t>
            </a:r>
            <a:endParaRPr kumimoji="0" lang="zh-TW" altLang="en-US" sz="2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5" name="文字方塊 4"/>
          <p:cNvSpPr txBox="1"/>
          <p:nvPr/>
        </p:nvSpPr>
        <p:spPr>
          <a:xfrm>
            <a:off x="2343150" y="5826478"/>
            <a:ext cx="9010650" cy="523220"/>
          </a:xfrm>
          <a:prstGeom prst="rect">
            <a:avLst/>
          </a:prstGeom>
          <a:noFill/>
        </p:spPr>
        <p:txBody>
          <a:bodyPr wrap="square" rtlCol="0">
            <a:spAutoFit/>
          </a:bodyPr>
          <a:lstStyle/>
          <a:p>
            <a:r>
              <a:rPr lang="en-US" altLang="zh-TW" sz="2800" dirty="0">
                <a:latin typeface="Microsoft JhengHei" panose="020B0604030504040204" pitchFamily="34" charset="-120"/>
                <a:ea typeface="Microsoft JhengHei" panose="020B0604030504040204" pitchFamily="34" charset="-120"/>
              </a:rPr>
              <a:t>Context Engineering </a:t>
            </a:r>
            <a:r>
              <a:rPr lang="zh-TW" altLang="en-US" sz="2800" dirty="0">
                <a:latin typeface="Microsoft JhengHei" panose="020B0604030504040204" pitchFamily="34" charset="-120"/>
                <a:ea typeface="Microsoft JhengHei" panose="020B0604030504040204" pitchFamily="34" charset="-120"/>
              </a:rPr>
              <a:t>的核心目標：</a:t>
            </a:r>
            <a:r>
              <a:rPr lang="zh-TW" altLang="en-US" sz="2800" b="1" dirty="0">
                <a:solidFill>
                  <a:srgbClr val="FF0000"/>
                </a:solidFill>
                <a:latin typeface="Microsoft JhengHei" panose="020B0604030504040204" pitchFamily="34" charset="-120"/>
                <a:ea typeface="Microsoft JhengHei" panose="020B0604030504040204" pitchFamily="34" charset="-120"/>
              </a:rPr>
              <a:t>避免塞爆 </a:t>
            </a:r>
            <a:r>
              <a:rPr lang="en-US" altLang="zh-TW" sz="2800" b="1" dirty="0">
                <a:solidFill>
                  <a:srgbClr val="FF0000"/>
                </a:solidFill>
                <a:latin typeface="Microsoft JhengHei" panose="020B0604030504040204" pitchFamily="34" charset="-120"/>
                <a:ea typeface="Microsoft JhengHei" panose="020B0604030504040204" pitchFamily="34" charset="-120"/>
              </a:rPr>
              <a:t>Context </a:t>
            </a:r>
            <a:endParaRPr lang="zh-TW" altLang="en-US" sz="2800" b="1" dirty="0">
              <a:solidFill>
                <a:srgbClr val="FF0000"/>
              </a:solidFill>
              <a:latin typeface="Microsoft JhengHei" panose="020B0604030504040204" pitchFamily="34" charset="-120"/>
              <a:ea typeface="Microsoft JhengHei" panose="020B0604030504040204" pitchFamily="34" charset="-120"/>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5"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Rectangle 7"/>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標題 1"/>
          <p:cNvSpPr>
            <a:spLocks noGrp="1"/>
          </p:cNvSpPr>
          <p:nvPr>
            <p:ph type="ctrTitle"/>
          </p:nvPr>
        </p:nvSpPr>
        <p:spPr>
          <a:xfrm>
            <a:off x="831317" y="1354819"/>
            <a:ext cx="10361531" cy="2678363"/>
          </a:xfrm>
        </p:spPr>
        <p:txBody>
          <a:bodyPr>
            <a:normAutofit fontScale="90000"/>
          </a:bodyPr>
          <a:lstStyle/>
          <a:p>
            <a:pPr algn="l"/>
            <a:r>
              <a:rPr lang="zh-TW" altLang="en-US" sz="7200" dirty="0">
                <a:solidFill>
                  <a:schemeClr val="bg1"/>
                </a:solidFill>
                <a:latin typeface="Microsoft JhengHei" panose="020B0604030504040204" pitchFamily="34" charset="-120"/>
                <a:ea typeface="Microsoft JhengHei" panose="020B0604030504040204" pitchFamily="34" charset="-120"/>
              </a:rPr>
              <a:t>為什麼 </a:t>
            </a:r>
            <a:r>
              <a:rPr lang="en-US" altLang="zh-TW" sz="7200" dirty="0">
                <a:solidFill>
                  <a:schemeClr val="bg1"/>
                </a:solidFill>
                <a:latin typeface="Microsoft JhengHei" panose="020B0604030504040204" pitchFamily="34" charset="-120"/>
                <a:ea typeface="Microsoft JhengHei" panose="020B0604030504040204" pitchFamily="34" charset="-120"/>
              </a:rPr>
              <a:t>AI</a:t>
            </a:r>
            <a:r>
              <a:rPr lang="zh-TW" altLang="en-US" sz="7200" dirty="0">
                <a:solidFill>
                  <a:schemeClr val="bg1"/>
                </a:solidFill>
                <a:latin typeface="Microsoft JhengHei" panose="020B0604030504040204" pitchFamily="34" charset="-120"/>
                <a:ea typeface="Microsoft JhengHei" panose="020B0604030504040204" pitchFamily="34" charset="-120"/>
              </a:rPr>
              <a:t> </a:t>
            </a:r>
            <a:r>
              <a:rPr lang="en-US" altLang="zh-TW" sz="7200" dirty="0">
                <a:solidFill>
                  <a:schemeClr val="bg1"/>
                </a:solidFill>
                <a:latin typeface="Microsoft JhengHei" panose="020B0604030504040204" pitchFamily="34" charset="-120"/>
                <a:ea typeface="Microsoft JhengHei" panose="020B0604030504040204" pitchFamily="34" charset="-120"/>
              </a:rPr>
              <a:t>Agent </a:t>
            </a:r>
            <a:r>
              <a:rPr lang="zh-TW" altLang="en-US" sz="7200" dirty="0">
                <a:solidFill>
                  <a:schemeClr val="bg1"/>
                </a:solidFill>
                <a:latin typeface="Microsoft JhengHei" panose="020B0604030504040204" pitchFamily="34" charset="-120"/>
                <a:ea typeface="Microsoft JhengHei" panose="020B0604030504040204" pitchFamily="34" charset="-120"/>
              </a:rPr>
              <a:t>時代</a:t>
            </a:r>
            <a:br>
              <a:rPr lang="en-US" altLang="zh-TW" sz="7200" dirty="0">
                <a:solidFill>
                  <a:schemeClr val="bg1"/>
                </a:solidFill>
                <a:latin typeface="Microsoft JhengHei" panose="020B0604030504040204" pitchFamily="34" charset="-120"/>
                <a:ea typeface="Microsoft JhengHei" panose="020B0604030504040204" pitchFamily="34" charset="-120"/>
              </a:rPr>
            </a:br>
            <a:r>
              <a:rPr lang="zh-TW" altLang="en-US" sz="7200" dirty="0">
                <a:solidFill>
                  <a:schemeClr val="bg1"/>
                </a:solidFill>
                <a:latin typeface="Microsoft JhengHei" panose="020B0604030504040204" pitchFamily="34" charset="-120"/>
                <a:ea typeface="Microsoft JhengHei" panose="020B0604030504040204" pitchFamily="34" charset="-120"/>
              </a:rPr>
              <a:t>需要 </a:t>
            </a:r>
            <a:r>
              <a:rPr lang="en-US" altLang="zh-TW" sz="7200" dirty="0">
                <a:solidFill>
                  <a:schemeClr val="bg1"/>
                </a:solidFill>
                <a:latin typeface="Microsoft JhengHei" panose="020B0604030504040204" pitchFamily="34" charset="-120"/>
                <a:ea typeface="Microsoft JhengHei" panose="020B0604030504040204" pitchFamily="34" charset="-120"/>
              </a:rPr>
              <a:t>Context</a:t>
            </a:r>
            <a:r>
              <a:rPr lang="zh-TW" altLang="en-US" sz="7200" dirty="0">
                <a:solidFill>
                  <a:schemeClr val="bg1"/>
                </a:solidFill>
                <a:latin typeface="Microsoft JhengHei" panose="020B0604030504040204" pitchFamily="34" charset="-120"/>
                <a:ea typeface="Microsoft JhengHei" panose="020B0604030504040204" pitchFamily="34" charset="-120"/>
              </a:rPr>
              <a:t> </a:t>
            </a:r>
            <a:r>
              <a:rPr lang="en-US" altLang="zh-TW" sz="7200" dirty="0">
                <a:solidFill>
                  <a:schemeClr val="bg1"/>
                </a:solidFill>
                <a:latin typeface="Microsoft JhengHei" panose="020B0604030504040204" pitchFamily="34" charset="-120"/>
                <a:ea typeface="Microsoft JhengHei" panose="020B0604030504040204" pitchFamily="34" charset="-120"/>
              </a:rPr>
              <a:t>Engineering </a:t>
            </a:r>
            <a:endParaRPr lang="zh-TW" altLang="en-US" sz="7200" dirty="0">
              <a:solidFill>
                <a:schemeClr val="bg1"/>
              </a:solidFill>
              <a:latin typeface="Microsoft JhengHei" panose="020B0604030504040204" pitchFamily="34" charset="-120"/>
              <a:ea typeface="Microsoft JhengHei" panose="020B0604030504040204" pitchFamily="34" charset="-120"/>
            </a:endParaRPr>
          </a:p>
        </p:txBody>
      </p:sp>
      <p:grpSp>
        <p:nvGrpSpPr>
          <p:cNvPr id="15" name="Group 9"/>
          <p:cNvGrpSpPr>
            <a:grpSpLocks noGrp="1" noRot="1" noChangeAspect="1" noMove="1" noResize="1" noUngrp="1"/>
          </p:cNvGrpSpPr>
          <p:nvPr/>
        </p:nvGrpSpPr>
        <p:grpSpPr>
          <a:xfrm>
            <a:off x="11479015" y="0"/>
            <a:ext cx="712985" cy="6858000"/>
            <a:chOff x="11479015" y="0"/>
            <a:chExt cx="712985" cy="6858000"/>
          </a:xfrm>
          <a:effectLst>
            <a:outerShdw blurRad="381000" dist="152400" dir="10800000" algn="ctr" rotWithShape="0">
              <a:schemeClr val="bg1">
                <a:alpha val="10000"/>
              </a:schemeClr>
            </a:outerShdw>
          </a:effectLst>
        </p:grpSpPr>
        <p:sp>
          <p:nvSpPr>
            <p:cNvPr id="11" name="Freeform: Shape 10"/>
            <p:cNvSpPr/>
            <p:nvPr/>
          </p:nvSpPr>
          <p:spPr>
            <a:xfrm>
              <a:off x="11479018" y="0"/>
              <a:ext cx="712982" cy="6858000"/>
            </a:xfrm>
            <a:custGeom>
              <a:avLst/>
              <a:gdLst>
                <a:gd name="connsiteX0" fmla="*/ 280560 w 712982"/>
                <a:gd name="connsiteY0" fmla="*/ 0 h 6858000"/>
                <a:gd name="connsiteX1" fmla="*/ 712982 w 712982"/>
                <a:gd name="connsiteY1" fmla="*/ 0 h 6858000"/>
                <a:gd name="connsiteX2" fmla="*/ 712982 w 712982"/>
                <a:gd name="connsiteY2" fmla="*/ 6858000 h 6858000"/>
                <a:gd name="connsiteX3" fmla="*/ 372527 w 712982"/>
                <a:gd name="connsiteY3" fmla="*/ 6858000 h 6858000"/>
                <a:gd name="connsiteX4" fmla="*/ 372901 w 712982"/>
                <a:gd name="connsiteY4" fmla="*/ 6835810 h 6858000"/>
                <a:gd name="connsiteX5" fmla="*/ 363017 w 712982"/>
                <a:gd name="connsiteY5" fmla="*/ 6518145 h 6858000"/>
                <a:gd name="connsiteX6" fmla="*/ 310498 w 712982"/>
                <a:gd name="connsiteY6" fmla="*/ 6393936 h 6858000"/>
                <a:gd name="connsiteX7" fmla="*/ 305420 w 712982"/>
                <a:gd name="connsiteY7" fmla="*/ 6355564 h 6858000"/>
                <a:gd name="connsiteX8" fmla="*/ 311030 w 712982"/>
                <a:gd name="connsiteY8" fmla="*/ 6267729 h 6858000"/>
                <a:gd name="connsiteX9" fmla="*/ 281440 w 712982"/>
                <a:gd name="connsiteY9" fmla="*/ 6090959 h 6858000"/>
                <a:gd name="connsiteX10" fmla="*/ 258928 w 712982"/>
                <a:gd name="connsiteY10" fmla="*/ 6026981 h 6858000"/>
                <a:gd name="connsiteX11" fmla="*/ 245105 w 712982"/>
                <a:gd name="connsiteY11" fmla="*/ 5991615 h 6858000"/>
                <a:gd name="connsiteX12" fmla="*/ 197441 w 712982"/>
                <a:gd name="connsiteY12" fmla="*/ 5807458 h 6858000"/>
                <a:gd name="connsiteX13" fmla="*/ 159115 w 712982"/>
                <a:gd name="connsiteY13" fmla="*/ 5727356 h 6858000"/>
                <a:gd name="connsiteX14" fmla="*/ 152306 w 712982"/>
                <a:gd name="connsiteY14" fmla="*/ 5705270 h 6858000"/>
                <a:gd name="connsiteX15" fmla="*/ 150939 w 712982"/>
                <a:gd name="connsiteY15" fmla="*/ 5580441 h 6858000"/>
                <a:gd name="connsiteX16" fmla="*/ 187956 w 712982"/>
                <a:gd name="connsiteY16" fmla="*/ 5482729 h 6858000"/>
                <a:gd name="connsiteX17" fmla="*/ 201902 w 712982"/>
                <a:gd name="connsiteY17" fmla="*/ 5463053 h 6858000"/>
                <a:gd name="connsiteX18" fmla="*/ 168174 w 712982"/>
                <a:gd name="connsiteY18" fmla="*/ 5205662 h 6858000"/>
                <a:gd name="connsiteX19" fmla="*/ 157186 w 712982"/>
                <a:gd name="connsiteY19" fmla="*/ 5166766 h 6858000"/>
                <a:gd name="connsiteX20" fmla="*/ 163999 w 712982"/>
                <a:gd name="connsiteY20" fmla="*/ 4972256 h 6858000"/>
                <a:gd name="connsiteX21" fmla="*/ 163388 w 712982"/>
                <a:gd name="connsiteY21" fmla="*/ 4915833 h 6858000"/>
                <a:gd name="connsiteX22" fmla="*/ 166361 w 712982"/>
                <a:gd name="connsiteY22" fmla="*/ 4712964 h 6858000"/>
                <a:gd name="connsiteX23" fmla="*/ 140122 w 712982"/>
                <a:gd name="connsiteY23" fmla="*/ 4687152 h 6858000"/>
                <a:gd name="connsiteX24" fmla="*/ 73058 w 712982"/>
                <a:gd name="connsiteY24" fmla="*/ 4611951 h 6858000"/>
                <a:gd name="connsiteX25" fmla="*/ 3979 w 712982"/>
                <a:gd name="connsiteY25" fmla="*/ 4456771 h 6858000"/>
                <a:gd name="connsiteX26" fmla="*/ 2091 w 712982"/>
                <a:gd name="connsiteY26" fmla="*/ 4412781 h 6858000"/>
                <a:gd name="connsiteX27" fmla="*/ 75905 w 712982"/>
                <a:gd name="connsiteY27" fmla="*/ 4292897 h 6858000"/>
                <a:gd name="connsiteX28" fmla="*/ 104434 w 712982"/>
                <a:gd name="connsiteY28" fmla="*/ 4235333 h 6858000"/>
                <a:gd name="connsiteX29" fmla="*/ 151065 w 712982"/>
                <a:gd name="connsiteY29" fmla="*/ 4075686 h 6858000"/>
                <a:gd name="connsiteX30" fmla="*/ 161243 w 712982"/>
                <a:gd name="connsiteY30" fmla="*/ 4061695 h 6858000"/>
                <a:gd name="connsiteX31" fmla="*/ 286285 w 712982"/>
                <a:gd name="connsiteY31" fmla="*/ 3933862 h 6858000"/>
                <a:gd name="connsiteX32" fmla="*/ 306926 w 712982"/>
                <a:gd name="connsiteY32" fmla="*/ 3905847 h 6858000"/>
                <a:gd name="connsiteX33" fmla="*/ 340015 w 712982"/>
                <a:gd name="connsiteY33" fmla="*/ 3871199 h 6858000"/>
                <a:gd name="connsiteX34" fmla="*/ 400111 w 712982"/>
                <a:gd name="connsiteY34" fmla="*/ 3767743 h 6858000"/>
                <a:gd name="connsiteX35" fmla="*/ 409694 w 712982"/>
                <a:gd name="connsiteY35" fmla="*/ 3646690 h 6858000"/>
                <a:gd name="connsiteX36" fmla="*/ 428447 w 712982"/>
                <a:gd name="connsiteY36" fmla="*/ 3499752 h 6858000"/>
                <a:gd name="connsiteX37" fmla="*/ 445033 w 712982"/>
                <a:gd name="connsiteY37" fmla="*/ 3437349 h 6858000"/>
                <a:gd name="connsiteX38" fmla="*/ 471431 w 712982"/>
                <a:gd name="connsiteY38" fmla="*/ 3272018 h 6858000"/>
                <a:gd name="connsiteX39" fmla="*/ 495919 w 712982"/>
                <a:gd name="connsiteY39" fmla="*/ 3153432 h 6858000"/>
                <a:gd name="connsiteX40" fmla="*/ 499541 w 712982"/>
                <a:gd name="connsiteY40" fmla="*/ 2985907 h 6858000"/>
                <a:gd name="connsiteX41" fmla="*/ 491640 w 712982"/>
                <a:gd name="connsiteY41" fmla="*/ 2905697 h 6858000"/>
                <a:gd name="connsiteX42" fmla="*/ 586592 w 712982"/>
                <a:gd name="connsiteY42" fmla="*/ 2746325 h 6858000"/>
                <a:gd name="connsiteX43" fmla="*/ 647211 w 712982"/>
                <a:gd name="connsiteY43" fmla="*/ 2620857 h 6858000"/>
                <a:gd name="connsiteX44" fmla="*/ 598120 w 712982"/>
                <a:gd name="connsiteY44" fmla="*/ 2501248 h 6858000"/>
                <a:gd name="connsiteX45" fmla="*/ 560897 w 712982"/>
                <a:gd name="connsiteY45" fmla="*/ 2471368 h 6858000"/>
                <a:gd name="connsiteX46" fmla="*/ 506928 w 712982"/>
                <a:gd name="connsiteY46" fmla="*/ 2272389 h 6858000"/>
                <a:gd name="connsiteX47" fmla="*/ 474122 w 712982"/>
                <a:gd name="connsiteY47" fmla="*/ 1983284 h 6858000"/>
                <a:gd name="connsiteX48" fmla="*/ 349180 w 712982"/>
                <a:gd name="connsiteY48" fmla="*/ 1510207 h 6858000"/>
                <a:gd name="connsiteX49" fmla="*/ 306451 w 712982"/>
                <a:gd name="connsiteY49" fmla="*/ 1430003 h 6858000"/>
                <a:gd name="connsiteX50" fmla="*/ 287747 w 712982"/>
                <a:gd name="connsiteY50" fmla="*/ 1336633 h 6858000"/>
                <a:gd name="connsiteX51" fmla="*/ 304326 w 712982"/>
                <a:gd name="connsiteY51" fmla="*/ 1298229 h 6858000"/>
                <a:gd name="connsiteX52" fmla="*/ 317671 w 712982"/>
                <a:gd name="connsiteY52" fmla="*/ 1136667 h 6858000"/>
                <a:gd name="connsiteX53" fmla="*/ 314959 w 712982"/>
                <a:gd name="connsiteY53" fmla="*/ 1106522 h 6858000"/>
                <a:gd name="connsiteX54" fmla="*/ 290675 w 712982"/>
                <a:gd name="connsiteY54" fmla="*/ 1004980 h 6858000"/>
                <a:gd name="connsiteX55" fmla="*/ 272712 w 712982"/>
                <a:gd name="connsiteY55" fmla="*/ 910357 h 6858000"/>
                <a:gd name="connsiteX56" fmla="*/ 270963 w 712982"/>
                <a:gd name="connsiteY56" fmla="*/ 667028 h 6858000"/>
                <a:gd name="connsiteX57" fmla="*/ 244986 w 712982"/>
                <a:gd name="connsiteY57" fmla="*/ 483131 h 6858000"/>
                <a:gd name="connsiteX58" fmla="*/ 241465 w 712982"/>
                <a:gd name="connsiteY58" fmla="*/ 397465 h 6858000"/>
                <a:gd name="connsiteX59" fmla="*/ 244890 w 712982"/>
                <a:gd name="connsiteY59" fmla="*/ 348507 h 6858000"/>
                <a:gd name="connsiteX60" fmla="*/ 293439 w 712982"/>
                <a:gd name="connsiteY60" fmla="*/ 233141 h 6858000"/>
                <a:gd name="connsiteX61" fmla="*/ 300513 w 712982"/>
                <a:gd name="connsiteY61" fmla="*/ 17206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712982" h="6858000">
                  <a:moveTo>
                    <a:pt x="280560" y="0"/>
                  </a:moveTo>
                  <a:lnTo>
                    <a:pt x="712982" y="0"/>
                  </a:lnTo>
                  <a:lnTo>
                    <a:pt x="712982" y="6858000"/>
                  </a:lnTo>
                  <a:lnTo>
                    <a:pt x="372527" y="6858000"/>
                  </a:lnTo>
                  <a:lnTo>
                    <a:pt x="372901" y="6835810"/>
                  </a:lnTo>
                  <a:cubicBezTo>
                    <a:pt x="343741" y="6729822"/>
                    <a:pt x="373381" y="6623551"/>
                    <a:pt x="363017" y="6518145"/>
                  </a:cubicBezTo>
                  <a:cubicBezTo>
                    <a:pt x="358372" y="6470360"/>
                    <a:pt x="362468" y="6422202"/>
                    <a:pt x="310498" y="6393936"/>
                  </a:cubicBezTo>
                  <a:cubicBezTo>
                    <a:pt x="303659" y="6390296"/>
                    <a:pt x="304819" y="6368800"/>
                    <a:pt x="305420" y="6355564"/>
                  </a:cubicBezTo>
                  <a:cubicBezTo>
                    <a:pt x="306594" y="6326166"/>
                    <a:pt x="314451" y="6296329"/>
                    <a:pt x="311030" y="6267729"/>
                  </a:cubicBezTo>
                  <a:cubicBezTo>
                    <a:pt x="304253" y="6208466"/>
                    <a:pt x="293104" y="6149393"/>
                    <a:pt x="281440" y="6090959"/>
                  </a:cubicBezTo>
                  <a:cubicBezTo>
                    <a:pt x="276978" y="6068911"/>
                    <a:pt x="266829" y="6048361"/>
                    <a:pt x="258928" y="6026981"/>
                  </a:cubicBezTo>
                  <a:cubicBezTo>
                    <a:pt x="254416" y="6015184"/>
                    <a:pt x="244605" y="6003083"/>
                    <a:pt x="245105" y="5991615"/>
                  </a:cubicBezTo>
                  <a:cubicBezTo>
                    <a:pt x="248075" y="5925141"/>
                    <a:pt x="216651" y="5867990"/>
                    <a:pt x="197441" y="5807458"/>
                  </a:cubicBezTo>
                  <a:cubicBezTo>
                    <a:pt x="188523" y="5779456"/>
                    <a:pt x="171697" y="5754078"/>
                    <a:pt x="159115" y="5727356"/>
                  </a:cubicBezTo>
                  <a:cubicBezTo>
                    <a:pt x="155717" y="5720411"/>
                    <a:pt x="152517" y="5712566"/>
                    <a:pt x="152306" y="5705270"/>
                  </a:cubicBezTo>
                  <a:cubicBezTo>
                    <a:pt x="151252" y="5663532"/>
                    <a:pt x="151674" y="5621922"/>
                    <a:pt x="150939" y="5580441"/>
                  </a:cubicBezTo>
                  <a:cubicBezTo>
                    <a:pt x="150326" y="5542748"/>
                    <a:pt x="147369" y="5505023"/>
                    <a:pt x="187956" y="5482729"/>
                  </a:cubicBezTo>
                  <a:cubicBezTo>
                    <a:pt x="194324" y="5479395"/>
                    <a:pt x="198291" y="5470181"/>
                    <a:pt x="201902" y="5463053"/>
                  </a:cubicBezTo>
                  <a:cubicBezTo>
                    <a:pt x="257480" y="5353065"/>
                    <a:pt x="249730" y="5298303"/>
                    <a:pt x="168174" y="5205662"/>
                  </a:cubicBezTo>
                  <a:cubicBezTo>
                    <a:pt x="159805" y="5196040"/>
                    <a:pt x="152161" y="5174340"/>
                    <a:pt x="157186" y="5166766"/>
                  </a:cubicBezTo>
                  <a:cubicBezTo>
                    <a:pt x="198743" y="5102508"/>
                    <a:pt x="186477" y="5038579"/>
                    <a:pt x="163999" y="4972256"/>
                  </a:cubicBezTo>
                  <a:cubicBezTo>
                    <a:pt x="158020" y="4955056"/>
                    <a:pt x="155299" y="4930181"/>
                    <a:pt x="163388" y="4915833"/>
                  </a:cubicBezTo>
                  <a:cubicBezTo>
                    <a:pt x="200708" y="4847649"/>
                    <a:pt x="186907" y="4780374"/>
                    <a:pt x="166361" y="4712964"/>
                  </a:cubicBezTo>
                  <a:cubicBezTo>
                    <a:pt x="163165" y="4702485"/>
                    <a:pt x="150748" y="4690669"/>
                    <a:pt x="140122" y="4687152"/>
                  </a:cubicBezTo>
                  <a:cubicBezTo>
                    <a:pt x="102452" y="4674589"/>
                    <a:pt x="86917" y="4644970"/>
                    <a:pt x="73058" y="4611951"/>
                  </a:cubicBezTo>
                  <a:cubicBezTo>
                    <a:pt x="50686" y="4559957"/>
                    <a:pt x="25516" y="4509149"/>
                    <a:pt x="3979" y="4456771"/>
                  </a:cubicBezTo>
                  <a:cubicBezTo>
                    <a:pt x="-1236" y="4443877"/>
                    <a:pt x="-726" y="4427139"/>
                    <a:pt x="2091" y="4412781"/>
                  </a:cubicBezTo>
                  <a:cubicBezTo>
                    <a:pt x="11653" y="4363733"/>
                    <a:pt x="45382" y="4329603"/>
                    <a:pt x="75905" y="4292897"/>
                  </a:cubicBezTo>
                  <a:cubicBezTo>
                    <a:pt x="89361" y="4276787"/>
                    <a:pt x="97880" y="4255660"/>
                    <a:pt x="104434" y="4235333"/>
                  </a:cubicBezTo>
                  <a:cubicBezTo>
                    <a:pt x="121200" y="4182569"/>
                    <a:pt x="135523" y="4128901"/>
                    <a:pt x="151065" y="4075686"/>
                  </a:cubicBezTo>
                  <a:cubicBezTo>
                    <a:pt x="152552" y="4070549"/>
                    <a:pt x="157315" y="4065932"/>
                    <a:pt x="161243" y="4061695"/>
                  </a:cubicBezTo>
                  <a:cubicBezTo>
                    <a:pt x="202828" y="4019095"/>
                    <a:pt x="244731" y="3976753"/>
                    <a:pt x="286285" y="3933862"/>
                  </a:cubicBezTo>
                  <a:cubicBezTo>
                    <a:pt x="294168" y="3925683"/>
                    <a:pt x="299393" y="3914571"/>
                    <a:pt x="306926" y="3905847"/>
                  </a:cubicBezTo>
                  <a:cubicBezTo>
                    <a:pt x="317292" y="3893589"/>
                    <a:pt x="326766" y="3878502"/>
                    <a:pt x="340015" y="3871199"/>
                  </a:cubicBezTo>
                  <a:cubicBezTo>
                    <a:pt x="381725" y="3848490"/>
                    <a:pt x="396760" y="3812013"/>
                    <a:pt x="400111" y="3767743"/>
                  </a:cubicBezTo>
                  <a:cubicBezTo>
                    <a:pt x="403294" y="3727294"/>
                    <a:pt x="405323" y="3686973"/>
                    <a:pt x="409694" y="3646690"/>
                  </a:cubicBezTo>
                  <a:cubicBezTo>
                    <a:pt x="414852" y="3597538"/>
                    <a:pt x="420910" y="3548579"/>
                    <a:pt x="428447" y="3499752"/>
                  </a:cubicBezTo>
                  <a:cubicBezTo>
                    <a:pt x="431696" y="3478619"/>
                    <a:pt x="435683" y="3456228"/>
                    <a:pt x="445033" y="3437349"/>
                  </a:cubicBezTo>
                  <a:cubicBezTo>
                    <a:pt x="470858" y="3384475"/>
                    <a:pt x="486179" y="3329236"/>
                    <a:pt x="471431" y="3272018"/>
                  </a:cubicBezTo>
                  <a:cubicBezTo>
                    <a:pt x="459682" y="3226180"/>
                    <a:pt x="472474" y="3185267"/>
                    <a:pt x="495919" y="3153432"/>
                  </a:cubicBezTo>
                  <a:cubicBezTo>
                    <a:pt x="538461" y="3095505"/>
                    <a:pt x="521296" y="3040311"/>
                    <a:pt x="499541" y="2985907"/>
                  </a:cubicBezTo>
                  <a:cubicBezTo>
                    <a:pt x="488276" y="2957871"/>
                    <a:pt x="486838" y="2934028"/>
                    <a:pt x="491640" y="2905697"/>
                  </a:cubicBezTo>
                  <a:cubicBezTo>
                    <a:pt x="502898" y="2840071"/>
                    <a:pt x="547705" y="2792141"/>
                    <a:pt x="586592" y="2746325"/>
                  </a:cubicBezTo>
                  <a:cubicBezTo>
                    <a:pt x="619786" y="2707275"/>
                    <a:pt x="636305" y="2665661"/>
                    <a:pt x="647211" y="2620857"/>
                  </a:cubicBezTo>
                  <a:cubicBezTo>
                    <a:pt x="661216" y="2564298"/>
                    <a:pt x="648982" y="2522027"/>
                    <a:pt x="598120" y="2501248"/>
                  </a:cubicBezTo>
                  <a:cubicBezTo>
                    <a:pt x="583733" y="2495506"/>
                    <a:pt x="566431" y="2484521"/>
                    <a:pt x="560897" y="2471368"/>
                  </a:cubicBezTo>
                  <a:cubicBezTo>
                    <a:pt x="533469" y="2407931"/>
                    <a:pt x="496686" y="2344634"/>
                    <a:pt x="506928" y="2272389"/>
                  </a:cubicBezTo>
                  <a:cubicBezTo>
                    <a:pt x="520879" y="2172517"/>
                    <a:pt x="509052" y="2077807"/>
                    <a:pt x="474122" y="1983284"/>
                  </a:cubicBezTo>
                  <a:cubicBezTo>
                    <a:pt x="417537" y="1829959"/>
                    <a:pt x="358639" y="1676886"/>
                    <a:pt x="349180" y="1510207"/>
                  </a:cubicBezTo>
                  <a:cubicBezTo>
                    <a:pt x="347619" y="1482573"/>
                    <a:pt x="326399" y="1451821"/>
                    <a:pt x="306451" y="1430003"/>
                  </a:cubicBezTo>
                  <a:cubicBezTo>
                    <a:pt x="268511" y="1388202"/>
                    <a:pt x="266127" y="1390512"/>
                    <a:pt x="287747" y="1336633"/>
                  </a:cubicBezTo>
                  <a:cubicBezTo>
                    <a:pt x="293070" y="1323756"/>
                    <a:pt x="295470" y="1308272"/>
                    <a:pt x="304326" y="1298229"/>
                  </a:cubicBezTo>
                  <a:cubicBezTo>
                    <a:pt x="349361" y="1247057"/>
                    <a:pt x="331041" y="1191986"/>
                    <a:pt x="317671" y="1136667"/>
                  </a:cubicBezTo>
                  <a:cubicBezTo>
                    <a:pt x="315148" y="1126990"/>
                    <a:pt x="311827" y="1115354"/>
                    <a:pt x="314959" y="1106522"/>
                  </a:cubicBezTo>
                  <a:cubicBezTo>
                    <a:pt x="329032" y="1066641"/>
                    <a:pt x="319157" y="1035231"/>
                    <a:pt x="290675" y="1004980"/>
                  </a:cubicBezTo>
                  <a:cubicBezTo>
                    <a:pt x="266138" y="978690"/>
                    <a:pt x="249805" y="947108"/>
                    <a:pt x="272712" y="910357"/>
                  </a:cubicBezTo>
                  <a:cubicBezTo>
                    <a:pt x="323486" y="828702"/>
                    <a:pt x="317578" y="747981"/>
                    <a:pt x="270963" y="667028"/>
                  </a:cubicBezTo>
                  <a:cubicBezTo>
                    <a:pt x="237707" y="609204"/>
                    <a:pt x="225082" y="549995"/>
                    <a:pt x="244986" y="483131"/>
                  </a:cubicBezTo>
                  <a:cubicBezTo>
                    <a:pt x="252708" y="457408"/>
                    <a:pt x="242285" y="426353"/>
                    <a:pt x="241465" y="397465"/>
                  </a:cubicBezTo>
                  <a:cubicBezTo>
                    <a:pt x="240850" y="381142"/>
                    <a:pt x="239176" y="363176"/>
                    <a:pt x="244890" y="348507"/>
                  </a:cubicBezTo>
                  <a:cubicBezTo>
                    <a:pt x="259350" y="309454"/>
                    <a:pt x="279299" y="272445"/>
                    <a:pt x="293439" y="233141"/>
                  </a:cubicBezTo>
                  <a:cubicBezTo>
                    <a:pt x="300152" y="214256"/>
                    <a:pt x="302437" y="192349"/>
                    <a:pt x="300513" y="172069"/>
                  </a:cubicBezTo>
                  <a:close/>
                </a:path>
              </a:pathLst>
            </a:cu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1"/>
            <p:cNvSpPr/>
            <p:nvPr/>
          </p:nvSpPr>
          <p:spPr>
            <a:xfrm>
              <a:off x="11479015" y="0"/>
              <a:ext cx="712985" cy="6858000"/>
            </a:xfrm>
            <a:custGeom>
              <a:avLst/>
              <a:gdLst>
                <a:gd name="connsiteX0" fmla="*/ 280560 w 712985"/>
                <a:gd name="connsiteY0" fmla="*/ 0 h 6858000"/>
                <a:gd name="connsiteX1" fmla="*/ 712985 w 712985"/>
                <a:gd name="connsiteY1" fmla="*/ 0 h 6858000"/>
                <a:gd name="connsiteX2" fmla="*/ 712985 w 712985"/>
                <a:gd name="connsiteY2" fmla="*/ 6858000 h 6858000"/>
                <a:gd name="connsiteX3" fmla="*/ 372527 w 712985"/>
                <a:gd name="connsiteY3" fmla="*/ 6858000 h 6858000"/>
                <a:gd name="connsiteX4" fmla="*/ 372901 w 712985"/>
                <a:gd name="connsiteY4" fmla="*/ 6835810 h 6858000"/>
                <a:gd name="connsiteX5" fmla="*/ 363017 w 712985"/>
                <a:gd name="connsiteY5" fmla="*/ 6518145 h 6858000"/>
                <a:gd name="connsiteX6" fmla="*/ 310498 w 712985"/>
                <a:gd name="connsiteY6" fmla="*/ 6393936 h 6858000"/>
                <a:gd name="connsiteX7" fmla="*/ 305420 w 712985"/>
                <a:gd name="connsiteY7" fmla="*/ 6355564 h 6858000"/>
                <a:gd name="connsiteX8" fmla="*/ 311030 w 712985"/>
                <a:gd name="connsiteY8" fmla="*/ 6267729 h 6858000"/>
                <a:gd name="connsiteX9" fmla="*/ 281440 w 712985"/>
                <a:gd name="connsiteY9" fmla="*/ 6090959 h 6858000"/>
                <a:gd name="connsiteX10" fmla="*/ 258928 w 712985"/>
                <a:gd name="connsiteY10" fmla="*/ 6026981 h 6858000"/>
                <a:gd name="connsiteX11" fmla="*/ 245105 w 712985"/>
                <a:gd name="connsiteY11" fmla="*/ 5991615 h 6858000"/>
                <a:gd name="connsiteX12" fmla="*/ 197441 w 712985"/>
                <a:gd name="connsiteY12" fmla="*/ 5807458 h 6858000"/>
                <a:gd name="connsiteX13" fmla="*/ 159115 w 712985"/>
                <a:gd name="connsiteY13" fmla="*/ 5727356 h 6858000"/>
                <a:gd name="connsiteX14" fmla="*/ 152306 w 712985"/>
                <a:gd name="connsiteY14" fmla="*/ 5705270 h 6858000"/>
                <a:gd name="connsiteX15" fmla="*/ 150939 w 712985"/>
                <a:gd name="connsiteY15" fmla="*/ 5580441 h 6858000"/>
                <a:gd name="connsiteX16" fmla="*/ 187956 w 712985"/>
                <a:gd name="connsiteY16" fmla="*/ 5482729 h 6858000"/>
                <a:gd name="connsiteX17" fmla="*/ 201902 w 712985"/>
                <a:gd name="connsiteY17" fmla="*/ 5463053 h 6858000"/>
                <a:gd name="connsiteX18" fmla="*/ 168174 w 712985"/>
                <a:gd name="connsiteY18" fmla="*/ 5205662 h 6858000"/>
                <a:gd name="connsiteX19" fmla="*/ 157186 w 712985"/>
                <a:gd name="connsiteY19" fmla="*/ 5166766 h 6858000"/>
                <a:gd name="connsiteX20" fmla="*/ 163999 w 712985"/>
                <a:gd name="connsiteY20" fmla="*/ 4972256 h 6858000"/>
                <a:gd name="connsiteX21" fmla="*/ 163388 w 712985"/>
                <a:gd name="connsiteY21" fmla="*/ 4915833 h 6858000"/>
                <a:gd name="connsiteX22" fmla="*/ 166361 w 712985"/>
                <a:gd name="connsiteY22" fmla="*/ 4712964 h 6858000"/>
                <a:gd name="connsiteX23" fmla="*/ 140122 w 712985"/>
                <a:gd name="connsiteY23" fmla="*/ 4687152 h 6858000"/>
                <a:gd name="connsiteX24" fmla="*/ 73058 w 712985"/>
                <a:gd name="connsiteY24" fmla="*/ 4611951 h 6858000"/>
                <a:gd name="connsiteX25" fmla="*/ 3979 w 712985"/>
                <a:gd name="connsiteY25" fmla="*/ 4456771 h 6858000"/>
                <a:gd name="connsiteX26" fmla="*/ 2091 w 712985"/>
                <a:gd name="connsiteY26" fmla="*/ 4412781 h 6858000"/>
                <a:gd name="connsiteX27" fmla="*/ 75905 w 712985"/>
                <a:gd name="connsiteY27" fmla="*/ 4292897 h 6858000"/>
                <a:gd name="connsiteX28" fmla="*/ 104434 w 712985"/>
                <a:gd name="connsiteY28" fmla="*/ 4235333 h 6858000"/>
                <a:gd name="connsiteX29" fmla="*/ 151065 w 712985"/>
                <a:gd name="connsiteY29" fmla="*/ 4075686 h 6858000"/>
                <a:gd name="connsiteX30" fmla="*/ 161243 w 712985"/>
                <a:gd name="connsiteY30" fmla="*/ 4061695 h 6858000"/>
                <a:gd name="connsiteX31" fmla="*/ 286285 w 712985"/>
                <a:gd name="connsiteY31" fmla="*/ 3933862 h 6858000"/>
                <a:gd name="connsiteX32" fmla="*/ 306926 w 712985"/>
                <a:gd name="connsiteY32" fmla="*/ 3905847 h 6858000"/>
                <a:gd name="connsiteX33" fmla="*/ 340015 w 712985"/>
                <a:gd name="connsiteY33" fmla="*/ 3871199 h 6858000"/>
                <a:gd name="connsiteX34" fmla="*/ 400111 w 712985"/>
                <a:gd name="connsiteY34" fmla="*/ 3767743 h 6858000"/>
                <a:gd name="connsiteX35" fmla="*/ 409694 w 712985"/>
                <a:gd name="connsiteY35" fmla="*/ 3646690 h 6858000"/>
                <a:gd name="connsiteX36" fmla="*/ 428447 w 712985"/>
                <a:gd name="connsiteY36" fmla="*/ 3499752 h 6858000"/>
                <a:gd name="connsiteX37" fmla="*/ 445033 w 712985"/>
                <a:gd name="connsiteY37" fmla="*/ 3437349 h 6858000"/>
                <a:gd name="connsiteX38" fmla="*/ 471431 w 712985"/>
                <a:gd name="connsiteY38" fmla="*/ 3272018 h 6858000"/>
                <a:gd name="connsiteX39" fmla="*/ 495919 w 712985"/>
                <a:gd name="connsiteY39" fmla="*/ 3153432 h 6858000"/>
                <a:gd name="connsiteX40" fmla="*/ 499541 w 712985"/>
                <a:gd name="connsiteY40" fmla="*/ 2985907 h 6858000"/>
                <a:gd name="connsiteX41" fmla="*/ 491640 w 712985"/>
                <a:gd name="connsiteY41" fmla="*/ 2905697 h 6858000"/>
                <a:gd name="connsiteX42" fmla="*/ 586592 w 712985"/>
                <a:gd name="connsiteY42" fmla="*/ 2746325 h 6858000"/>
                <a:gd name="connsiteX43" fmla="*/ 647211 w 712985"/>
                <a:gd name="connsiteY43" fmla="*/ 2620857 h 6858000"/>
                <a:gd name="connsiteX44" fmla="*/ 598120 w 712985"/>
                <a:gd name="connsiteY44" fmla="*/ 2501248 h 6858000"/>
                <a:gd name="connsiteX45" fmla="*/ 560897 w 712985"/>
                <a:gd name="connsiteY45" fmla="*/ 2471368 h 6858000"/>
                <a:gd name="connsiteX46" fmla="*/ 506928 w 712985"/>
                <a:gd name="connsiteY46" fmla="*/ 2272389 h 6858000"/>
                <a:gd name="connsiteX47" fmla="*/ 474122 w 712985"/>
                <a:gd name="connsiteY47" fmla="*/ 1983284 h 6858000"/>
                <a:gd name="connsiteX48" fmla="*/ 349180 w 712985"/>
                <a:gd name="connsiteY48" fmla="*/ 1510207 h 6858000"/>
                <a:gd name="connsiteX49" fmla="*/ 306451 w 712985"/>
                <a:gd name="connsiteY49" fmla="*/ 1430003 h 6858000"/>
                <a:gd name="connsiteX50" fmla="*/ 287747 w 712985"/>
                <a:gd name="connsiteY50" fmla="*/ 1336633 h 6858000"/>
                <a:gd name="connsiteX51" fmla="*/ 304326 w 712985"/>
                <a:gd name="connsiteY51" fmla="*/ 1298229 h 6858000"/>
                <a:gd name="connsiteX52" fmla="*/ 317671 w 712985"/>
                <a:gd name="connsiteY52" fmla="*/ 1136667 h 6858000"/>
                <a:gd name="connsiteX53" fmla="*/ 314959 w 712985"/>
                <a:gd name="connsiteY53" fmla="*/ 1106522 h 6858000"/>
                <a:gd name="connsiteX54" fmla="*/ 290675 w 712985"/>
                <a:gd name="connsiteY54" fmla="*/ 1004980 h 6858000"/>
                <a:gd name="connsiteX55" fmla="*/ 272712 w 712985"/>
                <a:gd name="connsiteY55" fmla="*/ 910357 h 6858000"/>
                <a:gd name="connsiteX56" fmla="*/ 270963 w 712985"/>
                <a:gd name="connsiteY56" fmla="*/ 667028 h 6858000"/>
                <a:gd name="connsiteX57" fmla="*/ 244986 w 712985"/>
                <a:gd name="connsiteY57" fmla="*/ 483131 h 6858000"/>
                <a:gd name="connsiteX58" fmla="*/ 241465 w 712985"/>
                <a:gd name="connsiteY58" fmla="*/ 397465 h 6858000"/>
                <a:gd name="connsiteX59" fmla="*/ 244890 w 712985"/>
                <a:gd name="connsiteY59" fmla="*/ 348507 h 6858000"/>
                <a:gd name="connsiteX60" fmla="*/ 293439 w 712985"/>
                <a:gd name="connsiteY60" fmla="*/ 233141 h 6858000"/>
                <a:gd name="connsiteX61" fmla="*/ 300513 w 712985"/>
                <a:gd name="connsiteY61" fmla="*/ 17206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712985" h="6858000">
                  <a:moveTo>
                    <a:pt x="280560" y="0"/>
                  </a:moveTo>
                  <a:lnTo>
                    <a:pt x="712985" y="0"/>
                  </a:lnTo>
                  <a:lnTo>
                    <a:pt x="712985" y="6858000"/>
                  </a:lnTo>
                  <a:lnTo>
                    <a:pt x="372527" y="6858000"/>
                  </a:lnTo>
                  <a:lnTo>
                    <a:pt x="372901" y="6835810"/>
                  </a:lnTo>
                  <a:cubicBezTo>
                    <a:pt x="343741" y="6729822"/>
                    <a:pt x="373381" y="6623551"/>
                    <a:pt x="363017" y="6518145"/>
                  </a:cubicBezTo>
                  <a:cubicBezTo>
                    <a:pt x="358372" y="6470360"/>
                    <a:pt x="362468" y="6422202"/>
                    <a:pt x="310498" y="6393936"/>
                  </a:cubicBezTo>
                  <a:cubicBezTo>
                    <a:pt x="303659" y="6390296"/>
                    <a:pt x="304819" y="6368800"/>
                    <a:pt x="305420" y="6355564"/>
                  </a:cubicBezTo>
                  <a:cubicBezTo>
                    <a:pt x="306594" y="6326166"/>
                    <a:pt x="314451" y="6296329"/>
                    <a:pt x="311030" y="6267729"/>
                  </a:cubicBezTo>
                  <a:cubicBezTo>
                    <a:pt x="304253" y="6208466"/>
                    <a:pt x="293104" y="6149393"/>
                    <a:pt x="281440" y="6090959"/>
                  </a:cubicBezTo>
                  <a:cubicBezTo>
                    <a:pt x="276978" y="6068911"/>
                    <a:pt x="266829" y="6048361"/>
                    <a:pt x="258928" y="6026981"/>
                  </a:cubicBezTo>
                  <a:cubicBezTo>
                    <a:pt x="254416" y="6015184"/>
                    <a:pt x="244605" y="6003083"/>
                    <a:pt x="245105" y="5991615"/>
                  </a:cubicBezTo>
                  <a:cubicBezTo>
                    <a:pt x="248075" y="5925141"/>
                    <a:pt x="216651" y="5867990"/>
                    <a:pt x="197441" y="5807458"/>
                  </a:cubicBezTo>
                  <a:cubicBezTo>
                    <a:pt x="188523" y="5779456"/>
                    <a:pt x="171697" y="5754078"/>
                    <a:pt x="159115" y="5727356"/>
                  </a:cubicBezTo>
                  <a:cubicBezTo>
                    <a:pt x="155717" y="5720411"/>
                    <a:pt x="152517" y="5712566"/>
                    <a:pt x="152306" y="5705270"/>
                  </a:cubicBezTo>
                  <a:cubicBezTo>
                    <a:pt x="151252" y="5663532"/>
                    <a:pt x="151674" y="5621922"/>
                    <a:pt x="150939" y="5580441"/>
                  </a:cubicBezTo>
                  <a:cubicBezTo>
                    <a:pt x="150326" y="5542748"/>
                    <a:pt x="147369" y="5505023"/>
                    <a:pt x="187956" y="5482729"/>
                  </a:cubicBezTo>
                  <a:cubicBezTo>
                    <a:pt x="194324" y="5479395"/>
                    <a:pt x="198291" y="5470181"/>
                    <a:pt x="201902" y="5463053"/>
                  </a:cubicBezTo>
                  <a:cubicBezTo>
                    <a:pt x="257480" y="5353065"/>
                    <a:pt x="249730" y="5298303"/>
                    <a:pt x="168174" y="5205662"/>
                  </a:cubicBezTo>
                  <a:cubicBezTo>
                    <a:pt x="159805" y="5196040"/>
                    <a:pt x="152161" y="5174340"/>
                    <a:pt x="157186" y="5166766"/>
                  </a:cubicBezTo>
                  <a:cubicBezTo>
                    <a:pt x="198743" y="5102508"/>
                    <a:pt x="186477" y="5038579"/>
                    <a:pt x="163999" y="4972256"/>
                  </a:cubicBezTo>
                  <a:cubicBezTo>
                    <a:pt x="158020" y="4955056"/>
                    <a:pt x="155299" y="4930181"/>
                    <a:pt x="163388" y="4915833"/>
                  </a:cubicBezTo>
                  <a:cubicBezTo>
                    <a:pt x="200708" y="4847649"/>
                    <a:pt x="186907" y="4780374"/>
                    <a:pt x="166361" y="4712964"/>
                  </a:cubicBezTo>
                  <a:cubicBezTo>
                    <a:pt x="163165" y="4702485"/>
                    <a:pt x="150748" y="4690669"/>
                    <a:pt x="140122" y="4687152"/>
                  </a:cubicBezTo>
                  <a:cubicBezTo>
                    <a:pt x="102452" y="4674589"/>
                    <a:pt x="86917" y="4644970"/>
                    <a:pt x="73058" y="4611951"/>
                  </a:cubicBezTo>
                  <a:cubicBezTo>
                    <a:pt x="50686" y="4559957"/>
                    <a:pt x="25516" y="4509149"/>
                    <a:pt x="3979" y="4456771"/>
                  </a:cubicBezTo>
                  <a:cubicBezTo>
                    <a:pt x="-1236" y="4443877"/>
                    <a:pt x="-726" y="4427139"/>
                    <a:pt x="2091" y="4412781"/>
                  </a:cubicBezTo>
                  <a:cubicBezTo>
                    <a:pt x="11653" y="4363733"/>
                    <a:pt x="45382" y="4329603"/>
                    <a:pt x="75905" y="4292897"/>
                  </a:cubicBezTo>
                  <a:cubicBezTo>
                    <a:pt x="89361" y="4276787"/>
                    <a:pt x="97880" y="4255660"/>
                    <a:pt x="104434" y="4235333"/>
                  </a:cubicBezTo>
                  <a:cubicBezTo>
                    <a:pt x="121200" y="4182569"/>
                    <a:pt x="135523" y="4128901"/>
                    <a:pt x="151065" y="4075686"/>
                  </a:cubicBezTo>
                  <a:cubicBezTo>
                    <a:pt x="152552" y="4070549"/>
                    <a:pt x="157315" y="4065932"/>
                    <a:pt x="161243" y="4061695"/>
                  </a:cubicBezTo>
                  <a:cubicBezTo>
                    <a:pt x="202828" y="4019095"/>
                    <a:pt x="244731" y="3976753"/>
                    <a:pt x="286285" y="3933862"/>
                  </a:cubicBezTo>
                  <a:cubicBezTo>
                    <a:pt x="294168" y="3925683"/>
                    <a:pt x="299393" y="3914571"/>
                    <a:pt x="306926" y="3905847"/>
                  </a:cubicBezTo>
                  <a:cubicBezTo>
                    <a:pt x="317292" y="3893589"/>
                    <a:pt x="326766" y="3878502"/>
                    <a:pt x="340015" y="3871199"/>
                  </a:cubicBezTo>
                  <a:cubicBezTo>
                    <a:pt x="381725" y="3848490"/>
                    <a:pt x="396760" y="3812013"/>
                    <a:pt x="400111" y="3767743"/>
                  </a:cubicBezTo>
                  <a:cubicBezTo>
                    <a:pt x="403294" y="3727294"/>
                    <a:pt x="405323" y="3686973"/>
                    <a:pt x="409694" y="3646690"/>
                  </a:cubicBezTo>
                  <a:cubicBezTo>
                    <a:pt x="414852" y="3597538"/>
                    <a:pt x="420910" y="3548579"/>
                    <a:pt x="428447" y="3499752"/>
                  </a:cubicBezTo>
                  <a:cubicBezTo>
                    <a:pt x="431696" y="3478619"/>
                    <a:pt x="435683" y="3456228"/>
                    <a:pt x="445033" y="3437349"/>
                  </a:cubicBezTo>
                  <a:cubicBezTo>
                    <a:pt x="470858" y="3384475"/>
                    <a:pt x="486179" y="3329236"/>
                    <a:pt x="471431" y="3272018"/>
                  </a:cubicBezTo>
                  <a:cubicBezTo>
                    <a:pt x="459682" y="3226180"/>
                    <a:pt x="472474" y="3185267"/>
                    <a:pt x="495919" y="3153432"/>
                  </a:cubicBezTo>
                  <a:cubicBezTo>
                    <a:pt x="538461" y="3095505"/>
                    <a:pt x="521296" y="3040311"/>
                    <a:pt x="499541" y="2985907"/>
                  </a:cubicBezTo>
                  <a:cubicBezTo>
                    <a:pt x="488276" y="2957871"/>
                    <a:pt x="486838" y="2934028"/>
                    <a:pt x="491640" y="2905697"/>
                  </a:cubicBezTo>
                  <a:cubicBezTo>
                    <a:pt x="502898" y="2840071"/>
                    <a:pt x="547705" y="2792141"/>
                    <a:pt x="586592" y="2746325"/>
                  </a:cubicBezTo>
                  <a:cubicBezTo>
                    <a:pt x="619786" y="2707275"/>
                    <a:pt x="636305" y="2665661"/>
                    <a:pt x="647211" y="2620857"/>
                  </a:cubicBezTo>
                  <a:cubicBezTo>
                    <a:pt x="661216" y="2564298"/>
                    <a:pt x="648982" y="2522027"/>
                    <a:pt x="598120" y="2501248"/>
                  </a:cubicBezTo>
                  <a:cubicBezTo>
                    <a:pt x="583733" y="2495506"/>
                    <a:pt x="566431" y="2484521"/>
                    <a:pt x="560897" y="2471368"/>
                  </a:cubicBezTo>
                  <a:cubicBezTo>
                    <a:pt x="533469" y="2407931"/>
                    <a:pt x="496686" y="2344634"/>
                    <a:pt x="506928" y="2272389"/>
                  </a:cubicBezTo>
                  <a:cubicBezTo>
                    <a:pt x="520879" y="2172517"/>
                    <a:pt x="509052" y="2077807"/>
                    <a:pt x="474122" y="1983284"/>
                  </a:cubicBezTo>
                  <a:cubicBezTo>
                    <a:pt x="417537" y="1829959"/>
                    <a:pt x="358639" y="1676886"/>
                    <a:pt x="349180" y="1510207"/>
                  </a:cubicBezTo>
                  <a:cubicBezTo>
                    <a:pt x="347619" y="1482573"/>
                    <a:pt x="326399" y="1451821"/>
                    <a:pt x="306451" y="1430003"/>
                  </a:cubicBezTo>
                  <a:cubicBezTo>
                    <a:pt x="268511" y="1388202"/>
                    <a:pt x="266127" y="1390512"/>
                    <a:pt x="287747" y="1336633"/>
                  </a:cubicBezTo>
                  <a:cubicBezTo>
                    <a:pt x="293070" y="1323756"/>
                    <a:pt x="295470" y="1308272"/>
                    <a:pt x="304326" y="1298229"/>
                  </a:cubicBezTo>
                  <a:cubicBezTo>
                    <a:pt x="349361" y="1247057"/>
                    <a:pt x="331041" y="1191986"/>
                    <a:pt x="317671" y="1136667"/>
                  </a:cubicBezTo>
                  <a:cubicBezTo>
                    <a:pt x="315148" y="1126990"/>
                    <a:pt x="311827" y="1115354"/>
                    <a:pt x="314959" y="1106522"/>
                  </a:cubicBezTo>
                  <a:cubicBezTo>
                    <a:pt x="329032" y="1066641"/>
                    <a:pt x="319157" y="1035231"/>
                    <a:pt x="290675" y="1004980"/>
                  </a:cubicBezTo>
                  <a:cubicBezTo>
                    <a:pt x="266138" y="978690"/>
                    <a:pt x="249805" y="947108"/>
                    <a:pt x="272712" y="910357"/>
                  </a:cubicBezTo>
                  <a:cubicBezTo>
                    <a:pt x="323486" y="828702"/>
                    <a:pt x="317578" y="747981"/>
                    <a:pt x="270963" y="667028"/>
                  </a:cubicBezTo>
                  <a:cubicBezTo>
                    <a:pt x="237707" y="609204"/>
                    <a:pt x="225082" y="549995"/>
                    <a:pt x="244986" y="483131"/>
                  </a:cubicBezTo>
                  <a:cubicBezTo>
                    <a:pt x="252708" y="457408"/>
                    <a:pt x="242285" y="426353"/>
                    <a:pt x="241465" y="397465"/>
                  </a:cubicBezTo>
                  <a:cubicBezTo>
                    <a:pt x="240850" y="381142"/>
                    <a:pt x="239176" y="363176"/>
                    <a:pt x="244890" y="348507"/>
                  </a:cubicBezTo>
                  <a:cubicBezTo>
                    <a:pt x="259350" y="309454"/>
                    <a:pt x="279299" y="272445"/>
                    <a:pt x="293439" y="233141"/>
                  </a:cubicBezTo>
                  <a:cubicBezTo>
                    <a:pt x="300152" y="214256"/>
                    <a:pt x="302437" y="192349"/>
                    <a:pt x="300513" y="172069"/>
                  </a:cubicBezTo>
                  <a:close/>
                </a:path>
              </a:pathLst>
            </a:custGeom>
            <a:blipFill>
              <a:blip r:embed="rId1">
                <a:alphaModFix amt="57000"/>
              </a:blip>
              <a:tile tx="0" ty="0" sx="100000" sy="100000" flip="none" algn="tl"/>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5" name="副標題 4"/>
          <p:cNvSpPr>
            <a:spLocks noGrp="1"/>
          </p:cNvSpPr>
          <p:nvPr>
            <p:ph type="subTitle" idx="1"/>
          </p:nvPr>
        </p:nvSpPr>
        <p:spPr/>
        <p:txBody>
          <a:bodyPr/>
          <a:lstStyle/>
          <a:p>
            <a:endParaRPr lang="zh-TW" altLang="en-US"/>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078134" y="491415"/>
            <a:ext cx="954107" cy="871278"/>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40591" y="2094268"/>
            <a:ext cx="942259" cy="942260"/>
          </a:xfrm>
          <a:prstGeom prst="rect">
            <a:avLst/>
          </a:prstGeom>
          <a:noFill/>
          <a:extLst>
            <a:ext uri="{909E8E84-426E-40DD-AFC4-6F175D3DCCD1}">
              <a14:hiddenFill xmlns:a14="http://schemas.microsoft.com/office/drawing/2010/main">
                <a:solidFill>
                  <a:srgbClr val="FFFFFF"/>
                </a:solidFill>
              </a14:hiddenFill>
            </a:ext>
          </a:extLst>
        </p:spPr>
      </p:pic>
      <p:sp>
        <p:nvSpPr>
          <p:cNvPr id="7" name="語音泡泡: 圓角矩形 6"/>
          <p:cNvSpPr/>
          <p:nvPr/>
        </p:nvSpPr>
        <p:spPr>
          <a:xfrm>
            <a:off x="4217041" y="608570"/>
            <a:ext cx="2169979" cy="411857"/>
          </a:xfrm>
          <a:prstGeom prst="wedgeRoundRectCallout">
            <a:avLst>
              <a:gd name="adj1" fmla="val -54330"/>
              <a:gd name="adj2" fmla="val 95111"/>
              <a:gd name="adj3" fmla="val 16667"/>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AI</a:t>
            </a:r>
            <a:r>
              <a:rPr kumimoji="0" lang="zh-TW" altLang="en-US"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 </a:t>
            </a:r>
            <a:r>
              <a:rPr kumimoji="0" lang="en-US" altLang="zh-TW"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Agent </a:t>
            </a:r>
            <a:r>
              <a:rPr kumimoji="0" lang="zh-TW" altLang="en-US"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的翻譯</a:t>
            </a:r>
            <a:endParaRPr kumimoji="0" lang="zh-TW" altLang="en-US"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8" name="文字方塊 7"/>
          <p:cNvSpPr txBox="1"/>
          <p:nvPr/>
        </p:nvSpPr>
        <p:spPr>
          <a:xfrm>
            <a:off x="278918" y="408586"/>
            <a:ext cx="2266950"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2800" b="1" i="0" u="sng"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一般使用 </a:t>
            </a:r>
            <a:r>
              <a:rPr kumimoji="0" lang="en-US" altLang="zh-TW" sz="2800" b="1" i="0" u="sng"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AI</a:t>
            </a:r>
            <a:r>
              <a:rPr kumimoji="0" lang="zh-TW" altLang="en-US" sz="2800" b="1" i="0" u="sng"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 的方式</a:t>
            </a:r>
            <a:endParaRPr kumimoji="0" lang="zh-TW" altLang="en-US" sz="2800" b="1" i="0" u="sng"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3" name="語音泡泡: 圓角矩形 12"/>
          <p:cNvSpPr/>
          <p:nvPr/>
        </p:nvSpPr>
        <p:spPr>
          <a:xfrm>
            <a:off x="9368386" y="607458"/>
            <a:ext cx="2381170" cy="423509"/>
          </a:xfrm>
          <a:prstGeom prst="wedgeRoundRectCallout">
            <a:avLst>
              <a:gd name="adj1" fmla="val 48163"/>
              <a:gd name="adj2" fmla="val 43161"/>
              <a:gd name="adj3" fmla="val 16667"/>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「人工智慧代理人」</a:t>
            </a:r>
            <a:endParaRPr kumimoji="0" lang="zh-TW" altLang="en-US"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2" name="文字方塊 1"/>
          <p:cNvSpPr txBox="1"/>
          <p:nvPr/>
        </p:nvSpPr>
        <p:spPr>
          <a:xfrm>
            <a:off x="338779" y="2079754"/>
            <a:ext cx="2266950"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2800" b="1" i="0" u="sng"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Agentic Workflow </a:t>
            </a:r>
            <a:endParaRPr kumimoji="0" lang="zh-TW" altLang="en-US" sz="2800" b="1" i="0" u="sng"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pic>
        <p:nvPicPr>
          <p:cNvPr id="3"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078397" y="2079754"/>
            <a:ext cx="954107" cy="954107"/>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16807" y="335722"/>
            <a:ext cx="942259" cy="942260"/>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56551" y="2094268"/>
            <a:ext cx="942259" cy="942260"/>
          </a:xfrm>
          <a:prstGeom prst="rect">
            <a:avLst/>
          </a:prstGeom>
          <a:noFill/>
          <a:extLst>
            <a:ext uri="{909E8E84-426E-40DD-AFC4-6F175D3DCCD1}">
              <a14:hiddenFill xmlns:a14="http://schemas.microsoft.com/office/drawing/2010/main">
                <a:solidFill>
                  <a:srgbClr val="FFFFFF"/>
                </a:solidFill>
              </a14:hiddenFill>
            </a:ext>
          </a:extLst>
        </p:spPr>
      </p:pic>
      <p:cxnSp>
        <p:nvCxnSpPr>
          <p:cNvPr id="25" name="直線單箭頭接點 24"/>
          <p:cNvCxnSpPr/>
          <p:nvPr/>
        </p:nvCxnSpPr>
        <p:spPr>
          <a:xfrm>
            <a:off x="6490969" y="814498"/>
            <a:ext cx="817453"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線單箭頭接點 25"/>
          <p:cNvCxnSpPr/>
          <p:nvPr/>
        </p:nvCxnSpPr>
        <p:spPr>
          <a:xfrm>
            <a:off x="8403226" y="814498"/>
            <a:ext cx="817453"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語音泡泡: 圓角矩形 26"/>
          <p:cNvSpPr/>
          <p:nvPr/>
        </p:nvSpPr>
        <p:spPr>
          <a:xfrm>
            <a:off x="4244056" y="2374505"/>
            <a:ext cx="1399988" cy="411857"/>
          </a:xfrm>
          <a:prstGeom prst="wedgeRoundRectCallout">
            <a:avLst>
              <a:gd name="adj1" fmla="val -58631"/>
              <a:gd name="adj2" fmla="val 76609"/>
              <a:gd name="adj3" fmla="val 16667"/>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批改作業</a:t>
            </a:r>
            <a:endParaRPr kumimoji="0" lang="zh-TW" altLang="en-US"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pic>
        <p:nvPicPr>
          <p:cNvPr id="2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72510" y="2094268"/>
            <a:ext cx="942259" cy="942260"/>
          </a:xfrm>
          <a:prstGeom prst="rect">
            <a:avLst/>
          </a:prstGeom>
          <a:noFill/>
          <a:extLst>
            <a:ext uri="{909E8E84-426E-40DD-AFC4-6F175D3DCCD1}">
              <a14:hiddenFill xmlns:a14="http://schemas.microsoft.com/office/drawing/2010/main">
                <a:solidFill>
                  <a:srgbClr val="FFFFFF"/>
                </a:solidFill>
              </a14:hiddenFill>
            </a:ext>
          </a:extLst>
        </p:spPr>
      </p:pic>
      <p:cxnSp>
        <p:nvCxnSpPr>
          <p:cNvPr id="29" name="直線單箭頭接點 28"/>
          <p:cNvCxnSpPr/>
          <p:nvPr/>
        </p:nvCxnSpPr>
        <p:spPr>
          <a:xfrm>
            <a:off x="5859598" y="2556807"/>
            <a:ext cx="817453"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單箭頭接點 29"/>
          <p:cNvCxnSpPr/>
          <p:nvPr/>
        </p:nvCxnSpPr>
        <p:spPr>
          <a:xfrm>
            <a:off x="7722359" y="2580433"/>
            <a:ext cx="636707"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線單箭頭接點 31"/>
          <p:cNvCxnSpPr/>
          <p:nvPr/>
        </p:nvCxnSpPr>
        <p:spPr>
          <a:xfrm>
            <a:off x="9471380" y="2575469"/>
            <a:ext cx="636707"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文字方塊 32"/>
          <p:cNvSpPr txBox="1"/>
          <p:nvPr/>
        </p:nvSpPr>
        <p:spPr>
          <a:xfrm>
            <a:off x="6254068" y="3088238"/>
            <a:ext cx="1876394"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TW" noProof="0" dirty="0">
                <a:solidFill>
                  <a:prstClr val="black"/>
                </a:solidFill>
                <a:latin typeface="Microsoft JhengHei" panose="020B0604030504040204" pitchFamily="34" charset="-120"/>
                <a:ea typeface="Microsoft JhengHei" panose="020B0604030504040204" pitchFamily="34" charset="-120"/>
              </a:rPr>
              <a:t>1.</a:t>
            </a:r>
            <a:r>
              <a:rPr lang="zh-TW" altLang="en-US" noProof="0" dirty="0">
                <a:solidFill>
                  <a:prstClr val="black"/>
                </a:solidFill>
                <a:latin typeface="Microsoft JhengHei" panose="020B0604030504040204" pitchFamily="34" charset="-120"/>
                <a:ea typeface="Microsoft JhengHei" panose="020B0604030504040204" pitchFamily="34" charset="-120"/>
              </a:rPr>
              <a:t>檢查相關性</a:t>
            </a:r>
            <a:endParaRPr kumimoji="0" lang="zh-TW" altLang="en-US"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sp>
        <p:nvSpPr>
          <p:cNvPr id="34" name="文字方塊 33"/>
          <p:cNvSpPr txBox="1"/>
          <p:nvPr/>
        </p:nvSpPr>
        <p:spPr>
          <a:xfrm>
            <a:off x="7989483" y="3088238"/>
            <a:ext cx="1876394"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TW" noProof="0" dirty="0">
                <a:solidFill>
                  <a:prstClr val="black"/>
                </a:solidFill>
                <a:latin typeface="Microsoft JhengHei" panose="020B0604030504040204" pitchFamily="34" charset="-120"/>
                <a:ea typeface="Microsoft JhengHei" panose="020B0604030504040204" pitchFamily="34" charset="-120"/>
              </a:rPr>
              <a:t>2.</a:t>
            </a:r>
            <a:r>
              <a:rPr lang="zh-TW" altLang="en-US" noProof="0" dirty="0">
                <a:solidFill>
                  <a:prstClr val="black"/>
                </a:solidFill>
                <a:latin typeface="Microsoft JhengHei" panose="020B0604030504040204" pitchFamily="34" charset="-120"/>
                <a:ea typeface="Microsoft JhengHei" panose="020B0604030504040204" pitchFamily="34" charset="-120"/>
              </a:rPr>
              <a:t>給予分數</a:t>
            </a:r>
            <a:endParaRPr kumimoji="0" lang="zh-TW" altLang="en-US"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sp>
        <p:nvSpPr>
          <p:cNvPr id="35" name="文字方塊 34"/>
          <p:cNvSpPr txBox="1"/>
          <p:nvPr/>
        </p:nvSpPr>
        <p:spPr>
          <a:xfrm>
            <a:off x="9670615" y="3088238"/>
            <a:ext cx="1876394"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TW" noProof="0" dirty="0">
                <a:solidFill>
                  <a:prstClr val="black"/>
                </a:solidFill>
                <a:latin typeface="Microsoft JhengHei" panose="020B0604030504040204" pitchFamily="34" charset="-120"/>
                <a:ea typeface="Microsoft JhengHei" panose="020B0604030504040204" pitchFamily="34" charset="-120"/>
              </a:rPr>
              <a:t>3.</a:t>
            </a:r>
            <a:r>
              <a:rPr lang="zh-TW" altLang="en-US" noProof="0" dirty="0">
                <a:solidFill>
                  <a:prstClr val="black"/>
                </a:solidFill>
                <a:latin typeface="Microsoft JhengHei" panose="020B0604030504040204" pitchFamily="34" charset="-120"/>
                <a:ea typeface="Microsoft JhengHei" panose="020B0604030504040204" pitchFamily="34" charset="-120"/>
              </a:rPr>
              <a:t>分數</a:t>
            </a:r>
            <a:r>
              <a:rPr kumimoji="0" lang="zh-TW" altLang="en-US" b="0" i="0" u="none" strike="noStrike" kern="1200" cap="none" spc="0" normalizeH="0" baseline="0" dirty="0">
                <a:ln>
                  <a:noFill/>
                </a:ln>
                <a:solidFill>
                  <a:prstClr val="black"/>
                </a:solidFill>
                <a:effectLst/>
                <a:uLnTx/>
                <a:uFillTx/>
                <a:latin typeface="Microsoft JhengHei" panose="020B0604030504040204" pitchFamily="34" charset="-120"/>
                <a:ea typeface="Microsoft JhengHei" panose="020B0604030504040204" pitchFamily="34" charset="-120"/>
              </a:rPr>
              <a:t>檢查</a:t>
            </a:r>
            <a:endParaRPr kumimoji="0" lang="zh-TW" altLang="en-US"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sp>
        <p:nvSpPr>
          <p:cNvPr id="10" name="文字方塊 9"/>
          <p:cNvSpPr txBox="1"/>
          <p:nvPr/>
        </p:nvSpPr>
        <p:spPr>
          <a:xfrm>
            <a:off x="338779" y="3088238"/>
            <a:ext cx="2753237" cy="461665"/>
          </a:xfrm>
          <a:prstGeom prst="rect">
            <a:avLst/>
          </a:prstGeom>
          <a:noFill/>
        </p:spPr>
        <p:txBody>
          <a:bodyPr wrap="square" rtlCol="0">
            <a:spAutoFit/>
          </a:bodyPr>
          <a:lstStyle/>
          <a:p>
            <a:r>
              <a:rPr lang="zh-TW" altLang="en-US" sz="2400" dirty="0">
                <a:latin typeface="Microsoft JhengHei" panose="020B0604030504040204" pitchFamily="34" charset="-120"/>
                <a:ea typeface="Microsoft JhengHei" panose="020B0604030504040204" pitchFamily="34" charset="-120"/>
              </a:rPr>
              <a:t>按照固定 </a:t>
            </a:r>
            <a:r>
              <a:rPr lang="en-US" altLang="zh-TW" sz="2400" dirty="0">
                <a:latin typeface="Microsoft JhengHei" panose="020B0604030504040204" pitchFamily="34" charset="-120"/>
                <a:ea typeface="Microsoft JhengHei" panose="020B0604030504040204" pitchFamily="34" charset="-120"/>
              </a:rPr>
              <a:t>SOP</a:t>
            </a:r>
            <a:endParaRPr lang="zh-TW" altLang="en-US" sz="2400" dirty="0">
              <a:latin typeface="Microsoft JhengHei" panose="020B0604030504040204" pitchFamily="34" charset="-120"/>
              <a:ea typeface="Microsoft JhengHei" panose="020B0604030504040204" pitchFamily="34" charset="-120"/>
            </a:endParaRPr>
          </a:p>
        </p:txBody>
      </p:sp>
      <p:sp>
        <p:nvSpPr>
          <p:cNvPr id="5" name="文字方塊 4"/>
          <p:cNvSpPr txBox="1"/>
          <p:nvPr/>
        </p:nvSpPr>
        <p:spPr>
          <a:xfrm>
            <a:off x="357829" y="1414191"/>
            <a:ext cx="2753237" cy="461665"/>
          </a:xfrm>
          <a:prstGeom prst="rect">
            <a:avLst/>
          </a:prstGeom>
          <a:noFill/>
        </p:spPr>
        <p:txBody>
          <a:bodyPr wrap="square" rtlCol="0">
            <a:spAutoFit/>
          </a:bodyPr>
          <a:lstStyle/>
          <a:p>
            <a:r>
              <a:rPr lang="zh-TW" altLang="en-US" sz="2400" dirty="0">
                <a:latin typeface="Microsoft JhengHei" panose="020B0604030504040204" pitchFamily="34" charset="-120"/>
                <a:ea typeface="Microsoft JhengHei" panose="020B0604030504040204" pitchFamily="34" charset="-120"/>
              </a:rPr>
              <a:t>一問一答</a:t>
            </a:r>
            <a:endParaRPr lang="zh-TW" altLang="en-US" sz="2400" dirty="0">
              <a:latin typeface="Microsoft JhengHei" panose="020B0604030504040204" pitchFamily="34" charset="-120"/>
              <a:ea typeface="Microsoft JhengHei" panose="020B0604030504040204" pitchFamily="34" charset="-120"/>
            </a:endParaRPr>
          </a:p>
        </p:txBody>
      </p:sp>
      <p:pic>
        <p:nvPicPr>
          <p:cNvPr id="9"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811077" y="4456099"/>
            <a:ext cx="954107" cy="954107"/>
          </a:xfrm>
          <a:prstGeom prst="rect">
            <a:avLst/>
          </a:prstGeom>
          <a:noFill/>
          <a:extLst>
            <a:ext uri="{909E8E84-426E-40DD-AFC4-6F175D3DCCD1}">
              <a14:hiddenFill xmlns:a14="http://schemas.microsoft.com/office/drawing/2010/main">
                <a:solidFill>
                  <a:srgbClr val="FFFFFF"/>
                </a:solidFill>
              </a14:hiddenFill>
            </a:ext>
          </a:extLst>
        </p:spPr>
      </p:pic>
      <p:sp>
        <p:nvSpPr>
          <p:cNvPr id="11" name="文字方塊 10"/>
          <p:cNvSpPr txBox="1"/>
          <p:nvPr/>
        </p:nvSpPr>
        <p:spPr>
          <a:xfrm>
            <a:off x="360157" y="4527738"/>
            <a:ext cx="2266950"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2800" b="1" i="0" u="sng"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AI</a:t>
            </a:r>
            <a:r>
              <a:rPr kumimoji="0" lang="zh-TW" altLang="en-US" sz="2800" b="1" i="0" u="sng"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 </a:t>
            </a:r>
            <a:r>
              <a:rPr kumimoji="0" lang="en-US" altLang="zh-TW" sz="2800" b="1" i="0" u="sng"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Agent </a:t>
            </a:r>
            <a:endParaRPr kumimoji="0" lang="zh-TW" altLang="en-US" sz="2800" b="1" i="0" u="sng"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2" name="語音泡泡: 圓角矩形 11"/>
          <p:cNvSpPr/>
          <p:nvPr/>
        </p:nvSpPr>
        <p:spPr>
          <a:xfrm>
            <a:off x="4781092" y="4221494"/>
            <a:ext cx="2349566" cy="411856"/>
          </a:xfrm>
          <a:prstGeom prst="wedgeRoundRectCallout">
            <a:avLst>
              <a:gd name="adj1" fmla="val -55403"/>
              <a:gd name="adj2" fmla="val 88194"/>
              <a:gd name="adj3" fmla="val 16667"/>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t>
            </a:r>
            <a:r>
              <a:rPr kumimoji="0" lang="zh-TW" altLang="en-US"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解決某個研究問題</a:t>
            </a:r>
            <a:r>
              <a:rPr kumimoji="0" lang="en-US" altLang="zh-TW"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t>
            </a:r>
            <a:endParaRPr kumimoji="0" lang="zh-TW" altLang="en-US"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4" name="文字方塊 13"/>
          <p:cNvSpPr txBox="1"/>
          <p:nvPr/>
        </p:nvSpPr>
        <p:spPr>
          <a:xfrm>
            <a:off x="354217" y="5167168"/>
            <a:ext cx="3140450"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zh-TW" altLang="en-US" sz="2400" dirty="0">
                <a:solidFill>
                  <a:prstClr val="black"/>
                </a:solidFill>
                <a:latin typeface="Microsoft JhengHei" panose="020B0604030504040204" pitchFamily="34" charset="-120"/>
                <a:ea typeface="Microsoft JhengHei" panose="020B0604030504040204" pitchFamily="34" charset="-120"/>
              </a:rPr>
              <a:t>自己決定解決問題步驟</a:t>
            </a: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、靈活調整計畫</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pic>
        <p:nvPicPr>
          <p:cNvPr id="1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69693" y="4462023"/>
            <a:ext cx="942259" cy="94226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28821" y="5151815"/>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9787" y="3831312"/>
            <a:ext cx="1128425" cy="1128425"/>
          </a:xfrm>
          <a:prstGeom prst="rect">
            <a:avLst/>
          </a:prstGeom>
          <a:noFill/>
          <a:extLst>
            <a:ext uri="{909E8E84-426E-40DD-AFC4-6F175D3DCCD1}">
              <a14:hiddenFill xmlns:a14="http://schemas.microsoft.com/office/drawing/2010/main">
                <a:solidFill>
                  <a:srgbClr val="FFFFFF"/>
                </a:solidFill>
              </a14:hiddenFill>
            </a:ext>
          </a:extLst>
        </p:spPr>
      </p:pic>
      <p:cxnSp>
        <p:nvCxnSpPr>
          <p:cNvPr id="18" name="直線單箭頭接點 17"/>
          <p:cNvCxnSpPr/>
          <p:nvPr/>
        </p:nvCxnSpPr>
        <p:spPr>
          <a:xfrm>
            <a:off x="5037955" y="4901978"/>
            <a:ext cx="2543230"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線單箭頭接點 18"/>
          <p:cNvCxnSpPr/>
          <p:nvPr/>
        </p:nvCxnSpPr>
        <p:spPr>
          <a:xfrm flipH="1" flipV="1">
            <a:off x="8922200" y="5450546"/>
            <a:ext cx="1230670" cy="63560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線單箭頭接點 21"/>
          <p:cNvCxnSpPr/>
          <p:nvPr/>
        </p:nvCxnSpPr>
        <p:spPr>
          <a:xfrm flipH="1">
            <a:off x="9016792" y="4437414"/>
            <a:ext cx="1116062" cy="570806"/>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線單箭頭接點 22"/>
          <p:cNvCxnSpPr/>
          <p:nvPr/>
        </p:nvCxnSpPr>
        <p:spPr>
          <a:xfrm flipV="1">
            <a:off x="8982972" y="4220016"/>
            <a:ext cx="1066904" cy="567253"/>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p:cNvCxnSpPr/>
          <p:nvPr/>
        </p:nvCxnSpPr>
        <p:spPr>
          <a:xfrm>
            <a:off x="8982972" y="5270140"/>
            <a:ext cx="1237924" cy="625055"/>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單箭頭接點 30"/>
          <p:cNvCxnSpPr/>
          <p:nvPr/>
        </p:nvCxnSpPr>
        <p:spPr>
          <a:xfrm flipH="1">
            <a:off x="4967205" y="5120641"/>
            <a:ext cx="2543230"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36"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11593" y="5100266"/>
            <a:ext cx="854453" cy="85445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0"/>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14"/>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2"/>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8"/>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23"/>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7"/>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22"/>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24"/>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6"/>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19"/>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31"/>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3" grpId="0" animBg="1"/>
      <p:bldP spid="27" grpId="0" animBg="1"/>
      <p:bldP spid="33" grpId="0"/>
      <p:bldP spid="34" grpId="0"/>
      <p:bldP spid="35" grpId="0"/>
      <p:bldP spid="10" grpId="0"/>
      <p:bldP spid="5" grpId="0"/>
      <p:bldP spid="12" grpId="0" animBg="1"/>
      <p:bldP spid="14"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AI</a:t>
            </a:r>
            <a:r>
              <a:rPr lang="zh-TW" altLang="en-US" dirty="0"/>
              <a:t> </a:t>
            </a:r>
            <a:r>
              <a:rPr lang="en-US" altLang="zh-TW" dirty="0"/>
              <a:t>Agent </a:t>
            </a:r>
            <a:endParaRPr lang="zh-TW" altLang="en-US" dirty="0"/>
          </a:p>
        </p:txBody>
      </p:sp>
      <p:pic>
        <p:nvPicPr>
          <p:cNvPr id="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982042" y="3098163"/>
            <a:ext cx="1219200" cy="121920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95559" y="3098164"/>
            <a:ext cx="1219200" cy="1219200"/>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接點 6"/>
          <p:cNvCxnSpPr/>
          <p:nvPr/>
        </p:nvCxnSpPr>
        <p:spPr>
          <a:xfrm>
            <a:off x="3616960" y="5466080"/>
            <a:ext cx="2021840" cy="0"/>
          </a:xfrm>
          <a:prstGeom prst="line">
            <a:avLst/>
          </a:prstGeom>
          <a:ln w="571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 name="直線接點 10"/>
          <p:cNvCxnSpPr/>
          <p:nvPr/>
        </p:nvCxnSpPr>
        <p:spPr>
          <a:xfrm>
            <a:off x="3596640" y="4384040"/>
            <a:ext cx="0" cy="108204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線接點 12"/>
          <p:cNvCxnSpPr/>
          <p:nvPr/>
        </p:nvCxnSpPr>
        <p:spPr>
          <a:xfrm flipV="1">
            <a:off x="8920480" y="4384040"/>
            <a:ext cx="0" cy="1082040"/>
          </a:xfrm>
          <a:prstGeom prst="line">
            <a:avLst/>
          </a:prstGeom>
          <a:ln w="571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直線接點 13"/>
          <p:cNvCxnSpPr/>
          <p:nvPr/>
        </p:nvCxnSpPr>
        <p:spPr>
          <a:xfrm flipH="1">
            <a:off x="3616960" y="1757364"/>
            <a:ext cx="1746169"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線接點 14"/>
          <p:cNvCxnSpPr/>
          <p:nvPr/>
        </p:nvCxnSpPr>
        <p:spPr>
          <a:xfrm flipH="1" flipV="1">
            <a:off x="8920480" y="1757364"/>
            <a:ext cx="0" cy="108204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線接點 15"/>
          <p:cNvCxnSpPr/>
          <p:nvPr/>
        </p:nvCxnSpPr>
        <p:spPr>
          <a:xfrm flipH="1">
            <a:off x="3596640" y="1757364"/>
            <a:ext cx="0" cy="1082040"/>
          </a:xfrm>
          <a:prstGeom prst="line">
            <a:avLst/>
          </a:prstGeom>
          <a:ln w="571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8" name="文字方塊 17"/>
          <p:cNvSpPr txBox="1"/>
          <p:nvPr/>
        </p:nvSpPr>
        <p:spPr>
          <a:xfrm>
            <a:off x="1328298" y="2839404"/>
            <a:ext cx="1016000" cy="461665"/>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Goal</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cxnSp>
        <p:nvCxnSpPr>
          <p:cNvPr id="20" name="直線單箭頭接點 19"/>
          <p:cNvCxnSpPr/>
          <p:nvPr/>
        </p:nvCxnSpPr>
        <p:spPr>
          <a:xfrm>
            <a:off x="2344298" y="3198168"/>
            <a:ext cx="503002" cy="230832"/>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字方塊 20"/>
          <p:cNvSpPr txBox="1"/>
          <p:nvPr/>
        </p:nvSpPr>
        <p:spPr>
          <a:xfrm>
            <a:off x="5273040" y="5235247"/>
            <a:ext cx="1971040"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Action</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cxnSp>
        <p:nvCxnSpPr>
          <p:cNvPr id="24" name="直線接點 23"/>
          <p:cNvCxnSpPr/>
          <p:nvPr/>
        </p:nvCxnSpPr>
        <p:spPr>
          <a:xfrm flipH="1">
            <a:off x="6873159" y="5466079"/>
            <a:ext cx="2027001"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文字方塊 25"/>
          <p:cNvSpPr txBox="1"/>
          <p:nvPr/>
        </p:nvSpPr>
        <p:spPr>
          <a:xfrm>
            <a:off x="5245674" y="1499460"/>
            <a:ext cx="1971040"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Observation</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cxnSp>
        <p:nvCxnSpPr>
          <p:cNvPr id="28" name="直線接點 27"/>
          <p:cNvCxnSpPr/>
          <p:nvPr/>
        </p:nvCxnSpPr>
        <p:spPr>
          <a:xfrm flipH="1">
            <a:off x="7121464" y="1757363"/>
            <a:ext cx="1754485" cy="0"/>
          </a:xfrm>
          <a:prstGeom prst="line">
            <a:avLst/>
          </a:prstGeom>
          <a:ln w="571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箭號: 弧形右彎 11"/>
          <p:cNvSpPr/>
          <p:nvPr/>
        </p:nvSpPr>
        <p:spPr>
          <a:xfrm>
            <a:off x="4926250" y="2839404"/>
            <a:ext cx="1016000" cy="1713545"/>
          </a:xfrm>
          <a:prstGeom prst="curvedRightArrow">
            <a:avLst/>
          </a:prstGeom>
        </p:spPr>
        <p:style>
          <a:lnRef idx="1">
            <a:schemeClr val="accent5"/>
          </a:lnRef>
          <a:fillRef idx="2">
            <a:schemeClr val="accent5"/>
          </a:fillRef>
          <a:effectRef idx="1">
            <a:schemeClr val="accent5"/>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black"/>
              </a:solidFill>
              <a:effectLst/>
              <a:uLnTx/>
              <a:uFillTx/>
              <a:latin typeface="Calibri" panose="020F0502020204030204"/>
              <a:ea typeface="PMingLiU" panose="02020500000000000000" pitchFamily="18" charset="-120"/>
              <a:cs typeface="+mn-cs"/>
            </a:endParaRPr>
          </a:p>
        </p:txBody>
      </p:sp>
      <p:sp>
        <p:nvSpPr>
          <p:cNvPr id="17" name="箭號: 弧形右彎 16"/>
          <p:cNvSpPr/>
          <p:nvPr/>
        </p:nvSpPr>
        <p:spPr>
          <a:xfrm flipH="1" flipV="1">
            <a:off x="6574871" y="2741413"/>
            <a:ext cx="1016000" cy="1713545"/>
          </a:xfrm>
          <a:prstGeom prst="curvedRightArrow">
            <a:avLst/>
          </a:prstGeom>
        </p:spPr>
        <p:style>
          <a:lnRef idx="1">
            <a:schemeClr val="accent5"/>
          </a:lnRef>
          <a:fillRef idx="2">
            <a:schemeClr val="accent5"/>
          </a:fillRef>
          <a:effectRef idx="1">
            <a:schemeClr val="accent5"/>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black"/>
              </a:solidFill>
              <a:effectLst/>
              <a:uLnTx/>
              <a:uFillTx/>
              <a:latin typeface="Calibri" panose="020F0502020204030204"/>
              <a:ea typeface="PMingLiU" panose="02020500000000000000" pitchFamily="18" charset="-120"/>
              <a:cs typeface="+mn-cs"/>
            </a:endParaRPr>
          </a:p>
        </p:txBody>
      </p:sp>
      <p:sp>
        <p:nvSpPr>
          <p:cNvPr id="3" name="文字方塊 2"/>
          <p:cNvSpPr txBox="1"/>
          <p:nvPr/>
        </p:nvSpPr>
        <p:spPr>
          <a:xfrm>
            <a:off x="9609847" y="3280677"/>
            <a:ext cx="1219200" cy="830997"/>
          </a:xfrm>
          <a:prstGeom prst="rect">
            <a:avLst/>
          </a:prstGeom>
          <a:noFill/>
        </p:spPr>
        <p:txBody>
          <a:bodyPr wrap="square" rtlCol="0">
            <a:spAutoFit/>
          </a:bodyPr>
          <a:lstStyle/>
          <a:p>
            <a:r>
              <a:rPr lang="zh-TW" altLang="en-US" sz="2400" dirty="0">
                <a:latin typeface="Microsoft JhengHei" panose="020B0604030504040204" pitchFamily="34" charset="-120"/>
                <a:ea typeface="Microsoft JhengHei" panose="020B0604030504040204" pitchFamily="34" charset="-120"/>
              </a:rPr>
              <a:t>工具</a:t>
            </a:r>
            <a:endParaRPr lang="en-US" altLang="zh-TW" sz="2400" dirty="0">
              <a:latin typeface="Microsoft JhengHei" panose="020B0604030504040204" pitchFamily="34" charset="-120"/>
              <a:ea typeface="Microsoft JhengHei" panose="020B0604030504040204" pitchFamily="34" charset="-120"/>
            </a:endParaRPr>
          </a:p>
          <a:p>
            <a:r>
              <a:rPr lang="zh-TW" altLang="en-US" sz="2400" dirty="0">
                <a:latin typeface="Microsoft JhengHei" panose="020B0604030504040204" pitchFamily="34" charset="-120"/>
                <a:ea typeface="Microsoft JhengHei" panose="020B0604030504040204" pitchFamily="34" charset="-120"/>
              </a:rPr>
              <a:t>使用者</a:t>
            </a:r>
            <a:endParaRPr lang="zh-TW" altLang="en-US" sz="2400" dirty="0">
              <a:latin typeface="Microsoft JhengHei" panose="020B0604030504040204" pitchFamily="34" charset="-120"/>
              <a:ea typeface="Microsoft JhengHei" panose="020B0604030504040204" pitchFamily="34" charset="-120"/>
            </a:endParaRPr>
          </a:p>
        </p:txBody>
      </p:sp>
      <p:sp>
        <p:nvSpPr>
          <p:cNvPr id="6" name="文字方塊 5"/>
          <p:cNvSpPr txBox="1"/>
          <p:nvPr/>
        </p:nvSpPr>
        <p:spPr>
          <a:xfrm>
            <a:off x="5120870" y="5760112"/>
            <a:ext cx="2362200"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近乎無限的可能</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8" name="文字方塊 7"/>
          <p:cNvSpPr txBox="1"/>
          <p:nvPr/>
        </p:nvSpPr>
        <p:spPr>
          <a:xfrm>
            <a:off x="5387226" y="636223"/>
            <a:ext cx="1829488"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用人類語言提供回饋</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6" grpId="0"/>
      <p:bldP spid="12" grpId="0" animBg="1"/>
      <p:bldP spid="17" grpId="0" animBg="1"/>
      <p:bldP spid="3" grpId="0"/>
      <p:bldP spid="6" grpId="0"/>
      <p:bldP spid="8"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Gemini CLI</a:t>
            </a:r>
            <a:endParaRPr lang="zh-TW" altLang="en-US" dirty="0"/>
          </a:p>
        </p:txBody>
      </p:sp>
      <p:pic>
        <p:nvPicPr>
          <p:cNvPr id="8194" name="Picture 2" descr="Gemini CLI Screenshot"/>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703225" y="659387"/>
            <a:ext cx="7911348" cy="5539226"/>
          </a:xfrm>
          <a:prstGeom prst="rect">
            <a:avLst/>
          </a:prstGeom>
          <a:noFill/>
          <a:extLst>
            <a:ext uri="{909E8E84-426E-40DD-AFC4-6F175D3DCCD1}">
              <a14:hiddenFill xmlns:a14="http://schemas.microsoft.com/office/drawing/2010/main">
                <a:solidFill>
                  <a:srgbClr val="FFFFFF"/>
                </a:solidFill>
              </a14:hiddenFill>
            </a:ext>
          </a:extLst>
        </p:spPr>
      </p:pic>
      <p:sp>
        <p:nvSpPr>
          <p:cNvPr id="5" name="文字方塊 4"/>
          <p:cNvSpPr txBox="1"/>
          <p:nvPr/>
        </p:nvSpPr>
        <p:spPr>
          <a:xfrm>
            <a:off x="838200" y="1502459"/>
            <a:ext cx="2381250" cy="646331"/>
          </a:xfrm>
          <a:prstGeom prst="rect">
            <a:avLst/>
          </a:prstGeom>
          <a:noFill/>
        </p:spPr>
        <p:txBody>
          <a:bodyPr wrap="square">
            <a:spAutoFit/>
          </a:bodyPr>
          <a:lstStyle/>
          <a:p>
            <a:r>
              <a:rPr lang="zh-TW" altLang="en-US" dirty="0"/>
              <a:t>https://github.com/google-gemini/gemini-cli</a:t>
            </a:r>
            <a:endParaRPr lang="zh-TW" altLang="en-US" dirty="0"/>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從 </a:t>
            </a:r>
            <a:r>
              <a:rPr lang="en-US" altLang="zh-TW" dirty="0">
                <a:latin typeface="Microsoft JhengHei" panose="020B0604030504040204" pitchFamily="34" charset="-120"/>
                <a:ea typeface="Microsoft JhengHei" panose="020B0604030504040204" pitchFamily="34" charset="-120"/>
              </a:rPr>
              <a:t>LLM</a:t>
            </a:r>
            <a:r>
              <a:rPr lang="zh-TW" altLang="en-US" dirty="0">
                <a:latin typeface="Microsoft JhengHei" panose="020B0604030504040204" pitchFamily="34" charset="-120"/>
                <a:ea typeface="Microsoft JhengHei" panose="020B0604030504040204" pitchFamily="34" charset="-120"/>
              </a:rPr>
              <a:t> 的角度來看 </a:t>
            </a:r>
            <a:r>
              <a:rPr lang="en-US" altLang="zh-TW" dirty="0">
                <a:latin typeface="Microsoft JhengHei" panose="020B0604030504040204" pitchFamily="34" charset="-120"/>
                <a:ea typeface="Microsoft JhengHei" panose="020B0604030504040204" pitchFamily="34" charset="-120"/>
              </a:rPr>
              <a:t>Agent </a:t>
            </a:r>
            <a:r>
              <a:rPr lang="zh-TW" altLang="en-US" dirty="0">
                <a:latin typeface="Microsoft JhengHei" panose="020B0604030504040204" pitchFamily="34" charset="-120"/>
                <a:ea typeface="Microsoft JhengHei" panose="020B0604030504040204" pitchFamily="34" charset="-120"/>
              </a:rPr>
              <a:t>要解的問題</a:t>
            </a:r>
            <a:endParaRPr lang="zh-TW" altLang="en-US" dirty="0">
              <a:latin typeface="Microsoft JhengHei" panose="020B0604030504040204" pitchFamily="34" charset="-120"/>
              <a:ea typeface="Microsoft JhengHei" panose="020B0604030504040204" pitchFamily="34" charset="-120"/>
            </a:endParaRPr>
          </a:p>
        </p:txBody>
      </p:sp>
      <p:pic>
        <p:nvPicPr>
          <p:cNvPr id="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998950" y="4239238"/>
            <a:ext cx="1219200" cy="121920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7750" y="1629751"/>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04750" y="1629751"/>
            <a:ext cx="1219200" cy="1219200"/>
          </a:xfrm>
          <a:prstGeom prst="rect">
            <a:avLst/>
          </a:prstGeom>
          <a:noFill/>
          <a:extLst>
            <a:ext uri="{909E8E84-426E-40DD-AFC4-6F175D3DCCD1}">
              <a14:hiddenFill xmlns:a14="http://schemas.microsoft.com/office/drawing/2010/main">
                <a:solidFill>
                  <a:srgbClr val="FFFFFF"/>
                </a:solidFill>
              </a14:hiddenFill>
            </a:ext>
          </a:extLst>
        </p:spPr>
      </p:pic>
      <p:sp>
        <p:nvSpPr>
          <p:cNvPr id="8" name="矩形: 圓角 7"/>
          <p:cNvSpPr/>
          <p:nvPr/>
        </p:nvSpPr>
        <p:spPr>
          <a:xfrm>
            <a:off x="-5850" y="3363182"/>
            <a:ext cx="1800000" cy="360000"/>
          </a:xfrm>
          <a:prstGeom prst="roundRect">
            <a:avLst/>
          </a:prstGeom>
          <a:ln w="381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sys prompt</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9" name="矩形: 圓角 8"/>
          <p:cNvSpPr/>
          <p:nvPr/>
        </p:nvSpPr>
        <p:spPr>
          <a:xfrm>
            <a:off x="1794150" y="3363182"/>
            <a:ext cx="1800000" cy="360000"/>
          </a:xfrm>
          <a:prstGeom prst="roundRect">
            <a:avLst/>
          </a:prstGeom>
          <a:solidFill>
            <a:schemeClr val="accent5">
              <a:lumMod val="20000"/>
              <a:lumOff val="80000"/>
            </a:schemeClr>
          </a:solidFill>
          <a:ln w="381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obs</a:t>
            </a: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1</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10" name="矩形: 圓角 9"/>
          <p:cNvSpPr/>
          <p:nvPr/>
        </p:nvSpPr>
        <p:spPr>
          <a:xfrm>
            <a:off x="5385450" y="3363182"/>
            <a:ext cx="1800000" cy="360000"/>
          </a:xfrm>
          <a:prstGeom prst="roundRect">
            <a:avLst/>
          </a:prstGeom>
          <a:solidFill>
            <a:schemeClr val="accent5">
              <a:lumMod val="20000"/>
              <a:lumOff val="80000"/>
            </a:schemeClr>
          </a:solidFill>
          <a:ln w="381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obs</a:t>
            </a: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2</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12" name="矩形: 圓角 11"/>
          <p:cNvSpPr/>
          <p:nvPr/>
        </p:nvSpPr>
        <p:spPr>
          <a:xfrm>
            <a:off x="3599325" y="3363182"/>
            <a:ext cx="1800000" cy="360000"/>
          </a:xfrm>
          <a:prstGeom prst="roundRect">
            <a:avLst/>
          </a:prstGeom>
          <a:solidFill>
            <a:schemeClr val="accent2">
              <a:lumMod val="20000"/>
              <a:lumOff val="80000"/>
            </a:schemeClr>
          </a:solidFill>
          <a:ln w="381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action 1</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13" name="矩形: 圓角 12"/>
          <p:cNvSpPr/>
          <p:nvPr/>
        </p:nvSpPr>
        <p:spPr>
          <a:xfrm>
            <a:off x="7188450" y="3363182"/>
            <a:ext cx="1800000" cy="360000"/>
          </a:xfrm>
          <a:prstGeom prst="roundRect">
            <a:avLst/>
          </a:prstGeom>
          <a:solidFill>
            <a:schemeClr val="accent2">
              <a:lumMod val="20000"/>
              <a:lumOff val="80000"/>
            </a:schemeClr>
          </a:solidFill>
          <a:ln w="381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action 2</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14" name="矩形: 圓角 13"/>
          <p:cNvSpPr/>
          <p:nvPr/>
        </p:nvSpPr>
        <p:spPr>
          <a:xfrm>
            <a:off x="8988450" y="3363182"/>
            <a:ext cx="1800000" cy="360000"/>
          </a:xfrm>
          <a:prstGeom prst="roundRect">
            <a:avLst/>
          </a:prstGeom>
          <a:solidFill>
            <a:schemeClr val="accent5">
              <a:lumMod val="20000"/>
              <a:lumOff val="80000"/>
            </a:schemeClr>
          </a:solidFill>
          <a:ln w="381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obs</a:t>
            </a: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3</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15" name="矩形: 圓角 14"/>
          <p:cNvSpPr/>
          <p:nvPr/>
        </p:nvSpPr>
        <p:spPr>
          <a:xfrm>
            <a:off x="10788450" y="3363182"/>
            <a:ext cx="1800000" cy="360000"/>
          </a:xfrm>
          <a:prstGeom prst="roundRect">
            <a:avLst/>
          </a:prstGeom>
          <a:solidFill>
            <a:schemeClr val="accent2">
              <a:lumMod val="20000"/>
              <a:lumOff val="80000"/>
            </a:schemeClr>
          </a:solidFill>
          <a:ln w="381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action 3</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cxnSp>
        <p:nvCxnSpPr>
          <p:cNvPr id="20" name="直線單箭頭接點 19"/>
          <p:cNvCxnSpPr/>
          <p:nvPr/>
        </p:nvCxnSpPr>
        <p:spPr>
          <a:xfrm flipV="1">
            <a:off x="4485450" y="2825021"/>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p:cNvCxnSpPr/>
          <p:nvPr/>
        </p:nvCxnSpPr>
        <p:spPr>
          <a:xfrm>
            <a:off x="5770500" y="2841261"/>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p:cNvCxnSpPr/>
          <p:nvPr/>
        </p:nvCxnSpPr>
        <p:spPr>
          <a:xfrm flipV="1">
            <a:off x="8052450" y="2823497"/>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線單箭頭接點 24"/>
          <p:cNvCxnSpPr/>
          <p:nvPr/>
        </p:nvCxnSpPr>
        <p:spPr>
          <a:xfrm>
            <a:off x="9337500" y="2839737"/>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線單箭頭接點 17"/>
          <p:cNvCxnSpPr/>
          <p:nvPr/>
        </p:nvCxnSpPr>
        <p:spPr>
          <a:xfrm>
            <a:off x="2694150" y="3833637"/>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線單箭頭接點 18"/>
          <p:cNvCxnSpPr/>
          <p:nvPr/>
        </p:nvCxnSpPr>
        <p:spPr>
          <a:xfrm flipV="1">
            <a:off x="3979200" y="3817397"/>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線單箭頭接點 21"/>
          <p:cNvCxnSpPr/>
          <p:nvPr/>
        </p:nvCxnSpPr>
        <p:spPr>
          <a:xfrm>
            <a:off x="6314850" y="3794193"/>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線單箭頭接點 22"/>
          <p:cNvCxnSpPr/>
          <p:nvPr/>
        </p:nvCxnSpPr>
        <p:spPr>
          <a:xfrm flipV="1">
            <a:off x="7599900" y="3777953"/>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線單箭頭接點 25"/>
          <p:cNvCxnSpPr/>
          <p:nvPr/>
        </p:nvCxnSpPr>
        <p:spPr>
          <a:xfrm>
            <a:off x="9857700" y="3794193"/>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線單箭頭接點 26"/>
          <p:cNvCxnSpPr/>
          <p:nvPr/>
        </p:nvCxnSpPr>
        <p:spPr>
          <a:xfrm flipV="1">
            <a:off x="11142750" y="3777953"/>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文字方塊 32"/>
          <p:cNvSpPr txBox="1"/>
          <p:nvPr/>
        </p:nvSpPr>
        <p:spPr>
          <a:xfrm>
            <a:off x="1053163" y="5036572"/>
            <a:ext cx="2021837" cy="523220"/>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defRPr/>
            </a:pPr>
            <a:r>
              <a:rPr kumimoji="0" lang="en-US" altLang="zh-TW"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LLM</a:t>
            </a:r>
            <a:endParaRPr kumimoji="0" lang="zh-TW" altLang="en-US"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grpSp>
        <p:nvGrpSpPr>
          <p:cNvPr id="11" name="群組 10"/>
          <p:cNvGrpSpPr/>
          <p:nvPr/>
        </p:nvGrpSpPr>
        <p:grpSpPr>
          <a:xfrm>
            <a:off x="4635913" y="4239238"/>
            <a:ext cx="3157037" cy="1342612"/>
            <a:chOff x="4635913" y="4239238"/>
            <a:chExt cx="3157037" cy="1342612"/>
          </a:xfrm>
        </p:grpSpPr>
        <p:pic>
          <p:nvPicPr>
            <p:cNvPr id="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6573750" y="4239238"/>
              <a:ext cx="1219200" cy="1219201"/>
            </a:xfrm>
            <a:prstGeom prst="rect">
              <a:avLst/>
            </a:prstGeom>
            <a:noFill/>
            <a:extLst>
              <a:ext uri="{909E8E84-426E-40DD-AFC4-6F175D3DCCD1}">
                <a14:hiddenFill xmlns:a14="http://schemas.microsoft.com/office/drawing/2010/main">
                  <a:solidFill>
                    <a:srgbClr val="FFFFFF"/>
                  </a:solidFill>
                </a14:hiddenFill>
              </a:ext>
            </a:extLst>
          </p:spPr>
        </p:pic>
        <p:sp>
          <p:nvSpPr>
            <p:cNvPr id="35" name="文字方塊 34"/>
            <p:cNvSpPr txBox="1"/>
            <p:nvPr/>
          </p:nvSpPr>
          <p:spPr>
            <a:xfrm>
              <a:off x="4635913" y="5058630"/>
              <a:ext cx="2021837" cy="523220"/>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defRPr/>
              </a:pPr>
              <a:r>
                <a:rPr kumimoji="0" lang="en-US" altLang="zh-TW"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LLM</a:t>
              </a:r>
              <a:endParaRPr kumimoji="0" lang="zh-TW" altLang="en-US"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grpSp>
      <p:grpSp>
        <p:nvGrpSpPr>
          <p:cNvPr id="17" name="群組 16"/>
          <p:cNvGrpSpPr/>
          <p:nvPr/>
        </p:nvGrpSpPr>
        <p:grpSpPr>
          <a:xfrm>
            <a:off x="8218800" y="4227878"/>
            <a:ext cx="3141150" cy="1315434"/>
            <a:chOff x="8218800" y="4227878"/>
            <a:chExt cx="3141150" cy="1315434"/>
          </a:xfrm>
        </p:grpSpPr>
        <p:pic>
          <p:nvPicPr>
            <p:cNvPr id="1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0140750" y="4227878"/>
              <a:ext cx="1219200" cy="1219201"/>
            </a:xfrm>
            <a:prstGeom prst="rect">
              <a:avLst/>
            </a:prstGeom>
            <a:noFill/>
            <a:extLst>
              <a:ext uri="{909E8E84-426E-40DD-AFC4-6F175D3DCCD1}">
                <a14:hiddenFill xmlns:a14="http://schemas.microsoft.com/office/drawing/2010/main">
                  <a:solidFill>
                    <a:srgbClr val="FFFFFF"/>
                  </a:solidFill>
                </a14:hiddenFill>
              </a:ext>
            </a:extLst>
          </p:spPr>
        </p:pic>
        <p:sp>
          <p:nvSpPr>
            <p:cNvPr id="36" name="文字方塊 35"/>
            <p:cNvSpPr txBox="1"/>
            <p:nvPr/>
          </p:nvSpPr>
          <p:spPr>
            <a:xfrm>
              <a:off x="8218800" y="5020092"/>
              <a:ext cx="2021837" cy="523220"/>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defRPr/>
              </a:pPr>
              <a:r>
                <a:rPr kumimoji="0" lang="en-US" altLang="zh-TW"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LLM</a:t>
              </a:r>
              <a:endParaRPr kumimoji="0" lang="zh-TW" altLang="en-US"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grpSp>
      <p:sp>
        <p:nvSpPr>
          <p:cNvPr id="37" name="文字方塊 36"/>
          <p:cNvSpPr txBox="1"/>
          <p:nvPr/>
        </p:nvSpPr>
        <p:spPr>
          <a:xfrm>
            <a:off x="-479445" y="6024408"/>
            <a:ext cx="7245390"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800" b="1"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一直都在做接龍</a:t>
            </a:r>
            <a:endParaRPr kumimoji="0" lang="zh-TW" altLang="en-US" sz="2800" b="1"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38" name="右大括弧 37"/>
          <p:cNvSpPr/>
          <p:nvPr/>
        </p:nvSpPr>
        <p:spPr>
          <a:xfrm rot="5400000">
            <a:off x="6695051" y="1069041"/>
            <a:ext cx="339685" cy="9453915"/>
          </a:xfrm>
          <a:prstGeom prst="rightBrace">
            <a:avLst>
              <a:gd name="adj1" fmla="val 47318"/>
              <a:gd name="adj2" fmla="val 86942"/>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black"/>
              </a:solidFill>
              <a:effectLst/>
              <a:uLnTx/>
              <a:uFillTx/>
              <a:latin typeface="Calibri" panose="020F0502020204030204"/>
              <a:ea typeface="PMingLiU" panose="02020500000000000000" pitchFamily="18" charset="-120"/>
              <a:cs typeface="+mn-cs"/>
            </a:endParaRPr>
          </a:p>
        </p:txBody>
      </p:sp>
      <p:sp>
        <p:nvSpPr>
          <p:cNvPr id="3" name="文字方塊 2"/>
          <p:cNvSpPr txBox="1"/>
          <p:nvPr/>
        </p:nvSpPr>
        <p:spPr>
          <a:xfrm>
            <a:off x="4708950" y="6022849"/>
            <a:ext cx="7245390"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800" b="1"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AI Agent </a:t>
            </a:r>
            <a:r>
              <a:rPr kumimoji="0" lang="zh-TW" altLang="en-US" sz="2800" b="1"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倚靠的是語言模型現有的能力</a:t>
            </a:r>
            <a:endParaRPr kumimoji="0" lang="zh-TW" altLang="en-US" sz="2800" b="1"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6"/>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7"/>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5"/>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27"/>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P spid="14" grpId="0" animBg="1"/>
      <p:bldP spid="15" grpId="0" animBg="1"/>
      <p:bldP spid="33" grpId="0"/>
      <p:bldP spid="37" grpId="0"/>
      <p:bldP spid="38" grpId="0" animBg="1"/>
      <p:bldP spid="3"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運行 </a:t>
            </a:r>
            <a:r>
              <a:rPr lang="en-US" altLang="zh-TW" dirty="0">
                <a:latin typeface="Microsoft JhengHei" panose="020B0604030504040204" pitchFamily="34" charset="-120"/>
                <a:ea typeface="Microsoft JhengHei" panose="020B0604030504040204" pitchFamily="34" charset="-120"/>
              </a:rPr>
              <a:t>AI</a:t>
            </a:r>
            <a:r>
              <a:rPr lang="zh-TW" altLang="en-US" dirty="0">
                <a:latin typeface="Microsoft JhengHei" panose="020B0604030504040204" pitchFamily="34" charset="-120"/>
                <a:ea typeface="Microsoft JhengHei" panose="020B0604030504040204" pitchFamily="34" charset="-120"/>
              </a:rPr>
              <a:t> </a:t>
            </a:r>
            <a:r>
              <a:rPr lang="en-US" altLang="zh-TW" dirty="0">
                <a:latin typeface="Microsoft JhengHei" panose="020B0604030504040204" pitchFamily="34" charset="-120"/>
                <a:ea typeface="Microsoft JhengHei" panose="020B0604030504040204" pitchFamily="34" charset="-120"/>
              </a:rPr>
              <a:t>Agent </a:t>
            </a:r>
            <a:r>
              <a:rPr lang="zh-TW" altLang="en-US" dirty="0">
                <a:latin typeface="Microsoft JhengHei" panose="020B0604030504040204" pitchFamily="34" charset="-120"/>
                <a:ea typeface="Microsoft JhengHei" panose="020B0604030504040204" pitchFamily="34" charset="-120"/>
              </a:rPr>
              <a:t>的挑戰：輸入過長</a:t>
            </a:r>
            <a:endParaRPr lang="zh-TW" altLang="en-US" dirty="0">
              <a:latin typeface="Microsoft JhengHei" panose="020B0604030504040204" pitchFamily="34" charset="-120"/>
              <a:ea typeface="Microsoft JhengHei" panose="020B0604030504040204" pitchFamily="34" charset="-120"/>
            </a:endParaRPr>
          </a:p>
        </p:txBody>
      </p:sp>
      <p:pic>
        <p:nvPicPr>
          <p:cNvPr id="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998950" y="4239238"/>
            <a:ext cx="1219200" cy="121920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7750" y="1629751"/>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04750" y="1629751"/>
            <a:ext cx="1219200" cy="1219200"/>
          </a:xfrm>
          <a:prstGeom prst="rect">
            <a:avLst/>
          </a:prstGeom>
          <a:noFill/>
          <a:extLst>
            <a:ext uri="{909E8E84-426E-40DD-AFC4-6F175D3DCCD1}">
              <a14:hiddenFill xmlns:a14="http://schemas.microsoft.com/office/drawing/2010/main">
                <a:solidFill>
                  <a:srgbClr val="FFFFFF"/>
                </a:solidFill>
              </a14:hiddenFill>
            </a:ext>
          </a:extLst>
        </p:spPr>
      </p:pic>
      <p:sp>
        <p:nvSpPr>
          <p:cNvPr id="8" name="矩形: 圓角 7"/>
          <p:cNvSpPr/>
          <p:nvPr/>
        </p:nvSpPr>
        <p:spPr>
          <a:xfrm>
            <a:off x="-5850" y="3363182"/>
            <a:ext cx="1800000" cy="360000"/>
          </a:xfrm>
          <a:prstGeom prst="roundRect">
            <a:avLst/>
          </a:prstGeom>
          <a:ln w="381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sys prompt</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9" name="矩形: 圓角 8"/>
          <p:cNvSpPr/>
          <p:nvPr/>
        </p:nvSpPr>
        <p:spPr>
          <a:xfrm>
            <a:off x="1794150" y="3363182"/>
            <a:ext cx="1800000" cy="360000"/>
          </a:xfrm>
          <a:prstGeom prst="roundRect">
            <a:avLst/>
          </a:prstGeom>
          <a:solidFill>
            <a:schemeClr val="accent5">
              <a:lumMod val="20000"/>
              <a:lumOff val="80000"/>
            </a:schemeClr>
          </a:solidFill>
          <a:ln w="381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obs</a:t>
            </a: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1</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10" name="矩形: 圓角 9"/>
          <p:cNvSpPr/>
          <p:nvPr/>
        </p:nvSpPr>
        <p:spPr>
          <a:xfrm>
            <a:off x="5385450" y="3363182"/>
            <a:ext cx="1800000" cy="360000"/>
          </a:xfrm>
          <a:prstGeom prst="roundRect">
            <a:avLst/>
          </a:prstGeom>
          <a:solidFill>
            <a:schemeClr val="accent5">
              <a:lumMod val="20000"/>
              <a:lumOff val="80000"/>
            </a:schemeClr>
          </a:solidFill>
          <a:ln w="381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obs</a:t>
            </a: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2</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12" name="矩形: 圓角 11"/>
          <p:cNvSpPr/>
          <p:nvPr/>
        </p:nvSpPr>
        <p:spPr>
          <a:xfrm>
            <a:off x="3599325" y="3363182"/>
            <a:ext cx="1800000" cy="360000"/>
          </a:xfrm>
          <a:prstGeom prst="roundRect">
            <a:avLst/>
          </a:prstGeom>
          <a:solidFill>
            <a:schemeClr val="accent2">
              <a:lumMod val="20000"/>
              <a:lumOff val="80000"/>
            </a:schemeClr>
          </a:solidFill>
          <a:ln w="381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action 1</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14" name="矩形: 圓角 13"/>
          <p:cNvSpPr/>
          <p:nvPr/>
        </p:nvSpPr>
        <p:spPr>
          <a:xfrm>
            <a:off x="8988450" y="3363182"/>
            <a:ext cx="1800000" cy="360000"/>
          </a:xfrm>
          <a:prstGeom prst="roundRect">
            <a:avLst/>
          </a:prstGeom>
          <a:solidFill>
            <a:schemeClr val="accent5">
              <a:lumMod val="20000"/>
              <a:lumOff val="80000"/>
            </a:schemeClr>
          </a:solidFill>
          <a:ln w="381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obs</a:t>
            </a: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9999</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cxnSp>
        <p:nvCxnSpPr>
          <p:cNvPr id="20" name="直線單箭頭接點 19"/>
          <p:cNvCxnSpPr/>
          <p:nvPr/>
        </p:nvCxnSpPr>
        <p:spPr>
          <a:xfrm flipV="1">
            <a:off x="4485450" y="2825021"/>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p:cNvCxnSpPr/>
          <p:nvPr/>
        </p:nvCxnSpPr>
        <p:spPr>
          <a:xfrm>
            <a:off x="5770500" y="2841261"/>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p:cNvCxnSpPr/>
          <p:nvPr/>
        </p:nvCxnSpPr>
        <p:spPr>
          <a:xfrm flipV="1">
            <a:off x="8052450" y="2823497"/>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線單箭頭接點 24"/>
          <p:cNvCxnSpPr/>
          <p:nvPr/>
        </p:nvCxnSpPr>
        <p:spPr>
          <a:xfrm>
            <a:off x="9337500" y="2839737"/>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線單箭頭接點 17"/>
          <p:cNvCxnSpPr/>
          <p:nvPr/>
        </p:nvCxnSpPr>
        <p:spPr>
          <a:xfrm>
            <a:off x="2694150" y="3833637"/>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線單箭頭接點 18"/>
          <p:cNvCxnSpPr/>
          <p:nvPr/>
        </p:nvCxnSpPr>
        <p:spPr>
          <a:xfrm flipV="1">
            <a:off x="3979200" y="3817397"/>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線單箭頭接點 21"/>
          <p:cNvCxnSpPr/>
          <p:nvPr/>
        </p:nvCxnSpPr>
        <p:spPr>
          <a:xfrm>
            <a:off x="6314850" y="3794193"/>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線單箭頭接點 22"/>
          <p:cNvCxnSpPr/>
          <p:nvPr/>
        </p:nvCxnSpPr>
        <p:spPr>
          <a:xfrm flipV="1">
            <a:off x="7599900" y="3777953"/>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線單箭頭接點 25"/>
          <p:cNvCxnSpPr/>
          <p:nvPr/>
        </p:nvCxnSpPr>
        <p:spPr>
          <a:xfrm>
            <a:off x="9857700" y="3794193"/>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線單箭頭接點 26"/>
          <p:cNvCxnSpPr/>
          <p:nvPr/>
        </p:nvCxnSpPr>
        <p:spPr>
          <a:xfrm flipV="1">
            <a:off x="11142750" y="3777953"/>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文字方塊 32"/>
          <p:cNvSpPr txBox="1"/>
          <p:nvPr/>
        </p:nvSpPr>
        <p:spPr>
          <a:xfrm>
            <a:off x="1053163" y="5036572"/>
            <a:ext cx="2021837" cy="523220"/>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defRPr/>
            </a:pPr>
            <a:r>
              <a:rPr kumimoji="0" lang="en-US" altLang="zh-TW"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LLM</a:t>
            </a:r>
            <a:endParaRPr kumimoji="0" lang="zh-TW" altLang="en-US"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grpSp>
        <p:nvGrpSpPr>
          <p:cNvPr id="11" name="群組 10"/>
          <p:cNvGrpSpPr/>
          <p:nvPr/>
        </p:nvGrpSpPr>
        <p:grpSpPr>
          <a:xfrm>
            <a:off x="4635913" y="4239238"/>
            <a:ext cx="3157037" cy="1342612"/>
            <a:chOff x="4635913" y="4239238"/>
            <a:chExt cx="3157037" cy="1342612"/>
          </a:xfrm>
        </p:grpSpPr>
        <p:pic>
          <p:nvPicPr>
            <p:cNvPr id="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6573750" y="4239238"/>
              <a:ext cx="1219200" cy="1219201"/>
            </a:xfrm>
            <a:prstGeom prst="rect">
              <a:avLst/>
            </a:prstGeom>
            <a:noFill/>
            <a:extLst>
              <a:ext uri="{909E8E84-426E-40DD-AFC4-6F175D3DCCD1}">
                <a14:hiddenFill xmlns:a14="http://schemas.microsoft.com/office/drawing/2010/main">
                  <a:solidFill>
                    <a:srgbClr val="FFFFFF"/>
                  </a:solidFill>
                </a14:hiddenFill>
              </a:ext>
            </a:extLst>
          </p:spPr>
        </p:pic>
        <p:sp>
          <p:nvSpPr>
            <p:cNvPr id="35" name="文字方塊 34"/>
            <p:cNvSpPr txBox="1"/>
            <p:nvPr/>
          </p:nvSpPr>
          <p:spPr>
            <a:xfrm>
              <a:off x="4635913" y="5058630"/>
              <a:ext cx="2021837" cy="523220"/>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defRPr/>
              </a:pPr>
              <a:r>
                <a:rPr kumimoji="0" lang="en-US" altLang="zh-TW"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LLM</a:t>
              </a:r>
              <a:endParaRPr kumimoji="0" lang="zh-TW" altLang="en-US"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grpSp>
      <p:grpSp>
        <p:nvGrpSpPr>
          <p:cNvPr id="17" name="群組 16"/>
          <p:cNvGrpSpPr/>
          <p:nvPr/>
        </p:nvGrpSpPr>
        <p:grpSpPr>
          <a:xfrm>
            <a:off x="8218800" y="4227878"/>
            <a:ext cx="3141150" cy="1315434"/>
            <a:chOff x="8218800" y="4227878"/>
            <a:chExt cx="3141150" cy="1315434"/>
          </a:xfrm>
        </p:grpSpPr>
        <p:pic>
          <p:nvPicPr>
            <p:cNvPr id="1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0140750" y="4227878"/>
              <a:ext cx="1219200" cy="1219201"/>
            </a:xfrm>
            <a:prstGeom prst="rect">
              <a:avLst/>
            </a:prstGeom>
            <a:noFill/>
            <a:extLst>
              <a:ext uri="{909E8E84-426E-40DD-AFC4-6F175D3DCCD1}">
                <a14:hiddenFill xmlns:a14="http://schemas.microsoft.com/office/drawing/2010/main">
                  <a:solidFill>
                    <a:srgbClr val="FFFFFF"/>
                  </a:solidFill>
                </a14:hiddenFill>
              </a:ext>
            </a:extLst>
          </p:spPr>
        </p:pic>
        <p:sp>
          <p:nvSpPr>
            <p:cNvPr id="36" name="文字方塊 35"/>
            <p:cNvSpPr txBox="1"/>
            <p:nvPr/>
          </p:nvSpPr>
          <p:spPr>
            <a:xfrm>
              <a:off x="8218800" y="5020092"/>
              <a:ext cx="2021837" cy="523220"/>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defRPr/>
              </a:pPr>
              <a:r>
                <a:rPr kumimoji="0" lang="en-US" altLang="zh-TW"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LLM</a:t>
              </a:r>
              <a:endParaRPr kumimoji="0" lang="zh-TW" altLang="en-US"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grpSp>
      <p:pic>
        <p:nvPicPr>
          <p:cNvPr id="2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94012" y="4211638"/>
            <a:ext cx="988875" cy="988875"/>
          </a:xfrm>
          <a:prstGeom prst="rect">
            <a:avLst/>
          </a:prstGeom>
          <a:noFill/>
          <a:extLst>
            <a:ext uri="{909E8E84-426E-40DD-AFC4-6F175D3DCCD1}">
              <a14:hiddenFill xmlns:a14="http://schemas.microsoft.com/office/drawing/2010/main">
                <a:solidFill>
                  <a:srgbClr val="FFFFFF"/>
                </a:solidFill>
              </a14:hiddenFill>
            </a:ext>
          </a:extLst>
        </p:spPr>
      </p:pic>
      <p:sp>
        <p:nvSpPr>
          <p:cNvPr id="29" name="矩形: 圓角 28"/>
          <p:cNvSpPr/>
          <p:nvPr/>
        </p:nvSpPr>
        <p:spPr>
          <a:xfrm>
            <a:off x="-5850" y="3236976"/>
            <a:ext cx="10794300" cy="596661"/>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文字方塊 2"/>
          <p:cNvSpPr txBox="1"/>
          <p:nvPr/>
        </p:nvSpPr>
        <p:spPr>
          <a:xfrm>
            <a:off x="7362225" y="3219585"/>
            <a:ext cx="1318350" cy="523220"/>
          </a:xfrm>
          <a:prstGeom prst="rect">
            <a:avLst/>
          </a:prstGeom>
          <a:noFill/>
        </p:spPr>
        <p:txBody>
          <a:bodyPr wrap="square" rtlCol="0">
            <a:spAutoFit/>
          </a:bodyPr>
          <a:lstStyle/>
          <a:p>
            <a:pPr algn="ctr"/>
            <a:r>
              <a:rPr lang="en-US" altLang="zh-TW" sz="2800" b="1" dirty="0"/>
              <a:t>……</a:t>
            </a:r>
            <a:endParaRPr lang="zh-TW" altLang="en-US" sz="2800" b="1" dirty="0"/>
          </a:p>
        </p:txBody>
      </p:sp>
      <p:sp>
        <p:nvSpPr>
          <p:cNvPr id="30" name="文字方塊 29"/>
          <p:cNvSpPr txBox="1"/>
          <p:nvPr/>
        </p:nvSpPr>
        <p:spPr>
          <a:xfrm>
            <a:off x="11077875" y="3316288"/>
            <a:ext cx="853200" cy="461665"/>
          </a:xfrm>
          <a:prstGeom prst="rect">
            <a:avLst/>
          </a:prstGeom>
          <a:noFill/>
        </p:spPr>
        <p:txBody>
          <a:bodyPr wrap="square" rtlCol="0">
            <a:spAutoFit/>
          </a:bodyPr>
          <a:lstStyle/>
          <a:p>
            <a:r>
              <a:rPr lang="en-US" altLang="zh-TW" sz="2400" b="1" dirty="0"/>
              <a:t>?????</a:t>
            </a:r>
            <a:endParaRPr lang="zh-TW" altLang="en-US" sz="2400" b="1" dirty="0"/>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dirty="0"/>
          </a:p>
        </p:txBody>
      </p:sp>
      <p:pic>
        <p:nvPicPr>
          <p:cNvPr id="7" name="內容版面配置區 6" descr="一張含有 文字, 螢幕擷取畫面, 圖表, 繪圖 的圖片&#10;&#10;AI 產生的內容可能不正確。"/>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1295400" y="335518"/>
            <a:ext cx="10260776" cy="5972691"/>
          </a:xfrm>
        </p:spPr>
      </p:pic>
      <p:sp>
        <p:nvSpPr>
          <p:cNvPr id="9" name="文字方塊 8"/>
          <p:cNvSpPr txBox="1"/>
          <p:nvPr/>
        </p:nvSpPr>
        <p:spPr>
          <a:xfrm>
            <a:off x="190500" y="6308209"/>
            <a:ext cx="12001500" cy="369332"/>
          </a:xfrm>
          <a:prstGeom prst="rect">
            <a:avLst/>
          </a:prstGeom>
          <a:noFill/>
        </p:spPr>
        <p:txBody>
          <a:bodyPr wrap="square">
            <a:spAutoFit/>
          </a:bodyPr>
          <a:lstStyle/>
          <a:p>
            <a:pPr algn="ctr"/>
            <a:r>
              <a:rPr lang="en-US" altLang="zh-TW" dirty="0"/>
              <a:t>Source of image: </a:t>
            </a:r>
            <a:r>
              <a:rPr lang="zh-TW" altLang="en-US" dirty="0"/>
              <a:t>https://www.meibel.ai/post/understanding-the-impact-of-increasing-llm-context-windows</a:t>
            </a:r>
            <a:endParaRPr lang="zh-TW" altLang="en-US" dirty="0"/>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內容版面配置區 4" descr="一張含有 文字, 螢幕擷取畫面 的圖片&#10;&#10;AI 產生的內容可能不正確。"/>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838200" y="95749"/>
            <a:ext cx="9456933" cy="6590301"/>
          </a:xfrm>
          <a:prstGeom prst="rect">
            <a:avLst/>
          </a:prstGeom>
        </p:spPr>
      </p:pic>
      <p:sp>
        <p:nvSpPr>
          <p:cNvPr id="5" name="文字方塊 4"/>
          <p:cNvSpPr txBox="1"/>
          <p:nvPr/>
        </p:nvSpPr>
        <p:spPr>
          <a:xfrm>
            <a:off x="5200510" y="2924199"/>
            <a:ext cx="6134193" cy="369332"/>
          </a:xfrm>
          <a:prstGeom prst="rect">
            <a:avLst/>
          </a:prstGeom>
          <a:noFill/>
        </p:spPr>
        <p:txBody>
          <a:bodyPr wrap="square" rtlCol="0">
            <a:spAutoFit/>
          </a:bodyPr>
          <a:lstStyle/>
          <a:p>
            <a:r>
              <a:rPr lang="en-US" altLang="zh-TW" dirty="0"/>
              <a:t>Source of image: https://www.artfish.ai/p/long-context-llms</a:t>
            </a:r>
            <a:endParaRPr lang="zh-TW" altLang="en-US" dirty="0"/>
          </a:p>
        </p:txBody>
      </p:sp>
      <p:sp>
        <p:nvSpPr>
          <p:cNvPr id="6" name="文字方塊 5"/>
          <p:cNvSpPr txBox="1"/>
          <p:nvPr/>
        </p:nvSpPr>
        <p:spPr>
          <a:xfrm>
            <a:off x="5219607" y="4591050"/>
            <a:ext cx="6134193" cy="954107"/>
          </a:xfrm>
          <a:prstGeom prst="rect">
            <a:avLst/>
          </a:prstGeom>
          <a:noFill/>
        </p:spPr>
        <p:txBody>
          <a:bodyPr wrap="square" rtlCol="0">
            <a:spAutoFit/>
          </a:bodyPr>
          <a:lstStyle/>
          <a:p>
            <a:r>
              <a:rPr lang="zh-TW" altLang="en-US" sz="2800" dirty="0">
                <a:latin typeface="Microsoft JhengHei" panose="020B0604030504040204" pitchFamily="34" charset="-120"/>
                <a:ea typeface="Microsoft JhengHei" panose="020B0604030504040204" pitchFamily="34" charset="-120"/>
              </a:rPr>
              <a:t>能讀上百萬個 </a:t>
            </a:r>
            <a:r>
              <a:rPr lang="en-US" altLang="zh-TW" sz="2800" dirty="0">
                <a:latin typeface="Microsoft JhengHei" panose="020B0604030504040204" pitchFamily="34" charset="-120"/>
                <a:ea typeface="Microsoft JhengHei" panose="020B0604030504040204" pitchFamily="34" charset="-120"/>
              </a:rPr>
              <a:t>token </a:t>
            </a:r>
            <a:r>
              <a:rPr lang="zh-TW" altLang="en-US" sz="2800" dirty="0">
                <a:latin typeface="Microsoft JhengHei" panose="020B0604030504040204" pitchFamily="34" charset="-120"/>
                <a:ea typeface="Microsoft JhengHei" panose="020B0604030504040204" pitchFamily="34" charset="-120"/>
              </a:rPr>
              <a:t>，</a:t>
            </a:r>
            <a:endParaRPr lang="en-US" altLang="zh-TW" sz="2800" dirty="0">
              <a:latin typeface="Microsoft JhengHei" panose="020B0604030504040204" pitchFamily="34" charset="-120"/>
              <a:ea typeface="Microsoft JhengHei" panose="020B0604030504040204" pitchFamily="34" charset="-120"/>
            </a:endParaRPr>
          </a:p>
          <a:p>
            <a:r>
              <a:rPr lang="zh-TW" altLang="en-US" sz="2800" dirty="0">
                <a:latin typeface="Microsoft JhengHei" panose="020B0604030504040204" pitchFamily="34" charset="-120"/>
                <a:ea typeface="Microsoft JhengHei" panose="020B0604030504040204" pitchFamily="34" charset="-120"/>
              </a:rPr>
              <a:t>並不代表能讀「</a:t>
            </a:r>
            <a:r>
              <a:rPr lang="zh-TW" altLang="en-US" sz="2800" b="1" dirty="0">
                <a:latin typeface="Microsoft JhengHei" panose="020B0604030504040204" pitchFamily="34" charset="-120"/>
                <a:ea typeface="Microsoft JhengHei" panose="020B0604030504040204" pitchFamily="34" charset="-120"/>
              </a:rPr>
              <a:t>懂</a:t>
            </a:r>
            <a:r>
              <a:rPr lang="zh-TW" altLang="en-US" sz="2800" dirty="0">
                <a:latin typeface="Microsoft JhengHei" panose="020B0604030504040204" pitchFamily="34" charset="-120"/>
                <a:ea typeface="Microsoft JhengHei" panose="020B0604030504040204" pitchFamily="34" charset="-120"/>
              </a:rPr>
              <a:t>」上百萬個 </a:t>
            </a:r>
            <a:r>
              <a:rPr lang="en-US" altLang="zh-TW" sz="2800" dirty="0">
                <a:latin typeface="Microsoft JhengHei" panose="020B0604030504040204" pitchFamily="34" charset="-120"/>
                <a:ea typeface="Microsoft JhengHei" panose="020B0604030504040204" pitchFamily="34" charset="-120"/>
              </a:rPr>
              <a:t>token </a:t>
            </a:r>
            <a:endParaRPr lang="zh-TW" altLang="en-US" sz="2800" dirty="0">
              <a:latin typeface="Microsoft JhengHei" panose="020B0604030504040204" pitchFamily="34" charset="-120"/>
              <a:ea typeface="Microsoft JhengHei" panose="020B0604030504040204" pitchFamily="34" charset="-120"/>
            </a:endParaRPr>
          </a:p>
        </p:txBody>
      </p:sp>
      <p:sp>
        <p:nvSpPr>
          <p:cNvPr id="8" name="文字方塊 7"/>
          <p:cNvSpPr txBox="1"/>
          <p:nvPr/>
        </p:nvSpPr>
        <p:spPr>
          <a:xfrm>
            <a:off x="5238703" y="5618500"/>
            <a:ext cx="6096000" cy="646331"/>
          </a:xfrm>
          <a:prstGeom prst="rect">
            <a:avLst/>
          </a:prstGeom>
          <a:noFill/>
        </p:spPr>
        <p:txBody>
          <a:bodyPr wrap="square">
            <a:spAutoFit/>
          </a:bodyPr>
          <a:lstStyle/>
          <a:p>
            <a:r>
              <a:rPr lang="zh-TW" altLang="en-US" dirty="0"/>
              <a:t>https://www.dbreunig.com/2025/06/22/how-contexts-fail-and-how-to-fix-them.html</a:t>
            </a:r>
            <a:endParaRPr lang="zh-TW" altLang="en-US" dirty="0"/>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輸入過長會有甚麼問題</a:t>
            </a:r>
            <a:endParaRPr lang="zh-TW" altLang="en-US" dirty="0"/>
          </a:p>
        </p:txBody>
      </p:sp>
      <p:sp>
        <p:nvSpPr>
          <p:cNvPr id="3" name="內容版面配置區 2"/>
          <p:cNvSpPr>
            <a:spLocks noGrp="1"/>
          </p:cNvSpPr>
          <p:nvPr>
            <p:ph idx="1"/>
          </p:nvPr>
        </p:nvSpPr>
        <p:spPr/>
        <p:txBody>
          <a:bodyPr>
            <a:normAutofit/>
          </a:bodyPr>
          <a:lstStyle/>
          <a:p>
            <a:r>
              <a:rPr lang="en-US" altLang="zh-TW" sz="2400" dirty="0">
                <a:latin typeface="Microsoft JhengHei" panose="020B0604030504040204" pitchFamily="34" charset="-120"/>
                <a:ea typeface="Microsoft JhengHei" panose="020B0604030504040204" pitchFamily="34" charset="-120"/>
              </a:rPr>
              <a:t>RAG:</a:t>
            </a:r>
            <a:r>
              <a:rPr lang="zh-TW" altLang="en-US" sz="2400" dirty="0">
                <a:latin typeface="Microsoft JhengHei" panose="020B0604030504040204" pitchFamily="34" charset="-120"/>
                <a:ea typeface="Microsoft JhengHei" panose="020B0604030504040204" pitchFamily="34" charset="-120"/>
              </a:rPr>
              <a:t> 搜尋到的資料越多越好嗎？</a:t>
            </a:r>
            <a:r>
              <a:rPr lang="en-US" altLang="zh-TW" sz="2400" dirty="0">
                <a:latin typeface="Microsoft JhengHei" panose="020B0604030504040204" pitchFamily="34" charset="-120"/>
                <a:ea typeface="Microsoft JhengHei" panose="020B0604030504040204" pitchFamily="34" charset="-120"/>
              </a:rPr>
              <a:t> </a:t>
            </a:r>
            <a:endParaRPr lang="zh-TW" altLang="en-US" sz="2400" dirty="0">
              <a:latin typeface="Microsoft JhengHei" panose="020B0604030504040204" pitchFamily="34" charset="-120"/>
              <a:ea typeface="Microsoft JhengHei" panose="020B0604030504040204" pitchFamily="34" charset="-120"/>
            </a:endParaRPr>
          </a:p>
        </p:txBody>
      </p:sp>
      <p:sp>
        <p:nvSpPr>
          <p:cNvPr id="5" name="文字方塊 4"/>
          <p:cNvSpPr txBox="1"/>
          <p:nvPr/>
        </p:nvSpPr>
        <p:spPr>
          <a:xfrm>
            <a:off x="7029450" y="666532"/>
            <a:ext cx="4762500" cy="646331"/>
          </a:xfrm>
          <a:prstGeom prst="rect">
            <a:avLst/>
          </a:prstGeom>
          <a:noFill/>
        </p:spPr>
        <p:txBody>
          <a:bodyPr wrap="square">
            <a:spAutoFit/>
          </a:bodyPr>
          <a:lstStyle/>
          <a:p>
            <a:r>
              <a:rPr lang="en-US" altLang="zh-TW" dirty="0"/>
              <a:t>https://www.databricks.com/blog/long-context-rag-performance-llms</a:t>
            </a:r>
            <a:endParaRPr lang="zh-TW" altLang="en-US" dirty="0"/>
          </a:p>
        </p:txBody>
      </p:sp>
      <p:pic>
        <p:nvPicPr>
          <p:cNvPr id="2050" name="Picture 2" descr="Line graph of long context performance of GPT, Claude, Llama, Mistral and DBRX models"/>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855050" y="2338387"/>
            <a:ext cx="8803550" cy="4351338"/>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單箭頭接點 5"/>
          <p:cNvCxnSpPr/>
          <p:nvPr/>
        </p:nvCxnSpPr>
        <p:spPr>
          <a:xfrm>
            <a:off x="3746500" y="6070600"/>
            <a:ext cx="2476500" cy="0"/>
          </a:xfrm>
          <a:prstGeom prst="straightConnector1">
            <a:avLst/>
          </a:prstGeom>
          <a:ln w="5715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線單箭頭接點 6"/>
          <p:cNvCxnSpPr/>
          <p:nvPr/>
        </p:nvCxnSpPr>
        <p:spPr>
          <a:xfrm>
            <a:off x="6400800" y="6070600"/>
            <a:ext cx="2476500" cy="0"/>
          </a:xfrm>
          <a:prstGeom prst="straightConnector1">
            <a:avLst/>
          </a:prstGeom>
          <a:ln w="5715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p:cNvSpPr txBox="1"/>
          <p:nvPr/>
        </p:nvSpPr>
        <p:spPr>
          <a:xfrm>
            <a:off x="4229100" y="5172134"/>
            <a:ext cx="1511300" cy="830997"/>
          </a:xfrm>
          <a:prstGeom prst="rect">
            <a:avLst/>
          </a:prstGeom>
          <a:noFill/>
        </p:spPr>
        <p:txBody>
          <a:bodyPr wrap="square" rtlCol="0">
            <a:spAutoFit/>
          </a:bodyPr>
          <a:lstStyle/>
          <a:p>
            <a:pPr algn="ctr"/>
            <a:r>
              <a:rPr lang="zh-TW" altLang="en-US" sz="2400" dirty="0">
                <a:solidFill>
                  <a:schemeClr val="bg1"/>
                </a:solidFill>
                <a:latin typeface="Microsoft JhengHei" panose="020B0604030504040204" pitchFamily="34" charset="-120"/>
                <a:ea typeface="Microsoft JhengHei" panose="020B0604030504040204" pitchFamily="34" charset="-120"/>
              </a:rPr>
              <a:t>資料越多</a:t>
            </a:r>
            <a:endParaRPr lang="en-US" altLang="zh-TW" sz="2400" dirty="0">
              <a:solidFill>
                <a:schemeClr val="bg1"/>
              </a:solidFill>
              <a:latin typeface="Microsoft JhengHei" panose="020B0604030504040204" pitchFamily="34" charset="-120"/>
              <a:ea typeface="Microsoft JhengHei" panose="020B0604030504040204" pitchFamily="34" charset="-120"/>
            </a:endParaRPr>
          </a:p>
          <a:p>
            <a:pPr algn="ctr"/>
            <a:r>
              <a:rPr lang="zh-TW" altLang="en-US" sz="2400" dirty="0">
                <a:solidFill>
                  <a:schemeClr val="bg1"/>
                </a:solidFill>
                <a:latin typeface="Microsoft JhengHei" panose="020B0604030504040204" pitchFamily="34" charset="-120"/>
                <a:ea typeface="Microsoft JhengHei" panose="020B0604030504040204" pitchFamily="34" charset="-120"/>
              </a:rPr>
              <a:t>結果越好</a:t>
            </a:r>
            <a:endParaRPr lang="zh-TW" altLang="en-US" sz="2400" dirty="0">
              <a:solidFill>
                <a:schemeClr val="bg1"/>
              </a:solidFill>
              <a:latin typeface="Microsoft JhengHei" panose="020B0604030504040204" pitchFamily="34" charset="-120"/>
              <a:ea typeface="Microsoft JhengHei" panose="020B0604030504040204" pitchFamily="34" charset="-120"/>
            </a:endParaRPr>
          </a:p>
        </p:txBody>
      </p:sp>
      <p:sp>
        <p:nvSpPr>
          <p:cNvPr id="9" name="文字方塊 8"/>
          <p:cNvSpPr txBox="1"/>
          <p:nvPr/>
        </p:nvSpPr>
        <p:spPr>
          <a:xfrm>
            <a:off x="6883400" y="5172133"/>
            <a:ext cx="1511300" cy="830997"/>
          </a:xfrm>
          <a:prstGeom prst="rect">
            <a:avLst/>
          </a:prstGeom>
          <a:noFill/>
        </p:spPr>
        <p:txBody>
          <a:bodyPr wrap="square" rtlCol="0">
            <a:spAutoFit/>
          </a:bodyPr>
          <a:lstStyle/>
          <a:p>
            <a:pPr algn="ctr"/>
            <a:r>
              <a:rPr lang="zh-TW" altLang="en-US" sz="2400" dirty="0">
                <a:solidFill>
                  <a:schemeClr val="bg1"/>
                </a:solidFill>
                <a:latin typeface="Microsoft JhengHei" panose="020B0604030504040204" pitchFamily="34" charset="-120"/>
                <a:ea typeface="Microsoft JhengHei" panose="020B0604030504040204" pitchFamily="34" charset="-120"/>
              </a:rPr>
              <a:t>資料太多看不下去</a:t>
            </a:r>
            <a:endParaRPr lang="zh-TW" altLang="en-US" sz="2400" dirty="0">
              <a:solidFill>
                <a:schemeClr val="bg1"/>
              </a:solidFill>
              <a:latin typeface="Microsoft JhengHei" panose="020B0604030504040204" pitchFamily="34" charset="-120"/>
              <a:ea typeface="Microsoft JhengHei" panose="020B0604030504040204" pitchFamily="34" charset="-120"/>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Lost in the Middle</a:t>
            </a:r>
            <a:endParaRPr lang="zh-TW" altLang="en-US" dirty="0"/>
          </a:p>
        </p:txBody>
      </p:sp>
      <p:sp>
        <p:nvSpPr>
          <p:cNvPr id="6" name="文字方塊 5"/>
          <p:cNvSpPr txBox="1"/>
          <p:nvPr/>
        </p:nvSpPr>
        <p:spPr>
          <a:xfrm>
            <a:off x="838200" y="1346757"/>
            <a:ext cx="6096000" cy="369332"/>
          </a:xfrm>
          <a:prstGeom prst="rect">
            <a:avLst/>
          </a:prstGeom>
          <a:noFill/>
        </p:spPr>
        <p:txBody>
          <a:bodyPr wrap="square">
            <a:spAutoFit/>
          </a:bodyPr>
          <a:lstStyle/>
          <a:p>
            <a:r>
              <a:rPr lang="zh-TW" altLang="en-US" dirty="0"/>
              <a:t>https://arxiv.org/abs/2307.03172</a:t>
            </a:r>
            <a:endParaRPr lang="zh-TW" altLang="en-US" dirty="0"/>
          </a:p>
        </p:txBody>
      </p:sp>
      <p:pic>
        <p:nvPicPr>
          <p:cNvPr id="8" name="圖片 7"/>
          <p:cNvPicPr>
            <a:picLocks noChangeAspect="1"/>
          </p:cNvPicPr>
          <p:nvPr/>
        </p:nvPicPr>
        <p:blipFill>
          <a:blip r:embed="rId1"/>
          <a:stretch>
            <a:fillRect/>
          </a:stretch>
        </p:blipFill>
        <p:spPr>
          <a:xfrm>
            <a:off x="5281326" y="296862"/>
            <a:ext cx="6650006" cy="6264275"/>
          </a:xfrm>
          <a:prstGeom prst="rect">
            <a:avLst/>
          </a:prstGeom>
        </p:spPr>
      </p:pic>
      <p:sp>
        <p:nvSpPr>
          <p:cNvPr id="9" name="文字方塊 8"/>
          <p:cNvSpPr txBox="1"/>
          <p:nvPr/>
        </p:nvSpPr>
        <p:spPr>
          <a:xfrm>
            <a:off x="838200" y="2149100"/>
            <a:ext cx="3771900" cy="523220"/>
          </a:xfrm>
          <a:prstGeom prst="rect">
            <a:avLst/>
          </a:prstGeom>
          <a:noFill/>
        </p:spPr>
        <p:txBody>
          <a:bodyPr wrap="square" rtlCol="0">
            <a:spAutoFit/>
          </a:bodyPr>
          <a:lstStyle/>
          <a:p>
            <a:r>
              <a:rPr lang="zh-TW" altLang="en-US" sz="2800" dirty="0">
                <a:latin typeface="Microsoft JhengHei" panose="020B0604030504040204" pitchFamily="34" charset="-120"/>
                <a:ea typeface="Microsoft JhengHei" panose="020B0604030504040204" pitchFamily="34" charset="-120"/>
              </a:rPr>
              <a:t>比較記得開頭跟結尾？</a:t>
            </a:r>
            <a:endParaRPr lang="zh-TW" altLang="en-US" sz="2800" dirty="0">
              <a:latin typeface="Microsoft JhengHei" panose="020B0604030504040204" pitchFamily="34" charset="-120"/>
              <a:ea typeface="Microsoft JhengHei" panose="020B0604030504040204" pitchFamily="34" charset="-120"/>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Lost in the Conversation? </a:t>
            </a:r>
            <a:endParaRPr lang="zh-TW" altLang="en-US" dirty="0"/>
          </a:p>
        </p:txBody>
      </p:sp>
      <p:sp>
        <p:nvSpPr>
          <p:cNvPr id="3" name="內容版面配置區 2"/>
          <p:cNvSpPr>
            <a:spLocks noGrp="1"/>
          </p:cNvSpPr>
          <p:nvPr>
            <p:ph idx="1"/>
          </p:nvPr>
        </p:nvSpPr>
        <p:spPr/>
        <p:txBody>
          <a:bodyPr/>
          <a:lstStyle/>
          <a:p>
            <a:endParaRPr lang="zh-TW" altLang="en-US" dirty="0"/>
          </a:p>
        </p:txBody>
      </p:sp>
      <p:pic>
        <p:nvPicPr>
          <p:cNvPr id="5122"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42875" y="1456912"/>
            <a:ext cx="11906250" cy="2832386"/>
          </a:xfrm>
          <a:prstGeom prst="rect">
            <a:avLst/>
          </a:prstGeom>
          <a:noFill/>
          <a:extLst>
            <a:ext uri="{909E8E84-426E-40DD-AFC4-6F175D3DCCD1}">
              <a14:hiddenFill xmlns:a14="http://schemas.microsoft.com/office/drawing/2010/main">
                <a:solidFill>
                  <a:srgbClr val="FFFFFF"/>
                </a:solidFill>
              </a14:hiddenFill>
            </a:ext>
          </a:extLst>
        </p:spPr>
      </p:pic>
      <p:sp>
        <p:nvSpPr>
          <p:cNvPr id="5" name="文字方塊 4"/>
          <p:cNvSpPr txBox="1"/>
          <p:nvPr/>
        </p:nvSpPr>
        <p:spPr>
          <a:xfrm>
            <a:off x="8477250" y="681037"/>
            <a:ext cx="6096000" cy="369332"/>
          </a:xfrm>
          <a:prstGeom prst="rect">
            <a:avLst/>
          </a:prstGeom>
          <a:noFill/>
        </p:spPr>
        <p:txBody>
          <a:bodyPr wrap="square">
            <a:spAutoFit/>
          </a:bodyPr>
          <a:lstStyle/>
          <a:p>
            <a:r>
              <a:rPr lang="zh-TW" altLang="en-US" dirty="0"/>
              <a:t>https://arxiv.org/pdf/2505.06120v1</a:t>
            </a:r>
            <a:endParaRPr lang="zh-TW" altLang="en-US" dirty="0"/>
          </a:p>
        </p:txBody>
      </p:sp>
      <p:pic>
        <p:nvPicPr>
          <p:cNvPr id="6" name="圖片 5"/>
          <p:cNvPicPr>
            <a:picLocks noChangeAspect="1"/>
          </p:cNvPicPr>
          <p:nvPr/>
        </p:nvPicPr>
        <p:blipFill>
          <a:blip r:embed="rId2"/>
          <a:stretch>
            <a:fillRect/>
          </a:stretch>
        </p:blipFill>
        <p:spPr>
          <a:xfrm>
            <a:off x="1699680" y="1352559"/>
            <a:ext cx="10349445" cy="5297469"/>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p:cNvPicPr>
            <a:picLocks noChangeAspect="1"/>
          </p:cNvPicPr>
          <p:nvPr/>
        </p:nvPicPr>
        <p:blipFill>
          <a:blip r:embed="rId1"/>
          <a:stretch>
            <a:fillRect/>
          </a:stretch>
        </p:blipFill>
        <p:spPr>
          <a:xfrm>
            <a:off x="1327466" y="3020173"/>
            <a:ext cx="9537067" cy="1962241"/>
          </a:xfrm>
          <a:prstGeom prst="rect">
            <a:avLst/>
          </a:prstGeom>
        </p:spPr>
      </p:pic>
      <p:sp>
        <p:nvSpPr>
          <p:cNvPr id="2" name="標題 1"/>
          <p:cNvSpPr>
            <a:spLocks noGrp="1"/>
          </p:cNvSpPr>
          <p:nvPr>
            <p:ph type="title"/>
          </p:nvPr>
        </p:nvSpPr>
        <p:spPr/>
        <p:txBody>
          <a:bodyPr/>
          <a:lstStyle/>
          <a:p>
            <a:r>
              <a:rPr lang="en-US" altLang="zh-TW" dirty="0"/>
              <a:t>"Context Rot: How Increasing Input Tokens Impacts LLM Performance"</a:t>
            </a:r>
            <a:endParaRPr lang="zh-TW" altLang="en-US" dirty="0"/>
          </a:p>
        </p:txBody>
      </p:sp>
      <p:sp>
        <p:nvSpPr>
          <p:cNvPr id="3" name="內容版面配置區 2"/>
          <p:cNvSpPr>
            <a:spLocks noGrp="1"/>
          </p:cNvSpPr>
          <p:nvPr>
            <p:ph idx="1"/>
          </p:nvPr>
        </p:nvSpPr>
        <p:spPr/>
        <p:txBody>
          <a:bodyPr/>
          <a:lstStyle/>
          <a:p>
            <a:endParaRPr lang="zh-TW" altLang="en-US" dirty="0"/>
          </a:p>
        </p:txBody>
      </p:sp>
      <p:pic>
        <p:nvPicPr>
          <p:cNvPr id="1026" name="Picture 2" descr="Claude Sonnet 4, GPT-4.1, Qwen3-32B, and Gemini 2.5 Flash on Repeated Words Task"/>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73098" y="1690688"/>
            <a:ext cx="7369968" cy="4896687"/>
          </a:xfrm>
          <a:prstGeom prst="rect">
            <a:avLst/>
          </a:prstGeom>
          <a:noFill/>
          <a:extLst>
            <a:ext uri="{909E8E84-426E-40DD-AFC4-6F175D3DCCD1}">
              <a14:hiddenFill xmlns:a14="http://schemas.microsoft.com/office/drawing/2010/main">
                <a:solidFill>
                  <a:srgbClr val="FFFFFF"/>
                </a:solidFill>
              </a14:hiddenFill>
            </a:ext>
          </a:extLst>
        </p:spPr>
      </p:pic>
      <p:sp>
        <p:nvSpPr>
          <p:cNvPr id="6" name="文字方塊 5"/>
          <p:cNvSpPr txBox="1"/>
          <p:nvPr/>
        </p:nvSpPr>
        <p:spPr>
          <a:xfrm>
            <a:off x="7505700" y="1108553"/>
            <a:ext cx="6096000" cy="369332"/>
          </a:xfrm>
          <a:prstGeom prst="rect">
            <a:avLst/>
          </a:prstGeom>
          <a:noFill/>
        </p:spPr>
        <p:txBody>
          <a:bodyPr wrap="square">
            <a:spAutoFit/>
          </a:bodyPr>
          <a:lstStyle/>
          <a:p>
            <a:r>
              <a:rPr lang="zh-TW" altLang="en-US" dirty="0"/>
              <a:t>https://research.trychroma.com/context-rot</a:t>
            </a:r>
            <a:endParaRPr lang="zh-TW" altLang="en-US" dirty="0"/>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9" name="Rectangle 8"/>
          <p:cNvSpPr>
            <a:spLocks noGrp="1" noRot="1" noChangeAspect="1" noMove="1" noResize="1" noEditPoints="1" noAdjustHandles="1" noChangeArrowheads="1" noChangeShapeType="1" noTextEdit="1"/>
          </p:cNvSpPr>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齒輪的特寫"/>
          <p:cNvPicPr>
            <a:picLocks noChangeAspect="1"/>
          </p:cNvPicPr>
          <p:nvPr/>
        </p:nvPicPr>
        <p:blipFill>
          <a:blip r:embed="rId1">
            <a:alphaModFix amt="50000"/>
          </a:blip>
          <a:srcRect t="22980" b="2020"/>
          <a:stretch>
            <a:fillRect/>
          </a:stretch>
        </p:blipFill>
        <p:spPr>
          <a:xfrm>
            <a:off x="20" y="1"/>
            <a:ext cx="12191980" cy="6857999"/>
          </a:xfrm>
          <a:prstGeom prst="rect">
            <a:avLst/>
          </a:prstGeom>
        </p:spPr>
      </p:pic>
      <p:sp>
        <p:nvSpPr>
          <p:cNvPr id="2" name="標題 1"/>
          <p:cNvSpPr>
            <a:spLocks noGrp="1"/>
          </p:cNvSpPr>
          <p:nvPr>
            <p:ph type="ctrTitle"/>
          </p:nvPr>
        </p:nvSpPr>
        <p:spPr>
          <a:xfrm>
            <a:off x="1524000" y="1122362"/>
            <a:ext cx="9144000" cy="2900518"/>
          </a:xfrm>
        </p:spPr>
        <p:txBody>
          <a:bodyPr>
            <a:normAutofit/>
          </a:bodyPr>
          <a:lstStyle/>
          <a:p>
            <a:r>
              <a:rPr lang="en-US" altLang="zh-TW" b="1" dirty="0">
                <a:solidFill>
                  <a:srgbClr val="FFFFFF"/>
                </a:solidFill>
                <a:latin typeface="Microsoft JhengHei" panose="020B0604030504040204" pitchFamily="34" charset="-120"/>
                <a:ea typeface="Microsoft JhengHei" panose="020B0604030504040204" pitchFamily="34" charset="-120"/>
              </a:rPr>
              <a:t>Context Engineering </a:t>
            </a:r>
            <a:br>
              <a:rPr lang="en-US" altLang="zh-TW" b="1" dirty="0">
                <a:solidFill>
                  <a:srgbClr val="FFFFFF"/>
                </a:solidFill>
                <a:latin typeface="Microsoft JhengHei" panose="020B0604030504040204" pitchFamily="34" charset="-120"/>
                <a:ea typeface="Microsoft JhengHei" panose="020B0604030504040204" pitchFamily="34" charset="-120"/>
              </a:rPr>
            </a:br>
            <a:r>
              <a:rPr lang="zh-TW" altLang="en-US" b="1" dirty="0">
                <a:solidFill>
                  <a:srgbClr val="FFFFFF"/>
                </a:solidFill>
                <a:latin typeface="Microsoft JhengHei" panose="020B0604030504040204" pitchFamily="34" charset="-120"/>
                <a:ea typeface="Microsoft JhengHei" panose="020B0604030504040204" pitchFamily="34" charset="-120"/>
              </a:rPr>
              <a:t>的基本方法</a:t>
            </a:r>
            <a:endParaRPr lang="zh-TW" altLang="en-US" b="1" dirty="0">
              <a:solidFill>
                <a:srgbClr val="FFFFFF"/>
              </a:solidFill>
              <a:latin typeface="Microsoft JhengHei" panose="020B0604030504040204" pitchFamily="34" charset="-120"/>
              <a:ea typeface="Microsoft JhengHei" panose="020B0604030504040204" pitchFamily="34" charset="-120"/>
            </a:endParaRPr>
          </a:p>
        </p:txBody>
      </p:sp>
      <p:sp>
        <p:nvSpPr>
          <p:cNvPr id="3" name="副標題 2"/>
          <p:cNvSpPr>
            <a:spLocks noGrp="1"/>
          </p:cNvSpPr>
          <p:nvPr>
            <p:ph type="subTitle" idx="1"/>
          </p:nvPr>
        </p:nvSpPr>
        <p:spPr>
          <a:xfrm>
            <a:off x="1524000" y="4159404"/>
            <a:ext cx="9144000" cy="1098395"/>
          </a:xfrm>
        </p:spPr>
        <p:txBody>
          <a:bodyPr>
            <a:normAutofit/>
          </a:bodyPr>
          <a:lstStyle/>
          <a:p>
            <a:endParaRPr lang="zh-TW" altLang="en-US">
              <a:solidFill>
                <a:srgbClr val="FFFFFF"/>
              </a:solidFill>
            </a:endParaRPr>
          </a:p>
        </p:txBody>
      </p:sp>
    </p:spTree>
  </p:cSld>
  <p:clrMapOvr>
    <a:overrideClrMapping bg1="dk1" tx1="lt1" bg2="dk2" tx2="lt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latin typeface="Microsoft JhengHei" panose="020B0604030504040204" pitchFamily="34" charset="-120"/>
                <a:ea typeface="Microsoft JhengHei" panose="020B0604030504040204" pitchFamily="34" charset="-120"/>
              </a:rPr>
              <a:t>Context Engineering </a:t>
            </a:r>
            <a:r>
              <a:rPr lang="zh-TW" altLang="en-US" dirty="0">
                <a:latin typeface="Microsoft JhengHei" panose="020B0604030504040204" pitchFamily="34" charset="-120"/>
                <a:ea typeface="Microsoft JhengHei" panose="020B0604030504040204" pitchFamily="34" charset="-120"/>
              </a:rPr>
              <a:t>的基本概念</a:t>
            </a:r>
            <a:endParaRPr lang="zh-TW" altLang="en-US" dirty="0">
              <a:latin typeface="Microsoft JhengHei" panose="020B0604030504040204" pitchFamily="34" charset="-120"/>
              <a:ea typeface="Microsoft JhengHei" panose="020B0604030504040204" pitchFamily="34" charset="-120"/>
            </a:endParaRPr>
          </a:p>
        </p:txBody>
      </p:sp>
      <p:sp>
        <p:nvSpPr>
          <p:cNvPr id="4" name="矩形: 圓角 3"/>
          <p:cNvSpPr/>
          <p:nvPr/>
        </p:nvSpPr>
        <p:spPr>
          <a:xfrm>
            <a:off x="7201363" y="3429000"/>
            <a:ext cx="1693981" cy="1097684"/>
          </a:xfrm>
          <a:prstGeom prst="roundRect">
            <a:avLst/>
          </a:prstGeom>
          <a:solidFill>
            <a:srgbClr val="4472C4">
              <a:lumMod val="20000"/>
              <a:lumOff val="80000"/>
            </a:srgbClr>
          </a:solidFill>
          <a:ln w="57150" cap="flat" cmpd="sng" algn="ctr">
            <a:solidFill>
              <a:sysClr val="windowText" lastClr="000000"/>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語言</a:t>
            </a:r>
            <a:endPar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模型</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5" name="直線單箭頭接點 4"/>
          <p:cNvCxnSpPr/>
          <p:nvPr/>
        </p:nvCxnSpPr>
        <p:spPr>
          <a:xfrm>
            <a:off x="6414384" y="3977843"/>
            <a:ext cx="735688" cy="0"/>
          </a:xfrm>
          <a:prstGeom prst="straightConnector1">
            <a:avLst/>
          </a:prstGeom>
          <a:noFill/>
          <a:ln w="57150" cap="flat" cmpd="sng" algn="ctr">
            <a:solidFill>
              <a:sysClr val="windowText" lastClr="000000"/>
            </a:solidFill>
            <a:prstDash val="solid"/>
            <a:miter lim="800000"/>
            <a:tailEnd type="triangle"/>
          </a:ln>
          <a:effectLst/>
        </p:spPr>
      </p:cxnSp>
      <p:sp>
        <p:nvSpPr>
          <p:cNvPr id="6" name="文字方塊 5"/>
          <p:cNvSpPr txBox="1"/>
          <p:nvPr/>
        </p:nvSpPr>
        <p:spPr>
          <a:xfrm>
            <a:off x="4997594" y="3747009"/>
            <a:ext cx="1745494"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輸入</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7" name="文字方塊 6"/>
          <p:cNvSpPr txBox="1"/>
          <p:nvPr/>
        </p:nvSpPr>
        <p:spPr>
          <a:xfrm>
            <a:off x="9545974" y="3591372"/>
            <a:ext cx="1269867"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下一個</a:t>
            </a:r>
            <a:r>
              <a:rPr kumimoji="0" lang="en-US" altLang="zh-TW"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 token</a:t>
            </a:r>
            <a:endParaRPr kumimoji="0" lang="zh-TW" altLang="en-US" sz="24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8" name="直線單箭頭接點 7"/>
          <p:cNvCxnSpPr/>
          <p:nvPr/>
        </p:nvCxnSpPr>
        <p:spPr>
          <a:xfrm>
            <a:off x="8997927" y="3977842"/>
            <a:ext cx="548047" cy="0"/>
          </a:xfrm>
          <a:prstGeom prst="straightConnector1">
            <a:avLst/>
          </a:prstGeom>
          <a:noFill/>
          <a:ln w="57150" cap="flat" cmpd="sng" algn="ctr">
            <a:solidFill>
              <a:sysClr val="windowText" lastClr="000000"/>
            </a:solidFill>
            <a:prstDash val="solid"/>
            <a:miter lim="800000"/>
            <a:tailEnd type="triangle"/>
          </a:ln>
          <a:effectLst/>
        </p:spPr>
      </p:cxnSp>
      <p:sp>
        <p:nvSpPr>
          <p:cNvPr id="9" name="文字方塊 8"/>
          <p:cNvSpPr txBox="1"/>
          <p:nvPr/>
        </p:nvSpPr>
        <p:spPr>
          <a:xfrm>
            <a:off x="1371600" y="2150924"/>
            <a:ext cx="3790950"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2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把需要的放進去</a:t>
            </a:r>
            <a:endParaRPr kumimoji="0" lang="zh-TW" altLang="en-US" sz="2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10" name="文字方塊 9"/>
          <p:cNvSpPr txBox="1"/>
          <p:nvPr/>
        </p:nvSpPr>
        <p:spPr>
          <a:xfrm>
            <a:off x="1371600" y="5281539"/>
            <a:ext cx="4838700"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2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不需要的清出來</a:t>
            </a:r>
            <a:endParaRPr kumimoji="0" lang="zh-TW" altLang="en-US" sz="2800" b="0" i="0" u="none" strike="noStrike" kern="120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pic>
        <p:nvPicPr>
          <p:cNvPr id="102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769049" y="4777065"/>
            <a:ext cx="1097683" cy="109768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59492" y="2013308"/>
            <a:ext cx="1097683" cy="1097683"/>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直線單箭頭接點 11"/>
          <p:cNvCxnSpPr/>
          <p:nvPr/>
        </p:nvCxnSpPr>
        <p:spPr>
          <a:xfrm>
            <a:off x="3585795" y="2745562"/>
            <a:ext cx="1768041" cy="1072865"/>
          </a:xfrm>
          <a:prstGeom prst="straightConnector1">
            <a:avLst/>
          </a:prstGeom>
          <a:ln w="571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單箭頭接點 12"/>
          <p:cNvCxnSpPr/>
          <p:nvPr/>
        </p:nvCxnSpPr>
        <p:spPr>
          <a:xfrm flipH="1">
            <a:off x="3551559" y="4005590"/>
            <a:ext cx="1768041" cy="1072865"/>
          </a:xfrm>
          <a:prstGeom prst="straightConnector1">
            <a:avLst/>
          </a:prstGeom>
          <a:ln w="571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6" name="直線單箭頭接點 15"/>
          <p:cNvCxnSpPr/>
          <p:nvPr/>
        </p:nvCxnSpPr>
        <p:spPr>
          <a:xfrm rot="16200000">
            <a:off x="7665825" y="2984838"/>
            <a:ext cx="735688" cy="0"/>
          </a:xfrm>
          <a:prstGeom prst="straightConnector1">
            <a:avLst/>
          </a:prstGeom>
          <a:noFill/>
          <a:ln w="57150" cap="flat" cmpd="sng" algn="ctr">
            <a:solidFill>
              <a:srgbClr val="FF0000"/>
            </a:solidFill>
            <a:prstDash val="solid"/>
            <a:miter lim="800000"/>
            <a:headEnd type="none" w="med" len="med"/>
            <a:tailEnd type="none" w="med" len="med"/>
          </a:ln>
          <a:effectLst/>
        </p:spPr>
      </p:cxnSp>
      <p:cxnSp>
        <p:nvCxnSpPr>
          <p:cNvPr id="17" name="直線單箭頭接點 16"/>
          <p:cNvCxnSpPr/>
          <p:nvPr/>
        </p:nvCxnSpPr>
        <p:spPr>
          <a:xfrm flipH="1">
            <a:off x="6067547" y="2622412"/>
            <a:ext cx="1966122" cy="0"/>
          </a:xfrm>
          <a:prstGeom prst="straightConnector1">
            <a:avLst/>
          </a:prstGeom>
          <a:noFill/>
          <a:ln w="57150" cap="flat" cmpd="sng" algn="ctr">
            <a:solidFill>
              <a:srgbClr val="FF0000"/>
            </a:solidFill>
            <a:prstDash val="solid"/>
            <a:miter lim="800000"/>
            <a:tailEnd type="triangle"/>
          </a:ln>
          <a:effectLst/>
        </p:spPr>
      </p:cxnSp>
      <p:cxnSp>
        <p:nvCxnSpPr>
          <p:cNvPr id="20" name="直線單箭頭接點 19"/>
          <p:cNvCxnSpPr/>
          <p:nvPr/>
        </p:nvCxnSpPr>
        <p:spPr>
          <a:xfrm flipV="1">
            <a:off x="8033669" y="4590299"/>
            <a:ext cx="0" cy="915151"/>
          </a:xfrm>
          <a:prstGeom prst="straightConnector1">
            <a:avLst/>
          </a:prstGeom>
          <a:noFill/>
          <a:ln w="57150" cap="flat" cmpd="sng" algn="ctr">
            <a:solidFill>
              <a:srgbClr val="FF0000"/>
            </a:solidFill>
            <a:prstDash val="solid"/>
            <a:miter lim="800000"/>
            <a:headEnd type="none" w="med" len="med"/>
            <a:tailEnd type="none" w="med" len="med"/>
          </a:ln>
          <a:effectLst/>
        </p:spPr>
      </p:cxnSp>
      <p:cxnSp>
        <p:nvCxnSpPr>
          <p:cNvPr id="22" name="直線單箭頭接點 21"/>
          <p:cNvCxnSpPr/>
          <p:nvPr/>
        </p:nvCxnSpPr>
        <p:spPr>
          <a:xfrm flipH="1">
            <a:off x="6096000" y="5518012"/>
            <a:ext cx="1966122" cy="0"/>
          </a:xfrm>
          <a:prstGeom prst="straightConnector1">
            <a:avLst/>
          </a:prstGeom>
          <a:noFill/>
          <a:ln w="57150" cap="flat" cmpd="sng" algn="ctr">
            <a:solidFill>
              <a:srgbClr val="FF0000"/>
            </a:solidFill>
            <a:prstDash val="solid"/>
            <a:miter lim="800000"/>
            <a:tailEnd type="triangle"/>
          </a:ln>
          <a:effectLst/>
        </p:spPr>
      </p:cxn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常用招數</a:t>
            </a:r>
            <a:endParaRPr lang="zh-TW" altLang="en-US" dirty="0">
              <a:latin typeface="Microsoft JhengHei" panose="020B0604030504040204" pitchFamily="34" charset="-120"/>
              <a:ea typeface="Microsoft JhengHei" panose="020B0604030504040204" pitchFamily="34" charset="-120"/>
            </a:endParaRPr>
          </a:p>
        </p:txBody>
      </p:sp>
      <p:graphicFrame>
        <p:nvGraphicFramePr>
          <p:cNvPr id="4" name="內容版面配置區 3"/>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挑選需要的內容</a:t>
            </a:r>
            <a:endParaRPr lang="zh-TW" altLang="en-US" dirty="0">
              <a:latin typeface="Microsoft JhengHei" panose="020B0604030504040204" pitchFamily="34" charset="-120"/>
              <a:ea typeface="Microsoft JhengHei" panose="020B0604030504040204" pitchFamily="34" charset="-120"/>
            </a:endParaRPr>
          </a:p>
        </p:txBody>
      </p:sp>
      <p:sp>
        <p:nvSpPr>
          <p:cNvPr id="3" name="內容版面配置區 2"/>
          <p:cNvSpPr>
            <a:spLocks noGrp="1"/>
          </p:cNvSpPr>
          <p:nvPr>
            <p:ph idx="1"/>
          </p:nvPr>
        </p:nvSpPr>
        <p:spPr/>
        <p:txBody>
          <a:bodyPr/>
          <a:lstStyle/>
          <a:p>
            <a:r>
              <a:rPr lang="en-US" altLang="zh-TW" b="1" dirty="0"/>
              <a:t>RAG</a:t>
            </a:r>
            <a:endParaRPr lang="en-US" altLang="zh-TW" b="1" dirty="0"/>
          </a:p>
          <a:p>
            <a:endParaRPr lang="zh-TW" altLang="en-US" dirty="0"/>
          </a:p>
        </p:txBody>
      </p:sp>
      <p:sp>
        <p:nvSpPr>
          <p:cNvPr id="4" name="矩形: 圓角 3"/>
          <p:cNvSpPr/>
          <p:nvPr/>
        </p:nvSpPr>
        <p:spPr>
          <a:xfrm>
            <a:off x="4509869" y="2331316"/>
            <a:ext cx="1397155" cy="1097684"/>
          </a:xfrm>
          <a:prstGeom prst="roundRect">
            <a:avLst/>
          </a:prstGeom>
          <a:solidFill>
            <a:srgbClr val="4472C4">
              <a:lumMod val="20000"/>
              <a:lumOff val="80000"/>
            </a:srgbClr>
          </a:solidFill>
          <a:ln w="5715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語言 </a:t>
            </a:r>
            <a:endPar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ctr" defTabSz="914400" eaLnBrk="1" fontAlgn="auto" latinLnBrk="0" hangingPunct="1">
              <a:lnSpc>
                <a:spcPct val="100000"/>
              </a:lnSpc>
              <a:spcBef>
                <a:spcPts val="0"/>
              </a:spcBef>
              <a:spcAft>
                <a:spcPts val="0"/>
              </a:spcAft>
              <a:buClrTx/>
              <a:buSzTx/>
              <a:buFontTx/>
              <a:buNone/>
              <a:defRPr/>
            </a:pPr>
            <a:r>
              <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模型</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5" name="直線單箭頭接點 4"/>
          <p:cNvCxnSpPr/>
          <p:nvPr/>
        </p:nvCxnSpPr>
        <p:spPr>
          <a:xfrm>
            <a:off x="3529584" y="2904968"/>
            <a:ext cx="840313" cy="0"/>
          </a:xfrm>
          <a:prstGeom prst="straightConnector1">
            <a:avLst/>
          </a:prstGeom>
          <a:noFill/>
          <a:ln w="57150" cap="flat" cmpd="sng" algn="ctr">
            <a:solidFill>
              <a:sysClr val="windowText" lastClr="000000"/>
            </a:solidFill>
            <a:prstDash val="solid"/>
            <a:miter lim="800000"/>
            <a:tailEnd type="triangle"/>
          </a:ln>
          <a:effectLst/>
        </p:spPr>
      </p:cxnSp>
      <p:sp>
        <p:nvSpPr>
          <p:cNvPr id="7" name="矩形: 圓角 6"/>
          <p:cNvSpPr/>
          <p:nvPr/>
        </p:nvSpPr>
        <p:spPr>
          <a:xfrm>
            <a:off x="9508589" y="2331316"/>
            <a:ext cx="1397155" cy="1097684"/>
          </a:xfrm>
          <a:prstGeom prst="roundRect">
            <a:avLst/>
          </a:prstGeom>
          <a:solidFill>
            <a:srgbClr val="4472C4">
              <a:lumMod val="20000"/>
              <a:lumOff val="80000"/>
            </a:srgbClr>
          </a:solidFill>
          <a:ln w="5715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語言 </a:t>
            </a:r>
            <a:endPar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ctr" defTabSz="914400" eaLnBrk="1" fontAlgn="auto" latinLnBrk="0" hangingPunct="1">
              <a:lnSpc>
                <a:spcPct val="100000"/>
              </a:lnSpc>
              <a:spcBef>
                <a:spcPts val="0"/>
              </a:spcBef>
              <a:spcAft>
                <a:spcPts val="0"/>
              </a:spcAft>
              <a:buClrTx/>
              <a:buSzTx/>
              <a:buFontTx/>
              <a:buNone/>
              <a:defRPr/>
            </a:pPr>
            <a:r>
              <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模型</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8" name="直線單箭頭接點 7"/>
          <p:cNvCxnSpPr/>
          <p:nvPr/>
        </p:nvCxnSpPr>
        <p:spPr>
          <a:xfrm>
            <a:off x="8528304" y="2904968"/>
            <a:ext cx="840313" cy="0"/>
          </a:xfrm>
          <a:prstGeom prst="straightConnector1">
            <a:avLst/>
          </a:prstGeom>
          <a:noFill/>
          <a:ln w="57150" cap="flat" cmpd="sng" algn="ctr">
            <a:solidFill>
              <a:sysClr val="windowText" lastClr="000000"/>
            </a:solidFill>
            <a:prstDash val="solid"/>
            <a:miter lim="800000"/>
            <a:tailEnd type="triangle"/>
          </a:ln>
          <a:effectLst/>
        </p:spPr>
      </p:cxnSp>
      <p:sp>
        <p:nvSpPr>
          <p:cNvPr id="9" name="矩形: 圓角 8"/>
          <p:cNvSpPr/>
          <p:nvPr/>
        </p:nvSpPr>
        <p:spPr>
          <a:xfrm>
            <a:off x="1630916" y="2697583"/>
            <a:ext cx="1758696" cy="384043"/>
          </a:xfrm>
          <a:prstGeom prst="roundRect">
            <a:avLst/>
          </a:prstGeom>
          <a:solidFill>
            <a:schemeClr val="accent2">
              <a:lumMod val="20000"/>
              <a:lumOff val="8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2400" dirty="0">
                <a:solidFill>
                  <a:schemeClr val="tx1"/>
                </a:solidFill>
              </a:rPr>
              <a:t>Context</a:t>
            </a:r>
            <a:endParaRPr lang="zh-TW" altLang="en-US" sz="2400" dirty="0">
              <a:solidFill>
                <a:schemeClr val="tx1"/>
              </a:solidFill>
            </a:endParaRPr>
          </a:p>
        </p:txBody>
      </p:sp>
      <p:sp>
        <p:nvSpPr>
          <p:cNvPr id="10" name="矩形: 圓角 9"/>
          <p:cNvSpPr/>
          <p:nvPr/>
        </p:nvSpPr>
        <p:spPr>
          <a:xfrm>
            <a:off x="6629636" y="2688136"/>
            <a:ext cx="1758696" cy="384043"/>
          </a:xfrm>
          <a:prstGeom prst="roundRect">
            <a:avLst/>
          </a:prstGeom>
          <a:solidFill>
            <a:schemeClr val="accent2">
              <a:lumMod val="20000"/>
              <a:lumOff val="8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2400" dirty="0">
                <a:solidFill>
                  <a:schemeClr val="tx1"/>
                </a:solidFill>
              </a:rPr>
              <a:t>Context</a:t>
            </a:r>
            <a:endParaRPr lang="zh-TW" altLang="en-US" sz="2400" dirty="0">
              <a:solidFill>
                <a:schemeClr val="tx1"/>
              </a:solidFill>
            </a:endParaRPr>
          </a:p>
        </p:txBody>
      </p:sp>
      <p:pic>
        <p:nvPicPr>
          <p:cNvPr id="2050"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900664" y="4556760"/>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05569" y="4403011"/>
            <a:ext cx="1526697" cy="1526697"/>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28304" y="3542138"/>
            <a:ext cx="981259" cy="98125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74572" y="3629343"/>
            <a:ext cx="773668" cy="773668"/>
          </a:xfrm>
          <a:prstGeom prst="rect">
            <a:avLst/>
          </a:prstGeom>
          <a:noFill/>
          <a:extLst>
            <a:ext uri="{909E8E84-426E-40DD-AFC4-6F175D3DCCD1}">
              <a14:hiddenFill xmlns:a14="http://schemas.microsoft.com/office/drawing/2010/main">
                <a:solidFill>
                  <a:srgbClr val="FFFFFF"/>
                </a:solidFill>
              </a14:hiddenFill>
            </a:ext>
          </a:extLst>
        </p:spPr>
      </p:pic>
      <p:cxnSp>
        <p:nvCxnSpPr>
          <p:cNvPr id="14" name="直線單箭頭接點 13"/>
          <p:cNvCxnSpPr/>
          <p:nvPr/>
        </p:nvCxnSpPr>
        <p:spPr>
          <a:xfrm flipV="1">
            <a:off x="2525504" y="3308614"/>
            <a:ext cx="0" cy="1094397"/>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5" name="直線單箭頭接點 14"/>
          <p:cNvCxnSpPr/>
          <p:nvPr/>
        </p:nvCxnSpPr>
        <p:spPr>
          <a:xfrm flipV="1">
            <a:off x="7564376" y="3183738"/>
            <a:ext cx="0" cy="1094397"/>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 name="直線單箭頭接點 15"/>
          <p:cNvCxnSpPr/>
          <p:nvPr/>
        </p:nvCxnSpPr>
        <p:spPr>
          <a:xfrm>
            <a:off x="3310338" y="5166358"/>
            <a:ext cx="3319298" cy="1"/>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5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5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挑選需要的內容</a:t>
            </a:r>
            <a:endParaRPr lang="zh-TW" altLang="en-US" dirty="0"/>
          </a:p>
        </p:txBody>
      </p:sp>
      <p:pic>
        <p:nvPicPr>
          <p:cNvPr id="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838200" y="4030305"/>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15760" y="3876556"/>
            <a:ext cx="1526697" cy="1526697"/>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單箭頭接點 5"/>
          <p:cNvCxnSpPr/>
          <p:nvPr/>
        </p:nvCxnSpPr>
        <p:spPr>
          <a:xfrm>
            <a:off x="2246350" y="4639905"/>
            <a:ext cx="789458"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文字方塊 8"/>
          <p:cNvSpPr txBox="1"/>
          <p:nvPr/>
        </p:nvSpPr>
        <p:spPr>
          <a:xfrm>
            <a:off x="3315760" y="1806353"/>
            <a:ext cx="1517904" cy="830997"/>
          </a:xfrm>
          <a:prstGeom prst="rect">
            <a:avLst/>
          </a:prstGeom>
          <a:noFill/>
        </p:spPr>
        <p:txBody>
          <a:bodyPr wrap="square" rtlCol="0">
            <a:spAutoFit/>
          </a:bodyPr>
          <a:lstStyle/>
          <a:p>
            <a:pPr algn="ctr"/>
            <a:r>
              <a:rPr lang="en-US" altLang="zh-TW" sz="2400" dirty="0"/>
              <a:t>User Prompt</a:t>
            </a:r>
            <a:endParaRPr lang="zh-TW" altLang="en-US" sz="2400" dirty="0"/>
          </a:p>
        </p:txBody>
      </p:sp>
      <p:cxnSp>
        <p:nvCxnSpPr>
          <p:cNvPr id="10" name="直線單箭頭接點 9"/>
          <p:cNvCxnSpPr>
            <a:endCxn id="5" idx="0"/>
          </p:cNvCxnSpPr>
          <p:nvPr/>
        </p:nvCxnSpPr>
        <p:spPr>
          <a:xfrm>
            <a:off x="4073639" y="2673345"/>
            <a:ext cx="5470" cy="1203211"/>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2" name="文字方塊 11"/>
          <p:cNvSpPr txBox="1"/>
          <p:nvPr/>
        </p:nvSpPr>
        <p:spPr>
          <a:xfrm>
            <a:off x="3511283" y="5403253"/>
            <a:ext cx="1124712" cy="830997"/>
          </a:xfrm>
          <a:prstGeom prst="rect">
            <a:avLst/>
          </a:prstGeom>
          <a:noFill/>
        </p:spPr>
        <p:txBody>
          <a:bodyPr wrap="square" rtlCol="0">
            <a:spAutoFit/>
          </a:bodyPr>
          <a:lstStyle/>
          <a:p>
            <a:pPr algn="ctr"/>
            <a:r>
              <a:rPr lang="en-US" altLang="zh-TW" sz="2400" dirty="0"/>
              <a:t>Search Engine</a:t>
            </a:r>
            <a:endParaRPr lang="zh-TW" altLang="en-US" sz="2400" dirty="0"/>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77712" y="2110946"/>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7712" y="3412385"/>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7712" y="4774603"/>
            <a:ext cx="1219200" cy="1219200"/>
          </a:xfrm>
          <a:prstGeom prst="rect">
            <a:avLst/>
          </a:prstGeom>
          <a:noFill/>
          <a:extLst>
            <a:ext uri="{909E8E84-426E-40DD-AFC4-6F175D3DCCD1}">
              <a14:hiddenFill xmlns:a14="http://schemas.microsoft.com/office/drawing/2010/main">
                <a:solidFill>
                  <a:srgbClr val="FFFFFF"/>
                </a:solidFill>
              </a14:hiddenFill>
            </a:ext>
          </a:extLst>
        </p:spPr>
      </p:pic>
      <p:cxnSp>
        <p:nvCxnSpPr>
          <p:cNvPr id="15" name="直線單箭頭接點 14"/>
          <p:cNvCxnSpPr/>
          <p:nvPr/>
        </p:nvCxnSpPr>
        <p:spPr>
          <a:xfrm>
            <a:off x="5087086" y="4639905"/>
            <a:ext cx="789458"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 name="文字方塊 15"/>
          <p:cNvSpPr txBox="1"/>
          <p:nvPr/>
        </p:nvSpPr>
        <p:spPr>
          <a:xfrm>
            <a:off x="7918681" y="6075612"/>
            <a:ext cx="1694701" cy="461665"/>
          </a:xfrm>
          <a:prstGeom prst="rect">
            <a:avLst/>
          </a:prstGeom>
          <a:noFill/>
        </p:spPr>
        <p:txBody>
          <a:bodyPr wrap="square" rtlCol="0">
            <a:spAutoFit/>
          </a:bodyPr>
          <a:lstStyle/>
          <a:p>
            <a:pPr algn="ctr"/>
            <a:r>
              <a:rPr lang="en-US" altLang="zh-TW" sz="2400" b="1" dirty="0"/>
              <a:t>Reranking</a:t>
            </a:r>
            <a:endParaRPr lang="zh-TW" altLang="en-US" sz="2400" b="1" dirty="0"/>
          </a:p>
        </p:txBody>
      </p:sp>
      <p:sp>
        <p:nvSpPr>
          <p:cNvPr id="17" name="矩形: 圓角 16"/>
          <p:cNvSpPr/>
          <p:nvPr/>
        </p:nvSpPr>
        <p:spPr>
          <a:xfrm>
            <a:off x="8156432" y="2148866"/>
            <a:ext cx="1219201" cy="1097684"/>
          </a:xfrm>
          <a:prstGeom prst="roundRect">
            <a:avLst/>
          </a:prstGeom>
          <a:solidFill>
            <a:srgbClr val="4472C4">
              <a:lumMod val="20000"/>
              <a:lumOff val="80000"/>
            </a:srgbClr>
          </a:solidFill>
          <a:ln w="5715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Small</a:t>
            </a:r>
            <a:endPar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ctr" defTabSz="914400" eaLnBrk="1" fontAlgn="auto" latinLnBrk="0" hangingPunct="1">
              <a:lnSpc>
                <a:spcPct val="100000"/>
              </a:lnSpc>
              <a:spcBef>
                <a:spcPts val="0"/>
              </a:spcBef>
              <a:spcAft>
                <a:spcPts val="0"/>
              </a:spcAft>
              <a:buClrTx/>
              <a:buSzTx/>
              <a:buFontTx/>
              <a:buNone/>
              <a:defRPr/>
            </a:pPr>
            <a:r>
              <a:rPr lang="en-US" altLang="zh-TW" sz="2400" kern="0" dirty="0">
                <a:solidFill>
                  <a:prstClr val="black"/>
                </a:solidFill>
                <a:latin typeface="Microsoft JhengHei" panose="020B0604030504040204" pitchFamily="34" charset="-120"/>
                <a:ea typeface="Microsoft JhengHei" panose="020B0604030504040204" pitchFamily="34" charset="-120"/>
              </a:rPr>
              <a:t>LLM</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18" name="直線單箭頭接點 17"/>
          <p:cNvCxnSpPr/>
          <p:nvPr/>
        </p:nvCxnSpPr>
        <p:spPr>
          <a:xfrm>
            <a:off x="7458414" y="2693649"/>
            <a:ext cx="551709"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0" name="直線單箭頭接點 19"/>
          <p:cNvCxnSpPr/>
          <p:nvPr/>
        </p:nvCxnSpPr>
        <p:spPr>
          <a:xfrm>
            <a:off x="9540232" y="2703623"/>
            <a:ext cx="551709"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1" name="矩形: 圓角 20"/>
          <p:cNvSpPr/>
          <p:nvPr/>
        </p:nvSpPr>
        <p:spPr>
          <a:xfrm>
            <a:off x="8156432" y="3429000"/>
            <a:ext cx="1219201" cy="1097684"/>
          </a:xfrm>
          <a:prstGeom prst="roundRect">
            <a:avLst/>
          </a:prstGeom>
          <a:solidFill>
            <a:srgbClr val="4472C4">
              <a:lumMod val="20000"/>
              <a:lumOff val="80000"/>
            </a:srgbClr>
          </a:solidFill>
          <a:ln w="5715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Small</a:t>
            </a:r>
            <a:endPar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ctr" defTabSz="914400" eaLnBrk="1" fontAlgn="auto" latinLnBrk="0" hangingPunct="1">
              <a:lnSpc>
                <a:spcPct val="100000"/>
              </a:lnSpc>
              <a:spcBef>
                <a:spcPts val="0"/>
              </a:spcBef>
              <a:spcAft>
                <a:spcPts val="0"/>
              </a:spcAft>
              <a:buClrTx/>
              <a:buSzTx/>
              <a:buFontTx/>
              <a:buNone/>
              <a:defRPr/>
            </a:pPr>
            <a:r>
              <a:rPr lang="en-US" altLang="zh-TW" sz="2400" kern="0" dirty="0">
                <a:solidFill>
                  <a:prstClr val="black"/>
                </a:solidFill>
                <a:latin typeface="Microsoft JhengHei" panose="020B0604030504040204" pitchFamily="34" charset="-120"/>
                <a:ea typeface="Microsoft JhengHei" panose="020B0604030504040204" pitchFamily="34" charset="-120"/>
              </a:rPr>
              <a:t>LLM</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22" name="直線單箭頭接點 21"/>
          <p:cNvCxnSpPr/>
          <p:nvPr/>
        </p:nvCxnSpPr>
        <p:spPr>
          <a:xfrm>
            <a:off x="7458414" y="3973783"/>
            <a:ext cx="551709"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直線單箭頭接點 22"/>
          <p:cNvCxnSpPr/>
          <p:nvPr/>
        </p:nvCxnSpPr>
        <p:spPr>
          <a:xfrm>
            <a:off x="9540232" y="3983757"/>
            <a:ext cx="551709"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矩形: 圓角 23"/>
          <p:cNvSpPr/>
          <p:nvPr/>
        </p:nvSpPr>
        <p:spPr>
          <a:xfrm>
            <a:off x="8156432" y="4774603"/>
            <a:ext cx="1219201" cy="1097684"/>
          </a:xfrm>
          <a:prstGeom prst="roundRect">
            <a:avLst/>
          </a:prstGeom>
          <a:solidFill>
            <a:srgbClr val="4472C4">
              <a:lumMod val="20000"/>
              <a:lumOff val="80000"/>
            </a:srgbClr>
          </a:solidFill>
          <a:ln w="5715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Small</a:t>
            </a:r>
            <a:endPar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ctr" defTabSz="914400" eaLnBrk="1" fontAlgn="auto" latinLnBrk="0" hangingPunct="1">
              <a:lnSpc>
                <a:spcPct val="100000"/>
              </a:lnSpc>
              <a:spcBef>
                <a:spcPts val="0"/>
              </a:spcBef>
              <a:spcAft>
                <a:spcPts val="0"/>
              </a:spcAft>
              <a:buClrTx/>
              <a:buSzTx/>
              <a:buFontTx/>
              <a:buNone/>
              <a:defRPr/>
            </a:pPr>
            <a:r>
              <a:rPr lang="en-US" altLang="zh-TW" sz="2400" kern="0" dirty="0">
                <a:solidFill>
                  <a:prstClr val="black"/>
                </a:solidFill>
                <a:latin typeface="Microsoft JhengHei" panose="020B0604030504040204" pitchFamily="34" charset="-120"/>
                <a:ea typeface="Microsoft JhengHei" panose="020B0604030504040204" pitchFamily="34" charset="-120"/>
              </a:rPr>
              <a:t>LLM</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25" name="直線單箭頭接點 24"/>
          <p:cNvCxnSpPr/>
          <p:nvPr/>
        </p:nvCxnSpPr>
        <p:spPr>
          <a:xfrm>
            <a:off x="7458414" y="5319386"/>
            <a:ext cx="551709"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6" name="直線單箭頭接點 25"/>
          <p:cNvCxnSpPr/>
          <p:nvPr/>
        </p:nvCxnSpPr>
        <p:spPr>
          <a:xfrm>
            <a:off x="9540232" y="5329360"/>
            <a:ext cx="551709"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27" name="Picture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256540" y="2377006"/>
            <a:ext cx="551709" cy="592677"/>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256540" y="3725646"/>
            <a:ext cx="551709" cy="592677"/>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8"/>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256540" y="5190101"/>
            <a:ext cx="551709" cy="551709"/>
          </a:xfrm>
          <a:prstGeom prst="rect">
            <a:avLst/>
          </a:prstGeom>
          <a:noFill/>
          <a:extLst>
            <a:ext uri="{909E8E84-426E-40DD-AFC4-6F175D3DCCD1}">
              <a14:hiddenFill xmlns:a14="http://schemas.microsoft.com/office/drawing/2010/main">
                <a:solidFill>
                  <a:srgbClr val="FFFFFF"/>
                </a:solidFill>
              </a14:hiddenFill>
            </a:ext>
          </a:extLst>
        </p:spPr>
      </p:pic>
      <p:sp>
        <p:nvSpPr>
          <p:cNvPr id="33" name="文字方塊 32"/>
          <p:cNvSpPr txBox="1"/>
          <p:nvPr/>
        </p:nvSpPr>
        <p:spPr>
          <a:xfrm>
            <a:off x="8010123" y="645068"/>
            <a:ext cx="1517904" cy="830997"/>
          </a:xfrm>
          <a:prstGeom prst="rect">
            <a:avLst/>
          </a:prstGeom>
          <a:noFill/>
        </p:spPr>
        <p:txBody>
          <a:bodyPr wrap="square" rtlCol="0">
            <a:spAutoFit/>
          </a:bodyPr>
          <a:lstStyle/>
          <a:p>
            <a:pPr algn="ctr"/>
            <a:r>
              <a:rPr lang="en-US" altLang="zh-TW" sz="2400" dirty="0"/>
              <a:t>User Prompt</a:t>
            </a:r>
            <a:endParaRPr lang="zh-TW" altLang="en-US" sz="2400" dirty="0"/>
          </a:p>
        </p:txBody>
      </p:sp>
      <p:cxnSp>
        <p:nvCxnSpPr>
          <p:cNvPr id="34" name="直線單箭頭接點 33"/>
          <p:cNvCxnSpPr/>
          <p:nvPr/>
        </p:nvCxnSpPr>
        <p:spPr>
          <a:xfrm>
            <a:off x="8768002" y="1512060"/>
            <a:ext cx="0" cy="574561"/>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 name="矩形: 圓角 2"/>
          <p:cNvSpPr/>
          <p:nvPr/>
        </p:nvSpPr>
        <p:spPr>
          <a:xfrm>
            <a:off x="1973531" y="2663396"/>
            <a:ext cx="1219201" cy="1097684"/>
          </a:xfrm>
          <a:prstGeom prst="roundRect">
            <a:avLst/>
          </a:prstGeom>
          <a:solidFill>
            <a:srgbClr val="4472C4">
              <a:lumMod val="20000"/>
              <a:lumOff val="80000"/>
            </a:srgbClr>
          </a:solidFill>
          <a:ln w="5715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lang="en-US" altLang="zh-TW" sz="2400" kern="0" dirty="0">
                <a:solidFill>
                  <a:prstClr val="black"/>
                </a:solidFill>
                <a:latin typeface="Microsoft JhengHei" panose="020B0604030504040204" pitchFamily="34" charset="-120"/>
                <a:ea typeface="Microsoft JhengHei" panose="020B0604030504040204" pitchFamily="34" charset="-120"/>
              </a:rPr>
              <a:t>LLM</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8" name="直線單箭頭接點 7"/>
          <p:cNvCxnSpPr/>
          <p:nvPr/>
        </p:nvCxnSpPr>
        <p:spPr>
          <a:xfrm>
            <a:off x="3273594" y="3212238"/>
            <a:ext cx="800047" cy="0"/>
          </a:xfrm>
          <a:prstGeom prst="straightConnector1">
            <a:avLst/>
          </a:prstGeom>
          <a:ln w="57150">
            <a:solidFill>
              <a:schemeClr val="tx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13" name="文字方塊 12"/>
          <p:cNvSpPr txBox="1"/>
          <p:nvPr/>
        </p:nvSpPr>
        <p:spPr>
          <a:xfrm>
            <a:off x="1935321" y="1799340"/>
            <a:ext cx="1321419" cy="830997"/>
          </a:xfrm>
          <a:prstGeom prst="rect">
            <a:avLst/>
          </a:prstGeom>
          <a:noFill/>
        </p:spPr>
        <p:txBody>
          <a:bodyPr wrap="square" rtlCol="0">
            <a:spAutoFit/>
          </a:bodyPr>
          <a:lstStyle/>
          <a:p>
            <a:pPr algn="ctr"/>
            <a:r>
              <a:rPr lang="zh-TW" altLang="en-US" sz="2400" dirty="0">
                <a:latin typeface="Microsoft JhengHei" panose="020B0604030504040204" pitchFamily="34" charset="-120"/>
                <a:ea typeface="Microsoft JhengHei" panose="020B0604030504040204" pitchFamily="34" charset="-120"/>
              </a:rPr>
              <a:t>挑選</a:t>
            </a:r>
            <a:endParaRPr lang="en-US" altLang="zh-TW" sz="2400" dirty="0">
              <a:latin typeface="Microsoft JhengHei" panose="020B0604030504040204" pitchFamily="34" charset="-120"/>
              <a:ea typeface="Microsoft JhengHei" panose="020B0604030504040204" pitchFamily="34" charset="-120"/>
            </a:endParaRPr>
          </a:p>
          <a:p>
            <a:pPr algn="ctr"/>
            <a:r>
              <a:rPr lang="zh-TW" altLang="en-US" sz="2400" dirty="0">
                <a:latin typeface="Microsoft JhengHei" panose="020B0604030504040204" pitchFamily="34" charset="-120"/>
                <a:ea typeface="Microsoft JhengHei" panose="020B0604030504040204" pitchFamily="34" charset="-120"/>
              </a:rPr>
              <a:t>關鍵字</a:t>
            </a:r>
            <a:endParaRPr lang="zh-TW" altLang="en-US" sz="2400" dirty="0">
              <a:latin typeface="Microsoft JhengHei" panose="020B0604030504040204" pitchFamily="34" charset="-120"/>
              <a:ea typeface="Microsoft JhengHei" panose="020B0604030504040204" pitchFamily="34" charset="-120"/>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animBg="1"/>
      <p:bldP spid="21" grpId="0" animBg="1"/>
      <p:bldP spid="24" grpId="0" animBg="1"/>
      <p:bldP spid="33" grpId="0"/>
      <p:bldP spid="3" grpId="0" animBg="1"/>
      <p:bldP spid="13"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挑選需要的內容</a:t>
            </a:r>
            <a:endParaRPr lang="zh-TW" altLang="en-US" dirty="0"/>
          </a:p>
        </p:txBody>
      </p:sp>
      <p:pic>
        <p:nvPicPr>
          <p:cNvPr id="20"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838200" y="2283946"/>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3585385"/>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4947603"/>
            <a:ext cx="1219200" cy="1219200"/>
          </a:xfrm>
          <a:prstGeom prst="rect">
            <a:avLst/>
          </a:prstGeom>
          <a:noFill/>
          <a:extLst>
            <a:ext uri="{909E8E84-426E-40DD-AFC4-6F175D3DCCD1}">
              <a14:hiddenFill xmlns:a14="http://schemas.microsoft.com/office/drawing/2010/main">
                <a:solidFill>
                  <a:srgbClr val="FFFFFF"/>
                </a:solidFill>
              </a14:hiddenFill>
            </a:ext>
          </a:extLst>
        </p:spPr>
      </p:pic>
      <p:sp>
        <p:nvSpPr>
          <p:cNvPr id="23" name="文字方塊 22"/>
          <p:cNvSpPr txBox="1"/>
          <p:nvPr/>
        </p:nvSpPr>
        <p:spPr>
          <a:xfrm>
            <a:off x="2679169" y="1690688"/>
            <a:ext cx="1694701" cy="461665"/>
          </a:xfrm>
          <a:prstGeom prst="rect">
            <a:avLst/>
          </a:prstGeom>
          <a:noFill/>
        </p:spPr>
        <p:txBody>
          <a:bodyPr wrap="square" rtlCol="0">
            <a:spAutoFit/>
          </a:bodyPr>
          <a:lstStyle/>
          <a:p>
            <a:pPr algn="ctr"/>
            <a:r>
              <a:rPr lang="en-US" altLang="zh-TW" sz="2400" dirty="0"/>
              <a:t>Reranking</a:t>
            </a:r>
            <a:endParaRPr lang="zh-TW" altLang="en-US" sz="2400" dirty="0"/>
          </a:p>
        </p:txBody>
      </p:sp>
      <p:sp>
        <p:nvSpPr>
          <p:cNvPr id="24" name="矩形: 圓角 23"/>
          <p:cNvSpPr/>
          <p:nvPr/>
        </p:nvSpPr>
        <p:spPr>
          <a:xfrm>
            <a:off x="2916920" y="2321866"/>
            <a:ext cx="1219201" cy="1097684"/>
          </a:xfrm>
          <a:prstGeom prst="roundRect">
            <a:avLst/>
          </a:prstGeom>
          <a:solidFill>
            <a:srgbClr val="4472C4">
              <a:lumMod val="20000"/>
              <a:lumOff val="80000"/>
            </a:srgbClr>
          </a:solidFill>
          <a:ln w="5715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Small</a:t>
            </a:r>
            <a:endPar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ctr" defTabSz="914400" eaLnBrk="1" fontAlgn="auto" latinLnBrk="0" hangingPunct="1">
              <a:lnSpc>
                <a:spcPct val="100000"/>
              </a:lnSpc>
              <a:spcBef>
                <a:spcPts val="0"/>
              </a:spcBef>
              <a:spcAft>
                <a:spcPts val="0"/>
              </a:spcAft>
              <a:buClrTx/>
              <a:buSzTx/>
              <a:buFontTx/>
              <a:buNone/>
              <a:defRPr/>
            </a:pPr>
            <a:r>
              <a:rPr lang="en-US" altLang="zh-TW" sz="2400" kern="0" dirty="0">
                <a:solidFill>
                  <a:prstClr val="black"/>
                </a:solidFill>
                <a:latin typeface="Microsoft JhengHei" panose="020B0604030504040204" pitchFamily="34" charset="-120"/>
                <a:ea typeface="Microsoft JhengHei" panose="020B0604030504040204" pitchFamily="34" charset="-120"/>
              </a:rPr>
              <a:t>LLM</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25" name="直線單箭頭接點 24"/>
          <p:cNvCxnSpPr/>
          <p:nvPr/>
        </p:nvCxnSpPr>
        <p:spPr>
          <a:xfrm>
            <a:off x="2218902" y="2866649"/>
            <a:ext cx="551709"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6" name="直線單箭頭接點 25"/>
          <p:cNvCxnSpPr/>
          <p:nvPr/>
        </p:nvCxnSpPr>
        <p:spPr>
          <a:xfrm>
            <a:off x="4300720" y="2876623"/>
            <a:ext cx="551709"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7" name="矩形: 圓角 26"/>
          <p:cNvSpPr/>
          <p:nvPr/>
        </p:nvSpPr>
        <p:spPr>
          <a:xfrm>
            <a:off x="2916920" y="3602000"/>
            <a:ext cx="1219201" cy="1097684"/>
          </a:xfrm>
          <a:prstGeom prst="roundRect">
            <a:avLst/>
          </a:prstGeom>
          <a:solidFill>
            <a:srgbClr val="4472C4">
              <a:lumMod val="20000"/>
              <a:lumOff val="80000"/>
            </a:srgbClr>
          </a:solidFill>
          <a:ln w="5715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Small</a:t>
            </a:r>
            <a:endPar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ctr" defTabSz="914400" eaLnBrk="1" fontAlgn="auto" latinLnBrk="0" hangingPunct="1">
              <a:lnSpc>
                <a:spcPct val="100000"/>
              </a:lnSpc>
              <a:spcBef>
                <a:spcPts val="0"/>
              </a:spcBef>
              <a:spcAft>
                <a:spcPts val="0"/>
              </a:spcAft>
              <a:buClrTx/>
              <a:buSzTx/>
              <a:buFontTx/>
              <a:buNone/>
              <a:defRPr/>
            </a:pPr>
            <a:r>
              <a:rPr lang="en-US" altLang="zh-TW" sz="2400" kern="0" dirty="0">
                <a:solidFill>
                  <a:prstClr val="black"/>
                </a:solidFill>
                <a:latin typeface="Microsoft JhengHei" panose="020B0604030504040204" pitchFamily="34" charset="-120"/>
                <a:ea typeface="Microsoft JhengHei" panose="020B0604030504040204" pitchFamily="34" charset="-120"/>
              </a:rPr>
              <a:t>LLM</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28" name="直線單箭頭接點 27"/>
          <p:cNvCxnSpPr/>
          <p:nvPr/>
        </p:nvCxnSpPr>
        <p:spPr>
          <a:xfrm>
            <a:off x="2218902" y="4146783"/>
            <a:ext cx="551709"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9" name="直線單箭頭接點 28"/>
          <p:cNvCxnSpPr/>
          <p:nvPr/>
        </p:nvCxnSpPr>
        <p:spPr>
          <a:xfrm>
            <a:off x="4300720" y="4156757"/>
            <a:ext cx="551709"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0" name="矩形: 圓角 29"/>
          <p:cNvSpPr/>
          <p:nvPr/>
        </p:nvSpPr>
        <p:spPr>
          <a:xfrm>
            <a:off x="2916920" y="4947603"/>
            <a:ext cx="1219201" cy="1097684"/>
          </a:xfrm>
          <a:prstGeom prst="roundRect">
            <a:avLst/>
          </a:prstGeom>
          <a:solidFill>
            <a:srgbClr val="4472C4">
              <a:lumMod val="20000"/>
              <a:lumOff val="80000"/>
            </a:srgbClr>
          </a:solidFill>
          <a:ln w="5715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rPr>
              <a:t>Small</a:t>
            </a:r>
            <a:endPar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a:p>
            <a:pPr marL="0" marR="0" lvl="0" indent="0" algn="ctr" defTabSz="914400" eaLnBrk="1" fontAlgn="auto" latinLnBrk="0" hangingPunct="1">
              <a:lnSpc>
                <a:spcPct val="100000"/>
              </a:lnSpc>
              <a:spcBef>
                <a:spcPts val="0"/>
              </a:spcBef>
              <a:spcAft>
                <a:spcPts val="0"/>
              </a:spcAft>
              <a:buClrTx/>
              <a:buSzTx/>
              <a:buFontTx/>
              <a:buNone/>
              <a:defRPr/>
            </a:pPr>
            <a:r>
              <a:rPr lang="en-US" altLang="zh-TW" sz="2400" kern="0" dirty="0">
                <a:solidFill>
                  <a:prstClr val="black"/>
                </a:solidFill>
                <a:latin typeface="Microsoft JhengHei" panose="020B0604030504040204" pitchFamily="34" charset="-120"/>
                <a:ea typeface="Microsoft JhengHei" panose="020B0604030504040204" pitchFamily="34" charset="-120"/>
              </a:rPr>
              <a:t>LLM</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31" name="直線單箭頭接點 30"/>
          <p:cNvCxnSpPr/>
          <p:nvPr/>
        </p:nvCxnSpPr>
        <p:spPr>
          <a:xfrm>
            <a:off x="2218902" y="5492386"/>
            <a:ext cx="551709"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2" name="直線單箭頭接點 31"/>
          <p:cNvCxnSpPr/>
          <p:nvPr/>
        </p:nvCxnSpPr>
        <p:spPr>
          <a:xfrm>
            <a:off x="4300720" y="5502360"/>
            <a:ext cx="551709"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33"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17028" y="2550006"/>
            <a:ext cx="551709" cy="592677"/>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17028" y="3898646"/>
            <a:ext cx="551709" cy="592677"/>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017028" y="5363101"/>
            <a:ext cx="551709" cy="55170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985094" y="2283946"/>
            <a:ext cx="1219200" cy="1219200"/>
          </a:xfrm>
          <a:prstGeom prst="rect">
            <a:avLst/>
          </a:prstGeom>
          <a:noFill/>
          <a:extLst>
            <a:ext uri="{909E8E84-426E-40DD-AFC4-6F175D3DCCD1}">
              <a14:hiddenFill xmlns:a14="http://schemas.microsoft.com/office/drawing/2010/main">
                <a:solidFill>
                  <a:srgbClr val="FFFFFF"/>
                </a:solidFill>
              </a14:hiddenFill>
            </a:ext>
          </a:extLst>
        </p:spPr>
      </p:pic>
      <p:sp>
        <p:nvSpPr>
          <p:cNvPr id="37" name="矩形: 圓角 36"/>
          <p:cNvSpPr/>
          <p:nvPr/>
        </p:nvSpPr>
        <p:spPr>
          <a:xfrm>
            <a:off x="9496766" y="2250704"/>
            <a:ext cx="917433" cy="615945"/>
          </a:xfrm>
          <a:prstGeom prst="roundRect">
            <a:avLst/>
          </a:prstGeom>
          <a:solidFill>
            <a:srgbClr val="4472C4">
              <a:lumMod val="20000"/>
              <a:lumOff val="80000"/>
            </a:srgbClr>
          </a:solidFill>
          <a:ln w="5715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lang="en-US" altLang="zh-TW" sz="2400" kern="0" dirty="0">
                <a:solidFill>
                  <a:prstClr val="black"/>
                </a:solidFill>
                <a:latin typeface="Microsoft JhengHei" panose="020B0604030504040204" pitchFamily="34" charset="-120"/>
                <a:ea typeface="Microsoft JhengHei" panose="020B0604030504040204" pitchFamily="34" charset="-120"/>
              </a:rPr>
              <a:t>LLM</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sp>
        <p:nvSpPr>
          <p:cNvPr id="38" name="文字方塊 37"/>
          <p:cNvSpPr txBox="1"/>
          <p:nvPr/>
        </p:nvSpPr>
        <p:spPr>
          <a:xfrm>
            <a:off x="5624853" y="704740"/>
            <a:ext cx="3528060" cy="646331"/>
          </a:xfrm>
          <a:prstGeom prst="rect">
            <a:avLst/>
          </a:prstGeom>
          <a:noFill/>
        </p:spPr>
        <p:txBody>
          <a:bodyPr wrap="square">
            <a:spAutoFit/>
          </a:bodyPr>
          <a:lstStyle/>
          <a:p>
            <a:r>
              <a:rPr lang="en-US" altLang="zh-TW" b="1" dirty="0"/>
              <a:t>Provence</a:t>
            </a:r>
            <a:endParaRPr lang="en-US" altLang="zh-TW" dirty="0"/>
          </a:p>
          <a:p>
            <a:r>
              <a:rPr lang="zh-TW" altLang="en-US" dirty="0"/>
              <a:t>https://arxiv.org/abs/2501.16214</a:t>
            </a:r>
            <a:endParaRPr lang="zh-TW" altLang="en-US" dirty="0"/>
          </a:p>
        </p:txBody>
      </p:sp>
      <p:sp>
        <p:nvSpPr>
          <p:cNvPr id="41" name="文字方塊 40"/>
          <p:cNvSpPr txBox="1"/>
          <p:nvPr/>
        </p:nvSpPr>
        <p:spPr>
          <a:xfrm>
            <a:off x="9128151" y="957232"/>
            <a:ext cx="1517904" cy="830997"/>
          </a:xfrm>
          <a:prstGeom prst="rect">
            <a:avLst/>
          </a:prstGeom>
          <a:noFill/>
        </p:spPr>
        <p:txBody>
          <a:bodyPr wrap="square" rtlCol="0">
            <a:spAutoFit/>
          </a:bodyPr>
          <a:lstStyle/>
          <a:p>
            <a:pPr algn="ctr"/>
            <a:r>
              <a:rPr lang="en-US" altLang="zh-TW" sz="2400" dirty="0"/>
              <a:t>User Prompt</a:t>
            </a:r>
            <a:endParaRPr lang="zh-TW" altLang="en-US" sz="2400" dirty="0"/>
          </a:p>
        </p:txBody>
      </p:sp>
      <p:cxnSp>
        <p:nvCxnSpPr>
          <p:cNvPr id="42" name="直線單箭頭接點 41"/>
          <p:cNvCxnSpPr/>
          <p:nvPr/>
        </p:nvCxnSpPr>
        <p:spPr>
          <a:xfrm>
            <a:off x="9942418" y="1806800"/>
            <a:ext cx="0" cy="420701"/>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左大括弧 42"/>
          <p:cNvSpPr/>
          <p:nvPr/>
        </p:nvSpPr>
        <p:spPr>
          <a:xfrm>
            <a:off x="7307267" y="2152353"/>
            <a:ext cx="510870" cy="3892933"/>
          </a:xfrm>
          <a:prstGeom prst="leftBrace">
            <a:avLst>
              <a:gd name="adj1" fmla="val 11913"/>
              <a:gd name="adj2" fmla="val 19172"/>
            </a:avLst>
          </a:prstGeom>
          <a:ln w="381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zh-TW" altLang="en-US"/>
          </a:p>
        </p:txBody>
      </p:sp>
      <p:sp>
        <p:nvSpPr>
          <p:cNvPr id="44" name="矩形: 圓角 43"/>
          <p:cNvSpPr/>
          <p:nvPr/>
        </p:nvSpPr>
        <p:spPr>
          <a:xfrm>
            <a:off x="7711434" y="2401009"/>
            <a:ext cx="1325900" cy="384043"/>
          </a:xfrm>
          <a:prstGeom prst="roundRect">
            <a:avLst/>
          </a:prstGeom>
          <a:solidFill>
            <a:schemeClr val="accent2">
              <a:lumMod val="20000"/>
              <a:lumOff val="8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solidFill>
                  <a:schemeClr val="tx1"/>
                </a:solidFill>
              </a:rPr>
              <a:t>sentence 1</a:t>
            </a:r>
            <a:endParaRPr lang="zh-TW" altLang="en-US" dirty="0">
              <a:solidFill>
                <a:schemeClr val="tx1"/>
              </a:solidFill>
            </a:endParaRPr>
          </a:p>
        </p:txBody>
      </p:sp>
      <p:sp>
        <p:nvSpPr>
          <p:cNvPr id="45" name="矩形: 圓角 44"/>
          <p:cNvSpPr/>
          <p:nvPr/>
        </p:nvSpPr>
        <p:spPr>
          <a:xfrm>
            <a:off x="7731566" y="3810941"/>
            <a:ext cx="1325900" cy="384043"/>
          </a:xfrm>
          <a:prstGeom prst="roundRect">
            <a:avLst/>
          </a:prstGeom>
          <a:solidFill>
            <a:schemeClr val="accent4">
              <a:lumMod val="20000"/>
              <a:lumOff val="8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solidFill>
                  <a:schemeClr val="tx1"/>
                </a:solidFill>
              </a:rPr>
              <a:t>sentence 2</a:t>
            </a:r>
            <a:endParaRPr lang="zh-TW" altLang="en-US" dirty="0">
              <a:solidFill>
                <a:schemeClr val="tx1"/>
              </a:solidFill>
            </a:endParaRPr>
          </a:p>
        </p:txBody>
      </p:sp>
      <p:sp>
        <p:nvSpPr>
          <p:cNvPr id="46" name="矩形: 圓角 45"/>
          <p:cNvSpPr/>
          <p:nvPr/>
        </p:nvSpPr>
        <p:spPr>
          <a:xfrm>
            <a:off x="7711434" y="5363101"/>
            <a:ext cx="1325900" cy="384043"/>
          </a:xfrm>
          <a:prstGeom prst="roundRect">
            <a:avLst/>
          </a:prstGeom>
          <a:solidFill>
            <a:schemeClr val="accent6">
              <a:lumMod val="20000"/>
              <a:lumOff val="8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solidFill>
                  <a:schemeClr val="tx1"/>
                </a:solidFill>
              </a:rPr>
              <a:t>sentence 3</a:t>
            </a:r>
            <a:endParaRPr lang="zh-TW" altLang="en-US" dirty="0">
              <a:solidFill>
                <a:schemeClr val="tx1"/>
              </a:solidFill>
            </a:endParaRPr>
          </a:p>
        </p:txBody>
      </p:sp>
      <p:cxnSp>
        <p:nvCxnSpPr>
          <p:cNvPr id="47" name="直線單箭頭接點 46"/>
          <p:cNvCxnSpPr/>
          <p:nvPr/>
        </p:nvCxnSpPr>
        <p:spPr>
          <a:xfrm>
            <a:off x="9128151" y="2573342"/>
            <a:ext cx="30573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0" name="直線單箭頭接點 49"/>
          <p:cNvCxnSpPr/>
          <p:nvPr/>
        </p:nvCxnSpPr>
        <p:spPr>
          <a:xfrm>
            <a:off x="10478676" y="2564002"/>
            <a:ext cx="30573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1" name="矩形: 圓角 50"/>
          <p:cNvSpPr/>
          <p:nvPr/>
        </p:nvSpPr>
        <p:spPr>
          <a:xfrm>
            <a:off x="9512729" y="3683379"/>
            <a:ext cx="917433" cy="615945"/>
          </a:xfrm>
          <a:prstGeom prst="roundRect">
            <a:avLst/>
          </a:prstGeom>
          <a:solidFill>
            <a:srgbClr val="4472C4">
              <a:lumMod val="20000"/>
              <a:lumOff val="80000"/>
            </a:srgbClr>
          </a:solidFill>
          <a:ln w="5715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lang="en-US" altLang="zh-TW" sz="2400" kern="0" dirty="0">
                <a:solidFill>
                  <a:prstClr val="black"/>
                </a:solidFill>
                <a:latin typeface="Microsoft JhengHei" panose="020B0604030504040204" pitchFamily="34" charset="-120"/>
                <a:ea typeface="Microsoft JhengHei" panose="020B0604030504040204" pitchFamily="34" charset="-120"/>
              </a:rPr>
              <a:t>LLM</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52" name="直線單箭頭接點 51"/>
          <p:cNvCxnSpPr/>
          <p:nvPr/>
        </p:nvCxnSpPr>
        <p:spPr>
          <a:xfrm>
            <a:off x="9144114" y="4006017"/>
            <a:ext cx="30573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3" name="直線單箭頭接點 52"/>
          <p:cNvCxnSpPr/>
          <p:nvPr/>
        </p:nvCxnSpPr>
        <p:spPr>
          <a:xfrm>
            <a:off x="10494639" y="3996677"/>
            <a:ext cx="30573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4" name="矩形: 圓角 53"/>
          <p:cNvSpPr/>
          <p:nvPr/>
        </p:nvSpPr>
        <p:spPr>
          <a:xfrm>
            <a:off x="9521528" y="5242469"/>
            <a:ext cx="917433" cy="615945"/>
          </a:xfrm>
          <a:prstGeom prst="roundRect">
            <a:avLst/>
          </a:prstGeom>
          <a:solidFill>
            <a:srgbClr val="4472C4">
              <a:lumMod val="20000"/>
              <a:lumOff val="80000"/>
            </a:srgbClr>
          </a:solidFill>
          <a:ln w="5715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lang="en-US" altLang="zh-TW" sz="2400" kern="0" dirty="0">
                <a:solidFill>
                  <a:prstClr val="black"/>
                </a:solidFill>
                <a:latin typeface="Microsoft JhengHei" panose="020B0604030504040204" pitchFamily="34" charset="-120"/>
                <a:ea typeface="Microsoft JhengHei" panose="020B0604030504040204" pitchFamily="34" charset="-120"/>
              </a:rPr>
              <a:t>LLM</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cs typeface="+mn-cs"/>
            </a:endParaRPr>
          </a:p>
        </p:txBody>
      </p:sp>
      <p:cxnSp>
        <p:nvCxnSpPr>
          <p:cNvPr id="55" name="直線單箭頭接點 54"/>
          <p:cNvCxnSpPr/>
          <p:nvPr/>
        </p:nvCxnSpPr>
        <p:spPr>
          <a:xfrm>
            <a:off x="9152913" y="5565107"/>
            <a:ext cx="30573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6" name="直線單箭頭接點 55"/>
          <p:cNvCxnSpPr/>
          <p:nvPr/>
        </p:nvCxnSpPr>
        <p:spPr>
          <a:xfrm>
            <a:off x="10503438" y="5555767"/>
            <a:ext cx="30573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7"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989283" y="3706623"/>
            <a:ext cx="551709" cy="592677"/>
          </a:xfrm>
          <a:prstGeom prst="rect">
            <a:avLst/>
          </a:prstGeom>
          <a:noFill/>
          <a:extLst>
            <a:ext uri="{909E8E84-426E-40DD-AFC4-6F175D3DCCD1}">
              <a14:hiddenFill xmlns:a14="http://schemas.microsoft.com/office/drawing/2010/main">
                <a:solidFill>
                  <a:srgbClr val="FFFFFF"/>
                </a:solidFill>
              </a14:hiddenFill>
            </a:ext>
          </a:extLst>
        </p:spPr>
      </p:pic>
      <p:pic>
        <p:nvPicPr>
          <p:cNvPr id="58" name="Picture 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989283" y="2294635"/>
            <a:ext cx="551709" cy="551709"/>
          </a:xfrm>
          <a:prstGeom prst="rect">
            <a:avLst/>
          </a:prstGeom>
          <a:noFill/>
          <a:extLst>
            <a:ext uri="{909E8E84-426E-40DD-AFC4-6F175D3DCCD1}">
              <a14:hiddenFill xmlns:a14="http://schemas.microsoft.com/office/drawing/2010/main">
                <a:solidFill>
                  <a:srgbClr val="FFFFFF"/>
                </a:solidFill>
              </a14:hiddenFill>
            </a:ext>
          </a:extLst>
        </p:spPr>
      </p:pic>
      <p:pic>
        <p:nvPicPr>
          <p:cNvPr id="59" name="Picture 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989283" y="5266316"/>
            <a:ext cx="551709" cy="55170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5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5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41" grpId="0"/>
      <p:bldP spid="43" grpId="0" animBg="1"/>
      <p:bldP spid="44" grpId="0" animBg="1"/>
      <p:bldP spid="45" grpId="0" animBg="1"/>
      <p:bldP spid="46" grpId="0" animBg="1"/>
      <p:bldP spid="51" grpId="0" animBg="1"/>
      <p:bldP spid="54"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挑選需要的內容</a:t>
            </a:r>
            <a:endParaRPr lang="zh-TW" altLang="en-US" dirty="0"/>
          </a:p>
        </p:txBody>
      </p:sp>
      <p:sp>
        <p:nvSpPr>
          <p:cNvPr id="3" name="內容版面配置區 2"/>
          <p:cNvSpPr>
            <a:spLocks noGrp="1"/>
          </p:cNvSpPr>
          <p:nvPr>
            <p:ph idx="1"/>
          </p:nvPr>
        </p:nvSpPr>
        <p:spPr/>
        <p:txBody>
          <a:bodyPr/>
          <a:lstStyle/>
          <a:p>
            <a:r>
              <a:rPr lang="zh-TW" altLang="en-US" dirty="0">
                <a:latin typeface="Microsoft JhengHei" panose="020B0604030504040204" pitchFamily="34" charset="-120"/>
                <a:ea typeface="Microsoft JhengHei" panose="020B0604030504040204" pitchFamily="34" charset="-120"/>
              </a:rPr>
              <a:t>挑選工具 </a:t>
            </a:r>
            <a:r>
              <a:rPr lang="en-US" altLang="zh-TW" dirty="0">
                <a:latin typeface="Microsoft JhengHei" panose="020B0604030504040204" pitchFamily="34" charset="-120"/>
                <a:ea typeface="Microsoft JhengHei" panose="020B0604030504040204" pitchFamily="34" charset="-120"/>
              </a:rPr>
              <a:t>(Tool RAG)</a:t>
            </a:r>
            <a:endParaRPr lang="zh-TW" altLang="en-US" dirty="0">
              <a:latin typeface="Microsoft JhengHei" panose="020B0604030504040204" pitchFamily="34" charset="-120"/>
              <a:ea typeface="Microsoft JhengHei" panose="020B0604030504040204" pitchFamily="34" charset="-120"/>
            </a:endParaRPr>
          </a:p>
        </p:txBody>
      </p:sp>
      <p:sp>
        <p:nvSpPr>
          <p:cNvPr id="4" name="文字方塊 3"/>
          <p:cNvSpPr txBox="1"/>
          <p:nvPr/>
        </p:nvSpPr>
        <p:spPr>
          <a:xfrm>
            <a:off x="8077201" y="681037"/>
            <a:ext cx="3562349" cy="923330"/>
          </a:xfrm>
          <a:prstGeom prst="rect">
            <a:avLst/>
          </a:prstGeom>
          <a:noFill/>
        </p:spPr>
        <p:txBody>
          <a:bodyPr wrap="square">
            <a:spAutoFit/>
          </a:bodyPr>
          <a:lstStyle/>
          <a:p>
            <a:r>
              <a:rPr lang="zh-TW" altLang="en-US" dirty="0"/>
              <a:t>https://arxiv.org/abs/2310.03128</a:t>
            </a:r>
            <a:endParaRPr lang="en-US" altLang="zh-TW" dirty="0"/>
          </a:p>
          <a:p>
            <a:r>
              <a:rPr lang="zh-TW" altLang="en-US" dirty="0"/>
              <a:t>https://arxiv.org/abs/2502.11271</a:t>
            </a:r>
            <a:endParaRPr lang="zh-TW" altLang="en-US" dirty="0"/>
          </a:p>
          <a:p>
            <a:r>
              <a:rPr lang="en-US" altLang="zh-TW" dirty="0"/>
              <a:t>https://arxiv.org/abs/2505.03275</a:t>
            </a:r>
            <a:endParaRPr lang="zh-TW" altLang="en-US" dirty="0"/>
          </a:p>
        </p:txBody>
      </p:sp>
      <p:pic>
        <p:nvPicPr>
          <p:cNvPr id="7" name="Picture 4"/>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049310" y="3486150"/>
            <a:ext cx="1526697" cy="1526697"/>
          </a:xfrm>
          <a:prstGeom prst="rect">
            <a:avLst/>
          </a:prstGeom>
          <a:noFill/>
          <a:extLst>
            <a:ext uri="{909E8E84-426E-40DD-AFC4-6F175D3DCCD1}">
              <a14:hiddenFill xmlns:a14="http://schemas.microsoft.com/office/drawing/2010/main">
                <a:solidFill>
                  <a:srgbClr val="FFFFFF"/>
                </a:solidFill>
              </a14:hiddenFill>
            </a:ext>
          </a:extLst>
        </p:spPr>
      </p:pic>
      <p:cxnSp>
        <p:nvCxnSpPr>
          <p:cNvPr id="8" name="直線單箭頭接點 7"/>
          <p:cNvCxnSpPr/>
          <p:nvPr/>
        </p:nvCxnSpPr>
        <p:spPr>
          <a:xfrm>
            <a:off x="3979900" y="4249499"/>
            <a:ext cx="789458"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文字方塊 8"/>
          <p:cNvSpPr txBox="1"/>
          <p:nvPr/>
        </p:nvSpPr>
        <p:spPr>
          <a:xfrm>
            <a:off x="5049310" y="2044597"/>
            <a:ext cx="1517904" cy="830997"/>
          </a:xfrm>
          <a:prstGeom prst="rect">
            <a:avLst/>
          </a:prstGeom>
          <a:noFill/>
        </p:spPr>
        <p:txBody>
          <a:bodyPr wrap="square" rtlCol="0">
            <a:spAutoFit/>
          </a:bodyPr>
          <a:lstStyle/>
          <a:p>
            <a:pPr algn="ctr"/>
            <a:r>
              <a:rPr lang="en-US" altLang="zh-TW" sz="2400" dirty="0"/>
              <a:t>User Prompt</a:t>
            </a:r>
            <a:endParaRPr lang="zh-TW" altLang="en-US" sz="2400" dirty="0"/>
          </a:p>
        </p:txBody>
      </p:sp>
      <p:cxnSp>
        <p:nvCxnSpPr>
          <p:cNvPr id="10" name="直線單箭頭接點 9"/>
          <p:cNvCxnSpPr/>
          <p:nvPr/>
        </p:nvCxnSpPr>
        <p:spPr>
          <a:xfrm>
            <a:off x="5807189" y="2911589"/>
            <a:ext cx="0" cy="574561"/>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 name="文字方塊 10"/>
          <p:cNvSpPr txBox="1"/>
          <p:nvPr/>
        </p:nvSpPr>
        <p:spPr>
          <a:xfrm>
            <a:off x="5244833" y="5012847"/>
            <a:ext cx="1124712" cy="830997"/>
          </a:xfrm>
          <a:prstGeom prst="rect">
            <a:avLst/>
          </a:prstGeom>
          <a:noFill/>
        </p:spPr>
        <p:txBody>
          <a:bodyPr wrap="square" rtlCol="0">
            <a:spAutoFit/>
          </a:bodyPr>
          <a:lstStyle/>
          <a:p>
            <a:pPr algn="ctr"/>
            <a:r>
              <a:rPr lang="en-US" altLang="zh-TW" sz="2400" dirty="0"/>
              <a:t>Search Engine</a:t>
            </a:r>
            <a:endParaRPr lang="zh-TW" altLang="en-US" sz="2400" dirty="0"/>
          </a:p>
        </p:txBody>
      </p:sp>
      <p:cxnSp>
        <p:nvCxnSpPr>
          <p:cNvPr id="12" name="直線單箭頭接點 11"/>
          <p:cNvCxnSpPr/>
          <p:nvPr/>
        </p:nvCxnSpPr>
        <p:spPr>
          <a:xfrm>
            <a:off x="6894550" y="4249499"/>
            <a:ext cx="789458"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左大括弧 12"/>
          <p:cNvSpPr/>
          <p:nvPr/>
        </p:nvSpPr>
        <p:spPr>
          <a:xfrm flipH="1">
            <a:off x="9457065" y="2674959"/>
            <a:ext cx="698363" cy="3067797"/>
          </a:xfrm>
          <a:prstGeom prst="leftBrace">
            <a:avLst>
              <a:gd name="adj1" fmla="val 11913"/>
              <a:gd name="adj2" fmla="val 48044"/>
            </a:avLst>
          </a:prstGeom>
          <a:ln w="381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zh-TW" altLang="en-US"/>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7352" y="3486150"/>
            <a:ext cx="1219200" cy="1219200"/>
          </a:xfrm>
          <a:prstGeom prst="rect">
            <a:avLst/>
          </a:prstGeom>
          <a:noFill/>
          <a:extLst>
            <a:ext uri="{909E8E84-426E-40DD-AFC4-6F175D3DCCD1}">
              <a14:hiddenFill xmlns:a14="http://schemas.microsoft.com/office/drawing/2010/main">
                <a:solidFill>
                  <a:srgbClr val="FFFFFF"/>
                </a:solidFill>
              </a14:hiddenFill>
            </a:ext>
          </a:extLst>
        </p:spPr>
      </p:pic>
      <p:sp>
        <p:nvSpPr>
          <p:cNvPr id="15" name="文字方塊 14"/>
          <p:cNvSpPr txBox="1"/>
          <p:nvPr/>
        </p:nvSpPr>
        <p:spPr>
          <a:xfrm>
            <a:off x="3048000" y="2900164"/>
            <a:ext cx="6096000" cy="369332"/>
          </a:xfrm>
          <a:prstGeom prst="rect">
            <a:avLst/>
          </a:prstGeom>
          <a:noFill/>
        </p:spPr>
        <p:txBody>
          <a:bodyPr wrap="square">
            <a:spAutoFit/>
          </a:bodyPr>
          <a:lstStyle/>
          <a:p>
            <a:r>
              <a:rPr lang="zh-TW" altLang="en-US" b="0" dirty="0">
                <a:effectLst/>
              </a:rPr>
              <a:t> </a:t>
            </a:r>
            <a:endParaRPr lang="zh-TW" altLang="en-US" dirty="0"/>
          </a:p>
        </p:txBody>
      </p:sp>
      <p:pic>
        <p:nvPicPr>
          <p:cNvPr id="4100"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59929" y="2900164"/>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22337" y="4340468"/>
            <a:ext cx="1219200" cy="1219200"/>
          </a:xfrm>
          <a:prstGeom prst="rect">
            <a:avLst/>
          </a:prstGeom>
          <a:noFill/>
          <a:extLst>
            <a:ext uri="{909E8E84-426E-40DD-AFC4-6F175D3DCCD1}">
              <a14:hiddenFill xmlns:a14="http://schemas.microsoft.com/office/drawing/2010/main">
                <a:solidFill>
                  <a:srgbClr val="FFFFFF"/>
                </a:solidFill>
              </a14:hiddenFill>
            </a:ext>
          </a:extLst>
        </p:spPr>
      </p:pic>
      <p:sp>
        <p:nvSpPr>
          <p:cNvPr id="16" name="文字方塊 15"/>
          <p:cNvSpPr txBox="1"/>
          <p:nvPr/>
        </p:nvSpPr>
        <p:spPr>
          <a:xfrm>
            <a:off x="10169025" y="3888531"/>
            <a:ext cx="1328687" cy="461665"/>
          </a:xfrm>
          <a:prstGeom prst="rect">
            <a:avLst/>
          </a:prstGeom>
          <a:noFill/>
        </p:spPr>
        <p:txBody>
          <a:bodyPr wrap="square" rtlCol="0">
            <a:spAutoFit/>
          </a:bodyPr>
          <a:lstStyle/>
          <a:p>
            <a:pPr algn="ctr"/>
            <a:r>
              <a:rPr lang="en-US" altLang="zh-TW" sz="2400" dirty="0"/>
              <a:t>Context</a:t>
            </a:r>
            <a:endParaRPr lang="zh-TW" altLang="en-US" sz="2400" dirty="0"/>
          </a:p>
        </p:txBody>
      </p:sp>
      <p:sp>
        <p:nvSpPr>
          <p:cNvPr id="5" name="文字方塊 4"/>
          <p:cNvSpPr txBox="1"/>
          <p:nvPr/>
        </p:nvSpPr>
        <p:spPr>
          <a:xfrm>
            <a:off x="1485900" y="4814004"/>
            <a:ext cx="3419498" cy="830997"/>
          </a:xfrm>
          <a:prstGeom prst="rect">
            <a:avLst/>
          </a:prstGeom>
          <a:noFill/>
        </p:spPr>
        <p:txBody>
          <a:bodyPr wrap="square" rtlCol="0">
            <a:spAutoFit/>
          </a:bodyPr>
          <a:lstStyle/>
          <a:p>
            <a:r>
              <a:rPr lang="zh-TW" altLang="en-US" sz="2400" dirty="0">
                <a:latin typeface="Microsoft JhengHei" panose="020B0604030504040204" pitchFamily="34" charset="-120"/>
                <a:ea typeface="Microsoft JhengHei" panose="020B0604030504040204" pitchFamily="34" charset="-120"/>
              </a:rPr>
              <a:t>不要把所有工具的使用說明放入 </a:t>
            </a:r>
            <a:r>
              <a:rPr lang="en-US" altLang="zh-TW" sz="2400" dirty="0">
                <a:latin typeface="Microsoft JhengHei" panose="020B0604030504040204" pitchFamily="34" charset="-120"/>
                <a:ea typeface="Microsoft JhengHei" panose="020B0604030504040204" pitchFamily="34" charset="-120"/>
              </a:rPr>
              <a:t>Context</a:t>
            </a:r>
            <a:endParaRPr lang="zh-TW" altLang="en-US" sz="2400" dirty="0">
              <a:latin typeface="Microsoft JhengHei" panose="020B0604030504040204" pitchFamily="34" charset="-120"/>
              <a:ea typeface="Microsoft JhengHei" panose="020B0604030504040204" pitchFamily="34" charset="-120"/>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10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10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p:bldP spid="13" grpId="0" animBg="1"/>
      <p:bldP spid="16"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挑選需要的內容</a:t>
            </a:r>
            <a:endParaRPr lang="zh-TW" altLang="en-US" dirty="0"/>
          </a:p>
        </p:txBody>
      </p:sp>
      <p:sp>
        <p:nvSpPr>
          <p:cNvPr id="3" name="內容版面配置區 2"/>
          <p:cNvSpPr>
            <a:spLocks noGrp="1"/>
          </p:cNvSpPr>
          <p:nvPr>
            <p:ph idx="1"/>
          </p:nvPr>
        </p:nvSpPr>
        <p:spPr/>
        <p:txBody>
          <a:bodyPr/>
          <a:lstStyle/>
          <a:p>
            <a:r>
              <a:rPr lang="zh-TW" altLang="en-US" dirty="0">
                <a:latin typeface="Microsoft JhengHei" panose="020B0604030504040204" pitchFamily="34" charset="-120"/>
                <a:ea typeface="Microsoft JhengHei" panose="020B0604030504040204" pitchFamily="34" charset="-120"/>
              </a:rPr>
              <a:t>挑選記憶 </a:t>
            </a:r>
            <a:r>
              <a:rPr lang="en-US" altLang="zh-TW" dirty="0"/>
              <a:t>(Memory RAG)</a:t>
            </a:r>
            <a:endParaRPr lang="zh-TW" altLang="en-US" dirty="0"/>
          </a:p>
        </p:txBody>
      </p:sp>
      <p:pic>
        <p:nvPicPr>
          <p:cNvPr id="20"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343207" y="3650905"/>
            <a:ext cx="1219200" cy="1219201"/>
          </a:xfrm>
          <a:prstGeom prst="rect">
            <a:avLst/>
          </a:prstGeom>
          <a:noFill/>
          <a:extLst>
            <a:ext uri="{909E8E84-426E-40DD-AFC4-6F175D3DCCD1}">
              <a14:hiddenFill xmlns:a14="http://schemas.microsoft.com/office/drawing/2010/main">
                <a:solidFill>
                  <a:srgbClr val="FFFFFF"/>
                </a:solidFill>
              </a14:hiddenFill>
            </a:ext>
          </a:extLst>
        </p:spPr>
      </p:pic>
      <p:sp>
        <p:nvSpPr>
          <p:cNvPr id="21" name="矩形: 圓角 20"/>
          <p:cNvSpPr/>
          <p:nvPr/>
        </p:nvSpPr>
        <p:spPr>
          <a:xfrm>
            <a:off x="1338407" y="2749592"/>
            <a:ext cx="1800000" cy="360000"/>
          </a:xfrm>
          <a:prstGeom prst="roundRect">
            <a:avLst/>
          </a:prstGeom>
          <a:gradFill rotWithShape="1">
            <a:gsLst>
              <a:gs pos="0">
                <a:srgbClr val="FFC000">
                  <a:lumMod val="110000"/>
                  <a:satMod val="105000"/>
                  <a:tint val="67000"/>
                </a:srgbClr>
              </a:gs>
              <a:gs pos="50000">
                <a:srgbClr val="FFC000">
                  <a:lumMod val="105000"/>
                  <a:satMod val="103000"/>
                  <a:tint val="73000"/>
                </a:srgbClr>
              </a:gs>
              <a:gs pos="100000">
                <a:srgbClr val="FFC000">
                  <a:lumMod val="105000"/>
                  <a:satMod val="109000"/>
                  <a:tint val="81000"/>
                </a:srgbClr>
              </a:gs>
            </a:gsLst>
            <a:lin ang="5400000" scaled="0"/>
          </a:gra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Sys prompt</a:t>
            </a:r>
            <a:endParaRPr kumimoji="0" lang="zh-TW" altLang="en-US"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22" name="矩形: 圓角 21"/>
          <p:cNvSpPr/>
          <p:nvPr/>
        </p:nvSpPr>
        <p:spPr>
          <a:xfrm>
            <a:off x="3138407" y="2735307"/>
            <a:ext cx="1800000" cy="360000"/>
          </a:xfrm>
          <a:prstGeom prst="roundRect">
            <a:avLst/>
          </a:prstGeom>
          <a:solidFill>
            <a:srgbClr val="5B9BD5">
              <a:lumMod val="20000"/>
              <a:lumOff val="80000"/>
            </a:srgb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obs</a:t>
            </a:r>
            <a:r>
              <a:rPr kumimoji="0" lang="en-US" altLang="zh-TW"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1</a:t>
            </a:r>
            <a:endParaRPr kumimoji="0" lang="zh-TW" altLang="en-US"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23" name="矩形: 圓角 22"/>
          <p:cNvSpPr/>
          <p:nvPr/>
        </p:nvSpPr>
        <p:spPr>
          <a:xfrm>
            <a:off x="4943582" y="2751426"/>
            <a:ext cx="1800000" cy="360000"/>
          </a:xfrm>
          <a:prstGeom prst="roundRect">
            <a:avLst/>
          </a:prstGeom>
          <a:solidFill>
            <a:srgbClr val="ED7D31">
              <a:lumMod val="20000"/>
              <a:lumOff val="80000"/>
            </a:srgb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action 1</a:t>
            </a:r>
            <a:endParaRPr kumimoji="0" lang="zh-TW" altLang="en-US"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cxnSp>
        <p:nvCxnSpPr>
          <p:cNvPr id="24" name="直線單箭頭接點 23"/>
          <p:cNvCxnSpPr/>
          <p:nvPr/>
        </p:nvCxnSpPr>
        <p:spPr>
          <a:xfrm>
            <a:off x="4038407" y="3245304"/>
            <a:ext cx="449100" cy="397239"/>
          </a:xfrm>
          <a:prstGeom prst="straightConnector1">
            <a:avLst/>
          </a:prstGeom>
          <a:noFill/>
          <a:ln w="57150" cap="flat" cmpd="sng" algn="ctr">
            <a:solidFill>
              <a:sysClr val="windowText" lastClr="000000"/>
            </a:solidFill>
            <a:prstDash val="solid"/>
            <a:miter lim="800000"/>
            <a:tailEnd type="triangle"/>
          </a:ln>
          <a:effectLst/>
        </p:spPr>
      </p:cxnSp>
      <p:cxnSp>
        <p:nvCxnSpPr>
          <p:cNvPr id="25" name="直線單箭頭接點 24"/>
          <p:cNvCxnSpPr/>
          <p:nvPr/>
        </p:nvCxnSpPr>
        <p:spPr>
          <a:xfrm flipV="1">
            <a:off x="5323457" y="3229064"/>
            <a:ext cx="449100" cy="397239"/>
          </a:xfrm>
          <a:prstGeom prst="straightConnector1">
            <a:avLst/>
          </a:prstGeom>
          <a:noFill/>
          <a:ln w="57150" cap="flat" cmpd="sng" algn="ctr">
            <a:solidFill>
              <a:sysClr val="windowText" lastClr="000000"/>
            </a:solidFill>
            <a:prstDash val="solid"/>
            <a:miter lim="800000"/>
            <a:tailEnd type="triangle"/>
          </a:ln>
          <a:effectLst/>
        </p:spPr>
      </p:cxnSp>
      <p:sp>
        <p:nvSpPr>
          <p:cNvPr id="26" name="文字方塊 25"/>
          <p:cNvSpPr txBox="1"/>
          <p:nvPr/>
        </p:nvSpPr>
        <p:spPr>
          <a:xfrm>
            <a:off x="2397420" y="4448239"/>
            <a:ext cx="2021837" cy="523220"/>
          </a:xfrm>
          <a:prstGeom prst="rect">
            <a:avLst/>
          </a:prstGeom>
          <a:noFill/>
        </p:spPr>
        <p:txBody>
          <a:bodyPr wrap="square" rtlCol="0">
            <a:spAutoFit/>
          </a:bodyPr>
          <a:lstStyle/>
          <a:p>
            <a:pPr algn="r"/>
            <a:r>
              <a:rPr lang="en-US" altLang="zh-TW" sz="2800" b="1" dirty="0">
                <a:solidFill>
                  <a:prstClr val="black"/>
                </a:solidFill>
                <a:latin typeface="Calibri" panose="020F0502020204030204"/>
              </a:rPr>
              <a:t>LLM</a:t>
            </a:r>
            <a:endParaRPr lang="zh-TW" altLang="en-US" sz="2800" b="1" dirty="0">
              <a:solidFill>
                <a:prstClr val="black"/>
              </a:solidFill>
              <a:latin typeface="Calibri" panose="020F0502020204030204"/>
            </a:endParaRPr>
          </a:p>
        </p:txBody>
      </p:sp>
      <p:sp>
        <p:nvSpPr>
          <p:cNvPr id="27" name="矩形: 圓角 26"/>
          <p:cNvSpPr/>
          <p:nvPr/>
        </p:nvSpPr>
        <p:spPr>
          <a:xfrm>
            <a:off x="8187257" y="2741644"/>
            <a:ext cx="1800000" cy="360000"/>
          </a:xfrm>
          <a:prstGeom prst="roundRect">
            <a:avLst/>
          </a:prstGeom>
          <a:solidFill>
            <a:srgbClr val="5B9BD5">
              <a:lumMod val="20000"/>
              <a:lumOff val="80000"/>
            </a:srgb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obs</a:t>
            </a:r>
            <a:r>
              <a:rPr kumimoji="0" lang="en-US" altLang="zh-TW"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10000</a:t>
            </a:r>
            <a:endParaRPr kumimoji="0" lang="zh-TW" altLang="en-US"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28" name="文字方塊 27"/>
          <p:cNvSpPr txBox="1"/>
          <p:nvPr/>
        </p:nvSpPr>
        <p:spPr>
          <a:xfrm>
            <a:off x="6755994" y="2588912"/>
            <a:ext cx="1418850" cy="523220"/>
          </a:xfrm>
          <a:prstGeom prst="rect">
            <a:avLst/>
          </a:prstGeom>
          <a:noFill/>
        </p:spPr>
        <p:txBody>
          <a:bodyPr wrap="square" rtlCol="0">
            <a:spAutoFit/>
          </a:bodyPr>
          <a:lstStyle/>
          <a:p>
            <a:pPr algn="ctr"/>
            <a:r>
              <a:rPr lang="en-US" altLang="zh-TW" sz="2800" dirty="0">
                <a:solidFill>
                  <a:prstClr val="black"/>
                </a:solidFill>
                <a:latin typeface="Calibri" panose="020F0502020204030204"/>
              </a:rPr>
              <a:t>……</a:t>
            </a:r>
            <a:endParaRPr lang="zh-TW" altLang="en-US" sz="2800" dirty="0">
              <a:solidFill>
                <a:prstClr val="black"/>
              </a:solidFill>
              <a:latin typeface="Calibri" panose="020F0502020204030204"/>
            </a:endParaRPr>
          </a:p>
        </p:txBody>
      </p:sp>
      <p:pic>
        <p:nvPicPr>
          <p:cNvPr id="29"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9365644" y="3574705"/>
            <a:ext cx="1219200" cy="1219201"/>
          </a:xfrm>
          <a:prstGeom prst="rect">
            <a:avLst/>
          </a:prstGeom>
          <a:noFill/>
          <a:extLst>
            <a:ext uri="{909E8E84-426E-40DD-AFC4-6F175D3DCCD1}">
              <a14:hiddenFill xmlns:a14="http://schemas.microsoft.com/office/drawing/2010/main">
                <a:solidFill>
                  <a:srgbClr val="FFFFFF"/>
                </a:solidFill>
              </a14:hiddenFill>
            </a:ext>
          </a:extLst>
        </p:spPr>
      </p:pic>
      <p:cxnSp>
        <p:nvCxnSpPr>
          <p:cNvPr id="30" name="直線單箭頭接點 29"/>
          <p:cNvCxnSpPr/>
          <p:nvPr/>
        </p:nvCxnSpPr>
        <p:spPr>
          <a:xfrm>
            <a:off x="9060844" y="3169104"/>
            <a:ext cx="449100" cy="397239"/>
          </a:xfrm>
          <a:prstGeom prst="straightConnector1">
            <a:avLst/>
          </a:prstGeom>
          <a:noFill/>
          <a:ln w="57150" cap="flat" cmpd="sng" algn="ctr">
            <a:solidFill>
              <a:sysClr val="windowText" lastClr="000000"/>
            </a:solidFill>
            <a:prstDash val="solid"/>
            <a:miter lim="800000"/>
            <a:tailEnd type="triangle"/>
          </a:ln>
          <a:effectLst/>
        </p:spPr>
      </p:cxnSp>
      <p:cxnSp>
        <p:nvCxnSpPr>
          <p:cNvPr id="31" name="直線單箭頭接點 30"/>
          <p:cNvCxnSpPr/>
          <p:nvPr/>
        </p:nvCxnSpPr>
        <p:spPr>
          <a:xfrm flipV="1">
            <a:off x="10345894" y="3152864"/>
            <a:ext cx="449100" cy="397239"/>
          </a:xfrm>
          <a:prstGeom prst="straightConnector1">
            <a:avLst/>
          </a:prstGeom>
          <a:noFill/>
          <a:ln w="57150" cap="flat" cmpd="sng" algn="ctr">
            <a:solidFill>
              <a:sysClr val="windowText" lastClr="000000"/>
            </a:solidFill>
            <a:prstDash val="solid"/>
            <a:miter lim="800000"/>
            <a:tailEnd type="triangle"/>
          </a:ln>
          <a:effectLst/>
        </p:spPr>
      </p:cxnSp>
      <p:sp>
        <p:nvSpPr>
          <p:cNvPr id="32" name="文字方塊 31"/>
          <p:cNvSpPr txBox="1"/>
          <p:nvPr/>
        </p:nvSpPr>
        <p:spPr>
          <a:xfrm>
            <a:off x="2629883" y="5488133"/>
            <a:ext cx="6042774" cy="523220"/>
          </a:xfrm>
          <a:prstGeom prst="rect">
            <a:avLst/>
          </a:prstGeom>
          <a:noFill/>
        </p:spPr>
        <p:txBody>
          <a:bodyPr wrap="square" rtlCol="0">
            <a:spAutoFit/>
          </a:bodyPr>
          <a:lstStyle/>
          <a:p>
            <a:pPr algn="ctr"/>
            <a:r>
              <a:rPr lang="zh-TW" altLang="en-US" sz="2800" dirty="0">
                <a:solidFill>
                  <a:prstClr val="black"/>
                </a:solidFill>
                <a:latin typeface="Microsoft JhengHei" panose="020B0604030504040204" pitchFamily="34" charset="-120"/>
                <a:ea typeface="Microsoft JhengHei" panose="020B0604030504040204" pitchFamily="34" charset="-120"/>
              </a:rPr>
              <a:t>不斷回憶整個 </a:t>
            </a:r>
            <a:r>
              <a:rPr lang="en-US" altLang="zh-TW" sz="2800" dirty="0">
                <a:solidFill>
                  <a:prstClr val="black"/>
                </a:solidFill>
                <a:latin typeface="Microsoft JhengHei" panose="020B0604030504040204" pitchFamily="34" charset="-120"/>
                <a:ea typeface="Microsoft JhengHei" panose="020B0604030504040204" pitchFamily="34" charset="-120"/>
              </a:rPr>
              <a:t>Agent </a:t>
            </a:r>
            <a:r>
              <a:rPr lang="zh-TW" altLang="en-US" sz="2800" dirty="0">
                <a:solidFill>
                  <a:prstClr val="black"/>
                </a:solidFill>
                <a:latin typeface="Microsoft JhengHei" panose="020B0604030504040204" pitchFamily="34" charset="-120"/>
                <a:ea typeface="Microsoft JhengHei" panose="020B0604030504040204" pitchFamily="34" charset="-120"/>
              </a:rPr>
              <a:t>一生的經歷 </a:t>
            </a:r>
            <a:r>
              <a:rPr lang="en-US" altLang="zh-TW" sz="2800" dirty="0">
                <a:solidFill>
                  <a:prstClr val="black"/>
                </a:solidFill>
                <a:latin typeface="Microsoft JhengHei" panose="020B0604030504040204" pitchFamily="34" charset="-120"/>
                <a:ea typeface="Microsoft JhengHei" panose="020B0604030504040204" pitchFamily="34" charset="-120"/>
              </a:rPr>
              <a:t>… </a:t>
            </a:r>
            <a:r>
              <a:rPr lang="en-US" altLang="zh-TW" sz="2800" dirty="0">
                <a:solidFill>
                  <a:prstClr val="black"/>
                </a:solidFill>
                <a:latin typeface="Microsoft JhengHei" panose="020B0604030504040204" pitchFamily="34" charset="-120"/>
                <a:ea typeface="Microsoft JhengHei" panose="020B0604030504040204" pitchFamily="34" charset="-120"/>
                <a:sym typeface="Wingdings" panose="05000000000000000000" pitchFamily="2" charset="2"/>
              </a:rPr>
              <a:t></a:t>
            </a:r>
            <a:endParaRPr lang="zh-TW" altLang="en-US" sz="2800" dirty="0">
              <a:solidFill>
                <a:prstClr val="black"/>
              </a:solidFill>
              <a:latin typeface="Microsoft JhengHei" panose="020B0604030504040204" pitchFamily="34" charset="-120"/>
              <a:ea typeface="Microsoft JhengHei" panose="020B0604030504040204" pitchFamily="34" charset="-120"/>
            </a:endParaRPr>
          </a:p>
        </p:txBody>
      </p:sp>
      <p:sp>
        <p:nvSpPr>
          <p:cNvPr id="33" name="文字方塊 32"/>
          <p:cNvSpPr txBox="1"/>
          <p:nvPr/>
        </p:nvSpPr>
        <p:spPr>
          <a:xfrm>
            <a:off x="10345894" y="2620431"/>
            <a:ext cx="1414574" cy="507831"/>
          </a:xfrm>
          <a:prstGeom prst="rect">
            <a:avLst/>
          </a:prstGeom>
          <a:noFill/>
        </p:spPr>
        <p:txBody>
          <a:bodyPr wrap="square" rtlCol="0">
            <a:spAutoFit/>
          </a:bodyPr>
          <a:lstStyle/>
          <a:p>
            <a:r>
              <a:rPr lang="en-US" altLang="zh-TW" sz="2700" dirty="0">
                <a:solidFill>
                  <a:prstClr val="black"/>
                </a:solidFill>
                <a:latin typeface="Calibri" panose="020F0502020204030204"/>
              </a:rPr>
              <a:t>?????</a:t>
            </a:r>
            <a:endParaRPr lang="zh-TW" altLang="en-US" sz="2700" dirty="0">
              <a:solidFill>
                <a:prstClr val="black"/>
              </a:solidFill>
              <a:latin typeface="Calibri" panose="020F0502020204030204"/>
            </a:endParaRPr>
          </a:p>
        </p:txBody>
      </p:sp>
      <p:pic>
        <p:nvPicPr>
          <p:cNvPr id="3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70718" y="3558464"/>
            <a:ext cx="988875" cy="988875"/>
          </a:xfrm>
          <a:prstGeom prst="rect">
            <a:avLst/>
          </a:prstGeom>
          <a:noFill/>
          <a:extLst>
            <a:ext uri="{909E8E84-426E-40DD-AFC4-6F175D3DCCD1}">
              <a14:hiddenFill xmlns:a14="http://schemas.microsoft.com/office/drawing/2010/main">
                <a:solidFill>
                  <a:srgbClr val="FFFFFF"/>
                </a:solidFill>
              </a14:hiddenFill>
            </a:ext>
          </a:extLst>
        </p:spPr>
      </p:pic>
      <p:sp>
        <p:nvSpPr>
          <p:cNvPr id="35" name="右大括弧 34"/>
          <p:cNvSpPr/>
          <p:nvPr/>
        </p:nvSpPr>
        <p:spPr>
          <a:xfrm rot="5400000">
            <a:off x="5149307" y="1013180"/>
            <a:ext cx="501360" cy="8141461"/>
          </a:xfrm>
          <a:prstGeom prst="rightBrace">
            <a:avLst>
              <a:gd name="adj1" fmla="val 69128"/>
              <a:gd name="adj2" fmla="val 50000"/>
            </a:avLst>
          </a:prstGeom>
          <a:no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TW" altLang="en-US" sz="1800" b="0" i="0" u="none" strike="noStrike" kern="0" cap="none" spc="0" normalizeH="0" baseline="0" noProof="0">
              <a:ln>
                <a:noFill/>
              </a:ln>
              <a:solidFill>
                <a:prstClr val="black"/>
              </a:solidFill>
              <a:effectLst/>
              <a:uLnTx/>
              <a:uFillTx/>
              <a:latin typeface="Calibri" panose="020F0502020204030204"/>
              <a:ea typeface="PMingLiU" panose="02020500000000000000" pitchFamily="18" charset="-120"/>
              <a:cs typeface="+mn-cs"/>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5"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挑選需要的內容</a:t>
            </a:r>
            <a:endParaRPr lang="zh-TW" altLang="en-US" dirty="0"/>
          </a:p>
        </p:txBody>
      </p:sp>
      <p:sp>
        <p:nvSpPr>
          <p:cNvPr id="3" name="內容版面配置區 2"/>
          <p:cNvSpPr>
            <a:spLocks noGrp="1"/>
          </p:cNvSpPr>
          <p:nvPr>
            <p:ph idx="1"/>
          </p:nvPr>
        </p:nvSpPr>
        <p:spPr/>
        <p:txBody>
          <a:bodyPr/>
          <a:lstStyle/>
          <a:p>
            <a:endParaRPr lang="zh-TW" altLang="en-US" dirty="0"/>
          </a:p>
        </p:txBody>
      </p:sp>
      <p:pic>
        <p:nvPicPr>
          <p:cNvPr id="4" name="圖片 3"/>
          <p:cNvPicPr>
            <a:picLocks noChangeAspect="1"/>
          </p:cNvPicPr>
          <p:nvPr/>
        </p:nvPicPr>
        <p:blipFill>
          <a:blip r:embed="rId1"/>
          <a:stretch>
            <a:fillRect/>
          </a:stretch>
        </p:blipFill>
        <p:spPr>
          <a:xfrm>
            <a:off x="1255253" y="1455420"/>
            <a:ext cx="9681493" cy="5091748"/>
          </a:xfrm>
          <a:prstGeom prst="rect">
            <a:avLst/>
          </a:prstGeom>
        </p:spPr>
      </p:pic>
      <p:sp>
        <p:nvSpPr>
          <p:cNvPr id="5" name="文字方塊 4"/>
          <p:cNvSpPr txBox="1"/>
          <p:nvPr/>
        </p:nvSpPr>
        <p:spPr>
          <a:xfrm>
            <a:off x="5463745" y="1165455"/>
            <a:ext cx="6098582" cy="369332"/>
          </a:xfrm>
          <a:prstGeom prst="rect">
            <a:avLst/>
          </a:prstGeom>
          <a:noFill/>
        </p:spPr>
        <p:txBody>
          <a:bodyPr wrap="square">
            <a:spAutoFit/>
          </a:bodyPr>
          <a:lstStyle/>
          <a:p>
            <a:pPr algn="r"/>
            <a:r>
              <a:rPr lang="en-US" altLang="zh-TW" b="0" i="0" dirty="0">
                <a:solidFill>
                  <a:srgbClr val="333333"/>
                </a:solidFill>
                <a:effectLst/>
                <a:latin typeface="Arial" panose="020B0604020202020204" pitchFamily="34" charset="0"/>
              </a:rPr>
              <a:t>Paper: https://arxiv.org/abs/2304.03442</a:t>
            </a:r>
            <a:endParaRPr lang="en-US" altLang="zh-TW" b="0" i="0" dirty="0">
              <a:solidFill>
                <a:srgbClr val="333333"/>
              </a:solidFill>
              <a:effectLst/>
              <a:latin typeface="Arial" panose="020B0604020202020204" pitchFamily="34" charset="0"/>
            </a:endParaRPr>
          </a:p>
        </p:txBody>
      </p:sp>
      <p:sp>
        <p:nvSpPr>
          <p:cNvPr id="6" name="文字方塊 5"/>
          <p:cNvSpPr txBox="1"/>
          <p:nvPr/>
        </p:nvSpPr>
        <p:spPr>
          <a:xfrm>
            <a:off x="5935937" y="418455"/>
            <a:ext cx="6098582" cy="646331"/>
          </a:xfrm>
          <a:prstGeom prst="rect">
            <a:avLst/>
          </a:prstGeom>
          <a:noFill/>
        </p:spPr>
        <p:txBody>
          <a:bodyPr wrap="square">
            <a:spAutoFit/>
          </a:bodyPr>
          <a:lstStyle/>
          <a:p>
            <a:r>
              <a:rPr lang="zh-TW" altLang="en-US" dirty="0">
                <a:solidFill>
                  <a:srgbClr val="333333"/>
                </a:solidFill>
                <a:latin typeface="Microsoft JhengHei" panose="020B0604030504040204" pitchFamily="34" charset="-120"/>
                <a:ea typeface="Microsoft JhengHei" panose="020B0604030504040204" pitchFamily="34" charset="-120"/>
              </a:rPr>
              <a:t>上課錄影：</a:t>
            </a:r>
            <a:r>
              <a:rPr lang="en-US" altLang="zh-TW" dirty="0">
                <a:solidFill>
                  <a:srgbClr val="333333"/>
                </a:solidFill>
                <a:latin typeface="Microsoft JhengHei" panose="020B0604030504040204" pitchFamily="34" charset="-120"/>
                <a:ea typeface="Microsoft JhengHei" panose="020B0604030504040204" pitchFamily="34" charset="-120"/>
              </a:rPr>
              <a:t>https://www.youtube.com/watch?v=G44Lkj7XDsA</a:t>
            </a:r>
            <a:endParaRPr lang="en-US" altLang="zh-TW" b="0" i="0" dirty="0">
              <a:solidFill>
                <a:srgbClr val="333333"/>
              </a:solidFill>
              <a:effectLst/>
              <a:latin typeface="Microsoft JhengHei" panose="020B0604030504040204" pitchFamily="34" charset="-120"/>
              <a:ea typeface="Microsoft JhengHei" panose="020B0604030504040204" pitchFamily="34" charset="-120"/>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挑選需要的內容</a:t>
            </a:r>
            <a:endParaRPr lang="zh-TW" altLang="en-US" dirty="0"/>
          </a:p>
        </p:txBody>
      </p:sp>
      <p:sp>
        <p:nvSpPr>
          <p:cNvPr id="3" name="內容版面配置區 2"/>
          <p:cNvSpPr>
            <a:spLocks noGrp="1"/>
          </p:cNvSpPr>
          <p:nvPr>
            <p:ph idx="1"/>
          </p:nvPr>
        </p:nvSpPr>
        <p:spPr/>
        <p:txBody>
          <a:bodyPr/>
          <a:lstStyle/>
          <a:p>
            <a:endParaRPr lang="zh-TW" altLang="en-US" dirty="0"/>
          </a:p>
        </p:txBody>
      </p:sp>
      <p:pic>
        <p:nvPicPr>
          <p:cNvPr id="5" name="圖片 4"/>
          <p:cNvPicPr>
            <a:picLocks noChangeAspect="1"/>
          </p:cNvPicPr>
          <p:nvPr/>
        </p:nvPicPr>
        <p:blipFill>
          <a:blip r:embed="rId1"/>
          <a:stretch>
            <a:fillRect/>
          </a:stretch>
        </p:blipFill>
        <p:spPr>
          <a:xfrm>
            <a:off x="0" y="182562"/>
            <a:ext cx="12141963" cy="6492875"/>
          </a:xfrm>
          <a:prstGeom prst="rect">
            <a:avLst/>
          </a:prstGeom>
        </p:spPr>
      </p:pic>
      <p:sp>
        <p:nvSpPr>
          <p:cNvPr id="4" name="文字方塊 3"/>
          <p:cNvSpPr txBox="1"/>
          <p:nvPr/>
        </p:nvSpPr>
        <p:spPr>
          <a:xfrm>
            <a:off x="1409700" y="5715298"/>
            <a:ext cx="4400550" cy="461665"/>
          </a:xfrm>
          <a:prstGeom prst="rect">
            <a:avLst/>
          </a:prstGeom>
          <a:noFill/>
        </p:spPr>
        <p:txBody>
          <a:bodyPr wrap="square" rtlCol="0">
            <a:spAutoFit/>
          </a:bodyPr>
          <a:lstStyle/>
          <a:p>
            <a:r>
              <a:rPr lang="zh-TW" altLang="en-US" sz="2400" dirty="0">
                <a:latin typeface="Microsoft JhengHei" panose="020B0604030504040204" pitchFamily="34" charset="-120"/>
                <a:ea typeface="Microsoft JhengHei" panose="020B0604030504040204" pitchFamily="34" charset="-120"/>
              </a:rPr>
              <a:t>不進 </a:t>
            </a:r>
            <a:r>
              <a:rPr lang="en-US" altLang="zh-TW" sz="2400" dirty="0">
                <a:latin typeface="Microsoft JhengHei" panose="020B0604030504040204" pitchFamily="34" charset="-120"/>
                <a:ea typeface="Microsoft JhengHei" panose="020B0604030504040204" pitchFamily="34" charset="-120"/>
              </a:rPr>
              <a:t>Context </a:t>
            </a:r>
            <a:r>
              <a:rPr lang="zh-TW" altLang="en-US" sz="2400" dirty="0">
                <a:latin typeface="Microsoft JhengHei" panose="020B0604030504040204" pitchFamily="34" charset="-120"/>
                <a:ea typeface="Microsoft JhengHei" panose="020B0604030504040204" pitchFamily="34" charset="-120"/>
              </a:rPr>
              <a:t>，另外儲存</a:t>
            </a:r>
            <a:endParaRPr lang="zh-TW" altLang="en-US" sz="2400" dirty="0">
              <a:latin typeface="Microsoft JhengHei" panose="020B0604030504040204" pitchFamily="34" charset="-120"/>
              <a:ea typeface="Microsoft JhengHei" panose="020B0604030504040204" pitchFamily="34" charset="-120"/>
            </a:endParaRPr>
          </a:p>
        </p:txBody>
      </p:sp>
      <p:sp>
        <p:nvSpPr>
          <p:cNvPr id="6" name="文字方塊 5"/>
          <p:cNvSpPr txBox="1"/>
          <p:nvPr/>
        </p:nvSpPr>
        <p:spPr>
          <a:xfrm>
            <a:off x="205945" y="230188"/>
            <a:ext cx="6098582" cy="369332"/>
          </a:xfrm>
          <a:prstGeom prst="rect">
            <a:avLst/>
          </a:prstGeom>
          <a:noFill/>
        </p:spPr>
        <p:txBody>
          <a:bodyPr wrap="square">
            <a:spAutoFit/>
          </a:bodyPr>
          <a:lstStyle/>
          <a:p>
            <a:r>
              <a:rPr lang="en-US" altLang="zh-TW" b="0" i="0" dirty="0">
                <a:solidFill>
                  <a:srgbClr val="333333"/>
                </a:solidFill>
                <a:effectLst/>
                <a:latin typeface="Arial" panose="020B0604020202020204" pitchFamily="34" charset="0"/>
              </a:rPr>
              <a:t>Paper: https://arxiv.org/abs/2304.03442</a:t>
            </a:r>
            <a:endParaRPr lang="en-US" altLang="zh-TW" b="0" i="0" dirty="0">
              <a:solidFill>
                <a:srgbClr val="333333"/>
              </a:solidFill>
              <a:effectLst/>
              <a:latin typeface="Arial" panose="020B0604020202020204" pitchFamily="34" charset="0"/>
            </a:endParaRPr>
          </a:p>
        </p:txBody>
      </p:sp>
      <p:grpSp>
        <p:nvGrpSpPr>
          <p:cNvPr id="12" name="群組 11"/>
          <p:cNvGrpSpPr/>
          <p:nvPr/>
        </p:nvGrpSpPr>
        <p:grpSpPr>
          <a:xfrm>
            <a:off x="5292296" y="-860424"/>
            <a:ext cx="6670081" cy="7155893"/>
            <a:chOff x="5292296" y="-860424"/>
            <a:chExt cx="6670081" cy="7155893"/>
          </a:xfrm>
        </p:grpSpPr>
        <p:sp>
          <p:nvSpPr>
            <p:cNvPr id="7" name="矩形 6"/>
            <p:cNvSpPr/>
            <p:nvPr/>
          </p:nvSpPr>
          <p:spPr>
            <a:xfrm>
              <a:off x="6472372" y="-860424"/>
              <a:ext cx="5490005" cy="57912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矩形 7"/>
            <p:cNvSpPr/>
            <p:nvPr/>
          </p:nvSpPr>
          <p:spPr>
            <a:xfrm>
              <a:off x="5292296" y="504269"/>
              <a:ext cx="1150210" cy="57912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nvGrpSpPr>
          <p:cNvPr id="11" name="群組 10"/>
          <p:cNvGrpSpPr/>
          <p:nvPr/>
        </p:nvGrpSpPr>
        <p:grpSpPr>
          <a:xfrm>
            <a:off x="6648450" y="4873626"/>
            <a:ext cx="4660040" cy="1812130"/>
            <a:chOff x="6648450" y="4873626"/>
            <a:chExt cx="4660040" cy="1812130"/>
          </a:xfrm>
        </p:grpSpPr>
        <p:sp>
          <p:nvSpPr>
            <p:cNvPr id="9" name="矩形 8"/>
            <p:cNvSpPr/>
            <p:nvPr/>
          </p:nvSpPr>
          <p:spPr>
            <a:xfrm>
              <a:off x="6648450" y="4873626"/>
              <a:ext cx="4454096" cy="18121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p:cNvSpPr/>
            <p:nvPr/>
          </p:nvSpPr>
          <p:spPr>
            <a:xfrm>
              <a:off x="7784238" y="5546944"/>
              <a:ext cx="3524252" cy="6892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err="1"/>
              <a:t>StreamBench</a:t>
            </a:r>
            <a:endParaRPr lang="zh-TW" altLang="en-US" dirty="0"/>
          </a:p>
        </p:txBody>
      </p:sp>
      <p:sp>
        <p:nvSpPr>
          <p:cNvPr id="4" name="文字方塊 3"/>
          <p:cNvSpPr txBox="1"/>
          <p:nvPr/>
        </p:nvSpPr>
        <p:spPr>
          <a:xfrm>
            <a:off x="838200" y="1267239"/>
            <a:ext cx="3501233"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https://arxiv.org/abs/2406.08747</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11" name="文字方塊 10"/>
          <p:cNvSpPr txBox="1"/>
          <p:nvPr/>
        </p:nvSpPr>
        <p:spPr>
          <a:xfrm>
            <a:off x="5565861" y="763805"/>
            <a:ext cx="3501233" cy="646331"/>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Tx/>
              <a:buSzTx/>
              <a:buFontTx/>
              <a:buNone/>
              <a:defRPr/>
            </a:pP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https://stream-bench.github.io/</a:t>
            </a:r>
            <a:endPar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a:p>
            <a:pPr marL="0" marR="0" lvl="0" indent="0" algn="r" defTabSz="914400" rtl="0" eaLnBrk="1" fontAlgn="auto" latinLnBrk="0" hangingPunct="1">
              <a:lnSpc>
                <a:spcPct val="100000"/>
              </a:lnSpc>
              <a:spcBef>
                <a:spcPts val="0"/>
              </a:spcBef>
              <a:spcAft>
                <a:spcPts val="0"/>
              </a:spcAft>
              <a:buClrTx/>
              <a:buSzTx/>
              <a:buFontTx/>
              <a:buNone/>
              <a:defRPr/>
            </a:pP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(done by </a:t>
            </a:r>
            <a:r>
              <a:rPr kumimoji="0" lang="en-US" altLang="zh-TW" sz="1800" b="0" i="0" u="none" strike="noStrike" kern="120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Appier</a:t>
            </a:r>
            <a:r>
              <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Researchers)</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pic>
        <p:nvPicPr>
          <p:cNvPr id="12"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0430364" y="240664"/>
            <a:ext cx="1453280" cy="1453280"/>
          </a:xfrm>
          <a:prstGeom prst="rect">
            <a:avLst/>
          </a:prstGeom>
          <a:noFill/>
          <a:extLst>
            <a:ext uri="{909E8E84-426E-40DD-AFC4-6F175D3DCCD1}">
              <a14:hiddenFill xmlns:a14="http://schemas.microsoft.com/office/drawing/2010/main">
                <a:solidFill>
                  <a:srgbClr val="FFFFFF"/>
                </a:solidFill>
              </a14:hiddenFill>
            </a:ext>
          </a:extLst>
        </p:spPr>
      </p:pic>
      <p:pic>
        <p:nvPicPr>
          <p:cNvPr id="71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7443" y="3497571"/>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717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0410" y="3497571"/>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43377" y="3497571"/>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12278" y="3497571"/>
            <a:ext cx="720000" cy="72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66344" y="3497571"/>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89311" y="3497571"/>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5246" y="3497571"/>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47398" y="3497571"/>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24430" y="3497571"/>
            <a:ext cx="720000" cy="720000"/>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70365" y="3497571"/>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98113" y="1736424"/>
            <a:ext cx="1219200" cy="1219201"/>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509520" y="1753842"/>
            <a:ext cx="1219200" cy="1219201"/>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357102" y="1775915"/>
            <a:ext cx="1219200" cy="1219201"/>
          </a:xfrm>
          <a:prstGeom prst="rect">
            <a:avLst/>
          </a:prstGeom>
          <a:noFill/>
          <a:extLst>
            <a:ext uri="{909E8E84-426E-40DD-AFC4-6F175D3DCCD1}">
              <a14:hiddenFill xmlns:a14="http://schemas.microsoft.com/office/drawing/2010/main">
                <a:solidFill>
                  <a:srgbClr val="FFFFFF"/>
                </a:solidFill>
              </a14:hiddenFill>
            </a:ext>
          </a:extLst>
        </p:spPr>
      </p:pic>
      <p:cxnSp>
        <p:nvCxnSpPr>
          <p:cNvPr id="29" name="直線單箭頭接點 28"/>
          <p:cNvCxnSpPr/>
          <p:nvPr/>
        </p:nvCxnSpPr>
        <p:spPr>
          <a:xfrm flipV="1">
            <a:off x="794340" y="3020263"/>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單箭頭接點 29"/>
          <p:cNvCxnSpPr/>
          <p:nvPr/>
        </p:nvCxnSpPr>
        <p:spPr>
          <a:xfrm>
            <a:off x="1468213" y="3065103"/>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左大括弧 36"/>
          <p:cNvSpPr/>
          <p:nvPr/>
        </p:nvSpPr>
        <p:spPr>
          <a:xfrm rot="16200000">
            <a:off x="5817399" y="77164"/>
            <a:ext cx="523219" cy="11869040"/>
          </a:xfrm>
          <a:prstGeom prst="leftBrace">
            <a:avLst>
              <a:gd name="adj1" fmla="val 62625"/>
              <a:gd name="adj2" fmla="val 50000"/>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black"/>
              </a:solidFill>
              <a:effectLst/>
              <a:uLnTx/>
              <a:uFillTx/>
              <a:latin typeface="Calibri" panose="020F0502020204030204"/>
              <a:ea typeface="PMingLiU" panose="02020500000000000000" pitchFamily="18" charset="-120"/>
              <a:cs typeface="+mn-cs"/>
            </a:endParaRPr>
          </a:p>
        </p:txBody>
      </p:sp>
      <p:sp>
        <p:nvSpPr>
          <p:cNvPr id="38" name="文字方塊 37"/>
          <p:cNvSpPr txBox="1"/>
          <p:nvPr/>
        </p:nvSpPr>
        <p:spPr>
          <a:xfrm>
            <a:off x="2343377" y="6214034"/>
            <a:ext cx="7165101"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TW" sz="2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Goal: Maximize the a</a:t>
            </a:r>
            <a:r>
              <a:rPr kumimoji="0" lang="en-US" altLang="zh-TW" sz="2800" b="0" i="0" u="none" strike="noStrike" kern="120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ccuracy</a:t>
            </a:r>
            <a:r>
              <a:rPr kumimoji="0" lang="en-US" altLang="zh-TW" sz="2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over the sequence </a:t>
            </a:r>
            <a:endParaRPr kumimoji="0" lang="zh-TW" altLang="en-US" sz="2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40" name="文字方塊 39"/>
          <p:cNvSpPr txBox="1"/>
          <p:nvPr/>
        </p:nvSpPr>
        <p:spPr>
          <a:xfrm>
            <a:off x="6958213" y="3497571"/>
            <a:ext cx="1063249"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a:t>
            </a:r>
            <a:endParaRPr kumimoji="0" lang="zh-TW" altLang="en-US"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pic>
        <p:nvPicPr>
          <p:cNvPr id="41"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993333" y="3497571"/>
            <a:ext cx="720000" cy="720000"/>
          </a:xfrm>
          <a:prstGeom prst="rect">
            <a:avLst/>
          </a:prstGeom>
          <a:noFill/>
          <a:extLst>
            <a:ext uri="{909E8E84-426E-40DD-AFC4-6F175D3DCCD1}">
              <a14:hiddenFill xmlns:a14="http://schemas.microsoft.com/office/drawing/2010/main">
                <a:solidFill>
                  <a:srgbClr val="FFFFFF"/>
                </a:solidFill>
              </a14:hiddenFill>
            </a:ext>
          </a:extLst>
        </p:spPr>
      </p:pic>
      <p:cxnSp>
        <p:nvCxnSpPr>
          <p:cNvPr id="42" name="直線單箭頭接點 41"/>
          <p:cNvCxnSpPr/>
          <p:nvPr/>
        </p:nvCxnSpPr>
        <p:spPr>
          <a:xfrm flipV="1">
            <a:off x="3551260" y="3000526"/>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線單箭頭接點 42"/>
          <p:cNvCxnSpPr/>
          <p:nvPr/>
        </p:nvCxnSpPr>
        <p:spPr>
          <a:xfrm>
            <a:off x="4225133" y="3045366"/>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線單箭頭接點 43"/>
          <p:cNvCxnSpPr/>
          <p:nvPr/>
        </p:nvCxnSpPr>
        <p:spPr>
          <a:xfrm flipV="1">
            <a:off x="9383237" y="3000526"/>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直線單箭頭接點 44"/>
          <p:cNvCxnSpPr/>
          <p:nvPr/>
        </p:nvCxnSpPr>
        <p:spPr>
          <a:xfrm>
            <a:off x="10057110" y="3045366"/>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6" name="Picture 2"/>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780409" y="4753531"/>
            <a:ext cx="1031387" cy="1031387"/>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2"/>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34474" y="4774205"/>
            <a:ext cx="1031387" cy="1031387"/>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2"/>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411591" y="4715833"/>
            <a:ext cx="1031387" cy="1031387"/>
          </a:xfrm>
          <a:prstGeom prst="rect">
            <a:avLst/>
          </a:prstGeom>
          <a:noFill/>
          <a:extLst>
            <a:ext uri="{909E8E84-426E-40DD-AFC4-6F175D3DCCD1}">
              <a14:hiddenFill xmlns:a14="http://schemas.microsoft.com/office/drawing/2010/main">
                <a:solidFill>
                  <a:srgbClr val="FFFFFF"/>
                </a:solidFill>
              </a14:hiddenFill>
            </a:ext>
          </a:extLst>
        </p:spPr>
      </p:pic>
      <p:grpSp>
        <p:nvGrpSpPr>
          <p:cNvPr id="51" name="群組 50"/>
          <p:cNvGrpSpPr/>
          <p:nvPr/>
        </p:nvGrpSpPr>
        <p:grpSpPr>
          <a:xfrm flipV="1">
            <a:off x="10365797" y="4262706"/>
            <a:ext cx="1122973" cy="442079"/>
            <a:chOff x="7326007" y="4685470"/>
            <a:chExt cx="1122973" cy="442079"/>
          </a:xfrm>
        </p:grpSpPr>
        <p:cxnSp>
          <p:nvCxnSpPr>
            <p:cNvPr id="49" name="直線單箭頭接點 48"/>
            <p:cNvCxnSpPr/>
            <p:nvPr/>
          </p:nvCxnSpPr>
          <p:spPr>
            <a:xfrm flipV="1">
              <a:off x="7326007" y="4685470"/>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線單箭頭接點 49"/>
            <p:cNvCxnSpPr/>
            <p:nvPr/>
          </p:nvCxnSpPr>
          <p:spPr>
            <a:xfrm>
              <a:off x="7999880" y="4730310"/>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52" name="群組 51"/>
          <p:cNvGrpSpPr/>
          <p:nvPr/>
        </p:nvGrpSpPr>
        <p:grpSpPr>
          <a:xfrm flipV="1">
            <a:off x="4454359" y="4306734"/>
            <a:ext cx="1122973" cy="442079"/>
            <a:chOff x="7326007" y="4685470"/>
            <a:chExt cx="1122973" cy="442079"/>
          </a:xfrm>
        </p:grpSpPr>
        <p:cxnSp>
          <p:nvCxnSpPr>
            <p:cNvPr id="53" name="直線單箭頭接點 52"/>
            <p:cNvCxnSpPr/>
            <p:nvPr/>
          </p:nvCxnSpPr>
          <p:spPr>
            <a:xfrm flipV="1">
              <a:off x="7326007" y="4685470"/>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線單箭頭接點 53"/>
            <p:cNvCxnSpPr/>
            <p:nvPr/>
          </p:nvCxnSpPr>
          <p:spPr>
            <a:xfrm>
              <a:off x="7999880" y="4730310"/>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55" name="群組 54"/>
          <p:cNvGrpSpPr/>
          <p:nvPr/>
        </p:nvGrpSpPr>
        <p:grpSpPr>
          <a:xfrm flipV="1">
            <a:off x="1692763" y="4266449"/>
            <a:ext cx="1122973" cy="442079"/>
            <a:chOff x="7326007" y="4685470"/>
            <a:chExt cx="1122973" cy="442079"/>
          </a:xfrm>
        </p:grpSpPr>
        <p:cxnSp>
          <p:nvCxnSpPr>
            <p:cNvPr id="56" name="直線單箭頭接點 55"/>
            <p:cNvCxnSpPr/>
            <p:nvPr/>
          </p:nvCxnSpPr>
          <p:spPr>
            <a:xfrm flipV="1">
              <a:off x="7326007" y="4685470"/>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單箭頭接點 56"/>
            <p:cNvCxnSpPr/>
            <p:nvPr/>
          </p:nvCxnSpPr>
          <p:spPr>
            <a:xfrm>
              <a:off x="7999880" y="4730310"/>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8" name="文字方塊 57"/>
          <p:cNvSpPr txBox="1"/>
          <p:nvPr/>
        </p:nvSpPr>
        <p:spPr>
          <a:xfrm>
            <a:off x="298457" y="4165523"/>
            <a:ext cx="1051149"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Q1</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59" name="文字方塊 58"/>
          <p:cNvSpPr txBox="1"/>
          <p:nvPr/>
        </p:nvSpPr>
        <p:spPr>
          <a:xfrm>
            <a:off x="3083566" y="4206293"/>
            <a:ext cx="1051149"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Q2</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60" name="文字方塊 59"/>
          <p:cNvSpPr txBox="1"/>
          <p:nvPr/>
        </p:nvSpPr>
        <p:spPr>
          <a:xfrm>
            <a:off x="9005961" y="4242308"/>
            <a:ext cx="1051149"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Q1000</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61" name="文字方塊 60"/>
          <p:cNvSpPr txBox="1"/>
          <p:nvPr/>
        </p:nvSpPr>
        <p:spPr>
          <a:xfrm>
            <a:off x="5868675" y="4242308"/>
            <a:ext cx="1051149"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Q3</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pic>
        <p:nvPicPr>
          <p:cNvPr id="62" name="圖片 61" descr="一張含有 服裝, 人員, 戶外, 人的臉孔 的圖片&#10;&#10;自動產生的描述"/>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1344" y="336821"/>
            <a:ext cx="1241985" cy="124198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17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5"/>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7"/>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51"/>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48"/>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41"/>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err="1"/>
              <a:t>StreamBench</a:t>
            </a:r>
            <a:endParaRPr lang="zh-TW" altLang="en-US" dirty="0"/>
          </a:p>
        </p:txBody>
      </p:sp>
      <p:sp>
        <p:nvSpPr>
          <p:cNvPr id="4" name="文字方塊 3"/>
          <p:cNvSpPr txBox="1"/>
          <p:nvPr/>
        </p:nvSpPr>
        <p:spPr>
          <a:xfrm>
            <a:off x="838200" y="1267239"/>
            <a:ext cx="3501233"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https://arxiv.org/abs/2406.08747</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pic>
        <p:nvPicPr>
          <p:cNvPr id="7170"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97443" y="5440671"/>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717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20410" y="5440671"/>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43377" y="5440671"/>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12278" y="5440671"/>
            <a:ext cx="720000" cy="72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266344" y="5440671"/>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89311" y="5440671"/>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6035246" y="5440671"/>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642865" y="2244262"/>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852569" y="522606"/>
            <a:ext cx="1219200" cy="1219201"/>
          </a:xfrm>
          <a:prstGeom prst="rect">
            <a:avLst/>
          </a:prstGeom>
          <a:noFill/>
          <a:extLst>
            <a:ext uri="{909E8E84-426E-40DD-AFC4-6F175D3DCCD1}">
              <a14:hiddenFill xmlns:a14="http://schemas.microsoft.com/office/drawing/2010/main">
                <a:solidFill>
                  <a:srgbClr val="FFFFFF"/>
                </a:solidFill>
              </a14:hiddenFill>
            </a:ext>
          </a:extLst>
        </p:spPr>
      </p:pic>
      <p:sp>
        <p:nvSpPr>
          <p:cNvPr id="40" name="文字方塊 39"/>
          <p:cNvSpPr txBox="1"/>
          <p:nvPr/>
        </p:nvSpPr>
        <p:spPr>
          <a:xfrm>
            <a:off x="6958213" y="5440671"/>
            <a:ext cx="1063249"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a:t>
            </a:r>
            <a:endParaRPr kumimoji="0" lang="zh-TW" altLang="en-US"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cxnSp>
        <p:nvCxnSpPr>
          <p:cNvPr id="44" name="直線單箭頭接點 43"/>
          <p:cNvCxnSpPr/>
          <p:nvPr/>
        </p:nvCxnSpPr>
        <p:spPr>
          <a:xfrm flipV="1">
            <a:off x="7878704" y="1747217"/>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直線單箭頭接點 44"/>
          <p:cNvCxnSpPr/>
          <p:nvPr/>
        </p:nvCxnSpPr>
        <p:spPr>
          <a:xfrm>
            <a:off x="8552577" y="1792057"/>
            <a:ext cx="449100" cy="3972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文字方塊 57"/>
          <p:cNvSpPr txBox="1"/>
          <p:nvPr/>
        </p:nvSpPr>
        <p:spPr>
          <a:xfrm>
            <a:off x="298457" y="6108623"/>
            <a:ext cx="1051149"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Q1</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59" name="文字方塊 58"/>
          <p:cNvSpPr txBox="1"/>
          <p:nvPr/>
        </p:nvSpPr>
        <p:spPr>
          <a:xfrm>
            <a:off x="3083566" y="6149393"/>
            <a:ext cx="1051149"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Q2</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60" name="文字方塊 59"/>
          <p:cNvSpPr txBox="1"/>
          <p:nvPr/>
        </p:nvSpPr>
        <p:spPr>
          <a:xfrm>
            <a:off x="7501428" y="2988999"/>
            <a:ext cx="1051149"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Q100</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61" name="文字方塊 60"/>
          <p:cNvSpPr txBox="1"/>
          <p:nvPr/>
        </p:nvSpPr>
        <p:spPr>
          <a:xfrm>
            <a:off x="5868675" y="6185408"/>
            <a:ext cx="1051149"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Q3</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3" name="矩形: 圓角 2"/>
          <p:cNvSpPr/>
          <p:nvPr/>
        </p:nvSpPr>
        <p:spPr>
          <a:xfrm>
            <a:off x="3817257" y="4037976"/>
            <a:ext cx="1879593" cy="552602"/>
          </a:xfrm>
          <a:prstGeom prst="roundRect">
            <a:avLst/>
          </a:prstGeom>
          <a:ln w="38100">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lvl="0" algn="ctr">
              <a:defRPr/>
            </a:pPr>
            <a:r>
              <a:rPr lang="en-US" altLang="zh-TW" sz="2400" dirty="0">
                <a:solidFill>
                  <a:prstClr val="black"/>
                </a:solidFill>
              </a:rPr>
              <a:t>Retrieval</a:t>
            </a:r>
            <a:endParaRPr lang="en-US" altLang="zh-TW" sz="2400" dirty="0">
              <a:solidFill>
                <a:prstClr val="black"/>
              </a:solidFill>
            </a:endParaRPr>
          </a:p>
        </p:txBody>
      </p:sp>
      <p:cxnSp>
        <p:nvCxnSpPr>
          <p:cNvPr id="5" name="直線單箭頭接點 4"/>
          <p:cNvCxnSpPr/>
          <p:nvPr/>
        </p:nvCxnSpPr>
        <p:spPr>
          <a:xfrm flipV="1">
            <a:off x="4728720" y="4610100"/>
            <a:ext cx="0" cy="533093"/>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8" name="文字方塊 7"/>
          <p:cNvSpPr txBox="1"/>
          <p:nvPr/>
        </p:nvSpPr>
        <p:spPr>
          <a:xfrm>
            <a:off x="8556546" y="2279900"/>
            <a:ext cx="1063249"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a:t>
            </a:r>
            <a:endParaRPr kumimoji="0" lang="zh-TW" altLang="en-US" sz="2800" b="1"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pic>
        <p:nvPicPr>
          <p:cNvPr id="9"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004982" y="2197953"/>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27949" y="2197953"/>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0916" y="2197953"/>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19817" y="2197953"/>
            <a:ext cx="720000" cy="720000"/>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773883" y="2197953"/>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96850" y="2197953"/>
            <a:ext cx="719999" cy="720000"/>
          </a:xfrm>
          <a:prstGeom prst="rect">
            <a:avLst/>
          </a:prstGeom>
          <a:noFill/>
          <a:extLst>
            <a:ext uri="{909E8E84-426E-40DD-AFC4-6F175D3DCCD1}">
              <a14:hiddenFill xmlns:a14="http://schemas.microsoft.com/office/drawing/2010/main">
                <a:solidFill>
                  <a:srgbClr val="FFFFFF"/>
                </a:solidFill>
              </a14:hiddenFill>
            </a:ext>
          </a:extLst>
        </p:spPr>
      </p:pic>
      <p:sp>
        <p:nvSpPr>
          <p:cNvPr id="19" name="文字方塊 18"/>
          <p:cNvSpPr txBox="1"/>
          <p:nvPr/>
        </p:nvSpPr>
        <p:spPr>
          <a:xfrm>
            <a:off x="1821828" y="2884097"/>
            <a:ext cx="1051149"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Q65</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23" name="文字方塊 22"/>
          <p:cNvSpPr txBox="1"/>
          <p:nvPr/>
        </p:nvSpPr>
        <p:spPr>
          <a:xfrm>
            <a:off x="4591105" y="2906675"/>
            <a:ext cx="1051149"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Q78</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pic>
        <p:nvPicPr>
          <p:cNvPr id="24"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905259" y="5475132"/>
            <a:ext cx="720000" cy="720000"/>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8059325" y="5475132"/>
            <a:ext cx="719999" cy="72000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82292" y="5475132"/>
            <a:ext cx="719999" cy="720000"/>
          </a:xfrm>
          <a:prstGeom prst="rect">
            <a:avLst/>
          </a:prstGeom>
          <a:noFill/>
          <a:extLst>
            <a:ext uri="{909E8E84-426E-40DD-AFC4-6F175D3DCCD1}">
              <a14:hiddenFill xmlns:a14="http://schemas.microsoft.com/office/drawing/2010/main">
                <a:solidFill>
                  <a:srgbClr val="FFFFFF"/>
                </a:solidFill>
              </a14:hiddenFill>
            </a:ext>
          </a:extLst>
        </p:spPr>
      </p:pic>
      <p:sp>
        <p:nvSpPr>
          <p:cNvPr id="35" name="文字方塊 34"/>
          <p:cNvSpPr txBox="1"/>
          <p:nvPr/>
        </p:nvSpPr>
        <p:spPr>
          <a:xfrm>
            <a:off x="7876547" y="6183854"/>
            <a:ext cx="1051149"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TW"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Q99</a:t>
            </a: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cxnSp>
        <p:nvCxnSpPr>
          <p:cNvPr id="39" name="直線單箭頭接點 38"/>
          <p:cNvCxnSpPr/>
          <p:nvPr/>
        </p:nvCxnSpPr>
        <p:spPr>
          <a:xfrm flipV="1">
            <a:off x="4728720" y="3450664"/>
            <a:ext cx="0" cy="533093"/>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2" name="矩形: 圓角 61"/>
          <p:cNvSpPr/>
          <p:nvPr/>
        </p:nvSpPr>
        <p:spPr>
          <a:xfrm>
            <a:off x="1781809" y="2128370"/>
            <a:ext cx="2862752" cy="1146517"/>
          </a:xfrm>
          <a:prstGeom prst="roundRect">
            <a:avLst/>
          </a:prstGeom>
          <a:noFill/>
          <a:ln w="38100">
            <a:solidFill>
              <a:schemeClr val="tx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63" name="矩形: 圓角 62"/>
          <p:cNvSpPr/>
          <p:nvPr/>
        </p:nvSpPr>
        <p:spPr>
          <a:xfrm>
            <a:off x="4657721" y="2131483"/>
            <a:ext cx="2862752" cy="1146517"/>
          </a:xfrm>
          <a:prstGeom prst="roundRect">
            <a:avLst/>
          </a:prstGeom>
          <a:noFill/>
          <a:ln w="38100">
            <a:solidFill>
              <a:schemeClr val="tx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24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9" grpId="0"/>
      <p:bldP spid="23" grpId="0"/>
      <p:bldP spid="62" grpId="0" animBg="1"/>
      <p:bldP spid="63"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err="1"/>
              <a:t>StreamBench</a:t>
            </a:r>
            <a:endParaRPr lang="zh-TW" altLang="en-US" dirty="0"/>
          </a:p>
        </p:txBody>
      </p:sp>
      <p:pic>
        <p:nvPicPr>
          <p:cNvPr id="5" name="圖片 4"/>
          <p:cNvPicPr>
            <a:picLocks noChangeAspect="1"/>
          </p:cNvPicPr>
          <p:nvPr/>
        </p:nvPicPr>
        <p:blipFill>
          <a:blip r:embed="rId1"/>
          <a:stretch>
            <a:fillRect/>
          </a:stretch>
        </p:blipFill>
        <p:spPr>
          <a:xfrm>
            <a:off x="2713963" y="1735022"/>
            <a:ext cx="7066121" cy="4700703"/>
          </a:xfrm>
          <a:prstGeom prst="rect">
            <a:avLst/>
          </a:prstGeom>
        </p:spPr>
      </p:pic>
      <p:sp>
        <p:nvSpPr>
          <p:cNvPr id="6" name="文字方塊 5"/>
          <p:cNvSpPr txBox="1"/>
          <p:nvPr/>
        </p:nvSpPr>
        <p:spPr>
          <a:xfrm>
            <a:off x="891050" y="1210663"/>
            <a:ext cx="609971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https://arxiv.org/abs/2406.08747</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4" name="橢圓 3"/>
          <p:cNvSpPr/>
          <p:nvPr/>
        </p:nvSpPr>
        <p:spPr>
          <a:xfrm>
            <a:off x="9246849" y="2133881"/>
            <a:ext cx="240051" cy="236199"/>
          </a:xfrm>
          <a:prstGeom prst="ellips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
        <p:nvSpPr>
          <p:cNvPr id="7" name="橢圓 6"/>
          <p:cNvSpPr/>
          <p:nvPr/>
        </p:nvSpPr>
        <p:spPr>
          <a:xfrm>
            <a:off x="9246849" y="3060585"/>
            <a:ext cx="240051" cy="236199"/>
          </a:xfrm>
          <a:prstGeom prst="ellips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
        <p:nvSpPr>
          <p:cNvPr id="8" name="橢圓 7"/>
          <p:cNvSpPr/>
          <p:nvPr/>
        </p:nvSpPr>
        <p:spPr>
          <a:xfrm>
            <a:off x="9256374" y="3755910"/>
            <a:ext cx="240051" cy="236199"/>
          </a:xfrm>
          <a:prstGeom prst="ellips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
        <p:nvSpPr>
          <p:cNvPr id="9" name="橢圓 8"/>
          <p:cNvSpPr/>
          <p:nvPr/>
        </p:nvSpPr>
        <p:spPr>
          <a:xfrm>
            <a:off x="9265899" y="4127385"/>
            <a:ext cx="240051" cy="236199"/>
          </a:xfrm>
          <a:prstGeom prst="ellips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TW" altLang="en-US" sz="1800" b="0" i="0" u="none" strike="noStrike" kern="1200" cap="none" spc="0" normalizeH="0" baseline="0" noProof="0">
              <a:ln>
                <a:noFill/>
              </a:ln>
              <a:solidFill>
                <a:prstClr val="white"/>
              </a:solidFill>
              <a:effectLst/>
              <a:uLnTx/>
              <a:uFillTx/>
              <a:latin typeface="Calibri" panose="020F0502020204030204"/>
              <a:ea typeface="PMingLiU" panose="02020500000000000000" pitchFamily="18" charset="-120"/>
              <a:cs typeface="+mn-cs"/>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9"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err="1"/>
              <a:t>StreamBench</a:t>
            </a:r>
            <a:endParaRPr lang="zh-TW" altLang="en-US" dirty="0"/>
          </a:p>
        </p:txBody>
      </p:sp>
      <p:sp>
        <p:nvSpPr>
          <p:cNvPr id="3" name="內容版面配置區 2"/>
          <p:cNvSpPr>
            <a:spLocks noGrp="1"/>
          </p:cNvSpPr>
          <p:nvPr>
            <p:ph idx="1"/>
          </p:nvPr>
        </p:nvSpPr>
        <p:spPr/>
        <p:txBody>
          <a:bodyPr/>
          <a:lstStyle/>
          <a:p>
            <a:endParaRPr lang="zh-TW" altLang="en-US"/>
          </a:p>
        </p:txBody>
      </p:sp>
      <p:sp>
        <p:nvSpPr>
          <p:cNvPr id="4" name="文字方塊 3"/>
          <p:cNvSpPr txBox="1"/>
          <p:nvPr/>
        </p:nvSpPr>
        <p:spPr>
          <a:xfrm>
            <a:off x="891050" y="1210663"/>
            <a:ext cx="609971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https://arxiv.org/abs/2406.08747</a:t>
            </a:r>
            <a:endPar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pic>
        <p:nvPicPr>
          <p:cNvPr id="6" name="圖片 5"/>
          <p:cNvPicPr>
            <a:picLocks noChangeAspect="1"/>
          </p:cNvPicPr>
          <p:nvPr/>
        </p:nvPicPr>
        <p:blipFill>
          <a:blip r:embed="rId1"/>
          <a:stretch>
            <a:fillRect/>
          </a:stretch>
        </p:blipFill>
        <p:spPr>
          <a:xfrm>
            <a:off x="2412030" y="1902958"/>
            <a:ext cx="7710840" cy="4196671"/>
          </a:xfrm>
          <a:prstGeom prst="rect">
            <a:avLst/>
          </a:prstGeom>
        </p:spPr>
      </p:pic>
      <p:sp>
        <p:nvSpPr>
          <p:cNvPr id="5" name="文字方塊 4"/>
          <p:cNvSpPr txBox="1"/>
          <p:nvPr/>
        </p:nvSpPr>
        <p:spPr>
          <a:xfrm>
            <a:off x="5029200" y="942844"/>
            <a:ext cx="6515100" cy="461665"/>
          </a:xfrm>
          <a:prstGeom prst="rect">
            <a:avLst/>
          </a:prstGeom>
          <a:noFill/>
        </p:spPr>
        <p:txBody>
          <a:bodyPr wrap="square" rtlCol="0">
            <a:spAutoFit/>
          </a:bodyPr>
          <a:lstStyle/>
          <a:p>
            <a:r>
              <a:rPr lang="zh-TW" altLang="en-US" sz="2400" dirty="0">
                <a:latin typeface="Microsoft JhengHei" panose="020B0604030504040204" pitchFamily="34" charset="-120"/>
                <a:ea typeface="Microsoft JhengHei" panose="020B0604030504040204" pitchFamily="34" charset="-120"/>
              </a:rPr>
              <a:t>叫你不要想「白熊」，反而特別容易想「白熊」</a:t>
            </a:r>
            <a:endParaRPr lang="zh-TW" altLang="en-US" sz="2400" dirty="0">
              <a:latin typeface="Microsoft JhengHei" panose="020B0604030504040204" pitchFamily="34" charset="-120"/>
              <a:ea typeface="Microsoft JhengHei" panose="020B0604030504040204" pitchFamily="34" charset="-120"/>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壓縮內容</a:t>
            </a:r>
            <a:endParaRPr lang="zh-TW" altLang="en-US" dirty="0">
              <a:latin typeface="Microsoft JhengHei" panose="020B0604030504040204" pitchFamily="34" charset="-120"/>
              <a:ea typeface="Microsoft JhengHei" panose="020B0604030504040204" pitchFamily="34" charset="-120"/>
            </a:endParaRPr>
          </a:p>
        </p:txBody>
      </p:sp>
      <p:sp>
        <p:nvSpPr>
          <p:cNvPr id="33" name="矩形: 圓角 32"/>
          <p:cNvSpPr/>
          <p:nvPr/>
        </p:nvSpPr>
        <p:spPr>
          <a:xfrm>
            <a:off x="3179019" y="2026807"/>
            <a:ext cx="1440000" cy="360000"/>
          </a:xfrm>
          <a:prstGeom prst="roundRect">
            <a:avLst/>
          </a:prstGeom>
          <a:solidFill>
            <a:srgbClr val="ED7D31">
              <a:lumMod val="20000"/>
              <a:lumOff val="80000"/>
            </a:srgb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act </a:t>
            </a:r>
            <a:r>
              <a:rPr lang="en-US" altLang="zh-TW" sz="2400" kern="0" dirty="0">
                <a:solidFill>
                  <a:prstClr val="black"/>
                </a:solidFill>
                <a:latin typeface="Calibri" panose="020F0502020204030204"/>
                <a:ea typeface="PMingLiU" panose="02020500000000000000" pitchFamily="18" charset="-120"/>
              </a:rPr>
              <a:t>100</a:t>
            </a:r>
            <a:endParaRPr kumimoji="0" lang="zh-TW" altLang="en-US"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34" name="矩形: 圓角 33"/>
          <p:cNvSpPr/>
          <p:nvPr/>
        </p:nvSpPr>
        <p:spPr>
          <a:xfrm>
            <a:off x="8032957" y="2026807"/>
            <a:ext cx="1440000" cy="360000"/>
          </a:xfrm>
          <a:prstGeom prst="roundRect">
            <a:avLst/>
          </a:prstGeom>
          <a:solidFill>
            <a:srgbClr val="5B9BD5">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dirty="0" err="1">
                <a:solidFill>
                  <a:prstClr val="black"/>
                </a:solidFill>
                <a:latin typeface="Calibri" panose="020F0502020204030204"/>
              </a:rPr>
              <a:t>obs</a:t>
            </a:r>
            <a:r>
              <a:rPr lang="en-US" altLang="zh-TW" sz="2400" kern="0" dirty="0">
                <a:solidFill>
                  <a:prstClr val="black"/>
                </a:solidFill>
                <a:latin typeface="Calibri" panose="020F0502020204030204"/>
              </a:rPr>
              <a:t> 102</a:t>
            </a:r>
            <a:endParaRPr lang="zh-TW" altLang="en-US" sz="2400" kern="0" dirty="0">
              <a:solidFill>
                <a:prstClr val="black"/>
              </a:solidFill>
              <a:latin typeface="Calibri" panose="020F0502020204030204"/>
            </a:endParaRPr>
          </a:p>
        </p:txBody>
      </p:sp>
      <p:sp>
        <p:nvSpPr>
          <p:cNvPr id="35" name="文字方塊 34"/>
          <p:cNvSpPr txBox="1"/>
          <p:nvPr/>
        </p:nvSpPr>
        <p:spPr>
          <a:xfrm>
            <a:off x="282325" y="1910848"/>
            <a:ext cx="1418850" cy="523220"/>
          </a:xfrm>
          <a:prstGeom prst="rect">
            <a:avLst/>
          </a:prstGeom>
          <a:noFill/>
        </p:spPr>
        <p:txBody>
          <a:bodyPr wrap="square" rtlCol="0">
            <a:spAutoFit/>
          </a:bodyPr>
          <a:lstStyle/>
          <a:p>
            <a:pPr algn="ctr"/>
            <a:r>
              <a:rPr lang="en-US" altLang="zh-TW" sz="2800" dirty="0">
                <a:solidFill>
                  <a:prstClr val="black"/>
                </a:solidFill>
                <a:latin typeface="Calibri" panose="020F0502020204030204"/>
              </a:rPr>
              <a:t>……</a:t>
            </a:r>
            <a:endParaRPr lang="zh-TW" altLang="en-US" sz="2800" dirty="0">
              <a:solidFill>
                <a:prstClr val="black"/>
              </a:solidFill>
              <a:latin typeface="Calibri" panose="020F0502020204030204"/>
            </a:endParaRPr>
          </a:p>
        </p:txBody>
      </p:sp>
      <p:pic>
        <p:nvPicPr>
          <p:cNvPr id="3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0442800" y="1597207"/>
            <a:ext cx="1219200" cy="1219201"/>
          </a:xfrm>
          <a:prstGeom prst="rect">
            <a:avLst/>
          </a:prstGeom>
          <a:noFill/>
          <a:extLst>
            <a:ext uri="{909E8E84-426E-40DD-AFC4-6F175D3DCCD1}">
              <a14:hiddenFill xmlns:a14="http://schemas.microsoft.com/office/drawing/2010/main">
                <a:solidFill>
                  <a:srgbClr val="FFFFFF"/>
                </a:solidFill>
              </a14:hiddenFill>
            </a:ext>
          </a:extLst>
        </p:spPr>
      </p:pic>
      <p:cxnSp>
        <p:nvCxnSpPr>
          <p:cNvPr id="37" name="直線單箭頭接點 36"/>
          <p:cNvCxnSpPr/>
          <p:nvPr/>
        </p:nvCxnSpPr>
        <p:spPr>
          <a:xfrm>
            <a:off x="9589072" y="2239099"/>
            <a:ext cx="737613" cy="0"/>
          </a:xfrm>
          <a:prstGeom prst="straightConnector1">
            <a:avLst/>
          </a:prstGeom>
          <a:noFill/>
          <a:ln w="57150" cap="flat" cmpd="sng" algn="ctr">
            <a:solidFill>
              <a:sysClr val="windowText" lastClr="000000"/>
            </a:solidFill>
            <a:prstDash val="solid"/>
            <a:miter lim="800000"/>
            <a:tailEnd type="triangle"/>
          </a:ln>
          <a:effectLst/>
        </p:spPr>
      </p:cxnSp>
      <p:pic>
        <p:nvPicPr>
          <p:cNvPr id="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72307" y="1591237"/>
            <a:ext cx="988875" cy="988875"/>
          </a:xfrm>
          <a:prstGeom prst="rect">
            <a:avLst/>
          </a:prstGeom>
          <a:noFill/>
          <a:extLst>
            <a:ext uri="{909E8E84-426E-40DD-AFC4-6F175D3DCCD1}">
              <a14:hiddenFill xmlns:a14="http://schemas.microsoft.com/office/drawing/2010/main">
                <a:solidFill>
                  <a:srgbClr val="FFFFFF"/>
                </a:solidFill>
              </a14:hiddenFill>
            </a:ext>
          </a:extLst>
        </p:spPr>
      </p:pic>
      <p:sp>
        <p:nvSpPr>
          <p:cNvPr id="39" name="矩形: 圓角 38"/>
          <p:cNvSpPr/>
          <p:nvPr/>
        </p:nvSpPr>
        <p:spPr>
          <a:xfrm>
            <a:off x="4796998" y="2026807"/>
            <a:ext cx="1440000" cy="360000"/>
          </a:xfrm>
          <a:prstGeom prst="roundRect">
            <a:avLst/>
          </a:prstGeom>
          <a:solidFill>
            <a:srgbClr val="5B9BD5">
              <a:lumMod val="20000"/>
              <a:lumOff val="80000"/>
            </a:srgb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obs</a:t>
            </a:r>
            <a:r>
              <a:rPr kumimoji="0" lang="en-US" altLang="zh-TW"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a:t>
            </a:r>
            <a:r>
              <a:rPr lang="en-US" altLang="zh-TW" sz="2400" kern="0" dirty="0">
                <a:solidFill>
                  <a:prstClr val="black"/>
                </a:solidFill>
                <a:latin typeface="Calibri" panose="020F0502020204030204"/>
                <a:ea typeface="PMingLiU" panose="02020500000000000000" pitchFamily="18" charset="-120"/>
              </a:rPr>
              <a:t>101</a:t>
            </a:r>
            <a:endParaRPr kumimoji="0" lang="zh-TW" altLang="en-US"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40" name="矩形: 圓角 39"/>
          <p:cNvSpPr/>
          <p:nvPr/>
        </p:nvSpPr>
        <p:spPr>
          <a:xfrm>
            <a:off x="6414977" y="2026807"/>
            <a:ext cx="1440000" cy="360000"/>
          </a:xfrm>
          <a:prstGeom prst="roundRect">
            <a:avLst/>
          </a:prstGeom>
          <a:solidFill>
            <a:srgbClr val="ED7D31">
              <a:lumMod val="20000"/>
              <a:lumOff val="80000"/>
            </a:srgb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act </a:t>
            </a:r>
            <a:r>
              <a:rPr lang="en-US" altLang="zh-TW" sz="2400" kern="0" dirty="0">
                <a:solidFill>
                  <a:prstClr val="black"/>
                </a:solidFill>
                <a:latin typeface="Calibri" panose="020F0502020204030204"/>
                <a:ea typeface="PMingLiU" panose="02020500000000000000" pitchFamily="18" charset="-120"/>
              </a:rPr>
              <a:t>101</a:t>
            </a:r>
            <a:endParaRPr kumimoji="0" lang="zh-TW" altLang="en-US"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41" name="矩形: 圓角 40"/>
          <p:cNvSpPr/>
          <p:nvPr/>
        </p:nvSpPr>
        <p:spPr>
          <a:xfrm>
            <a:off x="1561039" y="2026807"/>
            <a:ext cx="1440000" cy="360000"/>
          </a:xfrm>
          <a:prstGeom prst="roundRect">
            <a:avLst/>
          </a:prstGeom>
          <a:solidFill>
            <a:srgbClr val="5B9BD5">
              <a:lumMod val="20000"/>
              <a:lumOff val="80000"/>
            </a:srgb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obs</a:t>
            </a:r>
            <a:r>
              <a:rPr kumimoji="0" lang="en-US" altLang="zh-TW"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a:t>
            </a:r>
            <a:r>
              <a:rPr lang="en-US" altLang="zh-TW" sz="2400" kern="0" dirty="0">
                <a:solidFill>
                  <a:prstClr val="black"/>
                </a:solidFill>
                <a:latin typeface="Calibri" panose="020F0502020204030204"/>
                <a:ea typeface="PMingLiU" panose="02020500000000000000" pitchFamily="18" charset="-120"/>
              </a:rPr>
              <a:t>100</a:t>
            </a:r>
            <a:endParaRPr kumimoji="0" lang="zh-TW" altLang="en-US"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pic>
        <p:nvPicPr>
          <p:cNvPr id="42"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351105" y="3202740"/>
            <a:ext cx="1219200" cy="1219201"/>
          </a:xfrm>
          <a:prstGeom prst="rect">
            <a:avLst/>
          </a:prstGeom>
          <a:noFill/>
          <a:extLst>
            <a:ext uri="{909E8E84-426E-40DD-AFC4-6F175D3DCCD1}">
              <a14:hiddenFill xmlns:a14="http://schemas.microsoft.com/office/drawing/2010/main">
                <a:solidFill>
                  <a:srgbClr val="FFFFFF"/>
                </a:solidFill>
              </a14:hiddenFill>
            </a:ext>
          </a:extLst>
        </p:spPr>
      </p:pic>
      <p:sp>
        <p:nvSpPr>
          <p:cNvPr id="43" name="矩形: 圓角 42"/>
          <p:cNvSpPr/>
          <p:nvPr/>
        </p:nvSpPr>
        <p:spPr>
          <a:xfrm>
            <a:off x="3240705" y="5260458"/>
            <a:ext cx="1440000" cy="360000"/>
          </a:xfrm>
          <a:prstGeom prst="roundRect">
            <a:avLst/>
          </a:prstGeom>
          <a:solidFill>
            <a:schemeClr val="accent6">
              <a:lumMod val="20000"/>
              <a:lumOff val="80000"/>
            </a:scheme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history</a:t>
            </a:r>
            <a:endParaRPr kumimoji="0" lang="zh-TW" altLang="en-US"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44" name="矩形: 圓角 43"/>
          <p:cNvSpPr/>
          <p:nvPr/>
        </p:nvSpPr>
        <p:spPr>
          <a:xfrm>
            <a:off x="8062828" y="5260458"/>
            <a:ext cx="1440000" cy="360000"/>
          </a:xfrm>
          <a:prstGeom prst="roundRect">
            <a:avLst/>
          </a:prstGeom>
          <a:solidFill>
            <a:srgbClr val="5B9BD5">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dirty="0" err="1">
                <a:solidFill>
                  <a:prstClr val="black"/>
                </a:solidFill>
                <a:latin typeface="Calibri" panose="020F0502020204030204"/>
              </a:rPr>
              <a:t>obs</a:t>
            </a:r>
            <a:r>
              <a:rPr lang="en-US" altLang="zh-TW" sz="2400" kern="0" dirty="0">
                <a:solidFill>
                  <a:prstClr val="black"/>
                </a:solidFill>
                <a:latin typeface="Calibri" panose="020F0502020204030204"/>
              </a:rPr>
              <a:t> 102</a:t>
            </a:r>
            <a:endParaRPr lang="zh-TW" altLang="en-US" sz="2400" kern="0" dirty="0">
              <a:solidFill>
                <a:prstClr val="black"/>
              </a:solidFill>
              <a:latin typeface="Calibri" panose="020F0502020204030204"/>
            </a:endParaRPr>
          </a:p>
        </p:txBody>
      </p:sp>
      <p:pic>
        <p:nvPicPr>
          <p:cNvPr id="45"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0472671" y="4830858"/>
            <a:ext cx="1219200" cy="1219201"/>
          </a:xfrm>
          <a:prstGeom prst="rect">
            <a:avLst/>
          </a:prstGeom>
          <a:noFill/>
          <a:extLst>
            <a:ext uri="{909E8E84-426E-40DD-AFC4-6F175D3DCCD1}">
              <a14:hiddenFill xmlns:a14="http://schemas.microsoft.com/office/drawing/2010/main">
                <a:solidFill>
                  <a:srgbClr val="FFFFFF"/>
                </a:solidFill>
              </a14:hiddenFill>
            </a:ext>
          </a:extLst>
        </p:spPr>
      </p:pic>
      <p:cxnSp>
        <p:nvCxnSpPr>
          <p:cNvPr id="46" name="直線單箭頭接點 45"/>
          <p:cNvCxnSpPr/>
          <p:nvPr/>
        </p:nvCxnSpPr>
        <p:spPr>
          <a:xfrm>
            <a:off x="9618943" y="5472750"/>
            <a:ext cx="737613" cy="0"/>
          </a:xfrm>
          <a:prstGeom prst="straightConnector1">
            <a:avLst/>
          </a:prstGeom>
          <a:noFill/>
          <a:ln w="57150" cap="flat" cmpd="sng" algn="ctr">
            <a:solidFill>
              <a:sysClr val="windowText" lastClr="000000"/>
            </a:solidFill>
            <a:prstDash val="solid"/>
            <a:miter lim="800000"/>
            <a:tailEnd type="triangle"/>
          </a:ln>
          <a:effectLst/>
        </p:spPr>
      </p:cxnSp>
      <p:sp>
        <p:nvSpPr>
          <p:cNvPr id="47" name="矩形: 圓角 46"/>
          <p:cNvSpPr/>
          <p:nvPr/>
        </p:nvSpPr>
        <p:spPr>
          <a:xfrm>
            <a:off x="4848079" y="5260458"/>
            <a:ext cx="1440000" cy="360000"/>
          </a:xfrm>
          <a:prstGeom prst="roundRect">
            <a:avLst/>
          </a:prstGeom>
          <a:solidFill>
            <a:srgbClr val="5B9BD5">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dirty="0" err="1">
                <a:solidFill>
                  <a:prstClr val="black"/>
                </a:solidFill>
                <a:latin typeface="Calibri" panose="020F0502020204030204"/>
              </a:rPr>
              <a:t>obs</a:t>
            </a:r>
            <a:r>
              <a:rPr lang="en-US" altLang="zh-TW" sz="2400" kern="0" dirty="0">
                <a:solidFill>
                  <a:prstClr val="black"/>
                </a:solidFill>
                <a:latin typeface="Calibri" panose="020F0502020204030204"/>
              </a:rPr>
              <a:t> 101</a:t>
            </a:r>
            <a:endParaRPr lang="zh-TW" altLang="en-US" sz="2400" kern="0" dirty="0">
              <a:solidFill>
                <a:prstClr val="black"/>
              </a:solidFill>
              <a:latin typeface="Calibri" panose="020F0502020204030204"/>
            </a:endParaRPr>
          </a:p>
        </p:txBody>
      </p:sp>
      <p:sp>
        <p:nvSpPr>
          <p:cNvPr id="48" name="矩形: 圓角 47"/>
          <p:cNvSpPr/>
          <p:nvPr/>
        </p:nvSpPr>
        <p:spPr>
          <a:xfrm>
            <a:off x="6455453" y="5260458"/>
            <a:ext cx="1440000" cy="360000"/>
          </a:xfrm>
          <a:prstGeom prst="roundRect">
            <a:avLst/>
          </a:prstGeom>
          <a:solidFill>
            <a:srgbClr val="ED7D31">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dirty="0">
                <a:solidFill>
                  <a:prstClr val="black"/>
                </a:solidFill>
                <a:latin typeface="Calibri" panose="020F0502020204030204"/>
              </a:rPr>
              <a:t>act 101</a:t>
            </a:r>
            <a:endParaRPr lang="zh-TW" altLang="en-US" sz="2400" kern="0" dirty="0">
              <a:solidFill>
                <a:prstClr val="black"/>
              </a:solidFill>
              <a:latin typeface="Calibri" panose="020F0502020204030204"/>
            </a:endParaRPr>
          </a:p>
        </p:txBody>
      </p:sp>
      <p:sp>
        <p:nvSpPr>
          <p:cNvPr id="49" name="文字方塊 48"/>
          <p:cNvSpPr txBox="1"/>
          <p:nvPr/>
        </p:nvSpPr>
        <p:spPr>
          <a:xfrm>
            <a:off x="4672931" y="3696593"/>
            <a:ext cx="1828800" cy="461665"/>
          </a:xfrm>
          <a:prstGeom prst="rect">
            <a:avLst/>
          </a:prstGeom>
          <a:noFill/>
        </p:spPr>
        <p:txBody>
          <a:bodyPr wrap="square" rtlCol="0">
            <a:spAutoFit/>
          </a:bodyPr>
          <a:lstStyle/>
          <a:p>
            <a:r>
              <a:rPr lang="zh-TW" altLang="en-US" sz="2400" dirty="0">
                <a:latin typeface="Microsoft JhengHei" panose="020B0604030504040204" pitchFamily="34" charset="-120"/>
                <a:ea typeface="Microsoft JhengHei" panose="020B0604030504040204" pitchFamily="34" charset="-120"/>
              </a:rPr>
              <a:t>摘要 </a:t>
            </a:r>
            <a:r>
              <a:rPr lang="en-US" altLang="zh-TW" sz="2400" dirty="0">
                <a:latin typeface="Microsoft JhengHei" panose="020B0604030504040204" pitchFamily="34" charset="-120"/>
                <a:ea typeface="Microsoft JhengHei" panose="020B0604030504040204" pitchFamily="34" charset="-120"/>
              </a:rPr>
              <a:t>(</a:t>
            </a:r>
            <a:r>
              <a:rPr lang="zh-TW" altLang="en-US" sz="2400" dirty="0">
                <a:latin typeface="Microsoft JhengHei" panose="020B0604030504040204" pitchFamily="34" charset="-120"/>
                <a:ea typeface="Microsoft JhengHei" panose="020B0604030504040204" pitchFamily="34" charset="-120"/>
              </a:rPr>
              <a:t>壓縮</a:t>
            </a:r>
            <a:r>
              <a:rPr lang="en-US" altLang="zh-TW" sz="2400" dirty="0">
                <a:latin typeface="Microsoft JhengHei" panose="020B0604030504040204" pitchFamily="34" charset="-120"/>
                <a:ea typeface="Microsoft JhengHei" panose="020B0604030504040204" pitchFamily="34" charset="-120"/>
              </a:rPr>
              <a:t>)</a:t>
            </a:r>
            <a:endParaRPr lang="zh-TW" altLang="en-US" sz="2400" dirty="0">
              <a:latin typeface="Microsoft JhengHei" panose="020B0604030504040204" pitchFamily="34" charset="-120"/>
              <a:ea typeface="Microsoft JhengHei" panose="020B0604030504040204" pitchFamily="34" charset="-120"/>
            </a:endParaRPr>
          </a:p>
        </p:txBody>
      </p:sp>
      <p:cxnSp>
        <p:nvCxnSpPr>
          <p:cNvPr id="50" name="直線單箭頭接點 49"/>
          <p:cNvCxnSpPr/>
          <p:nvPr/>
        </p:nvCxnSpPr>
        <p:spPr>
          <a:xfrm>
            <a:off x="3960706" y="4498056"/>
            <a:ext cx="0" cy="660804"/>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1" name="右大括弧 50"/>
          <p:cNvSpPr/>
          <p:nvPr/>
        </p:nvSpPr>
        <p:spPr>
          <a:xfrm rot="5400000">
            <a:off x="2323552" y="760591"/>
            <a:ext cx="499985" cy="4090949"/>
          </a:xfrm>
          <a:prstGeom prst="rightBrace">
            <a:avLst>
              <a:gd name="adj1" fmla="val 34460"/>
              <a:gd name="adj2" fmla="val 17005"/>
            </a:avLst>
          </a:prstGeom>
          <a:ln w="381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zh-TW" altLang="en-US"/>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47" grpId="0" animBg="1"/>
      <p:bldP spid="48" grpId="0" animBg="1"/>
      <p:bldP spid="49" grpId="0"/>
      <p:bldP spid="51"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圓角 13"/>
          <p:cNvSpPr/>
          <p:nvPr/>
        </p:nvSpPr>
        <p:spPr>
          <a:xfrm>
            <a:off x="956284" y="2929266"/>
            <a:ext cx="1440000" cy="360000"/>
          </a:xfrm>
          <a:prstGeom prst="roundRect">
            <a:avLst/>
          </a:prstGeom>
          <a:solidFill>
            <a:schemeClr val="accent6">
              <a:lumMod val="20000"/>
              <a:lumOff val="80000"/>
            </a:scheme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history</a:t>
            </a:r>
            <a:r>
              <a:rPr kumimoji="0" lang="zh-TW" altLang="en-US"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a:t>
            </a:r>
            <a:r>
              <a:rPr kumimoji="0" lang="en-US" altLang="zh-TW"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1</a:t>
            </a:r>
            <a:endParaRPr kumimoji="0" lang="zh-TW" altLang="en-US"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18" name="矩形: 圓角 17"/>
          <p:cNvSpPr/>
          <p:nvPr/>
        </p:nvSpPr>
        <p:spPr>
          <a:xfrm>
            <a:off x="2563658" y="2929266"/>
            <a:ext cx="1440000" cy="360000"/>
          </a:xfrm>
          <a:prstGeom prst="roundRect">
            <a:avLst/>
          </a:prstGeom>
          <a:solidFill>
            <a:srgbClr val="5B9BD5">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dirty="0" err="1">
                <a:solidFill>
                  <a:prstClr val="black"/>
                </a:solidFill>
                <a:latin typeface="Calibri" panose="020F0502020204030204"/>
              </a:rPr>
              <a:t>obs</a:t>
            </a:r>
            <a:r>
              <a:rPr lang="en-US" altLang="zh-TW" sz="2400" kern="0" dirty="0">
                <a:solidFill>
                  <a:prstClr val="black"/>
                </a:solidFill>
                <a:latin typeface="Calibri" panose="020F0502020204030204"/>
              </a:rPr>
              <a:t> 101</a:t>
            </a:r>
            <a:endParaRPr lang="zh-TW" altLang="en-US" sz="2400" kern="0" dirty="0">
              <a:solidFill>
                <a:prstClr val="black"/>
              </a:solidFill>
              <a:latin typeface="Calibri" panose="020F0502020204030204"/>
            </a:endParaRPr>
          </a:p>
        </p:txBody>
      </p:sp>
      <p:sp>
        <p:nvSpPr>
          <p:cNvPr id="19" name="矩形: 圓角 18"/>
          <p:cNvSpPr/>
          <p:nvPr/>
        </p:nvSpPr>
        <p:spPr>
          <a:xfrm>
            <a:off x="4171032" y="2929266"/>
            <a:ext cx="1440000" cy="360000"/>
          </a:xfrm>
          <a:prstGeom prst="roundRect">
            <a:avLst/>
          </a:prstGeom>
          <a:solidFill>
            <a:srgbClr val="ED7D31">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dirty="0">
                <a:solidFill>
                  <a:prstClr val="black"/>
                </a:solidFill>
                <a:latin typeface="Calibri" panose="020F0502020204030204"/>
              </a:rPr>
              <a:t>act 101</a:t>
            </a:r>
            <a:endParaRPr lang="zh-TW" altLang="en-US" sz="2400" kern="0" dirty="0">
              <a:solidFill>
                <a:prstClr val="black"/>
              </a:solidFill>
              <a:latin typeface="Calibri" panose="020F0502020204030204"/>
            </a:endParaRPr>
          </a:p>
        </p:txBody>
      </p:sp>
      <p:cxnSp>
        <p:nvCxnSpPr>
          <p:cNvPr id="21" name="直線單箭頭接點 20"/>
          <p:cNvCxnSpPr/>
          <p:nvPr/>
        </p:nvCxnSpPr>
        <p:spPr>
          <a:xfrm>
            <a:off x="1676284" y="1962502"/>
            <a:ext cx="0" cy="660804"/>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右大括弧 21"/>
          <p:cNvSpPr/>
          <p:nvPr/>
        </p:nvSpPr>
        <p:spPr>
          <a:xfrm rot="5400000">
            <a:off x="4609906" y="-2184376"/>
            <a:ext cx="499985" cy="7676845"/>
          </a:xfrm>
          <a:prstGeom prst="rightBrace">
            <a:avLst>
              <a:gd name="adj1" fmla="val 34460"/>
              <a:gd name="adj2" fmla="val 91436"/>
            </a:avLst>
          </a:prstGeom>
          <a:ln w="381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zh-TW" altLang="en-US"/>
          </a:p>
        </p:txBody>
      </p:sp>
      <p:sp>
        <p:nvSpPr>
          <p:cNvPr id="23" name="矩形: 圓角 22"/>
          <p:cNvSpPr/>
          <p:nvPr/>
        </p:nvSpPr>
        <p:spPr>
          <a:xfrm>
            <a:off x="7193130" y="2929266"/>
            <a:ext cx="1440000" cy="360000"/>
          </a:xfrm>
          <a:prstGeom prst="roundRect">
            <a:avLst/>
          </a:prstGeom>
          <a:solidFill>
            <a:srgbClr val="5B9BD5">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dirty="0" err="1">
                <a:solidFill>
                  <a:prstClr val="black"/>
                </a:solidFill>
                <a:latin typeface="Calibri" panose="020F0502020204030204"/>
              </a:rPr>
              <a:t>obs</a:t>
            </a:r>
            <a:r>
              <a:rPr lang="en-US" altLang="zh-TW" sz="2400" kern="0" dirty="0">
                <a:solidFill>
                  <a:prstClr val="black"/>
                </a:solidFill>
                <a:latin typeface="Calibri" panose="020F0502020204030204"/>
              </a:rPr>
              <a:t> 200</a:t>
            </a:r>
            <a:endParaRPr lang="zh-TW" altLang="en-US" sz="2400" kern="0" dirty="0">
              <a:solidFill>
                <a:prstClr val="black"/>
              </a:solidFill>
              <a:latin typeface="Calibri" panose="020F0502020204030204"/>
            </a:endParaRPr>
          </a:p>
        </p:txBody>
      </p:sp>
      <p:sp>
        <p:nvSpPr>
          <p:cNvPr id="24" name="矩形: 圓角 23"/>
          <p:cNvSpPr/>
          <p:nvPr/>
        </p:nvSpPr>
        <p:spPr>
          <a:xfrm>
            <a:off x="8800504" y="2929266"/>
            <a:ext cx="1440000" cy="360000"/>
          </a:xfrm>
          <a:prstGeom prst="roundRect">
            <a:avLst/>
          </a:prstGeom>
          <a:solidFill>
            <a:srgbClr val="ED7D31">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dirty="0">
                <a:solidFill>
                  <a:prstClr val="black"/>
                </a:solidFill>
                <a:latin typeface="Calibri" panose="020F0502020204030204"/>
              </a:rPr>
              <a:t>act 200</a:t>
            </a:r>
            <a:endParaRPr lang="zh-TW" altLang="en-US" sz="2400" kern="0" dirty="0">
              <a:solidFill>
                <a:prstClr val="black"/>
              </a:solidFill>
              <a:latin typeface="Calibri" panose="020F0502020204030204"/>
            </a:endParaRPr>
          </a:p>
        </p:txBody>
      </p:sp>
      <p:sp>
        <p:nvSpPr>
          <p:cNvPr id="25" name="矩形: 圓角 24"/>
          <p:cNvSpPr/>
          <p:nvPr/>
        </p:nvSpPr>
        <p:spPr>
          <a:xfrm>
            <a:off x="977182" y="852525"/>
            <a:ext cx="1440000" cy="360000"/>
          </a:xfrm>
          <a:prstGeom prst="roundRect">
            <a:avLst/>
          </a:prstGeom>
          <a:solidFill>
            <a:srgbClr val="5B9BD5">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dirty="0" err="1">
                <a:solidFill>
                  <a:prstClr val="black"/>
                </a:solidFill>
                <a:latin typeface="Calibri" panose="020F0502020204030204"/>
              </a:rPr>
              <a:t>obs</a:t>
            </a:r>
            <a:r>
              <a:rPr lang="en-US" altLang="zh-TW" sz="2400" kern="0" dirty="0">
                <a:solidFill>
                  <a:prstClr val="black"/>
                </a:solidFill>
                <a:latin typeface="Calibri" panose="020F0502020204030204"/>
              </a:rPr>
              <a:t> 1</a:t>
            </a:r>
            <a:endParaRPr lang="zh-TW" altLang="en-US" sz="2400" kern="0" dirty="0">
              <a:solidFill>
                <a:prstClr val="black"/>
              </a:solidFill>
              <a:latin typeface="Calibri" panose="020F0502020204030204"/>
            </a:endParaRPr>
          </a:p>
        </p:txBody>
      </p:sp>
      <p:sp>
        <p:nvSpPr>
          <p:cNvPr id="26" name="矩形: 圓角 25"/>
          <p:cNvSpPr/>
          <p:nvPr/>
        </p:nvSpPr>
        <p:spPr>
          <a:xfrm>
            <a:off x="2584556" y="852525"/>
            <a:ext cx="1440000" cy="360000"/>
          </a:xfrm>
          <a:prstGeom prst="roundRect">
            <a:avLst/>
          </a:prstGeom>
          <a:solidFill>
            <a:srgbClr val="ED7D31">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a:solidFill>
                  <a:prstClr val="black"/>
                </a:solidFill>
                <a:latin typeface="Calibri" panose="020F0502020204030204"/>
              </a:rPr>
              <a:t>act 1</a:t>
            </a:r>
            <a:endParaRPr lang="zh-TW" altLang="en-US" sz="2400" kern="0" dirty="0">
              <a:solidFill>
                <a:prstClr val="black"/>
              </a:solidFill>
              <a:latin typeface="Calibri" panose="020F0502020204030204"/>
            </a:endParaRPr>
          </a:p>
        </p:txBody>
      </p:sp>
      <p:sp>
        <p:nvSpPr>
          <p:cNvPr id="27" name="矩形: 圓角 26"/>
          <p:cNvSpPr/>
          <p:nvPr/>
        </p:nvSpPr>
        <p:spPr>
          <a:xfrm>
            <a:off x="5606654" y="852525"/>
            <a:ext cx="1440000" cy="360000"/>
          </a:xfrm>
          <a:prstGeom prst="roundRect">
            <a:avLst/>
          </a:prstGeom>
          <a:solidFill>
            <a:srgbClr val="5B9BD5">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dirty="0" err="1">
                <a:solidFill>
                  <a:prstClr val="black"/>
                </a:solidFill>
                <a:latin typeface="Calibri" panose="020F0502020204030204"/>
              </a:rPr>
              <a:t>obs</a:t>
            </a:r>
            <a:r>
              <a:rPr lang="en-US" altLang="zh-TW" sz="2400" kern="0" dirty="0">
                <a:solidFill>
                  <a:prstClr val="black"/>
                </a:solidFill>
                <a:latin typeface="Calibri" panose="020F0502020204030204"/>
              </a:rPr>
              <a:t> 100</a:t>
            </a:r>
            <a:endParaRPr lang="zh-TW" altLang="en-US" sz="2400" kern="0" dirty="0">
              <a:solidFill>
                <a:prstClr val="black"/>
              </a:solidFill>
              <a:latin typeface="Calibri" panose="020F0502020204030204"/>
            </a:endParaRPr>
          </a:p>
        </p:txBody>
      </p:sp>
      <p:sp>
        <p:nvSpPr>
          <p:cNvPr id="28" name="矩形: 圓角 27"/>
          <p:cNvSpPr/>
          <p:nvPr/>
        </p:nvSpPr>
        <p:spPr>
          <a:xfrm>
            <a:off x="7214028" y="852525"/>
            <a:ext cx="1440000" cy="360000"/>
          </a:xfrm>
          <a:prstGeom prst="roundRect">
            <a:avLst/>
          </a:prstGeom>
          <a:solidFill>
            <a:srgbClr val="ED7D31">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dirty="0">
                <a:solidFill>
                  <a:prstClr val="black"/>
                </a:solidFill>
                <a:latin typeface="Calibri" panose="020F0502020204030204"/>
              </a:rPr>
              <a:t>act 100</a:t>
            </a:r>
            <a:endParaRPr lang="zh-TW" altLang="en-US" sz="2400" kern="0" dirty="0">
              <a:solidFill>
                <a:prstClr val="black"/>
              </a:solidFill>
              <a:latin typeface="Calibri" panose="020F0502020204030204"/>
            </a:endParaRPr>
          </a:p>
        </p:txBody>
      </p:sp>
      <p:sp>
        <p:nvSpPr>
          <p:cNvPr id="29" name="文字方塊 28"/>
          <p:cNvSpPr txBox="1"/>
          <p:nvPr/>
        </p:nvSpPr>
        <p:spPr>
          <a:xfrm>
            <a:off x="4460157" y="689305"/>
            <a:ext cx="799481" cy="523220"/>
          </a:xfrm>
          <a:prstGeom prst="rect">
            <a:avLst/>
          </a:prstGeom>
          <a:noFill/>
        </p:spPr>
        <p:txBody>
          <a:bodyPr wrap="square" rtlCol="0">
            <a:spAutoFit/>
          </a:bodyPr>
          <a:lstStyle/>
          <a:p>
            <a:r>
              <a:rPr lang="en-US" altLang="zh-TW" sz="2800" dirty="0"/>
              <a:t>……</a:t>
            </a:r>
            <a:endParaRPr lang="zh-TW" altLang="en-US" sz="2800" dirty="0"/>
          </a:p>
        </p:txBody>
      </p:sp>
      <p:sp>
        <p:nvSpPr>
          <p:cNvPr id="30" name="文字方塊 29"/>
          <p:cNvSpPr txBox="1"/>
          <p:nvPr/>
        </p:nvSpPr>
        <p:spPr>
          <a:xfrm>
            <a:off x="6008782" y="2766046"/>
            <a:ext cx="799481" cy="523220"/>
          </a:xfrm>
          <a:prstGeom prst="rect">
            <a:avLst/>
          </a:prstGeom>
          <a:noFill/>
        </p:spPr>
        <p:txBody>
          <a:bodyPr wrap="square" rtlCol="0">
            <a:spAutoFit/>
          </a:bodyPr>
          <a:lstStyle/>
          <a:p>
            <a:r>
              <a:rPr lang="en-US" altLang="zh-TW" sz="2800" dirty="0"/>
              <a:t>……</a:t>
            </a:r>
            <a:endParaRPr lang="zh-TW" altLang="en-US" sz="2800" dirty="0"/>
          </a:p>
        </p:txBody>
      </p:sp>
      <p:sp>
        <p:nvSpPr>
          <p:cNvPr id="31" name="矩形: 圓角 30"/>
          <p:cNvSpPr/>
          <p:nvPr/>
        </p:nvSpPr>
        <p:spPr>
          <a:xfrm>
            <a:off x="957334" y="5248486"/>
            <a:ext cx="3046324" cy="360000"/>
          </a:xfrm>
          <a:prstGeom prst="roundRect">
            <a:avLst/>
          </a:prstGeom>
          <a:solidFill>
            <a:srgbClr val="FFFF00"/>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TW" altLang="en-US"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32" name="矩形: 圓角 31"/>
          <p:cNvSpPr/>
          <p:nvPr/>
        </p:nvSpPr>
        <p:spPr>
          <a:xfrm>
            <a:off x="4171032" y="5245484"/>
            <a:ext cx="1440000" cy="360000"/>
          </a:xfrm>
          <a:prstGeom prst="roundRect">
            <a:avLst/>
          </a:prstGeom>
          <a:solidFill>
            <a:srgbClr val="5B9BD5">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dirty="0" err="1">
                <a:solidFill>
                  <a:prstClr val="black"/>
                </a:solidFill>
                <a:latin typeface="Calibri" panose="020F0502020204030204"/>
              </a:rPr>
              <a:t>obs</a:t>
            </a:r>
            <a:r>
              <a:rPr lang="en-US" altLang="zh-TW" sz="2400" kern="0" dirty="0">
                <a:solidFill>
                  <a:prstClr val="black"/>
                </a:solidFill>
                <a:latin typeface="Calibri" panose="020F0502020204030204"/>
              </a:rPr>
              <a:t> 201</a:t>
            </a:r>
            <a:endParaRPr lang="zh-TW" altLang="en-US" sz="2400" kern="0" dirty="0">
              <a:solidFill>
                <a:prstClr val="black"/>
              </a:solidFill>
              <a:latin typeface="Calibri" panose="020F0502020204030204"/>
            </a:endParaRPr>
          </a:p>
        </p:txBody>
      </p:sp>
      <p:sp>
        <p:nvSpPr>
          <p:cNvPr id="33" name="矩形: 圓角 32"/>
          <p:cNvSpPr/>
          <p:nvPr/>
        </p:nvSpPr>
        <p:spPr>
          <a:xfrm>
            <a:off x="5778406" y="5245484"/>
            <a:ext cx="1440000" cy="360000"/>
          </a:xfrm>
          <a:prstGeom prst="roundRect">
            <a:avLst/>
          </a:prstGeom>
          <a:solidFill>
            <a:srgbClr val="ED7D31">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dirty="0">
                <a:solidFill>
                  <a:prstClr val="black"/>
                </a:solidFill>
                <a:latin typeface="Calibri" panose="020F0502020204030204"/>
              </a:rPr>
              <a:t>act 201</a:t>
            </a:r>
            <a:endParaRPr lang="zh-TW" altLang="en-US" sz="2400" kern="0" dirty="0">
              <a:solidFill>
                <a:prstClr val="black"/>
              </a:solidFill>
              <a:latin typeface="Calibri" panose="020F0502020204030204"/>
            </a:endParaRPr>
          </a:p>
        </p:txBody>
      </p:sp>
      <p:sp>
        <p:nvSpPr>
          <p:cNvPr id="34" name="矩形: 圓角 33"/>
          <p:cNvSpPr/>
          <p:nvPr/>
        </p:nvSpPr>
        <p:spPr>
          <a:xfrm>
            <a:off x="8800504" y="5245484"/>
            <a:ext cx="1440000" cy="360000"/>
          </a:xfrm>
          <a:prstGeom prst="roundRect">
            <a:avLst/>
          </a:prstGeom>
          <a:solidFill>
            <a:srgbClr val="5B9BD5">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dirty="0" err="1">
                <a:solidFill>
                  <a:prstClr val="black"/>
                </a:solidFill>
                <a:latin typeface="Calibri" panose="020F0502020204030204"/>
              </a:rPr>
              <a:t>obs</a:t>
            </a:r>
            <a:r>
              <a:rPr lang="en-US" altLang="zh-TW" sz="2400" kern="0" dirty="0">
                <a:solidFill>
                  <a:prstClr val="black"/>
                </a:solidFill>
                <a:latin typeface="Calibri" panose="020F0502020204030204"/>
              </a:rPr>
              <a:t> 300</a:t>
            </a:r>
            <a:endParaRPr lang="zh-TW" altLang="en-US" sz="2400" kern="0" dirty="0">
              <a:solidFill>
                <a:prstClr val="black"/>
              </a:solidFill>
              <a:latin typeface="Calibri" panose="020F0502020204030204"/>
            </a:endParaRPr>
          </a:p>
        </p:txBody>
      </p:sp>
      <p:sp>
        <p:nvSpPr>
          <p:cNvPr id="35" name="矩形: 圓角 34"/>
          <p:cNvSpPr/>
          <p:nvPr/>
        </p:nvSpPr>
        <p:spPr>
          <a:xfrm>
            <a:off x="10407878" y="5245484"/>
            <a:ext cx="1440000" cy="360000"/>
          </a:xfrm>
          <a:prstGeom prst="roundRect">
            <a:avLst/>
          </a:prstGeom>
          <a:solidFill>
            <a:srgbClr val="ED7D31">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dirty="0">
                <a:solidFill>
                  <a:prstClr val="black"/>
                </a:solidFill>
                <a:latin typeface="Calibri" panose="020F0502020204030204"/>
              </a:rPr>
              <a:t>act 300</a:t>
            </a:r>
            <a:endParaRPr lang="zh-TW" altLang="en-US" sz="2400" kern="0" dirty="0">
              <a:solidFill>
                <a:prstClr val="black"/>
              </a:solidFill>
              <a:latin typeface="Calibri" panose="020F0502020204030204"/>
            </a:endParaRPr>
          </a:p>
        </p:txBody>
      </p:sp>
      <p:sp>
        <p:nvSpPr>
          <p:cNvPr id="36" name="文字方塊 35"/>
          <p:cNvSpPr txBox="1"/>
          <p:nvPr/>
        </p:nvSpPr>
        <p:spPr>
          <a:xfrm>
            <a:off x="7616156" y="5082264"/>
            <a:ext cx="799481" cy="523220"/>
          </a:xfrm>
          <a:prstGeom prst="rect">
            <a:avLst/>
          </a:prstGeom>
          <a:noFill/>
        </p:spPr>
        <p:txBody>
          <a:bodyPr wrap="square" rtlCol="0">
            <a:spAutoFit/>
          </a:bodyPr>
          <a:lstStyle/>
          <a:p>
            <a:r>
              <a:rPr lang="en-US" altLang="zh-TW" sz="2800" dirty="0"/>
              <a:t>……</a:t>
            </a:r>
            <a:endParaRPr lang="zh-TW" altLang="en-US" sz="2800" dirty="0"/>
          </a:p>
        </p:txBody>
      </p:sp>
      <p:sp>
        <p:nvSpPr>
          <p:cNvPr id="38" name="文字方塊 37"/>
          <p:cNvSpPr txBox="1"/>
          <p:nvPr/>
        </p:nvSpPr>
        <p:spPr>
          <a:xfrm>
            <a:off x="8652180" y="346696"/>
            <a:ext cx="7007086" cy="369332"/>
          </a:xfrm>
          <a:prstGeom prst="rect">
            <a:avLst/>
          </a:prstGeom>
          <a:noFill/>
        </p:spPr>
        <p:txBody>
          <a:bodyPr wrap="square">
            <a:spAutoFit/>
          </a:bodyPr>
          <a:lstStyle/>
          <a:p>
            <a:r>
              <a:rPr lang="zh-TW" altLang="en-US" dirty="0"/>
              <a:t>https://arxiv.org/abs/2308.15022</a:t>
            </a:r>
            <a:endParaRPr lang="zh-TW" altLang="en-US" dirty="0"/>
          </a:p>
        </p:txBody>
      </p:sp>
      <p:cxnSp>
        <p:nvCxnSpPr>
          <p:cNvPr id="39" name="直線單箭頭接點 38"/>
          <p:cNvCxnSpPr/>
          <p:nvPr/>
        </p:nvCxnSpPr>
        <p:spPr>
          <a:xfrm>
            <a:off x="2499733" y="4216844"/>
            <a:ext cx="0" cy="80827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0" name="右大括弧 39"/>
          <p:cNvSpPr/>
          <p:nvPr/>
        </p:nvSpPr>
        <p:spPr>
          <a:xfrm rot="5400000">
            <a:off x="5358848" y="-760887"/>
            <a:ext cx="499985" cy="9263319"/>
          </a:xfrm>
          <a:prstGeom prst="rightBrace">
            <a:avLst>
              <a:gd name="adj1" fmla="val 34460"/>
              <a:gd name="adj2" fmla="val 83621"/>
            </a:avLst>
          </a:prstGeom>
          <a:ln w="381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zh-TW" altLang="en-US"/>
          </a:p>
        </p:txBody>
      </p:sp>
      <p:sp>
        <p:nvSpPr>
          <p:cNvPr id="42" name="文字方塊 41"/>
          <p:cNvSpPr txBox="1"/>
          <p:nvPr/>
        </p:nvSpPr>
        <p:spPr>
          <a:xfrm>
            <a:off x="2563658" y="5179527"/>
            <a:ext cx="1439999" cy="461665"/>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history</a:t>
            </a:r>
            <a:r>
              <a:rPr kumimoji="0" lang="zh-TW" altLang="en-US"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a:t>
            </a:r>
            <a:r>
              <a:rPr kumimoji="0" lang="en-US" altLang="zh-TW"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2</a:t>
            </a:r>
            <a:endParaRPr kumimoji="0" lang="zh-TW" altLang="en-US"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43" name="矩形: 圓角 42"/>
          <p:cNvSpPr/>
          <p:nvPr/>
        </p:nvSpPr>
        <p:spPr>
          <a:xfrm>
            <a:off x="1205810" y="5270290"/>
            <a:ext cx="1290727" cy="309168"/>
          </a:xfrm>
          <a:prstGeom prst="roundRect">
            <a:avLst/>
          </a:prstGeom>
          <a:solidFill>
            <a:schemeClr val="accent6">
              <a:lumMod val="20000"/>
              <a:lumOff val="80000"/>
            </a:scheme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history</a:t>
            </a:r>
            <a:r>
              <a:rPr kumimoji="0" lang="zh-TW" altLang="en-US"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a:t>
            </a:r>
            <a:r>
              <a:rPr kumimoji="0" lang="en-US" altLang="zh-TW"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1</a:t>
            </a:r>
            <a:endParaRPr kumimoji="0" lang="zh-TW" altLang="en-US"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2" name="文字方塊 1"/>
          <p:cNvSpPr txBox="1"/>
          <p:nvPr/>
        </p:nvSpPr>
        <p:spPr>
          <a:xfrm>
            <a:off x="2590204" y="5962684"/>
            <a:ext cx="6210300" cy="461665"/>
          </a:xfrm>
          <a:prstGeom prst="rect">
            <a:avLst/>
          </a:prstGeom>
          <a:noFill/>
        </p:spPr>
        <p:txBody>
          <a:bodyPr wrap="square" rtlCol="0">
            <a:spAutoFit/>
          </a:bodyPr>
          <a:lstStyle/>
          <a:p>
            <a:r>
              <a:rPr lang="zh-TW" altLang="en-US" sz="2400" dirty="0">
                <a:latin typeface="Microsoft JhengHei" panose="020B0604030504040204" pitchFamily="34" charset="-120"/>
                <a:ea typeface="Microsoft JhengHei" panose="020B0604030504040204" pitchFamily="34" charset="-120"/>
              </a:rPr>
              <a:t>遙遠的記憶就逐漸隨風而逝</a:t>
            </a:r>
            <a:endParaRPr lang="zh-TW" altLang="en-US" sz="2400" dirty="0">
              <a:latin typeface="Microsoft JhengHei" panose="020B0604030504040204" pitchFamily="34" charset="-120"/>
              <a:ea typeface="Microsoft JhengHei" panose="020B0604030504040204" pitchFamily="34" charset="-120"/>
            </a:endParaRPr>
          </a:p>
        </p:txBody>
      </p:sp>
      <p:cxnSp>
        <p:nvCxnSpPr>
          <p:cNvPr id="3" name="直線單箭頭接點 2"/>
          <p:cNvCxnSpPr/>
          <p:nvPr/>
        </p:nvCxnSpPr>
        <p:spPr>
          <a:xfrm flipH="1" flipV="1">
            <a:off x="1985443" y="5704194"/>
            <a:ext cx="406825" cy="432172"/>
          </a:xfrm>
          <a:prstGeom prst="straightConnector1">
            <a:avLst/>
          </a:prstGeom>
          <a:ln w="57150">
            <a:solidFill>
              <a:schemeClr val="tx1"/>
            </a:solidFill>
            <a:prstDash val="sysDot"/>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animBg="1"/>
      <p:bldP spid="19" grpId="0" animBg="1"/>
      <p:bldP spid="22" grpId="0" animBg="1"/>
      <p:bldP spid="23" grpId="0" animBg="1"/>
      <p:bldP spid="24" grpId="0" animBg="1"/>
      <p:bldP spid="30" grpId="0"/>
      <p:bldP spid="31" grpId="0" animBg="1"/>
      <p:bldP spid="32" grpId="0" animBg="1"/>
      <p:bldP spid="33" grpId="0" animBg="1"/>
      <p:bldP spid="34" grpId="0" animBg="1"/>
      <p:bldP spid="35" grpId="0" animBg="1"/>
      <p:bldP spid="36" grpId="0"/>
      <p:bldP spid="40" grpId="0" animBg="1"/>
      <p:bldP spid="42" grpId="0"/>
      <p:bldP spid="43" grpId="0" animBg="1"/>
      <p:bldP spid="2"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壓縮內容</a:t>
            </a:r>
            <a:endParaRPr lang="zh-TW" altLang="en-US" dirty="0"/>
          </a:p>
        </p:txBody>
      </p:sp>
      <p:pic>
        <p:nvPicPr>
          <p:cNvPr id="4" name="Google Shape;186;p24"/>
          <p:cNvPicPr preferRelativeResize="0"/>
          <p:nvPr/>
        </p:nvPicPr>
        <p:blipFill>
          <a:blip r:embed="rId1"/>
          <a:stretch>
            <a:fillRect/>
          </a:stretch>
        </p:blipFill>
        <p:spPr>
          <a:xfrm>
            <a:off x="247429" y="2370803"/>
            <a:ext cx="960836" cy="993121"/>
          </a:xfrm>
          <a:prstGeom prst="rect">
            <a:avLst/>
          </a:prstGeom>
          <a:noFill/>
          <a:ln>
            <a:noFill/>
          </a:ln>
        </p:spPr>
      </p:pic>
      <p:sp>
        <p:nvSpPr>
          <p:cNvPr id="5" name="文字方塊 4"/>
          <p:cNvSpPr txBox="1"/>
          <p:nvPr/>
        </p:nvSpPr>
        <p:spPr>
          <a:xfrm>
            <a:off x="1201744" y="2696821"/>
            <a:ext cx="2119085" cy="369332"/>
          </a:xfrm>
          <a:prstGeom prst="rect">
            <a:avLst/>
          </a:prstGeom>
          <a:noFill/>
        </p:spPr>
        <p:txBody>
          <a:bodyPr wrap="square" rtlCol="0">
            <a:spAutoFit/>
          </a:bodyPr>
          <a:lstStyle/>
          <a:p>
            <a:r>
              <a:rPr lang="zh-TW" altLang="en-US" dirty="0">
                <a:latin typeface="Microsoft JhengHei" panose="020B0604030504040204" pitchFamily="34" charset="-120"/>
                <a:ea typeface="Microsoft JhengHei" panose="020B0604030504040204" pitchFamily="34" charset="-120"/>
              </a:rPr>
              <a:t>移動滑鼠到 </a:t>
            </a:r>
            <a:r>
              <a:rPr lang="en-US" altLang="zh-TW" dirty="0">
                <a:latin typeface="Microsoft JhengHei" panose="020B0604030504040204" pitchFamily="34" charset="-120"/>
                <a:ea typeface="Microsoft JhengHei" panose="020B0604030504040204" pitchFamily="34" charset="-120"/>
              </a:rPr>
              <a:t>[34, 78]</a:t>
            </a:r>
            <a:endParaRPr lang="zh-TW" altLang="en-US" dirty="0">
              <a:latin typeface="Microsoft JhengHei" panose="020B0604030504040204" pitchFamily="34" charset="-120"/>
              <a:ea typeface="Microsoft JhengHei" panose="020B0604030504040204" pitchFamily="34" charset="-120"/>
            </a:endParaRPr>
          </a:p>
        </p:txBody>
      </p:sp>
      <p:pic>
        <p:nvPicPr>
          <p:cNvPr id="6" name="Google Shape;186;p24"/>
          <p:cNvPicPr preferRelativeResize="0"/>
          <p:nvPr/>
        </p:nvPicPr>
        <p:blipFill>
          <a:blip r:embed="rId1"/>
          <a:stretch>
            <a:fillRect/>
          </a:stretch>
        </p:blipFill>
        <p:spPr>
          <a:xfrm>
            <a:off x="3428951" y="2384926"/>
            <a:ext cx="960836" cy="993121"/>
          </a:xfrm>
          <a:prstGeom prst="rect">
            <a:avLst/>
          </a:prstGeom>
          <a:noFill/>
          <a:ln>
            <a:noFill/>
          </a:ln>
        </p:spPr>
      </p:pic>
      <p:sp>
        <p:nvSpPr>
          <p:cNvPr id="7" name="文字方塊 6"/>
          <p:cNvSpPr txBox="1"/>
          <p:nvPr/>
        </p:nvSpPr>
        <p:spPr>
          <a:xfrm>
            <a:off x="4389787" y="2696821"/>
            <a:ext cx="1396263" cy="369332"/>
          </a:xfrm>
          <a:prstGeom prst="rect">
            <a:avLst/>
          </a:prstGeom>
          <a:noFill/>
        </p:spPr>
        <p:txBody>
          <a:bodyPr wrap="square" rtlCol="0">
            <a:spAutoFit/>
          </a:bodyPr>
          <a:lstStyle/>
          <a:p>
            <a:r>
              <a:rPr lang="zh-TW" altLang="en-US" dirty="0">
                <a:latin typeface="Microsoft JhengHei" panose="020B0604030504040204" pitchFamily="34" charset="-120"/>
                <a:ea typeface="Microsoft JhengHei" panose="020B0604030504040204" pitchFamily="34" charset="-120"/>
              </a:rPr>
              <a:t>點滑鼠右鍵</a:t>
            </a:r>
            <a:endParaRPr lang="zh-TW" altLang="en-US" dirty="0">
              <a:latin typeface="Microsoft JhengHei" panose="020B0604030504040204" pitchFamily="34" charset="-120"/>
              <a:ea typeface="Microsoft JhengHei" panose="020B0604030504040204" pitchFamily="34" charset="-120"/>
            </a:endParaRPr>
          </a:p>
        </p:txBody>
      </p:sp>
      <p:pic>
        <p:nvPicPr>
          <p:cNvPr id="8" name="Google Shape;186;p24"/>
          <p:cNvPicPr preferRelativeResize="0"/>
          <p:nvPr/>
        </p:nvPicPr>
        <p:blipFill>
          <a:blip r:embed="rId1">
            <a:duotone>
              <a:prstClr val="black"/>
              <a:schemeClr val="accent6">
                <a:tint val="45000"/>
                <a:satMod val="400000"/>
              </a:schemeClr>
            </a:duotone>
          </a:blip>
          <a:stretch>
            <a:fillRect/>
          </a:stretch>
        </p:blipFill>
        <p:spPr>
          <a:xfrm>
            <a:off x="5786050" y="2365165"/>
            <a:ext cx="960836" cy="993121"/>
          </a:xfrm>
          <a:prstGeom prst="rect">
            <a:avLst/>
          </a:prstGeom>
          <a:noFill/>
          <a:ln>
            <a:noFill/>
          </a:ln>
        </p:spPr>
      </p:pic>
      <p:sp>
        <p:nvSpPr>
          <p:cNvPr id="9" name="文字方塊 8"/>
          <p:cNvSpPr txBox="1"/>
          <p:nvPr/>
        </p:nvSpPr>
        <p:spPr>
          <a:xfrm>
            <a:off x="6849957" y="2715747"/>
            <a:ext cx="2450997" cy="369332"/>
          </a:xfrm>
          <a:prstGeom prst="rect">
            <a:avLst/>
          </a:prstGeom>
          <a:noFill/>
        </p:spPr>
        <p:txBody>
          <a:bodyPr wrap="square" rtlCol="0">
            <a:spAutoFit/>
          </a:bodyPr>
          <a:lstStyle/>
          <a:p>
            <a:r>
              <a:rPr lang="zh-TW" altLang="en-US" dirty="0">
                <a:latin typeface="Microsoft JhengHei" panose="020B0604030504040204" pitchFamily="34" charset="-120"/>
                <a:ea typeface="Microsoft JhengHei" panose="020B0604030504040204" pitchFamily="34" charset="-120"/>
              </a:rPr>
              <a:t>移動滑鼠到 </a:t>
            </a:r>
            <a:r>
              <a:rPr lang="en-US" altLang="zh-TW" dirty="0">
                <a:latin typeface="Microsoft JhengHei" panose="020B0604030504040204" pitchFamily="34" charset="-120"/>
                <a:ea typeface="Microsoft JhengHei" panose="020B0604030504040204" pitchFamily="34" charset="-120"/>
              </a:rPr>
              <a:t>[550, 65]</a:t>
            </a:r>
            <a:endParaRPr lang="zh-TW" altLang="en-US" dirty="0">
              <a:latin typeface="Microsoft JhengHei" panose="020B0604030504040204" pitchFamily="34" charset="-120"/>
              <a:ea typeface="Microsoft JhengHei" panose="020B0604030504040204" pitchFamily="34" charset="-120"/>
            </a:endParaRPr>
          </a:p>
        </p:txBody>
      </p:sp>
      <p:sp>
        <p:nvSpPr>
          <p:cNvPr id="10" name="文字方塊 9"/>
          <p:cNvSpPr txBox="1"/>
          <p:nvPr/>
        </p:nvSpPr>
        <p:spPr>
          <a:xfrm>
            <a:off x="8346640" y="2715747"/>
            <a:ext cx="721351" cy="369332"/>
          </a:xfrm>
          <a:prstGeom prst="rect">
            <a:avLst/>
          </a:prstGeom>
          <a:noFill/>
        </p:spPr>
        <p:txBody>
          <a:bodyPr wrap="square" rtlCol="0">
            <a:spAutoFit/>
          </a:bodyPr>
          <a:lstStyle/>
          <a:p>
            <a:r>
              <a:rPr lang="en-US" altLang="zh-TW" dirty="0">
                <a:latin typeface="Microsoft JhengHei" panose="020B0604030504040204" pitchFamily="34" charset="-120"/>
                <a:ea typeface="Microsoft JhengHei" panose="020B0604030504040204" pitchFamily="34" charset="-120"/>
              </a:rPr>
              <a:t>……</a:t>
            </a:r>
            <a:endParaRPr lang="zh-TW" altLang="en-US" dirty="0">
              <a:latin typeface="Microsoft JhengHei" panose="020B0604030504040204" pitchFamily="34" charset="-120"/>
              <a:ea typeface="Microsoft JhengHei" panose="020B0604030504040204" pitchFamily="34" charset="-120"/>
            </a:endParaRPr>
          </a:p>
        </p:txBody>
      </p:sp>
      <p:pic>
        <p:nvPicPr>
          <p:cNvPr id="11"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11366" y="3866342"/>
            <a:ext cx="1041288" cy="1041289"/>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直線單箭頭接點 11"/>
          <p:cNvCxnSpPr/>
          <p:nvPr/>
        </p:nvCxnSpPr>
        <p:spPr>
          <a:xfrm>
            <a:off x="5832010" y="5018305"/>
            <a:ext cx="0" cy="338458"/>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右大括弧 12"/>
          <p:cNvSpPr/>
          <p:nvPr/>
        </p:nvSpPr>
        <p:spPr>
          <a:xfrm rot="5400000">
            <a:off x="5731181" y="-2418823"/>
            <a:ext cx="499985" cy="11848046"/>
          </a:xfrm>
          <a:prstGeom prst="rightBrace">
            <a:avLst>
              <a:gd name="adj1" fmla="val 34460"/>
              <a:gd name="adj2" fmla="val 51380"/>
            </a:avLst>
          </a:prstGeom>
          <a:ln w="381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zh-TW" altLang="en-US"/>
          </a:p>
        </p:txBody>
      </p:sp>
      <p:sp>
        <p:nvSpPr>
          <p:cNvPr id="15" name="文字方塊 14"/>
          <p:cNvSpPr txBox="1"/>
          <p:nvPr/>
        </p:nvSpPr>
        <p:spPr>
          <a:xfrm>
            <a:off x="2067601" y="5471063"/>
            <a:ext cx="7620000" cy="523220"/>
          </a:xfrm>
          <a:prstGeom prst="rect">
            <a:avLst/>
          </a:prstGeom>
          <a:noFill/>
        </p:spPr>
        <p:txBody>
          <a:bodyPr wrap="square" rtlCol="0">
            <a:spAutoFit/>
          </a:bodyPr>
          <a:lstStyle/>
          <a:p>
            <a:pPr algn="ctr"/>
            <a:r>
              <a:rPr lang="en-US" altLang="zh-TW" sz="2800" dirty="0">
                <a:latin typeface="Microsoft JhengHei" panose="020B0604030504040204" pitchFamily="34" charset="-120"/>
                <a:ea typeface="Microsoft JhengHei" panose="020B0604030504040204" pitchFamily="34" charset="-120"/>
              </a:rPr>
              <a:t>A</a:t>
            </a:r>
            <a:r>
              <a:rPr lang="zh-TW" altLang="en-US" sz="2800" dirty="0">
                <a:latin typeface="Microsoft JhengHei" panose="020B0604030504040204" pitchFamily="34" charset="-120"/>
                <a:ea typeface="Microsoft JhengHei" panose="020B0604030504040204" pitchFamily="34" charset="-120"/>
              </a:rPr>
              <a:t> 餐廳訂位成功，</a:t>
            </a:r>
            <a:r>
              <a:rPr lang="en-US" altLang="zh-TW" sz="2800" dirty="0">
                <a:latin typeface="Microsoft JhengHei" panose="020B0604030504040204" pitchFamily="34" charset="-120"/>
                <a:ea typeface="Microsoft JhengHei" panose="020B0604030504040204" pitchFamily="34" charset="-120"/>
              </a:rPr>
              <a:t>9/19 </a:t>
            </a:r>
            <a:r>
              <a:rPr lang="zh-TW" altLang="en-US" sz="2800" dirty="0">
                <a:latin typeface="Microsoft JhengHei" panose="020B0604030504040204" pitchFamily="34" charset="-120"/>
                <a:ea typeface="Microsoft JhengHei" panose="020B0604030504040204" pitchFamily="34" charset="-120"/>
              </a:rPr>
              <a:t>下午 </a:t>
            </a:r>
            <a:r>
              <a:rPr lang="en-US" altLang="zh-TW" sz="2800" dirty="0">
                <a:latin typeface="Microsoft JhengHei" panose="020B0604030504040204" pitchFamily="34" charset="-120"/>
                <a:ea typeface="Microsoft JhengHei" panose="020B0604030504040204" pitchFamily="34" charset="-120"/>
              </a:rPr>
              <a:t>6:00</a:t>
            </a:r>
            <a:r>
              <a:rPr lang="zh-TW" altLang="en-US" sz="2800" dirty="0">
                <a:latin typeface="Microsoft JhengHei" panose="020B0604030504040204" pitchFamily="34" charset="-120"/>
                <a:ea typeface="Microsoft JhengHei" panose="020B0604030504040204" pitchFamily="34" charset="-120"/>
              </a:rPr>
              <a:t>，十人</a:t>
            </a:r>
            <a:endParaRPr lang="zh-TW" altLang="en-US" sz="2800" dirty="0">
              <a:latin typeface="Microsoft JhengHei" panose="020B0604030504040204" pitchFamily="34" charset="-120"/>
              <a:ea typeface="Microsoft JhengHei" panose="020B0604030504040204" pitchFamily="34" charset="-120"/>
            </a:endParaRPr>
          </a:p>
        </p:txBody>
      </p:sp>
      <p:sp>
        <p:nvSpPr>
          <p:cNvPr id="16" name="文字方塊 15"/>
          <p:cNvSpPr txBox="1"/>
          <p:nvPr/>
        </p:nvSpPr>
        <p:spPr>
          <a:xfrm>
            <a:off x="6531046" y="4189282"/>
            <a:ext cx="1828800" cy="461665"/>
          </a:xfrm>
          <a:prstGeom prst="rect">
            <a:avLst/>
          </a:prstGeom>
          <a:noFill/>
        </p:spPr>
        <p:txBody>
          <a:bodyPr wrap="square" rtlCol="0">
            <a:spAutoFit/>
          </a:bodyPr>
          <a:lstStyle/>
          <a:p>
            <a:r>
              <a:rPr lang="zh-TW" altLang="en-US" sz="2400" dirty="0">
                <a:latin typeface="Microsoft JhengHei" panose="020B0604030504040204" pitchFamily="34" charset="-120"/>
                <a:ea typeface="Microsoft JhengHei" panose="020B0604030504040204" pitchFamily="34" charset="-120"/>
              </a:rPr>
              <a:t>摘要 </a:t>
            </a:r>
            <a:r>
              <a:rPr lang="en-US" altLang="zh-TW" sz="2400" dirty="0">
                <a:latin typeface="Microsoft JhengHei" panose="020B0604030504040204" pitchFamily="34" charset="-120"/>
                <a:ea typeface="Microsoft JhengHei" panose="020B0604030504040204" pitchFamily="34" charset="-120"/>
              </a:rPr>
              <a:t>(</a:t>
            </a:r>
            <a:r>
              <a:rPr lang="zh-TW" altLang="en-US" sz="2400" dirty="0">
                <a:latin typeface="Microsoft JhengHei" panose="020B0604030504040204" pitchFamily="34" charset="-120"/>
                <a:ea typeface="Microsoft JhengHei" panose="020B0604030504040204" pitchFamily="34" charset="-120"/>
              </a:rPr>
              <a:t>壓縮</a:t>
            </a:r>
            <a:r>
              <a:rPr lang="en-US" altLang="zh-TW" sz="2400" dirty="0">
                <a:latin typeface="Microsoft JhengHei" panose="020B0604030504040204" pitchFamily="34" charset="-120"/>
                <a:ea typeface="Microsoft JhengHei" panose="020B0604030504040204" pitchFamily="34" charset="-120"/>
              </a:rPr>
              <a:t>)</a:t>
            </a:r>
            <a:endParaRPr lang="zh-TW" altLang="en-US" sz="2400" dirty="0">
              <a:latin typeface="Microsoft JhengHei" panose="020B0604030504040204" pitchFamily="34" charset="-120"/>
              <a:ea typeface="Microsoft JhengHei" panose="020B0604030504040204" pitchFamily="34" charset="-120"/>
            </a:endParaRPr>
          </a:p>
        </p:txBody>
      </p:sp>
      <p:sp>
        <p:nvSpPr>
          <p:cNvPr id="17" name="文字方塊 16"/>
          <p:cNvSpPr txBox="1"/>
          <p:nvPr/>
        </p:nvSpPr>
        <p:spPr>
          <a:xfrm>
            <a:off x="5301890" y="6096050"/>
            <a:ext cx="6810850" cy="461665"/>
          </a:xfrm>
          <a:prstGeom prst="rect">
            <a:avLst/>
          </a:prstGeom>
          <a:noFill/>
        </p:spPr>
        <p:txBody>
          <a:bodyPr wrap="square" rtlCol="0">
            <a:spAutoFit/>
          </a:bodyPr>
          <a:lstStyle/>
          <a:p>
            <a:r>
              <a:rPr lang="en-US" altLang="zh-TW" sz="2400" dirty="0">
                <a:latin typeface="Microsoft JhengHei" panose="020B0604030504040204" pitchFamily="34" charset="-120"/>
                <a:ea typeface="Microsoft JhengHei" panose="020B0604030504040204" pitchFamily="34" charset="-120"/>
              </a:rPr>
              <a:t>(</a:t>
            </a:r>
            <a:r>
              <a:rPr lang="zh-TW" altLang="en-US" sz="2400" dirty="0">
                <a:latin typeface="Microsoft JhengHei" panose="020B0604030504040204" pitchFamily="34" charset="-120"/>
                <a:ea typeface="Microsoft JhengHei" panose="020B0604030504040204" pitchFamily="34" charset="-120"/>
              </a:rPr>
              <a:t>訂位成功後，</a:t>
            </a:r>
            <a:r>
              <a:rPr lang="en-US" altLang="zh-TW" sz="2400" dirty="0">
                <a:latin typeface="Microsoft JhengHei" panose="020B0604030504040204" pitchFamily="34" charset="-120"/>
                <a:ea typeface="Microsoft JhengHei" panose="020B0604030504040204" pitchFamily="34" charset="-120"/>
              </a:rPr>
              <a:t>Context </a:t>
            </a:r>
            <a:r>
              <a:rPr lang="zh-TW" altLang="en-US" sz="2400" dirty="0">
                <a:latin typeface="Microsoft JhengHei" panose="020B0604030504040204" pitchFamily="34" charset="-120"/>
                <a:ea typeface="Microsoft JhengHei" panose="020B0604030504040204" pitchFamily="34" charset="-120"/>
              </a:rPr>
              <a:t>不需要訂位的詳細過程</a:t>
            </a:r>
            <a:r>
              <a:rPr lang="en-US" altLang="zh-TW" sz="2400" dirty="0">
                <a:latin typeface="Microsoft JhengHei" panose="020B0604030504040204" pitchFamily="34" charset="-120"/>
                <a:ea typeface="Microsoft JhengHei" panose="020B0604030504040204" pitchFamily="34" charset="-120"/>
              </a:rPr>
              <a:t>)</a:t>
            </a:r>
            <a:endParaRPr lang="zh-TW" altLang="en-US" sz="2400" dirty="0">
              <a:latin typeface="Microsoft JhengHei" panose="020B0604030504040204" pitchFamily="34" charset="-120"/>
              <a:ea typeface="Microsoft JhengHei" panose="020B0604030504040204" pitchFamily="34" charset="-120"/>
            </a:endParaRPr>
          </a:p>
        </p:txBody>
      </p:sp>
      <p:pic>
        <p:nvPicPr>
          <p:cNvPr id="3" name="Google Shape;186;p24"/>
          <p:cNvPicPr preferRelativeResize="0"/>
          <p:nvPr/>
        </p:nvPicPr>
        <p:blipFill>
          <a:blip r:embed="rId1">
            <a:duotone>
              <a:prstClr val="black"/>
              <a:schemeClr val="accent6">
                <a:tint val="45000"/>
                <a:satMod val="400000"/>
              </a:schemeClr>
            </a:duotone>
          </a:blip>
          <a:stretch>
            <a:fillRect/>
          </a:stretch>
        </p:blipFill>
        <p:spPr>
          <a:xfrm>
            <a:off x="9161889" y="2384925"/>
            <a:ext cx="960836" cy="993121"/>
          </a:xfrm>
          <a:prstGeom prst="rect">
            <a:avLst/>
          </a:prstGeom>
          <a:noFill/>
          <a:ln>
            <a:noFill/>
          </a:ln>
        </p:spPr>
      </p:pic>
      <p:sp>
        <p:nvSpPr>
          <p:cNvPr id="14" name="文字方塊 13"/>
          <p:cNvSpPr txBox="1"/>
          <p:nvPr/>
        </p:nvSpPr>
        <p:spPr>
          <a:xfrm>
            <a:off x="10122725" y="2678208"/>
            <a:ext cx="1396263" cy="369332"/>
          </a:xfrm>
          <a:prstGeom prst="rect">
            <a:avLst/>
          </a:prstGeom>
          <a:noFill/>
        </p:spPr>
        <p:txBody>
          <a:bodyPr wrap="square" rtlCol="0">
            <a:spAutoFit/>
          </a:bodyPr>
          <a:lstStyle/>
          <a:p>
            <a:r>
              <a:rPr lang="zh-TW" altLang="en-US" dirty="0">
                <a:latin typeface="Microsoft JhengHei" panose="020B0604030504040204" pitchFamily="34" charset="-120"/>
                <a:ea typeface="Microsoft JhengHei" panose="020B0604030504040204" pitchFamily="34" charset="-120"/>
              </a:rPr>
              <a:t>點滑鼠右鍵</a:t>
            </a:r>
            <a:endParaRPr lang="zh-TW" altLang="en-US" dirty="0">
              <a:latin typeface="Microsoft JhengHei" panose="020B0604030504040204" pitchFamily="34" charset="-120"/>
              <a:ea typeface="Microsoft JhengHei" panose="020B0604030504040204" pitchFamily="34" charset="-120"/>
            </a:endParaRPr>
          </a:p>
        </p:txBody>
      </p:sp>
      <p:sp>
        <p:nvSpPr>
          <p:cNvPr id="19" name="文字方塊 18"/>
          <p:cNvSpPr txBox="1"/>
          <p:nvPr/>
        </p:nvSpPr>
        <p:spPr>
          <a:xfrm>
            <a:off x="6706972" y="2049986"/>
            <a:ext cx="2194815" cy="369332"/>
          </a:xfrm>
          <a:prstGeom prst="rect">
            <a:avLst/>
          </a:prstGeom>
          <a:noFill/>
        </p:spPr>
        <p:txBody>
          <a:bodyPr wrap="square" rtlCol="0">
            <a:spAutoFit/>
          </a:bodyPr>
          <a:lstStyle/>
          <a:p>
            <a:r>
              <a:rPr lang="zh-TW" altLang="en-US" dirty="0">
                <a:latin typeface="Microsoft JhengHei" panose="020B0604030504040204" pitchFamily="34" charset="-120"/>
                <a:ea typeface="Microsoft JhengHei" panose="020B0604030504040204" pitchFamily="34" charset="-120"/>
              </a:rPr>
              <a:t>彈出廣告訊息 </a:t>
            </a:r>
            <a:r>
              <a:rPr lang="en-US" altLang="zh-TW" dirty="0">
                <a:latin typeface="Microsoft JhengHei" panose="020B0604030504040204" pitchFamily="34" charset="-120"/>
                <a:ea typeface="Microsoft JhengHei" panose="020B0604030504040204" pitchFamily="34" charset="-120"/>
              </a:rPr>
              <a:t>…</a:t>
            </a:r>
            <a:endParaRPr lang="zh-TW" altLang="en-US" dirty="0">
              <a:latin typeface="Microsoft JhengHei" panose="020B0604030504040204" pitchFamily="34" charset="-120"/>
              <a:ea typeface="Microsoft JhengHei" panose="020B0604030504040204" pitchFamily="34" charset="-120"/>
            </a:endParaRPr>
          </a:p>
        </p:txBody>
      </p:sp>
      <p:sp>
        <p:nvSpPr>
          <p:cNvPr id="20" name="文字方塊 19"/>
          <p:cNvSpPr txBox="1"/>
          <p:nvPr/>
        </p:nvSpPr>
        <p:spPr>
          <a:xfrm>
            <a:off x="10382827" y="2234652"/>
            <a:ext cx="1100404" cy="369332"/>
          </a:xfrm>
          <a:prstGeom prst="rect">
            <a:avLst/>
          </a:prstGeom>
          <a:noFill/>
        </p:spPr>
        <p:txBody>
          <a:bodyPr wrap="square" rtlCol="0">
            <a:spAutoFit/>
          </a:bodyPr>
          <a:lstStyle/>
          <a:p>
            <a:r>
              <a:rPr lang="en-US" altLang="zh-TW" dirty="0">
                <a:latin typeface="Microsoft JhengHei" panose="020B0604030504040204" pitchFamily="34" charset="-120"/>
                <a:ea typeface="Microsoft JhengHei" panose="020B0604030504040204" pitchFamily="34" charset="-120"/>
              </a:rPr>
              <a:t>(</a:t>
            </a:r>
            <a:r>
              <a:rPr lang="zh-TW" altLang="en-US" dirty="0">
                <a:latin typeface="Microsoft JhengHei" panose="020B0604030504040204" pitchFamily="34" charset="-120"/>
                <a:ea typeface="Microsoft JhengHei" panose="020B0604030504040204" pitchFamily="34" charset="-120"/>
              </a:rPr>
              <a:t>按下 </a:t>
            </a:r>
            <a:r>
              <a:rPr lang="en-US" altLang="zh-TW" dirty="0">
                <a:latin typeface="Microsoft JhengHei" panose="020B0604030504040204" pitchFamily="34" charset="-120"/>
                <a:ea typeface="Microsoft JhengHei" panose="020B0604030504040204" pitchFamily="34" charset="-120"/>
              </a:rPr>
              <a:t>x)</a:t>
            </a:r>
            <a:endParaRPr lang="zh-TW" altLang="en-US" dirty="0">
              <a:latin typeface="Microsoft JhengHei" panose="020B0604030504040204" pitchFamily="34" charset="-120"/>
              <a:ea typeface="Microsoft JhengHei" panose="020B0604030504040204" pitchFamily="34" charset="-120"/>
            </a:endParaRPr>
          </a:p>
        </p:txBody>
      </p:sp>
      <p:sp>
        <p:nvSpPr>
          <p:cNvPr id="21" name="文字方塊 20"/>
          <p:cNvSpPr txBox="1"/>
          <p:nvPr/>
        </p:nvSpPr>
        <p:spPr>
          <a:xfrm>
            <a:off x="11439277" y="2581379"/>
            <a:ext cx="1405148" cy="461665"/>
          </a:xfrm>
          <a:prstGeom prst="rect">
            <a:avLst/>
          </a:prstGeom>
          <a:noFill/>
        </p:spPr>
        <p:txBody>
          <a:bodyPr wrap="square" rtlCol="0">
            <a:spAutoFit/>
          </a:bodyPr>
          <a:lstStyle/>
          <a:p>
            <a:r>
              <a:rPr lang="en-US" altLang="zh-TW" sz="2400" b="1" dirty="0"/>
              <a:t>……</a:t>
            </a:r>
            <a:endParaRPr lang="zh-TW" altLang="en-US" sz="2400" b="1" dirty="0"/>
          </a:p>
        </p:txBody>
      </p:sp>
      <p:sp>
        <p:nvSpPr>
          <p:cNvPr id="22" name="文字方塊 21"/>
          <p:cNvSpPr txBox="1"/>
          <p:nvPr/>
        </p:nvSpPr>
        <p:spPr>
          <a:xfrm>
            <a:off x="4332635" y="574805"/>
            <a:ext cx="7428926" cy="369332"/>
          </a:xfrm>
          <a:prstGeom prst="rect">
            <a:avLst/>
          </a:prstGeom>
          <a:noFill/>
        </p:spPr>
        <p:txBody>
          <a:bodyPr wrap="square">
            <a:spAutoFit/>
          </a:bodyPr>
          <a:lstStyle/>
          <a:p>
            <a:r>
              <a:rPr lang="zh-TW" altLang="en-US" dirty="0"/>
              <a:t>https://alignment.anthropic.com/2025/summarization-for-monitoring/</a:t>
            </a:r>
            <a:endParaRPr lang="zh-TW" altLang="en-US" dirty="0"/>
          </a:p>
        </p:txBody>
      </p:sp>
      <p:sp>
        <p:nvSpPr>
          <p:cNvPr id="23" name="文字方塊 22"/>
          <p:cNvSpPr txBox="1"/>
          <p:nvPr/>
        </p:nvSpPr>
        <p:spPr>
          <a:xfrm>
            <a:off x="247429" y="1467479"/>
            <a:ext cx="8666590" cy="461665"/>
          </a:xfrm>
          <a:prstGeom prst="rect">
            <a:avLst/>
          </a:prstGeom>
          <a:noFill/>
        </p:spPr>
        <p:txBody>
          <a:bodyPr wrap="square" rtlCol="0">
            <a:spAutoFit/>
          </a:bodyPr>
          <a:lstStyle/>
          <a:p>
            <a:r>
              <a:rPr lang="en-US" altLang="zh-TW" sz="2400" dirty="0">
                <a:latin typeface="Microsoft JhengHei" panose="020B0604030504040204" pitchFamily="34" charset="-120"/>
                <a:ea typeface="Microsoft JhengHei" panose="020B0604030504040204" pitchFamily="34" charset="-120"/>
              </a:rPr>
              <a:t>Computer Use </a:t>
            </a:r>
            <a:r>
              <a:rPr lang="zh-TW" altLang="en-US" sz="2400" dirty="0">
                <a:latin typeface="Microsoft JhengHei" panose="020B0604030504040204" pitchFamily="34" charset="-120"/>
                <a:ea typeface="Microsoft JhengHei" panose="020B0604030504040204" pitchFamily="34" charset="-120"/>
              </a:rPr>
              <a:t>會在 </a:t>
            </a:r>
            <a:r>
              <a:rPr lang="en-US" altLang="zh-TW" sz="2400" dirty="0">
                <a:latin typeface="Microsoft JhengHei" panose="020B0604030504040204" pitchFamily="34" charset="-120"/>
                <a:ea typeface="Microsoft JhengHei" panose="020B0604030504040204" pitchFamily="34" charset="-120"/>
              </a:rPr>
              <a:t>Context </a:t>
            </a:r>
            <a:r>
              <a:rPr lang="zh-TW" altLang="en-US" sz="2400" dirty="0">
                <a:latin typeface="Microsoft JhengHei" panose="020B0604030504040204" pitchFamily="34" charset="-120"/>
                <a:ea typeface="Microsoft JhengHei" panose="020B0604030504040204" pitchFamily="34" charset="-120"/>
              </a:rPr>
              <a:t>中產生瑣碎的內容</a:t>
            </a:r>
            <a:endParaRPr lang="en-US" altLang="zh-TW" sz="2400" dirty="0">
              <a:latin typeface="Microsoft JhengHei" panose="020B0604030504040204" pitchFamily="34" charset="-120"/>
              <a:ea typeface="Microsoft JhengHei" panose="020B0604030504040204" pitchFamily="34" charset="-120"/>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5"/>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P spid="9" grpId="0"/>
      <p:bldP spid="13" grpId="0" animBg="1"/>
      <p:bldP spid="15" grpId="0"/>
      <p:bldP spid="16" grpId="0"/>
      <p:bldP spid="17" grpId="0"/>
      <p:bldP spid="14" grpId="0"/>
      <p:bldP spid="19" grpId="0"/>
      <p:bldP spid="20" grpId="0"/>
      <p:bldP spid="21"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壓縮內容</a:t>
            </a:r>
            <a:endParaRPr lang="zh-TW" altLang="en-US" dirty="0">
              <a:latin typeface="Microsoft JhengHei" panose="020B0604030504040204" pitchFamily="34" charset="-120"/>
              <a:ea typeface="Microsoft JhengHei" panose="020B0604030504040204" pitchFamily="34" charset="-120"/>
            </a:endParaRPr>
          </a:p>
        </p:txBody>
      </p:sp>
      <p:sp>
        <p:nvSpPr>
          <p:cNvPr id="6" name="矩形: 圓角 5"/>
          <p:cNvSpPr/>
          <p:nvPr/>
        </p:nvSpPr>
        <p:spPr>
          <a:xfrm>
            <a:off x="3179019" y="2026807"/>
            <a:ext cx="1440000" cy="360000"/>
          </a:xfrm>
          <a:prstGeom prst="roundRect">
            <a:avLst/>
          </a:prstGeom>
          <a:solidFill>
            <a:srgbClr val="ED7D31">
              <a:lumMod val="20000"/>
              <a:lumOff val="80000"/>
            </a:srgb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act </a:t>
            </a:r>
            <a:r>
              <a:rPr lang="en-US" altLang="zh-TW" sz="2400" kern="0" dirty="0">
                <a:solidFill>
                  <a:prstClr val="black"/>
                </a:solidFill>
                <a:latin typeface="Calibri" panose="020F0502020204030204"/>
                <a:ea typeface="PMingLiU" panose="02020500000000000000" pitchFamily="18" charset="-120"/>
              </a:rPr>
              <a:t>100</a:t>
            </a:r>
            <a:endParaRPr kumimoji="0" lang="zh-TW" altLang="en-US"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9" name="矩形: 圓角 8"/>
          <p:cNvSpPr/>
          <p:nvPr/>
        </p:nvSpPr>
        <p:spPr>
          <a:xfrm>
            <a:off x="8032957" y="2026807"/>
            <a:ext cx="1440000" cy="360000"/>
          </a:xfrm>
          <a:prstGeom prst="roundRect">
            <a:avLst/>
          </a:prstGeom>
          <a:solidFill>
            <a:srgbClr val="5B9BD5">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dirty="0">
                <a:solidFill>
                  <a:prstClr val="black"/>
                </a:solidFill>
                <a:latin typeface="Calibri" panose="020F0502020204030204"/>
              </a:rPr>
              <a:t>act 101</a:t>
            </a:r>
            <a:endParaRPr lang="zh-TW" altLang="en-US" sz="2400" kern="0" dirty="0">
              <a:solidFill>
                <a:prstClr val="black"/>
              </a:solidFill>
              <a:latin typeface="Calibri" panose="020F0502020204030204"/>
            </a:endParaRPr>
          </a:p>
        </p:txBody>
      </p:sp>
      <p:sp>
        <p:nvSpPr>
          <p:cNvPr id="10" name="文字方塊 9"/>
          <p:cNvSpPr txBox="1"/>
          <p:nvPr/>
        </p:nvSpPr>
        <p:spPr>
          <a:xfrm>
            <a:off x="282325" y="1910848"/>
            <a:ext cx="1418850" cy="523220"/>
          </a:xfrm>
          <a:prstGeom prst="rect">
            <a:avLst/>
          </a:prstGeom>
          <a:noFill/>
        </p:spPr>
        <p:txBody>
          <a:bodyPr wrap="square" rtlCol="0">
            <a:spAutoFit/>
          </a:bodyPr>
          <a:lstStyle/>
          <a:p>
            <a:pPr algn="ctr"/>
            <a:r>
              <a:rPr lang="en-US" altLang="zh-TW" sz="2800" dirty="0">
                <a:solidFill>
                  <a:prstClr val="black"/>
                </a:solidFill>
                <a:latin typeface="Calibri" panose="020F0502020204030204"/>
              </a:rPr>
              <a:t>……</a:t>
            </a:r>
            <a:endParaRPr lang="zh-TW" altLang="en-US" sz="2800" dirty="0">
              <a:solidFill>
                <a:prstClr val="black"/>
              </a:solidFill>
              <a:latin typeface="Calibri" panose="020F0502020204030204"/>
            </a:endParaRPr>
          </a:p>
        </p:txBody>
      </p:sp>
      <p:pic>
        <p:nvPicPr>
          <p:cNvPr id="11"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0442800" y="1597207"/>
            <a:ext cx="1219200" cy="1219201"/>
          </a:xfrm>
          <a:prstGeom prst="rect">
            <a:avLst/>
          </a:prstGeom>
          <a:noFill/>
          <a:extLst>
            <a:ext uri="{909E8E84-426E-40DD-AFC4-6F175D3DCCD1}">
              <a14:hiddenFill xmlns:a14="http://schemas.microsoft.com/office/drawing/2010/main">
                <a:solidFill>
                  <a:srgbClr val="FFFFFF"/>
                </a:solidFill>
              </a14:hiddenFill>
            </a:ext>
          </a:extLst>
        </p:spPr>
      </p:pic>
      <p:cxnSp>
        <p:nvCxnSpPr>
          <p:cNvPr id="13" name="直線單箭頭接點 12"/>
          <p:cNvCxnSpPr/>
          <p:nvPr/>
        </p:nvCxnSpPr>
        <p:spPr>
          <a:xfrm>
            <a:off x="9589072" y="2239099"/>
            <a:ext cx="737613" cy="0"/>
          </a:xfrm>
          <a:prstGeom prst="straightConnector1">
            <a:avLst/>
          </a:prstGeom>
          <a:noFill/>
          <a:ln w="57150" cap="flat" cmpd="sng" algn="ctr">
            <a:solidFill>
              <a:sysClr val="windowText" lastClr="000000"/>
            </a:solidFill>
            <a:prstDash val="solid"/>
            <a:miter lim="800000"/>
            <a:tailEnd type="triangle"/>
          </a:ln>
          <a:effectLst/>
        </p:spPr>
      </p:cxnSp>
      <p:pic>
        <p:nvPicPr>
          <p:cNvPr id="1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72307" y="1591237"/>
            <a:ext cx="988875" cy="988875"/>
          </a:xfrm>
          <a:prstGeom prst="rect">
            <a:avLst/>
          </a:prstGeom>
          <a:noFill/>
          <a:extLst>
            <a:ext uri="{909E8E84-426E-40DD-AFC4-6F175D3DCCD1}">
              <a14:hiddenFill xmlns:a14="http://schemas.microsoft.com/office/drawing/2010/main">
                <a:solidFill>
                  <a:srgbClr val="FFFFFF"/>
                </a:solidFill>
              </a14:hiddenFill>
            </a:ext>
          </a:extLst>
        </p:spPr>
      </p:pic>
      <p:sp>
        <p:nvSpPr>
          <p:cNvPr id="18" name="矩形: 圓角 17"/>
          <p:cNvSpPr/>
          <p:nvPr/>
        </p:nvSpPr>
        <p:spPr>
          <a:xfrm>
            <a:off x="4796998" y="2026807"/>
            <a:ext cx="1440000" cy="360000"/>
          </a:xfrm>
          <a:prstGeom prst="roundRect">
            <a:avLst/>
          </a:prstGeom>
          <a:solidFill>
            <a:srgbClr val="5B9BD5">
              <a:lumMod val="20000"/>
              <a:lumOff val="80000"/>
            </a:srgb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obs</a:t>
            </a:r>
            <a:r>
              <a:rPr kumimoji="0" lang="en-US" altLang="zh-TW"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a:t>
            </a:r>
            <a:r>
              <a:rPr lang="en-US" altLang="zh-TW" sz="2400" kern="0" dirty="0">
                <a:solidFill>
                  <a:prstClr val="black"/>
                </a:solidFill>
                <a:latin typeface="Calibri" panose="020F0502020204030204"/>
                <a:ea typeface="PMingLiU" panose="02020500000000000000" pitchFamily="18" charset="-120"/>
              </a:rPr>
              <a:t>101</a:t>
            </a:r>
            <a:endParaRPr kumimoji="0" lang="zh-TW" altLang="en-US"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19" name="矩形: 圓角 18"/>
          <p:cNvSpPr/>
          <p:nvPr/>
        </p:nvSpPr>
        <p:spPr>
          <a:xfrm>
            <a:off x="6414977" y="2026807"/>
            <a:ext cx="1440000" cy="360000"/>
          </a:xfrm>
          <a:prstGeom prst="roundRect">
            <a:avLst/>
          </a:prstGeom>
          <a:solidFill>
            <a:srgbClr val="ED7D31">
              <a:lumMod val="20000"/>
              <a:lumOff val="80000"/>
            </a:srgb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act </a:t>
            </a:r>
            <a:r>
              <a:rPr lang="en-US" altLang="zh-TW" sz="2400" kern="0" dirty="0">
                <a:solidFill>
                  <a:prstClr val="black"/>
                </a:solidFill>
                <a:latin typeface="Calibri" panose="020F0502020204030204"/>
                <a:ea typeface="PMingLiU" panose="02020500000000000000" pitchFamily="18" charset="-120"/>
              </a:rPr>
              <a:t>101</a:t>
            </a:r>
            <a:endParaRPr kumimoji="0" lang="zh-TW" altLang="en-US"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20" name="矩形: 圓角 19"/>
          <p:cNvSpPr/>
          <p:nvPr/>
        </p:nvSpPr>
        <p:spPr>
          <a:xfrm>
            <a:off x="1561039" y="2026807"/>
            <a:ext cx="1440000" cy="360000"/>
          </a:xfrm>
          <a:prstGeom prst="roundRect">
            <a:avLst/>
          </a:prstGeom>
          <a:solidFill>
            <a:srgbClr val="5B9BD5">
              <a:lumMod val="20000"/>
              <a:lumOff val="80000"/>
            </a:srgb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err="1">
                <a:ln>
                  <a:noFill/>
                </a:ln>
                <a:solidFill>
                  <a:prstClr val="black"/>
                </a:solidFill>
                <a:effectLst/>
                <a:uLnTx/>
                <a:uFillTx/>
                <a:latin typeface="Calibri" panose="020F0502020204030204"/>
                <a:ea typeface="PMingLiU" panose="02020500000000000000" pitchFamily="18" charset="-120"/>
                <a:cs typeface="+mn-cs"/>
              </a:rPr>
              <a:t>obs</a:t>
            </a:r>
            <a:r>
              <a:rPr kumimoji="0" lang="en-US" altLang="zh-TW"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 </a:t>
            </a:r>
            <a:r>
              <a:rPr lang="en-US" altLang="zh-TW" sz="2400" kern="0" dirty="0">
                <a:solidFill>
                  <a:prstClr val="black"/>
                </a:solidFill>
                <a:latin typeface="Calibri" panose="020F0502020204030204"/>
                <a:ea typeface="PMingLiU" panose="02020500000000000000" pitchFamily="18" charset="-120"/>
              </a:rPr>
              <a:t>100</a:t>
            </a:r>
            <a:endParaRPr kumimoji="0" lang="zh-TW" altLang="en-US"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pic>
        <p:nvPicPr>
          <p:cNvPr id="21"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351105" y="3202740"/>
            <a:ext cx="1219200" cy="1219201"/>
          </a:xfrm>
          <a:prstGeom prst="rect">
            <a:avLst/>
          </a:prstGeom>
          <a:noFill/>
          <a:extLst>
            <a:ext uri="{909E8E84-426E-40DD-AFC4-6F175D3DCCD1}">
              <a14:hiddenFill xmlns:a14="http://schemas.microsoft.com/office/drawing/2010/main">
                <a:solidFill>
                  <a:srgbClr val="FFFFFF"/>
                </a:solidFill>
              </a14:hiddenFill>
            </a:ext>
          </a:extLst>
        </p:spPr>
      </p:pic>
      <p:sp>
        <p:nvSpPr>
          <p:cNvPr id="22" name="矩形: 圓角 21"/>
          <p:cNvSpPr/>
          <p:nvPr/>
        </p:nvSpPr>
        <p:spPr>
          <a:xfrm>
            <a:off x="3240705" y="5260458"/>
            <a:ext cx="1440000" cy="360000"/>
          </a:xfrm>
          <a:prstGeom prst="roundRect">
            <a:avLst/>
          </a:prstGeom>
          <a:solidFill>
            <a:schemeClr val="accent6">
              <a:lumMod val="20000"/>
              <a:lumOff val="80000"/>
            </a:scheme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altLang="zh-TW"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rPr>
              <a:t>history 1</a:t>
            </a:r>
            <a:endParaRPr kumimoji="0" lang="zh-TW" altLang="en-US" sz="2400" b="0" i="0" u="none" strike="noStrike" kern="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p:txBody>
      </p:sp>
      <p:sp>
        <p:nvSpPr>
          <p:cNvPr id="23" name="矩形: 圓角 22"/>
          <p:cNvSpPr/>
          <p:nvPr/>
        </p:nvSpPr>
        <p:spPr>
          <a:xfrm>
            <a:off x="8062828" y="5260458"/>
            <a:ext cx="1440000" cy="360000"/>
          </a:xfrm>
          <a:prstGeom prst="roundRect">
            <a:avLst/>
          </a:prstGeom>
          <a:solidFill>
            <a:srgbClr val="5B9BD5">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dirty="0">
                <a:solidFill>
                  <a:prstClr val="black"/>
                </a:solidFill>
                <a:latin typeface="Calibri" panose="020F0502020204030204"/>
              </a:rPr>
              <a:t>act 101</a:t>
            </a:r>
            <a:endParaRPr lang="zh-TW" altLang="en-US" sz="2400" kern="0" dirty="0">
              <a:solidFill>
                <a:prstClr val="black"/>
              </a:solidFill>
              <a:latin typeface="Calibri" panose="020F0502020204030204"/>
            </a:endParaRPr>
          </a:p>
        </p:txBody>
      </p:sp>
      <p:pic>
        <p:nvPicPr>
          <p:cNvPr id="2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0472671" y="4830858"/>
            <a:ext cx="1219200" cy="1219201"/>
          </a:xfrm>
          <a:prstGeom prst="rect">
            <a:avLst/>
          </a:prstGeom>
          <a:noFill/>
          <a:extLst>
            <a:ext uri="{909E8E84-426E-40DD-AFC4-6F175D3DCCD1}">
              <a14:hiddenFill xmlns:a14="http://schemas.microsoft.com/office/drawing/2010/main">
                <a:solidFill>
                  <a:srgbClr val="FFFFFF"/>
                </a:solidFill>
              </a14:hiddenFill>
            </a:ext>
          </a:extLst>
        </p:spPr>
      </p:pic>
      <p:cxnSp>
        <p:nvCxnSpPr>
          <p:cNvPr id="25" name="直線單箭頭接點 24"/>
          <p:cNvCxnSpPr/>
          <p:nvPr/>
        </p:nvCxnSpPr>
        <p:spPr>
          <a:xfrm>
            <a:off x="9618943" y="5472750"/>
            <a:ext cx="737613" cy="0"/>
          </a:xfrm>
          <a:prstGeom prst="straightConnector1">
            <a:avLst/>
          </a:prstGeom>
          <a:noFill/>
          <a:ln w="57150" cap="flat" cmpd="sng" algn="ctr">
            <a:solidFill>
              <a:sysClr val="windowText" lastClr="000000"/>
            </a:solidFill>
            <a:prstDash val="solid"/>
            <a:miter lim="800000"/>
            <a:tailEnd type="triangle"/>
          </a:ln>
          <a:effectLst/>
        </p:spPr>
      </p:cxnSp>
      <p:sp>
        <p:nvSpPr>
          <p:cNvPr id="27" name="矩形: 圓角 26"/>
          <p:cNvSpPr/>
          <p:nvPr/>
        </p:nvSpPr>
        <p:spPr>
          <a:xfrm>
            <a:off x="4848079" y="5260458"/>
            <a:ext cx="1440000" cy="360000"/>
          </a:xfrm>
          <a:prstGeom prst="roundRect">
            <a:avLst/>
          </a:prstGeom>
          <a:solidFill>
            <a:srgbClr val="5B9BD5">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dirty="0" err="1">
                <a:solidFill>
                  <a:prstClr val="black"/>
                </a:solidFill>
                <a:latin typeface="Calibri" panose="020F0502020204030204"/>
              </a:rPr>
              <a:t>obs</a:t>
            </a:r>
            <a:r>
              <a:rPr lang="en-US" altLang="zh-TW" sz="2400" kern="0" dirty="0">
                <a:solidFill>
                  <a:prstClr val="black"/>
                </a:solidFill>
                <a:latin typeface="Calibri" panose="020F0502020204030204"/>
              </a:rPr>
              <a:t> 101</a:t>
            </a:r>
            <a:endParaRPr lang="zh-TW" altLang="en-US" sz="2400" kern="0" dirty="0">
              <a:solidFill>
                <a:prstClr val="black"/>
              </a:solidFill>
              <a:latin typeface="Calibri" panose="020F0502020204030204"/>
            </a:endParaRPr>
          </a:p>
        </p:txBody>
      </p:sp>
      <p:sp>
        <p:nvSpPr>
          <p:cNvPr id="28" name="矩形: 圓角 27"/>
          <p:cNvSpPr/>
          <p:nvPr/>
        </p:nvSpPr>
        <p:spPr>
          <a:xfrm>
            <a:off x="6455453" y="5260458"/>
            <a:ext cx="1440000" cy="360000"/>
          </a:xfrm>
          <a:prstGeom prst="roundRect">
            <a:avLst/>
          </a:prstGeom>
          <a:solidFill>
            <a:srgbClr val="ED7D31">
              <a:lumMod val="20000"/>
              <a:lumOff val="80000"/>
            </a:srgbClr>
          </a:solidFill>
          <a:ln w="38100" cap="flat" cmpd="sng" algn="ctr">
            <a:solidFill>
              <a:sysClr val="windowText" lastClr="000000"/>
            </a:solidFill>
            <a:prstDash val="solid"/>
            <a:miter lim="800000"/>
          </a:ln>
          <a:effectLst/>
        </p:spPr>
        <p:txBody>
          <a:bodyPr rtlCol="0" anchor="ctr"/>
          <a:lstStyle/>
          <a:p>
            <a:pPr lvl="0" algn="ctr">
              <a:defRPr/>
            </a:pPr>
            <a:r>
              <a:rPr lang="en-US" altLang="zh-TW" sz="2400" kern="0" dirty="0">
                <a:solidFill>
                  <a:prstClr val="black"/>
                </a:solidFill>
                <a:latin typeface="Calibri" panose="020F0502020204030204"/>
              </a:rPr>
              <a:t>act 101</a:t>
            </a:r>
            <a:endParaRPr lang="zh-TW" altLang="en-US" sz="2400" kern="0" dirty="0">
              <a:solidFill>
                <a:prstClr val="black"/>
              </a:solidFill>
              <a:latin typeface="Calibri" panose="020F0502020204030204"/>
            </a:endParaRPr>
          </a:p>
        </p:txBody>
      </p:sp>
      <p:sp>
        <p:nvSpPr>
          <p:cNvPr id="29" name="文字方塊 28"/>
          <p:cNvSpPr txBox="1"/>
          <p:nvPr/>
        </p:nvSpPr>
        <p:spPr>
          <a:xfrm>
            <a:off x="4672931" y="3696593"/>
            <a:ext cx="1828800" cy="461665"/>
          </a:xfrm>
          <a:prstGeom prst="rect">
            <a:avLst/>
          </a:prstGeom>
          <a:noFill/>
        </p:spPr>
        <p:txBody>
          <a:bodyPr wrap="square" rtlCol="0">
            <a:spAutoFit/>
          </a:bodyPr>
          <a:lstStyle/>
          <a:p>
            <a:r>
              <a:rPr lang="zh-TW" altLang="en-US" sz="2400" dirty="0">
                <a:latin typeface="Microsoft JhengHei" panose="020B0604030504040204" pitchFamily="34" charset="-120"/>
                <a:ea typeface="Microsoft JhengHei" panose="020B0604030504040204" pitchFamily="34" charset="-120"/>
              </a:rPr>
              <a:t>摘要 </a:t>
            </a:r>
            <a:r>
              <a:rPr lang="en-US" altLang="zh-TW" sz="2400" dirty="0">
                <a:latin typeface="Microsoft JhengHei" panose="020B0604030504040204" pitchFamily="34" charset="-120"/>
                <a:ea typeface="Microsoft JhengHei" panose="020B0604030504040204" pitchFamily="34" charset="-120"/>
              </a:rPr>
              <a:t>(</a:t>
            </a:r>
            <a:r>
              <a:rPr lang="zh-TW" altLang="en-US" sz="2400" dirty="0">
                <a:latin typeface="Microsoft JhengHei" panose="020B0604030504040204" pitchFamily="34" charset="-120"/>
                <a:ea typeface="Microsoft JhengHei" panose="020B0604030504040204" pitchFamily="34" charset="-120"/>
              </a:rPr>
              <a:t>壓縮</a:t>
            </a:r>
            <a:r>
              <a:rPr lang="en-US" altLang="zh-TW" sz="2400" dirty="0">
                <a:latin typeface="Microsoft JhengHei" panose="020B0604030504040204" pitchFamily="34" charset="-120"/>
                <a:ea typeface="Microsoft JhengHei" panose="020B0604030504040204" pitchFamily="34" charset="-120"/>
              </a:rPr>
              <a:t>)</a:t>
            </a:r>
            <a:endParaRPr lang="zh-TW" altLang="en-US" sz="2400" dirty="0">
              <a:latin typeface="Microsoft JhengHei" panose="020B0604030504040204" pitchFamily="34" charset="-120"/>
              <a:ea typeface="Microsoft JhengHei" panose="020B0604030504040204" pitchFamily="34" charset="-120"/>
            </a:endParaRPr>
          </a:p>
        </p:txBody>
      </p:sp>
      <p:cxnSp>
        <p:nvCxnSpPr>
          <p:cNvPr id="31" name="直線單箭頭接點 30"/>
          <p:cNvCxnSpPr/>
          <p:nvPr/>
        </p:nvCxnSpPr>
        <p:spPr>
          <a:xfrm>
            <a:off x="3960706" y="4498056"/>
            <a:ext cx="0" cy="660804"/>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右大括弧 31"/>
          <p:cNvSpPr/>
          <p:nvPr/>
        </p:nvSpPr>
        <p:spPr>
          <a:xfrm rot="5400000">
            <a:off x="2323552" y="760591"/>
            <a:ext cx="499985" cy="4090949"/>
          </a:xfrm>
          <a:prstGeom prst="rightBrace">
            <a:avLst>
              <a:gd name="adj1" fmla="val 34460"/>
              <a:gd name="adj2" fmla="val 17005"/>
            </a:avLst>
          </a:prstGeom>
          <a:ln w="381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zh-TW" altLang="en-US"/>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9058" y="414255"/>
            <a:ext cx="1219200" cy="1219200"/>
          </a:xfrm>
          <a:prstGeom prst="rect">
            <a:avLst/>
          </a:prstGeom>
          <a:noFill/>
          <a:extLst>
            <a:ext uri="{909E8E84-426E-40DD-AFC4-6F175D3DCCD1}">
              <a14:hiddenFill xmlns:a14="http://schemas.microsoft.com/office/drawing/2010/main">
                <a:solidFill>
                  <a:srgbClr val="FFFFFF"/>
                </a:solidFill>
              </a14:hiddenFill>
            </a:ext>
          </a:extLst>
        </p:spPr>
      </p:pic>
      <p:sp>
        <p:nvSpPr>
          <p:cNvPr id="3" name="文字方塊 2"/>
          <p:cNvSpPr txBox="1"/>
          <p:nvPr/>
        </p:nvSpPr>
        <p:spPr>
          <a:xfrm>
            <a:off x="6879316" y="519777"/>
            <a:ext cx="3807023" cy="830997"/>
          </a:xfrm>
          <a:prstGeom prst="rect">
            <a:avLst/>
          </a:prstGeom>
          <a:noFill/>
        </p:spPr>
        <p:txBody>
          <a:bodyPr wrap="square" rtlCol="0">
            <a:spAutoFit/>
          </a:bodyPr>
          <a:lstStyle/>
          <a:p>
            <a:r>
              <a:rPr lang="zh-TW" altLang="en-US" sz="2400" dirty="0">
                <a:latin typeface="Microsoft JhengHei" panose="020B0604030504040204" pitchFamily="34" charset="-120"/>
                <a:ea typeface="Microsoft JhengHei" panose="020B0604030504040204" pitchFamily="34" charset="-120"/>
              </a:rPr>
              <a:t>放入可以長期儲存的空間</a:t>
            </a:r>
            <a:endParaRPr lang="en-US" altLang="zh-TW" sz="2400" dirty="0">
              <a:latin typeface="Microsoft JhengHei" panose="020B0604030504040204" pitchFamily="34" charset="-120"/>
              <a:ea typeface="Microsoft JhengHei" panose="020B0604030504040204" pitchFamily="34" charset="-120"/>
            </a:endParaRPr>
          </a:p>
          <a:p>
            <a:r>
              <a:rPr lang="zh-TW" altLang="en-US" sz="2400" dirty="0">
                <a:latin typeface="Microsoft JhengHei" panose="020B0604030504040204" pitchFamily="34" charset="-120"/>
                <a:ea typeface="Microsoft JhengHei" panose="020B0604030504040204" pitchFamily="34" charset="-120"/>
              </a:rPr>
              <a:t>日後可用 </a:t>
            </a:r>
            <a:r>
              <a:rPr lang="en-US" altLang="zh-TW" sz="2400" dirty="0">
                <a:latin typeface="Microsoft JhengHei" panose="020B0604030504040204" pitchFamily="34" charset="-120"/>
                <a:ea typeface="Microsoft JhengHei" panose="020B0604030504040204" pitchFamily="34" charset="-120"/>
              </a:rPr>
              <a:t>RAG</a:t>
            </a:r>
            <a:r>
              <a:rPr lang="zh-TW" altLang="en-US" sz="2400" dirty="0">
                <a:latin typeface="Microsoft JhengHei" panose="020B0604030504040204" pitchFamily="34" charset="-120"/>
                <a:ea typeface="Microsoft JhengHei" panose="020B0604030504040204" pitchFamily="34" charset="-120"/>
              </a:rPr>
              <a:t> 讀取</a:t>
            </a:r>
            <a:endParaRPr lang="zh-TW" altLang="en-US" sz="2400" dirty="0">
              <a:latin typeface="Microsoft JhengHei" panose="020B0604030504040204" pitchFamily="34" charset="-120"/>
              <a:ea typeface="Microsoft JhengHei" panose="020B0604030504040204" pitchFamily="34" charset="-120"/>
            </a:endParaRPr>
          </a:p>
        </p:txBody>
      </p:sp>
      <p:sp>
        <p:nvSpPr>
          <p:cNvPr id="4" name="矩形: 圓角 3"/>
          <p:cNvSpPr/>
          <p:nvPr/>
        </p:nvSpPr>
        <p:spPr>
          <a:xfrm>
            <a:off x="528070" y="1872790"/>
            <a:ext cx="4168110" cy="645225"/>
          </a:xfrm>
          <a:prstGeom prst="roundRect">
            <a:avLst/>
          </a:prstGeom>
          <a:noFill/>
          <a:ln w="57150">
            <a:solidFill>
              <a:schemeClr val="tx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7" name="直線單箭頭接點 6"/>
          <p:cNvCxnSpPr/>
          <p:nvPr/>
        </p:nvCxnSpPr>
        <p:spPr>
          <a:xfrm flipV="1">
            <a:off x="4652501" y="1275139"/>
            <a:ext cx="695739" cy="620460"/>
          </a:xfrm>
          <a:prstGeom prst="straightConnector1">
            <a:avLst/>
          </a:prstGeom>
          <a:ln w="57150">
            <a:solidFill>
              <a:schemeClr val="tx1"/>
            </a:solidFill>
            <a:prstDash val="sysDash"/>
            <a:tailEnd type="triangle"/>
          </a:ln>
        </p:spPr>
        <p:style>
          <a:lnRef idx="2">
            <a:schemeClr val="accent1"/>
          </a:lnRef>
          <a:fillRef idx="0">
            <a:schemeClr val="accent1"/>
          </a:fillRef>
          <a:effectRef idx="1">
            <a:schemeClr val="accent1"/>
          </a:effectRef>
          <a:fontRef idx="minor">
            <a:schemeClr val="tx1"/>
          </a:fontRef>
        </p:style>
      </p:cxnSp>
      <p:sp>
        <p:nvSpPr>
          <p:cNvPr id="8" name="右大括弧 7"/>
          <p:cNvSpPr/>
          <p:nvPr/>
        </p:nvSpPr>
        <p:spPr>
          <a:xfrm rot="16200000" flipV="1">
            <a:off x="4799231" y="1460566"/>
            <a:ext cx="432435" cy="8974757"/>
          </a:xfrm>
          <a:prstGeom prst="rightBrace">
            <a:avLst>
              <a:gd name="adj1" fmla="val 34460"/>
              <a:gd name="adj2" fmla="val 61865"/>
            </a:avLst>
          </a:prstGeom>
          <a:ln w="381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zh-TW" altLang="en-US"/>
          </a:p>
        </p:txBody>
      </p:sp>
      <p:sp>
        <p:nvSpPr>
          <p:cNvPr id="17" name="文字方塊 16"/>
          <p:cNvSpPr txBox="1"/>
          <p:nvPr/>
        </p:nvSpPr>
        <p:spPr>
          <a:xfrm>
            <a:off x="528070" y="6050059"/>
            <a:ext cx="9584833" cy="461665"/>
          </a:xfrm>
          <a:prstGeom prst="rect">
            <a:avLst/>
          </a:prstGeom>
          <a:noFill/>
        </p:spPr>
        <p:txBody>
          <a:bodyPr wrap="square">
            <a:spAutoFit/>
          </a:bodyPr>
          <a:lstStyle/>
          <a:p>
            <a:r>
              <a:rPr lang="en-US" altLang="zh-TW" sz="2400" dirty="0">
                <a:latin typeface="Microsoft JhengHei" panose="020B0604030504040204" pitchFamily="34" charset="-120"/>
                <a:ea typeface="Microsoft JhengHei" panose="020B0604030504040204" pitchFamily="34" charset="-120"/>
              </a:rPr>
              <a:t>…… </a:t>
            </a:r>
            <a:r>
              <a:rPr lang="zh-TW" altLang="en-US" sz="2400" dirty="0">
                <a:latin typeface="Microsoft JhengHei" panose="020B0604030504040204" pitchFamily="34" charset="-120"/>
                <a:ea typeface="Microsoft JhengHei" panose="020B0604030504040204" pitchFamily="34" charset="-120"/>
              </a:rPr>
              <a:t>詳細內容請開啟，C:\Users\</a:t>
            </a:r>
            <a:r>
              <a:rPr lang="en-US" altLang="zh-TW" sz="2400" dirty="0">
                <a:latin typeface="Microsoft JhengHei" panose="020B0604030504040204" pitchFamily="34" charset="-120"/>
                <a:ea typeface="Microsoft JhengHei" panose="020B0604030504040204" pitchFamily="34" charset="-120"/>
              </a:rPr>
              <a:t>Document</a:t>
            </a:r>
            <a:r>
              <a:rPr lang="zh-TW" altLang="en-US" sz="2400" dirty="0">
                <a:latin typeface="Microsoft JhengHei" panose="020B0604030504040204" pitchFamily="34" charset="-120"/>
                <a:ea typeface="Microsoft JhengHei" panose="020B0604030504040204" pitchFamily="34" charset="-120"/>
              </a:rPr>
              <a:t>\那年夏天的美好回憶</a:t>
            </a:r>
            <a:r>
              <a:rPr lang="en-US" altLang="zh-TW" sz="2400" dirty="0">
                <a:latin typeface="Microsoft JhengHei" panose="020B0604030504040204" pitchFamily="34" charset="-120"/>
                <a:ea typeface="Microsoft JhengHei" panose="020B0604030504040204" pitchFamily="34" charset="-120"/>
              </a:rPr>
              <a:t>.txt</a:t>
            </a:r>
            <a:endParaRPr lang="zh-TW" altLang="en-US" sz="2400" dirty="0">
              <a:latin typeface="Microsoft JhengHei" panose="020B0604030504040204" pitchFamily="34" charset="-120"/>
              <a:ea typeface="Microsoft JhengHei" panose="020B0604030504040204" pitchFamily="34" charset="-120"/>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2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8" grpId="0" animBg="1"/>
      <p:bldP spid="17"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486863" y="258203"/>
            <a:ext cx="6259513" cy="5583542"/>
          </a:xfrm>
          <a:prstGeom prst="rect">
            <a:avLst/>
          </a:prstGeom>
          <a:noFill/>
          <a:extLst>
            <a:ext uri="{909E8E84-426E-40DD-AFC4-6F175D3DCCD1}">
              <a14:hiddenFill xmlns:a14="http://schemas.microsoft.com/office/drawing/2010/main">
                <a:solidFill>
                  <a:srgbClr val="FFFFFF"/>
                </a:solidFill>
              </a14:hiddenFill>
            </a:ext>
          </a:extLst>
        </p:spPr>
      </p:pic>
      <p:sp>
        <p:nvSpPr>
          <p:cNvPr id="2" name="標題 1"/>
          <p:cNvSpPr>
            <a:spLocks noGrp="1"/>
          </p:cNvSpPr>
          <p:nvPr>
            <p:ph type="title"/>
          </p:nvPr>
        </p:nvSpPr>
        <p:spPr/>
        <p:txBody>
          <a:bodyPr/>
          <a:lstStyle/>
          <a:p>
            <a:r>
              <a:rPr lang="en-US" altLang="zh-TW" dirty="0"/>
              <a:t>Multi-Agent </a:t>
            </a:r>
            <a:endParaRPr lang="zh-TW" altLang="en-US" dirty="0"/>
          </a:p>
        </p:txBody>
      </p:sp>
      <p:pic>
        <p:nvPicPr>
          <p:cNvPr id="5" name="圖片 4"/>
          <p:cNvPicPr>
            <a:picLocks noChangeAspect="1"/>
          </p:cNvPicPr>
          <p:nvPr/>
        </p:nvPicPr>
        <p:blipFill>
          <a:blip r:embed="rId2"/>
          <a:stretch>
            <a:fillRect/>
          </a:stretch>
        </p:blipFill>
        <p:spPr>
          <a:xfrm>
            <a:off x="757000" y="1437390"/>
            <a:ext cx="10793088" cy="4404355"/>
          </a:xfrm>
          <a:prstGeom prst="rect">
            <a:avLst/>
          </a:prstGeom>
        </p:spPr>
      </p:pic>
      <p:sp>
        <p:nvSpPr>
          <p:cNvPr id="7" name="文字方塊 6"/>
          <p:cNvSpPr txBox="1"/>
          <p:nvPr/>
        </p:nvSpPr>
        <p:spPr>
          <a:xfrm>
            <a:off x="6679076" y="5948667"/>
            <a:ext cx="5067300" cy="646331"/>
          </a:xfrm>
          <a:prstGeom prst="rect">
            <a:avLst/>
          </a:prstGeom>
          <a:noFill/>
        </p:spPr>
        <p:txBody>
          <a:bodyPr wrap="square">
            <a:spAutoFit/>
          </a:bodyPr>
          <a:lstStyle/>
          <a:p>
            <a:pPr algn="r">
              <a:defRPr/>
            </a:pPr>
            <a:r>
              <a:rPr lang="en-US" altLang="zh-TW" dirty="0" err="1">
                <a:solidFill>
                  <a:prstClr val="black"/>
                </a:solidFill>
                <a:latin typeface="Calibri" panose="020F0502020204030204"/>
              </a:rPr>
              <a:t>ChatDev</a:t>
            </a:r>
            <a:r>
              <a:rPr lang="en-US" altLang="zh-TW" dirty="0">
                <a:solidFill>
                  <a:prstClr val="black"/>
                </a:solidFill>
                <a:latin typeface="Calibri" panose="020F0502020204030204"/>
              </a:rPr>
              <a:t>: </a:t>
            </a:r>
            <a:r>
              <a:rPr kumimoji="0" lang="zh-TW" altLang="en-US"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hlinkClick r:id="rId3"/>
              </a:rPr>
              <a:t>https://github.com/OpenBMB/ChatDev</a:t>
            </a:r>
            <a:endParaRPr kumimoji="0" lang="en-US" altLang="zh-TW" sz="1800" b="0" i="0" u="none" strike="noStrike" kern="1200" cap="none" spc="0" normalizeH="0" baseline="0" noProof="0" dirty="0">
              <a:ln>
                <a:noFill/>
              </a:ln>
              <a:solidFill>
                <a:prstClr val="black"/>
              </a:solidFill>
              <a:effectLst/>
              <a:uLnTx/>
              <a:uFillTx/>
              <a:latin typeface="Calibri" panose="020F0502020204030204"/>
              <a:ea typeface="PMingLiU" panose="02020500000000000000" pitchFamily="18" charset="-120"/>
              <a:cs typeface="+mn-cs"/>
            </a:endParaRPr>
          </a:p>
          <a:p>
            <a:pPr algn="r">
              <a:defRPr/>
            </a:pPr>
            <a:r>
              <a:rPr lang="en-US" altLang="zh-TW" dirty="0" err="1">
                <a:solidFill>
                  <a:prstClr val="black"/>
                </a:solidFill>
                <a:latin typeface="Calibri" panose="020F0502020204030204"/>
              </a:rPr>
              <a:t>arXiv</a:t>
            </a:r>
            <a:r>
              <a:rPr lang="en-US" altLang="zh-TW" dirty="0">
                <a:solidFill>
                  <a:prstClr val="black"/>
                </a:solidFill>
                <a:latin typeface="Calibri" panose="020F0502020204030204"/>
              </a:rPr>
              <a:t>: </a:t>
            </a:r>
            <a:r>
              <a:rPr lang="en-US" altLang="zh-TW" dirty="0">
                <a:solidFill>
                  <a:prstClr val="black"/>
                </a:solidFill>
                <a:latin typeface="Calibri" panose="020F0502020204030204"/>
                <a:hlinkClick r:id="rId4"/>
              </a:rPr>
              <a:t>https://arxiv.org/abs/2307.07924</a:t>
            </a:r>
            <a:endParaRPr lang="en-US" altLang="zh-TW" dirty="0">
              <a:solidFill>
                <a:prstClr val="black"/>
              </a:solidFill>
              <a:latin typeface="Calibri" panose="020F0502020204030204"/>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矩形: 圓角 22"/>
          <p:cNvSpPr/>
          <p:nvPr/>
        </p:nvSpPr>
        <p:spPr>
          <a:xfrm>
            <a:off x="4385151" y="4743197"/>
            <a:ext cx="2082169" cy="506789"/>
          </a:xfrm>
          <a:prstGeom prst="roundRect">
            <a:avLst/>
          </a:prstGeom>
          <a:solidFill>
            <a:schemeClr val="accent2">
              <a:lumMod val="20000"/>
              <a:lumOff val="80000"/>
            </a:scheme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lang="zh-TW" altLang="en-US" sz="2400" kern="0" dirty="0">
                <a:solidFill>
                  <a:prstClr val="black"/>
                </a:solidFill>
                <a:latin typeface="Microsoft JhengHei" panose="020B0604030504040204" pitchFamily="34" charset="-120"/>
                <a:ea typeface="Microsoft JhengHei" panose="020B0604030504040204" pitchFamily="34" charset="-120"/>
              </a:rPr>
              <a:t>去訂旅館</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pic>
        <p:nvPicPr>
          <p:cNvPr id="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852882" y="1600230"/>
            <a:ext cx="899999" cy="900000"/>
          </a:xfrm>
          <a:prstGeom prst="rect">
            <a:avLst/>
          </a:prstGeom>
          <a:noFill/>
          <a:extLst>
            <a:ext uri="{909E8E84-426E-40DD-AFC4-6F175D3DCCD1}">
              <a14:hiddenFill xmlns:a14="http://schemas.microsoft.com/office/drawing/2010/main">
                <a:solidFill>
                  <a:srgbClr val="FFFFFF"/>
                </a:solidFill>
              </a14:hiddenFill>
            </a:ext>
          </a:extLst>
        </p:spPr>
      </p:pic>
      <p:sp>
        <p:nvSpPr>
          <p:cNvPr id="5" name="矩形: 圓角 4"/>
          <p:cNvSpPr/>
          <p:nvPr/>
        </p:nvSpPr>
        <p:spPr>
          <a:xfrm>
            <a:off x="289839" y="2606603"/>
            <a:ext cx="2033507" cy="506789"/>
          </a:xfrm>
          <a:prstGeom prst="roundRect">
            <a:avLst/>
          </a:prstGeom>
          <a:gradFill rotWithShape="1">
            <a:gsLst>
              <a:gs pos="0">
                <a:srgbClr val="FFC000">
                  <a:lumMod val="110000"/>
                  <a:satMod val="105000"/>
                  <a:tint val="67000"/>
                </a:srgbClr>
              </a:gs>
              <a:gs pos="50000">
                <a:srgbClr val="FFC000">
                  <a:lumMod val="105000"/>
                  <a:satMod val="103000"/>
                  <a:tint val="73000"/>
                </a:srgbClr>
              </a:gs>
              <a:gs pos="100000">
                <a:srgbClr val="FFC000">
                  <a:lumMod val="105000"/>
                  <a:satMod val="109000"/>
                  <a:tint val="81000"/>
                </a:srgbClr>
              </a:gs>
            </a:gsLst>
            <a:lin ang="5400000" scaled="0"/>
          </a:gra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lang="zh-TW" altLang="en-US" sz="2400" kern="0" dirty="0">
                <a:solidFill>
                  <a:prstClr val="black"/>
                </a:solidFill>
                <a:latin typeface="Microsoft JhengHei" panose="020B0604030504040204" pitchFamily="34" charset="-120"/>
                <a:ea typeface="Microsoft JhengHei" panose="020B0604030504040204" pitchFamily="34" charset="-120"/>
              </a:rPr>
              <a:t>組織出遊</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sp>
        <p:nvSpPr>
          <p:cNvPr id="8" name="矩形: 圓角 7"/>
          <p:cNvSpPr/>
          <p:nvPr/>
        </p:nvSpPr>
        <p:spPr>
          <a:xfrm>
            <a:off x="4409483" y="2606601"/>
            <a:ext cx="2033507" cy="506789"/>
          </a:xfrm>
          <a:prstGeom prst="roundRect">
            <a:avLst/>
          </a:prstGeom>
          <a:solidFill>
            <a:schemeClr val="accent2">
              <a:lumMod val="20000"/>
              <a:lumOff val="80000"/>
            </a:scheme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lang="zh-TW" altLang="en-US" sz="2400" kern="0" dirty="0">
                <a:solidFill>
                  <a:prstClr val="black"/>
                </a:solidFill>
                <a:latin typeface="Microsoft JhengHei" panose="020B0604030504040204" pitchFamily="34" charset="-120"/>
                <a:ea typeface="Microsoft JhengHei" panose="020B0604030504040204" pitchFamily="34" charset="-120"/>
              </a:rPr>
              <a:t>去訂餐廳</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sp>
        <p:nvSpPr>
          <p:cNvPr id="10" name="矩形: 圓角 9"/>
          <p:cNvSpPr/>
          <p:nvPr/>
        </p:nvSpPr>
        <p:spPr>
          <a:xfrm>
            <a:off x="2349661" y="2606601"/>
            <a:ext cx="2033507" cy="506789"/>
          </a:xfrm>
          <a:prstGeom prst="roundRect">
            <a:avLst/>
          </a:prstGeom>
          <a:solidFill>
            <a:schemeClr val="accent4">
              <a:lumMod val="20000"/>
              <a:lumOff val="80000"/>
            </a:scheme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lang="zh-TW" altLang="en-US" sz="2400" kern="0" dirty="0">
                <a:solidFill>
                  <a:prstClr val="black"/>
                </a:solidFill>
                <a:latin typeface="Microsoft JhengHei" panose="020B0604030504040204" pitchFamily="34" charset="-120"/>
                <a:ea typeface="Microsoft JhengHei" panose="020B0604030504040204" pitchFamily="34" charset="-120"/>
              </a:rPr>
              <a:t>規劃行程</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pic>
        <p:nvPicPr>
          <p:cNvPr id="11"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922789" y="1597373"/>
            <a:ext cx="899999" cy="900000"/>
          </a:xfrm>
          <a:prstGeom prst="rect">
            <a:avLst/>
          </a:prstGeom>
          <a:noFill/>
          <a:extLst>
            <a:ext uri="{909E8E84-426E-40DD-AFC4-6F175D3DCCD1}">
              <a14:hiddenFill xmlns:a14="http://schemas.microsoft.com/office/drawing/2010/main">
                <a:solidFill>
                  <a:srgbClr val="FFFFFF"/>
                </a:solidFill>
              </a14:hiddenFill>
            </a:ext>
          </a:extLst>
        </p:spPr>
      </p:pic>
      <p:sp>
        <p:nvSpPr>
          <p:cNvPr id="17" name="矩形: 圓角 16"/>
          <p:cNvSpPr/>
          <p:nvPr/>
        </p:nvSpPr>
        <p:spPr>
          <a:xfrm>
            <a:off x="6491652" y="2595241"/>
            <a:ext cx="4276564" cy="506789"/>
          </a:xfrm>
          <a:prstGeom prst="roundRect">
            <a:avLst/>
          </a:prstGeom>
          <a:solidFill>
            <a:schemeClr val="bg1">
              <a:lumMod val="95000"/>
            </a:schemeClr>
          </a:solidFill>
          <a:ln w="38100" cap="flat" cmpd="sng" algn="ctr">
            <a:solidFill>
              <a:sysClr val="windowText" lastClr="000000"/>
            </a:solidFill>
            <a:prstDash val="solid"/>
            <a:miter lim="800000"/>
          </a:ln>
          <a:effectLst/>
        </p:spPr>
        <p:txBody>
          <a:bodyPr rtlCol="0" anchor="ctr"/>
          <a:lstStyle/>
          <a:p>
            <a:pPr lvl="0" algn="ctr">
              <a:defRPr/>
            </a:pPr>
            <a:r>
              <a:rPr lang="zh-TW" altLang="en-US" sz="2400" kern="0" dirty="0">
                <a:solidFill>
                  <a:prstClr val="black"/>
                </a:solidFill>
                <a:latin typeface="Microsoft JhengHei" panose="020B0604030504040204" pitchFamily="34" charset="-120"/>
                <a:ea typeface="Microsoft JhengHei" panose="020B0604030504040204" pitchFamily="34" charset="-120"/>
              </a:rPr>
              <a:t>跟餐廳網頁一番互動 </a:t>
            </a:r>
            <a:r>
              <a:rPr lang="en-US" altLang="zh-TW" sz="2400" kern="0" dirty="0">
                <a:solidFill>
                  <a:prstClr val="black"/>
                </a:solidFill>
                <a:latin typeface="Microsoft JhengHei" panose="020B0604030504040204" pitchFamily="34" charset="-120"/>
                <a:ea typeface="Microsoft JhengHei" panose="020B0604030504040204" pitchFamily="34" charset="-120"/>
              </a:rPr>
              <a:t>……</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sp>
        <p:nvSpPr>
          <p:cNvPr id="20" name="矩形: 圓角 19"/>
          <p:cNvSpPr/>
          <p:nvPr/>
        </p:nvSpPr>
        <p:spPr>
          <a:xfrm>
            <a:off x="10816878" y="2595240"/>
            <a:ext cx="1152524" cy="506789"/>
          </a:xfrm>
          <a:prstGeom prst="roundRect">
            <a:avLst/>
          </a:prstGeom>
          <a:solidFill>
            <a:schemeClr val="accent2">
              <a:lumMod val="20000"/>
              <a:lumOff val="80000"/>
            </a:scheme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lang="zh-TW" altLang="en-US" sz="2400" kern="0" dirty="0">
                <a:solidFill>
                  <a:prstClr val="black"/>
                </a:solidFill>
                <a:latin typeface="Microsoft JhengHei" panose="020B0604030504040204" pitchFamily="34" charset="-120"/>
                <a:ea typeface="Microsoft JhengHei" panose="020B0604030504040204" pitchFamily="34" charset="-120"/>
              </a:rPr>
              <a:t>訂好了</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pic>
        <p:nvPicPr>
          <p:cNvPr id="22"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959483" y="3893400"/>
            <a:ext cx="899999" cy="900000"/>
          </a:xfrm>
          <a:prstGeom prst="rect">
            <a:avLst/>
          </a:prstGeom>
          <a:noFill/>
          <a:extLst>
            <a:ext uri="{909E8E84-426E-40DD-AFC4-6F175D3DCCD1}">
              <a14:hiddenFill xmlns:a14="http://schemas.microsoft.com/office/drawing/2010/main">
                <a:solidFill>
                  <a:srgbClr val="FFFFFF"/>
                </a:solidFill>
              </a14:hiddenFill>
            </a:ext>
          </a:extLst>
        </p:spPr>
      </p:pic>
      <p:sp>
        <p:nvSpPr>
          <p:cNvPr id="26" name="矩形: 圓角 25"/>
          <p:cNvSpPr/>
          <p:nvPr/>
        </p:nvSpPr>
        <p:spPr>
          <a:xfrm>
            <a:off x="6520309" y="4743196"/>
            <a:ext cx="4276564" cy="506789"/>
          </a:xfrm>
          <a:prstGeom prst="roundRect">
            <a:avLst/>
          </a:prstGeom>
          <a:solidFill>
            <a:schemeClr val="bg1">
              <a:lumMod val="95000"/>
            </a:schemeClr>
          </a:solidFill>
          <a:ln w="38100" cap="flat" cmpd="sng" algn="ctr">
            <a:solidFill>
              <a:sysClr val="windowText" lastClr="000000"/>
            </a:solidFill>
            <a:prstDash val="solid"/>
            <a:miter lim="800000"/>
          </a:ln>
          <a:effectLst/>
        </p:spPr>
        <p:txBody>
          <a:bodyPr rtlCol="0" anchor="ctr"/>
          <a:lstStyle/>
          <a:p>
            <a:pPr lvl="0" algn="ctr">
              <a:defRPr/>
            </a:pPr>
            <a:r>
              <a:rPr lang="zh-TW" altLang="en-US" sz="2400" kern="0" dirty="0">
                <a:solidFill>
                  <a:prstClr val="black"/>
                </a:solidFill>
                <a:latin typeface="Microsoft JhengHei" panose="020B0604030504040204" pitchFamily="34" charset="-120"/>
                <a:ea typeface="Microsoft JhengHei" panose="020B0604030504040204" pitchFamily="34" charset="-120"/>
              </a:rPr>
              <a:t>跟旅館網頁一番互動 </a:t>
            </a:r>
            <a:r>
              <a:rPr lang="en-US" altLang="zh-TW" sz="2400" kern="0" dirty="0">
                <a:solidFill>
                  <a:prstClr val="black"/>
                </a:solidFill>
                <a:latin typeface="Microsoft JhengHei" panose="020B0604030504040204" pitchFamily="34" charset="-120"/>
                <a:ea typeface="Microsoft JhengHei" panose="020B0604030504040204" pitchFamily="34" charset="-120"/>
              </a:rPr>
              <a:t>……</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7860" y="3272642"/>
            <a:ext cx="942261" cy="942261"/>
          </a:xfrm>
          <a:prstGeom prst="rect">
            <a:avLst/>
          </a:prstGeom>
          <a:noFill/>
          <a:extLst>
            <a:ext uri="{909E8E84-426E-40DD-AFC4-6F175D3DCCD1}">
              <a14:hiddenFill xmlns:a14="http://schemas.microsoft.com/office/drawing/2010/main">
                <a:solidFill>
                  <a:srgbClr val="FFFFFF"/>
                </a:solidFill>
              </a14:hiddenFill>
            </a:ext>
          </a:extLst>
        </p:spPr>
      </p:pic>
      <p:sp>
        <p:nvSpPr>
          <p:cNvPr id="2" name="文字方塊 1"/>
          <p:cNvSpPr txBox="1"/>
          <p:nvPr/>
        </p:nvSpPr>
        <p:spPr>
          <a:xfrm>
            <a:off x="150148" y="239034"/>
            <a:ext cx="1666696" cy="954107"/>
          </a:xfrm>
          <a:prstGeom prst="rect">
            <a:avLst/>
          </a:prstGeom>
          <a:noFill/>
        </p:spPr>
        <p:txBody>
          <a:bodyPr wrap="square" rtlCol="0">
            <a:spAutoFit/>
          </a:bodyPr>
          <a:lstStyle/>
          <a:p>
            <a:pPr algn="ctr"/>
            <a:r>
              <a:rPr lang="en-US" altLang="zh-TW" sz="2800" b="1" u="sng" dirty="0"/>
              <a:t>Single Agent </a:t>
            </a:r>
            <a:endParaRPr lang="zh-TW" altLang="en-US" sz="2800" b="1" u="sng" dirty="0"/>
          </a:p>
        </p:txBody>
      </p:sp>
      <p:pic>
        <p:nvPicPr>
          <p:cNvPr id="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992696" y="1668371"/>
            <a:ext cx="899999" cy="9000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0366878" y="1695240"/>
            <a:ext cx="899999" cy="9000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6070309" y="3833069"/>
            <a:ext cx="899999" cy="90000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04265" y="3804525"/>
            <a:ext cx="988875" cy="98887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6"/>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8" grpId="0" animBg="1"/>
      <p:bldP spid="10" grpId="0" animBg="1"/>
      <p:bldP spid="17" grpId="0" animBg="1"/>
      <p:bldP spid="20" grpId="0" animBg="1"/>
      <p:bldP spid="26"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757433" y="2531691"/>
            <a:ext cx="899999" cy="900000"/>
          </a:xfrm>
          <a:prstGeom prst="rect">
            <a:avLst/>
          </a:prstGeom>
          <a:noFill/>
          <a:extLst>
            <a:ext uri="{909E8E84-426E-40DD-AFC4-6F175D3DCCD1}">
              <a14:hiddenFill xmlns:a14="http://schemas.microsoft.com/office/drawing/2010/main">
                <a:solidFill>
                  <a:srgbClr val="FFFFFF"/>
                </a:solidFill>
              </a14:hiddenFill>
            </a:ext>
          </a:extLst>
        </p:spPr>
      </p:pic>
      <p:sp>
        <p:nvSpPr>
          <p:cNvPr id="5" name="矩形: 圓角 4"/>
          <p:cNvSpPr/>
          <p:nvPr/>
        </p:nvSpPr>
        <p:spPr>
          <a:xfrm>
            <a:off x="194390" y="3538064"/>
            <a:ext cx="2033507" cy="506789"/>
          </a:xfrm>
          <a:prstGeom prst="roundRect">
            <a:avLst/>
          </a:prstGeom>
          <a:gradFill rotWithShape="1">
            <a:gsLst>
              <a:gs pos="0">
                <a:srgbClr val="FFC000">
                  <a:lumMod val="110000"/>
                  <a:satMod val="105000"/>
                  <a:tint val="67000"/>
                </a:srgbClr>
              </a:gs>
              <a:gs pos="50000">
                <a:srgbClr val="FFC000">
                  <a:lumMod val="105000"/>
                  <a:satMod val="103000"/>
                  <a:tint val="73000"/>
                </a:srgbClr>
              </a:gs>
              <a:gs pos="100000">
                <a:srgbClr val="FFC000">
                  <a:lumMod val="105000"/>
                  <a:satMod val="109000"/>
                  <a:tint val="81000"/>
                </a:srgbClr>
              </a:gs>
            </a:gsLst>
            <a:lin ang="5400000" scaled="0"/>
          </a:gra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lang="zh-TW" altLang="en-US" sz="2400" kern="0" dirty="0">
                <a:solidFill>
                  <a:prstClr val="black"/>
                </a:solidFill>
                <a:latin typeface="Microsoft JhengHei" panose="020B0604030504040204" pitchFamily="34" charset="-120"/>
                <a:ea typeface="Microsoft JhengHei" panose="020B0604030504040204" pitchFamily="34" charset="-120"/>
              </a:rPr>
              <a:t>組織出遊</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sp>
        <p:nvSpPr>
          <p:cNvPr id="8" name="矩形: 圓角 7"/>
          <p:cNvSpPr/>
          <p:nvPr/>
        </p:nvSpPr>
        <p:spPr>
          <a:xfrm>
            <a:off x="4314034" y="3538062"/>
            <a:ext cx="2700138" cy="506789"/>
          </a:xfrm>
          <a:prstGeom prst="roundRect">
            <a:avLst/>
          </a:prstGeom>
          <a:solidFill>
            <a:schemeClr val="accent2">
              <a:lumMod val="20000"/>
              <a:lumOff val="80000"/>
            </a:scheme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lang="en-US" altLang="zh-TW" sz="2400" kern="0" dirty="0">
                <a:solidFill>
                  <a:prstClr val="black"/>
                </a:solidFill>
                <a:latin typeface="Microsoft JhengHei" panose="020B0604030504040204" pitchFamily="34" charset="-120"/>
                <a:ea typeface="Microsoft JhengHei" panose="020B0604030504040204" pitchFamily="34" charset="-120"/>
              </a:rPr>
              <a:t>Agent1(</a:t>
            </a:r>
            <a:r>
              <a:rPr lang="zh-TW" altLang="en-US" sz="2400" kern="0" dirty="0">
                <a:solidFill>
                  <a:prstClr val="black"/>
                </a:solidFill>
                <a:latin typeface="Microsoft JhengHei" panose="020B0604030504040204" pitchFamily="34" charset="-120"/>
                <a:ea typeface="Microsoft JhengHei" panose="020B0604030504040204" pitchFamily="34" charset="-120"/>
              </a:rPr>
              <a:t>去訂餐廳</a:t>
            </a:r>
            <a:r>
              <a:rPr lang="en-US" altLang="zh-TW" sz="2400" kern="0" dirty="0">
                <a:solidFill>
                  <a:prstClr val="black"/>
                </a:solidFill>
                <a:latin typeface="Microsoft JhengHei" panose="020B0604030504040204" pitchFamily="34" charset="-120"/>
                <a:ea typeface="Microsoft JhengHei" panose="020B0604030504040204" pitchFamily="34" charset="-120"/>
              </a:rPr>
              <a:t>)</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sp>
        <p:nvSpPr>
          <p:cNvPr id="10" name="矩形: 圓角 9"/>
          <p:cNvSpPr/>
          <p:nvPr/>
        </p:nvSpPr>
        <p:spPr>
          <a:xfrm>
            <a:off x="2254212" y="3538062"/>
            <a:ext cx="2033507" cy="506789"/>
          </a:xfrm>
          <a:prstGeom prst="roundRect">
            <a:avLst/>
          </a:prstGeom>
          <a:solidFill>
            <a:schemeClr val="accent4">
              <a:lumMod val="20000"/>
              <a:lumOff val="80000"/>
            </a:scheme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lang="zh-TW" altLang="en-US" sz="2400" kern="0" dirty="0">
                <a:solidFill>
                  <a:prstClr val="black"/>
                </a:solidFill>
                <a:latin typeface="Microsoft JhengHei" panose="020B0604030504040204" pitchFamily="34" charset="-120"/>
                <a:ea typeface="Microsoft JhengHei" panose="020B0604030504040204" pitchFamily="34" charset="-120"/>
              </a:rPr>
              <a:t>規劃行程</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pic>
        <p:nvPicPr>
          <p:cNvPr id="11"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827340" y="2531691"/>
            <a:ext cx="899999" cy="900000"/>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p:cNvPicPr>
            <a:picLocks noChangeAspect="1" noChangeArrowheads="1"/>
          </p:cNvPicPr>
          <p:nvPr/>
        </p:nvPicPr>
        <p:blipFill>
          <a:blip r:embed="rId1">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4983415" y="288083"/>
            <a:ext cx="899999" cy="900000"/>
          </a:xfrm>
          <a:prstGeom prst="rect">
            <a:avLst/>
          </a:prstGeom>
          <a:noFill/>
          <a:extLst>
            <a:ext uri="{909E8E84-426E-40DD-AFC4-6F175D3DCCD1}">
              <a14:hiddenFill xmlns:a14="http://schemas.microsoft.com/office/drawing/2010/main">
                <a:solidFill>
                  <a:srgbClr val="FFFFFF"/>
                </a:solidFill>
              </a14:hiddenFill>
            </a:ext>
          </a:extLst>
        </p:spPr>
      </p:pic>
      <p:sp>
        <p:nvSpPr>
          <p:cNvPr id="16" name="矩形: 圓角 15"/>
          <p:cNvSpPr/>
          <p:nvPr/>
        </p:nvSpPr>
        <p:spPr>
          <a:xfrm>
            <a:off x="3310682" y="1293720"/>
            <a:ext cx="2033507" cy="506789"/>
          </a:xfrm>
          <a:prstGeom prst="roundRect">
            <a:avLst/>
          </a:prstGeom>
          <a:gradFill rotWithShape="1">
            <a:gsLst>
              <a:gs pos="0">
                <a:srgbClr val="FFC000">
                  <a:lumMod val="110000"/>
                  <a:satMod val="105000"/>
                  <a:tint val="67000"/>
                </a:srgbClr>
              </a:gs>
              <a:gs pos="50000">
                <a:srgbClr val="FFC000">
                  <a:lumMod val="105000"/>
                  <a:satMod val="103000"/>
                  <a:tint val="73000"/>
                </a:srgbClr>
              </a:gs>
              <a:gs pos="100000">
                <a:srgbClr val="FFC000">
                  <a:lumMod val="105000"/>
                  <a:satMod val="109000"/>
                  <a:tint val="81000"/>
                </a:srgbClr>
              </a:gs>
            </a:gsLst>
            <a:lin ang="5400000" scaled="0"/>
          </a:gradFill>
          <a:ln w="38100" cap="flat" cmpd="sng" algn="ctr">
            <a:solidFill>
              <a:sysClr val="windowText" lastClr="000000"/>
            </a:solidFill>
            <a:prstDash val="solid"/>
            <a:miter lim="800000"/>
          </a:ln>
          <a:effectLst/>
        </p:spPr>
        <p:txBody>
          <a:bodyPr rtlCol="0" anchor="ctr"/>
          <a:lstStyle/>
          <a:p>
            <a:pPr lvl="0" algn="ctr">
              <a:defRPr/>
            </a:pPr>
            <a:r>
              <a:rPr lang="zh-TW" altLang="en-US" sz="2400" kern="0" dirty="0">
                <a:solidFill>
                  <a:prstClr val="black"/>
                </a:solidFill>
                <a:latin typeface="Microsoft JhengHei" panose="020B0604030504040204" pitchFamily="34" charset="-120"/>
                <a:ea typeface="Microsoft JhengHei" panose="020B0604030504040204" pitchFamily="34" charset="-120"/>
              </a:rPr>
              <a:t>去訂餐廳</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sp>
        <p:nvSpPr>
          <p:cNvPr id="17" name="矩形: 圓角 16"/>
          <p:cNvSpPr/>
          <p:nvPr/>
        </p:nvSpPr>
        <p:spPr>
          <a:xfrm>
            <a:off x="5433415" y="1284215"/>
            <a:ext cx="4276564" cy="506789"/>
          </a:xfrm>
          <a:prstGeom prst="roundRect">
            <a:avLst/>
          </a:prstGeom>
          <a:solidFill>
            <a:schemeClr val="bg1">
              <a:lumMod val="95000"/>
            </a:schemeClr>
          </a:solidFill>
          <a:ln w="38100" cap="flat" cmpd="sng" algn="ctr">
            <a:solidFill>
              <a:sysClr val="windowText" lastClr="000000"/>
            </a:solidFill>
            <a:prstDash val="solid"/>
            <a:miter lim="800000"/>
          </a:ln>
          <a:effectLst/>
        </p:spPr>
        <p:txBody>
          <a:bodyPr rtlCol="0" anchor="ctr"/>
          <a:lstStyle/>
          <a:p>
            <a:pPr lvl="0" algn="ctr">
              <a:defRPr/>
            </a:pPr>
            <a:r>
              <a:rPr lang="zh-TW" altLang="en-US" sz="2400" kern="0" dirty="0">
                <a:solidFill>
                  <a:prstClr val="black"/>
                </a:solidFill>
                <a:latin typeface="Microsoft JhengHei" panose="020B0604030504040204" pitchFamily="34" charset="-120"/>
                <a:ea typeface="Microsoft JhengHei" panose="020B0604030504040204" pitchFamily="34" charset="-120"/>
              </a:rPr>
              <a:t>跟餐廳網頁一番互動 </a:t>
            </a:r>
            <a:r>
              <a:rPr lang="en-US" altLang="zh-TW" sz="2400" kern="0" dirty="0">
                <a:solidFill>
                  <a:prstClr val="black"/>
                </a:solidFill>
                <a:latin typeface="Microsoft JhengHei" panose="020B0604030504040204" pitchFamily="34" charset="-120"/>
                <a:ea typeface="Microsoft JhengHei" panose="020B0604030504040204" pitchFamily="34" charset="-120"/>
              </a:rPr>
              <a:t>……</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pic>
        <p:nvPicPr>
          <p:cNvPr id="18" name="Picture 2"/>
          <p:cNvPicPr>
            <a:picLocks noChangeAspect="1" noChangeArrowheads="1"/>
          </p:cNvPicPr>
          <p:nvPr/>
        </p:nvPicPr>
        <p:blipFill>
          <a:blip r:embed="rId1">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9259979" y="288083"/>
            <a:ext cx="899999" cy="900000"/>
          </a:xfrm>
          <a:prstGeom prst="rect">
            <a:avLst/>
          </a:prstGeom>
          <a:noFill/>
          <a:extLst>
            <a:ext uri="{909E8E84-426E-40DD-AFC4-6F175D3DCCD1}">
              <a14:hiddenFill xmlns:a14="http://schemas.microsoft.com/office/drawing/2010/main">
                <a:solidFill>
                  <a:srgbClr val="FFFFFF"/>
                </a:solidFill>
              </a14:hiddenFill>
            </a:ext>
          </a:extLst>
        </p:spPr>
      </p:pic>
      <p:sp>
        <p:nvSpPr>
          <p:cNvPr id="19" name="矩形: 圓角 18"/>
          <p:cNvSpPr/>
          <p:nvPr/>
        </p:nvSpPr>
        <p:spPr>
          <a:xfrm>
            <a:off x="9758799" y="1293720"/>
            <a:ext cx="2033507" cy="506789"/>
          </a:xfrm>
          <a:prstGeom prst="roundRect">
            <a:avLst/>
          </a:prstGeom>
          <a:gradFill rotWithShape="1">
            <a:gsLst>
              <a:gs pos="0">
                <a:srgbClr val="FFC000">
                  <a:lumMod val="110000"/>
                  <a:satMod val="105000"/>
                  <a:tint val="67000"/>
                </a:srgbClr>
              </a:gs>
              <a:gs pos="50000">
                <a:srgbClr val="FFC000">
                  <a:lumMod val="105000"/>
                  <a:satMod val="103000"/>
                  <a:tint val="73000"/>
                </a:srgbClr>
              </a:gs>
              <a:gs pos="100000">
                <a:srgbClr val="FFC000">
                  <a:lumMod val="105000"/>
                  <a:satMod val="109000"/>
                  <a:tint val="81000"/>
                </a:srgbClr>
              </a:gs>
            </a:gsLst>
            <a:lin ang="5400000" scaled="0"/>
          </a:gradFill>
          <a:ln w="38100" cap="flat" cmpd="sng" algn="ctr">
            <a:solidFill>
              <a:sysClr val="windowText" lastClr="000000"/>
            </a:solidFill>
            <a:prstDash val="solid"/>
            <a:miter lim="800000"/>
          </a:ln>
          <a:effectLst/>
        </p:spPr>
        <p:txBody>
          <a:bodyPr rtlCol="0" anchor="ctr"/>
          <a:lstStyle/>
          <a:p>
            <a:pPr lvl="0" algn="ctr">
              <a:defRPr/>
            </a:pPr>
            <a:r>
              <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rPr>
              <a:t>回報</a:t>
            </a:r>
            <a:r>
              <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rPr>
              <a:t>:</a:t>
            </a:r>
            <a:r>
              <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rPr>
              <a:t> 訂好了</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sp>
        <p:nvSpPr>
          <p:cNvPr id="20" name="矩形: 圓角 19"/>
          <p:cNvSpPr/>
          <p:nvPr/>
        </p:nvSpPr>
        <p:spPr>
          <a:xfrm>
            <a:off x="7061916" y="3538856"/>
            <a:ext cx="1152524" cy="506789"/>
          </a:xfrm>
          <a:prstGeom prst="roundRect">
            <a:avLst/>
          </a:prstGeom>
          <a:solidFill>
            <a:schemeClr val="accent2">
              <a:lumMod val="20000"/>
              <a:lumOff val="80000"/>
            </a:scheme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lang="zh-TW" altLang="en-US" sz="2400" kern="0" dirty="0">
                <a:solidFill>
                  <a:prstClr val="black"/>
                </a:solidFill>
                <a:latin typeface="Microsoft JhengHei" panose="020B0604030504040204" pitchFamily="34" charset="-120"/>
                <a:ea typeface="Microsoft JhengHei" panose="020B0604030504040204" pitchFamily="34" charset="-120"/>
              </a:rPr>
              <a:t>訂好了</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pic>
        <p:nvPicPr>
          <p:cNvPr id="22"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764440" y="2527520"/>
            <a:ext cx="899999" cy="900000"/>
          </a:xfrm>
          <a:prstGeom prst="rect">
            <a:avLst/>
          </a:prstGeom>
          <a:noFill/>
          <a:extLst>
            <a:ext uri="{909E8E84-426E-40DD-AFC4-6F175D3DCCD1}">
              <a14:hiddenFill xmlns:a14="http://schemas.microsoft.com/office/drawing/2010/main">
                <a:solidFill>
                  <a:srgbClr val="FFFFFF"/>
                </a:solidFill>
              </a14:hiddenFill>
            </a:ext>
          </a:extLst>
        </p:spPr>
      </p:pic>
      <p:sp>
        <p:nvSpPr>
          <p:cNvPr id="23" name="矩形: 圓角 22"/>
          <p:cNvSpPr/>
          <p:nvPr/>
        </p:nvSpPr>
        <p:spPr>
          <a:xfrm>
            <a:off x="8262184" y="3540107"/>
            <a:ext cx="2700138" cy="506789"/>
          </a:xfrm>
          <a:prstGeom prst="roundRect">
            <a:avLst/>
          </a:prstGeom>
          <a:solidFill>
            <a:schemeClr val="accent2">
              <a:lumMod val="20000"/>
              <a:lumOff val="80000"/>
            </a:scheme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lang="en-US" altLang="zh-TW" sz="2400" kern="0" dirty="0">
                <a:solidFill>
                  <a:prstClr val="black"/>
                </a:solidFill>
                <a:latin typeface="Microsoft JhengHei" panose="020B0604030504040204" pitchFamily="34" charset="-120"/>
                <a:ea typeface="Microsoft JhengHei" panose="020B0604030504040204" pitchFamily="34" charset="-120"/>
              </a:rPr>
              <a:t>Agent2(</a:t>
            </a:r>
            <a:r>
              <a:rPr lang="zh-TW" altLang="en-US" sz="2400" kern="0" dirty="0">
                <a:solidFill>
                  <a:prstClr val="black"/>
                </a:solidFill>
                <a:latin typeface="Microsoft JhengHei" panose="020B0604030504040204" pitchFamily="34" charset="-120"/>
                <a:ea typeface="Microsoft JhengHei" panose="020B0604030504040204" pitchFamily="34" charset="-120"/>
              </a:rPr>
              <a:t>去訂旅館</a:t>
            </a:r>
            <a:r>
              <a:rPr lang="en-US" altLang="zh-TW" sz="2400" kern="0" dirty="0">
                <a:solidFill>
                  <a:prstClr val="black"/>
                </a:solidFill>
                <a:latin typeface="Microsoft JhengHei" panose="020B0604030504040204" pitchFamily="34" charset="-120"/>
                <a:ea typeface="Microsoft JhengHei" panose="020B0604030504040204" pitchFamily="34" charset="-120"/>
              </a:rPr>
              <a:t>)</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pic>
        <p:nvPicPr>
          <p:cNvPr id="24" name="Picture 2"/>
          <p:cNvPicPr>
            <a:picLocks noChangeAspect="1" noChangeArrowheads="1"/>
          </p:cNvPicPr>
          <p:nvPr/>
        </p:nvPicPr>
        <p:blipFill>
          <a:blip r:embed="rId1">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894058" y="4863077"/>
            <a:ext cx="899999" cy="900000"/>
          </a:xfrm>
          <a:prstGeom prst="rect">
            <a:avLst/>
          </a:prstGeom>
          <a:noFill/>
          <a:extLst>
            <a:ext uri="{909E8E84-426E-40DD-AFC4-6F175D3DCCD1}">
              <a14:hiddenFill xmlns:a14="http://schemas.microsoft.com/office/drawing/2010/main">
                <a:solidFill>
                  <a:srgbClr val="FFFFFF"/>
                </a:solidFill>
              </a14:hiddenFill>
            </a:ext>
          </a:extLst>
        </p:spPr>
      </p:pic>
      <p:sp>
        <p:nvSpPr>
          <p:cNvPr id="25" name="矩形: 圓角 24"/>
          <p:cNvSpPr/>
          <p:nvPr/>
        </p:nvSpPr>
        <p:spPr>
          <a:xfrm>
            <a:off x="3310551" y="5915998"/>
            <a:ext cx="2033507" cy="506789"/>
          </a:xfrm>
          <a:prstGeom prst="roundRect">
            <a:avLst/>
          </a:prstGeom>
          <a:gradFill rotWithShape="1">
            <a:gsLst>
              <a:gs pos="0">
                <a:srgbClr val="FFC000">
                  <a:lumMod val="110000"/>
                  <a:satMod val="105000"/>
                  <a:tint val="67000"/>
                </a:srgbClr>
              </a:gs>
              <a:gs pos="50000">
                <a:srgbClr val="FFC000">
                  <a:lumMod val="105000"/>
                  <a:satMod val="103000"/>
                  <a:tint val="73000"/>
                </a:srgbClr>
              </a:gs>
              <a:gs pos="100000">
                <a:srgbClr val="FFC000">
                  <a:lumMod val="105000"/>
                  <a:satMod val="109000"/>
                  <a:tint val="81000"/>
                </a:srgbClr>
              </a:gs>
            </a:gsLst>
            <a:lin ang="5400000" scaled="0"/>
          </a:gradFill>
          <a:ln w="38100" cap="flat" cmpd="sng" algn="ctr">
            <a:solidFill>
              <a:sysClr val="windowText" lastClr="000000"/>
            </a:solidFill>
            <a:prstDash val="solid"/>
            <a:miter lim="800000"/>
          </a:ln>
          <a:effectLst/>
        </p:spPr>
        <p:txBody>
          <a:bodyPr rtlCol="0" anchor="ctr"/>
          <a:lstStyle/>
          <a:p>
            <a:pPr lvl="0" algn="ctr">
              <a:defRPr/>
            </a:pPr>
            <a:r>
              <a:rPr lang="zh-TW" altLang="en-US" sz="2400" kern="0" dirty="0">
                <a:solidFill>
                  <a:prstClr val="black"/>
                </a:solidFill>
                <a:latin typeface="Microsoft JhengHei" panose="020B0604030504040204" pitchFamily="34" charset="-120"/>
                <a:ea typeface="Microsoft JhengHei" panose="020B0604030504040204" pitchFamily="34" charset="-120"/>
              </a:rPr>
              <a:t>去訂旅館</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sp>
        <p:nvSpPr>
          <p:cNvPr id="26" name="矩形: 圓角 25"/>
          <p:cNvSpPr/>
          <p:nvPr/>
        </p:nvSpPr>
        <p:spPr>
          <a:xfrm>
            <a:off x="5433415" y="5915998"/>
            <a:ext cx="4276564" cy="506789"/>
          </a:xfrm>
          <a:prstGeom prst="roundRect">
            <a:avLst/>
          </a:prstGeom>
          <a:solidFill>
            <a:schemeClr val="bg1">
              <a:lumMod val="95000"/>
            </a:schemeClr>
          </a:solidFill>
          <a:ln w="38100" cap="flat" cmpd="sng" algn="ctr">
            <a:solidFill>
              <a:sysClr val="windowText" lastClr="000000"/>
            </a:solidFill>
            <a:prstDash val="solid"/>
            <a:miter lim="800000"/>
          </a:ln>
          <a:effectLst/>
        </p:spPr>
        <p:txBody>
          <a:bodyPr rtlCol="0" anchor="ctr"/>
          <a:lstStyle/>
          <a:p>
            <a:pPr lvl="0" algn="ctr">
              <a:defRPr/>
            </a:pPr>
            <a:r>
              <a:rPr lang="zh-TW" altLang="en-US" sz="2400" kern="0" dirty="0">
                <a:solidFill>
                  <a:prstClr val="black"/>
                </a:solidFill>
                <a:latin typeface="Microsoft JhengHei" panose="020B0604030504040204" pitchFamily="34" charset="-120"/>
                <a:ea typeface="Microsoft JhengHei" panose="020B0604030504040204" pitchFamily="34" charset="-120"/>
              </a:rPr>
              <a:t>跟旅館網頁一番互動 </a:t>
            </a:r>
            <a:r>
              <a:rPr lang="en-US" altLang="zh-TW" sz="2400" kern="0" dirty="0">
                <a:solidFill>
                  <a:prstClr val="black"/>
                </a:solidFill>
                <a:latin typeface="Microsoft JhengHei" panose="020B0604030504040204" pitchFamily="34" charset="-120"/>
                <a:ea typeface="Microsoft JhengHei" panose="020B0604030504040204" pitchFamily="34" charset="-120"/>
              </a:rPr>
              <a:t>……</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pic>
        <p:nvPicPr>
          <p:cNvPr id="27" name="Picture 2"/>
          <p:cNvPicPr>
            <a:picLocks noChangeAspect="1" noChangeArrowheads="1"/>
          </p:cNvPicPr>
          <p:nvPr/>
        </p:nvPicPr>
        <p:blipFill>
          <a:blip r:embed="rId1">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259979" y="4939538"/>
            <a:ext cx="899999" cy="900000"/>
          </a:xfrm>
          <a:prstGeom prst="rect">
            <a:avLst/>
          </a:prstGeom>
          <a:noFill/>
          <a:extLst>
            <a:ext uri="{909E8E84-426E-40DD-AFC4-6F175D3DCCD1}">
              <a14:hiddenFill xmlns:a14="http://schemas.microsoft.com/office/drawing/2010/main">
                <a:solidFill>
                  <a:srgbClr val="FFFFFF"/>
                </a:solidFill>
              </a14:hiddenFill>
            </a:ext>
          </a:extLst>
        </p:spPr>
      </p:pic>
      <p:sp>
        <p:nvSpPr>
          <p:cNvPr id="28" name="矩形: 圓角 27"/>
          <p:cNvSpPr/>
          <p:nvPr/>
        </p:nvSpPr>
        <p:spPr>
          <a:xfrm>
            <a:off x="9799336" y="5915998"/>
            <a:ext cx="2033507" cy="506789"/>
          </a:xfrm>
          <a:prstGeom prst="roundRect">
            <a:avLst/>
          </a:prstGeom>
          <a:gradFill rotWithShape="1">
            <a:gsLst>
              <a:gs pos="0">
                <a:srgbClr val="FFC000">
                  <a:lumMod val="110000"/>
                  <a:satMod val="105000"/>
                  <a:tint val="67000"/>
                </a:srgbClr>
              </a:gs>
              <a:gs pos="50000">
                <a:srgbClr val="FFC000">
                  <a:lumMod val="105000"/>
                  <a:satMod val="103000"/>
                  <a:tint val="73000"/>
                </a:srgbClr>
              </a:gs>
              <a:gs pos="100000">
                <a:srgbClr val="FFC000">
                  <a:lumMod val="105000"/>
                  <a:satMod val="109000"/>
                  <a:tint val="81000"/>
                </a:srgbClr>
              </a:gs>
            </a:gsLst>
            <a:lin ang="5400000" scaled="0"/>
          </a:gradFill>
          <a:ln w="38100" cap="flat" cmpd="sng" algn="ctr">
            <a:solidFill>
              <a:sysClr val="windowText" lastClr="000000"/>
            </a:solidFill>
            <a:prstDash val="solid"/>
            <a:miter lim="800000"/>
          </a:ln>
          <a:effectLst/>
        </p:spPr>
        <p:txBody>
          <a:bodyPr rtlCol="0" anchor="ctr"/>
          <a:lstStyle/>
          <a:p>
            <a:pPr lvl="0" algn="ctr">
              <a:defRPr/>
            </a:pPr>
            <a:r>
              <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rPr>
              <a:t>回報</a:t>
            </a:r>
            <a:r>
              <a:rPr kumimoji="0" lang="en-US" altLang="zh-TW"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rPr>
              <a:t>:</a:t>
            </a:r>
            <a:r>
              <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rPr>
              <a:t> 訂好了</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sp>
        <p:nvSpPr>
          <p:cNvPr id="29" name="矩形: 圓角 28"/>
          <p:cNvSpPr/>
          <p:nvPr/>
        </p:nvSpPr>
        <p:spPr>
          <a:xfrm>
            <a:off x="10969587" y="3538062"/>
            <a:ext cx="1152524" cy="506789"/>
          </a:xfrm>
          <a:prstGeom prst="roundRect">
            <a:avLst/>
          </a:prstGeom>
          <a:solidFill>
            <a:schemeClr val="accent2">
              <a:lumMod val="20000"/>
              <a:lumOff val="80000"/>
            </a:schemeClr>
          </a:solidFill>
          <a:ln w="381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lang="zh-TW" altLang="en-US" sz="2400" kern="0" dirty="0">
                <a:solidFill>
                  <a:prstClr val="black"/>
                </a:solidFill>
                <a:latin typeface="Microsoft JhengHei" panose="020B0604030504040204" pitchFamily="34" charset="-120"/>
                <a:ea typeface="Microsoft JhengHei" panose="020B0604030504040204" pitchFamily="34" charset="-120"/>
              </a:rPr>
              <a:t>訂好了</a:t>
            </a:r>
            <a:endParaRPr kumimoji="0" lang="zh-TW" altLang="en-US" sz="2400" b="0" i="0" u="none" strike="noStrike" kern="0" cap="none" spc="0" normalizeH="0" baseline="0" noProof="0" dirty="0">
              <a:ln>
                <a:noFill/>
              </a:ln>
              <a:solidFill>
                <a:prstClr val="black"/>
              </a:solidFill>
              <a:effectLst/>
              <a:uLnTx/>
              <a:uFillTx/>
              <a:latin typeface="Microsoft JhengHei" panose="020B0604030504040204" pitchFamily="34" charset="-120"/>
              <a:ea typeface="Microsoft JhengHei" panose="020B0604030504040204" pitchFamily="34" charset="-120"/>
            </a:endParaRPr>
          </a:p>
        </p:txBody>
      </p:sp>
      <p:sp>
        <p:nvSpPr>
          <p:cNvPr id="30" name="文字方塊 29"/>
          <p:cNvSpPr txBox="1"/>
          <p:nvPr/>
        </p:nvSpPr>
        <p:spPr>
          <a:xfrm>
            <a:off x="562879" y="2799626"/>
            <a:ext cx="1219200" cy="461665"/>
          </a:xfrm>
          <a:prstGeom prst="rect">
            <a:avLst/>
          </a:prstGeom>
          <a:noFill/>
        </p:spPr>
        <p:txBody>
          <a:bodyPr wrap="square" rtlCol="0">
            <a:spAutoFit/>
          </a:bodyPr>
          <a:lstStyle/>
          <a:p>
            <a:pPr algn="r"/>
            <a:r>
              <a:rPr lang="en-US" altLang="zh-TW" sz="2400" dirty="0">
                <a:latin typeface="Microsoft JhengHei" panose="020B0604030504040204" pitchFamily="34" charset="-120"/>
                <a:ea typeface="Microsoft JhengHei" panose="020B0604030504040204" pitchFamily="34" charset="-120"/>
              </a:rPr>
              <a:t>Lead </a:t>
            </a:r>
            <a:endParaRPr lang="zh-TW" altLang="en-US" sz="2400" dirty="0">
              <a:latin typeface="Microsoft JhengHei" panose="020B0604030504040204" pitchFamily="34" charset="-120"/>
              <a:ea typeface="Microsoft JhengHei" panose="020B0604030504040204" pitchFamily="34" charset="-120"/>
            </a:endParaRP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5723" y="4151224"/>
            <a:ext cx="942261" cy="942261"/>
          </a:xfrm>
          <a:prstGeom prst="rect">
            <a:avLst/>
          </a:prstGeom>
          <a:noFill/>
          <a:extLst>
            <a:ext uri="{909E8E84-426E-40DD-AFC4-6F175D3DCCD1}">
              <a14:hiddenFill xmlns:a14="http://schemas.microsoft.com/office/drawing/2010/main">
                <a:solidFill>
                  <a:srgbClr val="FFFFFF"/>
                </a:solidFill>
              </a14:hiddenFill>
            </a:ext>
          </a:extLst>
        </p:spPr>
      </p:pic>
      <p:sp>
        <p:nvSpPr>
          <p:cNvPr id="31" name="文字方塊 30"/>
          <p:cNvSpPr txBox="1"/>
          <p:nvPr/>
        </p:nvSpPr>
        <p:spPr>
          <a:xfrm>
            <a:off x="3760760" y="491335"/>
            <a:ext cx="1169908" cy="461665"/>
          </a:xfrm>
          <a:prstGeom prst="rect">
            <a:avLst/>
          </a:prstGeom>
          <a:noFill/>
        </p:spPr>
        <p:txBody>
          <a:bodyPr wrap="square" rtlCol="0">
            <a:spAutoFit/>
          </a:bodyPr>
          <a:lstStyle/>
          <a:p>
            <a:pPr algn="r"/>
            <a:r>
              <a:rPr lang="en-US" altLang="zh-TW" sz="2400" dirty="0"/>
              <a:t>Agent 1</a:t>
            </a:r>
            <a:endParaRPr lang="zh-TW" altLang="en-US" sz="2400" dirty="0"/>
          </a:p>
        </p:txBody>
      </p:sp>
      <p:sp>
        <p:nvSpPr>
          <p:cNvPr id="32" name="文字方塊 31"/>
          <p:cNvSpPr txBox="1"/>
          <p:nvPr/>
        </p:nvSpPr>
        <p:spPr>
          <a:xfrm>
            <a:off x="3692385" y="5147040"/>
            <a:ext cx="1169908" cy="461665"/>
          </a:xfrm>
          <a:prstGeom prst="rect">
            <a:avLst/>
          </a:prstGeom>
          <a:noFill/>
        </p:spPr>
        <p:txBody>
          <a:bodyPr wrap="square" rtlCol="0">
            <a:spAutoFit/>
          </a:bodyPr>
          <a:lstStyle/>
          <a:p>
            <a:pPr algn="r"/>
            <a:r>
              <a:rPr lang="en-US" altLang="zh-TW" sz="2400" dirty="0"/>
              <a:t>Agent 2</a:t>
            </a:r>
            <a:endParaRPr lang="zh-TW" altLang="en-US" sz="2400" dirty="0"/>
          </a:p>
        </p:txBody>
      </p:sp>
      <p:cxnSp>
        <p:nvCxnSpPr>
          <p:cNvPr id="33" name="直線單箭頭接點 32"/>
          <p:cNvCxnSpPr/>
          <p:nvPr/>
        </p:nvCxnSpPr>
        <p:spPr>
          <a:xfrm>
            <a:off x="7061916" y="2719836"/>
            <a:ext cx="629435" cy="219075"/>
          </a:xfrm>
          <a:prstGeom prst="straightConnector1">
            <a:avLst/>
          </a:prstGeom>
          <a:ln w="28575">
            <a:solidFill>
              <a:schemeClr val="tx1"/>
            </a:solidFill>
            <a:prstDash val="sysDot"/>
            <a:tailEnd type="triangle"/>
          </a:ln>
        </p:spPr>
        <p:style>
          <a:lnRef idx="2">
            <a:schemeClr val="accent1"/>
          </a:lnRef>
          <a:fillRef idx="0">
            <a:schemeClr val="accent1"/>
          </a:fillRef>
          <a:effectRef idx="1">
            <a:schemeClr val="accent1"/>
          </a:effectRef>
          <a:fontRef idx="minor">
            <a:schemeClr val="tx1"/>
          </a:fontRef>
        </p:style>
      </p:cxnSp>
      <p:sp>
        <p:nvSpPr>
          <p:cNvPr id="38" name="文字方塊 37"/>
          <p:cNvSpPr txBox="1"/>
          <p:nvPr/>
        </p:nvSpPr>
        <p:spPr>
          <a:xfrm>
            <a:off x="5487356" y="2153295"/>
            <a:ext cx="1889277" cy="646331"/>
          </a:xfrm>
          <a:prstGeom prst="rect">
            <a:avLst/>
          </a:prstGeom>
          <a:noFill/>
        </p:spPr>
        <p:txBody>
          <a:bodyPr wrap="square" rtlCol="0">
            <a:spAutoFit/>
          </a:bodyPr>
          <a:lstStyle/>
          <a:p>
            <a:r>
              <a:rPr lang="en-US" altLang="zh-TW" dirty="0">
                <a:latin typeface="Microsoft JhengHei" panose="020B0604030504040204" pitchFamily="34" charset="-120"/>
                <a:ea typeface="Microsoft JhengHei" panose="020B0604030504040204" pitchFamily="34" charset="-120"/>
              </a:rPr>
              <a:t>Context </a:t>
            </a:r>
            <a:r>
              <a:rPr lang="zh-TW" altLang="en-US" dirty="0">
                <a:latin typeface="Microsoft JhengHei" panose="020B0604030504040204" pitchFamily="34" charset="-120"/>
                <a:ea typeface="Microsoft JhengHei" panose="020B0604030504040204" pitchFamily="34" charset="-120"/>
              </a:rPr>
              <a:t>中沒有各種訂位細節</a:t>
            </a:r>
            <a:endParaRPr lang="zh-TW" altLang="en-US" dirty="0">
              <a:latin typeface="Microsoft JhengHei" panose="020B0604030504040204" pitchFamily="34" charset="-120"/>
              <a:ea typeface="Microsoft JhengHei" panose="020B0604030504040204" pitchFamily="34" charset="-120"/>
            </a:endParaRPr>
          </a:p>
        </p:txBody>
      </p:sp>
      <p:sp>
        <p:nvSpPr>
          <p:cNvPr id="39" name="文字方塊 38"/>
          <p:cNvSpPr txBox="1"/>
          <p:nvPr/>
        </p:nvSpPr>
        <p:spPr>
          <a:xfrm>
            <a:off x="5999266" y="304581"/>
            <a:ext cx="2665173" cy="646331"/>
          </a:xfrm>
          <a:prstGeom prst="rect">
            <a:avLst/>
          </a:prstGeom>
          <a:noFill/>
        </p:spPr>
        <p:txBody>
          <a:bodyPr wrap="square" rtlCol="0">
            <a:spAutoFit/>
          </a:bodyPr>
          <a:lstStyle/>
          <a:p>
            <a:pPr algn="r"/>
            <a:r>
              <a:rPr lang="en-US" altLang="zh-TW" dirty="0">
                <a:latin typeface="Microsoft JhengHei" panose="020B0604030504040204" pitchFamily="34" charset="-120"/>
                <a:ea typeface="Microsoft JhengHei" panose="020B0604030504040204" pitchFamily="34" charset="-120"/>
              </a:rPr>
              <a:t>Context</a:t>
            </a:r>
            <a:r>
              <a:rPr lang="zh-TW" altLang="en-US" dirty="0">
                <a:latin typeface="Microsoft JhengHei" panose="020B0604030504040204" pitchFamily="34" charset="-120"/>
                <a:ea typeface="Microsoft JhengHei" panose="020B0604030504040204" pitchFamily="34" charset="-120"/>
              </a:rPr>
              <a:t>中只有訂餐廳</a:t>
            </a:r>
            <a:endParaRPr lang="en-US" altLang="zh-TW" dirty="0">
              <a:latin typeface="Microsoft JhengHei" panose="020B0604030504040204" pitchFamily="34" charset="-120"/>
              <a:ea typeface="Microsoft JhengHei" panose="020B0604030504040204" pitchFamily="34" charset="-120"/>
            </a:endParaRPr>
          </a:p>
          <a:p>
            <a:pPr algn="r"/>
            <a:r>
              <a:rPr lang="zh-TW" altLang="en-US" dirty="0">
                <a:latin typeface="Microsoft JhengHei" panose="020B0604030504040204" pitchFamily="34" charset="-120"/>
                <a:ea typeface="Microsoft JhengHei" panose="020B0604030504040204" pitchFamily="34" charset="-120"/>
              </a:rPr>
              <a:t>沒有其他事情</a:t>
            </a:r>
            <a:endParaRPr lang="en-US" altLang="zh-TW" dirty="0">
              <a:latin typeface="Microsoft JhengHei" panose="020B0604030504040204" pitchFamily="34" charset="-120"/>
              <a:ea typeface="Microsoft JhengHei" panose="020B0604030504040204" pitchFamily="34" charset="-120"/>
            </a:endParaRPr>
          </a:p>
        </p:txBody>
      </p:sp>
      <p:cxnSp>
        <p:nvCxnSpPr>
          <p:cNvPr id="40" name="直線單箭頭接點 39"/>
          <p:cNvCxnSpPr/>
          <p:nvPr/>
        </p:nvCxnSpPr>
        <p:spPr>
          <a:xfrm>
            <a:off x="8630544" y="604174"/>
            <a:ext cx="629435" cy="219075"/>
          </a:xfrm>
          <a:prstGeom prst="straightConnector1">
            <a:avLst/>
          </a:prstGeom>
          <a:ln w="28575">
            <a:solidFill>
              <a:schemeClr val="tx1"/>
            </a:solidFill>
            <a:prstDash val="sysDot"/>
            <a:tailEnd type="triangle"/>
          </a:ln>
        </p:spPr>
        <p:style>
          <a:lnRef idx="2">
            <a:schemeClr val="accent1"/>
          </a:lnRef>
          <a:fillRef idx="0">
            <a:schemeClr val="accent1"/>
          </a:fillRef>
          <a:effectRef idx="1">
            <a:schemeClr val="accent1"/>
          </a:effectRef>
          <a:fontRef idx="minor">
            <a:schemeClr val="tx1"/>
          </a:fontRef>
        </p:style>
      </p:cxnSp>
      <p:sp>
        <p:nvSpPr>
          <p:cNvPr id="41" name="文字方塊 40"/>
          <p:cNvSpPr txBox="1"/>
          <p:nvPr/>
        </p:nvSpPr>
        <p:spPr>
          <a:xfrm>
            <a:off x="5922751" y="4855221"/>
            <a:ext cx="2665173" cy="646331"/>
          </a:xfrm>
          <a:prstGeom prst="rect">
            <a:avLst/>
          </a:prstGeom>
          <a:noFill/>
        </p:spPr>
        <p:txBody>
          <a:bodyPr wrap="square" rtlCol="0">
            <a:spAutoFit/>
          </a:bodyPr>
          <a:lstStyle/>
          <a:p>
            <a:pPr algn="r"/>
            <a:r>
              <a:rPr lang="en-US" altLang="zh-TW" dirty="0">
                <a:latin typeface="Microsoft JhengHei" panose="020B0604030504040204" pitchFamily="34" charset="-120"/>
                <a:ea typeface="Microsoft JhengHei" panose="020B0604030504040204" pitchFamily="34" charset="-120"/>
              </a:rPr>
              <a:t>Context</a:t>
            </a:r>
            <a:r>
              <a:rPr lang="zh-TW" altLang="en-US" dirty="0">
                <a:latin typeface="Microsoft JhengHei" panose="020B0604030504040204" pitchFamily="34" charset="-120"/>
                <a:ea typeface="Microsoft JhengHei" panose="020B0604030504040204" pitchFamily="34" charset="-120"/>
              </a:rPr>
              <a:t>中只有訂旅館</a:t>
            </a:r>
            <a:endParaRPr lang="en-US" altLang="zh-TW" dirty="0">
              <a:latin typeface="Microsoft JhengHei" panose="020B0604030504040204" pitchFamily="34" charset="-120"/>
              <a:ea typeface="Microsoft JhengHei" panose="020B0604030504040204" pitchFamily="34" charset="-120"/>
            </a:endParaRPr>
          </a:p>
          <a:p>
            <a:pPr algn="r"/>
            <a:r>
              <a:rPr lang="zh-TW" altLang="en-US" dirty="0">
                <a:latin typeface="Microsoft JhengHei" panose="020B0604030504040204" pitchFamily="34" charset="-120"/>
                <a:ea typeface="Microsoft JhengHei" panose="020B0604030504040204" pitchFamily="34" charset="-120"/>
              </a:rPr>
              <a:t>沒有其他事情</a:t>
            </a:r>
            <a:endParaRPr lang="en-US" altLang="zh-TW" dirty="0">
              <a:latin typeface="Microsoft JhengHei" panose="020B0604030504040204" pitchFamily="34" charset="-120"/>
              <a:ea typeface="Microsoft JhengHei" panose="020B0604030504040204" pitchFamily="34" charset="-120"/>
            </a:endParaRPr>
          </a:p>
        </p:txBody>
      </p:sp>
      <p:cxnSp>
        <p:nvCxnSpPr>
          <p:cNvPr id="42" name="直線單箭頭接點 41"/>
          <p:cNvCxnSpPr/>
          <p:nvPr/>
        </p:nvCxnSpPr>
        <p:spPr>
          <a:xfrm>
            <a:off x="8554029" y="5154814"/>
            <a:ext cx="629435" cy="219075"/>
          </a:xfrm>
          <a:prstGeom prst="straightConnector1">
            <a:avLst/>
          </a:prstGeom>
          <a:ln w="28575">
            <a:solidFill>
              <a:schemeClr val="tx1"/>
            </a:solidFill>
            <a:prstDash val="sysDot"/>
            <a:tailEnd type="triangle"/>
          </a:ln>
        </p:spPr>
        <p:style>
          <a:lnRef idx="2">
            <a:schemeClr val="accent1"/>
          </a:lnRef>
          <a:fillRef idx="0">
            <a:schemeClr val="accent1"/>
          </a:fillRef>
          <a:effectRef idx="1">
            <a:schemeClr val="accent1"/>
          </a:effectRef>
          <a:fontRef idx="minor">
            <a:schemeClr val="tx1"/>
          </a:fontRef>
        </p:style>
      </p:cxnSp>
      <p:sp>
        <p:nvSpPr>
          <p:cNvPr id="2" name="文字方塊 1"/>
          <p:cNvSpPr txBox="1"/>
          <p:nvPr/>
        </p:nvSpPr>
        <p:spPr>
          <a:xfrm>
            <a:off x="434479" y="346195"/>
            <a:ext cx="1666696" cy="954107"/>
          </a:xfrm>
          <a:prstGeom prst="rect">
            <a:avLst/>
          </a:prstGeom>
          <a:noFill/>
        </p:spPr>
        <p:txBody>
          <a:bodyPr wrap="square" rtlCol="0">
            <a:spAutoFit/>
          </a:bodyPr>
          <a:lstStyle/>
          <a:p>
            <a:pPr algn="ctr"/>
            <a:r>
              <a:rPr lang="en-US" altLang="zh-TW" sz="2800" b="1" u="sng" dirty="0"/>
              <a:t>Multiple Agent </a:t>
            </a:r>
            <a:endParaRPr lang="zh-TW" altLang="en-US" sz="2800" b="1" u="sng" dirty="0"/>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5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29"/>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9"/>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4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33"/>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10" grpId="0" animBg="1"/>
      <p:bldP spid="16" grpId="0" animBg="1"/>
      <p:bldP spid="17" grpId="0" animBg="1"/>
      <p:bldP spid="19" grpId="0" animBg="1"/>
      <p:bldP spid="20" grpId="0" animBg="1"/>
      <p:bldP spid="23" grpId="0" animBg="1"/>
      <p:bldP spid="25" grpId="0" animBg="1"/>
      <p:bldP spid="26" grpId="0" animBg="1"/>
      <p:bldP spid="28" grpId="0" animBg="1"/>
      <p:bldP spid="29" grpId="0" animBg="1"/>
      <p:bldP spid="38" grpId="0"/>
      <p:bldP spid="39" grpId="0"/>
      <p:bldP spid="41"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Multi-Agent </a:t>
            </a:r>
            <a:endParaRPr lang="zh-TW" altLang="en-US" dirty="0"/>
          </a:p>
        </p:txBody>
      </p:sp>
      <p:pic>
        <p:nvPicPr>
          <p:cNvPr id="13" name="Picture 4"/>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350752" y="3192281"/>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03302" y="3224548"/>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22502" y="3224548"/>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789902" y="3285945"/>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856202" y="3224547"/>
            <a:ext cx="1219200" cy="1219201"/>
          </a:xfrm>
          <a:prstGeom prst="rect">
            <a:avLst/>
          </a:prstGeom>
          <a:noFill/>
          <a:extLst>
            <a:ext uri="{909E8E84-426E-40DD-AFC4-6F175D3DCCD1}">
              <a14:hiddenFill xmlns:a14="http://schemas.microsoft.com/office/drawing/2010/main">
                <a:solidFill>
                  <a:srgbClr val="FFFFFF"/>
                </a:solidFill>
              </a14:hiddenFill>
            </a:ext>
          </a:extLst>
        </p:spPr>
      </p:pic>
      <p:cxnSp>
        <p:nvCxnSpPr>
          <p:cNvPr id="18" name="直線單箭頭接點 17"/>
          <p:cNvCxnSpPr/>
          <p:nvPr/>
        </p:nvCxnSpPr>
        <p:spPr>
          <a:xfrm>
            <a:off x="5484602" y="3801881"/>
            <a:ext cx="121920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9" name="直線單箭頭接點 18"/>
          <p:cNvCxnSpPr/>
          <p:nvPr/>
        </p:nvCxnSpPr>
        <p:spPr>
          <a:xfrm>
            <a:off x="8399252" y="3801881"/>
            <a:ext cx="121920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20"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970502" y="3224547"/>
            <a:ext cx="988875" cy="988875"/>
          </a:xfrm>
          <a:prstGeom prst="rect">
            <a:avLst/>
          </a:prstGeom>
          <a:noFill/>
          <a:extLst>
            <a:ext uri="{909E8E84-426E-40DD-AFC4-6F175D3DCCD1}">
              <a14:hiddenFill xmlns:a14="http://schemas.microsoft.com/office/drawing/2010/main">
                <a:solidFill>
                  <a:srgbClr val="FFFFFF"/>
                </a:solidFill>
              </a14:hiddenFill>
            </a:ext>
          </a:extLst>
        </p:spPr>
      </p:pic>
      <p:sp>
        <p:nvSpPr>
          <p:cNvPr id="3" name="文字方塊 2"/>
          <p:cNvSpPr txBox="1"/>
          <p:nvPr/>
        </p:nvSpPr>
        <p:spPr>
          <a:xfrm>
            <a:off x="1350752" y="2284619"/>
            <a:ext cx="4313208" cy="461665"/>
          </a:xfrm>
          <a:prstGeom prst="rect">
            <a:avLst/>
          </a:prstGeom>
          <a:noFill/>
        </p:spPr>
        <p:txBody>
          <a:bodyPr wrap="square" rtlCol="0">
            <a:spAutoFit/>
          </a:bodyPr>
          <a:lstStyle/>
          <a:p>
            <a:r>
              <a:rPr lang="zh-TW" altLang="en-US" sz="2400" dirty="0">
                <a:latin typeface="Microsoft JhengHei" panose="020B0604030504040204" pitchFamily="34" charset="-120"/>
                <a:ea typeface="Microsoft JhengHei" panose="020B0604030504040204" pitchFamily="34" charset="-120"/>
              </a:rPr>
              <a:t>撰寫 </a:t>
            </a:r>
            <a:r>
              <a:rPr lang="en-US" altLang="zh-TW" sz="2400" dirty="0">
                <a:latin typeface="Microsoft JhengHei" panose="020B0604030504040204" pitchFamily="34" charset="-120"/>
                <a:ea typeface="Microsoft JhengHei" panose="020B0604030504040204" pitchFamily="34" charset="-120"/>
              </a:rPr>
              <a:t>overview paper </a:t>
            </a:r>
            <a:r>
              <a:rPr lang="zh-TW" altLang="en-US" sz="2400" dirty="0">
                <a:latin typeface="Microsoft JhengHei" panose="020B0604030504040204" pitchFamily="34" charset="-120"/>
                <a:ea typeface="Microsoft JhengHei" panose="020B0604030504040204" pitchFamily="34" charset="-120"/>
              </a:rPr>
              <a:t>為例</a:t>
            </a:r>
            <a:endParaRPr lang="zh-TW" altLang="en-US" sz="2400" dirty="0">
              <a:latin typeface="Microsoft JhengHei" panose="020B0604030504040204" pitchFamily="34" charset="-120"/>
              <a:ea typeface="Microsoft JhengHei" panose="020B0604030504040204" pitchFamily="34" charset="-120"/>
            </a:endParaRPr>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Multi-Agent </a:t>
            </a:r>
            <a:endParaRPr lang="zh-TW" altLang="en-US" dirty="0"/>
          </a:p>
        </p:txBody>
      </p:sp>
      <p:pic>
        <p:nvPicPr>
          <p:cNvPr id="4" name="Picture 4"/>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440657" y="1690688"/>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93032" y="3338513"/>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40657" y="4986338"/>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0"/>
          <p:cNvPicPr>
            <a:picLocks noChangeAspect="1" noChangeArrowheads="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083970" y="1690688"/>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0"/>
          <p:cNvPicPr>
            <a:picLocks noChangeAspect="1" noChangeArrowheads="1"/>
          </p:cNvPicPr>
          <p:nvPr/>
        </p:nvPicPr>
        <p:blipFill>
          <a:blip r:embed="rId4">
            <a:duotone>
              <a:schemeClr val="accent6">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083970" y="3338513"/>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10"/>
          <p:cNvPicPr>
            <a:picLocks noChangeAspect="1" noChangeArrowheads="1"/>
          </p:cNvPicPr>
          <p:nvPr/>
        </p:nvPicPr>
        <p:blipFill>
          <a:blip r:embed="rId4">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083970" y="4986338"/>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10"/>
          <p:cNvPicPr>
            <a:picLocks noChangeAspect="1" noChangeArrowheads="1"/>
          </p:cNvPicPr>
          <p:nvPr/>
        </p:nvPicPr>
        <p:blipFill>
          <a:blip r:embed="rId4">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972550" y="1690688"/>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p:cNvPicPr>
            <a:picLocks noChangeAspect="1" noChangeArrowheads="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7167563" y="1690688"/>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0"/>
          <p:cNvPicPr>
            <a:picLocks noChangeAspect="1" noChangeArrowheads="1"/>
          </p:cNvPicPr>
          <p:nvPr/>
        </p:nvPicPr>
        <p:blipFill>
          <a:blip r:embed="rId4">
            <a:duotone>
              <a:schemeClr val="accent6">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077201" y="1690688"/>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05776" y="5114919"/>
            <a:ext cx="1219200" cy="1219200"/>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17082" y="1690688"/>
            <a:ext cx="1219200" cy="1219201"/>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17082" y="3338511"/>
            <a:ext cx="1219200" cy="1219201"/>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26607" y="4986334"/>
            <a:ext cx="1219200" cy="1219201"/>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05776" y="3428999"/>
            <a:ext cx="1219200" cy="1219201"/>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直線單箭頭接點 18"/>
          <p:cNvCxnSpPr/>
          <p:nvPr/>
        </p:nvCxnSpPr>
        <p:spPr>
          <a:xfrm>
            <a:off x="2640807" y="2344737"/>
            <a:ext cx="66675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直線單箭頭接點 20"/>
          <p:cNvCxnSpPr/>
          <p:nvPr/>
        </p:nvCxnSpPr>
        <p:spPr>
          <a:xfrm>
            <a:off x="2612232" y="3983037"/>
            <a:ext cx="66675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2" name="直線單箭頭接點 21"/>
          <p:cNvCxnSpPr/>
          <p:nvPr/>
        </p:nvCxnSpPr>
        <p:spPr>
          <a:xfrm>
            <a:off x="2612232" y="5678487"/>
            <a:ext cx="66675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直線單箭頭接點 22"/>
          <p:cNvCxnSpPr/>
          <p:nvPr/>
        </p:nvCxnSpPr>
        <p:spPr>
          <a:xfrm>
            <a:off x="4574382" y="2346324"/>
            <a:ext cx="66675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直線單箭頭接點 23"/>
          <p:cNvCxnSpPr/>
          <p:nvPr/>
        </p:nvCxnSpPr>
        <p:spPr>
          <a:xfrm>
            <a:off x="4545807" y="3984624"/>
            <a:ext cx="66675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直線單箭頭接點 24"/>
          <p:cNvCxnSpPr/>
          <p:nvPr/>
        </p:nvCxnSpPr>
        <p:spPr>
          <a:xfrm>
            <a:off x="4545807" y="5680074"/>
            <a:ext cx="66675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6" name="直線單箭頭接點 25"/>
          <p:cNvCxnSpPr/>
          <p:nvPr/>
        </p:nvCxnSpPr>
        <p:spPr>
          <a:xfrm>
            <a:off x="8665370" y="2970210"/>
            <a:ext cx="0" cy="368301"/>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9" name="直線單箭頭接點 28"/>
          <p:cNvCxnSpPr/>
          <p:nvPr/>
        </p:nvCxnSpPr>
        <p:spPr>
          <a:xfrm>
            <a:off x="8682040" y="4689468"/>
            <a:ext cx="0" cy="368301"/>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6"/>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endParaRPr lang="zh-TW" altLang="en-US"/>
          </a:p>
        </p:txBody>
      </p:sp>
      <p:pic>
        <p:nvPicPr>
          <p:cNvPr id="614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576895" y="474662"/>
            <a:ext cx="9038210" cy="5648881"/>
          </a:xfrm>
          <a:prstGeom prst="rect">
            <a:avLst/>
          </a:prstGeom>
          <a:noFill/>
          <a:extLst>
            <a:ext uri="{909E8E84-426E-40DD-AFC4-6F175D3DCCD1}">
              <a14:hiddenFill xmlns:a14="http://schemas.microsoft.com/office/drawing/2010/main">
                <a:solidFill>
                  <a:srgbClr val="FFFFFF"/>
                </a:solidFill>
              </a14:hiddenFill>
            </a:ext>
          </a:extLst>
        </p:spPr>
      </p:pic>
      <p:sp>
        <p:nvSpPr>
          <p:cNvPr id="5" name="文字方塊 4"/>
          <p:cNvSpPr txBox="1"/>
          <p:nvPr/>
        </p:nvSpPr>
        <p:spPr>
          <a:xfrm>
            <a:off x="1238250" y="6014006"/>
            <a:ext cx="10515600" cy="369332"/>
          </a:xfrm>
          <a:prstGeom prst="rect">
            <a:avLst/>
          </a:prstGeom>
          <a:noFill/>
        </p:spPr>
        <p:txBody>
          <a:bodyPr wrap="square">
            <a:spAutoFit/>
          </a:bodyPr>
          <a:lstStyle/>
          <a:p>
            <a:pPr algn="r"/>
            <a:r>
              <a:rPr lang="zh-TW" altLang="en-US" dirty="0"/>
              <a:t>https://blog.langchain.com/benchmarking-multi-agent-architectures/</a:t>
            </a:r>
            <a:endParaRPr lang="zh-TW" altLang="en-US" dirty="0"/>
          </a:p>
        </p:txBody>
      </p:sp>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latin typeface="Microsoft JhengHei" panose="020B0604030504040204" pitchFamily="34" charset="-120"/>
                <a:ea typeface="Microsoft JhengHei" panose="020B0604030504040204" pitchFamily="34" charset="-120"/>
              </a:rPr>
              <a:t>課程總結</a:t>
            </a:r>
            <a:endParaRPr lang="zh-TW" altLang="en-US" dirty="0"/>
          </a:p>
        </p:txBody>
      </p:sp>
      <p:graphicFrame>
        <p:nvGraphicFramePr>
          <p:cNvPr id="4" name="內容版面配置區 3"/>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Tree>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7835</Words>
  <Application>WPS 演示</Application>
  <PresentationFormat>寬螢幕</PresentationFormat>
  <Paragraphs>955</Paragraphs>
  <Slides>77</Slides>
  <Notes>36</Notes>
  <HiddenSlides>0</HiddenSlides>
  <MMClips>1</MMClips>
  <ScaleCrop>false</ScaleCrop>
  <HeadingPairs>
    <vt:vector size="6" baseType="variant">
      <vt:variant>
        <vt:lpstr>已用的字体</vt:lpstr>
      </vt:variant>
      <vt:variant>
        <vt:i4>24</vt:i4>
      </vt:variant>
      <vt:variant>
        <vt:lpstr>主题</vt:lpstr>
      </vt:variant>
      <vt:variant>
        <vt:i4>2</vt:i4>
      </vt:variant>
      <vt:variant>
        <vt:lpstr>幻灯片标题</vt:lpstr>
      </vt:variant>
      <vt:variant>
        <vt:i4>77</vt:i4>
      </vt:variant>
    </vt:vector>
  </HeadingPairs>
  <TitlesOfParts>
    <vt:vector size="103" baseType="lpstr">
      <vt:lpstr>Arial</vt:lpstr>
      <vt:lpstr>宋体</vt:lpstr>
      <vt:lpstr>Wingdings</vt:lpstr>
      <vt:lpstr>Neue Haas Grotesk Text Pro</vt:lpstr>
      <vt:lpstr>Microsoft JhengHei</vt:lpstr>
      <vt:lpstr>Aptos</vt:lpstr>
      <vt:lpstr>PMingLiU</vt:lpstr>
      <vt:lpstr>Calibri</vt:lpstr>
      <vt:lpstr>PMingLiU-ExtB</vt:lpstr>
      <vt:lpstr>Cambria Math</vt:lpstr>
      <vt:lpstr>inherit</vt:lpstr>
      <vt:lpstr>Segoe Print</vt:lpstr>
      <vt:lpstr>Google Sans</vt:lpstr>
      <vt:lpstr>Segoe UI</vt:lpstr>
      <vt:lpstr>微软雅黑</vt:lpstr>
      <vt:lpstr>Arial Unicode MS</vt:lpstr>
      <vt:lpstr>Aptos Display</vt:lpstr>
      <vt:lpstr>Segoe UI Variable Display</vt:lpstr>
      <vt:lpstr>等线</vt:lpstr>
      <vt:lpstr>-apple-system</vt:lpstr>
      <vt:lpstr>Lucida Grande</vt:lpstr>
      <vt:lpstr>Calibri Light</vt:lpstr>
      <vt:lpstr>等线 Light</vt:lpstr>
      <vt:lpstr>KSOF1D8BC6A5</vt:lpstr>
      <vt:lpstr>Office 佈景主題</vt:lpstr>
      <vt:lpstr>1_Office 佈景主題</vt:lpstr>
      <vt:lpstr>一堂課搞懂 Context Engineering 的概念 </vt:lpstr>
      <vt:lpstr>讓 AI Agent 成功運行的關鍵技術</vt:lpstr>
      <vt:lpstr>Context Engineering </vt:lpstr>
      <vt:lpstr> 請注意在這堂課中 沒有任何模型被訓練</vt:lpstr>
      <vt:lpstr>Context Engineering vs Prompt Engineering </vt:lpstr>
      <vt:lpstr>神奇咒語？ </vt:lpstr>
      <vt:lpstr>PowerPoint 演示文稿</vt:lpstr>
      <vt:lpstr>神奇咒語？ </vt:lpstr>
      <vt:lpstr>神奇咒語？ </vt:lpstr>
      <vt:lpstr>Context Engineering vs Prompt Engineering </vt:lpstr>
      <vt:lpstr>Outline</vt:lpstr>
      <vt:lpstr>Context 裡面需要有什麼？</vt:lpstr>
      <vt:lpstr>User Prompt </vt:lpstr>
      <vt:lpstr>User Prompt: 提供前提</vt:lpstr>
      <vt:lpstr>User Prompt:提供前提</vt:lpstr>
      <vt:lpstr>User Prompt: 給範例 </vt:lpstr>
      <vt:lpstr>User Prompt: 給範例 </vt:lpstr>
      <vt:lpstr>User Prompt: 給範例 </vt:lpstr>
      <vt:lpstr>PowerPoint 演示文稿</vt:lpstr>
      <vt:lpstr>PowerPoint 演示文稿</vt:lpstr>
      <vt:lpstr>PowerPoint 演示文稿</vt:lpstr>
      <vt:lpstr>System prompt </vt:lpstr>
      <vt:lpstr>System prompt </vt:lpstr>
      <vt:lpstr>Dialogue History (短期記憶)</vt:lpstr>
      <vt:lpstr>PowerPoint 演示文稿</vt:lpstr>
      <vt:lpstr>Long-term Memory (長期記憶)</vt:lpstr>
      <vt:lpstr>Long-term Memory (長期記憶)</vt:lpstr>
      <vt:lpstr>來自其他資料源的相關資訊</vt:lpstr>
      <vt:lpstr>來自其他資料源的相關資訊</vt:lpstr>
      <vt:lpstr>PowerPoint 演示文稿</vt:lpstr>
      <vt:lpstr>Tool Use</vt:lpstr>
      <vt:lpstr>Tool Use</vt:lpstr>
      <vt:lpstr>Tool Use</vt:lpstr>
      <vt:lpstr>Tool Use</vt:lpstr>
      <vt:lpstr>Tool Use: Computer Use</vt:lpstr>
      <vt:lpstr>PowerPoint 演示文稿</vt:lpstr>
      <vt:lpstr>PowerPoint 演示文稿</vt:lpstr>
      <vt:lpstr>模型自己產生的思考過程 (Reasoning) </vt:lpstr>
      <vt:lpstr>模型自己產生的思考過程 (Reasoning) </vt:lpstr>
      <vt:lpstr>What is in the context?</vt:lpstr>
      <vt:lpstr>為什麼 AI Agent 時代 需要 Context Engineering </vt:lpstr>
      <vt:lpstr>PowerPoint 演示文稿</vt:lpstr>
      <vt:lpstr>AI Agent </vt:lpstr>
      <vt:lpstr>Gemini CLI</vt:lpstr>
      <vt:lpstr>從 LLM 的角度來看 Agent 要解的問題</vt:lpstr>
      <vt:lpstr>運行 AI Agent 的挑戰：輸入過長</vt:lpstr>
      <vt:lpstr>PowerPoint 演示文稿</vt:lpstr>
      <vt:lpstr>PowerPoint 演示文稿</vt:lpstr>
      <vt:lpstr>輸入過長會有甚麼問題</vt:lpstr>
      <vt:lpstr>Lost in the Middle</vt:lpstr>
      <vt:lpstr>Lost in the Conversation? </vt:lpstr>
      <vt:lpstr>"Context Rot: How Increasing Input Tokens Impacts LLM Performance"</vt:lpstr>
      <vt:lpstr>Context Engineering  的基本方法</vt:lpstr>
      <vt:lpstr>Context Engineering 的基本概念</vt:lpstr>
      <vt:lpstr>常用招數</vt:lpstr>
      <vt:lpstr>挑選需要的內容</vt:lpstr>
      <vt:lpstr>挑選需要的內容</vt:lpstr>
      <vt:lpstr>挑選需要的內容</vt:lpstr>
      <vt:lpstr>挑選需要的內容</vt:lpstr>
      <vt:lpstr>挑選需要的內容</vt:lpstr>
      <vt:lpstr>挑選需要的內容</vt:lpstr>
      <vt:lpstr>挑選需要的內容</vt:lpstr>
      <vt:lpstr>StreamBench</vt:lpstr>
      <vt:lpstr>StreamBench</vt:lpstr>
      <vt:lpstr>StreamBench</vt:lpstr>
      <vt:lpstr>StreamBench</vt:lpstr>
      <vt:lpstr>壓縮內容</vt:lpstr>
      <vt:lpstr>PowerPoint 演示文稿</vt:lpstr>
      <vt:lpstr>壓縮內容</vt:lpstr>
      <vt:lpstr>壓縮內容</vt:lpstr>
      <vt:lpstr>Multi-Agent </vt:lpstr>
      <vt:lpstr>PowerPoint 演示文稿</vt:lpstr>
      <vt:lpstr>PowerPoint 演示文稿</vt:lpstr>
      <vt:lpstr>Multi-Agent </vt:lpstr>
      <vt:lpstr>Multi-Agent </vt:lpstr>
      <vt:lpstr>PowerPoint 演示文稿</vt:lpstr>
      <vt:lpstr>課程總結</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Hung-yi Lee</dc:creator>
  <cp:lastModifiedBy>朱科翰</cp:lastModifiedBy>
  <cp:revision>340</cp:revision>
  <dcterms:created xsi:type="dcterms:W3CDTF">2025-06-17T18:15:00Z</dcterms:created>
  <dcterms:modified xsi:type="dcterms:W3CDTF">2026-10-25T08:57:56Z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2052-12.1.0.29161</vt:lpwstr>
  </property>
  <property fmtid="{D5CDD505-2E9C-101B-9397-08002B2CF9AE}" pid="3" name="ICV">
    <vt:lpwstr>511EDBE1E1F34BB1991E0926F0ED01D7_12</vt:lpwstr>
  </property>
</Properties>
</file>