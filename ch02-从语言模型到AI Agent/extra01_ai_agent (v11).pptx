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002" r:id="rId3"/>
    <p:sldId id="5273" r:id="rId5"/>
    <p:sldId id="5212" r:id="rId6"/>
    <p:sldId id="5219" r:id="rId7"/>
    <p:sldId id="5221" r:id="rId8"/>
    <p:sldId id="5222" r:id="rId9"/>
    <p:sldId id="5277" r:id="rId10"/>
    <p:sldId id="5225" r:id="rId11"/>
    <p:sldId id="5274" r:id="rId12"/>
    <p:sldId id="5223" r:id="rId13"/>
    <p:sldId id="4907" r:id="rId14"/>
    <p:sldId id="5272" r:id="rId15"/>
    <p:sldId id="5179" r:id="rId16"/>
    <p:sldId id="5215" r:id="rId17"/>
    <p:sldId id="3031" r:id="rId18"/>
    <p:sldId id="5280" r:id="rId19"/>
    <p:sldId id="5268" r:id="rId20"/>
    <p:sldId id="5224" r:id="rId21"/>
    <p:sldId id="5279" r:id="rId22"/>
    <p:sldId id="5276" r:id="rId23"/>
    <p:sldId id="5169" r:id="rId24"/>
    <p:sldId id="5205" r:id="rId25"/>
    <p:sldId id="5265" r:id="rId26"/>
    <p:sldId id="3202" r:id="rId27"/>
    <p:sldId id="5227" r:id="rId28"/>
    <p:sldId id="5298" r:id="rId29"/>
    <p:sldId id="5216" r:id="rId30"/>
    <p:sldId id="5122" r:id="rId31"/>
    <p:sldId id="5181" r:id="rId32"/>
    <p:sldId id="5229" r:id="rId33"/>
    <p:sldId id="5230" r:id="rId34"/>
    <p:sldId id="5231" r:id="rId35"/>
    <p:sldId id="5232" r:id="rId36"/>
    <p:sldId id="5238" r:id="rId37"/>
    <p:sldId id="4843" r:id="rId38"/>
    <p:sldId id="5239" r:id="rId39"/>
    <p:sldId id="4846" r:id="rId40"/>
    <p:sldId id="5234" r:id="rId41"/>
    <p:sldId id="5236" r:id="rId42"/>
    <p:sldId id="5293" r:id="rId43"/>
    <p:sldId id="5294" r:id="rId44"/>
    <p:sldId id="5240" r:id="rId45"/>
    <p:sldId id="5131" r:id="rId46"/>
    <p:sldId id="5241" r:id="rId47"/>
    <p:sldId id="5242" r:id="rId48"/>
    <p:sldId id="5292" r:id="rId49"/>
    <p:sldId id="5125" r:id="rId50"/>
    <p:sldId id="5141" r:id="rId51"/>
    <p:sldId id="5142" r:id="rId52"/>
    <p:sldId id="5144" r:id="rId53"/>
    <p:sldId id="5248" r:id="rId54"/>
    <p:sldId id="5249" r:id="rId55"/>
    <p:sldId id="5251" r:id="rId56"/>
    <p:sldId id="5164" r:id="rId57"/>
    <p:sldId id="5282" r:id="rId58"/>
    <p:sldId id="5295" r:id="rId59"/>
    <p:sldId id="5296" r:id="rId60"/>
    <p:sldId id="5299" r:id="rId61"/>
    <p:sldId id="5145" r:id="rId62"/>
    <p:sldId id="5300" r:id="rId63"/>
    <p:sldId id="5159" r:id="rId64"/>
    <p:sldId id="5154" r:id="rId65"/>
    <p:sldId id="5175" r:id="rId66"/>
    <p:sldId id="5160" r:id="rId67"/>
    <p:sldId id="5161" r:id="rId68"/>
    <p:sldId id="5146" r:id="rId69"/>
    <p:sldId id="5147" r:id="rId70"/>
    <p:sldId id="5155" r:id="rId71"/>
    <p:sldId id="5158" r:id="rId72"/>
    <p:sldId id="5165" r:id="rId73"/>
    <p:sldId id="5257" r:id="rId74"/>
    <p:sldId id="5301" r:id="rId75"/>
    <p:sldId id="5302" r:id="rId76"/>
    <p:sldId id="5180" r:id="rId77"/>
    <p:sldId id="277" r:id="rId78"/>
    <p:sldId id="5182" r:id="rId79"/>
    <p:sldId id="5189" r:id="rId80"/>
    <p:sldId id="5190" r:id="rId81"/>
    <p:sldId id="5168" r:id="rId82"/>
    <p:sldId id="5184" r:id="rId83"/>
    <p:sldId id="5194" r:id="rId84"/>
    <p:sldId id="5197" r:id="rId85"/>
    <p:sldId id="5195" r:id="rId86"/>
    <p:sldId id="5196" r:id="rId87"/>
    <p:sldId id="5198" r:id="rId88"/>
    <p:sldId id="5199" r:id="rId89"/>
    <p:sldId id="5258" r:id="rId90"/>
    <p:sldId id="5259" r:id="rId91"/>
    <p:sldId id="5285" r:id="rId92"/>
    <p:sldId id="5286" r:id="rId93"/>
    <p:sldId id="5262" r:id="rId94"/>
    <p:sldId id="5263" r:id="rId95"/>
    <p:sldId id="5253" r:id="rId96"/>
    <p:sldId id="5287" r:id="rId97"/>
    <p:sldId id="5297" r:id="rId98"/>
    <p:sldId id="5256" r:id="rId9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49" autoAdjust="0"/>
    <p:restoredTop sz="50753" autoAdjust="0"/>
  </p:normalViewPr>
  <p:slideViewPr>
    <p:cSldViewPr snapToGrid="0">
      <p:cViewPr varScale="1">
        <p:scale>
          <a:sx n="23" d="100"/>
          <a:sy n="23" d="100"/>
        </p:scale>
        <p:origin x="2034" y="258"/>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98BC942-F2FD-443A-8883-3226DEBA0D5F}"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37C3609-3B19-4638-A95A-FF5646263609}">
      <dgm:prSet phldrT="[文字]" custT="1"/>
      <dgm:spPr/>
      <dgm:t>
        <a:bodyPr/>
        <a:lstStyle/>
        <a:p>
          <a:pPr algn="ctr"/>
          <a:r>
            <a:rPr lang="en-US" altLang="zh-TW" sz="4000" b="1" dirty="0">
              <a:latin typeface="Microsoft JhengHei" panose="020B0604030504040204" pitchFamily="34" charset="-120"/>
              <a:ea typeface="Microsoft JhengHei" panose="020B0604030504040204" pitchFamily="34" charset="-120"/>
            </a:rPr>
            <a:t>AI</a:t>
          </a:r>
          <a:r>
            <a:rPr lang="zh-TW" altLang="en-US" sz="4000" b="1" dirty="0">
              <a:latin typeface="Microsoft JhengHei" panose="020B0604030504040204" pitchFamily="34" charset="-120"/>
              <a:ea typeface="Microsoft JhengHei" panose="020B0604030504040204" pitchFamily="34" charset="-120"/>
            </a:rPr>
            <a:t> 如何根據經驗調整行為</a:t>
          </a:r>
        </a:p>
      </dgm:t>
    </dgm:pt>
    <dgm:pt modelId="{B22A7A32-CEE6-43D2-B74E-B21B443A04AC}" cxnId="{E00A2218-E537-458F-A24D-E5F0D57C5BCF}" type="parTrans">
      <dgm:prSet/>
      <dgm:spPr/>
      <dgm:t>
        <a:bodyPr/>
        <a:lstStyle/>
        <a:p>
          <a:endParaRPr lang="zh-TW" altLang="en-US"/>
        </a:p>
      </dgm:t>
    </dgm:pt>
    <dgm:pt modelId="{9D4A8BE3-5566-4B05-A4C2-D87970D14E3D}" cxnId="{E00A2218-E537-458F-A24D-E5F0D57C5BCF}" type="sibTrans">
      <dgm:prSet/>
      <dgm:spPr/>
      <dgm:t>
        <a:bodyPr/>
        <a:lstStyle/>
        <a:p>
          <a:endParaRPr lang="zh-TW" altLang="en-US"/>
        </a:p>
      </dgm:t>
    </dgm:pt>
    <dgm:pt modelId="{A46FF6CA-773A-49DA-B467-0E5A07E35675}">
      <dgm:prSet phldrT="[文字]" custT="1"/>
      <dgm:spPr/>
      <dgm:t>
        <a:bodyPr/>
        <a:lstStyle/>
        <a:p>
          <a:pPr algn="ctr"/>
          <a:r>
            <a:rPr lang="en-US" altLang="zh-TW" sz="4000" b="1" dirty="0">
              <a:latin typeface="Microsoft JhengHei" panose="020B0604030504040204" pitchFamily="34" charset="-120"/>
              <a:ea typeface="Microsoft JhengHei" panose="020B0604030504040204" pitchFamily="34" charset="-120"/>
            </a:rPr>
            <a:t>AI</a:t>
          </a:r>
          <a:r>
            <a:rPr lang="zh-TW" altLang="en-US" sz="4000" b="1" dirty="0">
              <a:latin typeface="Microsoft JhengHei" panose="020B0604030504040204" pitchFamily="34" charset="-120"/>
              <a:ea typeface="Microsoft JhengHei" panose="020B0604030504040204" pitchFamily="34" charset="-120"/>
            </a:rPr>
            <a:t> 如何使用工具</a:t>
          </a:r>
        </a:p>
      </dgm:t>
    </dgm:pt>
    <dgm:pt modelId="{D910156B-5400-462B-A711-69BDBE9AAEE8}" cxnId="{084EB2C1-AAD3-4F32-A4E3-9A4CC6159410}" type="parTrans">
      <dgm:prSet/>
      <dgm:spPr/>
      <dgm:t>
        <a:bodyPr/>
        <a:lstStyle/>
        <a:p>
          <a:endParaRPr lang="zh-TW" altLang="en-US"/>
        </a:p>
      </dgm:t>
    </dgm:pt>
    <dgm:pt modelId="{8CCA37D3-6185-461C-8B4E-20F58EBABEA2}" cxnId="{084EB2C1-AAD3-4F32-A4E3-9A4CC6159410}" type="sibTrans">
      <dgm:prSet/>
      <dgm:spPr/>
      <dgm:t>
        <a:bodyPr/>
        <a:lstStyle/>
        <a:p>
          <a:endParaRPr lang="zh-TW" altLang="en-US"/>
        </a:p>
      </dgm:t>
    </dgm:pt>
    <dgm:pt modelId="{3EEFC605-1EB3-4533-ADCF-AD414E6C1C2E}">
      <dgm:prSet phldrT="[文字]" custT="1"/>
      <dgm:spPr/>
      <dgm:t>
        <a:bodyPr/>
        <a:lstStyle/>
        <a:p>
          <a:pPr algn="ctr"/>
          <a:r>
            <a:rPr lang="en-US" altLang="zh-TW" sz="4000" b="1" dirty="0">
              <a:latin typeface="Microsoft JhengHei" panose="020B0604030504040204" pitchFamily="34" charset="-120"/>
              <a:ea typeface="Microsoft JhengHei" panose="020B0604030504040204" pitchFamily="34" charset="-120"/>
            </a:rPr>
            <a:t>AI</a:t>
          </a:r>
          <a:r>
            <a:rPr lang="zh-TW" altLang="en-US" sz="4000" b="1" dirty="0">
              <a:latin typeface="Microsoft JhengHei" panose="020B0604030504040204" pitchFamily="34" charset="-120"/>
              <a:ea typeface="Microsoft JhengHei" panose="020B0604030504040204" pitchFamily="34" charset="-120"/>
            </a:rPr>
            <a:t> 能不能做計劃</a:t>
          </a:r>
        </a:p>
      </dgm:t>
    </dgm:pt>
    <dgm:pt modelId="{C3B34146-7870-46EC-8551-12123A49E64B}" cxnId="{6EA86685-789F-420D-B45C-59EE74F36047}" type="parTrans">
      <dgm:prSet/>
      <dgm:spPr/>
      <dgm:t>
        <a:bodyPr/>
        <a:lstStyle/>
        <a:p>
          <a:endParaRPr lang="zh-TW" altLang="en-US"/>
        </a:p>
      </dgm:t>
    </dgm:pt>
    <dgm:pt modelId="{CC3F1A8A-BE52-4591-9E8F-B03033F6D3F4}" cxnId="{6EA86685-789F-420D-B45C-59EE74F36047}" type="sibTrans">
      <dgm:prSet/>
      <dgm:spPr/>
      <dgm:t>
        <a:bodyPr/>
        <a:lstStyle/>
        <a:p>
          <a:endParaRPr lang="zh-TW" altLang="en-US"/>
        </a:p>
      </dgm:t>
    </dgm:pt>
    <dgm:pt modelId="{130E39F6-37D1-4E1B-B988-D61BB8F6ABD1}" type="pres">
      <dgm:prSet presAssocID="{E98BC942-F2FD-443A-8883-3226DEBA0D5F}" presName="linear" presStyleCnt="0">
        <dgm:presLayoutVars>
          <dgm:animLvl val="lvl"/>
          <dgm:resizeHandles val="exact"/>
        </dgm:presLayoutVars>
      </dgm:prSet>
      <dgm:spPr/>
    </dgm:pt>
    <dgm:pt modelId="{F9A440CA-7C74-48AB-993E-54E94E02643B}" type="pres">
      <dgm:prSet presAssocID="{137C3609-3B19-4638-A95A-FF5646263609}" presName="parentText" presStyleLbl="node1" presStyleIdx="0" presStyleCnt="3">
        <dgm:presLayoutVars>
          <dgm:chMax val="0"/>
          <dgm:bulletEnabled val="1"/>
        </dgm:presLayoutVars>
      </dgm:prSet>
      <dgm:spPr/>
    </dgm:pt>
    <dgm:pt modelId="{77795F89-8194-40E0-A2A0-46DB8749A6DC}" type="pres">
      <dgm:prSet presAssocID="{9D4A8BE3-5566-4B05-A4C2-D87970D14E3D}" presName="spacer" presStyleCnt="0"/>
      <dgm:spPr/>
    </dgm:pt>
    <dgm:pt modelId="{7F4CBB84-3287-4A30-B78F-461EE2F12A6A}" type="pres">
      <dgm:prSet presAssocID="{A46FF6CA-773A-49DA-B467-0E5A07E35675}" presName="parentText" presStyleLbl="node1" presStyleIdx="1" presStyleCnt="3">
        <dgm:presLayoutVars>
          <dgm:chMax val="0"/>
          <dgm:bulletEnabled val="1"/>
        </dgm:presLayoutVars>
      </dgm:prSet>
      <dgm:spPr/>
    </dgm:pt>
    <dgm:pt modelId="{098CD044-5797-45A6-AEA1-DCCCB42700A4}" type="pres">
      <dgm:prSet presAssocID="{8CCA37D3-6185-461C-8B4E-20F58EBABEA2}" presName="spacer" presStyleCnt="0"/>
      <dgm:spPr/>
    </dgm:pt>
    <dgm:pt modelId="{EF5797C8-6A57-4F33-840E-4936F9E1B18E}" type="pres">
      <dgm:prSet presAssocID="{3EEFC605-1EB3-4533-ADCF-AD414E6C1C2E}" presName="parentText" presStyleLbl="node1" presStyleIdx="2" presStyleCnt="3">
        <dgm:presLayoutVars>
          <dgm:chMax val="0"/>
          <dgm:bulletEnabled val="1"/>
        </dgm:presLayoutVars>
      </dgm:prSet>
      <dgm:spPr/>
    </dgm:pt>
  </dgm:ptLst>
  <dgm:cxnLst>
    <dgm:cxn modelId="{E00A2218-E537-458F-A24D-E5F0D57C5BCF}" srcId="{E98BC942-F2FD-443A-8883-3226DEBA0D5F}" destId="{137C3609-3B19-4638-A95A-FF5646263609}" srcOrd="0" destOrd="0" parTransId="{B22A7A32-CEE6-43D2-B74E-B21B443A04AC}" sibTransId="{9D4A8BE3-5566-4B05-A4C2-D87970D14E3D}"/>
    <dgm:cxn modelId="{6EA86685-789F-420D-B45C-59EE74F36047}" srcId="{E98BC942-F2FD-443A-8883-3226DEBA0D5F}" destId="{3EEFC605-1EB3-4533-ADCF-AD414E6C1C2E}" srcOrd="2" destOrd="0" parTransId="{C3B34146-7870-46EC-8551-12123A49E64B}" sibTransId="{CC3F1A8A-BE52-4591-9E8F-B03033F6D3F4}"/>
    <dgm:cxn modelId="{FCFF4FA9-3354-4E45-A080-BB65CBF2B7E9}" type="presOf" srcId="{E98BC942-F2FD-443A-8883-3226DEBA0D5F}" destId="{130E39F6-37D1-4E1B-B988-D61BB8F6ABD1}" srcOrd="0" destOrd="0" presId="urn:microsoft.com/office/officeart/2005/8/layout/vList2"/>
    <dgm:cxn modelId="{084EB2C1-AAD3-4F32-A4E3-9A4CC6159410}" srcId="{E98BC942-F2FD-443A-8883-3226DEBA0D5F}" destId="{A46FF6CA-773A-49DA-B467-0E5A07E35675}" srcOrd="1" destOrd="0" parTransId="{D910156B-5400-462B-A711-69BDBE9AAEE8}" sibTransId="{8CCA37D3-6185-461C-8B4E-20F58EBABEA2}"/>
    <dgm:cxn modelId="{32F337E1-E32D-49D8-A81F-7A7A06AAE929}" type="presOf" srcId="{137C3609-3B19-4638-A95A-FF5646263609}" destId="{F9A440CA-7C74-48AB-993E-54E94E02643B}" srcOrd="0" destOrd="0" presId="urn:microsoft.com/office/officeart/2005/8/layout/vList2"/>
    <dgm:cxn modelId="{A28351E7-8461-4E07-8F3A-E7DE7773F082}" type="presOf" srcId="{A46FF6CA-773A-49DA-B467-0E5A07E35675}" destId="{7F4CBB84-3287-4A30-B78F-461EE2F12A6A}" srcOrd="0" destOrd="0" presId="urn:microsoft.com/office/officeart/2005/8/layout/vList2"/>
    <dgm:cxn modelId="{94C406F2-652E-437E-8C81-4A02D5C177C9}" type="presOf" srcId="{3EEFC605-1EB3-4533-ADCF-AD414E6C1C2E}" destId="{EF5797C8-6A57-4F33-840E-4936F9E1B18E}" srcOrd="0" destOrd="0" presId="urn:microsoft.com/office/officeart/2005/8/layout/vList2"/>
    <dgm:cxn modelId="{1F7D1A95-49E0-4E2F-B3A6-98DADFDF5F51}" type="presParOf" srcId="{130E39F6-37D1-4E1B-B988-D61BB8F6ABD1}" destId="{F9A440CA-7C74-48AB-993E-54E94E02643B}" srcOrd="0" destOrd="0" presId="urn:microsoft.com/office/officeart/2005/8/layout/vList2"/>
    <dgm:cxn modelId="{E9073893-F274-476C-8E60-74BB6CB413AA}" type="presParOf" srcId="{130E39F6-37D1-4E1B-B988-D61BB8F6ABD1}" destId="{77795F89-8194-40E0-A2A0-46DB8749A6DC}" srcOrd="1" destOrd="0" presId="urn:microsoft.com/office/officeart/2005/8/layout/vList2"/>
    <dgm:cxn modelId="{0CF6DF78-61E2-43AB-9E53-8189989DC7E3}" type="presParOf" srcId="{130E39F6-37D1-4E1B-B988-D61BB8F6ABD1}" destId="{7F4CBB84-3287-4A30-B78F-461EE2F12A6A}" srcOrd="2" destOrd="0" presId="urn:microsoft.com/office/officeart/2005/8/layout/vList2"/>
    <dgm:cxn modelId="{1D770879-55D7-4547-A9DB-0BB7EEF2EB3F}" type="presParOf" srcId="{130E39F6-37D1-4E1B-B988-D61BB8F6ABD1}" destId="{098CD044-5797-45A6-AEA1-DCCCB42700A4}" srcOrd="3" destOrd="0" presId="urn:microsoft.com/office/officeart/2005/8/layout/vList2"/>
    <dgm:cxn modelId="{AB0AF968-92D8-44A7-9592-67550F3C831B}" type="presParOf" srcId="{130E39F6-37D1-4E1B-B988-D61BB8F6ABD1}" destId="{EF5797C8-6A57-4F33-840E-4936F9E1B18E}" srcOrd="4"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8BC942-F2FD-443A-8883-3226DEBA0D5F}"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zh-TW" altLang="en-US"/>
        </a:p>
      </dgm:t>
    </dgm:pt>
    <dgm:pt modelId="{137C3609-3B19-4638-A95A-FF5646263609}">
      <dgm:prSet phldrT="[文字]" custT="1"/>
      <dgm:spPr/>
      <dgm:t>
        <a:bodyPr/>
        <a:lstStyle/>
        <a:p>
          <a:pPr algn="ctr"/>
          <a:r>
            <a:rPr lang="en-US" altLang="zh-TW" sz="4000" b="1" dirty="0">
              <a:latin typeface="Microsoft JhengHei" panose="020B0604030504040204" pitchFamily="34" charset="-120"/>
              <a:ea typeface="Microsoft JhengHei" panose="020B0604030504040204" pitchFamily="34" charset="-120"/>
            </a:rPr>
            <a:t>AI</a:t>
          </a:r>
          <a:r>
            <a:rPr lang="zh-TW" altLang="en-US" sz="4000" b="1" dirty="0">
              <a:latin typeface="Microsoft JhengHei" panose="020B0604030504040204" pitchFamily="34" charset="-120"/>
              <a:ea typeface="Microsoft JhengHei" panose="020B0604030504040204" pitchFamily="34" charset="-120"/>
            </a:rPr>
            <a:t> 如何根據經驗調整行為</a:t>
          </a:r>
        </a:p>
      </dgm:t>
    </dgm:pt>
    <dgm:pt modelId="{B22A7A32-CEE6-43D2-B74E-B21B443A04AC}" cxnId="{E00A2218-E537-458F-A24D-E5F0D57C5BCF}" type="parTrans">
      <dgm:prSet/>
      <dgm:spPr/>
      <dgm:t>
        <a:bodyPr/>
        <a:lstStyle/>
        <a:p>
          <a:endParaRPr lang="zh-TW" altLang="en-US"/>
        </a:p>
      </dgm:t>
    </dgm:pt>
    <dgm:pt modelId="{9D4A8BE3-5566-4B05-A4C2-D87970D14E3D}" cxnId="{E00A2218-E537-458F-A24D-E5F0D57C5BCF}" type="sibTrans">
      <dgm:prSet/>
      <dgm:spPr/>
      <dgm:t>
        <a:bodyPr/>
        <a:lstStyle/>
        <a:p>
          <a:endParaRPr lang="zh-TW" altLang="en-US"/>
        </a:p>
      </dgm:t>
    </dgm:pt>
    <dgm:pt modelId="{A46FF6CA-773A-49DA-B467-0E5A07E35675}">
      <dgm:prSet phldrT="[文字]" custT="1"/>
      <dgm:spPr/>
      <dgm:t>
        <a:bodyPr/>
        <a:lstStyle/>
        <a:p>
          <a:pPr algn="ctr"/>
          <a:r>
            <a:rPr lang="en-US" altLang="zh-TW" sz="4000" b="1" dirty="0">
              <a:latin typeface="Microsoft JhengHei" panose="020B0604030504040204" pitchFamily="34" charset="-120"/>
              <a:ea typeface="Microsoft JhengHei" panose="020B0604030504040204" pitchFamily="34" charset="-120"/>
            </a:rPr>
            <a:t>AI</a:t>
          </a:r>
          <a:r>
            <a:rPr lang="zh-TW" altLang="en-US" sz="4000" b="1" dirty="0">
              <a:latin typeface="Microsoft JhengHei" panose="020B0604030504040204" pitchFamily="34" charset="-120"/>
              <a:ea typeface="Microsoft JhengHei" panose="020B0604030504040204" pitchFamily="34" charset="-120"/>
            </a:rPr>
            <a:t> 如何使用工具</a:t>
          </a:r>
        </a:p>
      </dgm:t>
    </dgm:pt>
    <dgm:pt modelId="{D910156B-5400-462B-A711-69BDBE9AAEE8}" cxnId="{084EB2C1-AAD3-4F32-A4E3-9A4CC6159410}" type="parTrans">
      <dgm:prSet/>
      <dgm:spPr/>
      <dgm:t>
        <a:bodyPr/>
        <a:lstStyle/>
        <a:p>
          <a:endParaRPr lang="zh-TW" altLang="en-US"/>
        </a:p>
      </dgm:t>
    </dgm:pt>
    <dgm:pt modelId="{8CCA37D3-6185-461C-8B4E-20F58EBABEA2}" cxnId="{084EB2C1-AAD3-4F32-A4E3-9A4CC6159410}" type="sibTrans">
      <dgm:prSet/>
      <dgm:spPr/>
      <dgm:t>
        <a:bodyPr/>
        <a:lstStyle/>
        <a:p>
          <a:endParaRPr lang="zh-TW" altLang="en-US"/>
        </a:p>
      </dgm:t>
    </dgm:pt>
    <dgm:pt modelId="{3EEFC605-1EB3-4533-ADCF-AD414E6C1C2E}">
      <dgm:prSet phldrT="[文字]" custT="1"/>
      <dgm:spPr/>
      <dgm:t>
        <a:bodyPr/>
        <a:lstStyle/>
        <a:p>
          <a:pPr algn="ctr"/>
          <a:r>
            <a:rPr lang="en-US" altLang="zh-TW" sz="4000" b="1" dirty="0">
              <a:latin typeface="Microsoft JhengHei" panose="020B0604030504040204" pitchFamily="34" charset="-120"/>
              <a:ea typeface="Microsoft JhengHei" panose="020B0604030504040204" pitchFamily="34" charset="-120"/>
            </a:rPr>
            <a:t>AI</a:t>
          </a:r>
          <a:r>
            <a:rPr lang="zh-TW" altLang="en-US" sz="4000" b="1" dirty="0">
              <a:latin typeface="Microsoft JhengHei" panose="020B0604030504040204" pitchFamily="34" charset="-120"/>
              <a:ea typeface="Microsoft JhengHei" panose="020B0604030504040204" pitchFamily="34" charset="-120"/>
            </a:rPr>
            <a:t> 能不能做計劃</a:t>
          </a:r>
        </a:p>
      </dgm:t>
    </dgm:pt>
    <dgm:pt modelId="{C3B34146-7870-46EC-8551-12123A49E64B}" cxnId="{6EA86685-789F-420D-B45C-59EE74F36047}" type="parTrans">
      <dgm:prSet/>
      <dgm:spPr/>
      <dgm:t>
        <a:bodyPr/>
        <a:lstStyle/>
        <a:p>
          <a:endParaRPr lang="zh-TW" altLang="en-US"/>
        </a:p>
      </dgm:t>
    </dgm:pt>
    <dgm:pt modelId="{CC3F1A8A-BE52-4591-9E8F-B03033F6D3F4}" cxnId="{6EA86685-789F-420D-B45C-59EE74F36047}" type="sibTrans">
      <dgm:prSet/>
      <dgm:spPr/>
      <dgm:t>
        <a:bodyPr/>
        <a:lstStyle/>
        <a:p>
          <a:endParaRPr lang="zh-TW" altLang="en-US"/>
        </a:p>
      </dgm:t>
    </dgm:pt>
    <dgm:pt modelId="{130E39F6-37D1-4E1B-B988-D61BB8F6ABD1}" type="pres">
      <dgm:prSet presAssocID="{E98BC942-F2FD-443A-8883-3226DEBA0D5F}" presName="linear" presStyleCnt="0">
        <dgm:presLayoutVars>
          <dgm:animLvl val="lvl"/>
          <dgm:resizeHandles val="exact"/>
        </dgm:presLayoutVars>
      </dgm:prSet>
      <dgm:spPr/>
    </dgm:pt>
    <dgm:pt modelId="{F9A440CA-7C74-48AB-993E-54E94E02643B}" type="pres">
      <dgm:prSet presAssocID="{137C3609-3B19-4638-A95A-FF5646263609}" presName="parentText" presStyleLbl="node1" presStyleIdx="0" presStyleCnt="3">
        <dgm:presLayoutVars>
          <dgm:chMax val="0"/>
          <dgm:bulletEnabled val="1"/>
        </dgm:presLayoutVars>
      </dgm:prSet>
      <dgm:spPr/>
    </dgm:pt>
    <dgm:pt modelId="{77795F89-8194-40E0-A2A0-46DB8749A6DC}" type="pres">
      <dgm:prSet presAssocID="{9D4A8BE3-5566-4B05-A4C2-D87970D14E3D}" presName="spacer" presStyleCnt="0"/>
      <dgm:spPr/>
    </dgm:pt>
    <dgm:pt modelId="{7F4CBB84-3287-4A30-B78F-461EE2F12A6A}" type="pres">
      <dgm:prSet presAssocID="{A46FF6CA-773A-49DA-B467-0E5A07E35675}" presName="parentText" presStyleLbl="node1" presStyleIdx="1" presStyleCnt="3">
        <dgm:presLayoutVars>
          <dgm:chMax val="0"/>
          <dgm:bulletEnabled val="1"/>
        </dgm:presLayoutVars>
      </dgm:prSet>
      <dgm:spPr/>
    </dgm:pt>
    <dgm:pt modelId="{098CD044-5797-45A6-AEA1-DCCCB42700A4}" type="pres">
      <dgm:prSet presAssocID="{8CCA37D3-6185-461C-8B4E-20F58EBABEA2}" presName="spacer" presStyleCnt="0"/>
      <dgm:spPr/>
    </dgm:pt>
    <dgm:pt modelId="{EF5797C8-6A57-4F33-840E-4936F9E1B18E}" type="pres">
      <dgm:prSet presAssocID="{3EEFC605-1EB3-4533-ADCF-AD414E6C1C2E}" presName="parentText" presStyleLbl="node1" presStyleIdx="2" presStyleCnt="3">
        <dgm:presLayoutVars>
          <dgm:chMax val="0"/>
          <dgm:bulletEnabled val="1"/>
        </dgm:presLayoutVars>
      </dgm:prSet>
      <dgm:spPr/>
    </dgm:pt>
  </dgm:ptLst>
  <dgm:cxnLst>
    <dgm:cxn modelId="{E00A2218-E537-458F-A24D-E5F0D57C5BCF}" srcId="{E98BC942-F2FD-443A-8883-3226DEBA0D5F}" destId="{137C3609-3B19-4638-A95A-FF5646263609}" srcOrd="0" destOrd="0" parTransId="{B22A7A32-CEE6-43D2-B74E-B21B443A04AC}" sibTransId="{9D4A8BE3-5566-4B05-A4C2-D87970D14E3D}"/>
    <dgm:cxn modelId="{6EA86685-789F-420D-B45C-59EE74F36047}" srcId="{E98BC942-F2FD-443A-8883-3226DEBA0D5F}" destId="{3EEFC605-1EB3-4533-ADCF-AD414E6C1C2E}" srcOrd="2" destOrd="0" parTransId="{C3B34146-7870-46EC-8551-12123A49E64B}" sibTransId="{CC3F1A8A-BE52-4591-9E8F-B03033F6D3F4}"/>
    <dgm:cxn modelId="{FCFF4FA9-3354-4E45-A080-BB65CBF2B7E9}" type="presOf" srcId="{E98BC942-F2FD-443A-8883-3226DEBA0D5F}" destId="{130E39F6-37D1-4E1B-B988-D61BB8F6ABD1}" srcOrd="0" destOrd="0" presId="urn:microsoft.com/office/officeart/2005/8/layout/vList2"/>
    <dgm:cxn modelId="{084EB2C1-AAD3-4F32-A4E3-9A4CC6159410}" srcId="{E98BC942-F2FD-443A-8883-3226DEBA0D5F}" destId="{A46FF6CA-773A-49DA-B467-0E5A07E35675}" srcOrd="1" destOrd="0" parTransId="{D910156B-5400-462B-A711-69BDBE9AAEE8}" sibTransId="{8CCA37D3-6185-461C-8B4E-20F58EBABEA2}"/>
    <dgm:cxn modelId="{32F337E1-E32D-49D8-A81F-7A7A06AAE929}" type="presOf" srcId="{137C3609-3B19-4638-A95A-FF5646263609}" destId="{F9A440CA-7C74-48AB-993E-54E94E02643B}" srcOrd="0" destOrd="0" presId="urn:microsoft.com/office/officeart/2005/8/layout/vList2"/>
    <dgm:cxn modelId="{A28351E7-8461-4E07-8F3A-E7DE7773F082}" type="presOf" srcId="{A46FF6CA-773A-49DA-B467-0E5A07E35675}" destId="{7F4CBB84-3287-4A30-B78F-461EE2F12A6A}" srcOrd="0" destOrd="0" presId="urn:microsoft.com/office/officeart/2005/8/layout/vList2"/>
    <dgm:cxn modelId="{94C406F2-652E-437E-8C81-4A02D5C177C9}" type="presOf" srcId="{3EEFC605-1EB3-4533-ADCF-AD414E6C1C2E}" destId="{EF5797C8-6A57-4F33-840E-4936F9E1B18E}" srcOrd="0" destOrd="0" presId="urn:microsoft.com/office/officeart/2005/8/layout/vList2"/>
    <dgm:cxn modelId="{1F7D1A95-49E0-4E2F-B3A6-98DADFDF5F51}" type="presParOf" srcId="{130E39F6-37D1-4E1B-B988-D61BB8F6ABD1}" destId="{F9A440CA-7C74-48AB-993E-54E94E02643B}" srcOrd="0" destOrd="0" presId="urn:microsoft.com/office/officeart/2005/8/layout/vList2"/>
    <dgm:cxn modelId="{E9073893-F274-476C-8E60-74BB6CB413AA}" type="presParOf" srcId="{130E39F6-37D1-4E1B-B988-D61BB8F6ABD1}" destId="{77795F89-8194-40E0-A2A0-46DB8749A6DC}" srcOrd="1" destOrd="0" presId="urn:microsoft.com/office/officeart/2005/8/layout/vList2"/>
    <dgm:cxn modelId="{0CF6DF78-61E2-43AB-9E53-8189989DC7E3}" type="presParOf" srcId="{130E39F6-37D1-4E1B-B988-D61BB8F6ABD1}" destId="{7F4CBB84-3287-4A30-B78F-461EE2F12A6A}" srcOrd="2" destOrd="0" presId="urn:microsoft.com/office/officeart/2005/8/layout/vList2"/>
    <dgm:cxn modelId="{1D770879-55D7-4547-A9DB-0BB7EEF2EB3F}" type="presParOf" srcId="{130E39F6-37D1-4E1B-B988-D61BB8F6ABD1}" destId="{098CD044-5797-45A6-AEA1-DCCCB42700A4}" srcOrd="3" destOrd="0" presId="urn:microsoft.com/office/officeart/2005/8/layout/vList2"/>
    <dgm:cxn modelId="{AB0AF968-92D8-44A7-9592-67550F3C831B}" type="presParOf" srcId="{130E39F6-37D1-4E1B-B988-D61BB8F6ABD1}" destId="{EF5797C8-6A57-4F33-840E-4936F9E1B18E}" srcOrd="4"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440CA-7C74-48AB-993E-54E94E02643B}">
      <dsp:nvSpPr>
        <dsp:cNvPr id="0" name=""/>
        <dsp:cNvSpPr/>
      </dsp:nvSpPr>
      <dsp:spPr>
        <a:xfrm>
          <a:off x="0" y="106231"/>
          <a:ext cx="10515600" cy="125482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altLang="zh-TW" sz="4000" b="1" kern="1200" dirty="0">
              <a:latin typeface="微軟正黑體" panose="020B0604030504040204" pitchFamily="34" charset="-120"/>
              <a:ea typeface="微軟正黑體" panose="020B0604030504040204" pitchFamily="34" charset="-120"/>
            </a:rPr>
            <a:t>AI</a:t>
          </a:r>
          <a:r>
            <a:rPr lang="zh-TW" altLang="en-US" sz="4000" b="1" kern="1200" dirty="0">
              <a:latin typeface="微軟正黑體" panose="020B0604030504040204" pitchFamily="34" charset="-120"/>
              <a:ea typeface="微軟正黑體" panose="020B0604030504040204" pitchFamily="34" charset="-120"/>
            </a:rPr>
            <a:t> 如何根據經驗調整行為</a:t>
          </a:r>
        </a:p>
      </dsp:txBody>
      <dsp:txXfrm>
        <a:off x="61256" y="167487"/>
        <a:ext cx="10393088" cy="1132313"/>
      </dsp:txXfrm>
    </dsp:sp>
    <dsp:sp modelId="{7F4CBB84-3287-4A30-B78F-461EE2F12A6A}">
      <dsp:nvSpPr>
        <dsp:cNvPr id="0" name=""/>
        <dsp:cNvSpPr/>
      </dsp:nvSpPr>
      <dsp:spPr>
        <a:xfrm>
          <a:off x="0" y="1548256"/>
          <a:ext cx="10515600" cy="1254825"/>
        </a:xfrm>
        <a:prstGeom prst="roundRec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altLang="zh-TW" sz="4000" b="1" kern="1200" dirty="0">
              <a:latin typeface="微軟正黑體" panose="020B0604030504040204" pitchFamily="34" charset="-120"/>
              <a:ea typeface="微軟正黑體" panose="020B0604030504040204" pitchFamily="34" charset="-120"/>
            </a:rPr>
            <a:t>AI</a:t>
          </a:r>
          <a:r>
            <a:rPr lang="zh-TW" altLang="en-US" sz="4000" b="1" kern="1200" dirty="0">
              <a:latin typeface="微軟正黑體" panose="020B0604030504040204" pitchFamily="34" charset="-120"/>
              <a:ea typeface="微軟正黑體" panose="020B0604030504040204" pitchFamily="34" charset="-120"/>
            </a:rPr>
            <a:t> 如何使用工具</a:t>
          </a:r>
        </a:p>
      </dsp:txBody>
      <dsp:txXfrm>
        <a:off x="61256" y="1609512"/>
        <a:ext cx="10393088" cy="1132313"/>
      </dsp:txXfrm>
    </dsp:sp>
    <dsp:sp modelId="{EF5797C8-6A57-4F33-840E-4936F9E1B18E}">
      <dsp:nvSpPr>
        <dsp:cNvPr id="0" name=""/>
        <dsp:cNvSpPr/>
      </dsp:nvSpPr>
      <dsp:spPr>
        <a:xfrm>
          <a:off x="0" y="2990281"/>
          <a:ext cx="10515600" cy="1254825"/>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altLang="zh-TW" sz="4000" b="1" kern="1200" dirty="0">
              <a:latin typeface="微軟正黑體" panose="020B0604030504040204" pitchFamily="34" charset="-120"/>
              <a:ea typeface="微軟正黑體" panose="020B0604030504040204" pitchFamily="34" charset="-120"/>
            </a:rPr>
            <a:t>AI</a:t>
          </a:r>
          <a:r>
            <a:rPr lang="zh-TW" altLang="en-US" sz="4000" b="1" kern="1200" dirty="0">
              <a:latin typeface="微軟正黑體" panose="020B0604030504040204" pitchFamily="34" charset="-120"/>
              <a:ea typeface="微軟正黑體" panose="020B0604030504040204" pitchFamily="34" charset="-120"/>
            </a:rPr>
            <a:t> 能不能做計劃</a:t>
          </a:r>
        </a:p>
      </dsp:txBody>
      <dsp:txXfrm>
        <a:off x="61256" y="3051537"/>
        <a:ext cx="10393088" cy="11323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440CA-7C74-48AB-993E-54E94E02643B}">
      <dsp:nvSpPr>
        <dsp:cNvPr id="0" name=""/>
        <dsp:cNvSpPr/>
      </dsp:nvSpPr>
      <dsp:spPr>
        <a:xfrm>
          <a:off x="0" y="106231"/>
          <a:ext cx="10515600" cy="125482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altLang="zh-TW" sz="4000" b="1" kern="1200" dirty="0">
              <a:latin typeface="微軟正黑體" panose="020B0604030504040204" pitchFamily="34" charset="-120"/>
              <a:ea typeface="微軟正黑體" panose="020B0604030504040204" pitchFamily="34" charset="-120"/>
            </a:rPr>
            <a:t>AI</a:t>
          </a:r>
          <a:r>
            <a:rPr lang="zh-TW" altLang="en-US" sz="4000" b="1" kern="1200" dirty="0">
              <a:latin typeface="微軟正黑體" panose="020B0604030504040204" pitchFamily="34" charset="-120"/>
              <a:ea typeface="微軟正黑體" panose="020B0604030504040204" pitchFamily="34" charset="-120"/>
            </a:rPr>
            <a:t> 如何根據經驗調整行為</a:t>
          </a:r>
        </a:p>
      </dsp:txBody>
      <dsp:txXfrm>
        <a:off x="61256" y="167487"/>
        <a:ext cx="10393088" cy="1132313"/>
      </dsp:txXfrm>
    </dsp:sp>
    <dsp:sp modelId="{7F4CBB84-3287-4A30-B78F-461EE2F12A6A}">
      <dsp:nvSpPr>
        <dsp:cNvPr id="0" name=""/>
        <dsp:cNvSpPr/>
      </dsp:nvSpPr>
      <dsp:spPr>
        <a:xfrm>
          <a:off x="0" y="1548256"/>
          <a:ext cx="10515600" cy="1254825"/>
        </a:xfrm>
        <a:prstGeom prst="roundRec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altLang="zh-TW" sz="4000" b="1" kern="1200" dirty="0">
              <a:latin typeface="微軟正黑體" panose="020B0604030504040204" pitchFamily="34" charset="-120"/>
              <a:ea typeface="微軟正黑體" panose="020B0604030504040204" pitchFamily="34" charset="-120"/>
            </a:rPr>
            <a:t>AI</a:t>
          </a:r>
          <a:r>
            <a:rPr lang="zh-TW" altLang="en-US" sz="4000" b="1" kern="1200" dirty="0">
              <a:latin typeface="微軟正黑體" panose="020B0604030504040204" pitchFamily="34" charset="-120"/>
              <a:ea typeface="微軟正黑體" panose="020B0604030504040204" pitchFamily="34" charset="-120"/>
            </a:rPr>
            <a:t> 如何使用工具</a:t>
          </a:r>
        </a:p>
      </dsp:txBody>
      <dsp:txXfrm>
        <a:off x="61256" y="1609512"/>
        <a:ext cx="10393088" cy="1132313"/>
      </dsp:txXfrm>
    </dsp:sp>
    <dsp:sp modelId="{EF5797C8-6A57-4F33-840E-4936F9E1B18E}">
      <dsp:nvSpPr>
        <dsp:cNvPr id="0" name=""/>
        <dsp:cNvSpPr/>
      </dsp:nvSpPr>
      <dsp:spPr>
        <a:xfrm>
          <a:off x="0" y="2990281"/>
          <a:ext cx="10515600" cy="1254825"/>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altLang="zh-TW" sz="4000" b="1" kern="1200" dirty="0">
              <a:latin typeface="微軟正黑體" panose="020B0604030504040204" pitchFamily="34" charset="-120"/>
              <a:ea typeface="微軟正黑體" panose="020B0604030504040204" pitchFamily="34" charset="-120"/>
            </a:rPr>
            <a:t>AI</a:t>
          </a:r>
          <a:r>
            <a:rPr lang="zh-TW" altLang="en-US" sz="4000" b="1" kern="1200" dirty="0">
              <a:latin typeface="微軟正黑體" panose="020B0604030504040204" pitchFamily="34" charset="-120"/>
              <a:ea typeface="微軟正黑體" panose="020B0604030504040204" pitchFamily="34" charset="-120"/>
            </a:rPr>
            <a:t> 能不能做計劃</a:t>
          </a:r>
        </a:p>
      </dsp:txBody>
      <dsp:txXfrm>
        <a:off x="61256" y="3051537"/>
        <a:ext cx="10393088" cy="113231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8060DE-5A63-4A7D-9507-DDA5CC342AD3}" type="datetimeFigureOut">
              <a:rPr lang="zh-TW" altLang="en-US" smtClean="0"/>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651DEE-975D-4DE8-9229-C34DC29B3B5C}" type="slidenum">
              <a:rPr lang="zh-TW" altLang="en-US" smtClean="0"/>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www.youtube.com/watch?v=Qj7jPTQa2f4" TargetMode="External"/><Relationship Id="rId7" Type="http://schemas.openxmlformats.org/officeDocument/2006/relationships/hyperlink" Target="https://www.youtube.com/watch?v=FdwrdJcekrA" TargetMode="External"/><Relationship Id="rId6" Type="http://schemas.openxmlformats.org/officeDocument/2006/relationships/hyperlink" Target="https://phontron.com/class/anlp2024/lectures/" TargetMode="External"/><Relationship Id="rId5" Type="http://schemas.openxmlformats.org/officeDocument/2006/relationships/hyperlink" Target="https://www.youtube.com/watch?v=d0QSnLjlgzc" TargetMode="External"/><Relationship Id="rId4" Type="http://schemas.openxmlformats.org/officeDocument/2006/relationships/hyperlink" Target="https://docs.google.com/presentation/d/e/2PACX-1vSEKCxS-awsrP3yd7pTHwY5JJSWlb7a6YeGFzsvW514YgCCqBMGQpgWnzPg4vKTpD3RnUbXti0Ecbsp/pub?start=false&amp;loop=false&amp;delayms=30000&amp;slide=id.g2d594fc638a_0_13" TargetMode="External"/><Relationship Id="rId3" Type="http://schemas.openxmlformats.org/officeDocument/2006/relationships/hyperlink" Target="https://www.youtube.com/@neubig" TargetMode="External"/><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6" Type="http://schemas.openxmlformats.org/officeDocument/2006/relationships/hyperlink" Target="https://godmode.space/?ref=futuretools.io" TargetMode="External"/><Relationship Id="rId5" Type="http://schemas.openxmlformats.org/officeDocument/2006/relationships/hyperlink" Target="https://github.com/yoheinakajima/babyagi" TargetMode="External"/><Relationship Id="rId4" Type="http://schemas.openxmlformats.org/officeDocument/2006/relationships/hyperlink" Target="https://agentgpt.reworkd.ai/" TargetMode="External"/><Relationship Id="rId3" Type="http://schemas.openxmlformats.org/officeDocument/2006/relationships/hyperlink" Target="https://github.com/Significant-Gravitas/Auto-GPT" TargetMode="External"/><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cognition.ai/blog/introducing-devin" TargetMode="External"/><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5" Type="http://schemas.openxmlformats.org/officeDocument/2006/relationships/hyperlink" Target="https://zh.wikipedia.org/wiki/%E5%8A%A0%E5%B7%9E%E5%A4%A7%E5%AD%A6" TargetMode="External"/><Relationship Id="rId4" Type="http://schemas.openxmlformats.org/officeDocument/2006/relationships/hyperlink" Target="https://zh.wikipedia.org/wiki/%E7%BE%8E%E5%9B%BD" TargetMode="External"/><Relationship Id="rId3" Type="http://schemas.openxmlformats.org/officeDocument/2006/relationships/hyperlink" Target="https://zh.wikipedia.org/w/index.php?title=Neurocase&amp;action=edit&amp;redlink=1" TargetMode="External"/><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www.youtube.com/watch?v=0E9BbA0gO1A" TargetMode="External"/><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arxiv.org/abs/2408.07199" TargetMode="External"/><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arxiv.org/abs/2411.06559" TargetMode="External"/><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LLM agent of </a:t>
            </a:r>
            <a:r>
              <a:rPr lang="en-US" altLang="zh-TW" b="0" i="0" dirty="0">
                <a:effectLst/>
                <a:latin typeface="Roboto" panose="02000000000000000000" pitchFamily="2" charset="0"/>
                <a:hlinkClick r:id="rId3"/>
              </a:rPr>
              <a:t>Graham </a:t>
            </a:r>
            <a:r>
              <a:rPr lang="en-US" altLang="zh-TW" b="0" i="0" dirty="0" err="1">
                <a:effectLst/>
                <a:latin typeface="Roboto" panose="02000000000000000000" pitchFamily="2" charset="0"/>
                <a:hlinkClick r:id="rId3"/>
              </a:rPr>
              <a:t>Neubig</a:t>
            </a:r>
            <a:endParaRPr lang="en-US" altLang="zh-TW" dirty="0"/>
          </a:p>
          <a:p>
            <a:r>
              <a:rPr lang="en-US" altLang="zh-TW" dirty="0"/>
              <a:t>https://www.youtube.com/watch?v=a3SjRsqV9ZA</a:t>
            </a:r>
            <a:endParaRPr lang="en-US" altLang="zh-TW" dirty="0"/>
          </a:p>
          <a:p>
            <a:r>
              <a:rPr lang="en-US" altLang="zh-TW" dirty="0"/>
              <a:t>https://www.youtube.com/watch?v=lcNVAyNlp20&amp;t=1824s</a:t>
            </a:r>
            <a:endParaRPr lang="en-US" altLang="zh-TW" dirty="0"/>
          </a:p>
          <a:p>
            <a:endParaRPr lang="en-US" altLang="zh-TW" dirty="0"/>
          </a:p>
          <a:p>
            <a:endParaRPr lang="en-US" altLang="zh-TW" dirty="0"/>
          </a:p>
          <a:p>
            <a:r>
              <a:rPr lang="zh-TW" altLang="en-US" dirty="0"/>
              <a:t>要舉一個貫串全場的 </a:t>
            </a:r>
            <a:r>
              <a:rPr lang="en-US" altLang="zh-TW" dirty="0"/>
              <a:t>example </a:t>
            </a:r>
            <a:r>
              <a:rPr lang="zh-TW" altLang="en-US" dirty="0"/>
              <a:t>嗎</a:t>
            </a:r>
            <a:r>
              <a:rPr lang="en-US" altLang="zh-TW" dirty="0"/>
              <a:t>?</a:t>
            </a:r>
            <a:endParaRPr lang="en-US" altLang="zh-TW" dirty="0"/>
          </a:p>
          <a:p>
            <a:r>
              <a:rPr lang="en-US" altLang="zh-TW"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TW" dirty="0"/>
              <a:t>Recent overview: Overview : https://arxiv.org/pdf/2411.18279</a:t>
            </a:r>
            <a:endParaRPr lang="zh-TW" altLang="en-US" dirty="0"/>
          </a:p>
          <a:p>
            <a:endParaRPr lang="en-US" altLang="zh-TW" dirty="0"/>
          </a:p>
          <a:p>
            <a:endParaRPr lang="en-US" altLang="zh-TW" dirty="0"/>
          </a:p>
          <a:p>
            <a:r>
              <a:rPr lang="en-US" altLang="zh-TW" dirty="0"/>
              <a:t>Ref</a:t>
            </a:r>
            <a:endParaRPr lang="en-US" altLang="zh-TW" dirty="0"/>
          </a:p>
          <a:p>
            <a:r>
              <a:rPr lang="en-US" altLang="zh-TW" dirty="0">
                <a:hlinkClick r:id="rId4"/>
              </a:rPr>
              <a:t>https://docs.google.com/presentation/d/e/2PACX-1vSEKCxS-awsrP3yd7pTHwY5JJSWlb7a6YeGFzsvW514YgCCqBMGQpgWnzPg4vKTpD3RnUbXti0Ecbsp/pub?start=false&amp;loop=false&amp;delayms=30000&amp;slide=id.g2d594fc638a_0_13</a:t>
            </a:r>
            <a:endParaRPr lang="en-US" altLang="zh-TW" dirty="0"/>
          </a:p>
          <a:p>
            <a:endParaRPr lang="en-US" altLang="zh-TW" dirty="0"/>
          </a:p>
          <a:p>
            <a:r>
              <a:rPr lang="en-US" altLang="zh-TW" dirty="0"/>
              <a:t>Video:</a:t>
            </a:r>
            <a:endParaRPr lang="en-US" altLang="zh-TW" dirty="0"/>
          </a:p>
          <a:p>
            <a:pPr lvl="1"/>
            <a:r>
              <a:rPr lang="en-US" altLang="zh-TW" dirty="0">
                <a:hlinkClick r:id="rId5"/>
              </a:rPr>
              <a:t>https://www.youtube.com/watch?v=d0QSnLjlgzc</a:t>
            </a:r>
            <a:r>
              <a:rPr lang="en-US" altLang="zh-TW" dirty="0"/>
              <a:t> (</a:t>
            </a:r>
            <a:r>
              <a:rPr lang="en-US" altLang="zh-TW" dirty="0">
                <a:hlinkClick r:id="rId6"/>
              </a:rPr>
              <a:t>https://phontron.com/class/anlp2024/lectures/</a:t>
            </a:r>
            <a:r>
              <a:rPr lang="en-US" altLang="zh-TW" dirty="0"/>
              <a:t>)</a:t>
            </a:r>
            <a:endParaRPr lang="en-US" altLang="zh-TW" dirty="0"/>
          </a:p>
          <a:p>
            <a:pPr lvl="1"/>
            <a:r>
              <a:rPr lang="en-US" altLang="zh-TW" dirty="0">
                <a:hlinkClick r:id="rId7"/>
              </a:rPr>
              <a:t>https://www.youtube.com/watch?v=FdwrdJcekrA</a:t>
            </a:r>
            <a:r>
              <a:rPr lang="en-US" altLang="zh-TW" dirty="0"/>
              <a:t> </a:t>
            </a:r>
            <a:r>
              <a:rPr lang="en-US" altLang="zh-TW" b="1" i="0" dirty="0">
                <a:solidFill>
                  <a:srgbClr val="0F0F0F"/>
                </a:solidFill>
                <a:effectLst/>
                <a:latin typeface="Roboto" panose="02000000000000000000" pitchFamily="2" charset="0"/>
              </a:rPr>
              <a:t>Language Agents with LLM's (Yu Su, Ohio State)</a:t>
            </a:r>
            <a:endParaRPr lang="en-US" altLang="zh-TW" b="1" i="0" dirty="0">
              <a:solidFill>
                <a:srgbClr val="0F0F0F"/>
              </a:solidFill>
              <a:effectLst/>
              <a:latin typeface="Roboto" panose="02000000000000000000" pitchFamily="2" charset="0"/>
            </a:endParaRPr>
          </a:p>
          <a:p>
            <a:pPr lvl="1"/>
            <a:r>
              <a:rPr lang="en-US" altLang="zh-TW" dirty="0">
                <a:hlinkClick r:id="rId8"/>
              </a:rPr>
              <a:t>https://www.youtube.com/watch?v=Qj7jPTQa2f4</a:t>
            </a:r>
            <a:r>
              <a:rPr lang="en-US" altLang="zh-TW" dirty="0"/>
              <a:t> (</a:t>
            </a:r>
            <a:r>
              <a:rPr lang="en-US" altLang="zh-TW" dirty="0" err="1"/>
              <a:t>LangChain</a:t>
            </a:r>
            <a:r>
              <a:rPr lang="en-US" altLang="zh-TW" dirty="0"/>
              <a:t>)</a:t>
            </a:r>
            <a:endParaRPr lang="en-US" altLang="zh-TW" dirty="0"/>
          </a:p>
          <a:p>
            <a:pPr lvl="1"/>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TW" altLang="en-US" sz="1200" dirty="0">
                <a:latin typeface="Microsoft JhengHei" panose="020B0604030504040204" pitchFamily="34" charset="-120"/>
                <a:ea typeface="Microsoft JhengHei" panose="020B0604030504040204" pitchFamily="34" charset="-120"/>
              </a:rPr>
              <a:t>如果要完成複雜的任務需要多</a:t>
            </a:r>
            <a:endParaRPr lang="zh-TW" altLang="en-US" sz="1200" dirty="0">
              <a:latin typeface="Microsoft JhengHei" panose="020B0604030504040204" pitchFamily="34" charset="-120"/>
              <a:ea typeface="Microsoft JhengHei"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defRPr/>
            </a:pPr>
            <a:r>
              <a:rPr lang="zh-TW" altLang="en-US" sz="1200" dirty="0">
                <a:latin typeface="Microsoft JhengHei" panose="020B0604030504040204" pitchFamily="34" charset="-120"/>
                <a:ea typeface="Microsoft JhengHei" panose="020B0604030504040204" pitchFamily="34" charset="-120"/>
              </a:rPr>
              <a:t>如果要完成複雜的任務需要多</a:t>
            </a:r>
            <a:endParaRPr lang="zh-TW" altLang="en-US" sz="1200" dirty="0">
              <a:latin typeface="Microsoft JhengHei" panose="020B0604030504040204" pitchFamily="34" charset="-120"/>
              <a:ea typeface="Microsoft JhengHei" panose="020B0604030504040204" pitchFamily="34" charset="-120"/>
            </a:endParaRPr>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有一個目標</a:t>
            </a:r>
            <a:endParaRPr lang="en-US" altLang="zh-TW" dirty="0"/>
          </a:p>
          <a:p>
            <a:r>
              <a:rPr lang="zh-TW" altLang="en-US" dirty="0"/>
              <a:t>現在的輸入</a:t>
            </a:r>
            <a:endParaRPr lang="en-US" altLang="zh-TW" dirty="0"/>
          </a:p>
          <a:p>
            <a:r>
              <a:rPr lang="zh-TW" altLang="en-US" dirty="0"/>
              <a:t>輸出</a:t>
            </a:r>
            <a:endParaRPr lang="en-US" altLang="zh-TW" dirty="0"/>
          </a:p>
          <a:p>
            <a:r>
              <a:rPr lang="zh-TW" altLang="en-US" dirty="0"/>
              <a:t>改變狀態</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有一個目標</a:t>
            </a:r>
            <a:endParaRPr lang="en-US" altLang="zh-TW" dirty="0"/>
          </a:p>
          <a:p>
            <a:r>
              <a:rPr lang="zh-TW" altLang="en-US" dirty="0"/>
              <a:t>現在的輸入</a:t>
            </a:r>
            <a:endParaRPr lang="en-US" altLang="zh-TW" dirty="0"/>
          </a:p>
          <a:p>
            <a:r>
              <a:rPr lang="zh-TW" altLang="en-US" dirty="0"/>
              <a:t>輸出</a:t>
            </a:r>
            <a:endParaRPr lang="en-US" altLang="zh-TW" dirty="0"/>
          </a:p>
          <a:p>
            <a:r>
              <a:rPr lang="zh-TW" altLang="en-US" dirty="0"/>
              <a:t>改變狀態</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有一個目標</a:t>
            </a:r>
            <a:endParaRPr lang="en-US" altLang="zh-TW" dirty="0"/>
          </a:p>
          <a:p>
            <a:r>
              <a:rPr lang="zh-TW" altLang="en-US" dirty="0"/>
              <a:t>現在的輸入</a:t>
            </a:r>
            <a:endParaRPr lang="en-US" altLang="zh-TW" dirty="0"/>
          </a:p>
          <a:p>
            <a:r>
              <a:rPr lang="zh-TW" altLang="en-US" dirty="0"/>
              <a:t>輸出</a:t>
            </a:r>
            <a:endParaRPr lang="en-US" altLang="zh-TW" dirty="0"/>
          </a:p>
          <a:p>
            <a:r>
              <a:rPr lang="zh-TW" altLang="en-US" dirty="0"/>
              <a:t>改變狀態</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有一個目標</a:t>
            </a:r>
            <a:endParaRPr lang="en-US" altLang="zh-TW" dirty="0"/>
          </a:p>
          <a:p>
            <a:r>
              <a:rPr lang="zh-TW" altLang="en-US" dirty="0"/>
              <a:t>現在的輸入</a:t>
            </a:r>
            <a:endParaRPr lang="en-US" altLang="zh-TW" dirty="0"/>
          </a:p>
          <a:p>
            <a:r>
              <a:rPr lang="zh-TW" altLang="en-US" dirty="0"/>
              <a:t>輸出</a:t>
            </a:r>
            <a:endParaRPr lang="en-US" altLang="zh-TW" dirty="0"/>
          </a:p>
          <a:p>
            <a:r>
              <a:rPr lang="zh-TW" altLang="en-US" dirty="0"/>
              <a:t>改變狀態</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大概知道圍棋規則</a:t>
            </a:r>
            <a:endParaRPr lang="en-US" altLang="zh-TW" dirty="0"/>
          </a:p>
          <a:p>
            <a:r>
              <a:rPr lang="zh-TW" altLang="en-US" dirty="0"/>
              <a:t>把兵當馬走</a:t>
            </a:r>
            <a:endParaRPr lang="en-US" altLang="zh-TW" dirty="0"/>
          </a:p>
          <a:p>
            <a:r>
              <a:rPr lang="zh-TW" altLang="en-US" dirty="0"/>
              <a:t>隨便穿越</a:t>
            </a:r>
            <a:endParaRPr lang="en-US" altLang="zh-TW" dirty="0"/>
          </a:p>
          <a:p>
            <a:r>
              <a:rPr lang="zh-TW" altLang="en-US" dirty="0"/>
              <a:t>自己變出棋子</a:t>
            </a:r>
            <a:endParaRPr lang="en-US" altLang="zh-TW" dirty="0"/>
          </a:p>
          <a:p>
            <a:r>
              <a:rPr lang="zh-TW" altLang="en-US" dirty="0"/>
              <a:t>自己把自己吃掉 </a:t>
            </a:r>
            <a:endParaRPr lang="en-US" altLang="zh-TW" dirty="0"/>
          </a:p>
          <a:p>
            <a:r>
              <a:rPr lang="zh-TW" altLang="en-US" dirty="0"/>
              <a:t>你輸了</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有一個目標</a:t>
            </a:r>
            <a:endParaRPr lang="en-US" altLang="zh-TW" dirty="0"/>
          </a:p>
          <a:p>
            <a:r>
              <a:rPr lang="zh-TW" altLang="en-US" dirty="0"/>
              <a:t>現在的輸入</a:t>
            </a:r>
            <a:endParaRPr lang="en-US" altLang="zh-TW" dirty="0"/>
          </a:p>
          <a:p>
            <a:r>
              <a:rPr lang="zh-TW" altLang="en-US" dirty="0"/>
              <a:t>輸出</a:t>
            </a:r>
            <a:endParaRPr lang="en-US" altLang="zh-TW" dirty="0"/>
          </a:p>
          <a:p>
            <a:r>
              <a:rPr lang="zh-TW" altLang="en-US" dirty="0"/>
              <a:t>改變狀態</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AutoGPT</a:t>
            </a:r>
            <a:r>
              <a:rPr lang="en-US" altLang="zh-TW" dirty="0"/>
              <a:t>, </a:t>
            </a:r>
            <a:r>
              <a:rPr lang="en-US" altLang="zh-TW" dirty="0" err="1"/>
              <a:t>AgentGPT</a:t>
            </a:r>
            <a:r>
              <a:rPr lang="en-US" altLang="zh-TW" dirty="0"/>
              <a:t>, </a:t>
            </a:r>
            <a:r>
              <a:rPr lang="en-US" altLang="zh-TW" dirty="0" err="1"/>
              <a:t>BabyAGI</a:t>
            </a:r>
            <a:r>
              <a:rPr lang="en-US" altLang="zh-TW" dirty="0"/>
              <a:t>, </a:t>
            </a:r>
            <a:r>
              <a:rPr lang="en-US" altLang="zh-TW" dirty="0" err="1"/>
              <a:t>Godmode</a:t>
            </a:r>
            <a:endParaRPr lang="en-US" altLang="zh-TW" dirty="0"/>
          </a:p>
          <a:p>
            <a:endParaRPr lang="en-US" altLang="zh-TW" dirty="0"/>
          </a:p>
          <a:p>
            <a:r>
              <a:rPr lang="en-US" altLang="zh-TW" dirty="0" err="1"/>
              <a:t>AutoGPT</a:t>
            </a:r>
            <a:r>
              <a:rPr lang="en-US" altLang="zh-TW" dirty="0"/>
              <a:t>:</a:t>
            </a:r>
            <a:r>
              <a:rPr lang="zh-TW" altLang="en-US" dirty="0"/>
              <a:t> </a:t>
            </a:r>
            <a:r>
              <a:rPr lang="en-US" altLang="zh-TW" dirty="0">
                <a:hlinkClick r:id="rId3"/>
              </a:rPr>
              <a:t>https://github.com/Significant-Gravitas/Auto-GPT</a:t>
            </a:r>
            <a:endParaRPr lang="en-US" altLang="zh-TW" dirty="0"/>
          </a:p>
          <a:p>
            <a:endParaRPr lang="en-US" altLang="zh-TW" dirty="0"/>
          </a:p>
          <a:p>
            <a:r>
              <a:rPr lang="en-US" altLang="zh-TW" dirty="0" err="1"/>
              <a:t>AgentGPT</a:t>
            </a:r>
            <a:r>
              <a:rPr lang="en-US" altLang="zh-TW" dirty="0"/>
              <a:t>:</a:t>
            </a:r>
            <a:r>
              <a:rPr lang="zh-TW" altLang="en-US" dirty="0"/>
              <a:t> </a:t>
            </a:r>
            <a:r>
              <a:rPr lang="en-US" altLang="zh-TW" dirty="0">
                <a:hlinkClick r:id="rId4"/>
              </a:rPr>
              <a:t>https://agentgpt.reworkd.ai/</a:t>
            </a:r>
            <a:endParaRPr lang="en-US" altLang="zh-TW" dirty="0"/>
          </a:p>
          <a:p>
            <a:endParaRPr lang="en-US" altLang="zh-TW" dirty="0"/>
          </a:p>
          <a:p>
            <a:r>
              <a:rPr lang="en-US" altLang="zh-TW" dirty="0" err="1"/>
              <a:t>BabyAGI</a:t>
            </a:r>
            <a:r>
              <a:rPr lang="en-US" altLang="zh-TW" dirty="0"/>
              <a:t>:</a:t>
            </a:r>
            <a:r>
              <a:rPr lang="zh-TW" altLang="en-US" dirty="0"/>
              <a:t> </a:t>
            </a:r>
            <a:r>
              <a:rPr lang="en-US" altLang="zh-TW" dirty="0">
                <a:hlinkClick r:id="rId5"/>
              </a:rPr>
              <a:t>https://github.com/yoheinakajima/babyagi</a:t>
            </a:r>
            <a:endParaRPr lang="en-US" altLang="zh-TW" dirty="0"/>
          </a:p>
          <a:p>
            <a:endParaRPr lang="en-US" altLang="zh-TW" dirty="0"/>
          </a:p>
          <a:p>
            <a:r>
              <a:rPr lang="en-US" altLang="zh-TW" dirty="0" err="1"/>
              <a:t>Godmode</a:t>
            </a:r>
            <a:r>
              <a:rPr lang="en-US" altLang="zh-TW" dirty="0"/>
              <a:t>: </a:t>
            </a:r>
            <a:r>
              <a:rPr lang="en-US" altLang="zh-TW" dirty="0">
                <a:hlinkClick r:id="rId6"/>
              </a:rPr>
              <a:t>https://godmode.space/?ref=futuretools.io</a:t>
            </a:r>
            <a:endParaRPr lang="en-US" altLang="zh-TW" dirty="0"/>
          </a:p>
          <a:p>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無限制的行為</a:t>
            </a:r>
            <a:r>
              <a:rPr lang="en-US" altLang="zh-TW" dirty="0"/>
              <a:t>?</a:t>
            </a:r>
            <a:endParaRPr lang="en-US" altLang="zh-TW" dirty="0"/>
          </a:p>
          <a:p>
            <a:pPr lvl="1"/>
            <a:r>
              <a:rPr lang="en-US" altLang="zh-TW" sz="2800" dirty="0"/>
              <a:t>O1</a:t>
            </a:r>
            <a:r>
              <a:rPr lang="zh-TW" altLang="en-US" sz="2800" dirty="0"/>
              <a:t>作弊的例子</a:t>
            </a:r>
            <a:endParaRPr lang="en-US" altLang="zh-TW" sz="2800" dirty="0"/>
          </a:p>
          <a:p>
            <a:pPr lvl="1"/>
            <a:r>
              <a:rPr lang="en-US" altLang="zh-TW" sz="2800" dirty="0" err="1"/>
              <a:t>Deepseek</a:t>
            </a:r>
            <a:r>
              <a:rPr lang="en-US" altLang="zh-TW" sz="2800" dirty="0"/>
              <a:t> </a:t>
            </a:r>
            <a:r>
              <a:rPr lang="zh-TW" altLang="en-US" sz="2800" dirty="0"/>
              <a:t>作弊的例子</a:t>
            </a:r>
            <a:endParaRPr lang="en-US" altLang="zh-TW" sz="2800" dirty="0"/>
          </a:p>
          <a:p>
            <a:pPr lvl="2"/>
            <a:r>
              <a:rPr lang="en-US" altLang="zh-TW" sz="2400" dirty="0"/>
              <a:t>https://www.youtube.com/watch?v=JHq4EKMg7fI</a:t>
            </a:r>
            <a:endParaRPr lang="en-US" altLang="zh-TW" sz="2400"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TW" altLang="en-US" dirty="0"/>
              <a:t>更靈活的回饋、非數字的 </a:t>
            </a:r>
            <a:r>
              <a:rPr lang="en-US" altLang="zh-TW" dirty="0"/>
              <a:t>reward </a:t>
            </a:r>
            <a:r>
              <a:rPr lang="zh-TW" altLang="en-US" dirty="0"/>
              <a:t>和目標</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Typically in AI, an agent refers to an artificial entity capable of perceiving its surroundings using sensors, making decisions, and then taking actions in response using actuators</a:t>
            </a:r>
            <a:endParaRPr lang="en-US" altLang="zh-TW" dirty="0"/>
          </a:p>
          <a:p>
            <a:r>
              <a:rPr lang="en-US" altLang="zh-TW" dirty="0"/>
              <a:t>The concept of agents originated in Philosophy, with roots tracing back to thinkers like Aristotle and Hume [5]. It describes entities possessing desires, beliefs, intentions, and the ability to take actions [5].</a:t>
            </a:r>
            <a:endParaRPr lang="en-US" altLang="zh-TW" dirty="0"/>
          </a:p>
          <a:p>
            <a:r>
              <a:rPr lang="en-US" altLang="zh-TW" dirty="0"/>
              <a:t>This idea transitioned into computer science, intending to enable computers to understand users’ interests and autonomously perform actions on their behalf</a:t>
            </a:r>
            <a:endParaRPr lang="en-US" altLang="zh-TW" dirty="0"/>
          </a:p>
          <a:p>
            <a:r>
              <a:rPr lang="en-US" altLang="zh-TW" dirty="0"/>
              <a:t>“agent” is an entity with the capacity to act,</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2651DEE-975D-4DE8-9229-C34DC29B3B5C}"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PMingLiU" panose="02020500000000000000" pitchFamily="18" charset="-120"/>
                <a:cs typeface="+mn-cs"/>
              </a:rPr>
            </a:fld>
            <a:endParaRPr kumimoji="0" lang="zh-TW" altLang="en-US" sz="1200" b="0" i="0" u="none" strike="noStrike" kern="1200" cap="none" spc="0" normalizeH="0" baseline="0" noProof="0">
              <a:ln>
                <a:noFill/>
              </a:ln>
              <a:solidFill>
                <a:prstClr val="black"/>
              </a:solidFill>
              <a:effectLst/>
              <a:uLnTx/>
              <a:uFillTx/>
              <a:latin typeface="Aptos" panose="02110004020202020204"/>
              <a:ea typeface="PMingLiU" panose="02020500000000000000" pitchFamily="18" charset="-12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Typically in AI, an agent refers to an artificial entity capable of perceiving its surroundings using sensors, making decisions, and then taking actions in response using actuators</a:t>
            </a:r>
            <a:endParaRPr lang="en-US" altLang="zh-TW" dirty="0"/>
          </a:p>
          <a:p>
            <a:r>
              <a:rPr lang="en-US" altLang="zh-TW" dirty="0"/>
              <a:t>The concept of agents originated in Philosophy, with roots tracing back to thinkers like Aristotle and Hume [5]. It describes entities possessing desires, beliefs, intentions, and the ability to take actions [5].</a:t>
            </a:r>
            <a:endParaRPr lang="en-US" altLang="zh-TW" dirty="0"/>
          </a:p>
          <a:p>
            <a:r>
              <a:rPr lang="en-US" altLang="zh-TW" dirty="0"/>
              <a:t>This idea transitioned into computer science, intending to enable computers to understand users’ interests and autonomously perform actions on their behalf</a:t>
            </a:r>
            <a:endParaRPr lang="en-US" altLang="zh-TW" dirty="0"/>
          </a:p>
          <a:p>
            <a:r>
              <a:rPr lang="en-US" altLang="zh-TW" dirty="0"/>
              <a:t>“agent” is an entity with the capacity to act,</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2651DEE-975D-4DE8-9229-C34DC29B3B5C}"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PMingLiU" panose="02020500000000000000" pitchFamily="18" charset="-120"/>
                <a:cs typeface="+mn-cs"/>
              </a:rPr>
            </a:fld>
            <a:endParaRPr kumimoji="0" lang="zh-TW" altLang="en-US" sz="1200" b="0" i="0" u="none" strike="noStrike" kern="1200" cap="none" spc="0" normalizeH="0" baseline="0" noProof="0">
              <a:ln>
                <a:noFill/>
              </a:ln>
              <a:solidFill>
                <a:prstClr val="black"/>
              </a:solidFill>
              <a:effectLst/>
              <a:uLnTx/>
              <a:uFillTx/>
              <a:latin typeface="Aptos" panose="02110004020202020204"/>
              <a:ea typeface="PMingLiU" panose="02020500000000000000" pitchFamily="18" charset="-12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1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https://arxiv.org/abs/2401.01614</a:t>
            </a:r>
            <a:endParaRPr kumimoji="0" lang="zh-TW" altLang="en-US" sz="12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dirty="0"/>
              <a:t>ML</a:t>
            </a:r>
            <a:r>
              <a:rPr lang="zh-TW" altLang="en-US" dirty="0"/>
              <a:t> </a:t>
            </a:r>
            <a:r>
              <a:rPr lang="en-US" altLang="zh-TW" dirty="0"/>
              <a:t>Agent </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TW" dirty="0"/>
          </a:p>
          <a:p>
            <a:r>
              <a:rPr lang="en-US" altLang="zh-TW" dirty="0"/>
              <a:t>AI programmer: </a:t>
            </a:r>
            <a:r>
              <a:rPr lang="en-US" altLang="zh-TW" dirty="0">
                <a:hlinkClick r:id="rId3"/>
              </a:rPr>
              <a:t>https://www.cognition.ai/blog/introducing-devin</a:t>
            </a:r>
            <a:endParaRPr lang="en-US" altLang="zh-TW" dirty="0"/>
          </a:p>
          <a:p>
            <a:r>
              <a:rPr lang="en-US" altLang="zh-TW" dirty="0"/>
              <a:t>Curser???</a:t>
            </a:r>
            <a:endParaRPr lang="en-US" altLang="zh-TW" dirty="0"/>
          </a:p>
          <a:p>
            <a:r>
              <a:rPr lang="en-US" altLang="zh-TW" dirty="0"/>
              <a:t>Storm / Deep Research</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dirty="0"/>
              <a:t>AI </a:t>
            </a:r>
            <a:r>
              <a:rPr lang="zh-TW" altLang="en-US" dirty="0"/>
              <a:t>共科學家僅用 </a:t>
            </a:r>
            <a:r>
              <a:rPr lang="en-US" altLang="zh-TW" dirty="0"/>
              <a:t>2 </a:t>
            </a:r>
            <a:r>
              <a:rPr lang="zh-TW" altLang="en-US" dirty="0"/>
              <a:t>天（紅字標示）完成了傳統方法需 </a:t>
            </a:r>
            <a:r>
              <a:rPr lang="en-US" altLang="zh-TW" dirty="0"/>
              <a:t>10 </a:t>
            </a:r>
            <a:r>
              <a:rPr lang="zh-TW" altLang="en-US" dirty="0"/>
              <a:t>年才能完成的假設發展過程。</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TW" dirty="0"/>
              <a:t>https://research.google/blog/accelerating-scientific-breakthroughs-with-an-ai-co-scientist/</a:t>
            </a:r>
            <a:endParaRPr lang="zh-TW"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TW" b="0" i="0" dirty="0">
              <a:solidFill>
                <a:srgbClr val="080809"/>
              </a:solidFill>
              <a:effectLst/>
              <a:latin typeface="Segoe UI Historic"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TW" b="0" i="0" dirty="0">
                <a:solidFill>
                  <a:srgbClr val="080809"/>
                </a:solidFill>
                <a:effectLst/>
                <a:latin typeface="Segoe UI Historic" panose="020B0502040204020203" pitchFamily="34" charset="0"/>
              </a:rPr>
              <a:t>GAIA</a:t>
            </a:r>
            <a:r>
              <a:rPr lang="zh-TW" altLang="en-US" b="0" i="0" dirty="0">
                <a:solidFill>
                  <a:srgbClr val="080809"/>
                </a:solidFill>
                <a:effectLst/>
                <a:latin typeface="Segoe UI Historic" panose="020B0502040204020203" pitchFamily="34" charset="0"/>
              </a:rPr>
              <a:t>（</a:t>
            </a:r>
            <a:r>
              <a:rPr lang="en-US" altLang="zh-TW" b="0" i="0" dirty="0">
                <a:solidFill>
                  <a:srgbClr val="080809"/>
                </a:solidFill>
                <a:effectLst/>
                <a:latin typeface="Segoe UI Historic" panose="020B0502040204020203" pitchFamily="34" charset="0"/>
              </a:rPr>
              <a:t>General AI Assistants</a:t>
            </a:r>
            <a:r>
              <a:rPr lang="zh-TW" altLang="en-US" b="0" i="0" dirty="0">
                <a:solidFill>
                  <a:srgbClr val="080809"/>
                </a:solidFill>
                <a:effectLst/>
                <a:latin typeface="Segoe UI Historic" panose="020B0502040204020203" pitchFamily="34" charset="0"/>
              </a:rPr>
              <a:t>）</a:t>
            </a:r>
            <a:r>
              <a:rPr lang="en-US" altLang="zh-TW" b="0" i="0" dirty="0">
                <a:solidFill>
                  <a:srgbClr val="080809"/>
                </a:solidFill>
                <a:effectLst/>
                <a:latin typeface="Segoe UI Historic" panose="020B0502040204020203" pitchFamily="34" charset="0"/>
              </a:rPr>
              <a:t>???</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dirty="0"/>
              <a:t>Real time, interruption </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2651DEE-975D-4DE8-9229-C34DC29B3B5C}"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PMingLiU" panose="02020500000000000000" pitchFamily="18" charset="-120"/>
                <a:cs typeface="+mn-cs"/>
              </a:rPr>
            </a:fld>
            <a:endParaRPr kumimoji="0" lang="zh-TW" altLang="en-US" sz="1200" b="0" i="0" u="none" strike="noStrike" kern="1200" cap="none" spc="0" normalizeH="0" baseline="0" noProof="0">
              <a:ln>
                <a:noFill/>
              </a:ln>
              <a:solidFill>
                <a:prstClr val="black"/>
              </a:solidFill>
              <a:effectLst/>
              <a:uLnTx/>
              <a:uFillTx/>
              <a:latin typeface="Aptos" panose="02110004020202020204"/>
              <a:ea typeface="PMingLiU" panose="02020500000000000000" pitchFamily="18" charset="-120"/>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(with Berkeley, UW, MIT cooperators)</a:t>
            </a:r>
            <a:endParaRPr lang="en-US" altLang="zh-TW" dirty="0"/>
          </a:p>
          <a:p>
            <a:endParaRPr lang="en-US" altLang="zh-TW" dirty="0"/>
          </a:p>
          <a:p>
            <a:r>
              <a:rPr lang="en-US" altLang="zh-TW" dirty="0"/>
              <a:t>Graduate Institute of Communication Engineering, National Taiwan University 2UC Berkeley 3University of Washington 4MIT CSAI</a:t>
            </a:r>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TW"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defRPr/>
            </a:pPr>
            <a:r>
              <a:rPr lang="zh-TW" altLang="en-US" dirty="0"/>
              <a:t>https://arxiv.org/abs/2306.09896</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TW" altLang="en-US" dirty="0"/>
              <a:t>https://arxiv.org/abs/2306.09896</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TW" altLang="en-US" dirty="0"/>
              <a:t>https://arxiv.org/abs/2306.09896</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202122"/>
                </a:solidFill>
                <a:effectLst/>
                <a:latin typeface="Arial" panose="020B0604020202020204" pitchFamily="34" charset="0"/>
              </a:rPr>
              <a:t>2006</a:t>
            </a:r>
            <a:r>
              <a:rPr lang="zh-TW" altLang="en-US" b="0" i="0" dirty="0">
                <a:solidFill>
                  <a:srgbClr val="202122"/>
                </a:solidFill>
                <a:effectLst/>
                <a:latin typeface="Arial" panose="020B0604020202020204" pitchFamily="34" charset="0"/>
              </a:rPr>
              <a:t>年</a:t>
            </a:r>
            <a:r>
              <a:rPr lang="en-US" altLang="zh-TW" b="0" i="0" dirty="0">
                <a:solidFill>
                  <a:srgbClr val="202122"/>
                </a:solidFill>
                <a:effectLst/>
                <a:latin typeface="Arial" panose="020B0604020202020204" pitchFamily="34" charset="0"/>
              </a:rPr>
              <a:t>Elizabeth Parker</a:t>
            </a:r>
            <a:r>
              <a:rPr lang="zh-TW" altLang="en-US" b="0" i="0" dirty="0">
                <a:solidFill>
                  <a:srgbClr val="202122"/>
                </a:solidFill>
                <a:effectLst/>
                <a:latin typeface="Arial" panose="020B0604020202020204" pitchFamily="34" charset="0"/>
              </a:rPr>
              <a:t>、</a:t>
            </a:r>
            <a:r>
              <a:rPr lang="en-US" altLang="zh-TW" b="0" i="0" dirty="0">
                <a:solidFill>
                  <a:srgbClr val="202122"/>
                </a:solidFill>
                <a:effectLst/>
                <a:latin typeface="Arial" panose="020B0604020202020204" pitchFamily="34" charset="0"/>
              </a:rPr>
              <a:t>Larry Cahill</a:t>
            </a:r>
            <a:r>
              <a:rPr lang="zh-TW" altLang="en-US" b="0" i="0" dirty="0">
                <a:solidFill>
                  <a:srgbClr val="202122"/>
                </a:solidFill>
                <a:effectLst/>
                <a:latin typeface="Arial" panose="020B0604020202020204" pitchFamily="34" charset="0"/>
              </a:rPr>
              <a:t>、</a:t>
            </a:r>
            <a:r>
              <a:rPr lang="en-US" altLang="zh-TW" b="0" i="0" dirty="0">
                <a:solidFill>
                  <a:srgbClr val="202122"/>
                </a:solidFill>
                <a:effectLst/>
                <a:latin typeface="Arial" panose="020B0604020202020204" pitchFamily="34" charset="0"/>
              </a:rPr>
              <a:t>Paul Tejera</a:t>
            </a:r>
            <a:r>
              <a:rPr lang="zh-TW" altLang="en-US" b="0" i="0" dirty="0">
                <a:solidFill>
                  <a:srgbClr val="202122"/>
                </a:solidFill>
                <a:effectLst/>
                <a:latin typeface="Arial" panose="020B0604020202020204" pitchFamily="34" charset="0"/>
              </a:rPr>
              <a:t>博士和</a:t>
            </a:r>
            <a:r>
              <a:rPr lang="en-US" altLang="zh-TW" b="0" i="0" dirty="0">
                <a:solidFill>
                  <a:srgbClr val="202122"/>
                </a:solidFill>
                <a:effectLst/>
                <a:latin typeface="Arial" panose="020B0604020202020204" pitchFamily="34" charset="0"/>
              </a:rPr>
              <a:t>James McGaugh</a:t>
            </a:r>
            <a:r>
              <a:rPr lang="zh-TW" altLang="en-US" b="0" i="0" dirty="0">
                <a:solidFill>
                  <a:srgbClr val="202122"/>
                </a:solidFill>
                <a:effectLst/>
                <a:latin typeface="Arial" panose="020B0604020202020204" pitchFamily="34" charset="0"/>
              </a:rPr>
              <a:t>在</a:t>
            </a:r>
            <a:r>
              <a:rPr lang="en-US" altLang="zh-TW" b="0" i="0" u="none" strike="noStrike" dirty="0" err="1">
                <a:solidFill>
                  <a:srgbClr val="202122"/>
                </a:solidFill>
                <a:effectLst/>
                <a:latin typeface="Arial" panose="020B0604020202020204" pitchFamily="34" charset="0"/>
                <a:hlinkClick r:id="rId3" tooltip="Neurocase（頁面不存在）"/>
              </a:rPr>
              <a:t>Neurocase</a:t>
            </a:r>
            <a:r>
              <a:rPr lang="zh-TW" altLang="en-US" b="0" i="0" dirty="0">
                <a:solidFill>
                  <a:srgbClr val="202122"/>
                </a:solidFill>
                <a:effectLst/>
                <a:latin typeface="Arial" panose="020B0604020202020204" pitchFamily="34" charset="0"/>
              </a:rPr>
              <a:t>雜誌首次描述了超憶症的「症狀</a:t>
            </a:r>
            <a:endParaRPr lang="en-US" altLang="zh-TW" b="0" i="0" dirty="0">
              <a:solidFill>
                <a:srgbClr val="202122"/>
              </a:solidFill>
              <a:effectLst/>
              <a:latin typeface="Arial" panose="020B0604020202020204" pitchFamily="34" charset="0"/>
            </a:endParaRPr>
          </a:p>
          <a:p>
            <a:r>
              <a:rPr lang="zh-TW" altLang="en-US" b="0" i="0" dirty="0">
                <a:solidFill>
                  <a:srgbClr val="202122"/>
                </a:solidFill>
                <a:effectLst/>
                <a:latin typeface="Arial" panose="020B0604020202020204" pitchFamily="34" charset="0"/>
              </a:rPr>
              <a:t>由</a:t>
            </a:r>
            <a:r>
              <a:rPr lang="zh-TW" altLang="en-US" b="0" i="0" u="none" strike="noStrike" dirty="0">
                <a:effectLst/>
                <a:latin typeface="Arial" panose="020B0604020202020204" pitchFamily="34" charset="0"/>
                <a:hlinkClick r:id="rId4" tooltip="美國"/>
              </a:rPr>
              <a:t>美國</a:t>
            </a:r>
            <a:r>
              <a:rPr lang="zh-TW" altLang="en-US" b="0" i="0" u="none" strike="noStrike" dirty="0">
                <a:effectLst/>
                <a:latin typeface="Arial" panose="020B0604020202020204" pitchFamily="34" charset="0"/>
                <a:hlinkClick r:id="rId5" tooltip="加州大學"/>
              </a:rPr>
              <a:t>加州大學</a:t>
            </a:r>
            <a:r>
              <a:rPr lang="zh-TW" altLang="en-US" b="0" i="0" dirty="0">
                <a:solidFill>
                  <a:srgbClr val="202122"/>
                </a:solidFill>
                <a:effectLst/>
                <a:latin typeface="Arial" panose="020B0604020202020204" pitchFamily="34" charset="0"/>
              </a:rPr>
              <a:t>科學家完成的一項研究指出：全世界患有「超憶症」的只有</a:t>
            </a:r>
            <a:r>
              <a:rPr lang="en-US" altLang="zh-TW" b="0" i="0" dirty="0">
                <a:solidFill>
                  <a:srgbClr val="202122"/>
                </a:solidFill>
                <a:effectLst/>
                <a:latin typeface="Arial" panose="020B0604020202020204" pitchFamily="34" charset="0"/>
              </a:rPr>
              <a:t>80</a:t>
            </a:r>
            <a:r>
              <a:rPr lang="zh-TW" altLang="en-US" b="0" i="0" dirty="0">
                <a:solidFill>
                  <a:srgbClr val="202122"/>
                </a:solidFill>
                <a:effectLst/>
                <a:latin typeface="Arial" panose="020B0604020202020204" pitchFamily="34" charset="0"/>
              </a:rPr>
              <a:t>人左右。</a:t>
            </a:r>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加入元數據（</a:t>
            </a:r>
            <a:r>
              <a:rPr lang="en-US" altLang="zh-TW" dirty="0"/>
              <a:t>metadata</a:t>
            </a:r>
            <a:r>
              <a:rPr lang="zh-TW" altLang="en-US" dirty="0"/>
              <a:t>）</a:t>
            </a:r>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a:t>what to memory (“do I need to memory this”), memorize after reasoning</a:t>
            </a:r>
            <a:endParaRPr lang="en-US" altLang="zh-TW" sz="1200"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dirty="0"/>
              <a:t>what to memory (“do I need to memory this”), memorize after reasoning</a:t>
            </a:r>
            <a:endParaRPr lang="en-US" altLang="zh-TW" sz="1200"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Tool usage overview: https://arxiv.org/pdf/2405.17935</a:t>
            </a:r>
            <a:endParaRPr lang="en-US" altLang="zh-TW" dirty="0"/>
          </a:p>
          <a:p>
            <a:endParaRPr lang="en-US" altLang="zh-TW" dirty="0"/>
          </a:p>
          <a:p>
            <a:r>
              <a:rPr lang="en-US" altLang="zh-TW" dirty="0"/>
              <a:t>===</a:t>
            </a:r>
            <a:endParaRPr lang="en-US" altLang="zh-TW" dirty="0"/>
          </a:p>
          <a:p>
            <a:r>
              <a:rPr lang="zh-TW" altLang="en-US" dirty="0"/>
              <a:t>有關 </a:t>
            </a:r>
            <a:r>
              <a:rPr lang="en-US" altLang="zh-TW" dirty="0"/>
              <a:t>RAG</a:t>
            </a:r>
            <a:r>
              <a:rPr lang="zh-TW" altLang="en-US" dirty="0"/>
              <a:t> 的種種</a:t>
            </a:r>
            <a:r>
              <a:rPr lang="en-US" altLang="zh-TW" dirty="0"/>
              <a:t>:</a:t>
            </a:r>
            <a:endParaRPr lang="en-US" altLang="zh-TW" dirty="0"/>
          </a:p>
          <a:p>
            <a:r>
              <a:rPr lang="en-US" altLang="zh-TW" dirty="0"/>
              <a:t>Kevin Wu, Eric Wu, and James Zou. How faithful are rag models? quantifying the tug-of-war between rag and </a:t>
            </a:r>
            <a:r>
              <a:rPr lang="en-US" altLang="zh-TW" dirty="0" err="1"/>
              <a:t>llms’</a:t>
            </a:r>
            <a:r>
              <a:rPr lang="en-US" altLang="zh-TW" dirty="0"/>
              <a:t> internal prior, 2024. </a:t>
            </a:r>
            <a:endParaRPr lang="en-US" altLang="zh-TW" dirty="0"/>
          </a:p>
          <a:p>
            <a:r>
              <a:rPr lang="en-US" altLang="zh-TW" dirty="0"/>
              <a:t>[85] </a:t>
            </a:r>
            <a:r>
              <a:rPr lang="en-US" altLang="zh-TW" dirty="0" err="1"/>
              <a:t>Hanxing</a:t>
            </a:r>
            <a:r>
              <a:rPr lang="en-US" altLang="zh-TW" dirty="0"/>
              <a:t> Ding, Liang Pang, Zihao Wei, Huawei Shen, and </a:t>
            </a:r>
            <a:r>
              <a:rPr lang="en-US" altLang="zh-TW" dirty="0" err="1"/>
              <a:t>Xueqi</a:t>
            </a:r>
            <a:r>
              <a:rPr lang="en-US" altLang="zh-TW" dirty="0"/>
              <a:t> Cheng. Retrieve only when it needs: Adaptive retrieval augmentation for hallucination mitigation in large language models. </a:t>
            </a:r>
            <a:r>
              <a:rPr lang="en-US" altLang="zh-TW" dirty="0" err="1"/>
              <a:t>arXiv</a:t>
            </a:r>
            <a:r>
              <a:rPr lang="en-US" altLang="zh-TW" dirty="0"/>
              <a:t> preprint arXiv:2402.10612, 2024. </a:t>
            </a:r>
            <a:endParaRPr lang="en-US" altLang="zh-TW" dirty="0"/>
          </a:p>
          <a:p>
            <a:r>
              <a:rPr lang="en-US" altLang="zh-TW" dirty="0"/>
              <a:t>[86] </a:t>
            </a:r>
            <a:r>
              <a:rPr lang="en-US" altLang="zh-TW" dirty="0" err="1"/>
              <a:t>Hexiang</a:t>
            </a:r>
            <a:r>
              <a:rPr lang="en-US" altLang="zh-TW" dirty="0"/>
              <a:t> Tan, Fei Sun, Wanli Yang, </a:t>
            </a:r>
            <a:r>
              <a:rPr lang="en-US" altLang="zh-TW" dirty="0" err="1"/>
              <a:t>Yuanzhuo</a:t>
            </a:r>
            <a:r>
              <a:rPr lang="en-US" altLang="zh-TW" dirty="0"/>
              <a:t> Wang, Qi Cao, and </a:t>
            </a:r>
            <a:r>
              <a:rPr lang="en-US" altLang="zh-TW" dirty="0" err="1"/>
              <a:t>Xueqi</a:t>
            </a:r>
            <a:r>
              <a:rPr lang="en-US" altLang="zh-TW" dirty="0"/>
              <a:t> Cheng. Blinded by generated contexts: How language models merge generated and retrieved contexts for open-domain </a:t>
            </a:r>
            <a:r>
              <a:rPr lang="en-US" altLang="zh-TW" dirty="0" err="1"/>
              <a:t>qa</a:t>
            </a:r>
            <a:r>
              <a:rPr lang="en-US" altLang="zh-TW" dirty="0"/>
              <a:t>? </a:t>
            </a:r>
            <a:r>
              <a:rPr lang="en-US" altLang="zh-TW" dirty="0" err="1"/>
              <a:t>arXiv</a:t>
            </a:r>
            <a:r>
              <a:rPr lang="en-US" altLang="zh-TW" dirty="0"/>
              <a:t> preprint arXiv:2401.11911, 2024.</a:t>
            </a:r>
            <a:endParaRPr lang="en-US" altLang="zh-TW" dirty="0"/>
          </a:p>
          <a:p>
            <a:r>
              <a:rPr lang="en-US" altLang="zh-TW" dirty="0"/>
              <a:t>Astute RAG: Overcoming Imperfect Retrieval Augmentation and Knowledge Conflicts for Large Language Models</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Different capabilities, stronger but </a:t>
            </a:r>
            <a:r>
              <a:rPr lang="en-US" altLang="zh-TW" dirty="0" err="1"/>
              <a:t>costl</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defRPr/>
            </a:pPr>
            <a:r>
              <a:rPr lang="zh-TW" altLang="en-US" dirty="0"/>
              <a:t>沒有工具 </a:t>
            </a:r>
            <a:r>
              <a:rPr lang="en-US" altLang="zh-TW" dirty="0"/>
              <a:t>o3 </a:t>
            </a:r>
            <a:r>
              <a:rPr lang="zh-TW" altLang="en-US" dirty="0"/>
              <a:t>加法也會算錯</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工具的特色</a:t>
            </a:r>
            <a:endParaRPr lang="en-US" altLang="zh-TW" dirty="0"/>
          </a:p>
          <a:p>
            <a:r>
              <a:rPr lang="zh-TW" altLang="en-US" dirty="0"/>
              <a:t>講一下 </a:t>
            </a:r>
            <a:r>
              <a:rPr lang="en-US" altLang="zh-TW" dirty="0"/>
              <a:t>function call </a:t>
            </a:r>
            <a:r>
              <a:rPr lang="zh-TW" altLang="en-US" dirty="0"/>
              <a:t>這件事</a:t>
            </a:r>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工具的特色</a:t>
            </a:r>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TW" altLang="en-US" dirty="0"/>
              <a:t>假設我們需要能聽語音的 </a:t>
            </a:r>
            <a:r>
              <a:rPr lang="en-US" altLang="zh-TW" dirty="0"/>
              <a:t>AI</a:t>
            </a:r>
            <a:r>
              <a:rPr lang="zh-TW" altLang="en-US" dirty="0"/>
              <a:t> </a:t>
            </a:r>
            <a:r>
              <a:rPr lang="en-US" altLang="zh-TW" dirty="0"/>
              <a:t>Agent </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74747"/>
                </a:solidFill>
                <a:effectLst/>
                <a:latin typeface="Arial" panose="020B0604020202020204" pitchFamily="34" charset="0"/>
              </a:rPr>
              <a:t>美國</a:t>
            </a:r>
            <a:r>
              <a:rPr lang="zh-TW" altLang="en-US" b="0" i="0" dirty="0">
                <a:solidFill>
                  <a:srgbClr val="D93025"/>
                </a:solidFill>
                <a:effectLst/>
                <a:latin typeface="Arial" panose="020B0604020202020204" pitchFamily="34" charset="0"/>
              </a:rPr>
              <a:t>紐約</a:t>
            </a:r>
            <a:r>
              <a:rPr lang="zh-TW" altLang="en-US" b="0" i="0" dirty="0">
                <a:solidFill>
                  <a:srgbClr val="474747"/>
                </a:solidFill>
                <a:effectLst/>
                <a:latin typeface="Arial" panose="020B0604020202020204" pitchFamily="34" charset="0"/>
              </a:rPr>
              <a:t>一名</a:t>
            </a:r>
            <a:r>
              <a:rPr lang="zh-TW" altLang="en-US" b="0" i="0" dirty="0">
                <a:solidFill>
                  <a:srgbClr val="D93025"/>
                </a:solidFill>
                <a:effectLst/>
                <a:latin typeface="Arial" panose="020B0604020202020204" pitchFamily="34" charset="0"/>
              </a:rPr>
              <a:t>律師</a:t>
            </a:r>
            <a:r>
              <a:rPr lang="zh-TW" altLang="en-US" b="0" i="0" dirty="0">
                <a:solidFill>
                  <a:srgbClr val="474747"/>
                </a:solidFill>
                <a:effectLst/>
                <a:latin typeface="Arial" panose="020B0604020202020204" pitchFamily="34" charset="0"/>
              </a:rPr>
              <a:t>利用人工智能聊天機械人</a:t>
            </a:r>
            <a:r>
              <a:rPr lang="en-US" altLang="zh-TW" b="0" i="0" dirty="0">
                <a:solidFill>
                  <a:srgbClr val="474747"/>
                </a:solidFill>
                <a:effectLst/>
                <a:latin typeface="Arial" panose="020B0604020202020204" pitchFamily="34" charset="0"/>
              </a:rPr>
              <a:t>ChatGPT</a:t>
            </a:r>
            <a:r>
              <a:rPr lang="zh-TW" altLang="en-US" b="0" i="0" dirty="0">
                <a:solidFill>
                  <a:srgbClr val="474747"/>
                </a:solidFill>
                <a:effectLst/>
                <a:latin typeface="Arial" panose="020B0604020202020204" pitchFamily="34" charset="0"/>
              </a:rPr>
              <a:t>，為同事處理的訴訟搜集資料，被對家</a:t>
            </a:r>
            <a:r>
              <a:rPr lang="zh-TW" altLang="en-US" b="0" i="0" dirty="0">
                <a:solidFill>
                  <a:srgbClr val="D93025"/>
                </a:solidFill>
                <a:effectLst/>
                <a:latin typeface="Arial" panose="020B0604020202020204" pitchFamily="34" charset="0"/>
              </a:rPr>
              <a:t>律師</a:t>
            </a:r>
            <a:r>
              <a:rPr lang="zh-TW" altLang="en-US" b="0" i="0" dirty="0">
                <a:solidFill>
                  <a:srgbClr val="474747"/>
                </a:solidFill>
                <a:effectLst/>
                <a:latin typeface="Arial" panose="020B0604020202020204" pitchFamily="34" charset="0"/>
              </a:rPr>
              <a:t>揭發最少</a:t>
            </a:r>
            <a:r>
              <a:rPr lang="en-US" altLang="zh-TW" b="0" i="0" dirty="0">
                <a:solidFill>
                  <a:srgbClr val="474747"/>
                </a:solidFill>
                <a:effectLst/>
                <a:latin typeface="Arial" panose="020B0604020202020204" pitchFamily="34" charset="0"/>
              </a:rPr>
              <a:t>6</a:t>
            </a:r>
            <a:r>
              <a:rPr lang="zh-TW" altLang="en-US" b="0" i="0" dirty="0">
                <a:solidFill>
                  <a:srgbClr val="474747"/>
                </a:solidFill>
                <a:effectLst/>
                <a:latin typeface="Arial" panose="020B0604020202020204" pitchFamily="34" charset="0"/>
              </a:rPr>
              <a:t>宗「案例」屬子虛烏有，兩名涉事</a:t>
            </a:r>
            <a:r>
              <a:rPr lang="zh-TW" altLang="en-US" b="0" i="0" dirty="0">
                <a:solidFill>
                  <a:srgbClr val="D93025"/>
                </a:solidFill>
                <a:effectLst/>
                <a:latin typeface="Arial" panose="020B0604020202020204" pitchFamily="34" charset="0"/>
              </a:rPr>
              <a:t>律師</a:t>
            </a:r>
            <a:r>
              <a:rPr lang="zh-TW" altLang="en-US" b="0" i="0" dirty="0">
                <a:solidFill>
                  <a:srgbClr val="474747"/>
                </a:solidFill>
                <a:effectLst/>
                <a:latin typeface="Arial" panose="020B0604020202020204" pitchFamily="34" charset="0"/>
              </a:rPr>
              <a:t>接受</a:t>
            </a:r>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sz="1200" b="1" dirty="0"/>
              <a:t>Retrieval Augmented Generation (RAG)</a:t>
            </a:r>
            <a:endParaRPr lang="en-US" altLang="zh-TW" sz="1200" b="1" dirty="0"/>
          </a:p>
          <a:p>
            <a:r>
              <a:rPr lang="zh-TW" altLang="en-US" sz="1200" dirty="0">
                <a:latin typeface="Microsoft JhengHei" panose="020B0604030504040204" pitchFamily="34" charset="-120"/>
                <a:ea typeface="Microsoft JhengHei" panose="020B0604030504040204" pitchFamily="34" charset="-120"/>
              </a:rPr>
              <a:t>搜尋到的</a:t>
            </a:r>
            <a:endParaRPr lang="en-US" altLang="zh-TW" sz="1200" dirty="0">
              <a:latin typeface="Microsoft JhengHei" panose="020B0604030504040204" pitchFamily="34" charset="-120"/>
              <a:ea typeface="Microsoft JhengHei" panose="020B0604030504040204" pitchFamily="34" charset="-120"/>
            </a:endParaRPr>
          </a:p>
          <a:p>
            <a:r>
              <a:rPr lang="zh-TW" altLang="en-US" sz="1200" dirty="0">
                <a:latin typeface="Microsoft JhengHei" panose="020B0604030504040204" pitchFamily="34" charset="-120"/>
                <a:ea typeface="Microsoft JhengHei" panose="020B0604030504040204" pitchFamily="34" charset="-120"/>
              </a:rPr>
              <a:t>資料有錯 </a:t>
            </a:r>
            <a:r>
              <a:rPr lang="en-US" altLang="zh-TW" sz="1200" dirty="0">
                <a:latin typeface="Microsoft JhengHei" panose="020B0604030504040204" pitchFamily="34" charset="-120"/>
                <a:ea typeface="Microsoft JhengHei" panose="020B0604030504040204" pitchFamily="34" charset="-120"/>
              </a:rPr>
              <a:t>…</a:t>
            </a:r>
            <a:endParaRPr lang="zh-TW" altLang="en-US" sz="1200" dirty="0">
              <a:latin typeface="Microsoft JhengHei" panose="020B0604030504040204" pitchFamily="34" charset="-120"/>
              <a:ea typeface="Microsoft JhengHei"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defRPr/>
            </a:pPr>
            <a:endParaRPr lang="zh-TW" altLang="en-US" sz="1200" b="1"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 Tan et al. (2024) examine how large LMs integrate context with generated memory. They observe that LLMs tend to prioritize parametric knowledge thanks to the greater similarity between generated contents and input, as well as the often incomplete nature of retrieved information.</a:t>
            </a:r>
            <a:endParaRPr lang="en-US" altLang="zh-TW" dirty="0"/>
          </a:p>
          <a:p>
            <a:r>
              <a:rPr lang="en-US" altLang="zh-TW" dirty="0"/>
              <a:t>Handling conflicts between retrieved knowledge and the model’s internal prior knowledge is also essential [84, 85, 86].</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 Tan et al. (2024) examine how large LMs integrate context with generated memory. They observe that LLMs tend to prioritize parametric knowledge thanks to the greater similarity between generated contents and input, as well as the often incomplete nature of retrieved information.</a:t>
            </a:r>
            <a:endParaRPr lang="en-US" altLang="zh-TW" dirty="0"/>
          </a:p>
          <a:p>
            <a:r>
              <a:rPr lang="en-US" altLang="zh-TW" dirty="0"/>
              <a:t>Handling conflicts between retrieved knowledge and the model’s internal prior knowledge is also essential [84, 85, 86].</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奧氮平（</a:t>
            </a:r>
            <a:r>
              <a:rPr lang="en-US" altLang="zh-TW" dirty="0"/>
              <a:t>olanzapine</a:t>
            </a:r>
            <a:r>
              <a:rPr lang="zh-TW" altLang="en-US" dirty="0"/>
              <a:t>）用於治療成人與精神疾病相關的躁動</a:t>
            </a:r>
            <a:r>
              <a:rPr lang="en-US" altLang="zh-TW" dirty="0"/>
              <a:t>/</a:t>
            </a:r>
            <a:r>
              <a:rPr lang="zh-TW" altLang="en-US" dirty="0"/>
              <a:t>攻擊行為時的最大每日劑量是多少？</a:t>
            </a:r>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 LLMs exhibit an increased bias to generated contexts on slices with a larger average similarity gap,</a:t>
            </a:r>
            <a:endParaRPr lang="en-US" altLang="zh-TW" dirty="0"/>
          </a:p>
          <a:p>
            <a:r>
              <a:rPr lang="en-US" altLang="zh-TW" dirty="0"/>
              <a:t>LLMs tend to favor contexts with enhanced semantic completeness,</a:t>
            </a:r>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Referecen</a:t>
            </a:r>
            <a:r>
              <a:rPr lang="en-US" altLang="zh-TW" dirty="0"/>
              <a:t> about planning:</a:t>
            </a:r>
            <a:endParaRPr lang="en-US" altLang="zh-TW" dirty="0"/>
          </a:p>
          <a:p>
            <a:r>
              <a:rPr lang="en-US" altLang="zh-TW" dirty="0">
                <a:hlinkClick r:id="rId3"/>
              </a:rPr>
              <a:t>ACL 2024: https://www.youtube.com/watch?v=0E9BbA0gO1A</a:t>
            </a:r>
            <a:endParaRPr lang="en-US" altLang="zh-TW" dirty="0"/>
          </a:p>
          <a:p>
            <a:r>
              <a:rPr lang="en-US" altLang="zh-TW" dirty="0"/>
              <a:t>ICML</a:t>
            </a:r>
            <a:r>
              <a:rPr lang="zh-TW" altLang="en-US" dirty="0"/>
              <a:t> </a:t>
            </a:r>
            <a:r>
              <a:rPr lang="en-US" altLang="zh-TW" dirty="0"/>
              <a:t>2024 tutorial: https://icml.cc/media/icml-2024/Slides/35226_pmm25zL.pdf</a:t>
            </a:r>
            <a:endParaRPr lang="en-US" altLang="zh-TW" dirty="0"/>
          </a:p>
          <a:p>
            <a:endParaRPr lang="en-US" altLang="zh-TW" dirty="0"/>
          </a:p>
          <a:p>
            <a:endParaRPr lang="en-US" altLang="zh-TW" dirty="0"/>
          </a:p>
          <a:p>
            <a:r>
              <a:rPr lang="en-US" altLang="zh-TW" b="1" i="0" dirty="0">
                <a:solidFill>
                  <a:srgbClr val="0F0F0F"/>
                </a:solidFill>
                <a:effectLst/>
                <a:latin typeface="Roboto" panose="02000000000000000000" pitchFamily="2" charset="0"/>
              </a:rPr>
              <a:t>Language Models meet World Models (and Agent Models)</a:t>
            </a:r>
            <a:endParaRPr lang="en-US" altLang="zh-TW" b="1" i="0" dirty="0">
              <a:solidFill>
                <a:srgbClr val="0F0F0F"/>
              </a:solidFill>
              <a:effectLst/>
              <a:latin typeface="Roboto" panose="02000000000000000000" pitchFamily="2" charset="0"/>
            </a:endParaRPr>
          </a:p>
          <a:p>
            <a:r>
              <a:rPr lang="en-US" altLang="zh-TW" dirty="0"/>
              <a:t>https://youtu.be/-xKe3D1wlzY?si=hK2q6cGhzH9llp1M</a:t>
            </a:r>
            <a:endParaRPr lang="zh-TW" altLang="en-US"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攻擊物件 </a:t>
            </a:r>
            <a:r>
              <a:rPr lang="en-US" altLang="zh-TW" dirty="0"/>
              <a:t>(Attack object)</a:t>
            </a:r>
            <a:r>
              <a:rPr lang="zh-TW" altLang="en-US" dirty="0"/>
              <a:t>從另一個物件上吞噬物件 </a:t>
            </a:r>
            <a:r>
              <a:rPr lang="en-US" altLang="zh-TW" dirty="0"/>
              <a:t>(Feast object from another object)</a:t>
            </a:r>
            <a:r>
              <a:rPr lang="zh-TW" altLang="en-US" dirty="0"/>
              <a:t>屈服物件 </a:t>
            </a:r>
            <a:r>
              <a:rPr lang="en-US" altLang="zh-TW" dirty="0"/>
              <a:t>(Succumb object)</a:t>
            </a:r>
            <a:r>
              <a:rPr lang="zh-TW" altLang="en-US" dirty="0"/>
              <a:t>從另一個物件上征服物件 </a:t>
            </a:r>
            <a:r>
              <a:rPr lang="en-US" altLang="zh-TW" dirty="0"/>
              <a:t>(Overcome object from another object)</a:t>
            </a:r>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dirty="0"/>
              <a:t>. Finally, after our initial study and benchmark were made public, other groups did parallel studies that largely corroborate our results on the ineffectiveness of LLMs in finding executable plans [32, 21].</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TW" altLang="en-US" b="1" i="0" dirty="0">
                <a:solidFill>
                  <a:srgbClr val="000000"/>
                </a:solidFill>
                <a:effectLst/>
                <a:latin typeface="Lucida Grande"/>
              </a:rPr>
              <a:t>應該看看 </a:t>
            </a:r>
            <a:r>
              <a:rPr lang="en-US" altLang="zh-TW" b="1" i="0" dirty="0">
                <a:solidFill>
                  <a:srgbClr val="000000"/>
                </a:solidFill>
                <a:effectLst/>
                <a:latin typeface="Lucida Grande"/>
              </a:rPr>
              <a:t>On The Planning Abilities of OpenAI's o1 Models: Feasibility, Optimality, and Generalizability</a:t>
            </a:r>
            <a:endParaRPr lang="en-US" altLang="zh-TW" b="1" i="0" dirty="0">
              <a:solidFill>
                <a:srgbClr val="000000"/>
              </a:solidFill>
              <a:effectLst/>
              <a:latin typeface="Lucida Grande"/>
            </a:endParaRPr>
          </a:p>
          <a:p>
            <a:r>
              <a:rPr lang="en-US" altLang="zh-TW" dirty="0"/>
              <a:t>https://arxiv.org/pdf/2409.19924</a:t>
            </a:r>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這張圖片顯示了一個</a:t>
            </a:r>
            <a:r>
              <a:rPr lang="zh-TW" altLang="en-US" b="1" dirty="0"/>
              <a:t>從密蘇拉 </a:t>
            </a:r>
            <a:r>
              <a:rPr lang="en-US" altLang="zh-TW" b="1" dirty="0"/>
              <a:t>(Missoula) </a:t>
            </a:r>
            <a:r>
              <a:rPr lang="zh-TW" altLang="en-US" b="1" dirty="0"/>
              <a:t>到達拉斯 </a:t>
            </a:r>
            <a:r>
              <a:rPr lang="en-US" altLang="zh-TW" b="1" dirty="0"/>
              <a:t>(Dallas) </a:t>
            </a:r>
            <a:r>
              <a:rPr lang="zh-TW" altLang="en-US" b="1" dirty="0"/>
              <a:t>的 </a:t>
            </a:r>
            <a:r>
              <a:rPr lang="en-US" altLang="zh-TW" b="1" dirty="0"/>
              <a:t>3 </a:t>
            </a:r>
            <a:r>
              <a:rPr lang="zh-TW" altLang="en-US" b="1" dirty="0"/>
              <a:t>天旅行計劃</a:t>
            </a:r>
            <a:r>
              <a:rPr lang="zh-TW" altLang="en-US" dirty="0"/>
              <a:t>（</a:t>
            </a:r>
            <a:r>
              <a:rPr lang="en-US" altLang="zh-TW" dirty="0"/>
              <a:t>2022 </a:t>
            </a:r>
            <a:r>
              <a:rPr lang="zh-TW" altLang="en-US" dirty="0"/>
              <a:t>年 </a:t>
            </a:r>
            <a:r>
              <a:rPr lang="en-US" altLang="zh-TW" dirty="0"/>
              <a:t>3 </a:t>
            </a:r>
            <a:r>
              <a:rPr lang="zh-TW" altLang="en-US" dirty="0"/>
              <a:t>月 </a:t>
            </a:r>
            <a:r>
              <a:rPr lang="en-US" altLang="zh-TW" dirty="0"/>
              <a:t>23 </a:t>
            </a:r>
            <a:r>
              <a:rPr lang="zh-TW" altLang="en-US" dirty="0"/>
              <a:t>日至 </a:t>
            </a:r>
            <a:r>
              <a:rPr lang="en-US" altLang="zh-TW" dirty="0"/>
              <a:t>3 </a:t>
            </a:r>
            <a:r>
              <a:rPr lang="zh-TW" altLang="en-US" dirty="0"/>
              <a:t>月 </a:t>
            </a:r>
            <a:r>
              <a:rPr lang="en-US" altLang="zh-TW" dirty="0"/>
              <a:t>25 </a:t>
            </a:r>
            <a:r>
              <a:rPr lang="zh-TW" altLang="en-US" dirty="0"/>
              <a:t>日），</a:t>
            </a:r>
            <a:r>
              <a:rPr lang="zh-TW" altLang="en-US" b="1" dirty="0"/>
              <a:t>預算為 </a:t>
            </a:r>
            <a:r>
              <a:rPr lang="en-US" altLang="zh-TW" b="1" dirty="0"/>
              <a:t>1,900 </a:t>
            </a:r>
            <a:r>
              <a:rPr lang="zh-TW" altLang="en-US" b="1" dirty="0"/>
              <a:t>美元</a:t>
            </a:r>
            <a:r>
              <a:rPr lang="zh-TW" altLang="en-US" dirty="0"/>
              <a:t>。</a:t>
            </a:r>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i="0" dirty="0">
                <a:solidFill>
                  <a:srgbClr val="000000"/>
                </a:solidFill>
                <a:effectLst/>
                <a:latin typeface="Lucida Grande"/>
              </a:rPr>
              <a:t>Agent Q: Advanced Reasoning and Learning for Autonomous AI Agents</a:t>
            </a:r>
            <a:endParaRPr lang="en-US" altLang="zh-TW" b="1" i="0" dirty="0">
              <a:solidFill>
                <a:srgbClr val="000000"/>
              </a:solidFill>
              <a:effectLst/>
              <a:latin typeface="Lucida Grande"/>
            </a:endParaRPr>
          </a:p>
          <a:p>
            <a:r>
              <a:rPr lang="en-US" altLang="zh-TW" dirty="0">
                <a:hlinkClick r:id="rId3"/>
              </a:rPr>
              <a:t>https://arxiv.org/abs/2408.07199</a:t>
            </a:r>
            <a:endParaRPr lang="en-US" altLang="zh-TW" dirty="0"/>
          </a:p>
          <a:p>
            <a:endParaRPr lang="en-US" altLang="zh-TW" b="1" i="0" dirty="0">
              <a:solidFill>
                <a:srgbClr val="000000"/>
              </a:solidFill>
              <a:effectLst/>
              <a:latin typeface="Lucida Grande"/>
            </a:endParaRPr>
          </a:p>
          <a:p>
            <a:r>
              <a:rPr lang="en-US" altLang="zh-TW" b="1" i="0" dirty="0" err="1">
                <a:solidFill>
                  <a:srgbClr val="000000"/>
                </a:solidFill>
                <a:effectLst/>
                <a:latin typeface="Lucida Grande"/>
              </a:rPr>
              <a:t>WebPilot</a:t>
            </a:r>
            <a:r>
              <a:rPr lang="en-US" altLang="zh-TW" b="1" i="0" dirty="0">
                <a:solidFill>
                  <a:srgbClr val="000000"/>
                </a:solidFill>
                <a:effectLst/>
                <a:latin typeface="Lucida Grande"/>
              </a:rPr>
              <a:t>: A Versatile and Autonomous Multi-Agent System for Web Task Execution with Strategic Exploration</a:t>
            </a:r>
            <a:endParaRPr lang="en-US" altLang="zh-TW" b="1" i="0" dirty="0">
              <a:solidFill>
                <a:srgbClr val="000000"/>
              </a:solidFill>
              <a:effectLst/>
              <a:latin typeface="Lucida Grande"/>
            </a:endParaRPr>
          </a:p>
          <a:p>
            <a:r>
              <a:rPr lang="en-US" altLang="zh-TW" dirty="0"/>
              <a:t>https://arxiv.org/abs/2408.15978</a:t>
            </a:r>
            <a:endParaRPr lang="zh-TW" altLang="en-US" dirty="0"/>
          </a:p>
          <a:p>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2"/>
            <a:r>
              <a:rPr lang="en-US" altLang="zh-TW" dirty="0"/>
              <a:t>Verify the next step: </a:t>
            </a:r>
            <a:endParaRPr lang="en-US" altLang="zh-TW" dirty="0"/>
          </a:p>
          <a:p>
            <a:pPr lvl="3"/>
            <a:r>
              <a:rPr lang="en-US" altLang="zh-TW" dirty="0"/>
              <a:t>Ref: </a:t>
            </a:r>
            <a:r>
              <a:rPr lang="en-US" altLang="zh-TW" b="1" i="0" dirty="0">
                <a:solidFill>
                  <a:srgbClr val="000000"/>
                </a:solidFill>
                <a:effectLst/>
                <a:latin typeface="Lucida Grande"/>
              </a:rPr>
              <a:t>Tree Search for Language Model Agents</a:t>
            </a:r>
            <a:endParaRPr lang="en-US" altLang="zh-TW" b="1" i="0" dirty="0">
              <a:solidFill>
                <a:srgbClr val="000000"/>
              </a:solidFill>
              <a:effectLst/>
              <a:latin typeface="Lucida Grande"/>
            </a:endParaRPr>
          </a:p>
          <a:p>
            <a:pPr lvl="3"/>
            <a:r>
              <a:rPr lang="en-US" altLang="zh-TW" dirty="0"/>
              <a:t>Ref: Language Agent tree search (https://arxiv.org/abs/2310.04406)</a:t>
            </a:r>
            <a:endParaRPr lang="en-US" altLang="zh-TW" dirty="0"/>
          </a:p>
          <a:p>
            <a:pPr lvl="3"/>
            <a:r>
              <a:rPr lang="en-US" altLang="zh-TW" dirty="0"/>
              <a:t>You have a reward model</a:t>
            </a:r>
            <a:endParaRPr lang="en-US" altLang="zh-TW" dirty="0"/>
          </a:p>
          <a:p>
            <a:pPr lvl="3"/>
            <a:r>
              <a:rPr lang="en-US" altLang="zh-TW" dirty="0"/>
              <a:t>It is a partial reward model. How to get this kind of model?</a:t>
            </a:r>
            <a:endParaRPr lang="en-US" altLang="zh-TW" dirty="0"/>
          </a:p>
          <a:p>
            <a:pPr lvl="2"/>
            <a:r>
              <a:rPr lang="en-US" altLang="zh-TW" dirty="0"/>
              <a:t>World model</a:t>
            </a:r>
            <a:endParaRPr lang="en-US" altLang="zh-TW" dirty="0"/>
          </a:p>
          <a:p>
            <a:pPr lvl="3"/>
            <a:r>
              <a:rPr lang="en-US" altLang="zh-TW" dirty="0"/>
              <a:t>Interact with real world? </a:t>
            </a:r>
            <a:endParaRPr lang="en-US" altLang="zh-TW" dirty="0"/>
          </a:p>
          <a:p>
            <a:pPr lvl="3"/>
            <a:r>
              <a:rPr lang="en-US" altLang="zh-TW" dirty="0"/>
              <a:t>Irreversible action?</a:t>
            </a:r>
            <a:endParaRPr lang="en-US" altLang="zh-TW" dirty="0"/>
          </a:p>
          <a:p>
            <a:pPr lvl="4"/>
            <a:r>
              <a:rPr lang="en-US" altLang="zh-TW" dirty="0"/>
              <a:t>You need a world model</a:t>
            </a:r>
            <a:endParaRPr lang="en-US" altLang="zh-TW" dirty="0"/>
          </a:p>
          <a:p>
            <a:pPr lvl="4"/>
            <a:r>
              <a:rPr lang="en-US" altLang="zh-TW" dirty="0"/>
              <a:t>Ref: https://arxiv.org/abs/2411.06559</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i="0" dirty="0">
                <a:solidFill>
                  <a:srgbClr val="000000"/>
                </a:solidFill>
                <a:effectLst/>
                <a:latin typeface="Lucida Grande"/>
              </a:rPr>
              <a:t>Is Your LLM Secretly a World Model of the Internet? Model-Based Planning for Web Agents</a:t>
            </a:r>
            <a:endParaRPr lang="en-US" altLang="zh-TW" b="1" i="0" dirty="0">
              <a:solidFill>
                <a:srgbClr val="000000"/>
              </a:solidFill>
              <a:effectLst/>
              <a:latin typeface="Lucida Grande"/>
            </a:endParaRPr>
          </a:p>
          <a:p>
            <a:r>
              <a:rPr lang="en-US" altLang="zh-TW" dirty="0">
                <a:hlinkClick r:id="rId3"/>
              </a:rPr>
              <a:t>https://arxiv.org/abs/2411.06559</a:t>
            </a:r>
            <a:endParaRPr lang="en-US" altLang="zh-TW" dirty="0"/>
          </a:p>
          <a:p>
            <a:r>
              <a:rPr lang="en-US" altLang="zh-TW" b="1" i="0" dirty="0">
                <a:solidFill>
                  <a:srgbClr val="000000"/>
                </a:solidFill>
                <a:effectLst/>
                <a:latin typeface="Lucida Grande"/>
              </a:rPr>
              <a:t>Autonomous Evaluation and Refinement of Digital Agents</a:t>
            </a:r>
            <a:endParaRPr lang="en-US" altLang="zh-TW" b="1" i="0" dirty="0">
              <a:solidFill>
                <a:srgbClr val="000000"/>
              </a:solidFill>
              <a:effectLst/>
              <a:latin typeface="Lucida Grande"/>
            </a:endParaRPr>
          </a:p>
          <a:p>
            <a:r>
              <a:rPr lang="en-US" altLang="zh-TW" dirty="0"/>
              <a:t>https://arxiv.org/abs/2404.06474</a:t>
            </a:r>
            <a:endParaRPr lang="en-US" altLang="zh-TW" dirty="0"/>
          </a:p>
          <a:p>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b="1" i="0" dirty="0">
                <a:solidFill>
                  <a:srgbClr val="000000"/>
                </a:solidFill>
                <a:effectLst/>
                <a:latin typeface="Lucida Grande"/>
              </a:rPr>
              <a:t>The Danger of Overthinking: Examining the Reasoning-Action Dilemma in Agentic Tasks</a:t>
            </a:r>
            <a:endParaRPr lang="en-US" altLang="zh-TW" b="1" i="0" dirty="0">
              <a:solidFill>
                <a:srgbClr val="000000"/>
              </a:solidFill>
              <a:effectLst/>
              <a:latin typeface="Lucida Grande"/>
            </a:endParaRPr>
          </a:p>
          <a:p>
            <a:pPr marL="0" marR="0" lvl="0" indent="0" algn="l" defTabSz="914400" rtl="0" eaLnBrk="1" fontAlgn="auto" latinLnBrk="0" hangingPunct="1">
              <a:lnSpc>
                <a:spcPct val="100000"/>
              </a:lnSpc>
              <a:spcBef>
                <a:spcPts val="0"/>
              </a:spcBef>
              <a:spcAft>
                <a:spcPts val="0"/>
              </a:spcAft>
              <a:buClrTx/>
              <a:buSzTx/>
              <a:buFontTx/>
              <a:buNone/>
              <a:defRPr/>
            </a:pPr>
            <a:r>
              <a:rPr lang="zh-TW" altLang="en-US" dirty="0"/>
              <a:t>https://arxiv.org/abs/2502.08235</a:t>
            </a:r>
            <a:endParaRPr lang="zh-TW"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TW" b="1" i="0" dirty="0">
              <a:solidFill>
                <a:srgbClr val="000000"/>
              </a:solidFill>
              <a:effectLst/>
              <a:latin typeface="Lucida Grande"/>
            </a:endParaRPr>
          </a:p>
          <a:p>
            <a:endParaRPr lang="zh-TW" altLang="en-US" dirty="0"/>
          </a:p>
        </p:txBody>
      </p:sp>
      <p:sp>
        <p:nvSpPr>
          <p:cNvPr id="4" name="投影片編號版面配置區 3"/>
          <p:cNvSpPr>
            <a:spLocks noGrp="1"/>
          </p:cNvSpPr>
          <p:nvPr>
            <p:ph type="sldNum" sz="quarter" idx="5"/>
          </p:nvPr>
        </p:nvSpPr>
        <p:spPr/>
        <p:txBody>
          <a:bodyPr/>
          <a:lstStyle/>
          <a:p>
            <a:fld id="{A2651DEE-975D-4DE8-9229-C34DC29B3B5C}" type="slidenum">
              <a:rPr lang="zh-TW" altLang="en-US" smtClean="0"/>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a:p>
        </p:txBody>
      </p:sp>
      <p:sp>
        <p:nvSpPr>
          <p:cNvPr id="3" name="副標題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zh-TW" altLang="en-US"/>
          </a:p>
        </p:txBody>
      </p:sp>
      <p:sp>
        <p:nvSpPr>
          <p:cNvPr id="4" name="日期版面配置區 3"/>
          <p:cNvSpPr>
            <a:spLocks noGrp="1"/>
          </p:cNvSpPr>
          <p:nvPr>
            <p:ph type="dt" sz="half" idx="10"/>
          </p:nvPr>
        </p:nvSpPr>
        <p:spPr/>
        <p:txBody>
          <a:bodyPr/>
          <a:lstStyle/>
          <a:p>
            <a:fld id="{DB6AC99C-D50E-4E91-A691-9BDF38185A97}" type="datetimeFigureOut">
              <a:rPr lang="zh-TW" altLang="en-US" smtClean="0"/>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34749F2-A68F-44FD-956F-573CA8BB6502}" type="slidenum">
              <a:rPr lang="zh-TW" altLang="en-US" smtClean="0"/>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fld id="{DB6AC99C-D50E-4E91-A691-9BDF38185A97}" type="datetimeFigureOut">
              <a:rPr lang="zh-TW" altLang="en-US" smtClean="0"/>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34749F2-A68F-44FD-956F-573CA8BB6502}" type="slidenum">
              <a:rPr lang="zh-TW" altLang="en-US" smtClean="0"/>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endParaRPr lang="zh-TW" altLang="en-US"/>
          </a:p>
        </p:txBody>
      </p:sp>
      <p:sp>
        <p:nvSpPr>
          <p:cNvPr id="4" name="日期版面配置區 3"/>
          <p:cNvSpPr>
            <a:spLocks noGrp="1"/>
          </p:cNvSpPr>
          <p:nvPr>
            <p:ph type="dt" sz="half" idx="10"/>
          </p:nvPr>
        </p:nvSpPr>
        <p:spPr/>
        <p:txBody>
          <a:bodyPr/>
          <a:lstStyle/>
          <a:p>
            <a:fld id="{DB6AC99C-D50E-4E91-A691-9BDF38185A97}" type="datetimeFigureOut">
              <a:rPr lang="zh-TW" altLang="en-US" smtClean="0"/>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34749F2-A68F-44FD-956F-573CA8BB6502}" type="slidenum">
              <a:rPr lang="zh-TW" altLang="en-US" smtClean="0"/>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日期版面配置區 4"/>
          <p:cNvSpPr>
            <a:spLocks noGrp="1"/>
          </p:cNvSpPr>
          <p:nvPr>
            <p:ph type="dt" sz="half" idx="10"/>
          </p:nvPr>
        </p:nvSpPr>
        <p:spPr/>
        <p:txBody>
          <a:bodyPr/>
          <a:lstStyle/>
          <a:p>
            <a:fld id="{DB6AC99C-D50E-4E91-A691-9BDF38185A97}" type="datetimeFigureOut">
              <a:rPr lang="zh-TW" altLang="en-US" smtClean="0"/>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34749F2-A68F-44FD-956F-573CA8BB6502}" type="slidenum">
              <a:rPr lang="zh-TW" altLang="en-US" smtClean="0"/>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endParaRPr lang="zh-TW" altLang="en-US"/>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endParaRPr lang="zh-TW" altLang="en-US"/>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7" name="日期版面配置區 6"/>
          <p:cNvSpPr>
            <a:spLocks noGrp="1"/>
          </p:cNvSpPr>
          <p:nvPr>
            <p:ph type="dt" sz="half" idx="10"/>
          </p:nvPr>
        </p:nvSpPr>
        <p:spPr/>
        <p:txBody>
          <a:bodyPr/>
          <a:lstStyle/>
          <a:p>
            <a:fld id="{DB6AC99C-D50E-4E91-A691-9BDF38185A97}" type="datetimeFigureOut">
              <a:rPr lang="zh-TW" altLang="en-US" smtClean="0"/>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34749F2-A68F-44FD-956F-573CA8BB6502}" type="slidenum">
              <a:rPr lang="zh-TW" altLang="en-US" smtClean="0"/>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日期版面配置區 2"/>
          <p:cNvSpPr>
            <a:spLocks noGrp="1"/>
          </p:cNvSpPr>
          <p:nvPr>
            <p:ph type="dt" sz="half" idx="10"/>
          </p:nvPr>
        </p:nvSpPr>
        <p:spPr/>
        <p:txBody>
          <a:bodyPr/>
          <a:lstStyle/>
          <a:p>
            <a:fld id="{DB6AC99C-D50E-4E91-A691-9BDF38185A97}" type="datetimeFigureOut">
              <a:rPr lang="zh-TW" altLang="en-US" smtClean="0"/>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34749F2-A68F-44FD-956F-573CA8BB6502}" type="slidenum">
              <a:rPr lang="zh-TW" altLang="en-US" smtClean="0"/>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B6AC99C-D50E-4E91-A691-9BDF38185A97}" type="datetimeFigureOut">
              <a:rPr lang="zh-TW" altLang="en-US" smtClean="0"/>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34749F2-A68F-44FD-956F-573CA8BB6502}" type="slidenum">
              <a:rPr lang="zh-TW" altLang="en-US" smtClean="0"/>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endParaRPr lang="zh-TW" altLang="en-US"/>
          </a:p>
        </p:txBody>
      </p:sp>
      <p:sp>
        <p:nvSpPr>
          <p:cNvPr id="5" name="日期版面配置區 4"/>
          <p:cNvSpPr>
            <a:spLocks noGrp="1"/>
          </p:cNvSpPr>
          <p:nvPr>
            <p:ph type="dt" sz="half" idx="10"/>
          </p:nvPr>
        </p:nvSpPr>
        <p:spPr/>
        <p:txBody>
          <a:bodyPr/>
          <a:lstStyle/>
          <a:p>
            <a:fld id="{DB6AC99C-D50E-4E91-A691-9BDF38185A97}" type="datetimeFigureOut">
              <a:rPr lang="zh-TW" altLang="en-US" smtClean="0"/>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34749F2-A68F-44FD-956F-573CA8BB6502}" type="slidenum">
              <a:rPr lang="zh-TW" altLang="en-US" smtClean="0"/>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endParaRPr lang="zh-TW" altLang="en-US"/>
          </a:p>
        </p:txBody>
      </p:sp>
      <p:sp>
        <p:nvSpPr>
          <p:cNvPr id="5" name="日期版面配置區 4"/>
          <p:cNvSpPr>
            <a:spLocks noGrp="1"/>
          </p:cNvSpPr>
          <p:nvPr>
            <p:ph type="dt" sz="half" idx="10"/>
          </p:nvPr>
        </p:nvSpPr>
        <p:spPr/>
        <p:txBody>
          <a:bodyPr/>
          <a:lstStyle/>
          <a:p>
            <a:fld id="{DB6AC99C-D50E-4E91-A691-9BDF38185A97}" type="datetimeFigureOut">
              <a:rPr lang="zh-TW" altLang="en-US" smtClean="0"/>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34749F2-A68F-44FD-956F-573CA8BB6502}" type="slidenum">
              <a:rPr lang="zh-TW" altLang="en-US" smtClean="0"/>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fld id="{DB6AC99C-D50E-4E91-A691-9BDF38185A97}" type="datetimeFigureOut">
              <a:rPr lang="zh-TW" altLang="en-US" smtClean="0"/>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34749F2-A68F-44FD-956F-573CA8BB6502}" type="slidenum">
              <a:rPr lang="zh-TW" altLang="en-US" smtClean="0"/>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10"/>
          </p:nvPr>
        </p:nvSpPr>
        <p:spPr/>
        <p:txBody>
          <a:bodyPr/>
          <a:lstStyle/>
          <a:p>
            <a:fld id="{DB6AC99C-D50E-4E91-A691-9BDF38185A97}" type="datetimeFigureOut">
              <a:rPr lang="zh-TW" altLang="en-US" smtClean="0"/>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34749F2-A68F-44FD-956F-573CA8BB6502}" type="slidenum">
              <a:rPr lang="zh-TW" altLang="en-US" smtClean="0"/>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6AC99C-D50E-4E91-A691-9BDF38185A97}" type="datetimeFigureOut">
              <a:rPr lang="zh-TW" altLang="en-US" smtClean="0"/>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4749F2-A68F-44FD-956F-573CA8BB6502}" type="slidenum">
              <a:rPr lang="zh-TW" altLang="en-US" smtClean="0"/>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31.jpeg"/><Relationship Id="rId1" Type="http://schemas.openxmlformats.org/officeDocument/2006/relationships/image" Target="../media/image30.png"/></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2.jpe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1.jpeg"/><Relationship Id="rId7" Type="http://schemas.openxmlformats.org/officeDocument/2006/relationships/image" Target="../media/image4.png"/><Relationship Id="rId6" Type="http://schemas.openxmlformats.org/officeDocument/2006/relationships/image" Target="../media/image3.png"/><Relationship Id="rId5" Type="http://schemas.openxmlformats.org/officeDocument/2006/relationships/image" Target="../media/image40.png"/><Relationship Id="rId4" Type="http://schemas.openxmlformats.org/officeDocument/2006/relationships/image" Target="../media/image35.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0.png"/><Relationship Id="rId3" Type="http://schemas.openxmlformats.org/officeDocument/2006/relationships/image" Target="../media/image35.png"/><Relationship Id="rId2" Type="http://schemas.openxmlformats.org/officeDocument/2006/relationships/image" Target="../media/image39.png"/><Relationship Id="rId1" Type="http://schemas.openxmlformats.org/officeDocument/2006/relationships/image" Target="../media/image3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0.png"/><Relationship Id="rId3" Type="http://schemas.openxmlformats.org/officeDocument/2006/relationships/image" Target="../media/image35.png"/><Relationship Id="rId2" Type="http://schemas.openxmlformats.org/officeDocument/2006/relationships/image" Target="../media/image39.png"/><Relationship Id="rId1" Type="http://schemas.openxmlformats.org/officeDocument/2006/relationships/image" Target="../media/image3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53.jpe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55.png"/><Relationship Id="rId1" Type="http://schemas.openxmlformats.org/officeDocument/2006/relationships/image" Target="../media/image5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0.png"/><Relationship Id="rId3" Type="http://schemas.openxmlformats.org/officeDocument/2006/relationships/image" Target="../media/image57.png"/><Relationship Id="rId2" Type="http://schemas.openxmlformats.org/officeDocument/2006/relationships/image" Target="../media/image59.png"/><Relationship Id="rId1" Type="http://schemas.openxmlformats.org/officeDocument/2006/relationships/image" Target="../media/image58.pn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2.xml"/><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image" Target="../media/image61.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3.png"/></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2.xml"/><Relationship Id="rId3" Type="http://schemas.openxmlformats.org/officeDocument/2006/relationships/image" Target="../media/image54.png"/><Relationship Id="rId2" Type="http://schemas.openxmlformats.org/officeDocument/2006/relationships/image" Target="../media/image3.png"/><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4.png"/><Relationship Id="rId2" Type="http://schemas.openxmlformats.org/officeDocument/2006/relationships/image" Target="../media/image3.png"/><Relationship Id="rId1" Type="http://schemas.openxmlformats.org/officeDocument/2006/relationships/image" Target="../media/image2.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65.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2.xml"/><Relationship Id="rId4" Type="http://schemas.openxmlformats.org/officeDocument/2006/relationships/image" Target="../media/image69.png"/><Relationship Id="rId3" Type="http://schemas.openxmlformats.org/officeDocument/2006/relationships/image" Target="../media/image2.png"/><Relationship Id="rId2" Type="http://schemas.openxmlformats.org/officeDocument/2006/relationships/image" Target="../media/image68.png"/><Relationship Id="rId1"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0.jpeg"/></Relationships>
</file>

<file path=ppt/slides/_rels/slide6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70.jpeg"/></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76.png"/></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2.xml"/><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82.jpeg"/></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2.xml"/><Relationship Id="rId3" Type="http://schemas.openxmlformats.org/officeDocument/2006/relationships/image" Target="../media/image83.png"/><Relationship Id="rId2" Type="http://schemas.openxmlformats.org/officeDocument/2006/relationships/image" Target="../media/image4.png"/><Relationship Id="rId1"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3.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84.png"/><Relationship Id="rId1" Type="http://schemas.openxmlformats.org/officeDocument/2006/relationships/image" Target="../media/image3.png"/></Relationships>
</file>

<file path=ppt/slides/_rels/slide7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image" Target="../media/image85.png"/></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image" Target="../media/image90.pn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93.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94.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5.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8.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99.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0.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2.png"/><Relationship Id="rId1" Type="http://schemas.openxmlformats.org/officeDocument/2006/relationships/image" Target="../media/image101.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8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5.png"/><Relationship Id="rId2" Type="http://schemas.openxmlformats.org/officeDocument/2006/relationships/image" Target="../media/image84.png"/><Relationship Id="rId1" Type="http://schemas.openxmlformats.org/officeDocument/2006/relationships/image" Target="../media/image3.png"/></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106.png"/><Relationship Id="rId1" Type="http://schemas.openxmlformats.org/officeDocument/2006/relationships/image" Target="../media/image3.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9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8.png"/><Relationship Id="rId3" Type="http://schemas.openxmlformats.org/officeDocument/2006/relationships/image" Target="../media/image105.png"/><Relationship Id="rId2" Type="http://schemas.openxmlformats.org/officeDocument/2006/relationships/image" Target="../media/image84.png"/><Relationship Id="rId1"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6.png"/><Relationship Id="rId1" Type="http://schemas.openxmlformats.org/officeDocument/2006/relationships/image" Target="../media/image3.png"/></Relationships>
</file>

<file path=ppt/slides/_rels/slide92.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106.png"/><Relationship Id="rId1"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109.png"/></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110.png"/><Relationship Id="rId1"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1.png"/><Relationship Id="rId1" Type="http://schemas.openxmlformats.org/officeDocument/2006/relationships/image" Target="../media/image3.png"/></Relationships>
</file>

<file path=ppt/slides/_rels/slide9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坐在藍色椅子上使用膝上型電腦的機器人"/>
          <p:cNvPicPr>
            <a:picLocks noChangeAspect="1"/>
          </p:cNvPicPr>
          <p:nvPr/>
        </p:nvPicPr>
        <p:blipFill>
          <a:blip r:embed="rId1">
            <a:alphaModFix amt="40000"/>
          </a:blip>
          <a:srcRect/>
          <a:stretch>
            <a:fillRect/>
          </a:stretch>
        </p:blipFill>
        <p:spPr>
          <a:xfrm>
            <a:off x="20" y="10"/>
            <a:ext cx="12191980" cy="6857990"/>
          </a:xfrm>
          <a:prstGeom prst="rect">
            <a:avLst/>
          </a:prstGeom>
        </p:spPr>
      </p:pic>
      <p:sp>
        <p:nvSpPr>
          <p:cNvPr id="2" name="標題 1"/>
          <p:cNvSpPr>
            <a:spLocks noGrp="1"/>
          </p:cNvSpPr>
          <p:nvPr>
            <p:ph type="ctrTitle"/>
          </p:nvPr>
        </p:nvSpPr>
        <p:spPr>
          <a:xfrm>
            <a:off x="946150" y="-444500"/>
            <a:ext cx="10261600" cy="3564869"/>
          </a:xfrm>
        </p:spPr>
        <p:txBody>
          <a:bodyPr>
            <a:normAutofit/>
          </a:bodyPr>
          <a:lstStyle/>
          <a:p>
            <a:pPr algn="l"/>
            <a:r>
              <a:rPr lang="en-US" altLang="zh-TW" sz="11500" b="1" dirty="0">
                <a:ln w="22225">
                  <a:solidFill>
                    <a:schemeClr val="tx1"/>
                  </a:solidFill>
                  <a:miter lim="800000"/>
                </a:ln>
                <a:noFill/>
              </a:rPr>
              <a:t>AI</a:t>
            </a:r>
            <a:r>
              <a:rPr lang="zh-TW" altLang="en-US" sz="11500" b="1" dirty="0">
                <a:ln w="22225">
                  <a:solidFill>
                    <a:schemeClr val="tx1"/>
                  </a:solidFill>
                  <a:miter lim="800000"/>
                </a:ln>
                <a:noFill/>
              </a:rPr>
              <a:t> </a:t>
            </a:r>
            <a:r>
              <a:rPr lang="en-US" altLang="zh-TW" sz="11500" b="1" dirty="0">
                <a:ln w="22225">
                  <a:solidFill>
                    <a:schemeClr val="tx1"/>
                  </a:solidFill>
                  <a:miter lim="800000"/>
                </a:ln>
                <a:noFill/>
              </a:rPr>
              <a:t>Agent </a:t>
            </a:r>
            <a:endParaRPr lang="zh-TW" altLang="en-US" sz="11500" b="1" dirty="0">
              <a:ln w="22225">
                <a:solidFill>
                  <a:schemeClr val="tx1"/>
                </a:solidFill>
                <a:miter lim="800000"/>
              </a:ln>
              <a:noFill/>
            </a:endParaRPr>
          </a:p>
        </p:txBody>
      </p:sp>
      <p:sp>
        <p:nvSpPr>
          <p:cNvPr id="3" name="副標題 2"/>
          <p:cNvSpPr>
            <a:spLocks noGrp="1"/>
          </p:cNvSpPr>
          <p:nvPr>
            <p:ph type="subTitle" idx="1"/>
          </p:nvPr>
        </p:nvSpPr>
        <p:spPr>
          <a:xfrm>
            <a:off x="946150" y="3162302"/>
            <a:ext cx="10261600" cy="1202995"/>
          </a:xfrm>
        </p:spPr>
        <p:txBody>
          <a:bodyPr>
            <a:normAutofit/>
          </a:bodyPr>
          <a:lstStyle/>
          <a:p>
            <a:pPr algn="l"/>
            <a:r>
              <a:rPr lang="zh-TW" altLang="en-US" sz="4000" dirty="0">
                <a:latin typeface="Microsoft JhengHei" panose="020B0604030504040204" pitchFamily="34" charset="-120"/>
                <a:ea typeface="Microsoft JhengHei" panose="020B0604030504040204" pitchFamily="34" charset="-120"/>
              </a:rPr>
              <a:t>李宏毅</a:t>
            </a:r>
            <a:endParaRPr lang="zh-TW" altLang="en-US" sz="4000" dirty="0">
              <a:latin typeface="Microsoft JhengHei" panose="020B0604030504040204" pitchFamily="34" charset="-120"/>
              <a:ea typeface="Microsoft JhengHei" panose="020B0604030504040204" pitchFamily="34" charset="-120"/>
            </a:endParaRPr>
          </a:p>
        </p:txBody>
      </p:sp>
      <p:sp>
        <p:nvSpPr>
          <p:cNvPr id="4" name="副標題 2"/>
          <p:cNvSpPr txBox="1"/>
          <p:nvPr/>
        </p:nvSpPr>
        <p:spPr>
          <a:xfrm>
            <a:off x="1098550" y="5438457"/>
            <a:ext cx="10617200" cy="86709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zh-TW" altLang="en-US" dirty="0">
                <a:latin typeface="Microsoft JhengHei" panose="020B0604030504040204" pitchFamily="34" charset="-120"/>
                <a:ea typeface="Microsoft JhengHei" panose="020B0604030504040204" pitchFamily="34" charset="-120"/>
              </a:rPr>
              <a:t>免責聲明：</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是一個被廣泛使用的詞彙，故本課程中所講的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不一定跟其他地方一樣</a:t>
            </a:r>
            <a:endParaRPr lang="zh-TW" altLang="en-US" dirty="0">
              <a:latin typeface="Microsoft JhengHei" panose="020B0604030504040204" pitchFamily="34" charset="-120"/>
              <a:ea typeface="Microsoft JhengHei" panose="020B0604030504040204" pitchFamily="34" charset="-120"/>
            </a:endParaRP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24300" y="1253790"/>
            <a:ext cx="1504950" cy="15049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0441" y="1396664"/>
            <a:ext cx="1362075" cy="136207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24300" y="4191000"/>
            <a:ext cx="1504950" cy="15049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0441" y="4333874"/>
            <a:ext cx="1362075" cy="1362076"/>
          </a:xfrm>
          <a:prstGeom prst="rect">
            <a:avLst/>
          </a:prstGeom>
          <a:noFill/>
          <a:extLst>
            <a:ext uri="{909E8E84-426E-40DD-AFC4-6F175D3DCCD1}">
              <a14:hiddenFill xmlns:a14="http://schemas.microsoft.com/office/drawing/2010/main">
                <a:solidFill>
                  <a:srgbClr val="FFFFFF"/>
                </a:solidFill>
              </a14:hiddenFill>
            </a:ext>
          </a:extLst>
        </p:spPr>
      </p:pic>
      <p:sp>
        <p:nvSpPr>
          <p:cNvPr id="7" name="語音泡泡: 圓角矩形 6"/>
          <p:cNvSpPr/>
          <p:nvPr/>
        </p:nvSpPr>
        <p:spPr>
          <a:xfrm>
            <a:off x="5467350" y="1047750"/>
            <a:ext cx="3409950" cy="697827"/>
          </a:xfrm>
          <a:prstGeom prst="wedgeRoundRectCallout">
            <a:avLst>
              <a:gd name="adj1" fmla="val -55403"/>
              <a:gd name="adj2" fmla="val 88194"/>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Microsoft JhengHei" panose="020B0604030504040204" pitchFamily="34" charset="-120"/>
                <a:ea typeface="Microsoft JhengHei" panose="020B0604030504040204" pitchFamily="34" charset="-120"/>
              </a:rPr>
              <a:t>AI</a:t>
            </a:r>
            <a:r>
              <a:rPr lang="zh-TW" altLang="en-US" sz="2400" dirty="0">
                <a:solidFill>
                  <a:schemeClr val="tx1"/>
                </a:solidFill>
                <a:latin typeface="Microsoft JhengHei" panose="020B0604030504040204" pitchFamily="34" charset="-120"/>
                <a:ea typeface="Microsoft JhengHei" panose="020B0604030504040204" pitchFamily="34" charset="-120"/>
              </a:rPr>
              <a:t> </a:t>
            </a:r>
            <a:r>
              <a:rPr lang="en-US" altLang="zh-TW" sz="2400" dirty="0">
                <a:solidFill>
                  <a:schemeClr val="tx1"/>
                </a:solidFill>
                <a:latin typeface="Microsoft JhengHei" panose="020B0604030504040204" pitchFamily="34" charset="-120"/>
                <a:ea typeface="Microsoft JhengHei" panose="020B0604030504040204" pitchFamily="34" charset="-120"/>
              </a:rPr>
              <a:t>Agent </a:t>
            </a:r>
            <a:r>
              <a:rPr lang="zh-TW" altLang="en-US" sz="2400" dirty="0">
                <a:solidFill>
                  <a:schemeClr val="tx1"/>
                </a:solidFill>
                <a:latin typeface="Microsoft JhengHei" panose="020B0604030504040204" pitchFamily="34" charset="-120"/>
                <a:ea typeface="Microsoft JhengHei" panose="020B0604030504040204" pitchFamily="34" charset="-120"/>
              </a:rPr>
              <a:t>的翻譯</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8" name="文字方塊 7"/>
          <p:cNvSpPr txBox="1"/>
          <p:nvPr/>
        </p:nvSpPr>
        <p:spPr>
          <a:xfrm>
            <a:off x="1066800" y="1056486"/>
            <a:ext cx="2266950" cy="954107"/>
          </a:xfrm>
          <a:prstGeom prst="rect">
            <a:avLst/>
          </a:prstGeom>
          <a:noFill/>
        </p:spPr>
        <p:txBody>
          <a:bodyPr wrap="square" rtlCol="0">
            <a:spAutoFit/>
          </a:bodyPr>
          <a:lstStyle/>
          <a:p>
            <a:r>
              <a:rPr lang="zh-TW" altLang="en-US" sz="2800" b="1" u="sng" dirty="0">
                <a:latin typeface="Microsoft JhengHei" panose="020B0604030504040204" pitchFamily="34" charset="-120"/>
                <a:ea typeface="Microsoft JhengHei" panose="020B0604030504040204" pitchFamily="34" charset="-120"/>
              </a:rPr>
              <a:t>今天使用 </a:t>
            </a:r>
            <a:r>
              <a:rPr lang="en-US" altLang="zh-TW" sz="2800" b="1" u="sng" dirty="0">
                <a:latin typeface="Microsoft JhengHei" panose="020B0604030504040204" pitchFamily="34" charset="-120"/>
                <a:ea typeface="Microsoft JhengHei" panose="020B0604030504040204" pitchFamily="34" charset="-120"/>
              </a:rPr>
              <a:t>AI</a:t>
            </a:r>
            <a:r>
              <a:rPr lang="zh-TW" altLang="en-US" sz="2800" b="1" u="sng" dirty="0">
                <a:latin typeface="Microsoft JhengHei" panose="020B0604030504040204" pitchFamily="34" charset="-120"/>
                <a:ea typeface="Microsoft JhengHei" panose="020B0604030504040204" pitchFamily="34" charset="-120"/>
              </a:rPr>
              <a:t> 的方式</a:t>
            </a:r>
            <a:endParaRPr lang="zh-TW" altLang="en-US" sz="2800" b="1" u="sng" dirty="0">
              <a:latin typeface="Microsoft JhengHei" panose="020B0604030504040204" pitchFamily="34" charset="-120"/>
              <a:ea typeface="Microsoft JhengHei" panose="020B0604030504040204" pitchFamily="34" charset="-120"/>
            </a:endParaRPr>
          </a:p>
        </p:txBody>
      </p:sp>
      <p:sp>
        <p:nvSpPr>
          <p:cNvPr id="9" name="文字方塊 8"/>
          <p:cNvSpPr txBox="1"/>
          <p:nvPr/>
        </p:nvSpPr>
        <p:spPr>
          <a:xfrm>
            <a:off x="1047750" y="4301192"/>
            <a:ext cx="2266950" cy="523220"/>
          </a:xfrm>
          <a:prstGeom prst="rect">
            <a:avLst/>
          </a:prstGeom>
          <a:noFill/>
        </p:spPr>
        <p:txBody>
          <a:bodyPr wrap="square" rtlCol="0">
            <a:spAutoFit/>
          </a:bodyPr>
          <a:lstStyle/>
          <a:p>
            <a:r>
              <a:rPr lang="en-US" altLang="zh-TW" sz="2800" b="1" u="sng" dirty="0">
                <a:latin typeface="Microsoft JhengHei" panose="020B0604030504040204" pitchFamily="34" charset="-120"/>
                <a:ea typeface="Microsoft JhengHei" panose="020B0604030504040204" pitchFamily="34" charset="-120"/>
              </a:rPr>
              <a:t>AI</a:t>
            </a:r>
            <a:r>
              <a:rPr lang="zh-TW" altLang="en-US" sz="2800" b="1" u="sng" dirty="0">
                <a:latin typeface="Microsoft JhengHei" panose="020B0604030504040204" pitchFamily="34" charset="-120"/>
                <a:ea typeface="Microsoft JhengHei" panose="020B0604030504040204" pitchFamily="34" charset="-120"/>
              </a:rPr>
              <a:t> </a:t>
            </a:r>
            <a:r>
              <a:rPr lang="en-US" altLang="zh-TW" sz="2800" b="1" u="sng" dirty="0">
                <a:latin typeface="Microsoft JhengHei" panose="020B0604030504040204" pitchFamily="34" charset="-120"/>
                <a:ea typeface="Microsoft JhengHei" panose="020B0604030504040204" pitchFamily="34" charset="-120"/>
              </a:rPr>
              <a:t>Agent </a:t>
            </a:r>
            <a:endParaRPr lang="zh-TW" altLang="en-US" sz="2800" b="1" u="sng" dirty="0">
              <a:latin typeface="Microsoft JhengHei" panose="020B0604030504040204" pitchFamily="34" charset="-120"/>
              <a:ea typeface="Microsoft JhengHei" panose="020B0604030504040204" pitchFamily="34" charset="-120"/>
            </a:endParaRPr>
          </a:p>
        </p:txBody>
      </p:sp>
      <p:sp>
        <p:nvSpPr>
          <p:cNvPr id="10" name="文字方塊 9"/>
          <p:cNvSpPr txBox="1"/>
          <p:nvPr/>
        </p:nvSpPr>
        <p:spPr>
          <a:xfrm>
            <a:off x="1066800" y="2099771"/>
            <a:ext cx="2876550"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人類給予明確指令</a:t>
            </a:r>
            <a:endParaRPr lang="zh-TW" altLang="en-US" sz="2400" dirty="0">
              <a:latin typeface="Microsoft JhengHei" panose="020B0604030504040204" pitchFamily="34" charset="-120"/>
              <a:ea typeface="Microsoft JhengHei" panose="020B0604030504040204" pitchFamily="34" charset="-120"/>
            </a:endParaRPr>
          </a:p>
        </p:txBody>
      </p:sp>
      <p:sp>
        <p:nvSpPr>
          <p:cNvPr id="11" name="文字方塊 10"/>
          <p:cNvSpPr txBox="1"/>
          <p:nvPr/>
        </p:nvSpPr>
        <p:spPr>
          <a:xfrm>
            <a:off x="1085850" y="4949020"/>
            <a:ext cx="2266950"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人類給予目標</a:t>
            </a:r>
            <a:endParaRPr lang="zh-TW" altLang="en-US" sz="2400" dirty="0">
              <a:latin typeface="Microsoft JhengHei" panose="020B0604030504040204" pitchFamily="34" charset="-120"/>
              <a:ea typeface="Microsoft JhengHei" panose="020B0604030504040204" pitchFamily="34" charset="-120"/>
            </a:endParaRPr>
          </a:p>
        </p:txBody>
      </p:sp>
      <p:sp>
        <p:nvSpPr>
          <p:cNvPr id="12" name="文字方塊 11"/>
          <p:cNvSpPr txBox="1"/>
          <p:nvPr/>
        </p:nvSpPr>
        <p:spPr>
          <a:xfrm>
            <a:off x="1066800" y="5465117"/>
            <a:ext cx="3067050" cy="461665"/>
          </a:xfrm>
          <a:prstGeom prst="rect">
            <a:avLst/>
          </a:prstGeom>
          <a:noFill/>
        </p:spPr>
        <p:txBody>
          <a:bodyPr wrap="square" rtlCol="0">
            <a:spAutoFit/>
          </a:bodyPr>
          <a:lstStyle/>
          <a:p>
            <a:r>
              <a:rPr lang="en-US" altLang="zh-TW" sz="2400" dirty="0">
                <a:latin typeface="Microsoft JhengHei" panose="020B0604030504040204" pitchFamily="34" charset="-120"/>
                <a:ea typeface="Microsoft JhengHei" panose="020B0604030504040204" pitchFamily="34" charset="-120"/>
              </a:rPr>
              <a:t>AI</a:t>
            </a:r>
            <a:r>
              <a:rPr lang="zh-TW" altLang="en-US" sz="2400" dirty="0">
                <a:latin typeface="Microsoft JhengHei" panose="020B0604030504040204" pitchFamily="34" charset="-120"/>
                <a:ea typeface="Microsoft JhengHei" panose="020B0604030504040204" pitchFamily="34" charset="-120"/>
              </a:rPr>
              <a:t> 自己想辦法達成</a:t>
            </a:r>
            <a:endParaRPr lang="zh-TW" altLang="en-US" sz="2400" dirty="0">
              <a:latin typeface="Microsoft JhengHei" panose="020B0604030504040204" pitchFamily="34" charset="-120"/>
              <a:ea typeface="Microsoft JhengHei" panose="020B0604030504040204" pitchFamily="34" charset="-120"/>
            </a:endParaRPr>
          </a:p>
        </p:txBody>
      </p:sp>
      <p:sp>
        <p:nvSpPr>
          <p:cNvPr id="13" name="語音泡泡: 圓角矩形 12"/>
          <p:cNvSpPr/>
          <p:nvPr/>
        </p:nvSpPr>
        <p:spPr>
          <a:xfrm>
            <a:off x="5467350" y="2363659"/>
            <a:ext cx="3409950" cy="697827"/>
          </a:xfrm>
          <a:prstGeom prst="wedgeRoundRectCallout">
            <a:avLst>
              <a:gd name="adj1" fmla="val 61357"/>
              <a:gd name="adj2" fmla="val -48301"/>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「人工智慧代理人」</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14" name="語音泡泡: 圓角矩形 13"/>
          <p:cNvSpPr/>
          <p:nvPr/>
        </p:nvSpPr>
        <p:spPr>
          <a:xfrm>
            <a:off x="5467350" y="3953885"/>
            <a:ext cx="3409950" cy="697827"/>
          </a:xfrm>
          <a:prstGeom prst="wedgeRoundRectCallout">
            <a:avLst>
              <a:gd name="adj1" fmla="val -55403"/>
              <a:gd name="adj2" fmla="val 88194"/>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Microsoft JhengHei" panose="020B0604030504040204" pitchFamily="34" charset="-120"/>
                <a:ea typeface="Microsoft JhengHei" panose="020B0604030504040204" pitchFamily="34" charset="-120"/>
              </a:rPr>
              <a:t>(</a:t>
            </a:r>
            <a:r>
              <a:rPr lang="zh-TW" altLang="en-US" sz="2400" dirty="0">
                <a:solidFill>
                  <a:schemeClr val="tx1"/>
                </a:solidFill>
                <a:latin typeface="Microsoft JhengHei" panose="020B0604030504040204" pitchFamily="34" charset="-120"/>
                <a:ea typeface="Microsoft JhengHei" panose="020B0604030504040204" pitchFamily="34" charset="-120"/>
              </a:rPr>
              <a:t>解決某個研究問題</a:t>
            </a:r>
            <a:r>
              <a:rPr lang="en-US" altLang="zh-TW" sz="2400" dirty="0">
                <a:solidFill>
                  <a:schemeClr val="tx1"/>
                </a:solidFill>
                <a:latin typeface="Microsoft JhengHei" panose="020B0604030504040204" pitchFamily="34" charset="-120"/>
                <a:ea typeface="Microsoft JhengHei" panose="020B0604030504040204" pitchFamily="34" charset="-120"/>
              </a:rPr>
              <a:t>)</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15" name="語音泡泡: 圓角矩形 14"/>
          <p:cNvSpPr/>
          <p:nvPr/>
        </p:nvSpPr>
        <p:spPr>
          <a:xfrm>
            <a:off x="5429250" y="5112424"/>
            <a:ext cx="3409950" cy="697827"/>
          </a:xfrm>
          <a:prstGeom prst="wedgeRoundRectCallout">
            <a:avLst>
              <a:gd name="adj1" fmla="val 61357"/>
              <a:gd name="adj2" fmla="val -48301"/>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假設 </a:t>
            </a:r>
            <a:r>
              <a:rPr lang="en-US" altLang="zh-TW" sz="2400" dirty="0">
                <a:solidFill>
                  <a:schemeClr val="tx1"/>
                </a:solidFill>
                <a:latin typeface="Microsoft JhengHei" panose="020B0604030504040204" pitchFamily="34" charset="-120"/>
                <a:ea typeface="Microsoft JhengHei" panose="020B0604030504040204" pitchFamily="34" charset="-120"/>
              </a:rPr>
              <a:t>… </a:t>
            </a:r>
            <a:r>
              <a:rPr lang="zh-TW" altLang="en-US" sz="2400" dirty="0">
                <a:solidFill>
                  <a:schemeClr val="tx1"/>
                </a:solidFill>
                <a:latin typeface="Microsoft JhengHei" panose="020B0604030504040204" pitchFamily="34" charset="-120"/>
                <a:ea typeface="Microsoft JhengHei" panose="020B0604030504040204" pitchFamily="34" charset="-120"/>
              </a:rPr>
              <a:t>實驗 </a:t>
            </a:r>
            <a:r>
              <a:rPr lang="en-US" altLang="zh-TW" sz="2400" dirty="0">
                <a:solidFill>
                  <a:schemeClr val="tx1"/>
                </a:solidFill>
                <a:latin typeface="Microsoft JhengHei" panose="020B0604030504040204" pitchFamily="34" charset="-120"/>
                <a:ea typeface="Microsoft JhengHei" panose="020B0604030504040204" pitchFamily="34" charset="-120"/>
              </a:rPr>
              <a:t>… </a:t>
            </a:r>
            <a:r>
              <a:rPr lang="zh-TW" altLang="en-US" sz="2400" dirty="0">
                <a:solidFill>
                  <a:schemeClr val="tx1"/>
                </a:solidFill>
                <a:latin typeface="Microsoft JhengHei" panose="020B0604030504040204" pitchFamily="34" charset="-120"/>
                <a:ea typeface="Microsoft JhengHei" panose="020B0604030504040204" pitchFamily="34" charset="-120"/>
              </a:rPr>
              <a:t>分析</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18" name="文字方塊 17"/>
          <p:cNvSpPr txBox="1"/>
          <p:nvPr/>
        </p:nvSpPr>
        <p:spPr>
          <a:xfrm>
            <a:off x="5282685" y="5894754"/>
            <a:ext cx="3947755"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需要多步驟、靈活調整計畫</a:t>
            </a:r>
            <a:endParaRPr lang="zh-TW" altLang="en-US" sz="2400" dirty="0">
              <a:latin typeface="Microsoft JhengHei" panose="020B0604030504040204" pitchFamily="34" charset="-120"/>
              <a:ea typeface="Microsoft JhengHei" panose="020B0604030504040204" pitchFamily="34" charset="-120"/>
            </a:endParaRPr>
          </a:p>
        </p:txBody>
      </p:sp>
      <p:sp>
        <p:nvSpPr>
          <p:cNvPr id="19" name="文字方塊 18"/>
          <p:cNvSpPr txBox="1"/>
          <p:nvPr/>
        </p:nvSpPr>
        <p:spPr>
          <a:xfrm>
            <a:off x="1099065" y="2628274"/>
            <a:ext cx="1931006" cy="830997"/>
          </a:xfrm>
          <a:prstGeom prst="rect">
            <a:avLst/>
          </a:prstGeom>
          <a:noFill/>
        </p:spPr>
        <p:txBody>
          <a:bodyPr wrap="square" rtlCol="0">
            <a:spAutoFit/>
          </a:bodyPr>
          <a:lstStyle/>
          <a:p>
            <a:r>
              <a:rPr lang="en-US" altLang="zh-TW" sz="2400" dirty="0">
                <a:latin typeface="Microsoft JhengHei" panose="020B0604030504040204" pitchFamily="34" charset="-120"/>
                <a:ea typeface="Microsoft JhengHei" panose="020B0604030504040204" pitchFamily="34" charset="-120"/>
              </a:rPr>
              <a:t>AI</a:t>
            </a:r>
            <a:r>
              <a:rPr lang="zh-TW" altLang="en-US" sz="2400" dirty="0">
                <a:latin typeface="Microsoft JhengHei" panose="020B0604030504040204" pitchFamily="34" charset="-120"/>
                <a:ea typeface="Microsoft JhengHei" panose="020B0604030504040204" pitchFamily="34" charset="-120"/>
              </a:rPr>
              <a:t> 一個口令一個動作</a:t>
            </a:r>
            <a:endParaRPr lang="zh-TW" altLang="en-US" sz="24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P spid="11" grpId="0"/>
      <p:bldP spid="12" grpId="0"/>
      <p:bldP spid="13" grpId="0" animBg="1"/>
      <p:bldP spid="14" grpId="0" animBg="1"/>
      <p:bldP spid="15" grpId="0" animBg="1"/>
      <p:bldP spid="18"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AI</a:t>
            </a:r>
            <a:r>
              <a:rPr lang="zh-TW" altLang="en-US" dirty="0"/>
              <a:t> </a:t>
            </a:r>
            <a:r>
              <a:rPr lang="en-US" altLang="zh-TW" dirty="0"/>
              <a:t>Agent </a:t>
            </a:r>
            <a:endParaRPr lang="zh-TW"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2042" y="3098163"/>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5559" y="3098164"/>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接點 6"/>
          <p:cNvCxnSpPr/>
          <p:nvPr/>
        </p:nvCxnSpPr>
        <p:spPr>
          <a:xfrm>
            <a:off x="3616960" y="5466080"/>
            <a:ext cx="2021840"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3596640" y="4384040"/>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flipV="1">
            <a:off x="8920480" y="4384040"/>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flipH="1">
            <a:off x="3616960" y="1757364"/>
            <a:ext cx="174616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flipH="1" flipV="1">
            <a:off x="8920480" y="1757364"/>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flipH="1">
            <a:off x="3596640" y="1757364"/>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1328298" y="2839404"/>
            <a:ext cx="1016000" cy="461665"/>
          </a:xfrm>
          <a:prstGeom prst="rect">
            <a:avLst/>
          </a:prstGeom>
          <a:noFill/>
        </p:spPr>
        <p:txBody>
          <a:bodyPr wrap="square" rtlCol="0">
            <a:spAutoFit/>
          </a:bodyPr>
          <a:lstStyle/>
          <a:p>
            <a:pPr algn="r"/>
            <a:r>
              <a:rPr lang="en-US" altLang="zh-TW" sz="2400" dirty="0"/>
              <a:t>Goal</a:t>
            </a:r>
            <a:endParaRPr lang="zh-TW" altLang="en-US" sz="2400" dirty="0"/>
          </a:p>
        </p:txBody>
      </p:sp>
      <p:cxnSp>
        <p:nvCxnSpPr>
          <p:cNvPr id="20" name="直線單箭頭接點 19"/>
          <p:cNvCxnSpPr/>
          <p:nvPr/>
        </p:nvCxnSpPr>
        <p:spPr>
          <a:xfrm>
            <a:off x="2344298" y="3198168"/>
            <a:ext cx="503002" cy="23083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5273040" y="5235247"/>
            <a:ext cx="1971040" cy="461665"/>
          </a:xfrm>
          <a:prstGeom prst="rect">
            <a:avLst/>
          </a:prstGeom>
          <a:noFill/>
        </p:spPr>
        <p:txBody>
          <a:bodyPr wrap="square" rtlCol="0">
            <a:spAutoFit/>
          </a:bodyPr>
          <a:lstStyle/>
          <a:p>
            <a:pPr algn="ctr"/>
            <a:r>
              <a:rPr lang="en-US" altLang="zh-TW" sz="2400" dirty="0"/>
              <a:t>Action</a:t>
            </a:r>
            <a:endParaRPr lang="zh-TW" altLang="en-US" sz="2400" dirty="0"/>
          </a:p>
        </p:txBody>
      </p:sp>
      <p:cxnSp>
        <p:nvCxnSpPr>
          <p:cNvPr id="24" name="直線接點 23"/>
          <p:cNvCxnSpPr/>
          <p:nvPr/>
        </p:nvCxnSpPr>
        <p:spPr>
          <a:xfrm flipH="1">
            <a:off x="6873159" y="5466079"/>
            <a:ext cx="202700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文字方塊 25"/>
          <p:cNvSpPr txBox="1"/>
          <p:nvPr/>
        </p:nvSpPr>
        <p:spPr>
          <a:xfrm>
            <a:off x="5245674" y="1499460"/>
            <a:ext cx="1971040" cy="461665"/>
          </a:xfrm>
          <a:prstGeom prst="rect">
            <a:avLst/>
          </a:prstGeom>
          <a:noFill/>
        </p:spPr>
        <p:txBody>
          <a:bodyPr wrap="square" rtlCol="0">
            <a:spAutoFit/>
          </a:bodyPr>
          <a:lstStyle/>
          <a:p>
            <a:pPr algn="ctr"/>
            <a:r>
              <a:rPr lang="en-US" altLang="zh-TW" sz="2400" dirty="0"/>
              <a:t>Observation</a:t>
            </a:r>
            <a:endParaRPr lang="zh-TW" altLang="en-US" sz="2400" dirty="0"/>
          </a:p>
        </p:txBody>
      </p:sp>
      <p:cxnSp>
        <p:nvCxnSpPr>
          <p:cNvPr id="28" name="直線接點 27"/>
          <p:cNvCxnSpPr/>
          <p:nvPr/>
        </p:nvCxnSpPr>
        <p:spPr>
          <a:xfrm flipH="1">
            <a:off x="7121464" y="1757363"/>
            <a:ext cx="1754485"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箭號: 弧形右彎 11"/>
          <p:cNvSpPr/>
          <p:nvPr/>
        </p:nvSpPr>
        <p:spPr>
          <a:xfrm>
            <a:off x="4926250" y="2839404"/>
            <a:ext cx="1016000" cy="1713545"/>
          </a:xfrm>
          <a:prstGeom prst="curved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solidFill>
                <a:schemeClr val="tx1"/>
              </a:solidFill>
            </a:endParaRPr>
          </a:p>
        </p:txBody>
      </p:sp>
      <p:sp>
        <p:nvSpPr>
          <p:cNvPr id="17" name="箭號: 弧形右彎 16"/>
          <p:cNvSpPr/>
          <p:nvPr/>
        </p:nvSpPr>
        <p:spPr>
          <a:xfrm flipH="1" flipV="1">
            <a:off x="6574871" y="2741413"/>
            <a:ext cx="1016000" cy="1713545"/>
          </a:xfrm>
          <a:prstGeom prst="curved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P spid="12"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AI</a:t>
            </a:r>
            <a:r>
              <a:rPr lang="zh-TW" altLang="en-US" dirty="0"/>
              <a:t> </a:t>
            </a:r>
            <a:r>
              <a:rPr lang="en-US" altLang="zh-TW" dirty="0"/>
              <a:t>Agent (AlphaGo)</a:t>
            </a:r>
            <a:endParaRPr lang="zh-TW"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2042" y="3098163"/>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5559" y="3098164"/>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接點 6"/>
          <p:cNvCxnSpPr/>
          <p:nvPr/>
        </p:nvCxnSpPr>
        <p:spPr>
          <a:xfrm>
            <a:off x="3616960" y="5466080"/>
            <a:ext cx="2021840"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3596640" y="4384040"/>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flipV="1">
            <a:off x="8920480" y="4384040"/>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flipH="1">
            <a:off x="3616960" y="1757364"/>
            <a:ext cx="174616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flipH="1" flipV="1">
            <a:off x="8920480" y="1757364"/>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flipH="1">
            <a:off x="3596640" y="1757364"/>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1328298" y="2839404"/>
            <a:ext cx="1016000" cy="461665"/>
          </a:xfrm>
          <a:prstGeom prst="rect">
            <a:avLst/>
          </a:prstGeom>
          <a:noFill/>
        </p:spPr>
        <p:txBody>
          <a:bodyPr wrap="square" rtlCol="0">
            <a:spAutoFit/>
          </a:bodyPr>
          <a:lstStyle/>
          <a:p>
            <a:pPr algn="r"/>
            <a:r>
              <a:rPr lang="en-US" altLang="zh-TW" sz="2400" dirty="0"/>
              <a:t>Goal</a:t>
            </a:r>
            <a:endParaRPr lang="zh-TW" altLang="en-US" sz="2400" dirty="0"/>
          </a:p>
        </p:txBody>
      </p:sp>
      <p:cxnSp>
        <p:nvCxnSpPr>
          <p:cNvPr id="20" name="直線單箭頭接點 19"/>
          <p:cNvCxnSpPr/>
          <p:nvPr/>
        </p:nvCxnSpPr>
        <p:spPr>
          <a:xfrm>
            <a:off x="2344298" y="3198168"/>
            <a:ext cx="503002" cy="23083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5273040" y="5235247"/>
            <a:ext cx="1971040" cy="461665"/>
          </a:xfrm>
          <a:prstGeom prst="rect">
            <a:avLst/>
          </a:prstGeom>
          <a:noFill/>
        </p:spPr>
        <p:txBody>
          <a:bodyPr wrap="square" rtlCol="0">
            <a:spAutoFit/>
          </a:bodyPr>
          <a:lstStyle/>
          <a:p>
            <a:pPr algn="ctr"/>
            <a:r>
              <a:rPr lang="en-US" altLang="zh-TW" sz="2400" dirty="0"/>
              <a:t>Action</a:t>
            </a:r>
            <a:endParaRPr lang="zh-TW" altLang="en-US" sz="2400" dirty="0"/>
          </a:p>
        </p:txBody>
      </p:sp>
      <p:cxnSp>
        <p:nvCxnSpPr>
          <p:cNvPr id="24" name="直線接點 23"/>
          <p:cNvCxnSpPr/>
          <p:nvPr/>
        </p:nvCxnSpPr>
        <p:spPr>
          <a:xfrm flipH="1">
            <a:off x="6873159" y="5466079"/>
            <a:ext cx="202700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1119977" y="3274844"/>
            <a:ext cx="1219200" cy="461665"/>
          </a:xfrm>
          <a:prstGeom prst="rect">
            <a:avLst/>
          </a:prstGeom>
          <a:noFill/>
        </p:spPr>
        <p:txBody>
          <a:bodyPr wrap="square" rtlCol="0">
            <a:spAutoFit/>
          </a:bodyPr>
          <a:lstStyle/>
          <a:p>
            <a:pPr algn="r"/>
            <a:r>
              <a:rPr lang="zh-TW" altLang="en-US" sz="2400" dirty="0">
                <a:latin typeface="Microsoft JhengHei" panose="020B0604030504040204" pitchFamily="34" charset="-120"/>
                <a:ea typeface="Microsoft JhengHei" panose="020B0604030504040204" pitchFamily="34" charset="-120"/>
              </a:rPr>
              <a:t>贏棋</a:t>
            </a:r>
            <a:endParaRPr lang="zh-TW" altLang="en-US" sz="2400" dirty="0">
              <a:latin typeface="Microsoft JhengHei" panose="020B0604030504040204" pitchFamily="34" charset="-120"/>
              <a:ea typeface="Microsoft JhengHei" panose="020B0604030504040204" pitchFamily="34" charset="-120"/>
            </a:endParaRPr>
          </a:p>
        </p:txBody>
      </p:sp>
      <p:sp>
        <p:nvSpPr>
          <p:cNvPr id="6" name="文字方塊 5"/>
          <p:cNvSpPr txBox="1"/>
          <p:nvPr/>
        </p:nvSpPr>
        <p:spPr>
          <a:xfrm>
            <a:off x="4896485" y="4869804"/>
            <a:ext cx="2724150" cy="461665"/>
          </a:xfrm>
          <a:prstGeom prst="rect">
            <a:avLst/>
          </a:prstGeom>
          <a:noFill/>
        </p:spPr>
        <p:txBody>
          <a:bodyPr wrap="square" rtlCol="0">
            <a:spAutoFit/>
          </a:bodyPr>
          <a:lstStyle/>
          <a:p>
            <a:pPr algn="ctr"/>
            <a:r>
              <a:rPr lang="en-US" altLang="zh-TW" sz="2400" dirty="0"/>
              <a:t>“5-5”</a:t>
            </a:r>
            <a:endParaRPr lang="zh-TW" altLang="en-US" sz="2400" dirty="0"/>
          </a:p>
        </p:txBody>
      </p:sp>
      <p:pic>
        <p:nvPicPr>
          <p:cNvPr id="8" name="圖片 7"/>
          <p:cNvPicPr>
            <a:picLocks noChangeAspect="1"/>
          </p:cNvPicPr>
          <p:nvPr/>
        </p:nvPicPr>
        <p:blipFill>
          <a:blip r:embed="rId3"/>
          <a:stretch>
            <a:fillRect/>
          </a:stretch>
        </p:blipFill>
        <p:spPr>
          <a:xfrm>
            <a:off x="9103433" y="2946203"/>
            <a:ext cx="1969225" cy="1580611"/>
          </a:xfrm>
          <a:prstGeom prst="rect">
            <a:avLst/>
          </a:prstGeom>
        </p:spPr>
      </p:pic>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1528" y="2038359"/>
            <a:ext cx="1172381" cy="1172381"/>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5245674" y="1499460"/>
            <a:ext cx="1971040" cy="461665"/>
          </a:xfrm>
          <a:prstGeom prst="rect">
            <a:avLst/>
          </a:prstGeom>
          <a:noFill/>
        </p:spPr>
        <p:txBody>
          <a:bodyPr wrap="square" rtlCol="0">
            <a:spAutoFit/>
          </a:bodyPr>
          <a:lstStyle/>
          <a:p>
            <a:pPr algn="ctr"/>
            <a:r>
              <a:rPr lang="en-US" altLang="zh-TW" sz="2400" dirty="0"/>
              <a:t>Observation</a:t>
            </a:r>
            <a:endParaRPr lang="zh-TW" altLang="en-US" sz="2400" dirty="0"/>
          </a:p>
        </p:txBody>
      </p:sp>
      <p:cxnSp>
        <p:nvCxnSpPr>
          <p:cNvPr id="17" name="直線接點 16"/>
          <p:cNvCxnSpPr/>
          <p:nvPr/>
        </p:nvCxnSpPr>
        <p:spPr>
          <a:xfrm flipH="1">
            <a:off x="7121464" y="1757363"/>
            <a:ext cx="1754485"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562610" y="5929618"/>
            <a:ext cx="11391900" cy="461665"/>
          </a:xfrm>
          <a:prstGeom prst="rect">
            <a:avLst/>
          </a:prstGeom>
          <a:noFill/>
        </p:spPr>
        <p:txBody>
          <a:bodyPr wrap="square" rtlCol="0">
            <a:spAutoFit/>
          </a:bodyPr>
          <a:lstStyle/>
          <a:p>
            <a:pPr algn="ctr"/>
            <a:r>
              <a:rPr lang="zh-TW" altLang="en-US" sz="2400" dirty="0">
                <a:latin typeface="Microsoft JhengHei" panose="020B0604030504040204" pitchFamily="34" charset="-120"/>
                <a:ea typeface="Microsoft JhengHei" panose="020B0604030504040204" pitchFamily="34" charset="-120"/>
              </a:rPr>
              <a:t>好像在那裡聽過這個段落？這是 </a:t>
            </a:r>
            <a:r>
              <a:rPr lang="en-US" altLang="zh-TW" sz="2400" dirty="0">
                <a:latin typeface="Microsoft JhengHei" panose="020B0604030504040204" pitchFamily="34" charset="-120"/>
                <a:ea typeface="Microsoft JhengHei" panose="020B0604030504040204" pitchFamily="34" charset="-120"/>
              </a:rPr>
              <a:t>Reinforcement Learning (RL) </a:t>
            </a:r>
            <a:r>
              <a:rPr lang="zh-TW" altLang="en-US" sz="2400" dirty="0">
                <a:latin typeface="Microsoft JhengHei" panose="020B0604030504040204" pitchFamily="34" charset="-120"/>
                <a:ea typeface="Microsoft JhengHei" panose="020B0604030504040204" pitchFamily="34" charset="-120"/>
              </a:rPr>
              <a:t>常見開場</a:t>
            </a:r>
            <a:endParaRPr lang="zh-TW" altLang="en-US" sz="24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如何打造 </a:t>
            </a:r>
            <a:r>
              <a:rPr lang="en-US" altLang="zh-TW" dirty="0">
                <a:latin typeface="Microsoft JhengHei" panose="020B0604030504040204" pitchFamily="34" charset="-120"/>
                <a:ea typeface="Microsoft JhengHei" panose="020B0604030504040204" pitchFamily="34" charset="-120"/>
              </a:rPr>
              <a:t>AI Agent? RL?</a:t>
            </a:r>
            <a:endParaRPr lang="zh-TW" altLang="en-US" dirty="0">
              <a:latin typeface="Microsoft JhengHei" panose="020B0604030504040204" pitchFamily="34" charset="-120"/>
              <a:ea typeface="Microsoft JhengHei" panose="020B0604030504040204" pitchFamily="34" charset="-120"/>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2042" y="3098163"/>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5559" y="3098164"/>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接點 6"/>
          <p:cNvCxnSpPr/>
          <p:nvPr/>
        </p:nvCxnSpPr>
        <p:spPr>
          <a:xfrm>
            <a:off x="3616960" y="5466080"/>
            <a:ext cx="2021840"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3596640" y="4384040"/>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flipV="1">
            <a:off x="8920480" y="4384040"/>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flipH="1">
            <a:off x="3616960" y="1757364"/>
            <a:ext cx="174616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flipH="1" flipV="1">
            <a:off x="8920480" y="1757364"/>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flipH="1">
            <a:off x="3596640" y="1757364"/>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1328298" y="2839404"/>
            <a:ext cx="1016000" cy="461665"/>
          </a:xfrm>
          <a:prstGeom prst="rect">
            <a:avLst/>
          </a:prstGeom>
          <a:noFill/>
        </p:spPr>
        <p:txBody>
          <a:bodyPr wrap="square" rtlCol="0">
            <a:spAutoFit/>
          </a:bodyPr>
          <a:lstStyle/>
          <a:p>
            <a:pPr algn="r"/>
            <a:r>
              <a:rPr lang="en-US" altLang="zh-TW" sz="2400" dirty="0"/>
              <a:t>Goal</a:t>
            </a:r>
            <a:endParaRPr lang="zh-TW" altLang="en-US" sz="2400" dirty="0"/>
          </a:p>
        </p:txBody>
      </p:sp>
      <p:cxnSp>
        <p:nvCxnSpPr>
          <p:cNvPr id="20" name="直線單箭頭接點 19"/>
          <p:cNvCxnSpPr/>
          <p:nvPr/>
        </p:nvCxnSpPr>
        <p:spPr>
          <a:xfrm>
            <a:off x="2344298" y="3198168"/>
            <a:ext cx="503002" cy="23083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5273040" y="5235247"/>
            <a:ext cx="1971040" cy="461665"/>
          </a:xfrm>
          <a:prstGeom prst="rect">
            <a:avLst/>
          </a:prstGeom>
          <a:noFill/>
        </p:spPr>
        <p:txBody>
          <a:bodyPr wrap="square" rtlCol="0">
            <a:spAutoFit/>
          </a:bodyPr>
          <a:lstStyle/>
          <a:p>
            <a:pPr algn="ctr"/>
            <a:r>
              <a:rPr lang="en-US" altLang="zh-TW" sz="2400" dirty="0"/>
              <a:t>Action</a:t>
            </a:r>
            <a:endParaRPr lang="zh-TW" altLang="en-US" sz="2400" dirty="0"/>
          </a:p>
        </p:txBody>
      </p:sp>
      <p:cxnSp>
        <p:nvCxnSpPr>
          <p:cNvPr id="24" name="直線接點 23"/>
          <p:cNvCxnSpPr/>
          <p:nvPr/>
        </p:nvCxnSpPr>
        <p:spPr>
          <a:xfrm flipH="1">
            <a:off x="6873159" y="5466079"/>
            <a:ext cx="202700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1119977" y="3274844"/>
            <a:ext cx="1219200" cy="461665"/>
          </a:xfrm>
          <a:prstGeom prst="rect">
            <a:avLst/>
          </a:prstGeom>
          <a:noFill/>
        </p:spPr>
        <p:txBody>
          <a:bodyPr wrap="square" rtlCol="0">
            <a:spAutoFit/>
          </a:bodyPr>
          <a:lstStyle/>
          <a:p>
            <a:pPr algn="r"/>
            <a:r>
              <a:rPr lang="zh-TW" altLang="en-US" sz="2400" dirty="0">
                <a:latin typeface="Microsoft JhengHei" panose="020B0604030504040204" pitchFamily="34" charset="-120"/>
                <a:ea typeface="Microsoft JhengHei" panose="020B0604030504040204" pitchFamily="34" charset="-120"/>
              </a:rPr>
              <a:t>贏棋</a:t>
            </a:r>
            <a:endParaRPr lang="zh-TW" altLang="en-US" sz="2400" dirty="0">
              <a:latin typeface="Microsoft JhengHei" panose="020B0604030504040204" pitchFamily="34" charset="-120"/>
              <a:ea typeface="Microsoft JhengHei" panose="020B0604030504040204" pitchFamily="34" charset="-120"/>
            </a:endParaRPr>
          </a:p>
        </p:txBody>
      </p:sp>
      <p:pic>
        <p:nvPicPr>
          <p:cNvPr id="8" name="圖片 7"/>
          <p:cNvPicPr>
            <a:picLocks noChangeAspect="1"/>
          </p:cNvPicPr>
          <p:nvPr/>
        </p:nvPicPr>
        <p:blipFill>
          <a:blip r:embed="rId3"/>
          <a:stretch>
            <a:fillRect/>
          </a:stretch>
        </p:blipFill>
        <p:spPr>
          <a:xfrm>
            <a:off x="9103433" y="2946203"/>
            <a:ext cx="1969225" cy="1580611"/>
          </a:xfrm>
          <a:prstGeom prst="rect">
            <a:avLst/>
          </a:prstGeom>
        </p:spPr>
      </p:pic>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1528" y="2038359"/>
            <a:ext cx="1172381" cy="1172381"/>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線單箭頭接點 11"/>
          <p:cNvCxnSpPr/>
          <p:nvPr/>
        </p:nvCxnSpPr>
        <p:spPr>
          <a:xfrm flipV="1">
            <a:off x="2448572" y="4188732"/>
            <a:ext cx="602119" cy="390616"/>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2" name="文字方塊 21"/>
          <p:cNvSpPr txBox="1"/>
          <p:nvPr/>
        </p:nvSpPr>
        <p:spPr>
          <a:xfrm>
            <a:off x="821361" y="4657742"/>
            <a:ext cx="2705975" cy="830997"/>
          </a:xfrm>
          <a:prstGeom prst="rect">
            <a:avLst/>
          </a:prstGeom>
          <a:noFill/>
        </p:spPr>
        <p:txBody>
          <a:bodyPr wrap="square" rtlCol="0">
            <a:spAutoFit/>
          </a:bodyPr>
          <a:lstStyle/>
          <a:p>
            <a:r>
              <a:rPr lang="en-US" altLang="zh-TW" sz="2400" dirty="0"/>
              <a:t>RL:</a:t>
            </a:r>
            <a:r>
              <a:rPr lang="zh-TW" altLang="en-US" sz="2400" dirty="0"/>
              <a:t> </a:t>
            </a:r>
            <a:r>
              <a:rPr lang="en-US" altLang="zh-TW" sz="2400" dirty="0"/>
              <a:t>Learn to Maximize Reward </a:t>
            </a:r>
            <a:endParaRPr lang="zh-TW" altLang="en-US" sz="2400" dirty="0"/>
          </a:p>
        </p:txBody>
      </p:sp>
      <p:cxnSp>
        <p:nvCxnSpPr>
          <p:cNvPr id="23" name="直線接點 22"/>
          <p:cNvCxnSpPr/>
          <p:nvPr/>
        </p:nvCxnSpPr>
        <p:spPr>
          <a:xfrm flipH="1">
            <a:off x="4490044" y="3736508"/>
            <a:ext cx="3663356"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文字方塊 26"/>
          <p:cNvSpPr txBox="1"/>
          <p:nvPr/>
        </p:nvSpPr>
        <p:spPr>
          <a:xfrm>
            <a:off x="5149757" y="3784787"/>
            <a:ext cx="1971040" cy="461665"/>
          </a:xfrm>
          <a:prstGeom prst="rect">
            <a:avLst/>
          </a:prstGeom>
          <a:noFill/>
        </p:spPr>
        <p:txBody>
          <a:bodyPr wrap="square" rtlCol="0">
            <a:spAutoFit/>
          </a:bodyPr>
          <a:lstStyle/>
          <a:p>
            <a:pPr algn="ctr"/>
            <a:r>
              <a:rPr lang="en-US" altLang="zh-TW" sz="2400" dirty="0"/>
              <a:t>Reward</a:t>
            </a:r>
            <a:endParaRPr lang="zh-TW" altLang="en-US" sz="2400" dirty="0"/>
          </a:p>
        </p:txBody>
      </p:sp>
      <p:sp>
        <p:nvSpPr>
          <p:cNvPr id="17" name="文字方塊 16"/>
          <p:cNvSpPr txBox="1"/>
          <p:nvPr/>
        </p:nvSpPr>
        <p:spPr>
          <a:xfrm>
            <a:off x="8305800" y="146983"/>
            <a:ext cx="6096000" cy="461665"/>
          </a:xfrm>
          <a:prstGeom prst="rect">
            <a:avLst/>
          </a:prstGeom>
          <a:noFill/>
        </p:spPr>
        <p:txBody>
          <a:bodyPr wrap="square">
            <a:spAutoFit/>
          </a:bodyPr>
          <a:lstStyle/>
          <a:p>
            <a:r>
              <a:rPr lang="en-US" altLang="zh-TW" sz="2400" dirty="0"/>
              <a:t>(RL: Reinforcement Learning) </a:t>
            </a:r>
            <a:endParaRPr lang="zh-TW" altLang="en-US" sz="2400" dirty="0"/>
          </a:p>
        </p:txBody>
      </p:sp>
      <p:sp>
        <p:nvSpPr>
          <p:cNvPr id="19" name="文字方塊 18"/>
          <p:cNvSpPr txBox="1"/>
          <p:nvPr/>
        </p:nvSpPr>
        <p:spPr>
          <a:xfrm>
            <a:off x="4896485" y="4869804"/>
            <a:ext cx="2724150" cy="461665"/>
          </a:xfrm>
          <a:prstGeom prst="rect">
            <a:avLst/>
          </a:prstGeom>
          <a:noFill/>
        </p:spPr>
        <p:txBody>
          <a:bodyPr wrap="square" rtlCol="0">
            <a:spAutoFit/>
          </a:bodyPr>
          <a:lstStyle/>
          <a:p>
            <a:pPr algn="ctr"/>
            <a:r>
              <a:rPr lang="en-US" altLang="zh-TW" sz="2400" dirty="0"/>
              <a:t>“5-5”</a:t>
            </a:r>
            <a:endParaRPr lang="zh-TW" altLang="en-US" sz="2400" dirty="0"/>
          </a:p>
        </p:txBody>
      </p:sp>
      <p:sp>
        <p:nvSpPr>
          <p:cNvPr id="25" name="文字方塊 24"/>
          <p:cNvSpPr txBox="1"/>
          <p:nvPr/>
        </p:nvSpPr>
        <p:spPr>
          <a:xfrm>
            <a:off x="1229902" y="5976022"/>
            <a:ext cx="9810749" cy="461665"/>
          </a:xfrm>
          <a:prstGeom prst="rect">
            <a:avLst/>
          </a:prstGeom>
          <a:noFill/>
        </p:spPr>
        <p:txBody>
          <a:bodyPr wrap="square" rtlCol="0">
            <a:spAutoFit/>
          </a:bodyPr>
          <a:lstStyle/>
          <a:p>
            <a:pPr algn="ctr"/>
            <a:r>
              <a:rPr lang="zh-TW" altLang="en-US" sz="2400" dirty="0">
                <a:latin typeface="Microsoft JhengHei" panose="020B0604030504040204" pitchFamily="34" charset="-120"/>
                <a:ea typeface="Microsoft JhengHei" panose="020B0604030504040204" pitchFamily="34" charset="-120"/>
              </a:rPr>
              <a:t>侷限：需要為了每一個任務以 </a:t>
            </a:r>
            <a:r>
              <a:rPr lang="en-US" altLang="zh-TW" sz="2400" dirty="0">
                <a:latin typeface="Microsoft JhengHei" panose="020B0604030504040204" pitchFamily="34" charset="-120"/>
                <a:ea typeface="Microsoft JhengHei" panose="020B0604030504040204" pitchFamily="34" charset="-120"/>
              </a:rPr>
              <a:t>RL</a:t>
            </a:r>
            <a:r>
              <a:rPr lang="zh-TW" altLang="en-US" sz="2400" dirty="0">
                <a:latin typeface="Microsoft JhengHei" panose="020B0604030504040204" pitchFamily="34" charset="-120"/>
                <a:ea typeface="Microsoft JhengHei" panose="020B0604030504040204" pitchFamily="34" charset="-120"/>
              </a:rPr>
              <a:t> 訓練模型</a:t>
            </a:r>
            <a:endParaRPr lang="zh-TW" altLang="en-US" sz="2400" dirty="0">
              <a:latin typeface="Microsoft JhengHei" panose="020B0604030504040204" pitchFamily="34" charset="-120"/>
              <a:ea typeface="Microsoft JhengHei" panose="020B0604030504040204" pitchFamily="34" charset="-120"/>
            </a:endParaRPr>
          </a:p>
        </p:txBody>
      </p:sp>
      <p:sp>
        <p:nvSpPr>
          <p:cNvPr id="6" name="文字方塊 5"/>
          <p:cNvSpPr txBox="1"/>
          <p:nvPr/>
        </p:nvSpPr>
        <p:spPr>
          <a:xfrm>
            <a:off x="5245674" y="1499460"/>
            <a:ext cx="1971040" cy="461665"/>
          </a:xfrm>
          <a:prstGeom prst="rect">
            <a:avLst/>
          </a:prstGeom>
          <a:noFill/>
        </p:spPr>
        <p:txBody>
          <a:bodyPr wrap="square" rtlCol="0">
            <a:spAutoFit/>
          </a:bodyPr>
          <a:lstStyle/>
          <a:p>
            <a:pPr algn="ctr"/>
            <a:r>
              <a:rPr lang="en-US" altLang="zh-TW" sz="2400" dirty="0"/>
              <a:t>Observation</a:t>
            </a:r>
            <a:endParaRPr lang="zh-TW" altLang="en-US" sz="2400" dirty="0"/>
          </a:p>
        </p:txBody>
      </p:sp>
      <p:cxnSp>
        <p:nvCxnSpPr>
          <p:cNvPr id="9" name="直線接點 8"/>
          <p:cNvCxnSpPr/>
          <p:nvPr/>
        </p:nvCxnSpPr>
        <p:spPr>
          <a:xfrm flipH="1">
            <a:off x="7121464" y="1757363"/>
            <a:ext cx="1754485"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7"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如何打造 </a:t>
            </a:r>
            <a:r>
              <a:rPr lang="en-US" altLang="zh-TW" dirty="0">
                <a:latin typeface="Microsoft JhengHei" panose="020B0604030504040204" pitchFamily="34" charset="-120"/>
                <a:ea typeface="Microsoft JhengHei" panose="020B0604030504040204" pitchFamily="34" charset="-120"/>
              </a:rPr>
              <a:t>AI Agent? </a:t>
            </a:r>
            <a:r>
              <a:rPr lang="zh-TW" altLang="en-US" dirty="0">
                <a:latin typeface="Microsoft JhengHei" panose="020B0604030504040204" pitchFamily="34" charset="-120"/>
                <a:ea typeface="Microsoft JhengHei" panose="020B0604030504040204" pitchFamily="34" charset="-120"/>
              </a:rPr>
              <a:t>直接用 </a:t>
            </a:r>
            <a:r>
              <a:rPr lang="en-US" altLang="zh-TW" dirty="0">
                <a:latin typeface="Microsoft JhengHei" panose="020B0604030504040204" pitchFamily="34" charset="-120"/>
                <a:ea typeface="Microsoft JhengHei" panose="020B0604030504040204" pitchFamily="34" charset="-120"/>
              </a:rPr>
              <a:t>LLM</a:t>
            </a:r>
            <a:r>
              <a:rPr lang="zh-TW" altLang="en-US" dirty="0">
                <a:latin typeface="Microsoft JhengHei" panose="020B0604030504040204" pitchFamily="34" charset="-120"/>
                <a:ea typeface="Microsoft JhengHei" panose="020B0604030504040204" pitchFamily="34" charset="-120"/>
              </a:rPr>
              <a:t>！</a:t>
            </a:r>
            <a:endParaRPr lang="zh-TW" altLang="en-US" dirty="0">
              <a:latin typeface="Microsoft JhengHei" panose="020B0604030504040204" pitchFamily="34" charset="-120"/>
              <a:ea typeface="Microsoft JhengHei" panose="020B0604030504040204" pitchFamily="34" charset="-120"/>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2042" y="3098163"/>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5559" y="3098164"/>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接點 6"/>
          <p:cNvCxnSpPr/>
          <p:nvPr/>
        </p:nvCxnSpPr>
        <p:spPr>
          <a:xfrm>
            <a:off x="3616960" y="5466080"/>
            <a:ext cx="2021840"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3596640" y="4384040"/>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flipV="1">
            <a:off x="8920480" y="4384040"/>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flipH="1">
            <a:off x="3616960" y="1757364"/>
            <a:ext cx="174616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flipH="1" flipV="1">
            <a:off x="8920480" y="1757364"/>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flipH="1">
            <a:off x="3596640" y="1757364"/>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1328298" y="2839404"/>
            <a:ext cx="1016000" cy="461665"/>
          </a:xfrm>
          <a:prstGeom prst="rect">
            <a:avLst/>
          </a:prstGeom>
          <a:noFill/>
        </p:spPr>
        <p:txBody>
          <a:bodyPr wrap="square" rtlCol="0">
            <a:spAutoFit/>
          </a:bodyPr>
          <a:lstStyle/>
          <a:p>
            <a:pPr algn="r"/>
            <a:r>
              <a:rPr lang="en-US" altLang="zh-TW" sz="2400" dirty="0"/>
              <a:t>Goal</a:t>
            </a:r>
            <a:endParaRPr lang="zh-TW" altLang="en-US" sz="2400" dirty="0"/>
          </a:p>
        </p:txBody>
      </p:sp>
      <p:cxnSp>
        <p:nvCxnSpPr>
          <p:cNvPr id="20" name="直線單箭頭接點 19"/>
          <p:cNvCxnSpPr/>
          <p:nvPr/>
        </p:nvCxnSpPr>
        <p:spPr>
          <a:xfrm>
            <a:off x="2344298" y="3198168"/>
            <a:ext cx="503002" cy="23083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5273040" y="5235247"/>
            <a:ext cx="1971040" cy="461665"/>
          </a:xfrm>
          <a:prstGeom prst="rect">
            <a:avLst/>
          </a:prstGeom>
          <a:noFill/>
        </p:spPr>
        <p:txBody>
          <a:bodyPr wrap="square" rtlCol="0">
            <a:spAutoFit/>
          </a:bodyPr>
          <a:lstStyle/>
          <a:p>
            <a:pPr algn="ctr"/>
            <a:r>
              <a:rPr lang="en-US" altLang="zh-TW" sz="2400" dirty="0"/>
              <a:t>Action</a:t>
            </a:r>
            <a:endParaRPr lang="zh-TW" altLang="en-US" sz="2400" dirty="0"/>
          </a:p>
        </p:txBody>
      </p:sp>
      <p:cxnSp>
        <p:nvCxnSpPr>
          <p:cNvPr id="24" name="直線接點 23"/>
          <p:cNvCxnSpPr/>
          <p:nvPr/>
        </p:nvCxnSpPr>
        <p:spPr>
          <a:xfrm flipH="1">
            <a:off x="6873159" y="5466079"/>
            <a:ext cx="202700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V="1">
            <a:off x="2448572" y="4188732"/>
            <a:ext cx="602119" cy="390616"/>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2" name="文字方塊 21"/>
          <p:cNvSpPr txBox="1"/>
          <p:nvPr/>
        </p:nvSpPr>
        <p:spPr>
          <a:xfrm>
            <a:off x="772173" y="4577716"/>
            <a:ext cx="1572125" cy="461665"/>
          </a:xfrm>
          <a:prstGeom prst="rect">
            <a:avLst/>
          </a:prstGeom>
          <a:noFill/>
        </p:spPr>
        <p:txBody>
          <a:bodyPr wrap="square" rtlCol="0">
            <a:spAutoFit/>
          </a:bodyPr>
          <a:lstStyle/>
          <a:p>
            <a:pPr algn="r"/>
            <a:r>
              <a:rPr lang="en-US" altLang="zh-TW" sz="2400" dirty="0"/>
              <a:t>LLM</a:t>
            </a:r>
            <a:endParaRPr lang="zh-TW" altLang="en-US" sz="2400" dirty="0"/>
          </a:p>
        </p:txBody>
      </p:sp>
      <p:sp>
        <p:nvSpPr>
          <p:cNvPr id="29" name="文字方塊 28"/>
          <p:cNvSpPr txBox="1"/>
          <p:nvPr/>
        </p:nvSpPr>
        <p:spPr>
          <a:xfrm>
            <a:off x="11428" y="3347200"/>
            <a:ext cx="2738203" cy="461665"/>
          </a:xfrm>
          <a:prstGeom prst="rect">
            <a:avLst/>
          </a:prstGeom>
          <a:noFill/>
        </p:spPr>
        <p:txBody>
          <a:bodyPr wrap="square" rtlCol="0">
            <a:spAutoFit/>
          </a:bodyPr>
          <a:lstStyle/>
          <a:p>
            <a:r>
              <a:rPr lang="en-US" altLang="zh-TW" sz="2400" dirty="0">
                <a:latin typeface="Microsoft JhengHei" panose="020B0604030504040204" pitchFamily="34" charset="-120"/>
                <a:ea typeface="Microsoft JhengHei" panose="020B0604030504040204" pitchFamily="34" charset="-120"/>
              </a:rPr>
              <a:t>“</a:t>
            </a:r>
            <a:r>
              <a:rPr lang="zh-TW" altLang="en-US" sz="2400" dirty="0">
                <a:latin typeface="Microsoft JhengHei" panose="020B0604030504040204" pitchFamily="34" charset="-120"/>
                <a:ea typeface="Microsoft JhengHei" panose="020B0604030504040204" pitchFamily="34" charset="-120"/>
              </a:rPr>
              <a:t>你要贏得勝利</a:t>
            </a:r>
            <a:r>
              <a:rPr lang="en-US" altLang="zh-TW" sz="2400" dirty="0">
                <a:latin typeface="Microsoft JhengHei" panose="020B0604030504040204" pitchFamily="34" charset="-120"/>
                <a:ea typeface="Microsoft JhengHei" panose="020B0604030504040204" pitchFamily="34" charset="-120"/>
              </a:rPr>
              <a:t>”</a:t>
            </a:r>
            <a:endParaRPr lang="zh-TW" altLang="en-US" sz="2400" dirty="0">
              <a:latin typeface="Microsoft JhengHei" panose="020B0604030504040204" pitchFamily="34" charset="-120"/>
              <a:ea typeface="Microsoft JhengHei" panose="020B0604030504040204" pitchFamily="34" charset="-120"/>
            </a:endParaRPr>
          </a:p>
        </p:txBody>
      </p:sp>
      <p:sp>
        <p:nvSpPr>
          <p:cNvPr id="30" name="文字方塊 29"/>
          <p:cNvSpPr txBox="1"/>
          <p:nvPr/>
        </p:nvSpPr>
        <p:spPr>
          <a:xfrm>
            <a:off x="4873605" y="4771691"/>
            <a:ext cx="2724150" cy="461665"/>
          </a:xfrm>
          <a:prstGeom prst="rect">
            <a:avLst/>
          </a:prstGeom>
          <a:noFill/>
        </p:spPr>
        <p:txBody>
          <a:bodyPr wrap="square" rtlCol="0">
            <a:spAutoFit/>
          </a:bodyPr>
          <a:lstStyle/>
          <a:p>
            <a:pPr algn="ctr"/>
            <a:r>
              <a:rPr lang="en-US" altLang="zh-TW" sz="2400" dirty="0">
                <a:latin typeface="Microsoft JhengHei" panose="020B0604030504040204" pitchFamily="34" charset="-120"/>
                <a:ea typeface="Microsoft JhengHei" panose="020B0604030504040204" pitchFamily="34" charset="-120"/>
              </a:rPr>
              <a:t>“</a:t>
            </a:r>
            <a:r>
              <a:rPr lang="zh-TW" altLang="en-US" sz="2400" dirty="0">
                <a:latin typeface="Microsoft JhengHei" panose="020B0604030504040204" pitchFamily="34" charset="-120"/>
                <a:ea typeface="Microsoft JhengHei" panose="020B0604030504040204" pitchFamily="34" charset="-120"/>
              </a:rPr>
              <a:t>我要下在 </a:t>
            </a:r>
            <a:r>
              <a:rPr lang="en-US" altLang="zh-TW" sz="2400" dirty="0">
                <a:latin typeface="Microsoft JhengHei" panose="020B0604030504040204" pitchFamily="34" charset="-120"/>
                <a:ea typeface="Microsoft JhengHei" panose="020B0604030504040204" pitchFamily="34" charset="-120"/>
              </a:rPr>
              <a:t>5-5”</a:t>
            </a:r>
            <a:endParaRPr lang="zh-TW" altLang="en-US" sz="2400" dirty="0">
              <a:latin typeface="Microsoft JhengHei" panose="020B0604030504040204" pitchFamily="34" charset="-120"/>
              <a:ea typeface="Microsoft JhengHei" panose="020B0604030504040204" pitchFamily="34" charset="-120"/>
            </a:endParaRPr>
          </a:p>
        </p:txBody>
      </p:sp>
      <p:pic>
        <p:nvPicPr>
          <p:cNvPr id="3" name="圖片 2"/>
          <p:cNvPicPr>
            <a:picLocks noChangeAspect="1"/>
          </p:cNvPicPr>
          <p:nvPr/>
        </p:nvPicPr>
        <p:blipFill>
          <a:blip r:embed="rId3"/>
          <a:stretch>
            <a:fillRect/>
          </a:stretch>
        </p:blipFill>
        <p:spPr>
          <a:xfrm>
            <a:off x="9103433" y="2946203"/>
            <a:ext cx="1969225" cy="1580611"/>
          </a:xfrm>
          <a:prstGeom prst="rect">
            <a:avLst/>
          </a:prstGeom>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894" y="2000071"/>
            <a:ext cx="1172381" cy="1172381"/>
          </a:xfrm>
          <a:prstGeom prst="rect">
            <a:avLst/>
          </a:prstGeom>
          <a:noFill/>
          <a:extLst>
            <a:ext uri="{909E8E84-426E-40DD-AFC4-6F175D3DCCD1}">
              <a14:hiddenFill xmlns:a14="http://schemas.microsoft.com/office/drawing/2010/main">
                <a:solidFill>
                  <a:srgbClr val="FFFFFF"/>
                </a:solidFill>
              </a14:hiddenFill>
            </a:ext>
          </a:extLst>
        </p:spPr>
      </p:pic>
      <p:sp>
        <p:nvSpPr>
          <p:cNvPr id="8" name="文字方塊 7"/>
          <p:cNvSpPr txBox="1"/>
          <p:nvPr/>
        </p:nvSpPr>
        <p:spPr>
          <a:xfrm>
            <a:off x="1750556" y="1769634"/>
            <a:ext cx="1825765" cy="461665"/>
          </a:xfrm>
          <a:prstGeom prst="rect">
            <a:avLst/>
          </a:prstGeom>
          <a:noFill/>
        </p:spPr>
        <p:txBody>
          <a:bodyPr wrap="square" rtlCol="0">
            <a:spAutoFit/>
          </a:bodyPr>
          <a:lstStyle/>
          <a:p>
            <a:pPr algn="ctr"/>
            <a:r>
              <a:rPr lang="zh-TW" altLang="en-US" sz="2400" dirty="0">
                <a:latin typeface="Microsoft JhengHei" panose="020B0604030504040204" pitchFamily="34" charset="-120"/>
                <a:ea typeface="Microsoft JhengHei" panose="020B0604030504040204" pitchFamily="34" charset="-120"/>
              </a:rPr>
              <a:t>以文字描述</a:t>
            </a:r>
            <a:endParaRPr lang="zh-TW" altLang="en-US" sz="2400" dirty="0">
              <a:latin typeface="Microsoft JhengHei" panose="020B0604030504040204" pitchFamily="34" charset="-120"/>
              <a:ea typeface="Microsoft JhengHei" panose="020B0604030504040204" pitchFamily="34" charset="-120"/>
            </a:endParaRPr>
          </a:p>
        </p:txBody>
      </p:sp>
      <p:sp>
        <p:nvSpPr>
          <p:cNvPr id="10" name="文字方塊 9"/>
          <p:cNvSpPr txBox="1"/>
          <p:nvPr/>
        </p:nvSpPr>
        <p:spPr>
          <a:xfrm>
            <a:off x="8496300" y="4856393"/>
            <a:ext cx="2724150" cy="461665"/>
          </a:xfrm>
          <a:prstGeom prst="rect">
            <a:avLst/>
          </a:prstGeom>
          <a:noFill/>
        </p:spPr>
        <p:txBody>
          <a:bodyPr wrap="square" rtlCol="0">
            <a:spAutoFit/>
          </a:bodyPr>
          <a:lstStyle/>
          <a:p>
            <a:pPr algn="ctr"/>
            <a:r>
              <a:rPr lang="zh-TW" altLang="en-US" sz="2400" dirty="0">
                <a:latin typeface="Microsoft JhengHei" panose="020B0604030504040204" pitchFamily="34" charset="-120"/>
                <a:ea typeface="Microsoft JhengHei" panose="020B0604030504040204" pitchFamily="34" charset="-120"/>
              </a:rPr>
              <a:t>轉譯為行動</a:t>
            </a:r>
            <a:endParaRPr lang="zh-TW" altLang="en-US" sz="2400" dirty="0">
              <a:latin typeface="Microsoft JhengHei" panose="020B0604030504040204" pitchFamily="34" charset="-120"/>
              <a:ea typeface="Microsoft JhengHei" panose="020B0604030504040204" pitchFamily="34" charset="-120"/>
            </a:endParaRPr>
          </a:p>
        </p:txBody>
      </p:sp>
      <p:sp>
        <p:nvSpPr>
          <p:cNvPr id="17" name="文字方塊 16"/>
          <p:cNvSpPr txBox="1"/>
          <p:nvPr/>
        </p:nvSpPr>
        <p:spPr>
          <a:xfrm>
            <a:off x="1730237" y="2144999"/>
            <a:ext cx="1825765" cy="461665"/>
          </a:xfrm>
          <a:prstGeom prst="rect">
            <a:avLst/>
          </a:prstGeom>
          <a:noFill/>
        </p:spPr>
        <p:txBody>
          <a:bodyPr wrap="square" rtlCol="0">
            <a:spAutoFit/>
          </a:bodyPr>
          <a:lstStyle/>
          <a:p>
            <a:pPr algn="ctr"/>
            <a:r>
              <a:rPr lang="en-US" altLang="zh-TW" sz="2400" dirty="0">
                <a:latin typeface="Microsoft JhengHei" panose="020B0604030504040204" pitchFamily="34" charset="-120"/>
                <a:ea typeface="Microsoft JhengHei" panose="020B0604030504040204" pitchFamily="34" charset="-120"/>
              </a:rPr>
              <a:t>(option)</a:t>
            </a:r>
            <a:endParaRPr lang="zh-TW" altLang="en-US" sz="2400" dirty="0">
              <a:latin typeface="Microsoft JhengHei" panose="020B0604030504040204" pitchFamily="34" charset="-120"/>
              <a:ea typeface="Microsoft JhengHei" panose="020B0604030504040204" pitchFamily="34" charset="-120"/>
            </a:endParaRPr>
          </a:p>
        </p:txBody>
      </p:sp>
      <p:sp>
        <p:nvSpPr>
          <p:cNvPr id="23" name="文字方塊 22"/>
          <p:cNvSpPr txBox="1"/>
          <p:nvPr/>
        </p:nvSpPr>
        <p:spPr>
          <a:xfrm>
            <a:off x="5245674" y="1499460"/>
            <a:ext cx="1971040" cy="461665"/>
          </a:xfrm>
          <a:prstGeom prst="rect">
            <a:avLst/>
          </a:prstGeom>
          <a:noFill/>
        </p:spPr>
        <p:txBody>
          <a:bodyPr wrap="square" rtlCol="0">
            <a:spAutoFit/>
          </a:bodyPr>
          <a:lstStyle/>
          <a:p>
            <a:pPr algn="ctr"/>
            <a:r>
              <a:rPr lang="en-US" altLang="zh-TW" sz="2400" dirty="0"/>
              <a:t>Observation</a:t>
            </a:r>
            <a:endParaRPr lang="zh-TW" altLang="en-US" sz="2400" dirty="0"/>
          </a:p>
        </p:txBody>
      </p:sp>
      <p:cxnSp>
        <p:nvCxnSpPr>
          <p:cNvPr id="27" name="直線接點 26"/>
          <p:cNvCxnSpPr/>
          <p:nvPr/>
        </p:nvCxnSpPr>
        <p:spPr>
          <a:xfrm flipH="1">
            <a:off x="7121464" y="1757363"/>
            <a:ext cx="1754485"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文字方塊 30"/>
          <p:cNvSpPr txBox="1"/>
          <p:nvPr/>
        </p:nvSpPr>
        <p:spPr>
          <a:xfrm>
            <a:off x="838200" y="5927744"/>
            <a:ext cx="7245390" cy="523220"/>
          </a:xfrm>
          <a:prstGeom prst="rect">
            <a:avLst/>
          </a:prstGeom>
          <a:noFill/>
        </p:spPr>
        <p:txBody>
          <a:bodyPr wrap="square" rtlCol="0">
            <a:spAutoFit/>
          </a:bodyPr>
          <a:lstStyle/>
          <a:p>
            <a:r>
              <a:rPr lang="zh-TW" altLang="en-US" sz="2800" dirty="0">
                <a:latin typeface="Microsoft JhengHei" panose="020B0604030504040204" pitchFamily="34" charset="-120"/>
                <a:ea typeface="Microsoft JhengHei" panose="020B0604030504040204" pitchFamily="34" charset="-120"/>
              </a:rPr>
              <a:t>以 </a:t>
            </a:r>
            <a:r>
              <a:rPr lang="en-US" altLang="zh-TW" sz="2800" dirty="0">
                <a:latin typeface="Microsoft JhengHei" panose="020B0604030504040204" pitchFamily="34" charset="-120"/>
                <a:ea typeface="Microsoft JhengHei" panose="020B0604030504040204" pitchFamily="34" charset="-120"/>
              </a:rPr>
              <a:t>LLM</a:t>
            </a:r>
            <a:r>
              <a:rPr lang="zh-TW" altLang="en-US" sz="2800" dirty="0">
                <a:latin typeface="Microsoft JhengHei" panose="020B0604030504040204" pitchFamily="34" charset="-120"/>
                <a:ea typeface="Microsoft JhengHei" panose="020B0604030504040204" pitchFamily="34" charset="-120"/>
              </a:rPr>
              <a:t> 直接實踐人類對於擁有 </a:t>
            </a:r>
            <a:r>
              <a:rPr lang="en-US" altLang="zh-TW" sz="2800" dirty="0">
                <a:latin typeface="Microsoft JhengHei" panose="020B0604030504040204" pitchFamily="34" charset="-120"/>
                <a:ea typeface="Microsoft JhengHei" panose="020B0604030504040204" pitchFamily="34" charset="-120"/>
              </a:rPr>
              <a:t>Agent </a:t>
            </a:r>
            <a:r>
              <a:rPr lang="zh-TW" altLang="en-US" sz="2800" dirty="0">
                <a:latin typeface="Microsoft JhengHei" panose="020B0604030504040204" pitchFamily="34" charset="-120"/>
                <a:ea typeface="Microsoft JhengHei" panose="020B0604030504040204" pitchFamily="34" charset="-120"/>
              </a:rPr>
              <a:t>的渴望</a:t>
            </a:r>
            <a:endParaRPr lang="zh-TW" altLang="en-US" sz="28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9" grpId="0"/>
      <p:bldP spid="30" grpId="0"/>
      <p:bldP spid="8" grpId="0"/>
      <p:bldP spid="10" grpId="0"/>
      <p:bldP spid="17"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LLM</a:t>
            </a:r>
            <a:r>
              <a:rPr lang="zh-TW" altLang="en-US" dirty="0">
                <a:latin typeface="Microsoft JhengHei" panose="020B0604030504040204" pitchFamily="34" charset="-120"/>
                <a:ea typeface="Microsoft JhengHei" panose="020B0604030504040204" pitchFamily="34" charset="-120"/>
              </a:rPr>
              <a:t> 能不能下棋？</a:t>
            </a:r>
            <a:endParaRPr lang="zh-TW" altLang="en-US" dirty="0"/>
          </a:p>
        </p:txBody>
      </p:sp>
      <p:sp>
        <p:nvSpPr>
          <p:cNvPr id="3" name="內容版面配置區 2"/>
          <p:cNvSpPr>
            <a:spLocks noGrp="1"/>
          </p:cNvSpPr>
          <p:nvPr>
            <p:ph idx="1"/>
          </p:nvPr>
        </p:nvSpPr>
        <p:spPr/>
        <p:txBody>
          <a:bodyPr/>
          <a:lstStyle/>
          <a:p>
            <a:r>
              <a:rPr lang="en-US" altLang="zh-TW" dirty="0"/>
              <a:t>BIG-bench</a:t>
            </a:r>
            <a:endParaRPr lang="zh-TW" altLang="en-US" dirty="0"/>
          </a:p>
        </p:txBody>
      </p:sp>
      <p:pic>
        <p:nvPicPr>
          <p:cNvPr id="4" name="圖片 3"/>
          <p:cNvPicPr>
            <a:picLocks noChangeAspect="1"/>
          </p:cNvPicPr>
          <p:nvPr/>
        </p:nvPicPr>
        <p:blipFill>
          <a:blip r:embed="rId1"/>
          <a:stretch>
            <a:fillRect/>
          </a:stretch>
        </p:blipFill>
        <p:spPr>
          <a:xfrm>
            <a:off x="614636" y="4986337"/>
            <a:ext cx="11305627" cy="1325563"/>
          </a:xfrm>
          <a:prstGeom prst="rect">
            <a:avLst/>
          </a:prstGeom>
        </p:spPr>
      </p:pic>
      <p:pic>
        <p:nvPicPr>
          <p:cNvPr id="5" name="圖片 4"/>
          <p:cNvPicPr>
            <a:picLocks noChangeAspect="1"/>
          </p:cNvPicPr>
          <p:nvPr/>
        </p:nvPicPr>
        <p:blipFill>
          <a:blip r:embed="rId2"/>
          <a:stretch>
            <a:fillRect/>
          </a:stretch>
        </p:blipFill>
        <p:spPr>
          <a:xfrm>
            <a:off x="7105086" y="265576"/>
            <a:ext cx="4596666" cy="4585824"/>
          </a:xfrm>
          <a:prstGeom prst="rect">
            <a:avLst/>
          </a:prstGeom>
        </p:spPr>
      </p:pic>
      <p:sp>
        <p:nvSpPr>
          <p:cNvPr id="7" name="文字方塊 6"/>
          <p:cNvSpPr txBox="1"/>
          <p:nvPr/>
        </p:nvSpPr>
        <p:spPr>
          <a:xfrm>
            <a:off x="1009086" y="2373822"/>
            <a:ext cx="6096000" cy="369332"/>
          </a:xfrm>
          <a:prstGeom prst="rect">
            <a:avLst/>
          </a:prstGeom>
          <a:noFill/>
        </p:spPr>
        <p:txBody>
          <a:bodyPr wrap="square">
            <a:spAutoFit/>
          </a:bodyPr>
          <a:lstStyle/>
          <a:p>
            <a:r>
              <a:rPr lang="zh-TW" altLang="en-US" dirty="0"/>
              <a:t>https://arxiv.org/abs/2206.04615</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LLM</a:t>
            </a:r>
            <a:r>
              <a:rPr lang="zh-TW" altLang="en-US" dirty="0">
                <a:latin typeface="Microsoft JhengHei" panose="020B0604030504040204" pitchFamily="34" charset="-120"/>
                <a:ea typeface="Microsoft JhengHei" panose="020B0604030504040204" pitchFamily="34" charset="-120"/>
              </a:rPr>
              <a:t> 能不能下棋？</a:t>
            </a:r>
            <a:endParaRPr lang="zh-TW" altLang="en-US" dirty="0">
              <a:latin typeface="Microsoft JhengHei" panose="020B0604030504040204" pitchFamily="34" charset="-120"/>
              <a:ea typeface="Microsoft JhengHei" panose="020B0604030504040204" pitchFamily="34" charset="-120"/>
            </a:endParaRPr>
          </a:p>
        </p:txBody>
      </p:sp>
      <p:sp>
        <p:nvSpPr>
          <p:cNvPr id="3" name="內容版面配置區 2"/>
          <p:cNvSpPr>
            <a:spLocks noGrp="1"/>
          </p:cNvSpPr>
          <p:nvPr>
            <p:ph idx="1"/>
          </p:nvPr>
        </p:nvSpPr>
        <p:spPr/>
        <p:txBody>
          <a:bodyPr/>
          <a:lstStyle/>
          <a:p>
            <a:endParaRPr lang="zh-TW" altLang="en-US"/>
          </a:p>
        </p:txBody>
      </p:sp>
      <p:pic>
        <p:nvPicPr>
          <p:cNvPr id="5" name="圖片 4"/>
          <p:cNvPicPr>
            <a:picLocks noChangeAspect="1"/>
          </p:cNvPicPr>
          <p:nvPr/>
        </p:nvPicPr>
        <p:blipFill>
          <a:blip r:embed="rId1"/>
          <a:stretch>
            <a:fillRect/>
          </a:stretch>
        </p:blipFill>
        <p:spPr>
          <a:xfrm>
            <a:off x="4181042" y="1825625"/>
            <a:ext cx="7344208" cy="4496915"/>
          </a:xfrm>
          <a:prstGeom prst="rect">
            <a:avLst/>
          </a:prstGeom>
        </p:spPr>
      </p:pic>
      <p:sp>
        <p:nvSpPr>
          <p:cNvPr id="7" name="文字方塊 6"/>
          <p:cNvSpPr txBox="1"/>
          <p:nvPr/>
        </p:nvSpPr>
        <p:spPr>
          <a:xfrm>
            <a:off x="6438900" y="1321356"/>
            <a:ext cx="6096000" cy="369332"/>
          </a:xfrm>
          <a:prstGeom prst="rect">
            <a:avLst/>
          </a:prstGeom>
          <a:noFill/>
        </p:spPr>
        <p:txBody>
          <a:bodyPr wrap="square">
            <a:spAutoFit/>
          </a:bodyPr>
          <a:lstStyle/>
          <a:p>
            <a:r>
              <a:rPr lang="zh-TW" altLang="en-US" dirty="0"/>
              <a:t>https://youtu.be/JHq4EKMg7fI?si=izKsH-GCVnZkooq_</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如何打造 </a:t>
            </a:r>
            <a:r>
              <a:rPr lang="en-US" altLang="zh-TW" dirty="0">
                <a:latin typeface="Microsoft JhengHei" panose="020B0604030504040204" pitchFamily="34" charset="-120"/>
                <a:ea typeface="Microsoft JhengHei" panose="020B0604030504040204" pitchFamily="34" charset="-120"/>
              </a:rPr>
              <a:t>AI Agent? </a:t>
            </a:r>
            <a:r>
              <a:rPr lang="zh-TW" altLang="en-US" dirty="0">
                <a:latin typeface="Microsoft JhengHei" panose="020B0604030504040204" pitchFamily="34" charset="-120"/>
                <a:ea typeface="Microsoft JhengHei" panose="020B0604030504040204" pitchFamily="34" charset="-120"/>
              </a:rPr>
              <a:t>直接用 </a:t>
            </a:r>
            <a:r>
              <a:rPr lang="en-US" altLang="zh-TW" dirty="0">
                <a:latin typeface="Microsoft JhengHei" panose="020B0604030504040204" pitchFamily="34" charset="-120"/>
                <a:ea typeface="Microsoft JhengHei" panose="020B0604030504040204" pitchFamily="34" charset="-120"/>
              </a:rPr>
              <a:t>LLM</a:t>
            </a:r>
            <a:r>
              <a:rPr lang="zh-TW" altLang="en-US" dirty="0">
                <a:latin typeface="Microsoft JhengHei" panose="020B0604030504040204" pitchFamily="34" charset="-120"/>
                <a:ea typeface="Microsoft JhengHei" panose="020B0604030504040204" pitchFamily="34" charset="-120"/>
              </a:rPr>
              <a:t>！</a:t>
            </a:r>
            <a:endParaRPr lang="zh-TW"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2042" y="3098163"/>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5559" y="3098164"/>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接點 6"/>
          <p:cNvCxnSpPr/>
          <p:nvPr/>
        </p:nvCxnSpPr>
        <p:spPr>
          <a:xfrm>
            <a:off x="3616960" y="5466080"/>
            <a:ext cx="2021840"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3596640" y="4384040"/>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flipV="1">
            <a:off x="8920480" y="4384040"/>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flipH="1">
            <a:off x="3616960" y="1757364"/>
            <a:ext cx="174616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flipH="1" flipV="1">
            <a:off x="8920480" y="1757364"/>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flipH="1">
            <a:off x="3596640" y="1757364"/>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1328298" y="2839404"/>
            <a:ext cx="1016000" cy="461665"/>
          </a:xfrm>
          <a:prstGeom prst="rect">
            <a:avLst/>
          </a:prstGeom>
          <a:noFill/>
        </p:spPr>
        <p:txBody>
          <a:bodyPr wrap="square" rtlCol="0">
            <a:spAutoFit/>
          </a:bodyPr>
          <a:lstStyle/>
          <a:p>
            <a:pPr algn="r"/>
            <a:r>
              <a:rPr lang="en-US" altLang="zh-TW" sz="2400" dirty="0"/>
              <a:t>Goal</a:t>
            </a:r>
            <a:endParaRPr lang="zh-TW" altLang="en-US" sz="2400" dirty="0"/>
          </a:p>
        </p:txBody>
      </p:sp>
      <p:cxnSp>
        <p:nvCxnSpPr>
          <p:cNvPr id="20" name="直線單箭頭接點 19"/>
          <p:cNvCxnSpPr/>
          <p:nvPr/>
        </p:nvCxnSpPr>
        <p:spPr>
          <a:xfrm>
            <a:off x="2344298" y="3198168"/>
            <a:ext cx="503002" cy="23083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5273040" y="5235247"/>
            <a:ext cx="1971040" cy="461665"/>
          </a:xfrm>
          <a:prstGeom prst="rect">
            <a:avLst/>
          </a:prstGeom>
          <a:noFill/>
        </p:spPr>
        <p:txBody>
          <a:bodyPr wrap="square" rtlCol="0">
            <a:spAutoFit/>
          </a:bodyPr>
          <a:lstStyle/>
          <a:p>
            <a:pPr algn="ctr"/>
            <a:r>
              <a:rPr lang="en-US" altLang="zh-TW" sz="2400" dirty="0"/>
              <a:t>Action</a:t>
            </a:r>
            <a:endParaRPr lang="zh-TW" altLang="en-US" sz="2400" dirty="0"/>
          </a:p>
        </p:txBody>
      </p:sp>
      <p:cxnSp>
        <p:nvCxnSpPr>
          <p:cNvPr id="24" name="直線接點 23"/>
          <p:cNvCxnSpPr/>
          <p:nvPr/>
        </p:nvCxnSpPr>
        <p:spPr>
          <a:xfrm flipH="1">
            <a:off x="6873159" y="5466079"/>
            <a:ext cx="202700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flipV="1">
            <a:off x="2448572" y="4188732"/>
            <a:ext cx="602119" cy="390616"/>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2" name="文字方塊 21"/>
          <p:cNvSpPr txBox="1"/>
          <p:nvPr/>
        </p:nvSpPr>
        <p:spPr>
          <a:xfrm>
            <a:off x="772173" y="4577716"/>
            <a:ext cx="1572125" cy="461665"/>
          </a:xfrm>
          <a:prstGeom prst="rect">
            <a:avLst/>
          </a:prstGeom>
          <a:noFill/>
        </p:spPr>
        <p:txBody>
          <a:bodyPr wrap="square" rtlCol="0">
            <a:spAutoFit/>
          </a:bodyPr>
          <a:lstStyle/>
          <a:p>
            <a:pPr algn="r"/>
            <a:r>
              <a:rPr lang="en-US" altLang="zh-TW" sz="2400" dirty="0"/>
              <a:t>LLM</a:t>
            </a:r>
            <a:endParaRPr lang="zh-TW" altLang="en-US" sz="2400" dirty="0"/>
          </a:p>
        </p:txBody>
      </p:sp>
      <p:sp>
        <p:nvSpPr>
          <p:cNvPr id="25" name="文字方塊 24"/>
          <p:cNvSpPr txBox="1"/>
          <p:nvPr/>
        </p:nvSpPr>
        <p:spPr>
          <a:xfrm>
            <a:off x="8496300" y="5724840"/>
            <a:ext cx="4755530" cy="954107"/>
          </a:xfrm>
          <a:prstGeom prst="rect">
            <a:avLst/>
          </a:prstGeom>
          <a:noFill/>
        </p:spPr>
        <p:txBody>
          <a:bodyPr wrap="square" rtlCol="0">
            <a:spAutoFit/>
          </a:bodyPr>
          <a:lstStyle/>
          <a:p>
            <a:r>
              <a:rPr lang="zh-TW" altLang="en-US" sz="2800" b="1" dirty="0">
                <a:solidFill>
                  <a:srgbClr val="FF0000"/>
                </a:solidFill>
                <a:latin typeface="Microsoft JhengHei" panose="020B0604030504040204" pitchFamily="34" charset="-120"/>
                <a:ea typeface="Microsoft JhengHei" panose="020B0604030504040204" pitchFamily="34" charset="-120"/>
              </a:rPr>
              <a:t>還有多遠？</a:t>
            </a:r>
            <a:endParaRPr lang="en-US" altLang="zh-TW" sz="2800" b="1" dirty="0">
              <a:solidFill>
                <a:srgbClr val="FF0000"/>
              </a:solidFill>
              <a:latin typeface="Microsoft JhengHei" panose="020B0604030504040204" pitchFamily="34" charset="-120"/>
              <a:ea typeface="Microsoft JhengHei" panose="020B0604030504040204" pitchFamily="34" charset="-120"/>
            </a:endParaRPr>
          </a:p>
          <a:p>
            <a:r>
              <a:rPr lang="zh-TW" altLang="en-US" sz="2800" b="1" dirty="0">
                <a:solidFill>
                  <a:srgbClr val="FF0000"/>
                </a:solidFill>
                <a:latin typeface="Microsoft JhengHei" panose="020B0604030504040204" pitchFamily="34" charset="-120"/>
                <a:ea typeface="Microsoft JhengHei" panose="020B0604030504040204" pitchFamily="34" charset="-120"/>
              </a:rPr>
              <a:t>還可以多做什麼？</a:t>
            </a:r>
            <a:endParaRPr lang="zh-TW" altLang="en-US" sz="2800" b="1" dirty="0">
              <a:solidFill>
                <a:srgbClr val="FF0000"/>
              </a:solidFill>
              <a:latin typeface="Microsoft JhengHei" panose="020B0604030504040204" pitchFamily="34" charset="-120"/>
              <a:ea typeface="Microsoft JhengHei" panose="020B0604030504040204" pitchFamily="34" charset="-120"/>
            </a:endParaRPr>
          </a:p>
        </p:txBody>
      </p:sp>
      <p:sp>
        <p:nvSpPr>
          <p:cNvPr id="29" name="文字方塊 28"/>
          <p:cNvSpPr txBox="1"/>
          <p:nvPr/>
        </p:nvSpPr>
        <p:spPr>
          <a:xfrm>
            <a:off x="11428" y="3347200"/>
            <a:ext cx="2738203" cy="461665"/>
          </a:xfrm>
          <a:prstGeom prst="rect">
            <a:avLst/>
          </a:prstGeom>
          <a:noFill/>
        </p:spPr>
        <p:txBody>
          <a:bodyPr wrap="square" rtlCol="0">
            <a:spAutoFit/>
          </a:bodyPr>
          <a:lstStyle/>
          <a:p>
            <a:r>
              <a:rPr lang="en-US" altLang="zh-TW" sz="2400" dirty="0">
                <a:latin typeface="Microsoft JhengHei" panose="020B0604030504040204" pitchFamily="34" charset="-120"/>
                <a:ea typeface="Microsoft JhengHei" panose="020B0604030504040204" pitchFamily="34" charset="-120"/>
              </a:rPr>
              <a:t>“</a:t>
            </a:r>
            <a:r>
              <a:rPr lang="zh-TW" altLang="en-US" sz="2400" dirty="0">
                <a:latin typeface="Microsoft JhengHei" panose="020B0604030504040204" pitchFamily="34" charset="-120"/>
                <a:ea typeface="Microsoft JhengHei" panose="020B0604030504040204" pitchFamily="34" charset="-120"/>
              </a:rPr>
              <a:t>你要贏得勝利</a:t>
            </a:r>
            <a:r>
              <a:rPr lang="en-US" altLang="zh-TW" sz="2400" dirty="0">
                <a:latin typeface="Microsoft JhengHei" panose="020B0604030504040204" pitchFamily="34" charset="-120"/>
                <a:ea typeface="Microsoft JhengHei" panose="020B0604030504040204" pitchFamily="34" charset="-120"/>
              </a:rPr>
              <a:t>”</a:t>
            </a:r>
            <a:endParaRPr lang="zh-TW" altLang="en-US" sz="2400" dirty="0">
              <a:latin typeface="Microsoft JhengHei" panose="020B0604030504040204" pitchFamily="34" charset="-120"/>
              <a:ea typeface="Microsoft JhengHei" panose="020B0604030504040204" pitchFamily="34" charset="-120"/>
            </a:endParaRPr>
          </a:p>
        </p:txBody>
      </p:sp>
      <p:sp>
        <p:nvSpPr>
          <p:cNvPr id="30" name="文字方塊 29"/>
          <p:cNvSpPr txBox="1"/>
          <p:nvPr/>
        </p:nvSpPr>
        <p:spPr>
          <a:xfrm>
            <a:off x="4873605" y="4771691"/>
            <a:ext cx="2724150" cy="461665"/>
          </a:xfrm>
          <a:prstGeom prst="rect">
            <a:avLst/>
          </a:prstGeom>
          <a:noFill/>
        </p:spPr>
        <p:txBody>
          <a:bodyPr wrap="square" rtlCol="0">
            <a:spAutoFit/>
          </a:bodyPr>
          <a:lstStyle/>
          <a:p>
            <a:pPr algn="ctr"/>
            <a:r>
              <a:rPr lang="en-US" altLang="zh-TW" sz="2400" dirty="0">
                <a:latin typeface="Microsoft JhengHei" panose="020B0604030504040204" pitchFamily="34" charset="-120"/>
                <a:ea typeface="Microsoft JhengHei" panose="020B0604030504040204" pitchFamily="34" charset="-120"/>
              </a:rPr>
              <a:t>“</a:t>
            </a:r>
            <a:r>
              <a:rPr lang="zh-TW" altLang="en-US" sz="2400" dirty="0">
                <a:latin typeface="Microsoft JhengHei" panose="020B0604030504040204" pitchFamily="34" charset="-120"/>
                <a:ea typeface="Microsoft JhengHei" panose="020B0604030504040204" pitchFamily="34" charset="-120"/>
              </a:rPr>
              <a:t>我要下在 </a:t>
            </a:r>
            <a:r>
              <a:rPr lang="en-US" altLang="zh-TW" sz="2400" dirty="0">
                <a:latin typeface="Microsoft JhengHei" panose="020B0604030504040204" pitchFamily="34" charset="-120"/>
                <a:ea typeface="Microsoft JhengHei" panose="020B0604030504040204" pitchFamily="34" charset="-120"/>
              </a:rPr>
              <a:t>5-5”</a:t>
            </a:r>
            <a:endParaRPr lang="zh-TW" altLang="en-US" sz="2400" dirty="0">
              <a:latin typeface="Microsoft JhengHei" panose="020B0604030504040204" pitchFamily="34" charset="-120"/>
              <a:ea typeface="Microsoft JhengHei" panose="020B0604030504040204" pitchFamily="34" charset="-120"/>
            </a:endParaRPr>
          </a:p>
        </p:txBody>
      </p:sp>
      <p:pic>
        <p:nvPicPr>
          <p:cNvPr id="3" name="圖片 2"/>
          <p:cNvPicPr>
            <a:picLocks noChangeAspect="1"/>
          </p:cNvPicPr>
          <p:nvPr/>
        </p:nvPicPr>
        <p:blipFill>
          <a:blip r:embed="rId3"/>
          <a:stretch>
            <a:fillRect/>
          </a:stretch>
        </p:blipFill>
        <p:spPr>
          <a:xfrm>
            <a:off x="9103433" y="2946203"/>
            <a:ext cx="1969225" cy="1580611"/>
          </a:xfrm>
          <a:prstGeom prst="rect">
            <a:avLst/>
          </a:prstGeom>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894" y="2000071"/>
            <a:ext cx="1172381" cy="1172381"/>
          </a:xfrm>
          <a:prstGeom prst="rect">
            <a:avLst/>
          </a:prstGeom>
          <a:noFill/>
          <a:extLst>
            <a:ext uri="{909E8E84-426E-40DD-AFC4-6F175D3DCCD1}">
              <a14:hiddenFill xmlns:a14="http://schemas.microsoft.com/office/drawing/2010/main">
                <a:solidFill>
                  <a:srgbClr val="FFFFFF"/>
                </a:solidFill>
              </a14:hiddenFill>
            </a:ext>
          </a:extLst>
        </p:spPr>
      </p:pic>
      <p:sp>
        <p:nvSpPr>
          <p:cNvPr id="8" name="文字方塊 7"/>
          <p:cNvSpPr txBox="1"/>
          <p:nvPr/>
        </p:nvSpPr>
        <p:spPr>
          <a:xfrm>
            <a:off x="1750556" y="1769634"/>
            <a:ext cx="1825765" cy="461665"/>
          </a:xfrm>
          <a:prstGeom prst="rect">
            <a:avLst/>
          </a:prstGeom>
          <a:noFill/>
        </p:spPr>
        <p:txBody>
          <a:bodyPr wrap="square" rtlCol="0">
            <a:spAutoFit/>
          </a:bodyPr>
          <a:lstStyle/>
          <a:p>
            <a:pPr algn="ctr"/>
            <a:r>
              <a:rPr lang="zh-TW" altLang="en-US" sz="2400" dirty="0">
                <a:latin typeface="Microsoft JhengHei" panose="020B0604030504040204" pitchFamily="34" charset="-120"/>
                <a:ea typeface="Microsoft JhengHei" panose="020B0604030504040204" pitchFamily="34" charset="-120"/>
              </a:rPr>
              <a:t>以文字描述</a:t>
            </a:r>
            <a:endParaRPr lang="zh-TW" altLang="en-US" sz="2400" dirty="0">
              <a:latin typeface="Microsoft JhengHei" panose="020B0604030504040204" pitchFamily="34" charset="-120"/>
              <a:ea typeface="Microsoft JhengHei" panose="020B0604030504040204" pitchFamily="34" charset="-120"/>
            </a:endParaRPr>
          </a:p>
        </p:txBody>
      </p:sp>
      <p:sp>
        <p:nvSpPr>
          <p:cNvPr id="10" name="文字方塊 9"/>
          <p:cNvSpPr txBox="1"/>
          <p:nvPr/>
        </p:nvSpPr>
        <p:spPr>
          <a:xfrm>
            <a:off x="8496300" y="4856393"/>
            <a:ext cx="2724150" cy="461665"/>
          </a:xfrm>
          <a:prstGeom prst="rect">
            <a:avLst/>
          </a:prstGeom>
          <a:noFill/>
        </p:spPr>
        <p:txBody>
          <a:bodyPr wrap="square" rtlCol="0">
            <a:spAutoFit/>
          </a:bodyPr>
          <a:lstStyle/>
          <a:p>
            <a:pPr algn="ctr"/>
            <a:r>
              <a:rPr lang="zh-TW" altLang="en-US" sz="2400" dirty="0">
                <a:latin typeface="Microsoft JhengHei" panose="020B0604030504040204" pitchFamily="34" charset="-120"/>
                <a:ea typeface="Microsoft JhengHei" panose="020B0604030504040204" pitchFamily="34" charset="-120"/>
              </a:rPr>
              <a:t>轉譯為行動</a:t>
            </a:r>
            <a:endParaRPr lang="zh-TW" altLang="en-US" sz="2400" dirty="0">
              <a:latin typeface="Microsoft JhengHei" panose="020B0604030504040204" pitchFamily="34" charset="-120"/>
              <a:ea typeface="Microsoft JhengHei" panose="020B0604030504040204" pitchFamily="34" charset="-120"/>
            </a:endParaRPr>
          </a:p>
        </p:txBody>
      </p:sp>
      <p:sp>
        <p:nvSpPr>
          <p:cNvPr id="17" name="文字方塊 16"/>
          <p:cNvSpPr txBox="1"/>
          <p:nvPr/>
        </p:nvSpPr>
        <p:spPr>
          <a:xfrm>
            <a:off x="1730237" y="2144999"/>
            <a:ext cx="1825765" cy="461665"/>
          </a:xfrm>
          <a:prstGeom prst="rect">
            <a:avLst/>
          </a:prstGeom>
          <a:noFill/>
        </p:spPr>
        <p:txBody>
          <a:bodyPr wrap="square" rtlCol="0">
            <a:spAutoFit/>
          </a:bodyPr>
          <a:lstStyle/>
          <a:p>
            <a:pPr algn="ctr"/>
            <a:r>
              <a:rPr lang="en-US" altLang="zh-TW" sz="2400" dirty="0">
                <a:latin typeface="Microsoft JhengHei" panose="020B0604030504040204" pitchFamily="34" charset="-120"/>
                <a:ea typeface="Microsoft JhengHei" panose="020B0604030504040204" pitchFamily="34" charset="-120"/>
              </a:rPr>
              <a:t>(option)</a:t>
            </a:r>
            <a:endParaRPr lang="zh-TW" altLang="en-US" sz="2400" dirty="0">
              <a:latin typeface="Microsoft JhengHei" panose="020B0604030504040204" pitchFamily="34" charset="-120"/>
              <a:ea typeface="Microsoft JhengHei" panose="020B0604030504040204" pitchFamily="34" charset="-120"/>
            </a:endParaRPr>
          </a:p>
        </p:txBody>
      </p:sp>
      <p:sp>
        <p:nvSpPr>
          <p:cNvPr id="23" name="文字方塊 22"/>
          <p:cNvSpPr txBox="1"/>
          <p:nvPr/>
        </p:nvSpPr>
        <p:spPr>
          <a:xfrm>
            <a:off x="5245674" y="1499460"/>
            <a:ext cx="1971040" cy="461665"/>
          </a:xfrm>
          <a:prstGeom prst="rect">
            <a:avLst/>
          </a:prstGeom>
          <a:noFill/>
        </p:spPr>
        <p:txBody>
          <a:bodyPr wrap="square" rtlCol="0">
            <a:spAutoFit/>
          </a:bodyPr>
          <a:lstStyle/>
          <a:p>
            <a:pPr algn="ctr"/>
            <a:r>
              <a:rPr lang="en-US" altLang="zh-TW" sz="2400" dirty="0"/>
              <a:t>Observation</a:t>
            </a:r>
            <a:endParaRPr lang="zh-TW" altLang="en-US" sz="2400" dirty="0"/>
          </a:p>
        </p:txBody>
      </p:sp>
      <p:cxnSp>
        <p:nvCxnSpPr>
          <p:cNvPr id="27" name="直線接點 26"/>
          <p:cNvCxnSpPr/>
          <p:nvPr/>
        </p:nvCxnSpPr>
        <p:spPr>
          <a:xfrm flipH="1">
            <a:off x="7121464" y="1757363"/>
            <a:ext cx="1754485"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文字方塊 31"/>
          <p:cNvSpPr txBox="1"/>
          <p:nvPr/>
        </p:nvSpPr>
        <p:spPr>
          <a:xfrm>
            <a:off x="838200" y="5927744"/>
            <a:ext cx="7245390" cy="523220"/>
          </a:xfrm>
          <a:prstGeom prst="rect">
            <a:avLst/>
          </a:prstGeom>
          <a:noFill/>
        </p:spPr>
        <p:txBody>
          <a:bodyPr wrap="square" rtlCol="0">
            <a:spAutoFit/>
          </a:bodyPr>
          <a:lstStyle/>
          <a:p>
            <a:r>
              <a:rPr lang="zh-TW" altLang="en-US" sz="2800" dirty="0">
                <a:latin typeface="Microsoft JhengHei" panose="020B0604030504040204" pitchFamily="34" charset="-120"/>
                <a:ea typeface="Microsoft JhengHei" panose="020B0604030504040204" pitchFamily="34" charset="-120"/>
              </a:rPr>
              <a:t>以 </a:t>
            </a:r>
            <a:r>
              <a:rPr lang="en-US" altLang="zh-TW" sz="2800" dirty="0">
                <a:latin typeface="Microsoft JhengHei" panose="020B0604030504040204" pitchFamily="34" charset="-120"/>
                <a:ea typeface="Microsoft JhengHei" panose="020B0604030504040204" pitchFamily="34" charset="-120"/>
              </a:rPr>
              <a:t>LLM</a:t>
            </a:r>
            <a:r>
              <a:rPr lang="zh-TW" altLang="en-US" sz="2800" dirty="0">
                <a:latin typeface="Microsoft JhengHei" panose="020B0604030504040204" pitchFamily="34" charset="-120"/>
                <a:ea typeface="Microsoft JhengHei" panose="020B0604030504040204" pitchFamily="34" charset="-120"/>
              </a:rPr>
              <a:t> 直接實踐人類對於擁有 </a:t>
            </a:r>
            <a:r>
              <a:rPr lang="en-US" altLang="zh-TW" sz="2800" dirty="0">
                <a:latin typeface="Microsoft JhengHei" panose="020B0604030504040204" pitchFamily="34" charset="-120"/>
                <a:ea typeface="Microsoft JhengHei" panose="020B0604030504040204" pitchFamily="34" charset="-120"/>
              </a:rPr>
              <a:t>Agent </a:t>
            </a:r>
            <a:r>
              <a:rPr lang="zh-TW" altLang="en-US" sz="2800" dirty="0">
                <a:latin typeface="Microsoft JhengHei" panose="020B0604030504040204" pitchFamily="34" charset="-120"/>
                <a:ea typeface="Microsoft JhengHei" panose="020B0604030504040204" pitchFamily="34" charset="-120"/>
              </a:rPr>
              <a:t>的渴望</a:t>
            </a:r>
            <a:endParaRPr lang="zh-TW" altLang="en-US" sz="28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從 </a:t>
            </a:r>
            <a:r>
              <a:rPr lang="en-US" altLang="zh-TW" dirty="0">
                <a:latin typeface="Microsoft JhengHei" panose="020B0604030504040204" pitchFamily="34" charset="-120"/>
                <a:ea typeface="Microsoft JhengHei" panose="020B0604030504040204" pitchFamily="34" charset="-120"/>
              </a:rPr>
              <a:t>LLM</a:t>
            </a:r>
            <a:r>
              <a:rPr lang="zh-TW" altLang="en-US" dirty="0">
                <a:latin typeface="Microsoft JhengHei" panose="020B0604030504040204" pitchFamily="34" charset="-120"/>
                <a:ea typeface="Microsoft JhengHei" panose="020B0604030504040204" pitchFamily="34" charset="-120"/>
              </a:rPr>
              <a:t> 的角度來看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要解的問題</a:t>
            </a:r>
            <a:endParaRPr lang="zh-TW" altLang="en-US" dirty="0">
              <a:latin typeface="Microsoft JhengHei" panose="020B0604030504040204" pitchFamily="34" charset="-120"/>
              <a:ea typeface="Microsoft JhengHei" panose="020B0604030504040204" pitchFamily="34" charset="-120"/>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98950" y="4239238"/>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7750" y="1629751"/>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4750" y="1629751"/>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圓角 7"/>
          <p:cNvSpPr/>
          <p:nvPr/>
        </p:nvSpPr>
        <p:spPr>
          <a:xfrm>
            <a:off x="-5850" y="3363182"/>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goal</a:t>
            </a:r>
            <a:endParaRPr lang="zh-TW" altLang="en-US" sz="2400" dirty="0"/>
          </a:p>
        </p:txBody>
      </p:sp>
      <p:sp>
        <p:nvSpPr>
          <p:cNvPr id="9" name="矩形: 圓角 8"/>
          <p:cNvSpPr/>
          <p:nvPr/>
        </p:nvSpPr>
        <p:spPr>
          <a:xfrm>
            <a:off x="1794150" y="336318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10" name="矩形: 圓角 9"/>
          <p:cNvSpPr/>
          <p:nvPr/>
        </p:nvSpPr>
        <p:spPr>
          <a:xfrm>
            <a:off x="5385450" y="336318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a:t>
            </a:r>
            <a:endParaRPr lang="zh-TW" altLang="en-US" sz="2400" dirty="0"/>
          </a:p>
        </p:txBody>
      </p:sp>
      <p:sp>
        <p:nvSpPr>
          <p:cNvPr id="12" name="矩形: 圓角 11"/>
          <p:cNvSpPr/>
          <p:nvPr/>
        </p:nvSpPr>
        <p:spPr>
          <a:xfrm>
            <a:off x="3599325" y="3363182"/>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13" name="矩形: 圓角 12"/>
          <p:cNvSpPr/>
          <p:nvPr/>
        </p:nvSpPr>
        <p:spPr>
          <a:xfrm>
            <a:off x="7188450" y="3363182"/>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a:t>
            </a:r>
            <a:endParaRPr lang="zh-TW" altLang="en-US" sz="2400" dirty="0"/>
          </a:p>
        </p:txBody>
      </p:sp>
      <p:sp>
        <p:nvSpPr>
          <p:cNvPr id="14" name="矩形: 圓角 13"/>
          <p:cNvSpPr/>
          <p:nvPr/>
        </p:nvSpPr>
        <p:spPr>
          <a:xfrm>
            <a:off x="8988450" y="336318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3</a:t>
            </a:r>
            <a:endParaRPr lang="zh-TW" altLang="en-US" sz="2400" dirty="0"/>
          </a:p>
        </p:txBody>
      </p:sp>
      <p:sp>
        <p:nvSpPr>
          <p:cNvPr id="15" name="矩形: 圓角 14"/>
          <p:cNvSpPr/>
          <p:nvPr/>
        </p:nvSpPr>
        <p:spPr>
          <a:xfrm>
            <a:off x="10788450" y="3363182"/>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3</a:t>
            </a:r>
            <a:endParaRPr lang="zh-TW" altLang="en-US" sz="2400" dirty="0"/>
          </a:p>
        </p:txBody>
      </p:sp>
      <p:cxnSp>
        <p:nvCxnSpPr>
          <p:cNvPr id="20" name="直線單箭頭接點 19"/>
          <p:cNvCxnSpPr/>
          <p:nvPr/>
        </p:nvCxnSpPr>
        <p:spPr>
          <a:xfrm flipV="1">
            <a:off x="4485450" y="282502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p:nvPr/>
        </p:nvCxnSpPr>
        <p:spPr>
          <a:xfrm>
            <a:off x="5770500" y="284126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V="1">
            <a:off x="8052450" y="2823497"/>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a:off x="9337500" y="2839737"/>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a:off x="2694150" y="3833637"/>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flipV="1">
            <a:off x="3979200" y="3817397"/>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a:off x="6314850" y="3794193"/>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flipV="1">
            <a:off x="7599900" y="3777953"/>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a:off x="9857700" y="3794193"/>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flipV="1">
            <a:off x="11142750" y="3777953"/>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文字方塊 32"/>
          <p:cNvSpPr txBox="1"/>
          <p:nvPr/>
        </p:nvSpPr>
        <p:spPr>
          <a:xfrm>
            <a:off x="1053163" y="5036572"/>
            <a:ext cx="2021837" cy="523220"/>
          </a:xfrm>
          <a:prstGeom prst="rect">
            <a:avLst/>
          </a:prstGeom>
          <a:noFill/>
        </p:spPr>
        <p:txBody>
          <a:bodyPr wrap="square" rtlCol="0">
            <a:spAutoFit/>
          </a:bodyPr>
          <a:lstStyle/>
          <a:p>
            <a:pPr algn="r"/>
            <a:r>
              <a:rPr lang="en-US" altLang="zh-TW" sz="2800" b="1" dirty="0"/>
              <a:t>LLM</a:t>
            </a:r>
            <a:endParaRPr lang="zh-TW" altLang="en-US" sz="2800" b="1" dirty="0"/>
          </a:p>
        </p:txBody>
      </p:sp>
      <p:grpSp>
        <p:nvGrpSpPr>
          <p:cNvPr id="11" name="群組 10"/>
          <p:cNvGrpSpPr/>
          <p:nvPr/>
        </p:nvGrpSpPr>
        <p:grpSpPr>
          <a:xfrm>
            <a:off x="4635913" y="4239238"/>
            <a:ext cx="3157037" cy="1342612"/>
            <a:chOff x="4635913" y="4239238"/>
            <a:chExt cx="3157037" cy="1342612"/>
          </a:xfrm>
        </p:grpSpPr>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73750" y="4239238"/>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35" name="文字方塊 34"/>
            <p:cNvSpPr txBox="1"/>
            <p:nvPr/>
          </p:nvSpPr>
          <p:spPr>
            <a:xfrm>
              <a:off x="4635913" y="5058630"/>
              <a:ext cx="2021837" cy="523220"/>
            </a:xfrm>
            <a:prstGeom prst="rect">
              <a:avLst/>
            </a:prstGeom>
            <a:noFill/>
          </p:spPr>
          <p:txBody>
            <a:bodyPr wrap="square" rtlCol="0">
              <a:spAutoFit/>
            </a:bodyPr>
            <a:lstStyle/>
            <a:p>
              <a:pPr algn="r"/>
              <a:r>
                <a:rPr lang="en-US" altLang="zh-TW" sz="2800" b="1" dirty="0"/>
                <a:t>LLM</a:t>
              </a:r>
              <a:endParaRPr lang="zh-TW" altLang="en-US" sz="2800" b="1" dirty="0"/>
            </a:p>
          </p:txBody>
        </p:sp>
      </p:grpSp>
      <p:grpSp>
        <p:nvGrpSpPr>
          <p:cNvPr id="17" name="群組 16"/>
          <p:cNvGrpSpPr/>
          <p:nvPr/>
        </p:nvGrpSpPr>
        <p:grpSpPr>
          <a:xfrm>
            <a:off x="8218800" y="4227878"/>
            <a:ext cx="3141150" cy="1315434"/>
            <a:chOff x="8218800" y="4227878"/>
            <a:chExt cx="3141150" cy="1315434"/>
          </a:xfrm>
        </p:grpSpPr>
        <p:pic>
          <p:nvPicPr>
            <p:cNvPr id="1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140750" y="4227878"/>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36" name="文字方塊 35"/>
            <p:cNvSpPr txBox="1"/>
            <p:nvPr/>
          </p:nvSpPr>
          <p:spPr>
            <a:xfrm>
              <a:off x="8218800" y="5020092"/>
              <a:ext cx="2021837" cy="523220"/>
            </a:xfrm>
            <a:prstGeom prst="rect">
              <a:avLst/>
            </a:prstGeom>
            <a:noFill/>
          </p:spPr>
          <p:txBody>
            <a:bodyPr wrap="square" rtlCol="0">
              <a:spAutoFit/>
            </a:bodyPr>
            <a:lstStyle/>
            <a:p>
              <a:pPr algn="r"/>
              <a:r>
                <a:rPr lang="en-US" altLang="zh-TW" sz="2800" b="1" dirty="0"/>
                <a:t>LLM</a:t>
              </a:r>
              <a:endParaRPr lang="zh-TW" altLang="en-US" sz="2800" b="1" dirty="0"/>
            </a:p>
          </p:txBody>
        </p:sp>
      </p:grpSp>
      <p:sp>
        <p:nvSpPr>
          <p:cNvPr id="37" name="文字方塊 36"/>
          <p:cNvSpPr txBox="1"/>
          <p:nvPr/>
        </p:nvSpPr>
        <p:spPr>
          <a:xfrm>
            <a:off x="-479445" y="6024408"/>
            <a:ext cx="7245390" cy="523220"/>
          </a:xfrm>
          <a:prstGeom prst="rect">
            <a:avLst/>
          </a:prstGeom>
          <a:noFill/>
        </p:spPr>
        <p:txBody>
          <a:bodyPr wrap="square" rtlCol="0">
            <a:spAutoFit/>
          </a:bodyPr>
          <a:lstStyle/>
          <a:p>
            <a:pPr algn="ctr"/>
            <a:r>
              <a:rPr lang="zh-TW" altLang="en-US" sz="2800" b="1" dirty="0">
                <a:latin typeface="Microsoft JhengHei" panose="020B0604030504040204" pitchFamily="34" charset="-120"/>
                <a:ea typeface="Microsoft JhengHei" panose="020B0604030504040204" pitchFamily="34" charset="-120"/>
              </a:rPr>
              <a:t>一直都在做接龍</a:t>
            </a:r>
            <a:endParaRPr lang="zh-TW" altLang="en-US" sz="2800" b="1" dirty="0">
              <a:latin typeface="Microsoft JhengHei" panose="020B0604030504040204" pitchFamily="34" charset="-120"/>
              <a:ea typeface="Microsoft JhengHei" panose="020B0604030504040204" pitchFamily="34" charset="-120"/>
            </a:endParaRPr>
          </a:p>
        </p:txBody>
      </p:sp>
      <p:sp>
        <p:nvSpPr>
          <p:cNvPr id="38" name="右大括弧 37"/>
          <p:cNvSpPr/>
          <p:nvPr/>
        </p:nvSpPr>
        <p:spPr>
          <a:xfrm rot="5400000">
            <a:off x="6695051" y="1069041"/>
            <a:ext cx="339685" cy="9453915"/>
          </a:xfrm>
          <a:prstGeom prst="rightBrace">
            <a:avLst>
              <a:gd name="adj1" fmla="val 47318"/>
              <a:gd name="adj2" fmla="val 86942"/>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 name="文字方塊 2"/>
          <p:cNvSpPr txBox="1"/>
          <p:nvPr/>
        </p:nvSpPr>
        <p:spPr>
          <a:xfrm>
            <a:off x="4708950" y="6022849"/>
            <a:ext cx="7245390" cy="523220"/>
          </a:xfrm>
          <a:prstGeom prst="rect">
            <a:avLst/>
          </a:prstGeom>
          <a:noFill/>
        </p:spPr>
        <p:txBody>
          <a:bodyPr wrap="square" rtlCol="0">
            <a:spAutoFit/>
          </a:bodyPr>
          <a:lstStyle/>
          <a:p>
            <a:pPr algn="ctr"/>
            <a:r>
              <a:rPr lang="en-US" altLang="zh-TW" sz="2800" b="1" dirty="0">
                <a:latin typeface="Microsoft JhengHei" panose="020B0604030504040204" pitchFamily="34" charset="-120"/>
                <a:ea typeface="Microsoft JhengHei" panose="020B0604030504040204" pitchFamily="34" charset="-120"/>
              </a:rPr>
              <a:t>AI Agent </a:t>
            </a:r>
            <a:r>
              <a:rPr lang="zh-TW" altLang="en-US" sz="2800" b="1" dirty="0">
                <a:latin typeface="Microsoft JhengHei" panose="020B0604030504040204" pitchFamily="34" charset="-120"/>
                <a:ea typeface="Microsoft JhengHei" panose="020B0604030504040204" pitchFamily="34" charset="-120"/>
              </a:rPr>
              <a:t>倚靠的是語言模型現有的能力</a:t>
            </a:r>
            <a:endParaRPr lang="zh-TW" altLang="en-US" sz="2800" b="1"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3" grpId="0" animBg="1"/>
      <p:bldP spid="14" grpId="0" animBg="1"/>
      <p:bldP spid="15" grpId="0" animBg="1"/>
      <p:bldP spid="33" grpId="0"/>
      <p:bldP spid="37" grpId="0"/>
      <p:bldP spid="38" grpId="0" animBg="1"/>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一張含有 地圖, 大自然 的圖片&#10;&#10;自動產生的描述"/>
          <p:cNvPicPr>
            <a:picLocks noChangeAspect="1"/>
          </p:cNvPicPr>
          <p:nvPr/>
        </p:nvPicPr>
        <p:blipFill>
          <a:blip r:embed="rId1">
            <a:alphaModFix amt="40000"/>
          </a:blip>
          <a:srcRect t="1913" b="12860"/>
          <a:stretch>
            <a:fillRect/>
          </a:stretch>
        </p:blipFill>
        <p:spPr>
          <a:xfrm>
            <a:off x="20" y="10"/>
            <a:ext cx="12191980" cy="6857990"/>
          </a:xfrm>
          <a:prstGeom prst="rect">
            <a:avLst/>
          </a:prstGeom>
        </p:spPr>
      </p:pic>
      <p:sp>
        <p:nvSpPr>
          <p:cNvPr id="2" name="標題 1"/>
          <p:cNvSpPr>
            <a:spLocks noGrp="1"/>
          </p:cNvSpPr>
          <p:nvPr>
            <p:ph type="ctrTitle"/>
          </p:nvPr>
        </p:nvSpPr>
        <p:spPr>
          <a:xfrm>
            <a:off x="965200" y="965200"/>
            <a:ext cx="10261600" cy="3564869"/>
          </a:xfrm>
        </p:spPr>
        <p:txBody>
          <a:bodyPr>
            <a:normAutofit/>
          </a:bodyPr>
          <a:lstStyle/>
          <a:p>
            <a:pPr algn="l"/>
            <a:br>
              <a:rPr lang="en-US" altLang="zh-TW" sz="8100" b="1" dirty="0">
                <a:ln w="22225">
                  <a:solidFill>
                    <a:schemeClr val="tx1"/>
                  </a:solidFill>
                  <a:miter lim="800000"/>
                </a:ln>
                <a:noFill/>
                <a:latin typeface="Microsoft JhengHei" panose="020B0604030504040204" pitchFamily="34" charset="-120"/>
                <a:ea typeface="Microsoft JhengHei" panose="020B0604030504040204" pitchFamily="34" charset="-120"/>
              </a:rPr>
            </a:br>
            <a:r>
              <a:rPr lang="zh-TW" altLang="en-US" sz="8100" b="1" dirty="0">
                <a:ln w="22225">
                  <a:solidFill>
                    <a:schemeClr val="tx1"/>
                  </a:solidFill>
                  <a:miter lim="800000"/>
                </a:ln>
                <a:noFill/>
                <a:latin typeface="Microsoft JhengHei" panose="020B0604030504040204" pitchFamily="34" charset="-120"/>
                <a:ea typeface="Microsoft JhengHei" panose="020B0604030504040204" pitchFamily="34" charset="-120"/>
              </a:rPr>
              <a:t>請注意在這堂課中</a:t>
            </a:r>
            <a:br>
              <a:rPr lang="en-US" altLang="zh-TW" sz="8100" b="1" dirty="0">
                <a:ln w="22225">
                  <a:solidFill>
                    <a:schemeClr val="tx1"/>
                  </a:solidFill>
                  <a:miter lim="800000"/>
                </a:ln>
                <a:noFill/>
                <a:latin typeface="Microsoft JhengHei" panose="020B0604030504040204" pitchFamily="34" charset="-120"/>
                <a:ea typeface="Microsoft JhengHei" panose="020B0604030504040204" pitchFamily="34" charset="-120"/>
              </a:rPr>
            </a:br>
            <a:r>
              <a:rPr lang="zh-TW" altLang="en-US" sz="8100" b="1" dirty="0">
                <a:ln w="22225">
                  <a:solidFill>
                    <a:schemeClr val="tx1"/>
                  </a:solidFill>
                  <a:miter lim="800000"/>
                </a:ln>
                <a:noFill/>
                <a:latin typeface="Microsoft JhengHei" panose="020B0604030504040204" pitchFamily="34" charset="-120"/>
                <a:ea typeface="Microsoft JhengHei" panose="020B0604030504040204" pitchFamily="34" charset="-120"/>
              </a:rPr>
              <a:t>沒有任何模型被訓練</a:t>
            </a:r>
            <a:endParaRPr lang="zh-TW" altLang="en-US" sz="8100" b="1" dirty="0">
              <a:ln w="22225">
                <a:solidFill>
                  <a:schemeClr val="tx1"/>
                </a:solidFill>
                <a:miter lim="800000"/>
              </a:ln>
              <a:noFill/>
              <a:latin typeface="Microsoft JhengHei" panose="020B0604030504040204" pitchFamily="34" charset="-120"/>
              <a:ea typeface="Microsoft JhengHei" panose="020B0604030504040204" pitchFamily="34" charset="-120"/>
            </a:endParaRPr>
          </a:p>
        </p:txBody>
      </p:sp>
      <p:sp>
        <p:nvSpPr>
          <p:cNvPr id="3" name="副標題 2"/>
          <p:cNvSpPr>
            <a:spLocks noGrp="1"/>
          </p:cNvSpPr>
          <p:nvPr>
            <p:ph type="subTitle" idx="1"/>
          </p:nvPr>
        </p:nvSpPr>
        <p:spPr>
          <a:xfrm>
            <a:off x="965200" y="4572002"/>
            <a:ext cx="10261600" cy="1202995"/>
          </a:xfrm>
        </p:spPr>
        <p:txBody>
          <a:bodyPr>
            <a:normAutofit/>
          </a:bodyPr>
          <a:lstStyle/>
          <a:p>
            <a:pPr algn="l"/>
            <a:endParaRPr lang="zh-TW" altLang="en-US" sz="320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a:t>
            </a:r>
            <a:r>
              <a:rPr lang="zh-TW" altLang="en-US" dirty="0">
                <a:latin typeface="Microsoft JhengHei" panose="020B0604030504040204" pitchFamily="34" charset="-120"/>
                <a:ea typeface="Microsoft JhengHei" panose="020B0604030504040204" pitchFamily="34" charset="-120"/>
              </a:rPr>
              <a:t> 不是最近才熱門</a:t>
            </a:r>
            <a:endParaRPr lang="zh-TW" altLang="en-US" dirty="0">
              <a:latin typeface="Microsoft JhengHei" panose="020B0604030504040204" pitchFamily="34" charset="-120"/>
              <a:ea typeface="Microsoft JhengHei" panose="020B0604030504040204" pitchFamily="34" charset="-120"/>
            </a:endParaRPr>
          </a:p>
        </p:txBody>
      </p:sp>
      <p:sp>
        <p:nvSpPr>
          <p:cNvPr id="3" name="內容版面配置區 2"/>
          <p:cNvSpPr>
            <a:spLocks noGrp="1"/>
          </p:cNvSpPr>
          <p:nvPr>
            <p:ph idx="1"/>
          </p:nvPr>
        </p:nvSpPr>
        <p:spPr/>
        <p:txBody>
          <a:bodyPr/>
          <a:lstStyle/>
          <a:p>
            <a:r>
              <a:rPr lang="en-US" altLang="zh-TW" dirty="0">
                <a:latin typeface="Microsoft JhengHei" panose="020B0604030504040204" pitchFamily="34" charset="-120"/>
                <a:ea typeface="Microsoft JhengHei" panose="020B0604030504040204" pitchFamily="34" charset="-120"/>
              </a:rPr>
              <a:t>2023</a:t>
            </a:r>
            <a:r>
              <a:rPr lang="zh-TW" altLang="en-US" dirty="0">
                <a:latin typeface="Microsoft JhengHei" panose="020B0604030504040204" pitchFamily="34" charset="-120"/>
                <a:ea typeface="Microsoft JhengHei" panose="020B0604030504040204" pitchFamily="34" charset="-120"/>
              </a:rPr>
              <a:t> 年春天曾經爆紅過一次</a:t>
            </a:r>
            <a:endParaRPr lang="en-US" altLang="zh-TW" dirty="0">
              <a:latin typeface="Microsoft JhengHei" panose="020B0604030504040204" pitchFamily="34" charset="-120"/>
              <a:ea typeface="Microsoft JhengHei" panose="020B0604030504040204" pitchFamily="34" charset="-120"/>
            </a:endParaRPr>
          </a:p>
          <a:p>
            <a:endParaRPr lang="en-US" altLang="zh-TW" dirty="0">
              <a:latin typeface="Microsoft JhengHei" panose="020B0604030504040204" pitchFamily="34" charset="-120"/>
              <a:ea typeface="Microsoft JhengHei" panose="020B0604030504040204" pitchFamily="34" charset="-120"/>
            </a:endParaRPr>
          </a:p>
          <a:p>
            <a:endParaRPr lang="en-US" altLang="zh-TW" dirty="0">
              <a:latin typeface="Microsoft JhengHei" panose="020B0604030504040204" pitchFamily="34" charset="-120"/>
              <a:ea typeface="Microsoft JhengHei" panose="020B0604030504040204" pitchFamily="34" charset="-120"/>
            </a:endParaRPr>
          </a:p>
          <a:p>
            <a:endParaRPr lang="en-US" altLang="zh-TW" dirty="0">
              <a:latin typeface="Microsoft JhengHei" panose="020B0604030504040204" pitchFamily="34" charset="-120"/>
              <a:ea typeface="Microsoft JhengHei" panose="020B0604030504040204" pitchFamily="34" charset="-120"/>
            </a:endParaRPr>
          </a:p>
          <a:p>
            <a:endParaRPr lang="en-US" altLang="zh-TW" dirty="0">
              <a:latin typeface="Microsoft JhengHei" panose="020B0604030504040204" pitchFamily="34" charset="-120"/>
              <a:ea typeface="Microsoft JhengHei" panose="020B0604030504040204" pitchFamily="34" charset="-120"/>
            </a:endParaRPr>
          </a:p>
          <a:p>
            <a:endParaRPr lang="zh-TW" altLang="en-US" dirty="0">
              <a:latin typeface="Microsoft JhengHei" panose="020B0604030504040204" pitchFamily="34" charset="-120"/>
              <a:ea typeface="Microsoft JhengHei" panose="020B0604030504040204" pitchFamily="34" charset="-120"/>
            </a:endParaRPr>
          </a:p>
        </p:txBody>
      </p:sp>
      <p:pic>
        <p:nvPicPr>
          <p:cNvPr id="4" name="圖片 3"/>
          <p:cNvPicPr>
            <a:picLocks noChangeAspect="1"/>
          </p:cNvPicPr>
          <p:nvPr/>
        </p:nvPicPr>
        <p:blipFill>
          <a:blip r:embed="rId1"/>
          <a:stretch>
            <a:fillRect/>
          </a:stretch>
        </p:blipFill>
        <p:spPr>
          <a:xfrm>
            <a:off x="5306389" y="2421606"/>
            <a:ext cx="6253288" cy="3890294"/>
          </a:xfrm>
          <a:prstGeom prst="rect">
            <a:avLst/>
          </a:prstGeom>
        </p:spPr>
      </p:pic>
      <p:sp>
        <p:nvSpPr>
          <p:cNvPr id="5" name="文字方塊 4"/>
          <p:cNvSpPr txBox="1"/>
          <p:nvPr/>
        </p:nvSpPr>
        <p:spPr>
          <a:xfrm>
            <a:off x="1367498" y="5274935"/>
            <a:ext cx="3657600" cy="646331"/>
          </a:xfrm>
          <a:prstGeom prst="rect">
            <a:avLst/>
          </a:prstGeom>
          <a:noFill/>
        </p:spPr>
        <p:txBody>
          <a:bodyPr wrap="square">
            <a:spAutoFit/>
          </a:bodyPr>
          <a:lstStyle/>
          <a:p>
            <a:r>
              <a:rPr lang="zh-TW" altLang="en-US" dirty="0"/>
              <a:t>https://youtu.be/eQNADlR0jSs?si=4yGZEluAUzKK2VD0</a:t>
            </a:r>
            <a:endParaRPr lang="zh-TW" altLang="en-US" dirty="0"/>
          </a:p>
        </p:txBody>
      </p:sp>
      <p:sp>
        <p:nvSpPr>
          <p:cNvPr id="7" name="文字方塊 6"/>
          <p:cNvSpPr txBox="1"/>
          <p:nvPr/>
        </p:nvSpPr>
        <p:spPr>
          <a:xfrm>
            <a:off x="1086207" y="2791490"/>
            <a:ext cx="3657600" cy="954107"/>
          </a:xfrm>
          <a:prstGeom prst="rect">
            <a:avLst/>
          </a:prstGeom>
          <a:noFill/>
        </p:spPr>
        <p:txBody>
          <a:bodyPr wrap="square">
            <a:spAutoFit/>
          </a:bodyPr>
          <a:lstStyle/>
          <a:p>
            <a:r>
              <a:rPr lang="en-US" altLang="zh-TW" sz="2800" dirty="0" err="1"/>
              <a:t>AutoGPT</a:t>
            </a:r>
            <a:r>
              <a:rPr lang="en-US" altLang="zh-TW" sz="2800" dirty="0"/>
              <a:t>, </a:t>
            </a:r>
            <a:r>
              <a:rPr lang="en-US" altLang="zh-TW" sz="2800" dirty="0" err="1"/>
              <a:t>AgentGPT</a:t>
            </a:r>
            <a:r>
              <a:rPr lang="en-US" altLang="zh-TW" sz="2800" dirty="0"/>
              <a:t>, </a:t>
            </a:r>
            <a:r>
              <a:rPr lang="en-US" altLang="zh-TW" sz="2800" dirty="0" err="1"/>
              <a:t>BabyAGI</a:t>
            </a:r>
            <a:r>
              <a:rPr lang="en-US" altLang="zh-TW" sz="2800" dirty="0"/>
              <a:t>, </a:t>
            </a:r>
            <a:r>
              <a:rPr lang="en-US" altLang="zh-TW" sz="2800" dirty="0" err="1"/>
              <a:t>Godmode</a:t>
            </a:r>
            <a:r>
              <a:rPr lang="en-US" altLang="zh-TW" sz="2800" dirty="0"/>
              <a:t> …</a:t>
            </a:r>
            <a:endParaRPr lang="en-US" altLang="zh-TW" sz="28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以 </a:t>
            </a:r>
            <a:r>
              <a:rPr lang="en-US" altLang="zh-TW" dirty="0">
                <a:latin typeface="Microsoft JhengHei" panose="020B0604030504040204" pitchFamily="34" charset="-120"/>
                <a:ea typeface="Microsoft JhengHei" panose="020B0604030504040204" pitchFamily="34" charset="-120"/>
              </a:rPr>
              <a:t>LLM</a:t>
            </a:r>
            <a:r>
              <a:rPr lang="zh-TW" altLang="en-US" dirty="0">
                <a:latin typeface="Microsoft JhengHei" panose="020B0604030504040204" pitchFamily="34" charset="-120"/>
                <a:ea typeface="Microsoft JhengHei" panose="020B0604030504040204" pitchFamily="34" charset="-120"/>
              </a:rPr>
              <a:t> 運行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的優勢</a:t>
            </a:r>
            <a:endParaRPr lang="zh-TW" altLang="en-US" dirty="0">
              <a:latin typeface="Microsoft JhengHei" panose="020B0604030504040204" pitchFamily="34" charset="-120"/>
              <a:ea typeface="Microsoft JhengHei" panose="020B0604030504040204" pitchFamily="34" charset="-120"/>
            </a:endParaRPr>
          </a:p>
        </p:txBody>
      </p:sp>
      <p:sp>
        <p:nvSpPr>
          <p:cNvPr id="5" name="矩形: 圓角 4"/>
          <p:cNvSpPr/>
          <p:nvPr/>
        </p:nvSpPr>
        <p:spPr>
          <a:xfrm>
            <a:off x="4513654" y="2228796"/>
            <a:ext cx="1582346" cy="1028736"/>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Typical Agent</a:t>
            </a:r>
            <a:endParaRPr lang="zh-TW" altLang="en-US" sz="2400" dirty="0"/>
          </a:p>
        </p:txBody>
      </p:sp>
      <p:cxnSp>
        <p:nvCxnSpPr>
          <p:cNvPr id="6" name="直線單箭頭接點 5"/>
          <p:cNvCxnSpPr/>
          <p:nvPr/>
        </p:nvCxnSpPr>
        <p:spPr>
          <a:xfrm>
            <a:off x="3461852" y="2743128"/>
            <a:ext cx="9946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矩形: 圓角 7"/>
          <p:cNvSpPr/>
          <p:nvPr/>
        </p:nvSpPr>
        <p:spPr>
          <a:xfrm>
            <a:off x="4513654" y="4481476"/>
            <a:ext cx="1582346" cy="1028736"/>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LLM Agent</a:t>
            </a:r>
            <a:endParaRPr lang="zh-TW" altLang="en-US" sz="2400" dirty="0"/>
          </a:p>
        </p:txBody>
      </p:sp>
      <p:sp>
        <p:nvSpPr>
          <p:cNvPr id="9" name="文字方塊 8"/>
          <p:cNvSpPr txBox="1"/>
          <p:nvPr/>
        </p:nvSpPr>
        <p:spPr>
          <a:xfrm>
            <a:off x="4257077" y="3310235"/>
            <a:ext cx="2095500" cy="461665"/>
          </a:xfrm>
          <a:prstGeom prst="rect">
            <a:avLst/>
          </a:prstGeom>
          <a:noFill/>
        </p:spPr>
        <p:txBody>
          <a:bodyPr wrap="square" rtlCol="0">
            <a:spAutoFit/>
          </a:bodyPr>
          <a:lstStyle/>
          <a:p>
            <a:pPr algn="ctr"/>
            <a:r>
              <a:rPr lang="en-US" altLang="zh-TW" sz="2400" dirty="0"/>
              <a:t>AlphaGo</a:t>
            </a:r>
            <a:endParaRPr lang="zh-TW" altLang="en-US" sz="2400" dirty="0"/>
          </a:p>
        </p:txBody>
      </p:sp>
      <p:cxnSp>
        <p:nvCxnSpPr>
          <p:cNvPr id="13" name="直線單箭頭接點 12"/>
          <p:cNvCxnSpPr/>
          <p:nvPr/>
        </p:nvCxnSpPr>
        <p:spPr>
          <a:xfrm>
            <a:off x="3461852" y="4995772"/>
            <a:ext cx="9946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p:nvPr/>
        </p:nvCxnSpPr>
        <p:spPr>
          <a:xfrm>
            <a:off x="6153150" y="2724006"/>
            <a:ext cx="9946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a:off x="6153150" y="4976650"/>
            <a:ext cx="99465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8962" y="2133528"/>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8962" y="4376656"/>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18" name="文字方塊 17"/>
          <p:cNvSpPr txBox="1"/>
          <p:nvPr/>
        </p:nvSpPr>
        <p:spPr>
          <a:xfrm>
            <a:off x="7204952" y="2474123"/>
            <a:ext cx="3139808"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事先設定好有限行為</a:t>
            </a:r>
            <a:endParaRPr lang="en-US" altLang="zh-TW" sz="2400" dirty="0">
              <a:latin typeface="Microsoft JhengHei" panose="020B0604030504040204" pitchFamily="34" charset="-120"/>
              <a:ea typeface="Microsoft JhengHei" panose="020B0604030504040204" pitchFamily="34" charset="-120"/>
            </a:endParaRPr>
          </a:p>
        </p:txBody>
      </p:sp>
      <p:sp>
        <p:nvSpPr>
          <p:cNvPr id="19" name="文字方塊 18"/>
          <p:cNvSpPr txBox="1"/>
          <p:nvPr/>
        </p:nvSpPr>
        <p:spPr>
          <a:xfrm>
            <a:off x="7261492" y="4726839"/>
            <a:ext cx="2362200"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近乎無限的可能</a:t>
            </a:r>
            <a:endParaRPr lang="zh-TW" altLang="en-US" sz="2400" dirty="0">
              <a:latin typeface="Microsoft JhengHei" panose="020B0604030504040204" pitchFamily="34" charset="-120"/>
              <a:ea typeface="Microsoft JhengHei" panose="020B0604030504040204" pitchFamily="34" charset="-120"/>
            </a:endParaRPr>
          </a:p>
        </p:txBody>
      </p:sp>
      <p:sp>
        <p:nvSpPr>
          <p:cNvPr id="20" name="文字方塊 19"/>
          <p:cNvSpPr txBox="1"/>
          <p:nvPr/>
        </p:nvSpPr>
        <p:spPr>
          <a:xfrm>
            <a:off x="7204952" y="2918170"/>
            <a:ext cx="3139808" cy="830997"/>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只能在棋盤上的 </a:t>
            </a:r>
            <a:r>
              <a:rPr lang="en-US" altLang="zh-TW" sz="2400" dirty="0">
                <a:latin typeface="Microsoft JhengHei" panose="020B0604030504040204" pitchFamily="34" charset="-120"/>
                <a:ea typeface="Microsoft JhengHei" panose="020B0604030504040204" pitchFamily="34" charset="-120"/>
              </a:rPr>
              <a:t>19x19 </a:t>
            </a:r>
            <a:r>
              <a:rPr lang="zh-TW" altLang="en-US" sz="2400" dirty="0">
                <a:latin typeface="Microsoft JhengHei" panose="020B0604030504040204" pitchFamily="34" charset="-120"/>
                <a:ea typeface="Microsoft JhengHei" panose="020B0604030504040204" pitchFamily="34" charset="-120"/>
              </a:rPr>
              <a:t>個位置落子</a:t>
            </a:r>
            <a:endParaRPr lang="en-US" altLang="zh-TW" sz="2400" dirty="0">
              <a:latin typeface="Microsoft JhengHei" panose="020B0604030504040204" pitchFamily="34" charset="-120"/>
              <a:ea typeface="Microsoft JhengHei" panose="020B0604030504040204" pitchFamily="34" charset="-120"/>
            </a:endParaRPr>
          </a:p>
        </p:txBody>
      </p:sp>
      <p:sp>
        <p:nvSpPr>
          <p:cNvPr id="21" name="文字方塊 20"/>
          <p:cNvSpPr txBox="1"/>
          <p:nvPr/>
        </p:nvSpPr>
        <p:spPr>
          <a:xfrm>
            <a:off x="7273936" y="5222229"/>
            <a:ext cx="3139808"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可以使用工具</a:t>
            </a:r>
            <a:endParaRPr lang="en-US" altLang="zh-TW" sz="24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p:bldP spid="19" grpId="0"/>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以 </a:t>
            </a:r>
            <a:r>
              <a:rPr lang="en-US" altLang="zh-TW" dirty="0">
                <a:latin typeface="Microsoft JhengHei" panose="020B0604030504040204" pitchFamily="34" charset="-120"/>
                <a:ea typeface="Microsoft JhengHei" panose="020B0604030504040204" pitchFamily="34" charset="-120"/>
              </a:rPr>
              <a:t>LLM</a:t>
            </a:r>
            <a:r>
              <a:rPr lang="zh-TW" altLang="en-US" dirty="0">
                <a:latin typeface="Microsoft JhengHei" panose="020B0604030504040204" pitchFamily="34" charset="-120"/>
                <a:ea typeface="Microsoft JhengHei" panose="020B0604030504040204" pitchFamily="34" charset="-120"/>
              </a:rPr>
              <a:t> 運行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的優勢</a:t>
            </a:r>
            <a:endParaRPr lang="zh-TW"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20292" y="2247899"/>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3809" y="2247900"/>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12" name="文字方塊 11"/>
          <p:cNvSpPr txBox="1"/>
          <p:nvPr/>
        </p:nvSpPr>
        <p:spPr>
          <a:xfrm>
            <a:off x="1984743" y="2986746"/>
            <a:ext cx="2356105" cy="461665"/>
          </a:xfrm>
          <a:prstGeom prst="rect">
            <a:avLst/>
          </a:prstGeom>
          <a:noFill/>
        </p:spPr>
        <p:txBody>
          <a:bodyPr wrap="square" rtlCol="0">
            <a:spAutoFit/>
          </a:bodyPr>
          <a:lstStyle/>
          <a:p>
            <a:pPr algn="r"/>
            <a:r>
              <a:rPr lang="en-US" altLang="zh-TW" sz="2400" dirty="0"/>
              <a:t>AI</a:t>
            </a:r>
            <a:r>
              <a:rPr lang="zh-TW" altLang="en-US" sz="2400" dirty="0"/>
              <a:t> </a:t>
            </a:r>
            <a:r>
              <a:rPr lang="en-US" altLang="zh-TW" sz="2400" dirty="0"/>
              <a:t>programmer</a:t>
            </a:r>
            <a:endParaRPr lang="zh-TW" altLang="en-US" sz="2400" dirty="0"/>
          </a:p>
        </p:txBody>
      </p:sp>
      <p:cxnSp>
        <p:nvCxnSpPr>
          <p:cNvPr id="20" name="直線接點 19"/>
          <p:cNvCxnSpPr/>
          <p:nvPr/>
        </p:nvCxnSpPr>
        <p:spPr>
          <a:xfrm flipH="1">
            <a:off x="5728294" y="2886244"/>
            <a:ext cx="3663356"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6631602" y="2386479"/>
            <a:ext cx="1971040" cy="461665"/>
          </a:xfrm>
          <a:prstGeom prst="rect">
            <a:avLst/>
          </a:prstGeom>
          <a:noFill/>
        </p:spPr>
        <p:txBody>
          <a:bodyPr wrap="square" rtlCol="0">
            <a:spAutoFit/>
          </a:bodyPr>
          <a:lstStyle/>
          <a:p>
            <a:pPr algn="ctr"/>
            <a:r>
              <a:rPr lang="en-US" altLang="zh-TW" sz="2400" dirty="0"/>
              <a:t>Reward = </a:t>
            </a:r>
            <a:r>
              <a:rPr lang="en-US" altLang="zh-TW" sz="2400" dirty="0">
                <a:solidFill>
                  <a:srgbClr val="FF0000"/>
                </a:solidFill>
              </a:rPr>
              <a:t>-1</a:t>
            </a:r>
            <a:endParaRPr lang="zh-TW" altLang="en-US" sz="2400" dirty="0">
              <a:solidFill>
                <a:srgbClr val="FF0000"/>
              </a:solidFill>
            </a:endParaRPr>
          </a:p>
        </p:txBody>
      </p:sp>
      <p:pic>
        <p:nvPicPr>
          <p:cNvPr id="2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20292" y="4624556"/>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3809" y="4624557"/>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直線接點 25"/>
          <p:cNvCxnSpPr/>
          <p:nvPr/>
        </p:nvCxnSpPr>
        <p:spPr>
          <a:xfrm flipH="1">
            <a:off x="5728294" y="5262901"/>
            <a:ext cx="3663356"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文字方塊 27"/>
          <p:cNvSpPr txBox="1"/>
          <p:nvPr/>
        </p:nvSpPr>
        <p:spPr>
          <a:xfrm>
            <a:off x="952500" y="1937875"/>
            <a:ext cx="2356105" cy="523220"/>
          </a:xfrm>
          <a:prstGeom prst="rect">
            <a:avLst/>
          </a:prstGeom>
          <a:noFill/>
        </p:spPr>
        <p:txBody>
          <a:bodyPr wrap="square" rtlCol="0">
            <a:spAutoFit/>
          </a:bodyPr>
          <a:lstStyle/>
          <a:p>
            <a:r>
              <a:rPr lang="en-US" altLang="zh-TW" sz="2800" u="sng" dirty="0"/>
              <a:t>Typical Agent</a:t>
            </a:r>
            <a:endParaRPr lang="zh-TW" altLang="en-US" sz="2800" u="sng" dirty="0"/>
          </a:p>
        </p:txBody>
      </p:sp>
      <p:sp>
        <p:nvSpPr>
          <p:cNvPr id="29" name="文字方塊 28"/>
          <p:cNvSpPr txBox="1"/>
          <p:nvPr/>
        </p:nvSpPr>
        <p:spPr>
          <a:xfrm>
            <a:off x="952500" y="3987986"/>
            <a:ext cx="2356105" cy="523220"/>
          </a:xfrm>
          <a:prstGeom prst="rect">
            <a:avLst/>
          </a:prstGeom>
          <a:noFill/>
        </p:spPr>
        <p:txBody>
          <a:bodyPr wrap="square" rtlCol="0">
            <a:spAutoFit/>
          </a:bodyPr>
          <a:lstStyle/>
          <a:p>
            <a:r>
              <a:rPr lang="en-US" altLang="zh-TW" sz="2800" u="sng" dirty="0"/>
              <a:t>LLM Agent</a:t>
            </a:r>
            <a:endParaRPr lang="zh-TW" altLang="en-US" sz="2800" u="sng" dirty="0"/>
          </a:p>
        </p:txBody>
      </p:sp>
      <p:sp>
        <p:nvSpPr>
          <p:cNvPr id="30" name="文字方塊 29"/>
          <p:cNvSpPr txBox="1"/>
          <p:nvPr/>
        </p:nvSpPr>
        <p:spPr>
          <a:xfrm>
            <a:off x="9095659" y="1690688"/>
            <a:ext cx="2095500" cy="461665"/>
          </a:xfrm>
          <a:prstGeom prst="rect">
            <a:avLst/>
          </a:prstGeom>
          <a:noFill/>
        </p:spPr>
        <p:txBody>
          <a:bodyPr wrap="square" rtlCol="0">
            <a:spAutoFit/>
          </a:bodyPr>
          <a:lstStyle/>
          <a:p>
            <a:pPr algn="ctr"/>
            <a:r>
              <a:rPr lang="en-US" altLang="zh-TW" sz="2400" dirty="0"/>
              <a:t>Compile Error</a:t>
            </a:r>
            <a:endParaRPr lang="zh-TW" altLang="en-US" sz="2400" dirty="0"/>
          </a:p>
        </p:txBody>
      </p:sp>
      <p:sp>
        <p:nvSpPr>
          <p:cNvPr id="31" name="文字方塊 30"/>
          <p:cNvSpPr txBox="1"/>
          <p:nvPr/>
        </p:nvSpPr>
        <p:spPr>
          <a:xfrm>
            <a:off x="9076609" y="4143840"/>
            <a:ext cx="2095500" cy="461665"/>
          </a:xfrm>
          <a:prstGeom prst="rect">
            <a:avLst/>
          </a:prstGeom>
          <a:noFill/>
        </p:spPr>
        <p:txBody>
          <a:bodyPr wrap="square" rtlCol="0">
            <a:spAutoFit/>
          </a:bodyPr>
          <a:lstStyle/>
          <a:p>
            <a:pPr algn="ctr"/>
            <a:r>
              <a:rPr lang="en-US" altLang="zh-TW" sz="2400" dirty="0"/>
              <a:t>Compile Error</a:t>
            </a:r>
            <a:endParaRPr lang="zh-TW" altLang="en-US" sz="2400" dirty="0"/>
          </a:p>
        </p:txBody>
      </p:sp>
      <p:sp>
        <p:nvSpPr>
          <p:cNvPr id="32" name="文字方塊 31"/>
          <p:cNvSpPr txBox="1"/>
          <p:nvPr/>
        </p:nvSpPr>
        <p:spPr>
          <a:xfrm>
            <a:off x="6437199" y="3015129"/>
            <a:ext cx="2445007" cy="461665"/>
          </a:xfrm>
          <a:prstGeom prst="rect">
            <a:avLst/>
          </a:prstGeom>
          <a:noFill/>
        </p:spPr>
        <p:txBody>
          <a:bodyPr wrap="square" rtlCol="0">
            <a:spAutoFit/>
          </a:bodyPr>
          <a:lstStyle/>
          <a:p>
            <a:pPr algn="ctr"/>
            <a:r>
              <a:rPr lang="zh-TW" altLang="en-US" sz="2400" dirty="0">
                <a:latin typeface="Microsoft JhengHei" panose="020B0604030504040204" pitchFamily="34" charset="-120"/>
                <a:ea typeface="Microsoft JhengHei" panose="020B0604030504040204" pitchFamily="34" charset="-120"/>
              </a:rPr>
              <a:t>為什麼是 </a:t>
            </a:r>
            <a:r>
              <a:rPr lang="en-US" altLang="zh-TW" sz="2400" dirty="0">
                <a:latin typeface="Microsoft JhengHei" panose="020B0604030504040204" pitchFamily="34" charset="-120"/>
                <a:ea typeface="Microsoft JhengHei" panose="020B0604030504040204" pitchFamily="34" charset="-120"/>
              </a:rPr>
              <a:t>-1???</a:t>
            </a:r>
            <a:endParaRPr lang="zh-TW" altLang="en-US" sz="2400" dirty="0">
              <a:latin typeface="Microsoft JhengHei" panose="020B0604030504040204" pitchFamily="34" charset="-120"/>
              <a:ea typeface="Microsoft JhengHei" panose="020B0604030504040204" pitchFamily="34" charset="-12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0102" y="4409004"/>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33" name="文字方塊 32"/>
          <p:cNvSpPr txBox="1"/>
          <p:nvPr/>
        </p:nvSpPr>
        <p:spPr>
          <a:xfrm>
            <a:off x="6437199" y="5612924"/>
            <a:ext cx="2445007" cy="461665"/>
          </a:xfrm>
          <a:prstGeom prst="rect">
            <a:avLst/>
          </a:prstGeom>
          <a:noFill/>
        </p:spPr>
        <p:txBody>
          <a:bodyPr wrap="square" rtlCol="0">
            <a:spAutoFit/>
          </a:bodyPr>
          <a:lstStyle/>
          <a:p>
            <a:pPr algn="ctr"/>
            <a:r>
              <a:rPr lang="zh-TW" altLang="en-US" sz="2400" dirty="0">
                <a:latin typeface="Microsoft JhengHei" panose="020B0604030504040204" pitchFamily="34" charset="-120"/>
                <a:ea typeface="Microsoft JhengHei" panose="020B0604030504040204" pitchFamily="34" charset="-120"/>
              </a:rPr>
              <a:t>更多資訊</a:t>
            </a:r>
            <a:endParaRPr lang="zh-TW" altLang="en-US" sz="2400" dirty="0">
              <a:latin typeface="Microsoft JhengHei" panose="020B0604030504040204" pitchFamily="34" charset="-120"/>
              <a:ea typeface="Microsoft JhengHei" panose="020B0604030504040204" pitchFamily="34" charset="-120"/>
            </a:endParaRPr>
          </a:p>
        </p:txBody>
      </p:sp>
      <p:sp>
        <p:nvSpPr>
          <p:cNvPr id="3" name="文字方塊 2"/>
          <p:cNvSpPr txBox="1"/>
          <p:nvPr/>
        </p:nvSpPr>
        <p:spPr>
          <a:xfrm>
            <a:off x="1919891" y="5223852"/>
            <a:ext cx="2356105" cy="461665"/>
          </a:xfrm>
          <a:prstGeom prst="rect">
            <a:avLst/>
          </a:prstGeom>
          <a:noFill/>
        </p:spPr>
        <p:txBody>
          <a:bodyPr wrap="square" rtlCol="0">
            <a:spAutoFit/>
          </a:bodyPr>
          <a:lstStyle/>
          <a:p>
            <a:pPr algn="r"/>
            <a:r>
              <a:rPr lang="en-US" altLang="zh-TW" sz="2400" dirty="0"/>
              <a:t>AI</a:t>
            </a:r>
            <a:r>
              <a:rPr lang="zh-TW" altLang="en-US" sz="2400" dirty="0"/>
              <a:t> </a:t>
            </a:r>
            <a:r>
              <a:rPr lang="en-US" altLang="zh-TW" sz="2400" dirty="0"/>
              <a:t>programmer</a:t>
            </a:r>
            <a:endParaRPr lang="zh-TW"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1" grpId="0"/>
      <p:bldP spid="30" grpId="0"/>
      <p:bldP spid="31" grpId="0"/>
      <p:bldP spid="32" grpId="0"/>
      <p:bldP spid="33"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舉例：</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村民組成的虛擬村莊</a:t>
            </a:r>
            <a:endParaRPr lang="zh-TW" altLang="en-US" dirty="0">
              <a:latin typeface="Microsoft JhengHei" panose="020B0604030504040204" pitchFamily="34" charset="-120"/>
              <a:ea typeface="Microsoft JhengHei" panose="020B0604030504040204" pitchFamily="34" charset="-120"/>
            </a:endParaRPr>
          </a:p>
        </p:txBody>
      </p:sp>
      <p:sp>
        <p:nvSpPr>
          <p:cNvPr id="3" name="內容版面配置區 2"/>
          <p:cNvSpPr>
            <a:spLocks noGrp="1"/>
          </p:cNvSpPr>
          <p:nvPr>
            <p:ph idx="1"/>
          </p:nvPr>
        </p:nvSpPr>
        <p:spPr/>
        <p:txBody>
          <a:bodyPr>
            <a:normAutofit/>
          </a:bodyPr>
          <a:lstStyle/>
          <a:p>
            <a:endParaRPr lang="zh-TW" altLang="en-US" dirty="0"/>
          </a:p>
        </p:txBody>
      </p:sp>
      <p:pic>
        <p:nvPicPr>
          <p:cNvPr id="4" name="圖片 3"/>
          <p:cNvPicPr>
            <a:picLocks noChangeAspect="1"/>
          </p:cNvPicPr>
          <p:nvPr/>
        </p:nvPicPr>
        <p:blipFill>
          <a:blip r:embed="rId1"/>
          <a:stretch>
            <a:fillRect/>
          </a:stretch>
        </p:blipFill>
        <p:spPr>
          <a:xfrm>
            <a:off x="1184186" y="1418044"/>
            <a:ext cx="9823628" cy="5166500"/>
          </a:xfrm>
          <a:prstGeom prst="rect">
            <a:avLst/>
          </a:prstGeom>
        </p:spPr>
      </p:pic>
      <p:sp>
        <p:nvSpPr>
          <p:cNvPr id="6" name="文字方塊 5"/>
          <p:cNvSpPr txBox="1"/>
          <p:nvPr/>
        </p:nvSpPr>
        <p:spPr>
          <a:xfrm>
            <a:off x="8624596" y="361464"/>
            <a:ext cx="356740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TW" sz="1800" b="0" i="0" u="none" strike="noStrike" kern="1200" cap="none" spc="0" normalizeH="0" baseline="0" noProof="0" dirty="0">
                <a:ln>
                  <a:noFill/>
                </a:ln>
                <a:solidFill>
                  <a:srgbClr val="333333"/>
                </a:solidFill>
                <a:effectLst/>
                <a:uLnTx/>
                <a:uFillTx/>
                <a:latin typeface="Arial" panose="020B0604020202020204" pitchFamily="34" charset="0"/>
                <a:ea typeface="PMingLiU" panose="02020500000000000000" pitchFamily="18" charset="-120"/>
                <a:cs typeface="+mn-cs"/>
              </a:rPr>
              <a:t>https://arxiv.org/abs/2304.03442</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8" name="文字方塊 7"/>
          <p:cNvSpPr txBox="1"/>
          <p:nvPr/>
        </p:nvSpPr>
        <p:spPr>
          <a:xfrm>
            <a:off x="6811347" y="45522"/>
            <a:ext cx="720323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https://youtu.be/G44Lkj7XDsA?si=cMbKG3tqPbIgnnBq</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52709" y="3441064"/>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線接點 8"/>
          <p:cNvCxnSpPr/>
          <p:nvPr/>
        </p:nvCxnSpPr>
        <p:spPr>
          <a:xfrm>
            <a:off x="3674110" y="5808980"/>
            <a:ext cx="2021840"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a:off x="3653790" y="4726940"/>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flipV="1">
            <a:off x="8977630" y="4726940"/>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a:xfrm flipH="1">
            <a:off x="3674110" y="2100264"/>
            <a:ext cx="174616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flipH="1" flipV="1">
            <a:off x="8977630" y="2100264"/>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flipH="1">
            <a:off x="3653790" y="2100264"/>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文字方塊 14"/>
          <p:cNvSpPr txBox="1"/>
          <p:nvPr/>
        </p:nvSpPr>
        <p:spPr>
          <a:xfrm>
            <a:off x="1385448" y="3182304"/>
            <a:ext cx="1016000" cy="461665"/>
          </a:xfrm>
          <a:prstGeom prst="rect">
            <a:avLst/>
          </a:prstGeom>
          <a:noFill/>
        </p:spPr>
        <p:txBody>
          <a:bodyPr wrap="square" rtlCol="0">
            <a:spAutoFit/>
          </a:bodyPr>
          <a:lstStyle/>
          <a:p>
            <a:pPr algn="r"/>
            <a:r>
              <a:rPr lang="en-US" altLang="zh-TW" sz="2400" dirty="0"/>
              <a:t>Goal</a:t>
            </a:r>
            <a:endParaRPr lang="zh-TW" altLang="en-US" sz="2400" dirty="0"/>
          </a:p>
        </p:txBody>
      </p:sp>
      <p:cxnSp>
        <p:nvCxnSpPr>
          <p:cNvPr id="16" name="直線單箭頭接點 15"/>
          <p:cNvCxnSpPr/>
          <p:nvPr/>
        </p:nvCxnSpPr>
        <p:spPr>
          <a:xfrm>
            <a:off x="2401448" y="3541068"/>
            <a:ext cx="503002" cy="23083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p:cNvSpPr txBox="1"/>
          <p:nvPr/>
        </p:nvSpPr>
        <p:spPr>
          <a:xfrm>
            <a:off x="5330190" y="5578147"/>
            <a:ext cx="1971040" cy="461665"/>
          </a:xfrm>
          <a:prstGeom prst="rect">
            <a:avLst/>
          </a:prstGeom>
          <a:noFill/>
        </p:spPr>
        <p:txBody>
          <a:bodyPr wrap="square" rtlCol="0">
            <a:spAutoFit/>
          </a:bodyPr>
          <a:lstStyle/>
          <a:p>
            <a:pPr algn="ctr"/>
            <a:r>
              <a:rPr lang="en-US" altLang="zh-TW" sz="2400" dirty="0"/>
              <a:t>Action</a:t>
            </a:r>
            <a:endParaRPr lang="zh-TW" altLang="en-US" sz="2400" dirty="0"/>
          </a:p>
        </p:txBody>
      </p:sp>
      <p:cxnSp>
        <p:nvCxnSpPr>
          <p:cNvPr id="18" name="直線接點 17"/>
          <p:cNvCxnSpPr/>
          <p:nvPr/>
        </p:nvCxnSpPr>
        <p:spPr>
          <a:xfrm flipH="1">
            <a:off x="6930309" y="5808979"/>
            <a:ext cx="202700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5302824" y="1842360"/>
            <a:ext cx="1971040" cy="461665"/>
          </a:xfrm>
          <a:prstGeom prst="rect">
            <a:avLst/>
          </a:prstGeom>
          <a:noFill/>
        </p:spPr>
        <p:txBody>
          <a:bodyPr wrap="square" rtlCol="0">
            <a:spAutoFit/>
          </a:bodyPr>
          <a:lstStyle/>
          <a:p>
            <a:pPr algn="ctr"/>
            <a:r>
              <a:rPr lang="en-US" altLang="zh-TW" sz="2400" dirty="0"/>
              <a:t>Observation</a:t>
            </a:r>
            <a:endParaRPr lang="zh-TW" altLang="en-US" sz="2400" dirty="0"/>
          </a:p>
        </p:txBody>
      </p:sp>
      <p:cxnSp>
        <p:nvCxnSpPr>
          <p:cNvPr id="20" name="直線接點 19"/>
          <p:cNvCxnSpPr/>
          <p:nvPr/>
        </p:nvCxnSpPr>
        <p:spPr>
          <a:xfrm flipH="1">
            <a:off x="7178614" y="2100263"/>
            <a:ext cx="1754485"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5" name="圖片 24"/>
          <p:cNvPicPr>
            <a:picLocks noChangeAspect="1"/>
          </p:cNvPicPr>
          <p:nvPr/>
        </p:nvPicPr>
        <p:blipFill>
          <a:blip r:embed="rId2"/>
          <a:stretch>
            <a:fillRect/>
          </a:stretch>
        </p:blipFill>
        <p:spPr>
          <a:xfrm>
            <a:off x="2913448" y="3200691"/>
            <a:ext cx="1352168" cy="1483023"/>
          </a:xfrm>
          <a:prstGeom prst="rect">
            <a:avLst/>
          </a:prstGeom>
        </p:spPr>
      </p:pic>
      <p:sp>
        <p:nvSpPr>
          <p:cNvPr id="26" name="文字方塊 25"/>
          <p:cNvSpPr txBox="1"/>
          <p:nvPr/>
        </p:nvSpPr>
        <p:spPr>
          <a:xfrm>
            <a:off x="111024" y="3656484"/>
            <a:ext cx="2456248" cy="830997"/>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舉辦情人節派對、準備考試 </a:t>
            </a:r>
            <a:r>
              <a:rPr lang="en-US" altLang="zh-TW" sz="2400" dirty="0">
                <a:latin typeface="Microsoft JhengHei" panose="020B0604030504040204" pitchFamily="34" charset="-120"/>
                <a:ea typeface="Microsoft JhengHei" panose="020B0604030504040204" pitchFamily="34" charset="-120"/>
              </a:rPr>
              <a:t>……</a:t>
            </a:r>
            <a:endParaRPr lang="zh-TW" altLang="en-US" sz="2400" dirty="0">
              <a:latin typeface="Microsoft JhengHei" panose="020B0604030504040204" pitchFamily="34" charset="-120"/>
              <a:ea typeface="Microsoft JhengHei" panose="020B0604030504040204" pitchFamily="34" charset="-120"/>
            </a:endParaRPr>
          </a:p>
        </p:txBody>
      </p:sp>
      <p:pic>
        <p:nvPicPr>
          <p:cNvPr id="32" name="圖片 31"/>
          <p:cNvPicPr>
            <a:picLocks noChangeAspect="1"/>
          </p:cNvPicPr>
          <p:nvPr/>
        </p:nvPicPr>
        <p:blipFill>
          <a:blip r:embed="rId3"/>
          <a:stretch>
            <a:fillRect/>
          </a:stretch>
        </p:blipFill>
        <p:spPr>
          <a:xfrm>
            <a:off x="3277695" y="61188"/>
            <a:ext cx="6081428" cy="1764437"/>
          </a:xfrm>
          <a:prstGeom prst="rect">
            <a:avLst/>
          </a:prstGeom>
        </p:spPr>
      </p:pic>
      <p:sp>
        <p:nvSpPr>
          <p:cNvPr id="33" name="文字方塊 32"/>
          <p:cNvSpPr txBox="1"/>
          <p:nvPr/>
        </p:nvSpPr>
        <p:spPr>
          <a:xfrm>
            <a:off x="4718624" y="5061347"/>
            <a:ext cx="3166233" cy="461665"/>
          </a:xfrm>
          <a:prstGeom prst="rect">
            <a:avLst/>
          </a:prstGeom>
          <a:noFill/>
        </p:spPr>
        <p:txBody>
          <a:bodyPr wrap="square">
            <a:spAutoFit/>
          </a:bodyPr>
          <a:lstStyle/>
          <a:p>
            <a:pPr algn="ctr"/>
            <a:r>
              <a:rPr lang="en-US" altLang="zh-TW" sz="2400" dirty="0"/>
              <a:t>"getting ready for bed“</a:t>
            </a:r>
            <a:endParaRPr lang="zh-TW"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舉例：</a:t>
            </a:r>
            <a:r>
              <a:rPr lang="en-US" altLang="zh-TW" dirty="0">
                <a:latin typeface="Microsoft JhengHei" panose="020B0604030504040204" pitchFamily="34" charset="-120"/>
                <a:ea typeface="Microsoft JhengHei" panose="020B0604030504040204" pitchFamily="34" charset="-120"/>
              </a:rPr>
              <a:t>Minecraft </a:t>
            </a:r>
            <a:r>
              <a:rPr lang="zh-TW" altLang="en-US" dirty="0">
                <a:latin typeface="Microsoft JhengHei" panose="020B0604030504040204" pitchFamily="34" charset="-120"/>
                <a:ea typeface="Microsoft JhengHei" panose="020B0604030504040204" pitchFamily="34" charset="-120"/>
              </a:rPr>
              <a:t>中的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NPC</a:t>
            </a:r>
            <a:endParaRPr lang="zh-TW" altLang="en-US" dirty="0"/>
          </a:p>
        </p:txBody>
      </p:sp>
      <p:pic>
        <p:nvPicPr>
          <p:cNvPr id="5" name="圖片 4"/>
          <p:cNvPicPr>
            <a:picLocks noChangeAspect="1"/>
          </p:cNvPicPr>
          <p:nvPr/>
        </p:nvPicPr>
        <p:blipFill>
          <a:blip r:embed="rId1"/>
          <a:stretch>
            <a:fillRect/>
          </a:stretch>
        </p:blipFill>
        <p:spPr>
          <a:xfrm>
            <a:off x="2303578" y="1552342"/>
            <a:ext cx="7584843" cy="4721535"/>
          </a:xfrm>
          <a:prstGeom prst="rect">
            <a:avLst/>
          </a:prstGeom>
        </p:spPr>
      </p:pic>
      <p:sp>
        <p:nvSpPr>
          <p:cNvPr id="7" name="文字方塊 6"/>
          <p:cNvSpPr txBox="1"/>
          <p:nvPr/>
        </p:nvSpPr>
        <p:spPr>
          <a:xfrm>
            <a:off x="6939600" y="6311977"/>
            <a:ext cx="6091084" cy="369332"/>
          </a:xfrm>
          <a:prstGeom prst="rect">
            <a:avLst/>
          </a:prstGeom>
          <a:noFill/>
        </p:spPr>
        <p:txBody>
          <a:bodyPr wrap="square">
            <a:spAutoFit/>
          </a:bodyPr>
          <a:lstStyle/>
          <a:p>
            <a:r>
              <a:rPr lang="zh-TW" altLang="en-US" dirty="0"/>
              <a:t>https://www.youtube.com/watch?v=2tbaCn0Kl90</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舉例：讓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使用電腦</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5" name="圖片 4"/>
          <p:cNvPicPr>
            <a:picLocks noChangeAspect="1"/>
          </p:cNvPicPr>
          <p:nvPr/>
        </p:nvPicPr>
        <p:blipFill>
          <a:blip r:embed="rId1"/>
          <a:stretch>
            <a:fillRect/>
          </a:stretch>
        </p:blipFill>
        <p:spPr>
          <a:xfrm>
            <a:off x="3995202" y="1844026"/>
            <a:ext cx="7668695" cy="4648849"/>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7" name="文字方塊 6"/>
          <p:cNvSpPr txBox="1"/>
          <p:nvPr/>
        </p:nvSpPr>
        <p:spPr>
          <a:xfrm>
            <a:off x="1051978" y="5467331"/>
            <a:ext cx="2729447" cy="954107"/>
          </a:xfrm>
          <a:prstGeom prst="rect">
            <a:avLst/>
          </a:prstGeom>
          <a:noFill/>
        </p:spPr>
        <p:txBody>
          <a:bodyPr wrap="square">
            <a:spAutoFit/>
          </a:bodyPr>
          <a:lstStyle/>
          <a:p>
            <a:r>
              <a:rPr lang="en-US" altLang="zh-TW" sz="2800" dirty="0">
                <a:latin typeface="Microsoft JhengHei" panose="020B0604030504040204" pitchFamily="34" charset="-120"/>
                <a:ea typeface="Microsoft JhengHei" panose="020B0604030504040204" pitchFamily="34" charset="-120"/>
              </a:rPr>
              <a:t>Computer Use, </a:t>
            </a:r>
            <a:endParaRPr lang="en-US" altLang="zh-TW" sz="2800" dirty="0">
              <a:latin typeface="Microsoft JhengHei" panose="020B0604030504040204" pitchFamily="34" charset="-120"/>
              <a:ea typeface="Microsoft JhengHei" panose="020B0604030504040204" pitchFamily="34" charset="-120"/>
            </a:endParaRPr>
          </a:p>
          <a:p>
            <a:r>
              <a:rPr lang="en-US" altLang="zh-TW" sz="2800" dirty="0">
                <a:latin typeface="Microsoft JhengHei" panose="020B0604030504040204" pitchFamily="34" charset="-120"/>
                <a:ea typeface="Microsoft JhengHei" panose="020B0604030504040204" pitchFamily="34" charset="-120"/>
              </a:rPr>
              <a:t>Operator </a:t>
            </a:r>
            <a:endParaRPr lang="zh-TW"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舉例：讓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使用電腦</a:t>
            </a:r>
            <a:endParaRPr lang="zh-TW"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39192" y="3441063"/>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2709" y="3441064"/>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接點 7"/>
          <p:cNvCxnSpPr/>
          <p:nvPr/>
        </p:nvCxnSpPr>
        <p:spPr>
          <a:xfrm>
            <a:off x="3674110" y="5808980"/>
            <a:ext cx="2021840"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3653790" y="4726940"/>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flipV="1">
            <a:off x="8977630" y="4726940"/>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flipH="1">
            <a:off x="3674110" y="2100264"/>
            <a:ext cx="174616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a:xfrm flipH="1" flipV="1">
            <a:off x="8977630" y="2100264"/>
            <a:ext cx="0" cy="1082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flipH="1">
            <a:off x="3653790" y="2100264"/>
            <a:ext cx="0" cy="108204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文字方塊 13"/>
          <p:cNvSpPr txBox="1"/>
          <p:nvPr/>
        </p:nvSpPr>
        <p:spPr>
          <a:xfrm>
            <a:off x="1385448" y="3182304"/>
            <a:ext cx="1016000" cy="461665"/>
          </a:xfrm>
          <a:prstGeom prst="rect">
            <a:avLst/>
          </a:prstGeom>
          <a:noFill/>
        </p:spPr>
        <p:txBody>
          <a:bodyPr wrap="square" rtlCol="0">
            <a:spAutoFit/>
          </a:bodyPr>
          <a:lstStyle/>
          <a:p>
            <a:pPr algn="r"/>
            <a:r>
              <a:rPr lang="en-US" altLang="zh-TW" sz="2400" dirty="0"/>
              <a:t>Goal</a:t>
            </a:r>
            <a:endParaRPr lang="zh-TW" altLang="en-US" sz="2400" dirty="0"/>
          </a:p>
        </p:txBody>
      </p:sp>
      <p:cxnSp>
        <p:nvCxnSpPr>
          <p:cNvPr id="15" name="直線單箭頭接點 14"/>
          <p:cNvCxnSpPr/>
          <p:nvPr/>
        </p:nvCxnSpPr>
        <p:spPr>
          <a:xfrm>
            <a:off x="2401448" y="3541068"/>
            <a:ext cx="503002" cy="23083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5330190" y="5578147"/>
            <a:ext cx="1971040" cy="461665"/>
          </a:xfrm>
          <a:prstGeom prst="rect">
            <a:avLst/>
          </a:prstGeom>
          <a:noFill/>
        </p:spPr>
        <p:txBody>
          <a:bodyPr wrap="square" rtlCol="0">
            <a:spAutoFit/>
          </a:bodyPr>
          <a:lstStyle/>
          <a:p>
            <a:pPr algn="ctr"/>
            <a:r>
              <a:rPr lang="en-US" altLang="zh-TW" sz="2400" dirty="0"/>
              <a:t>Action</a:t>
            </a:r>
            <a:endParaRPr lang="zh-TW" altLang="en-US" sz="2400" dirty="0"/>
          </a:p>
        </p:txBody>
      </p:sp>
      <p:cxnSp>
        <p:nvCxnSpPr>
          <p:cNvPr id="17" name="直線接點 16"/>
          <p:cNvCxnSpPr/>
          <p:nvPr/>
        </p:nvCxnSpPr>
        <p:spPr>
          <a:xfrm flipH="1">
            <a:off x="6930309" y="5808979"/>
            <a:ext cx="202700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5302824" y="1842360"/>
            <a:ext cx="1971040" cy="461665"/>
          </a:xfrm>
          <a:prstGeom prst="rect">
            <a:avLst/>
          </a:prstGeom>
          <a:noFill/>
        </p:spPr>
        <p:txBody>
          <a:bodyPr wrap="square" rtlCol="0">
            <a:spAutoFit/>
          </a:bodyPr>
          <a:lstStyle/>
          <a:p>
            <a:pPr algn="ctr"/>
            <a:r>
              <a:rPr lang="en-US" altLang="zh-TW" sz="2400" dirty="0"/>
              <a:t>Observation</a:t>
            </a:r>
            <a:endParaRPr lang="zh-TW" altLang="en-US" sz="2400" dirty="0"/>
          </a:p>
        </p:txBody>
      </p:sp>
      <p:cxnSp>
        <p:nvCxnSpPr>
          <p:cNvPr id="19" name="直線接點 18"/>
          <p:cNvCxnSpPr/>
          <p:nvPr/>
        </p:nvCxnSpPr>
        <p:spPr>
          <a:xfrm flipH="1">
            <a:off x="7178614" y="2100263"/>
            <a:ext cx="1754485" cy="0"/>
          </a:xfrm>
          <a:prstGeom prst="line">
            <a:avLst/>
          </a:prstGeom>
          <a:ln w="571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9281" y="4278219"/>
            <a:ext cx="1415343" cy="141534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9281" y="2376976"/>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29" name="文字方塊 28"/>
          <p:cNvSpPr txBox="1"/>
          <p:nvPr/>
        </p:nvSpPr>
        <p:spPr>
          <a:xfrm>
            <a:off x="466089" y="3578123"/>
            <a:ext cx="1921951" cy="830997"/>
          </a:xfrm>
          <a:prstGeom prst="rect">
            <a:avLst/>
          </a:prstGeom>
          <a:noFill/>
        </p:spPr>
        <p:txBody>
          <a:bodyPr wrap="square" rtlCol="0">
            <a:spAutoFit/>
          </a:bodyPr>
          <a:lstStyle/>
          <a:p>
            <a:pPr algn="r"/>
            <a:r>
              <a:rPr lang="zh-TW" altLang="en-US" sz="2400" dirty="0">
                <a:latin typeface="Microsoft JhengHei" panose="020B0604030504040204" pitchFamily="34" charset="-120"/>
                <a:ea typeface="Microsoft JhengHei" panose="020B0604030504040204" pitchFamily="34" charset="-120"/>
              </a:rPr>
              <a:t>訂披薩、</a:t>
            </a:r>
            <a:endParaRPr lang="en-US" altLang="zh-TW" sz="2400" dirty="0">
              <a:latin typeface="Microsoft JhengHei" panose="020B0604030504040204" pitchFamily="34" charset="-120"/>
              <a:ea typeface="Microsoft JhengHei" panose="020B0604030504040204" pitchFamily="34" charset="-120"/>
            </a:endParaRPr>
          </a:p>
          <a:p>
            <a:pPr algn="r"/>
            <a:r>
              <a:rPr lang="zh-TW" altLang="en-US" sz="2400" dirty="0">
                <a:latin typeface="Microsoft JhengHei" panose="020B0604030504040204" pitchFamily="34" charset="-120"/>
                <a:ea typeface="Microsoft JhengHei" panose="020B0604030504040204" pitchFamily="34" charset="-120"/>
              </a:rPr>
              <a:t>上網購物 </a:t>
            </a:r>
            <a:r>
              <a:rPr lang="en-US" altLang="zh-TW" sz="2400" dirty="0">
                <a:latin typeface="Microsoft JhengHei" panose="020B0604030504040204" pitchFamily="34" charset="-120"/>
                <a:ea typeface="Microsoft JhengHei" panose="020B0604030504040204" pitchFamily="34" charset="-120"/>
              </a:rPr>
              <a:t>…</a:t>
            </a:r>
            <a:endParaRPr lang="zh-TW" altLang="en-US" sz="24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舉例：讓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使用電腦</a:t>
            </a:r>
            <a:endParaRPr lang="zh-TW" altLang="en-US" dirty="0"/>
          </a:p>
        </p:txBody>
      </p:sp>
      <p:sp>
        <p:nvSpPr>
          <p:cNvPr id="3" name="內容版面配置區 2"/>
          <p:cNvSpPr>
            <a:spLocks noGrp="1"/>
          </p:cNvSpPr>
          <p:nvPr>
            <p:ph idx="1"/>
          </p:nvPr>
        </p:nvSpPr>
        <p:spPr>
          <a:xfrm>
            <a:off x="838200" y="1825625"/>
            <a:ext cx="6005052" cy="4351338"/>
          </a:xfrm>
        </p:spPr>
        <p:txBody>
          <a:bodyPr>
            <a:normAutofit/>
          </a:bodyPr>
          <a:lstStyle/>
          <a:p>
            <a:r>
              <a:rPr lang="en-US" altLang="zh-TW" sz="2400" dirty="0"/>
              <a:t>World of Bits: An Open-Domain Platform for Web-Based Agents (ICML, 2017)</a:t>
            </a:r>
            <a:endParaRPr lang="zh-TW" altLang="en-US" sz="2400" dirty="0"/>
          </a:p>
          <a:p>
            <a:endParaRPr lang="zh-TW" altLang="en-US" sz="2400" dirty="0"/>
          </a:p>
        </p:txBody>
      </p:sp>
      <p:pic>
        <p:nvPicPr>
          <p:cNvPr id="5" name="圖片 4"/>
          <p:cNvPicPr>
            <a:picLocks noChangeAspect="1"/>
          </p:cNvPicPr>
          <p:nvPr/>
        </p:nvPicPr>
        <p:blipFill>
          <a:blip r:embed="rId1"/>
          <a:stretch>
            <a:fillRect/>
          </a:stretch>
        </p:blipFill>
        <p:spPr>
          <a:xfrm>
            <a:off x="361134" y="4250950"/>
            <a:ext cx="11469731" cy="2106988"/>
          </a:xfrm>
          <a:prstGeom prst="rect">
            <a:avLst/>
          </a:prstGeom>
        </p:spPr>
      </p:pic>
      <p:pic>
        <p:nvPicPr>
          <p:cNvPr id="7" name="圖片 6"/>
          <p:cNvPicPr>
            <a:picLocks noChangeAspect="1"/>
          </p:cNvPicPr>
          <p:nvPr/>
        </p:nvPicPr>
        <p:blipFill>
          <a:blip r:embed="rId2"/>
          <a:stretch>
            <a:fillRect/>
          </a:stretch>
        </p:blipFill>
        <p:spPr>
          <a:xfrm>
            <a:off x="7172490" y="1602630"/>
            <a:ext cx="4658375" cy="2648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字方塊 12"/>
          <p:cNvSpPr txBox="1"/>
          <p:nvPr/>
        </p:nvSpPr>
        <p:spPr>
          <a:xfrm>
            <a:off x="504128" y="6140481"/>
            <a:ext cx="6372224" cy="375552"/>
          </a:xfrm>
          <a:prstGeom prst="rect">
            <a:avLst/>
          </a:prstGeom>
          <a:noFill/>
        </p:spPr>
        <p:txBody>
          <a:bodyPr wrap="square">
            <a:spAutoFit/>
          </a:bodyPr>
          <a:lstStyle/>
          <a:p>
            <a:pPr algn="l">
              <a:lnSpc>
                <a:spcPts val="2100"/>
              </a:lnSpc>
              <a:spcAft>
                <a:spcPts val="900"/>
              </a:spcAft>
            </a:pPr>
            <a:r>
              <a:rPr lang="en-US" altLang="zh-TW" sz="2400" dirty="0" err="1"/>
              <a:t>WebArena</a:t>
            </a:r>
            <a:endParaRPr lang="en-US" altLang="zh-TW" sz="2400" dirty="0"/>
          </a:p>
        </p:txBody>
      </p:sp>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舉例：讓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使用電腦</a:t>
            </a:r>
            <a:endParaRPr lang="zh-TW" altLang="en-US" dirty="0"/>
          </a:p>
        </p:txBody>
      </p:sp>
      <p:sp>
        <p:nvSpPr>
          <p:cNvPr id="3" name="內容版面配置區 2"/>
          <p:cNvSpPr>
            <a:spLocks noGrp="1"/>
          </p:cNvSpPr>
          <p:nvPr>
            <p:ph idx="1"/>
          </p:nvPr>
        </p:nvSpPr>
        <p:spPr/>
        <p:txBody>
          <a:bodyPr/>
          <a:lstStyle/>
          <a:p>
            <a:endParaRPr lang="en-US" altLang="zh-TW" dirty="0"/>
          </a:p>
          <a:p>
            <a:endParaRPr lang="zh-TW" altLang="en-US" dirty="0"/>
          </a:p>
        </p:txBody>
      </p:sp>
      <p:sp>
        <p:nvSpPr>
          <p:cNvPr id="7" name="文字方塊 6"/>
          <p:cNvSpPr txBox="1"/>
          <p:nvPr/>
        </p:nvSpPr>
        <p:spPr>
          <a:xfrm>
            <a:off x="361949" y="2554796"/>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https://arxiv.org/abs/2306.06070</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8" name="文字方塊 7"/>
          <p:cNvSpPr txBox="1"/>
          <p:nvPr/>
        </p:nvSpPr>
        <p:spPr>
          <a:xfrm>
            <a:off x="361949" y="2109724"/>
            <a:ext cx="2120010" cy="461665"/>
          </a:xfrm>
          <a:prstGeom prst="rect">
            <a:avLst/>
          </a:prstGeom>
          <a:noFill/>
        </p:spPr>
        <p:txBody>
          <a:bodyPr wrap="square">
            <a:spAutoFit/>
          </a:bodyPr>
          <a:lstStyle/>
          <a:p>
            <a:r>
              <a:rPr lang="en-US" altLang="zh-TW" sz="2400" dirty="0"/>
              <a:t>Mind2Web</a:t>
            </a:r>
            <a:endParaRPr lang="zh-TW" altLang="en-US" sz="2400" dirty="0"/>
          </a:p>
        </p:txBody>
      </p:sp>
      <p:pic>
        <p:nvPicPr>
          <p:cNvPr id="10" name="圖片 9"/>
          <p:cNvPicPr>
            <a:picLocks noChangeAspect="1"/>
          </p:cNvPicPr>
          <p:nvPr/>
        </p:nvPicPr>
        <p:blipFill>
          <a:blip r:embed="rId1"/>
          <a:stretch>
            <a:fillRect/>
          </a:stretch>
        </p:blipFill>
        <p:spPr>
          <a:xfrm>
            <a:off x="443610" y="4086697"/>
            <a:ext cx="6143563" cy="1890327"/>
          </a:xfrm>
          <a:prstGeom prst="rect">
            <a:avLst/>
          </a:prstGeom>
        </p:spPr>
      </p:pic>
      <p:sp>
        <p:nvSpPr>
          <p:cNvPr id="11" name="文字方塊 10"/>
          <p:cNvSpPr txBox="1"/>
          <p:nvPr/>
        </p:nvSpPr>
        <p:spPr>
          <a:xfrm>
            <a:off x="2124075" y="6161832"/>
            <a:ext cx="6372224" cy="369332"/>
          </a:xfrm>
          <a:prstGeom prst="rect">
            <a:avLst/>
          </a:prstGeom>
          <a:noFill/>
        </p:spPr>
        <p:txBody>
          <a:bodyPr wrap="square">
            <a:spAutoFit/>
          </a:bodyPr>
          <a:lstStyle/>
          <a:p>
            <a:r>
              <a:rPr lang="zh-TW" altLang="en-US" dirty="0"/>
              <a:t>https://arxiv.org/abs/2307.13854</a:t>
            </a:r>
            <a:endParaRPr lang="zh-TW" altLang="en-US" dirty="0"/>
          </a:p>
        </p:txBody>
      </p:sp>
      <p:pic>
        <p:nvPicPr>
          <p:cNvPr id="15" name="圖片 14"/>
          <p:cNvPicPr>
            <a:picLocks noChangeAspect="1"/>
          </p:cNvPicPr>
          <p:nvPr/>
        </p:nvPicPr>
        <p:blipFill>
          <a:blip r:embed="rId2"/>
          <a:stretch>
            <a:fillRect/>
          </a:stretch>
        </p:blipFill>
        <p:spPr>
          <a:xfrm>
            <a:off x="3690240" y="1614497"/>
            <a:ext cx="8058150" cy="1956174"/>
          </a:xfrm>
          <a:prstGeom prst="rect">
            <a:avLst/>
          </a:prstGeom>
        </p:spPr>
      </p:pic>
      <p:pic>
        <p:nvPicPr>
          <p:cNvPr id="17" name="圖片 16"/>
          <p:cNvPicPr>
            <a:picLocks noChangeAspect="1"/>
          </p:cNvPicPr>
          <p:nvPr/>
        </p:nvPicPr>
        <p:blipFill>
          <a:blip r:embed="rId3"/>
          <a:stretch>
            <a:fillRect/>
          </a:stretch>
        </p:blipFill>
        <p:spPr>
          <a:xfrm>
            <a:off x="6981763" y="3921798"/>
            <a:ext cx="4637402" cy="2220124"/>
          </a:xfrm>
          <a:prstGeom prst="rect">
            <a:avLst/>
          </a:prstGeom>
        </p:spPr>
      </p:pic>
      <p:sp>
        <p:nvSpPr>
          <p:cNvPr id="18" name="文字方塊 17"/>
          <p:cNvSpPr txBox="1"/>
          <p:nvPr/>
        </p:nvSpPr>
        <p:spPr>
          <a:xfrm>
            <a:off x="8666415" y="6196013"/>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https://arxiv.org/abs/2401.13649</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9" name="文字方塊 18"/>
          <p:cNvSpPr txBox="1"/>
          <p:nvPr/>
        </p:nvSpPr>
        <p:spPr>
          <a:xfrm>
            <a:off x="6457949" y="6196873"/>
            <a:ext cx="2247901" cy="375552"/>
          </a:xfrm>
          <a:prstGeom prst="rect">
            <a:avLst/>
          </a:prstGeom>
          <a:noFill/>
        </p:spPr>
        <p:txBody>
          <a:bodyPr wrap="square">
            <a:spAutoFit/>
          </a:bodyPr>
          <a:lstStyle/>
          <a:p>
            <a:pPr algn="l">
              <a:lnSpc>
                <a:spcPts val="2100"/>
              </a:lnSpc>
              <a:spcAft>
                <a:spcPts val="900"/>
              </a:spcAft>
            </a:pPr>
            <a:r>
              <a:rPr lang="en-US" altLang="zh-TW" sz="2400" dirty="0" err="1"/>
              <a:t>VisualWebArena</a:t>
            </a:r>
            <a:endParaRPr lang="en-US" altLang="zh-TW" sz="24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舉例：用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訓練模型</a:t>
            </a:r>
            <a:endParaRPr lang="zh-TW"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98950" y="4239238"/>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73750" y="4239238"/>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圓角 7"/>
          <p:cNvSpPr/>
          <p:nvPr/>
        </p:nvSpPr>
        <p:spPr>
          <a:xfrm>
            <a:off x="-5850" y="3363182"/>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goal</a:t>
            </a:r>
            <a:endParaRPr lang="zh-TW" altLang="en-US" sz="2400" dirty="0"/>
          </a:p>
        </p:txBody>
      </p:sp>
      <p:sp>
        <p:nvSpPr>
          <p:cNvPr id="9" name="矩形: 圓角 8"/>
          <p:cNvSpPr/>
          <p:nvPr/>
        </p:nvSpPr>
        <p:spPr>
          <a:xfrm>
            <a:off x="1794150" y="336318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10" name="矩形: 圓角 9"/>
          <p:cNvSpPr/>
          <p:nvPr/>
        </p:nvSpPr>
        <p:spPr>
          <a:xfrm>
            <a:off x="5385450" y="336318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a:t>
            </a:r>
            <a:endParaRPr lang="zh-TW" altLang="en-US" sz="2400" dirty="0"/>
          </a:p>
        </p:txBody>
      </p:sp>
      <p:sp>
        <p:nvSpPr>
          <p:cNvPr id="11" name="矩形: 圓角 10"/>
          <p:cNvSpPr/>
          <p:nvPr/>
        </p:nvSpPr>
        <p:spPr>
          <a:xfrm>
            <a:off x="3599325" y="3363182"/>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12" name="矩形: 圓角 11"/>
          <p:cNvSpPr/>
          <p:nvPr/>
        </p:nvSpPr>
        <p:spPr>
          <a:xfrm>
            <a:off x="7188450" y="3363182"/>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a:t>
            </a:r>
            <a:endParaRPr lang="zh-TW" altLang="en-US" sz="2400" dirty="0"/>
          </a:p>
        </p:txBody>
      </p:sp>
      <p:sp>
        <p:nvSpPr>
          <p:cNvPr id="13" name="矩形: 圓角 12"/>
          <p:cNvSpPr/>
          <p:nvPr/>
        </p:nvSpPr>
        <p:spPr>
          <a:xfrm>
            <a:off x="8988450" y="336318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3</a:t>
            </a:r>
            <a:endParaRPr lang="zh-TW" altLang="en-US" sz="2400" dirty="0"/>
          </a:p>
        </p:txBody>
      </p:sp>
      <p:sp>
        <p:nvSpPr>
          <p:cNvPr id="14" name="矩形: 圓角 13"/>
          <p:cNvSpPr/>
          <p:nvPr/>
        </p:nvSpPr>
        <p:spPr>
          <a:xfrm>
            <a:off x="10788450" y="3363182"/>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3</a:t>
            </a:r>
            <a:endParaRPr lang="zh-TW" altLang="en-US" sz="2400" dirty="0"/>
          </a:p>
        </p:txBody>
      </p:sp>
      <p:pic>
        <p:nvPicPr>
          <p:cNvPr id="1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140750" y="4227878"/>
            <a:ext cx="1219200" cy="1219201"/>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群組 19"/>
          <p:cNvGrpSpPr/>
          <p:nvPr/>
        </p:nvGrpSpPr>
        <p:grpSpPr>
          <a:xfrm flipV="1">
            <a:off x="2694150" y="3777953"/>
            <a:ext cx="8897700" cy="452923"/>
            <a:chOff x="2770350" y="3222261"/>
            <a:chExt cx="8897700" cy="452923"/>
          </a:xfrm>
        </p:grpSpPr>
        <p:cxnSp>
          <p:nvCxnSpPr>
            <p:cNvPr id="21" name="直線單箭頭接點 20"/>
            <p:cNvCxnSpPr/>
            <p:nvPr/>
          </p:nvCxnSpPr>
          <p:spPr>
            <a:xfrm flipV="1">
              <a:off x="2770350" y="322226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a:off x="4055400" y="323850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flipV="1">
              <a:off x="6391050" y="326170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a:off x="7676100" y="327794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flipV="1">
              <a:off x="9933900" y="326170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a:off x="11218950" y="327794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文字方塊 26"/>
          <p:cNvSpPr txBox="1"/>
          <p:nvPr/>
        </p:nvSpPr>
        <p:spPr>
          <a:xfrm>
            <a:off x="1053163" y="5036572"/>
            <a:ext cx="2021837" cy="523220"/>
          </a:xfrm>
          <a:prstGeom prst="rect">
            <a:avLst/>
          </a:prstGeom>
          <a:noFill/>
        </p:spPr>
        <p:txBody>
          <a:bodyPr wrap="square" rtlCol="0">
            <a:spAutoFit/>
          </a:bodyPr>
          <a:lstStyle/>
          <a:p>
            <a:pPr algn="r"/>
            <a:r>
              <a:rPr lang="en-US" altLang="zh-TW" sz="2800" b="1" dirty="0"/>
              <a:t>LLM</a:t>
            </a:r>
            <a:endParaRPr lang="zh-TW" altLang="en-US" sz="2800" b="1" dirty="0"/>
          </a:p>
        </p:txBody>
      </p:sp>
      <p:sp>
        <p:nvSpPr>
          <p:cNvPr id="28" name="文字方塊 27"/>
          <p:cNvSpPr txBox="1"/>
          <p:nvPr/>
        </p:nvSpPr>
        <p:spPr>
          <a:xfrm>
            <a:off x="4635913" y="5058630"/>
            <a:ext cx="2021837" cy="523220"/>
          </a:xfrm>
          <a:prstGeom prst="rect">
            <a:avLst/>
          </a:prstGeom>
          <a:noFill/>
        </p:spPr>
        <p:txBody>
          <a:bodyPr wrap="square" rtlCol="0">
            <a:spAutoFit/>
          </a:bodyPr>
          <a:lstStyle/>
          <a:p>
            <a:pPr algn="r"/>
            <a:r>
              <a:rPr lang="en-US" altLang="zh-TW" sz="2800" b="1" dirty="0"/>
              <a:t>LLM</a:t>
            </a:r>
            <a:endParaRPr lang="zh-TW" altLang="en-US" sz="2800" b="1" dirty="0"/>
          </a:p>
        </p:txBody>
      </p:sp>
      <p:sp>
        <p:nvSpPr>
          <p:cNvPr id="29" name="文字方塊 28"/>
          <p:cNvSpPr txBox="1"/>
          <p:nvPr/>
        </p:nvSpPr>
        <p:spPr>
          <a:xfrm>
            <a:off x="8218800" y="5020092"/>
            <a:ext cx="2021837" cy="523220"/>
          </a:xfrm>
          <a:prstGeom prst="rect">
            <a:avLst/>
          </a:prstGeom>
          <a:noFill/>
        </p:spPr>
        <p:txBody>
          <a:bodyPr wrap="square" rtlCol="0">
            <a:spAutoFit/>
          </a:bodyPr>
          <a:lstStyle/>
          <a:p>
            <a:pPr algn="r"/>
            <a:r>
              <a:rPr lang="en-US" altLang="zh-TW" sz="2800" b="1" dirty="0"/>
              <a:t>LLM</a:t>
            </a:r>
            <a:endParaRPr lang="zh-TW" altLang="en-US" sz="2800" b="1" dirty="0"/>
          </a:p>
        </p:txBody>
      </p:sp>
      <p:sp>
        <p:nvSpPr>
          <p:cNvPr id="30" name="文字方塊 29"/>
          <p:cNvSpPr txBox="1"/>
          <p:nvPr/>
        </p:nvSpPr>
        <p:spPr>
          <a:xfrm>
            <a:off x="0" y="2314063"/>
            <a:ext cx="1794825" cy="830997"/>
          </a:xfrm>
          <a:prstGeom prst="rect">
            <a:avLst/>
          </a:prstGeom>
          <a:noFill/>
        </p:spPr>
        <p:txBody>
          <a:bodyPr wrap="square" rtlCol="0">
            <a:spAutoFit/>
          </a:bodyPr>
          <a:lstStyle/>
          <a:p>
            <a:pPr algn="ctr"/>
            <a:r>
              <a:rPr lang="zh-TW" altLang="en-US" sz="2400" dirty="0">
                <a:latin typeface="Microsoft JhengHei" panose="020B0604030504040204" pitchFamily="34" charset="-120"/>
                <a:ea typeface="Microsoft JhengHei" panose="020B0604030504040204" pitchFamily="34" charset="-120"/>
              </a:rPr>
              <a:t>過 </a:t>
            </a:r>
            <a:r>
              <a:rPr lang="en-US" altLang="zh-TW" sz="2400" dirty="0">
                <a:latin typeface="Microsoft JhengHei" panose="020B0604030504040204" pitchFamily="34" charset="-120"/>
                <a:ea typeface="Microsoft JhengHei" panose="020B0604030504040204" pitchFamily="34" charset="-120"/>
              </a:rPr>
              <a:t>Strong Baseline</a:t>
            </a:r>
            <a:endParaRPr lang="zh-TW" altLang="en-US" sz="2400" dirty="0">
              <a:latin typeface="Microsoft JhengHei" panose="020B0604030504040204" pitchFamily="34" charset="-120"/>
              <a:ea typeface="Microsoft JhengHei" panose="020B0604030504040204" pitchFamily="34" charset="-12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4081" y="2078846"/>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9725" y="2047954"/>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5250" y="2000742"/>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9400" y="2033561"/>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9718" y="2000742"/>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34" name="文字方塊 33"/>
          <p:cNvSpPr txBox="1"/>
          <p:nvPr/>
        </p:nvSpPr>
        <p:spPr>
          <a:xfrm>
            <a:off x="486427" y="5603604"/>
            <a:ext cx="6314302" cy="461665"/>
          </a:xfrm>
          <a:prstGeom prst="rect">
            <a:avLst/>
          </a:prstGeom>
          <a:noFill/>
        </p:spPr>
        <p:txBody>
          <a:bodyPr wrap="square">
            <a:spAutoFit/>
          </a:bodyPr>
          <a:lstStyle/>
          <a:p>
            <a:r>
              <a:rPr lang="zh-TW" altLang="en-US" sz="2400" dirty="0"/>
              <a:t>AIDE: The Machine Learning Engineer Agent</a:t>
            </a:r>
            <a:endParaRPr lang="zh-TW" altLang="en-US" sz="2400" dirty="0"/>
          </a:p>
        </p:txBody>
      </p:sp>
      <p:sp>
        <p:nvSpPr>
          <p:cNvPr id="36" name="文字方塊 35"/>
          <p:cNvSpPr txBox="1"/>
          <p:nvPr/>
        </p:nvSpPr>
        <p:spPr>
          <a:xfrm>
            <a:off x="6121995" y="5690422"/>
            <a:ext cx="6314302" cy="369332"/>
          </a:xfrm>
          <a:prstGeom prst="rect">
            <a:avLst/>
          </a:prstGeom>
          <a:noFill/>
        </p:spPr>
        <p:txBody>
          <a:bodyPr wrap="square">
            <a:spAutoFit/>
          </a:bodyPr>
          <a:lstStyle/>
          <a:p>
            <a:r>
              <a:rPr lang="zh-TW" altLang="en-US" dirty="0"/>
              <a:t>https://arxiv.org/abs/2502.13138</a:t>
            </a:r>
            <a:endParaRPr lang="zh-TW" altLang="en-US" dirty="0"/>
          </a:p>
        </p:txBody>
      </p:sp>
      <p:sp>
        <p:nvSpPr>
          <p:cNvPr id="38" name="文字方塊 37"/>
          <p:cNvSpPr txBox="1"/>
          <p:nvPr/>
        </p:nvSpPr>
        <p:spPr>
          <a:xfrm>
            <a:off x="8268228" y="6401953"/>
            <a:ext cx="3973200" cy="375552"/>
          </a:xfrm>
          <a:prstGeom prst="rect">
            <a:avLst/>
          </a:prstGeom>
          <a:noFill/>
        </p:spPr>
        <p:txBody>
          <a:bodyPr wrap="square">
            <a:spAutoFit/>
          </a:bodyPr>
          <a:lstStyle/>
          <a:p>
            <a:r>
              <a:rPr lang="en-US" altLang="zh-TW" dirty="0"/>
              <a:t>https://arxiv.org/abs/2410.20424</a:t>
            </a:r>
            <a:endParaRPr lang="zh-TW" altLang="en-US" dirty="0"/>
          </a:p>
        </p:txBody>
      </p:sp>
      <p:sp>
        <p:nvSpPr>
          <p:cNvPr id="40" name="文字方塊 39"/>
          <p:cNvSpPr txBox="1"/>
          <p:nvPr/>
        </p:nvSpPr>
        <p:spPr>
          <a:xfrm>
            <a:off x="486427" y="6094081"/>
            <a:ext cx="14180432" cy="375552"/>
          </a:xfrm>
          <a:prstGeom prst="rect">
            <a:avLst/>
          </a:prstGeom>
          <a:noFill/>
        </p:spPr>
        <p:txBody>
          <a:bodyPr wrap="square">
            <a:spAutoFit/>
          </a:bodyPr>
          <a:lstStyle/>
          <a:p>
            <a:pPr algn="l">
              <a:lnSpc>
                <a:spcPts val="2100"/>
              </a:lnSpc>
              <a:spcAft>
                <a:spcPts val="900"/>
              </a:spcAft>
            </a:pPr>
            <a:r>
              <a:rPr lang="en-US" altLang="zh-TW" sz="2400" dirty="0" err="1"/>
              <a:t>AutoKaggle</a:t>
            </a:r>
            <a:r>
              <a:rPr lang="en-US" altLang="zh-TW" sz="2400" dirty="0"/>
              <a:t>: A Multi-Agent Framework for Autonomous Data Science Competitions</a:t>
            </a:r>
            <a:endParaRPr lang="en-US" altLang="zh-TW" sz="24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舉例：用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做研究</a:t>
            </a:r>
            <a:endParaRPr lang="zh-TW" altLang="en-US" dirty="0"/>
          </a:p>
        </p:txBody>
      </p:sp>
      <p:sp>
        <p:nvSpPr>
          <p:cNvPr id="3" name="內容版面配置區 2"/>
          <p:cNvSpPr>
            <a:spLocks noGrp="1"/>
          </p:cNvSpPr>
          <p:nvPr>
            <p:ph idx="1"/>
          </p:nvPr>
        </p:nvSpPr>
        <p:spPr/>
        <p:txBody>
          <a:bodyPr/>
          <a:lstStyle/>
          <a:p>
            <a:endParaRPr lang="en-US" altLang="zh-TW" b="1" i="0" dirty="0">
              <a:solidFill>
                <a:srgbClr val="202124"/>
              </a:solidFill>
              <a:effectLst/>
              <a:latin typeface="Google Sans"/>
            </a:endParaRPr>
          </a:p>
        </p:txBody>
      </p:sp>
      <p:sp>
        <p:nvSpPr>
          <p:cNvPr id="5" name="文字方塊 4"/>
          <p:cNvSpPr txBox="1"/>
          <p:nvPr/>
        </p:nvSpPr>
        <p:spPr>
          <a:xfrm>
            <a:off x="639462" y="6333407"/>
            <a:ext cx="1091307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dirty="0"/>
              <a:t>https://research.google/blog/accelerating-scientific-breakthroughs-with-an-ai-co-scientist/</a:t>
            </a:r>
            <a:endParaRPr lang="zh-TW" altLang="en-US" dirty="0"/>
          </a:p>
        </p:txBody>
      </p:sp>
      <p:pic>
        <p:nvPicPr>
          <p:cNvPr id="5126" name="Picture 6" descr="AICoScientist-2-Overview"/>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5750" y="1509713"/>
            <a:ext cx="11906250" cy="4667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邁向更加真實的互動情境</a:t>
            </a:r>
            <a:endParaRPr lang="zh-TW" altLang="en-US" dirty="0">
              <a:latin typeface="Microsoft JhengHei" panose="020B0604030504040204" pitchFamily="34" charset="-120"/>
              <a:ea typeface="Microsoft JhengHei" panose="020B0604030504040204" pitchFamily="34" charset="-120"/>
            </a:endParaRPr>
          </a:p>
        </p:txBody>
      </p:sp>
      <p:sp>
        <p:nvSpPr>
          <p:cNvPr id="8" name="矩形: 圓角 7"/>
          <p:cNvSpPr/>
          <p:nvPr/>
        </p:nvSpPr>
        <p:spPr>
          <a:xfrm>
            <a:off x="260850" y="2658332"/>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goal</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9" name="矩形: 圓角 8"/>
          <p:cNvSpPr/>
          <p:nvPr/>
        </p:nvSpPr>
        <p:spPr>
          <a:xfrm>
            <a:off x="2060850" y="265833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PMingLiU" panose="02020500000000000000" pitchFamily="18" charset="-120"/>
                <a:cs typeface="+mn-cs"/>
              </a:rPr>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0" name="矩形: 圓角 9"/>
          <p:cNvSpPr/>
          <p:nvPr/>
        </p:nvSpPr>
        <p:spPr>
          <a:xfrm>
            <a:off x="5652150" y="265833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PMingLiU" panose="02020500000000000000" pitchFamily="18" charset="-120"/>
                <a:cs typeface="+mn-cs"/>
              </a:rPr>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1" name="矩形: 圓角 10"/>
          <p:cNvSpPr/>
          <p:nvPr/>
        </p:nvSpPr>
        <p:spPr>
          <a:xfrm>
            <a:off x="3866025" y="2658332"/>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2" name="矩形: 圓角 11"/>
          <p:cNvSpPr/>
          <p:nvPr/>
        </p:nvSpPr>
        <p:spPr>
          <a:xfrm>
            <a:off x="7455150" y="2658332"/>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3" name="矩形: 圓角 12"/>
          <p:cNvSpPr/>
          <p:nvPr/>
        </p:nvSpPr>
        <p:spPr>
          <a:xfrm>
            <a:off x="9255150" y="265833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PMingLiU" panose="02020500000000000000" pitchFamily="18" charset="-120"/>
                <a:cs typeface="+mn-cs"/>
              </a:rPr>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4" name="矩形: 圓角 13"/>
          <p:cNvSpPr/>
          <p:nvPr/>
        </p:nvSpPr>
        <p:spPr>
          <a:xfrm>
            <a:off x="11055150" y="2658332"/>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30" name="文字方塊 29"/>
          <p:cNvSpPr txBox="1"/>
          <p:nvPr/>
        </p:nvSpPr>
        <p:spPr>
          <a:xfrm>
            <a:off x="260850" y="1943677"/>
            <a:ext cx="17913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2400" b="1" i="0" u="sng"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回合制互動</a:t>
            </a:r>
            <a:endParaRPr kumimoji="0" lang="zh-TW" altLang="en-US" sz="2400" b="1" i="0" u="sng"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p:txBody>
      </p:sp>
      <p:sp>
        <p:nvSpPr>
          <p:cNvPr id="31" name="文字方塊 30"/>
          <p:cNvSpPr txBox="1"/>
          <p:nvPr/>
        </p:nvSpPr>
        <p:spPr>
          <a:xfrm>
            <a:off x="260850" y="3478726"/>
            <a:ext cx="17913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2400" b="1" i="0" u="sng"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即時互動</a:t>
            </a:r>
            <a:endParaRPr kumimoji="0" lang="zh-TW" altLang="en-US" sz="2400" b="1" i="0" u="sng"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p:txBody>
      </p:sp>
      <p:sp>
        <p:nvSpPr>
          <p:cNvPr id="32" name="矩形: 圓角 31"/>
          <p:cNvSpPr/>
          <p:nvPr/>
        </p:nvSpPr>
        <p:spPr>
          <a:xfrm>
            <a:off x="260850" y="4668415"/>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goal</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33" name="矩形: 圓角 32"/>
          <p:cNvSpPr/>
          <p:nvPr/>
        </p:nvSpPr>
        <p:spPr>
          <a:xfrm>
            <a:off x="2060849" y="4274295"/>
            <a:ext cx="1277437"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PMingLiU" panose="02020500000000000000" pitchFamily="18" charset="-120"/>
                <a:cs typeface="+mn-cs"/>
              </a:rPr>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34" name="矩形: 圓角 33"/>
          <p:cNvSpPr/>
          <p:nvPr/>
        </p:nvSpPr>
        <p:spPr>
          <a:xfrm>
            <a:off x="3338286" y="5148524"/>
            <a:ext cx="1611085"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35" name="矩形: 圓角 34"/>
          <p:cNvSpPr/>
          <p:nvPr/>
        </p:nvSpPr>
        <p:spPr>
          <a:xfrm>
            <a:off x="4470401" y="4274295"/>
            <a:ext cx="2501897" cy="360000"/>
          </a:xfrm>
          <a:prstGeom prst="roundRect">
            <a:avLst/>
          </a:prstGeom>
          <a:solidFill>
            <a:schemeClr val="accent1">
              <a:lumMod val="40000"/>
              <a:lumOff val="6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PMingLiU" panose="02020500000000000000" pitchFamily="18" charset="-120"/>
                <a:cs typeface="+mn-cs"/>
              </a:rPr>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36" name="矩形: 圓角 35"/>
          <p:cNvSpPr/>
          <p:nvPr/>
        </p:nvSpPr>
        <p:spPr>
          <a:xfrm>
            <a:off x="5243566" y="5148524"/>
            <a:ext cx="1903815" cy="360000"/>
          </a:xfrm>
          <a:prstGeom prst="roundRect">
            <a:avLst/>
          </a:prstGeom>
          <a:solidFill>
            <a:schemeClr val="accent4">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39" name="文字方塊 38"/>
          <p:cNvSpPr txBox="1"/>
          <p:nvPr/>
        </p:nvSpPr>
        <p:spPr>
          <a:xfrm>
            <a:off x="3421680" y="5946310"/>
            <a:ext cx="333375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24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立刻轉換行動</a:t>
            </a:r>
            <a:endParaRPr kumimoji="0" lang="zh-TW" altLang="en-US" sz="24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p:txBody>
      </p:sp>
      <p:cxnSp>
        <p:nvCxnSpPr>
          <p:cNvPr id="41" name="直線單箭頭接點 40"/>
          <p:cNvCxnSpPr/>
          <p:nvPr/>
        </p:nvCxnSpPr>
        <p:spPr>
          <a:xfrm flipV="1">
            <a:off x="5107605" y="5385393"/>
            <a:ext cx="0" cy="56091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8613601" y="4625304"/>
            <a:ext cx="3035100" cy="523220"/>
          </a:xfrm>
          <a:prstGeom prst="rect">
            <a:avLst/>
          </a:prstGeom>
          <a:noFill/>
        </p:spPr>
        <p:txBody>
          <a:bodyPr wrap="square" rtlCol="0">
            <a:spAutoFit/>
          </a:bodyPr>
          <a:lstStyle/>
          <a:p>
            <a:r>
              <a:rPr lang="zh-TW" altLang="en-US" sz="2800" dirty="0">
                <a:latin typeface="Microsoft JhengHei" panose="020B0604030504040204" pitchFamily="34" charset="-120"/>
                <a:ea typeface="Microsoft JhengHei" panose="020B0604030504040204" pitchFamily="34" charset="-120"/>
              </a:rPr>
              <a:t>例如：語音對話</a:t>
            </a:r>
            <a:endParaRPr lang="zh-TW" altLang="en-US" sz="28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animBg="1"/>
      <p:bldP spid="33" grpId="0" animBg="1"/>
      <p:bldP spid="34" grpId="0" animBg="1"/>
      <p:bldP spid="35" grpId="0" animBg="1"/>
      <p:bldP spid="36" grpId="0" animBg="1"/>
      <p:bldP spid="39"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邁向更加真實的互動情境</a:t>
            </a:r>
            <a:endParaRPr lang="zh-TW" altLang="en-US" dirty="0"/>
          </a:p>
        </p:txBody>
      </p:sp>
      <p:cxnSp>
        <p:nvCxnSpPr>
          <p:cNvPr id="4" name="直線接點 3"/>
          <p:cNvCxnSpPr/>
          <p:nvPr/>
        </p:nvCxnSpPr>
        <p:spPr>
          <a:xfrm>
            <a:off x="2053041" y="5051556"/>
            <a:ext cx="959907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直線接點 4"/>
          <p:cNvCxnSpPr/>
          <p:nvPr/>
        </p:nvCxnSpPr>
        <p:spPr>
          <a:xfrm>
            <a:off x="2053041" y="3181807"/>
            <a:ext cx="9648306" cy="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文字方塊 6"/>
          <p:cNvSpPr txBox="1"/>
          <p:nvPr/>
        </p:nvSpPr>
        <p:spPr>
          <a:xfrm>
            <a:off x="913757" y="3712165"/>
            <a:ext cx="773723" cy="4616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User</a:t>
            </a:r>
            <a:endPar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8" name="Google Shape;106;p16"/>
          <p:cNvPicPr preferRelativeResize="0"/>
          <p:nvPr/>
        </p:nvPicPr>
        <p:blipFill>
          <a:blip r:embed="rId1">
            <a:duotone>
              <a:schemeClr val="accent2">
                <a:shade val="45000"/>
                <a:satMod val="135000"/>
              </a:schemeClr>
              <a:prstClr val="white"/>
            </a:duotone>
          </a:blip>
          <a:stretch>
            <a:fillRect/>
          </a:stretch>
        </p:blipFill>
        <p:spPr>
          <a:xfrm flipH="1">
            <a:off x="2303892" y="2865090"/>
            <a:ext cx="2416081" cy="628753"/>
          </a:xfrm>
          <a:prstGeom prst="rect">
            <a:avLst/>
          </a:prstGeom>
          <a:noFill/>
          <a:ln>
            <a:noFill/>
          </a:ln>
        </p:spPr>
      </p:pic>
      <p:sp>
        <p:nvSpPr>
          <p:cNvPr id="9" name="文字方塊 8"/>
          <p:cNvSpPr txBox="1"/>
          <p:nvPr/>
        </p:nvSpPr>
        <p:spPr>
          <a:xfrm>
            <a:off x="2250961" y="2733233"/>
            <a:ext cx="77372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tell</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0" name="文字方塊 9"/>
          <p:cNvSpPr txBox="1"/>
          <p:nvPr/>
        </p:nvSpPr>
        <p:spPr>
          <a:xfrm>
            <a:off x="2759519" y="2733233"/>
            <a:ext cx="77372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me</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1" name="文字方塊 10"/>
          <p:cNvSpPr txBox="1"/>
          <p:nvPr/>
        </p:nvSpPr>
        <p:spPr>
          <a:xfrm>
            <a:off x="3205227" y="2733233"/>
            <a:ext cx="77372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2" name="文字方塊 11"/>
          <p:cNvSpPr txBox="1"/>
          <p:nvPr/>
        </p:nvSpPr>
        <p:spPr>
          <a:xfrm>
            <a:off x="3616103" y="2733233"/>
            <a:ext cx="103185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story</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13" name="Google Shape;106;p16"/>
          <p:cNvPicPr preferRelativeResize="0"/>
          <p:nvPr/>
        </p:nvPicPr>
        <p:blipFill>
          <a:blip r:embed="rId1"/>
          <a:stretch>
            <a:fillRect/>
          </a:stretch>
        </p:blipFill>
        <p:spPr>
          <a:xfrm flipH="1">
            <a:off x="4746762" y="4751759"/>
            <a:ext cx="4400552" cy="628753"/>
          </a:xfrm>
          <a:prstGeom prst="rect">
            <a:avLst/>
          </a:prstGeom>
          <a:noFill/>
          <a:ln>
            <a:noFill/>
          </a:ln>
        </p:spPr>
      </p:pic>
      <p:pic>
        <p:nvPicPr>
          <p:cNvPr id="14" name="Google Shape;106;p16"/>
          <p:cNvPicPr preferRelativeResize="0"/>
          <p:nvPr/>
        </p:nvPicPr>
        <p:blipFill>
          <a:blip r:embed="rId1">
            <a:duotone>
              <a:schemeClr val="accent2">
                <a:shade val="45000"/>
                <a:satMod val="135000"/>
              </a:schemeClr>
              <a:prstClr val="white"/>
            </a:duotone>
          </a:blip>
          <a:stretch>
            <a:fillRect/>
          </a:stretch>
        </p:blipFill>
        <p:spPr>
          <a:xfrm flipH="1">
            <a:off x="6724733" y="2865326"/>
            <a:ext cx="317381" cy="628753"/>
          </a:xfrm>
          <a:prstGeom prst="rect">
            <a:avLst/>
          </a:prstGeom>
          <a:noFill/>
          <a:ln>
            <a:noFill/>
          </a:ln>
        </p:spPr>
      </p:pic>
      <p:sp>
        <p:nvSpPr>
          <p:cNvPr id="16" name="文字方塊 15"/>
          <p:cNvSpPr txBox="1"/>
          <p:nvPr/>
        </p:nvSpPr>
        <p:spPr>
          <a:xfrm>
            <a:off x="6046869" y="2733233"/>
            <a:ext cx="171795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ok</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17" name="Google Shape;106;p16"/>
          <p:cNvPicPr preferRelativeResize="0"/>
          <p:nvPr/>
        </p:nvPicPr>
        <p:blipFill>
          <a:blip r:embed="rId1">
            <a:duotone>
              <a:schemeClr val="accent2">
                <a:shade val="45000"/>
                <a:satMod val="135000"/>
              </a:schemeClr>
              <a:prstClr val="white"/>
            </a:duotone>
          </a:blip>
          <a:stretch>
            <a:fillRect/>
          </a:stretch>
        </p:blipFill>
        <p:spPr>
          <a:xfrm flipH="1">
            <a:off x="8462805" y="2885344"/>
            <a:ext cx="3076854" cy="628753"/>
          </a:xfrm>
          <a:prstGeom prst="rect">
            <a:avLst/>
          </a:prstGeom>
          <a:noFill/>
          <a:ln>
            <a:noFill/>
          </a:ln>
        </p:spPr>
      </p:pic>
      <p:sp>
        <p:nvSpPr>
          <p:cNvPr id="18" name="文字方塊 17"/>
          <p:cNvSpPr txBox="1"/>
          <p:nvPr/>
        </p:nvSpPr>
        <p:spPr>
          <a:xfrm>
            <a:off x="8433832" y="2733233"/>
            <a:ext cx="326751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stop  I   don’t     like   the story</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119" y="4350957"/>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924" y="2492965"/>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21" name="矩形: 圓角 20"/>
          <p:cNvSpPr/>
          <p:nvPr/>
        </p:nvSpPr>
        <p:spPr>
          <a:xfrm>
            <a:off x="2053041" y="2211045"/>
            <a:ext cx="2779714"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PMingLiU" panose="02020500000000000000" pitchFamily="18" charset="-120"/>
                <a:cs typeface="+mn-cs"/>
              </a:rPr>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2" name="矩形: 圓角 21"/>
          <p:cNvSpPr/>
          <p:nvPr/>
        </p:nvSpPr>
        <p:spPr>
          <a:xfrm>
            <a:off x="4832755" y="5477559"/>
            <a:ext cx="4314559"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3" name="矩形: 圓角 22"/>
          <p:cNvSpPr/>
          <p:nvPr/>
        </p:nvSpPr>
        <p:spPr>
          <a:xfrm>
            <a:off x="9811467" y="5472234"/>
            <a:ext cx="2610585" cy="360000"/>
          </a:xfrm>
          <a:prstGeom prst="roundRect">
            <a:avLst/>
          </a:prstGeom>
          <a:solidFill>
            <a:schemeClr val="accent4">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4" name="矩形: 圓角 23"/>
          <p:cNvSpPr/>
          <p:nvPr/>
        </p:nvSpPr>
        <p:spPr>
          <a:xfrm>
            <a:off x="8462805" y="2214816"/>
            <a:ext cx="3783624" cy="360000"/>
          </a:xfrm>
          <a:prstGeom prst="roundRect">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PMingLiU" panose="02020500000000000000" pitchFamily="18" charset="-120"/>
                <a:cs typeface="+mn-cs"/>
              </a:rPr>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a:t>
            </a:r>
            <a:r>
              <a:rPr lang="en-US" altLang="zh-TW" sz="2400" dirty="0">
                <a:solidFill>
                  <a:prstClr val="black"/>
                </a:solidFill>
                <a:latin typeface="Calibri" panose="020F0502020204030204"/>
                <a:ea typeface="PMingLiU" panose="02020500000000000000" pitchFamily="18" charset="-120"/>
              </a:rPr>
              <a:t>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3" name="矩形: 圓角 2"/>
          <p:cNvSpPr/>
          <p:nvPr/>
        </p:nvSpPr>
        <p:spPr>
          <a:xfrm>
            <a:off x="6378630" y="2205955"/>
            <a:ext cx="1222807" cy="360000"/>
          </a:xfrm>
          <a:prstGeom prst="roundRect">
            <a:avLst/>
          </a:prstGeom>
          <a:solidFill>
            <a:schemeClr val="accent1">
              <a:lumMod val="40000"/>
              <a:lumOff val="6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err="1">
                <a:ln>
                  <a:noFill/>
                </a:ln>
                <a:solidFill>
                  <a:prstClr val="black"/>
                </a:solidFill>
                <a:effectLst/>
                <a:uLnTx/>
                <a:uFillTx/>
                <a:latin typeface="Calibri" panose="020F0502020204030204"/>
                <a:ea typeface="PMingLiU" panose="02020500000000000000" pitchFamily="18" charset="-120"/>
                <a:cs typeface="+mn-cs"/>
              </a:rPr>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2</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6" name="Google Shape;106;p16"/>
          <p:cNvPicPr preferRelativeResize="0"/>
          <p:nvPr/>
        </p:nvPicPr>
        <p:blipFill>
          <a:blip r:embed="rId1"/>
          <a:stretch>
            <a:fillRect/>
          </a:stretch>
        </p:blipFill>
        <p:spPr>
          <a:xfrm flipH="1">
            <a:off x="9831474" y="4764061"/>
            <a:ext cx="4400552" cy="628753"/>
          </a:xfrm>
          <a:prstGeom prst="rect">
            <a:avLst/>
          </a:prstGeom>
          <a:noFill/>
          <a:ln>
            <a:noFill/>
          </a:ln>
        </p:spPr>
      </p:pic>
      <p:sp>
        <p:nvSpPr>
          <p:cNvPr id="15" name="文字方塊 14"/>
          <p:cNvSpPr txBox="1"/>
          <p:nvPr/>
        </p:nvSpPr>
        <p:spPr>
          <a:xfrm>
            <a:off x="4832755" y="447284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Once upon a time       in  a    small    village </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6" name="文字方塊 25"/>
          <p:cNvSpPr txBox="1"/>
          <p:nvPr/>
        </p:nvSpPr>
        <p:spPr>
          <a:xfrm>
            <a:off x="9963620" y="4431772"/>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dirty="0">
                <a:solidFill>
                  <a:prstClr val="black"/>
                </a:solidFill>
                <a:latin typeface="Calibri" panose="020F0502020204030204"/>
                <a:ea typeface="PMingLiU" panose="02020500000000000000" pitchFamily="18" charset="-120"/>
              </a:rPr>
              <a:t>Sorry</a:t>
            </a:r>
            <a:r>
              <a:rPr lang="zh-TW" altLang="en-US" dirty="0">
                <a:solidFill>
                  <a:prstClr val="black"/>
                </a:solidFill>
                <a:latin typeface="Calibri" panose="020F0502020204030204"/>
                <a:ea typeface="PMingLiU" panose="02020500000000000000" pitchFamily="18" charset="-120"/>
              </a:rPr>
              <a:t> </a:t>
            </a:r>
            <a:r>
              <a:rPr lang="en-US" altLang="zh-TW" dirty="0">
                <a:solidFill>
                  <a:prstClr val="black"/>
                </a:solidFill>
                <a:latin typeface="Calibri" panose="020F0502020204030204"/>
                <a:ea typeface="PMingLiU" panose="02020500000000000000" pitchFamily="18" charset="-120"/>
              </a:rPr>
              <a:t>……</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邁向更加真實的互動情境</a:t>
            </a:r>
            <a:endParaRPr lang="zh-TW" altLang="en-US" dirty="0"/>
          </a:p>
        </p:txBody>
      </p:sp>
      <p:pic>
        <p:nvPicPr>
          <p:cNvPr id="5" name="圖片 4"/>
          <p:cNvPicPr>
            <a:picLocks noChangeAspect="1"/>
          </p:cNvPicPr>
          <p:nvPr/>
        </p:nvPicPr>
        <p:blipFill>
          <a:blip r:embed="rId1"/>
          <a:stretch>
            <a:fillRect/>
          </a:stretch>
        </p:blipFill>
        <p:spPr>
          <a:xfrm>
            <a:off x="1123412" y="1911238"/>
            <a:ext cx="9945176" cy="4393258"/>
          </a:xfrm>
          <a:prstGeom prst="rect">
            <a:avLst/>
          </a:prstGeom>
        </p:spPr>
      </p:pic>
      <p:sp>
        <p:nvSpPr>
          <p:cNvPr id="7" name="文字方塊 6"/>
          <p:cNvSpPr txBox="1"/>
          <p:nvPr/>
        </p:nvSpPr>
        <p:spPr>
          <a:xfrm>
            <a:off x="8305800" y="176768"/>
            <a:ext cx="3600450" cy="369332"/>
          </a:xfrm>
          <a:prstGeom prst="rect">
            <a:avLst/>
          </a:prstGeom>
          <a:noFill/>
        </p:spPr>
        <p:txBody>
          <a:bodyPr wrap="square">
            <a:spAutoFit/>
          </a:bodyPr>
          <a:lstStyle/>
          <a:p>
            <a:r>
              <a:rPr lang="zh-TW" altLang="en-US" dirty="0"/>
              <a:t>https://arxiv.org/abs/2503.04721v1</a:t>
            </a:r>
            <a:endParaRPr lang="zh-TW" altLang="en-US" dirty="0"/>
          </a:p>
        </p:txBody>
      </p:sp>
      <p:pic>
        <p:nvPicPr>
          <p:cNvPr id="8" name="圖片 7" descr="一張含有 人員, 天空, 戶外, 服裝 的圖片&#10;&#10;自動產生的描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5353" y="565658"/>
            <a:ext cx="1170897" cy="1176781"/>
          </a:xfrm>
          <a:prstGeom prst="rect">
            <a:avLst/>
          </a:prstGeom>
        </p:spPr>
      </p:pic>
      <p:sp>
        <p:nvSpPr>
          <p:cNvPr id="9" name="文字方塊 8"/>
          <p:cNvSpPr txBox="1"/>
          <p:nvPr/>
        </p:nvSpPr>
        <p:spPr>
          <a:xfrm>
            <a:off x="8317151" y="742949"/>
            <a:ext cx="1865752" cy="369332"/>
          </a:xfrm>
          <a:prstGeom prst="rect">
            <a:avLst/>
          </a:prstGeom>
          <a:noFill/>
        </p:spPr>
        <p:txBody>
          <a:bodyPr wrap="square">
            <a:spAutoFit/>
          </a:bodyPr>
          <a:lstStyle/>
          <a:p>
            <a:r>
              <a:rPr lang="en-US" altLang="zh-TW" dirty="0"/>
              <a:t>Guan-Ting Lin </a:t>
            </a:r>
            <a:endParaRPr lang="en-US" altLang="zh-TW" dirty="0"/>
          </a:p>
        </p:txBody>
      </p:sp>
      <p:sp>
        <p:nvSpPr>
          <p:cNvPr id="11" name="文字方塊 10"/>
          <p:cNvSpPr txBox="1"/>
          <p:nvPr/>
        </p:nvSpPr>
        <p:spPr>
          <a:xfrm>
            <a:off x="8305529" y="1112281"/>
            <a:ext cx="2458201" cy="646331"/>
          </a:xfrm>
          <a:prstGeom prst="rect">
            <a:avLst/>
          </a:prstGeom>
          <a:noFill/>
        </p:spPr>
        <p:txBody>
          <a:bodyPr wrap="square">
            <a:spAutoFit/>
          </a:bodyPr>
          <a:lstStyle/>
          <a:p>
            <a:r>
              <a:rPr lang="en-US" altLang="zh-TW" dirty="0"/>
              <a:t>(with collaborators from Berkeley, UW, and MIT)</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關鍵能力剖析</a:t>
            </a:r>
            <a:endParaRPr lang="zh-TW" altLang="en-US" dirty="0">
              <a:latin typeface="Microsoft JhengHei" panose="020B0604030504040204" pitchFamily="34" charset="-120"/>
              <a:ea typeface="Microsoft JhengHei" panose="020B0604030504040204" pitchFamily="34" charset="-120"/>
            </a:endParaRPr>
          </a:p>
        </p:txBody>
      </p:sp>
      <p:graphicFrame>
        <p:nvGraphicFramePr>
          <p:cNvPr id="4" name="內容版面配置區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a:grpSpLocks noGrp="1" noRot="1" noChangeAspect="1" noMove="1" noResize="1" noUngrp="1"/>
          </p:cNvGrpSpPr>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1" name="Group 10"/>
            <p:cNvGrpSpPr/>
            <p:nvPr/>
          </p:nvGrpSpPr>
          <p:grpSpPr>
            <a:xfrm>
              <a:off x="0" y="3681702"/>
              <a:ext cx="12192000" cy="3176298"/>
              <a:chOff x="0" y="3681702"/>
              <a:chExt cx="12192000" cy="3176298"/>
            </a:xfrm>
          </p:grpSpPr>
          <p:sp>
            <p:nvSpPr>
              <p:cNvPr id="15" name="Freeform: Shape 14"/>
              <p:cNvSpPr/>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p:cNvSpPr/>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p:cNvGrpSpPr/>
            <p:nvPr/>
          </p:nvGrpSpPr>
          <p:grpSpPr>
            <a:xfrm>
              <a:off x="544" y="3296011"/>
              <a:ext cx="12191456" cy="2849975"/>
              <a:chOff x="544" y="3296011"/>
              <a:chExt cx="12191456" cy="2849975"/>
            </a:xfrm>
          </p:grpSpPr>
          <p:sp>
            <p:nvSpPr>
              <p:cNvPr id="13" name="Freeform: Shape 12"/>
              <p:cNvSpPr/>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p:cNvSpPr/>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1">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標題 1"/>
          <p:cNvSpPr>
            <a:spLocks noGrp="1"/>
          </p:cNvSpPr>
          <p:nvPr>
            <p:ph type="ctrTitle"/>
          </p:nvPr>
        </p:nvSpPr>
        <p:spPr>
          <a:xfrm>
            <a:off x="838199" y="1120676"/>
            <a:ext cx="9124951" cy="2308324"/>
          </a:xfrm>
        </p:spPr>
        <p:txBody>
          <a:bodyPr>
            <a:normAutofit/>
          </a:bodyPr>
          <a:lstStyle/>
          <a:p>
            <a:pPr algn="l"/>
            <a:r>
              <a:rPr lang="zh-TW" altLang="en-US" sz="7200" dirty="0">
                <a:solidFill>
                  <a:schemeClr val="bg1"/>
                </a:solidFill>
                <a:latin typeface="Microsoft JhengHei" panose="020B0604030504040204" pitchFamily="34" charset="-120"/>
                <a:ea typeface="Microsoft JhengHei" panose="020B0604030504040204" pitchFamily="34" charset="-120"/>
              </a:rPr>
              <a:t>根據經驗調整行為</a:t>
            </a:r>
            <a:endParaRPr lang="zh-TW" altLang="en-US" sz="7200" dirty="0">
              <a:solidFill>
                <a:schemeClr val="bg1"/>
              </a:solidFill>
              <a:latin typeface="Microsoft JhengHei" panose="020B0604030504040204" pitchFamily="34" charset="-120"/>
              <a:ea typeface="Microsoft JhengHei" panose="020B0604030504040204" pitchFamily="34" charset="-120"/>
            </a:endParaRPr>
          </a:p>
        </p:txBody>
      </p:sp>
      <p:sp>
        <p:nvSpPr>
          <p:cNvPr id="3" name="副標題 2"/>
          <p:cNvSpPr>
            <a:spLocks noGrp="1"/>
          </p:cNvSpPr>
          <p:nvPr>
            <p:ph type="subTitle" idx="1"/>
          </p:nvPr>
        </p:nvSpPr>
        <p:spPr>
          <a:xfrm>
            <a:off x="835024" y="3809999"/>
            <a:ext cx="7025753" cy="1012778"/>
          </a:xfrm>
        </p:spPr>
        <p:txBody>
          <a:bodyPr>
            <a:normAutofit/>
          </a:bodyPr>
          <a:lstStyle/>
          <a:p>
            <a:pPr algn="l"/>
            <a:endParaRPr lang="zh-TW" altLang="en-US">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cs typeface="Gisha" panose="020F0502020204030204" pitchFamily="34" charset="-79"/>
              </a:rPr>
              <a:t>根據經驗調整行為</a:t>
            </a:r>
            <a:endParaRPr lang="zh-TW" altLang="en-US" dirty="0">
              <a:latin typeface="Microsoft JhengHei" panose="020B0604030504040204" pitchFamily="34" charset="-120"/>
              <a:ea typeface="Microsoft JhengHei" panose="020B0604030504040204" pitchFamily="34" charset="-120"/>
              <a:cs typeface="Gisha" panose="020F0502020204030204" pitchFamily="34" charset="-79"/>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85240" y="4469136"/>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60040" y="4469136"/>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圓角 9"/>
          <p:cNvSpPr/>
          <p:nvPr/>
        </p:nvSpPr>
        <p:spPr>
          <a:xfrm>
            <a:off x="980440" y="3567823"/>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goal</a:t>
            </a:r>
            <a:endParaRPr lang="zh-TW" altLang="en-US" sz="2400" dirty="0"/>
          </a:p>
        </p:txBody>
      </p:sp>
      <p:sp>
        <p:nvSpPr>
          <p:cNvPr id="11" name="矩形: 圓角 10"/>
          <p:cNvSpPr/>
          <p:nvPr/>
        </p:nvSpPr>
        <p:spPr>
          <a:xfrm>
            <a:off x="2780440" y="3553538"/>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12" name="矩形: 圓角 11"/>
          <p:cNvSpPr/>
          <p:nvPr/>
        </p:nvSpPr>
        <p:spPr>
          <a:xfrm>
            <a:off x="6371740" y="3566726"/>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a:t>
            </a:r>
            <a:endParaRPr lang="zh-TW" altLang="en-US" sz="2400" dirty="0"/>
          </a:p>
        </p:txBody>
      </p:sp>
      <p:sp>
        <p:nvSpPr>
          <p:cNvPr id="13" name="矩形: 圓角 12"/>
          <p:cNvSpPr/>
          <p:nvPr/>
        </p:nvSpPr>
        <p:spPr>
          <a:xfrm>
            <a:off x="4585615" y="3569657"/>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14" name="矩形: 圓角 13"/>
          <p:cNvSpPr/>
          <p:nvPr/>
        </p:nvSpPr>
        <p:spPr>
          <a:xfrm>
            <a:off x="8174740" y="3566726"/>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a:t>
            </a:r>
            <a:endParaRPr lang="zh-TW" altLang="en-US" sz="2400" dirty="0"/>
          </a:p>
        </p:txBody>
      </p:sp>
      <p:cxnSp>
        <p:nvCxnSpPr>
          <p:cNvPr id="23" name="直線單箭頭接點 22"/>
          <p:cNvCxnSpPr/>
          <p:nvPr/>
        </p:nvCxnSpPr>
        <p:spPr>
          <a:xfrm>
            <a:off x="3680440" y="406353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V="1">
            <a:off x="4965490" y="404729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a:off x="7301140" y="402409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flipV="1">
            <a:off x="8586190" y="400785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p:cNvSpPr txBox="1"/>
          <p:nvPr/>
        </p:nvSpPr>
        <p:spPr>
          <a:xfrm>
            <a:off x="2039453" y="5266470"/>
            <a:ext cx="2021837" cy="523220"/>
          </a:xfrm>
          <a:prstGeom prst="rect">
            <a:avLst/>
          </a:prstGeom>
          <a:noFill/>
        </p:spPr>
        <p:txBody>
          <a:bodyPr wrap="square" rtlCol="0">
            <a:spAutoFit/>
          </a:bodyPr>
          <a:lstStyle/>
          <a:p>
            <a:pPr algn="r"/>
            <a:r>
              <a:rPr lang="en-US" altLang="zh-TW" sz="2800" b="1" dirty="0"/>
              <a:t>LLM</a:t>
            </a:r>
            <a:endParaRPr lang="zh-TW" altLang="en-US" sz="2800" b="1" dirty="0"/>
          </a:p>
        </p:txBody>
      </p:sp>
      <p:sp>
        <p:nvSpPr>
          <p:cNvPr id="33" name="文字方塊 32"/>
          <p:cNvSpPr txBox="1"/>
          <p:nvPr/>
        </p:nvSpPr>
        <p:spPr>
          <a:xfrm>
            <a:off x="2928670" y="3057514"/>
            <a:ext cx="1550170"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寫一個 </a:t>
            </a:r>
            <a:r>
              <a:rPr lang="en-US" altLang="zh-TW" sz="2400" dirty="0">
                <a:latin typeface="Microsoft JhengHei" panose="020B0604030504040204" pitchFamily="34" charset="-120"/>
                <a:ea typeface="Microsoft JhengHei" panose="020B0604030504040204" pitchFamily="34" charset="-120"/>
              </a:rPr>
              <a:t>…</a:t>
            </a:r>
            <a:endParaRPr lang="zh-TW" altLang="en-US" sz="2400" dirty="0">
              <a:latin typeface="Microsoft JhengHei" panose="020B0604030504040204" pitchFamily="34" charset="-120"/>
              <a:ea typeface="Microsoft JhengHei" panose="020B0604030504040204" pitchFamily="34" charset="-120"/>
            </a:endParaRPr>
          </a:p>
        </p:txBody>
      </p:sp>
      <p:sp>
        <p:nvSpPr>
          <p:cNvPr id="34" name="文字方塊 33"/>
          <p:cNvSpPr txBox="1"/>
          <p:nvPr/>
        </p:nvSpPr>
        <p:spPr>
          <a:xfrm>
            <a:off x="1160685" y="2597256"/>
            <a:ext cx="1550170" cy="830997"/>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你是軟體工程師 </a:t>
            </a:r>
            <a:r>
              <a:rPr lang="en-US" altLang="zh-TW" sz="2400" dirty="0">
                <a:latin typeface="Microsoft JhengHei" panose="020B0604030504040204" pitchFamily="34" charset="-120"/>
                <a:ea typeface="Microsoft JhengHei" panose="020B0604030504040204" pitchFamily="34" charset="-120"/>
              </a:rPr>
              <a:t>…</a:t>
            </a:r>
            <a:endParaRPr lang="zh-TW" altLang="en-US" sz="2400" dirty="0">
              <a:latin typeface="Microsoft JhengHei" panose="020B0604030504040204" pitchFamily="34" charset="-120"/>
              <a:ea typeface="Microsoft JhengHei" panose="020B0604030504040204" pitchFamily="34" charset="-12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1371" y="2192543"/>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1540" y="2178184"/>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3702" y="2233535"/>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36" name="文字方塊 35"/>
          <p:cNvSpPr txBox="1"/>
          <p:nvPr/>
        </p:nvSpPr>
        <p:spPr>
          <a:xfrm>
            <a:off x="8276795" y="1690688"/>
            <a:ext cx="1516990" cy="523220"/>
          </a:xfrm>
          <a:prstGeom prst="rect">
            <a:avLst/>
          </a:prstGeom>
          <a:noFill/>
        </p:spPr>
        <p:txBody>
          <a:bodyPr wrap="square" rtlCol="0">
            <a:spAutoFit/>
          </a:bodyPr>
          <a:lstStyle/>
          <a:p>
            <a:pPr algn="ctr"/>
            <a:r>
              <a:rPr lang="en-US" altLang="zh-TW" sz="2800" dirty="0"/>
              <a:t>Update </a:t>
            </a:r>
            <a:endParaRPr lang="zh-TW" altLang="en-US" sz="2800" dirty="0"/>
          </a:p>
        </p:txBody>
      </p:sp>
      <p:sp>
        <p:nvSpPr>
          <p:cNvPr id="40" name="文字方塊 39"/>
          <p:cNvSpPr txBox="1"/>
          <p:nvPr/>
        </p:nvSpPr>
        <p:spPr>
          <a:xfrm>
            <a:off x="10233871" y="3390318"/>
            <a:ext cx="1503680" cy="523220"/>
          </a:xfrm>
          <a:prstGeom prst="rect">
            <a:avLst/>
          </a:prstGeom>
          <a:noFill/>
        </p:spPr>
        <p:txBody>
          <a:bodyPr wrap="square" rtlCol="0">
            <a:spAutoFit/>
          </a:bodyPr>
          <a:lstStyle/>
          <a:p>
            <a:r>
              <a:rPr lang="en-US" altLang="zh-TW" sz="2800" b="1" dirty="0"/>
              <a:t>……</a:t>
            </a:r>
            <a:endParaRPr lang="zh-TW" altLang="en-US" sz="2800" b="1" dirty="0"/>
          </a:p>
        </p:txBody>
      </p:sp>
      <p:cxnSp>
        <p:nvCxnSpPr>
          <p:cNvPr id="42" name="直線單箭頭接點 41"/>
          <p:cNvCxnSpPr/>
          <p:nvPr/>
        </p:nvCxnSpPr>
        <p:spPr>
          <a:xfrm>
            <a:off x="5403058" y="5122966"/>
            <a:ext cx="1959042" cy="0"/>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3" name="文字方塊 42"/>
          <p:cNvSpPr txBox="1"/>
          <p:nvPr/>
        </p:nvSpPr>
        <p:spPr>
          <a:xfrm>
            <a:off x="5402380" y="5266470"/>
            <a:ext cx="1911080" cy="830997"/>
          </a:xfrm>
          <a:prstGeom prst="rect">
            <a:avLst/>
          </a:prstGeom>
          <a:noFill/>
        </p:spPr>
        <p:txBody>
          <a:bodyPr wrap="square" rtlCol="0">
            <a:spAutoFit/>
          </a:bodyPr>
          <a:lstStyle/>
          <a:p>
            <a:pPr algn="ctr"/>
            <a:r>
              <a:rPr lang="en-US" altLang="zh-TW" sz="2400" dirty="0"/>
              <a:t>Update Parameters</a:t>
            </a:r>
            <a:endParaRPr lang="zh-TW" altLang="en-US" sz="2400" dirty="0"/>
          </a:p>
        </p:txBody>
      </p:sp>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4012" y="4654399"/>
            <a:ext cx="937133" cy="937133"/>
          </a:xfrm>
          <a:prstGeom prst="rect">
            <a:avLst/>
          </a:prstGeom>
          <a:noFill/>
          <a:extLst>
            <a:ext uri="{909E8E84-426E-40DD-AFC4-6F175D3DCCD1}">
              <a14:hiddenFill xmlns:a14="http://schemas.microsoft.com/office/drawing/2010/main">
                <a:solidFill>
                  <a:srgbClr val="FFFFFF"/>
                </a:solidFill>
              </a14:hiddenFill>
            </a:ext>
          </a:extLst>
        </p:spPr>
      </p:pic>
      <p:sp>
        <p:nvSpPr>
          <p:cNvPr id="44" name="文字方塊 43"/>
          <p:cNvSpPr txBox="1"/>
          <p:nvPr/>
        </p:nvSpPr>
        <p:spPr>
          <a:xfrm>
            <a:off x="6258646" y="1653499"/>
            <a:ext cx="2026188" cy="523220"/>
          </a:xfrm>
          <a:prstGeom prst="rect">
            <a:avLst/>
          </a:prstGeom>
          <a:noFill/>
        </p:spPr>
        <p:txBody>
          <a:bodyPr wrap="square" rtlCol="0">
            <a:spAutoFit/>
          </a:bodyPr>
          <a:lstStyle/>
          <a:p>
            <a:pPr algn="ctr"/>
            <a:r>
              <a:rPr lang="en-US" altLang="zh-TW" sz="2800" dirty="0"/>
              <a:t>Feedback</a:t>
            </a:r>
            <a:endParaRPr lang="zh-TW" altLang="en-US" sz="2800" dirty="0"/>
          </a:p>
        </p:txBody>
      </p:sp>
      <p:sp>
        <p:nvSpPr>
          <p:cNvPr id="45" name="矩形: 圓角 44"/>
          <p:cNvSpPr/>
          <p:nvPr/>
        </p:nvSpPr>
        <p:spPr>
          <a:xfrm>
            <a:off x="980440" y="3527541"/>
            <a:ext cx="3600000" cy="397239"/>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圓角 45"/>
          <p:cNvSpPr/>
          <p:nvPr/>
        </p:nvSpPr>
        <p:spPr>
          <a:xfrm>
            <a:off x="4593486" y="3529481"/>
            <a:ext cx="1820529" cy="397239"/>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文字方塊 46"/>
          <p:cNvSpPr txBox="1"/>
          <p:nvPr/>
        </p:nvSpPr>
        <p:spPr>
          <a:xfrm>
            <a:off x="5134803" y="6060099"/>
            <a:ext cx="2495550" cy="523220"/>
          </a:xfrm>
          <a:prstGeom prst="rect">
            <a:avLst/>
          </a:prstGeom>
          <a:noFill/>
        </p:spPr>
        <p:txBody>
          <a:bodyPr wrap="square" rtlCol="0">
            <a:spAutoFit/>
          </a:bodyPr>
          <a:lstStyle/>
          <a:p>
            <a:pPr algn="ctr"/>
            <a:r>
              <a:rPr lang="en-US" altLang="zh-TW" sz="2800" dirty="0">
                <a:solidFill>
                  <a:srgbClr val="FF0000"/>
                </a:solidFill>
              </a:rPr>
              <a:t>(Not Today) </a:t>
            </a:r>
            <a:endParaRPr lang="zh-TW" altLang="en-US" sz="28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42"/>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43"/>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030"/>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4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29" grpId="0"/>
      <p:bldP spid="36" grpId="0"/>
      <p:bldP spid="40" grpId="0"/>
      <p:bldP spid="43" grpId="0"/>
      <p:bldP spid="43" grpId="1"/>
      <p:bldP spid="44" grpId="0"/>
      <p:bldP spid="45" grpId="0" animBg="1"/>
      <p:bldP spid="46" grpId="0" animBg="1"/>
      <p:bldP spid="47" grpId="0"/>
      <p:bldP spid="47"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cs typeface="Gisha" panose="020F0502020204030204" pitchFamily="34" charset="-79"/>
              </a:rPr>
              <a:t>根據經驗調整行為</a:t>
            </a:r>
            <a:endParaRPr lang="zh-TW" altLang="en-US" dirty="0">
              <a:latin typeface="Microsoft JhengHei" panose="020B0604030504040204" pitchFamily="34" charset="-120"/>
              <a:ea typeface="Microsoft JhengHei" panose="020B0604030504040204" pitchFamily="34" charset="-120"/>
              <a:cs typeface="Gisha" panose="020F0502020204030204" pitchFamily="34" charset="-79"/>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85240" y="4469136"/>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60040" y="4469136"/>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圓角 9"/>
          <p:cNvSpPr/>
          <p:nvPr/>
        </p:nvSpPr>
        <p:spPr>
          <a:xfrm>
            <a:off x="980440" y="3567823"/>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goal</a:t>
            </a:r>
            <a:endParaRPr lang="zh-TW" altLang="en-US" sz="2400" dirty="0"/>
          </a:p>
        </p:txBody>
      </p:sp>
      <p:sp>
        <p:nvSpPr>
          <p:cNvPr id="11" name="矩形: 圓角 10"/>
          <p:cNvSpPr/>
          <p:nvPr/>
        </p:nvSpPr>
        <p:spPr>
          <a:xfrm>
            <a:off x="2780440" y="3553538"/>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12" name="矩形: 圓角 11"/>
          <p:cNvSpPr/>
          <p:nvPr/>
        </p:nvSpPr>
        <p:spPr>
          <a:xfrm>
            <a:off x="6371740" y="3566726"/>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a:t>
            </a:r>
            <a:endParaRPr lang="zh-TW" altLang="en-US" sz="2400" dirty="0"/>
          </a:p>
        </p:txBody>
      </p:sp>
      <p:sp>
        <p:nvSpPr>
          <p:cNvPr id="13" name="矩形: 圓角 12"/>
          <p:cNvSpPr/>
          <p:nvPr/>
        </p:nvSpPr>
        <p:spPr>
          <a:xfrm>
            <a:off x="4585615" y="3569657"/>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14" name="矩形: 圓角 13"/>
          <p:cNvSpPr/>
          <p:nvPr/>
        </p:nvSpPr>
        <p:spPr>
          <a:xfrm>
            <a:off x="8174740" y="3566726"/>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a:t>
            </a:r>
            <a:endParaRPr lang="zh-TW" altLang="en-US" sz="2400" dirty="0"/>
          </a:p>
        </p:txBody>
      </p:sp>
      <p:cxnSp>
        <p:nvCxnSpPr>
          <p:cNvPr id="23" name="直線單箭頭接點 22"/>
          <p:cNvCxnSpPr/>
          <p:nvPr/>
        </p:nvCxnSpPr>
        <p:spPr>
          <a:xfrm>
            <a:off x="3680440" y="406353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flipV="1">
            <a:off x="4965490" y="404729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a:off x="7301140" y="402409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flipV="1">
            <a:off x="8586190" y="400785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p:cNvSpPr txBox="1"/>
          <p:nvPr/>
        </p:nvSpPr>
        <p:spPr>
          <a:xfrm>
            <a:off x="2039453" y="5266470"/>
            <a:ext cx="2021837" cy="523220"/>
          </a:xfrm>
          <a:prstGeom prst="rect">
            <a:avLst/>
          </a:prstGeom>
          <a:noFill/>
        </p:spPr>
        <p:txBody>
          <a:bodyPr wrap="square" rtlCol="0">
            <a:spAutoFit/>
          </a:bodyPr>
          <a:lstStyle/>
          <a:p>
            <a:pPr algn="r"/>
            <a:r>
              <a:rPr lang="en-US" altLang="zh-TW" sz="2800" b="1" dirty="0"/>
              <a:t>LLM</a:t>
            </a:r>
            <a:endParaRPr lang="zh-TW" altLang="en-US" sz="2800" b="1" dirty="0"/>
          </a:p>
        </p:txBody>
      </p:sp>
      <p:sp>
        <p:nvSpPr>
          <p:cNvPr id="33" name="文字方塊 32"/>
          <p:cNvSpPr txBox="1"/>
          <p:nvPr/>
        </p:nvSpPr>
        <p:spPr>
          <a:xfrm>
            <a:off x="2928670" y="3057514"/>
            <a:ext cx="1550170"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寫一個 </a:t>
            </a:r>
            <a:r>
              <a:rPr lang="en-US" altLang="zh-TW" sz="2400" dirty="0">
                <a:latin typeface="Microsoft JhengHei" panose="020B0604030504040204" pitchFamily="34" charset="-120"/>
                <a:ea typeface="Microsoft JhengHei" panose="020B0604030504040204" pitchFamily="34" charset="-120"/>
              </a:rPr>
              <a:t>…</a:t>
            </a:r>
            <a:endParaRPr lang="zh-TW" altLang="en-US" sz="2400" dirty="0">
              <a:latin typeface="Microsoft JhengHei" panose="020B0604030504040204" pitchFamily="34" charset="-120"/>
              <a:ea typeface="Microsoft JhengHei" panose="020B0604030504040204" pitchFamily="34" charset="-120"/>
            </a:endParaRPr>
          </a:p>
        </p:txBody>
      </p:sp>
      <p:sp>
        <p:nvSpPr>
          <p:cNvPr id="34" name="文字方塊 33"/>
          <p:cNvSpPr txBox="1"/>
          <p:nvPr/>
        </p:nvSpPr>
        <p:spPr>
          <a:xfrm>
            <a:off x="1160685" y="2597256"/>
            <a:ext cx="1550170" cy="830997"/>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你是軟體工程師 </a:t>
            </a:r>
            <a:r>
              <a:rPr lang="en-US" altLang="zh-TW" sz="2400" dirty="0">
                <a:latin typeface="Microsoft JhengHei" panose="020B0604030504040204" pitchFamily="34" charset="-120"/>
                <a:ea typeface="Microsoft JhengHei" panose="020B0604030504040204" pitchFamily="34" charset="-120"/>
              </a:rPr>
              <a:t>…</a:t>
            </a:r>
            <a:endParaRPr lang="zh-TW" altLang="en-US" sz="2400" dirty="0">
              <a:latin typeface="Microsoft JhengHei" panose="020B0604030504040204" pitchFamily="34" charset="-120"/>
              <a:ea typeface="Microsoft JhengHei" panose="020B0604030504040204" pitchFamily="34" charset="-12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1371" y="2192543"/>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1540" y="2178184"/>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3702" y="2233535"/>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36" name="文字方塊 35"/>
          <p:cNvSpPr txBox="1"/>
          <p:nvPr/>
        </p:nvSpPr>
        <p:spPr>
          <a:xfrm>
            <a:off x="8276795" y="1690688"/>
            <a:ext cx="1516990" cy="523220"/>
          </a:xfrm>
          <a:prstGeom prst="rect">
            <a:avLst/>
          </a:prstGeom>
          <a:noFill/>
        </p:spPr>
        <p:txBody>
          <a:bodyPr wrap="square" rtlCol="0">
            <a:spAutoFit/>
          </a:bodyPr>
          <a:lstStyle/>
          <a:p>
            <a:pPr algn="ctr"/>
            <a:r>
              <a:rPr lang="en-US" altLang="zh-TW" sz="2800" dirty="0"/>
              <a:t>Update </a:t>
            </a:r>
            <a:endParaRPr lang="zh-TW" altLang="en-US" sz="2800" dirty="0"/>
          </a:p>
        </p:txBody>
      </p:sp>
      <p:sp>
        <p:nvSpPr>
          <p:cNvPr id="40" name="文字方塊 39"/>
          <p:cNvSpPr txBox="1"/>
          <p:nvPr/>
        </p:nvSpPr>
        <p:spPr>
          <a:xfrm>
            <a:off x="10233871" y="3390318"/>
            <a:ext cx="1503680" cy="523220"/>
          </a:xfrm>
          <a:prstGeom prst="rect">
            <a:avLst/>
          </a:prstGeom>
          <a:noFill/>
        </p:spPr>
        <p:txBody>
          <a:bodyPr wrap="square" rtlCol="0">
            <a:spAutoFit/>
          </a:bodyPr>
          <a:lstStyle/>
          <a:p>
            <a:r>
              <a:rPr lang="en-US" altLang="zh-TW" sz="2800" b="1" dirty="0"/>
              <a:t>……</a:t>
            </a:r>
            <a:endParaRPr lang="zh-TW" altLang="en-US" sz="2800" b="1" dirty="0"/>
          </a:p>
        </p:txBody>
      </p:sp>
      <p:sp>
        <p:nvSpPr>
          <p:cNvPr id="44" name="文字方塊 43"/>
          <p:cNvSpPr txBox="1"/>
          <p:nvPr/>
        </p:nvSpPr>
        <p:spPr>
          <a:xfrm>
            <a:off x="6258646" y="1653499"/>
            <a:ext cx="2026188" cy="523220"/>
          </a:xfrm>
          <a:prstGeom prst="rect">
            <a:avLst/>
          </a:prstGeom>
          <a:noFill/>
        </p:spPr>
        <p:txBody>
          <a:bodyPr wrap="square" rtlCol="0">
            <a:spAutoFit/>
          </a:bodyPr>
          <a:lstStyle/>
          <a:p>
            <a:pPr algn="ctr"/>
            <a:r>
              <a:rPr lang="en-US" altLang="zh-TW" sz="2800" dirty="0"/>
              <a:t>Feedback</a:t>
            </a:r>
            <a:endParaRPr lang="zh-TW" altLang="en-US" sz="2800" dirty="0"/>
          </a:p>
        </p:txBody>
      </p:sp>
      <p:sp>
        <p:nvSpPr>
          <p:cNvPr id="45" name="矩形: 圓角 44"/>
          <p:cNvSpPr/>
          <p:nvPr/>
        </p:nvSpPr>
        <p:spPr>
          <a:xfrm>
            <a:off x="980439" y="3527541"/>
            <a:ext cx="7173771" cy="397239"/>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圓角 45"/>
          <p:cNvSpPr/>
          <p:nvPr/>
        </p:nvSpPr>
        <p:spPr>
          <a:xfrm>
            <a:off x="8162186" y="3529481"/>
            <a:ext cx="1820529" cy="397239"/>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cs typeface="Gisha" panose="020F0502020204030204" pitchFamily="34" charset="-79"/>
              </a:rPr>
              <a:t>根據經驗調整行為</a:t>
            </a:r>
            <a:endParaRPr lang="zh-TW" altLang="en-US" dirty="0"/>
          </a:p>
        </p:txBody>
      </p:sp>
      <p:pic>
        <p:nvPicPr>
          <p:cNvPr id="1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55526" y="2675544"/>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圓角 12"/>
          <p:cNvSpPr/>
          <p:nvPr/>
        </p:nvSpPr>
        <p:spPr>
          <a:xfrm>
            <a:off x="850726" y="1774231"/>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goal</a:t>
            </a:r>
            <a:endParaRPr lang="zh-TW" altLang="en-US" sz="2400" dirty="0"/>
          </a:p>
        </p:txBody>
      </p:sp>
      <p:sp>
        <p:nvSpPr>
          <p:cNvPr id="14" name="矩形: 圓角 13"/>
          <p:cNvSpPr/>
          <p:nvPr/>
        </p:nvSpPr>
        <p:spPr>
          <a:xfrm>
            <a:off x="2650726" y="1759946"/>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16" name="矩形: 圓角 15"/>
          <p:cNvSpPr/>
          <p:nvPr/>
        </p:nvSpPr>
        <p:spPr>
          <a:xfrm>
            <a:off x="4455901" y="1776065"/>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cxnSp>
        <p:nvCxnSpPr>
          <p:cNvPr id="18" name="直線單箭頭接點 17"/>
          <p:cNvCxnSpPr/>
          <p:nvPr/>
        </p:nvCxnSpPr>
        <p:spPr>
          <a:xfrm>
            <a:off x="3550726" y="2269943"/>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flipV="1">
            <a:off x="4835776" y="2253703"/>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字方塊 21"/>
          <p:cNvSpPr txBox="1"/>
          <p:nvPr/>
        </p:nvSpPr>
        <p:spPr>
          <a:xfrm>
            <a:off x="1909739" y="3472878"/>
            <a:ext cx="2021837" cy="523220"/>
          </a:xfrm>
          <a:prstGeom prst="rect">
            <a:avLst/>
          </a:prstGeom>
          <a:noFill/>
        </p:spPr>
        <p:txBody>
          <a:bodyPr wrap="square" rtlCol="0">
            <a:spAutoFit/>
          </a:bodyPr>
          <a:lstStyle/>
          <a:p>
            <a:pPr algn="r"/>
            <a:r>
              <a:rPr lang="en-US" altLang="zh-TW" sz="2800" b="1" dirty="0"/>
              <a:t>LLM</a:t>
            </a:r>
            <a:endParaRPr lang="zh-TW" altLang="en-US" sz="2800" b="1" dirty="0"/>
          </a:p>
        </p:txBody>
      </p:sp>
      <p:sp>
        <p:nvSpPr>
          <p:cNvPr id="28" name="矩形: 圓角 27"/>
          <p:cNvSpPr/>
          <p:nvPr/>
        </p:nvSpPr>
        <p:spPr>
          <a:xfrm>
            <a:off x="7699576" y="1766283"/>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10000</a:t>
            </a:r>
            <a:endParaRPr lang="zh-TW" altLang="en-US" sz="2400" dirty="0"/>
          </a:p>
        </p:txBody>
      </p:sp>
      <p:sp>
        <p:nvSpPr>
          <p:cNvPr id="30" name="文字方塊 29"/>
          <p:cNvSpPr txBox="1"/>
          <p:nvPr/>
        </p:nvSpPr>
        <p:spPr>
          <a:xfrm>
            <a:off x="6268313" y="1613551"/>
            <a:ext cx="1418850" cy="523220"/>
          </a:xfrm>
          <a:prstGeom prst="rect">
            <a:avLst/>
          </a:prstGeom>
          <a:noFill/>
        </p:spPr>
        <p:txBody>
          <a:bodyPr wrap="square" rtlCol="0">
            <a:spAutoFit/>
          </a:bodyPr>
          <a:lstStyle/>
          <a:p>
            <a:pPr algn="ctr"/>
            <a:r>
              <a:rPr lang="en-US" altLang="zh-TW" sz="2800" dirty="0"/>
              <a:t>……</a:t>
            </a:r>
            <a:endParaRPr lang="zh-TW" altLang="en-US" sz="2800" dirty="0"/>
          </a:p>
        </p:txBody>
      </p:sp>
      <p:pic>
        <p:nvPicPr>
          <p:cNvPr id="3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77963" y="2599344"/>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直線單箭頭接點 31"/>
          <p:cNvCxnSpPr/>
          <p:nvPr/>
        </p:nvCxnSpPr>
        <p:spPr>
          <a:xfrm>
            <a:off x="8573163" y="2193743"/>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flipV="1">
            <a:off x="9858213" y="2177503"/>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33"/>
          <p:cNvSpPr txBox="1"/>
          <p:nvPr/>
        </p:nvSpPr>
        <p:spPr>
          <a:xfrm>
            <a:off x="2142202" y="4512772"/>
            <a:ext cx="6042774" cy="523220"/>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不斷回憶整個 </a:t>
            </a:r>
            <a:r>
              <a:rPr lang="en-US" altLang="zh-TW" sz="2800" dirty="0">
                <a:latin typeface="Microsoft JhengHei" panose="020B0604030504040204" pitchFamily="34" charset="-120"/>
                <a:ea typeface="Microsoft JhengHei" panose="020B0604030504040204" pitchFamily="34" charset="-120"/>
              </a:rPr>
              <a:t>Agent </a:t>
            </a:r>
            <a:r>
              <a:rPr lang="zh-TW" altLang="en-US" sz="2800" dirty="0">
                <a:latin typeface="Microsoft JhengHei" panose="020B0604030504040204" pitchFamily="34" charset="-120"/>
                <a:ea typeface="Microsoft JhengHei" panose="020B0604030504040204" pitchFamily="34" charset="-120"/>
              </a:rPr>
              <a:t>一生的經歷 </a:t>
            </a:r>
            <a:r>
              <a:rPr lang="en-US" altLang="zh-TW" sz="2800" dirty="0">
                <a:latin typeface="Microsoft JhengHei" panose="020B0604030504040204" pitchFamily="34" charset="-120"/>
                <a:ea typeface="Microsoft JhengHei" panose="020B0604030504040204" pitchFamily="34" charset="-120"/>
              </a:rPr>
              <a:t>… </a:t>
            </a:r>
            <a:r>
              <a:rPr lang="en-US" altLang="zh-TW" sz="2800" dirty="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800" dirty="0">
              <a:latin typeface="Microsoft JhengHei" panose="020B0604030504040204" pitchFamily="34" charset="-120"/>
              <a:ea typeface="Microsoft JhengHei" panose="020B0604030504040204" pitchFamily="34" charset="-120"/>
            </a:endParaRPr>
          </a:p>
        </p:txBody>
      </p:sp>
      <p:sp>
        <p:nvSpPr>
          <p:cNvPr id="37" name="文字方塊 36"/>
          <p:cNvSpPr txBox="1"/>
          <p:nvPr/>
        </p:nvSpPr>
        <p:spPr>
          <a:xfrm>
            <a:off x="9858213" y="1645070"/>
            <a:ext cx="1414574" cy="507831"/>
          </a:xfrm>
          <a:prstGeom prst="rect">
            <a:avLst/>
          </a:prstGeom>
          <a:noFill/>
        </p:spPr>
        <p:txBody>
          <a:bodyPr wrap="square" rtlCol="0">
            <a:spAutoFit/>
          </a:bodyPr>
          <a:lstStyle/>
          <a:p>
            <a:r>
              <a:rPr lang="en-US" altLang="zh-TW" sz="2700" dirty="0"/>
              <a:t>?????</a:t>
            </a:r>
            <a:endParaRPr lang="zh-TW" altLang="en-US" sz="27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3037" y="2583103"/>
            <a:ext cx="988875" cy="988875"/>
          </a:xfrm>
          <a:prstGeom prst="rect">
            <a:avLst/>
          </a:prstGeom>
          <a:noFill/>
          <a:extLst>
            <a:ext uri="{909E8E84-426E-40DD-AFC4-6F175D3DCCD1}">
              <a14:hiddenFill xmlns:a14="http://schemas.microsoft.com/office/drawing/2010/main">
                <a:solidFill>
                  <a:srgbClr val="FFFFFF"/>
                </a:solidFill>
              </a14:hiddenFill>
            </a:ext>
          </a:extLst>
        </p:spPr>
      </p:pic>
      <p:sp>
        <p:nvSpPr>
          <p:cNvPr id="38" name="右大括弧 37"/>
          <p:cNvSpPr/>
          <p:nvPr/>
        </p:nvSpPr>
        <p:spPr>
          <a:xfrm rot="5400000">
            <a:off x="4661626" y="37819"/>
            <a:ext cx="501360" cy="8141461"/>
          </a:xfrm>
          <a:prstGeom prst="rightBrace">
            <a:avLst>
              <a:gd name="adj1" fmla="val 69128"/>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 name="文字方塊 2"/>
          <p:cNvSpPr txBox="1"/>
          <p:nvPr/>
        </p:nvSpPr>
        <p:spPr>
          <a:xfrm>
            <a:off x="6442930" y="5326905"/>
            <a:ext cx="5158665" cy="830997"/>
          </a:xfrm>
          <a:prstGeom prst="rect">
            <a:avLst/>
          </a:prstGeom>
          <a:noFill/>
        </p:spPr>
        <p:txBody>
          <a:bodyPr wrap="square">
            <a:spAutoFit/>
          </a:bodyPr>
          <a:lstStyle/>
          <a:p>
            <a:r>
              <a:rPr lang="zh-TW" altLang="en-US" sz="2400" b="0" i="0" dirty="0">
                <a:solidFill>
                  <a:srgbClr val="151719"/>
                </a:solidFill>
                <a:effectLst/>
                <a:latin typeface="Microsoft JhengHei" panose="020B0604030504040204" pitchFamily="34" charset="-120"/>
                <a:ea typeface="Microsoft JhengHei" panose="020B0604030504040204" pitchFamily="34" charset="-120"/>
              </a:rPr>
              <a:t>超常自傳式記憶 </a:t>
            </a:r>
            <a:r>
              <a:rPr lang="en-US" altLang="zh-TW" sz="2400" b="0" i="0" dirty="0">
                <a:solidFill>
                  <a:srgbClr val="151719"/>
                </a:solidFill>
                <a:effectLst/>
                <a:latin typeface="Microsoft JhengHei" panose="020B0604030504040204" pitchFamily="34" charset="-120"/>
                <a:ea typeface="Microsoft JhengHei" panose="020B0604030504040204" pitchFamily="34" charset="-120"/>
              </a:rPr>
              <a:t>(Highly Superior Autobiographical Memory, HSAM)</a:t>
            </a:r>
            <a:r>
              <a:rPr lang="zh-TW" altLang="en-US" sz="2400" b="0" i="0" dirty="0">
                <a:solidFill>
                  <a:srgbClr val="151719"/>
                </a:solidFill>
                <a:effectLst/>
                <a:latin typeface="Microsoft JhengHei" panose="020B0604030504040204" pitchFamily="34" charset="-120"/>
                <a:ea typeface="Microsoft JhengHei" panose="020B0604030504040204" pitchFamily="34" charset="-120"/>
              </a:rPr>
              <a:t> </a:t>
            </a:r>
            <a:endParaRPr lang="zh-TW" altLang="en-US" sz="2400" dirty="0">
              <a:latin typeface="Microsoft JhengHei" panose="020B0604030504040204" pitchFamily="34" charset="-120"/>
              <a:ea typeface="Microsoft JhengHei" panose="020B0604030504040204" pitchFamily="34" charset="-120"/>
            </a:endParaRPr>
          </a:p>
        </p:txBody>
      </p:sp>
      <p:sp>
        <p:nvSpPr>
          <p:cNvPr id="4" name="文字方塊 3"/>
          <p:cNvSpPr txBox="1"/>
          <p:nvPr/>
        </p:nvSpPr>
        <p:spPr>
          <a:xfrm>
            <a:off x="6442930" y="6181343"/>
            <a:ext cx="5277100" cy="461665"/>
          </a:xfrm>
          <a:prstGeom prst="rect">
            <a:avLst/>
          </a:prstGeom>
          <a:noFill/>
        </p:spPr>
        <p:txBody>
          <a:bodyPr wrap="square">
            <a:spAutoFit/>
          </a:bodyPr>
          <a:lstStyle/>
          <a:p>
            <a:r>
              <a:rPr lang="zh-TW" altLang="en-US" sz="2400" b="0" i="0" dirty="0">
                <a:solidFill>
                  <a:srgbClr val="151719"/>
                </a:solidFill>
                <a:effectLst/>
                <a:latin typeface="Microsoft JhengHei" panose="020B0604030504040204" pitchFamily="34" charset="-120"/>
                <a:ea typeface="Microsoft JhengHei" panose="020B0604030504040204" pitchFamily="34" charset="-120"/>
              </a:rPr>
              <a:t>超憶症 </a:t>
            </a:r>
            <a:r>
              <a:rPr lang="en-US" altLang="zh-TW" sz="2400" b="0" i="0" dirty="0">
                <a:solidFill>
                  <a:srgbClr val="151719"/>
                </a:solidFill>
                <a:effectLst/>
                <a:latin typeface="Microsoft JhengHei" panose="020B0604030504040204" pitchFamily="34" charset="-120"/>
                <a:ea typeface="Microsoft JhengHei" panose="020B0604030504040204" pitchFamily="34" charset="-120"/>
              </a:rPr>
              <a:t>(</a:t>
            </a:r>
            <a:r>
              <a:rPr lang="en-US" altLang="zh-TW" sz="2400" b="0" i="0" dirty="0" err="1">
                <a:solidFill>
                  <a:srgbClr val="151719"/>
                </a:solidFill>
                <a:effectLst/>
                <a:latin typeface="Microsoft JhengHei" panose="020B0604030504040204" pitchFamily="34" charset="-120"/>
                <a:ea typeface="Microsoft JhengHei" panose="020B0604030504040204" pitchFamily="34" charset="-120"/>
              </a:rPr>
              <a:t>Hyperthymesia</a:t>
            </a:r>
            <a:r>
              <a:rPr lang="en-US" altLang="zh-TW" sz="2400" b="0" i="0" dirty="0">
                <a:solidFill>
                  <a:srgbClr val="151719"/>
                </a:solidFill>
                <a:effectLst/>
                <a:latin typeface="Microsoft JhengHei" panose="020B0604030504040204" pitchFamily="34" charset="-120"/>
                <a:ea typeface="Microsoft JhengHei" panose="020B0604030504040204" pitchFamily="34" charset="-120"/>
              </a:rPr>
              <a:t>)</a:t>
            </a:r>
            <a:endParaRPr lang="zh-TW" altLang="en-US" sz="24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8" grpId="0" animBg="1"/>
      <p:bldP spid="3"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cs typeface="Gisha" panose="020F0502020204030204" pitchFamily="34" charset="-79"/>
              </a:rPr>
              <a:t>根據經驗調整行為</a:t>
            </a:r>
            <a:endParaRPr lang="zh-TW" altLang="en-US" dirty="0"/>
          </a:p>
        </p:txBody>
      </p:sp>
      <p:sp>
        <p:nvSpPr>
          <p:cNvPr id="28" name="矩形: 圓角 27"/>
          <p:cNvSpPr/>
          <p:nvPr/>
        </p:nvSpPr>
        <p:spPr>
          <a:xfrm>
            <a:off x="7725150" y="1830375"/>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10000</a:t>
            </a:r>
            <a:endParaRPr lang="zh-TW" altLang="en-US" sz="2400" dirty="0"/>
          </a:p>
        </p:txBody>
      </p:sp>
      <p:pic>
        <p:nvPicPr>
          <p:cNvPr id="3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03537" y="2663436"/>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直線單箭頭接點 31"/>
          <p:cNvCxnSpPr/>
          <p:nvPr/>
        </p:nvCxnSpPr>
        <p:spPr>
          <a:xfrm>
            <a:off x="8598737" y="225783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flipV="1">
            <a:off x="9883787" y="224159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33"/>
          <p:cNvSpPr txBox="1"/>
          <p:nvPr/>
        </p:nvSpPr>
        <p:spPr>
          <a:xfrm>
            <a:off x="3343289" y="6059815"/>
            <a:ext cx="5560248" cy="523220"/>
          </a:xfrm>
          <a:prstGeom prst="rect">
            <a:avLst/>
          </a:prstGeom>
          <a:noFill/>
        </p:spPr>
        <p:txBody>
          <a:bodyPr wrap="square" rtlCol="0">
            <a:spAutoFit/>
          </a:bodyPr>
          <a:lstStyle/>
          <a:p>
            <a:pPr algn="ctr"/>
            <a:r>
              <a:rPr lang="en-US" altLang="zh-TW" sz="2800" dirty="0">
                <a:ea typeface="Microsoft JhengHei" panose="020B0604030504040204" pitchFamily="34" charset="-120"/>
              </a:rPr>
              <a:t>Agent’s Memory </a:t>
            </a:r>
            <a:endParaRPr lang="zh-TW" altLang="en-US" sz="2800" dirty="0">
              <a:ea typeface="Microsoft JhengHei" panose="020B0604030504040204" pitchFamily="34" charset="-120"/>
            </a:endParaRPr>
          </a:p>
        </p:txBody>
      </p:sp>
      <p:sp>
        <p:nvSpPr>
          <p:cNvPr id="37" name="文字方塊 36"/>
          <p:cNvSpPr txBox="1"/>
          <p:nvPr/>
        </p:nvSpPr>
        <p:spPr>
          <a:xfrm>
            <a:off x="9883787" y="1709162"/>
            <a:ext cx="1414574" cy="507831"/>
          </a:xfrm>
          <a:prstGeom prst="rect">
            <a:avLst/>
          </a:prstGeom>
          <a:noFill/>
        </p:spPr>
        <p:txBody>
          <a:bodyPr wrap="square" rtlCol="0">
            <a:spAutoFit/>
          </a:bodyPr>
          <a:lstStyle/>
          <a:p>
            <a:r>
              <a:rPr lang="en-US" altLang="zh-TW" sz="2700" dirty="0"/>
              <a:t>?????</a:t>
            </a:r>
            <a:endParaRPr lang="zh-TW" altLang="en-US" sz="2700" dirty="0"/>
          </a:p>
        </p:txBody>
      </p:sp>
      <p:sp>
        <p:nvSpPr>
          <p:cNvPr id="3" name="矩形: 圓角 2"/>
          <p:cNvSpPr/>
          <p:nvPr/>
        </p:nvSpPr>
        <p:spPr>
          <a:xfrm>
            <a:off x="966506" y="5422135"/>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goal</a:t>
            </a:r>
            <a:endParaRPr lang="zh-TW" altLang="en-US" sz="2400" dirty="0"/>
          </a:p>
        </p:txBody>
      </p:sp>
      <p:sp>
        <p:nvSpPr>
          <p:cNvPr id="4" name="矩形: 圓角 3"/>
          <p:cNvSpPr/>
          <p:nvPr/>
        </p:nvSpPr>
        <p:spPr>
          <a:xfrm>
            <a:off x="2766506" y="5426900"/>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5" name="矩形: 圓角 4"/>
          <p:cNvSpPr/>
          <p:nvPr/>
        </p:nvSpPr>
        <p:spPr>
          <a:xfrm>
            <a:off x="4571681" y="5423969"/>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8" name="文字方塊 7"/>
          <p:cNvSpPr txBox="1"/>
          <p:nvPr/>
        </p:nvSpPr>
        <p:spPr>
          <a:xfrm>
            <a:off x="6384093" y="5280505"/>
            <a:ext cx="1418850"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2" name="矩形: 圓角 11"/>
          <p:cNvSpPr/>
          <p:nvPr/>
        </p:nvSpPr>
        <p:spPr>
          <a:xfrm>
            <a:off x="7693186" y="544922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9999</a:t>
            </a:r>
            <a:endParaRPr lang="zh-TW" altLang="en-US" sz="2400" dirty="0"/>
          </a:p>
        </p:txBody>
      </p:sp>
      <p:sp>
        <p:nvSpPr>
          <p:cNvPr id="15" name="矩形: 圓角 14"/>
          <p:cNvSpPr/>
          <p:nvPr/>
        </p:nvSpPr>
        <p:spPr>
          <a:xfrm>
            <a:off x="9498361" y="5446291"/>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9999</a:t>
            </a:r>
            <a:endParaRPr lang="zh-TW" altLang="en-US" sz="2400" dirty="0"/>
          </a:p>
        </p:txBody>
      </p:sp>
      <p:sp>
        <p:nvSpPr>
          <p:cNvPr id="17" name="矩形: 圓角 16"/>
          <p:cNvSpPr/>
          <p:nvPr/>
        </p:nvSpPr>
        <p:spPr>
          <a:xfrm>
            <a:off x="4775758" y="3177786"/>
            <a:ext cx="1582346" cy="1028736"/>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Read</a:t>
            </a:r>
            <a:endParaRPr lang="zh-TW" altLang="en-US" sz="2400" dirty="0"/>
          </a:p>
        </p:txBody>
      </p:sp>
      <p:sp>
        <p:nvSpPr>
          <p:cNvPr id="20" name="矩形: 圓角 19"/>
          <p:cNvSpPr/>
          <p:nvPr/>
        </p:nvSpPr>
        <p:spPr>
          <a:xfrm>
            <a:off x="2984500" y="1822923"/>
            <a:ext cx="4708686" cy="360001"/>
          </a:xfrm>
          <a:prstGeom prst="round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rPr>
              <a:t>Relevant</a:t>
            </a:r>
            <a:r>
              <a:rPr lang="zh-TW" altLang="en-US" sz="2400" dirty="0">
                <a:solidFill>
                  <a:schemeClr val="tx1"/>
                </a:solidFill>
              </a:rPr>
              <a:t> </a:t>
            </a:r>
            <a:r>
              <a:rPr lang="en-US" altLang="zh-TW" sz="2400" dirty="0">
                <a:solidFill>
                  <a:schemeClr val="tx1"/>
                </a:solidFill>
              </a:rPr>
              <a:t>Experience </a:t>
            </a:r>
            <a:endParaRPr lang="zh-TW" altLang="en-US" sz="2400" dirty="0">
              <a:solidFill>
                <a:schemeClr val="tx1"/>
              </a:solidFill>
            </a:endParaRPr>
          </a:p>
        </p:txBody>
      </p:sp>
      <p:sp>
        <p:nvSpPr>
          <p:cNvPr id="21" name="文字方塊 20"/>
          <p:cNvSpPr txBox="1"/>
          <p:nvPr/>
        </p:nvSpPr>
        <p:spPr>
          <a:xfrm>
            <a:off x="838200" y="4047483"/>
            <a:ext cx="3474560" cy="461665"/>
          </a:xfrm>
          <a:prstGeom prst="rect">
            <a:avLst/>
          </a:prstGeom>
          <a:noFill/>
        </p:spPr>
        <p:txBody>
          <a:bodyPr wrap="square" rtlCol="0">
            <a:spAutoFit/>
          </a:bodyPr>
          <a:lstStyle/>
          <a:p>
            <a:pPr algn="ctr"/>
            <a:r>
              <a:rPr lang="zh-TW" altLang="en-US" sz="2400" dirty="0">
                <a:latin typeface="Microsoft JhengHei" panose="020B0604030504040204" pitchFamily="34" charset="-120"/>
                <a:ea typeface="Microsoft JhengHei" panose="020B0604030504040204" pitchFamily="34" charset="-120"/>
              </a:rPr>
              <a:t>其實這就是 </a:t>
            </a:r>
            <a:r>
              <a:rPr lang="en-US" altLang="zh-TW" sz="2400" dirty="0">
                <a:latin typeface="Microsoft JhengHei" panose="020B0604030504040204" pitchFamily="34" charset="-120"/>
                <a:ea typeface="Microsoft JhengHei" panose="020B0604030504040204" pitchFamily="34" charset="-120"/>
              </a:rPr>
              <a:t>RAG</a:t>
            </a:r>
            <a:endParaRPr lang="en-US" altLang="zh-TW" sz="2400" dirty="0">
              <a:latin typeface="Microsoft JhengHei" panose="020B0604030504040204" pitchFamily="34" charset="-120"/>
              <a:ea typeface="Microsoft JhengHei" panose="020B0604030504040204" pitchFamily="34" charset="-120"/>
            </a:endParaRPr>
          </a:p>
        </p:txBody>
      </p:sp>
      <p:cxnSp>
        <p:nvCxnSpPr>
          <p:cNvPr id="23" name="直線單箭頭接點 22"/>
          <p:cNvCxnSpPr/>
          <p:nvPr/>
        </p:nvCxnSpPr>
        <p:spPr>
          <a:xfrm flipV="1">
            <a:off x="5588469" y="4282722"/>
            <a:ext cx="0" cy="93667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直線單箭頭接點 23"/>
          <p:cNvCxnSpPr/>
          <p:nvPr/>
        </p:nvCxnSpPr>
        <p:spPr>
          <a:xfrm flipV="1">
            <a:off x="5569419" y="2255093"/>
            <a:ext cx="0" cy="81195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文字方塊 26"/>
          <p:cNvSpPr txBox="1"/>
          <p:nvPr/>
        </p:nvSpPr>
        <p:spPr>
          <a:xfrm>
            <a:off x="2946359" y="3408780"/>
            <a:ext cx="2100993" cy="523220"/>
          </a:xfrm>
          <a:prstGeom prst="rect">
            <a:avLst/>
          </a:prstGeom>
          <a:noFill/>
        </p:spPr>
        <p:txBody>
          <a:bodyPr wrap="square" rtlCol="0">
            <a:spAutoFit/>
          </a:bodyPr>
          <a:lstStyle/>
          <a:p>
            <a:pPr algn="ctr"/>
            <a:r>
              <a:rPr lang="en-US" altLang="zh-TW" sz="2800" dirty="0">
                <a:solidFill>
                  <a:schemeClr val="dk1"/>
                </a:solidFill>
              </a:rPr>
              <a:t>Retrieval</a:t>
            </a:r>
            <a:endParaRPr lang="en-US" altLang="zh-TW" sz="2800" dirty="0">
              <a:solidFill>
                <a:schemeClr val="dk1"/>
              </a:solidFill>
            </a:endParaRPr>
          </a:p>
        </p:txBody>
      </p:sp>
      <p:cxnSp>
        <p:nvCxnSpPr>
          <p:cNvPr id="29" name="直線單箭頭接點 28"/>
          <p:cNvCxnSpPr/>
          <p:nvPr/>
        </p:nvCxnSpPr>
        <p:spPr>
          <a:xfrm>
            <a:off x="8426919" y="2336365"/>
            <a:ext cx="0" cy="1334025"/>
          </a:xfrm>
          <a:prstGeom prst="straightConnector1">
            <a:avLst/>
          </a:prstGeom>
          <a:ln w="5715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0" name="直線單箭頭接點 39"/>
          <p:cNvCxnSpPr/>
          <p:nvPr/>
        </p:nvCxnSpPr>
        <p:spPr>
          <a:xfrm flipH="1">
            <a:off x="6510206" y="3692154"/>
            <a:ext cx="1881957" cy="0"/>
          </a:xfrm>
          <a:prstGeom prst="straightConnector1">
            <a:avLst/>
          </a:prstGeom>
          <a:ln w="5715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2" name="文字方塊 41"/>
          <p:cNvSpPr txBox="1"/>
          <p:nvPr/>
        </p:nvSpPr>
        <p:spPr>
          <a:xfrm>
            <a:off x="6883570" y="3716406"/>
            <a:ext cx="1418849" cy="461665"/>
          </a:xfrm>
          <a:prstGeom prst="rect">
            <a:avLst/>
          </a:prstGeom>
          <a:noFill/>
        </p:spPr>
        <p:txBody>
          <a:bodyPr wrap="square" rtlCol="0">
            <a:spAutoFit/>
          </a:bodyPr>
          <a:lstStyle/>
          <a:p>
            <a:pPr algn="ctr"/>
            <a:r>
              <a:rPr lang="en-US" altLang="zh-TW" sz="2400" dirty="0"/>
              <a:t>Query </a:t>
            </a:r>
            <a:endParaRPr lang="zh-TW" altLang="en-US" sz="2400" dirty="0"/>
          </a:p>
        </p:txBody>
      </p:sp>
      <p:sp>
        <p:nvSpPr>
          <p:cNvPr id="43" name="文字方塊 42"/>
          <p:cNvSpPr txBox="1"/>
          <p:nvPr/>
        </p:nvSpPr>
        <p:spPr>
          <a:xfrm>
            <a:off x="6921669" y="4799079"/>
            <a:ext cx="1418849" cy="461665"/>
          </a:xfrm>
          <a:prstGeom prst="rect">
            <a:avLst/>
          </a:prstGeom>
          <a:noFill/>
        </p:spPr>
        <p:txBody>
          <a:bodyPr wrap="square" rtlCol="0">
            <a:spAutoFit/>
          </a:bodyPr>
          <a:lstStyle/>
          <a:p>
            <a:pPr algn="ctr"/>
            <a:r>
              <a:rPr lang="en-US" altLang="zh-TW" sz="2400" dirty="0"/>
              <a:t>Database</a:t>
            </a:r>
            <a:endParaRPr lang="zh-TW" altLang="en-US" sz="2400" dirty="0"/>
          </a:p>
        </p:txBody>
      </p:sp>
      <p:sp>
        <p:nvSpPr>
          <p:cNvPr id="44" name="文字方塊 43"/>
          <p:cNvSpPr txBox="1"/>
          <p:nvPr/>
        </p:nvSpPr>
        <p:spPr>
          <a:xfrm>
            <a:off x="647700" y="4501594"/>
            <a:ext cx="3918806" cy="461665"/>
          </a:xfrm>
          <a:prstGeom prst="rect">
            <a:avLst/>
          </a:prstGeom>
          <a:noFill/>
        </p:spPr>
        <p:txBody>
          <a:bodyPr wrap="square" rtlCol="0">
            <a:spAutoFit/>
          </a:bodyPr>
          <a:lstStyle/>
          <a:p>
            <a:pPr algn="r"/>
            <a:r>
              <a:rPr lang="en-US" altLang="zh-TW" sz="2400" dirty="0">
                <a:latin typeface="Microsoft JhengHei" panose="020B0604030504040204" pitchFamily="34" charset="-120"/>
                <a:ea typeface="Microsoft JhengHei" panose="020B0604030504040204" pitchFamily="34" charset="-120"/>
              </a:rPr>
              <a:t>(</a:t>
            </a:r>
            <a:r>
              <a:rPr lang="zh-TW" altLang="en-US" sz="2400" dirty="0">
                <a:latin typeface="Microsoft JhengHei" panose="020B0604030504040204" pitchFamily="34" charset="-120"/>
                <a:ea typeface="Microsoft JhengHei" panose="020B0604030504040204" pitchFamily="34" charset="-120"/>
              </a:rPr>
              <a:t>自己的經歷 </a:t>
            </a:r>
            <a:r>
              <a:rPr lang="en-US" altLang="zh-TW" sz="2400" dirty="0">
                <a:latin typeface="Microsoft JhengHei" panose="020B0604030504040204" pitchFamily="34" charset="-120"/>
                <a:ea typeface="Microsoft JhengHei" panose="020B0604030504040204" pitchFamily="34" charset="-120"/>
              </a:rPr>
              <a:t>vs. </a:t>
            </a:r>
            <a:r>
              <a:rPr lang="zh-TW" altLang="en-US" sz="2400" dirty="0">
                <a:latin typeface="Microsoft JhengHei" panose="020B0604030504040204" pitchFamily="34" charset="-120"/>
                <a:ea typeface="Microsoft JhengHei" panose="020B0604030504040204" pitchFamily="34" charset="-120"/>
              </a:rPr>
              <a:t>別人的經歷</a:t>
            </a:r>
            <a:r>
              <a:rPr lang="en-US" altLang="zh-TW" sz="2400" dirty="0">
                <a:latin typeface="Microsoft JhengHei" panose="020B0604030504040204" pitchFamily="34" charset="-120"/>
                <a:ea typeface="Microsoft JhengHei" panose="020B0604030504040204" pitchFamily="34" charset="-120"/>
              </a:rPr>
              <a:t>)</a:t>
            </a:r>
            <a:endParaRPr lang="en-US" altLang="zh-TW" sz="2400" dirty="0">
              <a:latin typeface="Microsoft JhengHei" panose="020B0604030504040204" pitchFamily="34" charset="-120"/>
              <a:ea typeface="Microsoft JhengHei" panose="020B0604030504040204" pitchFamily="34" charset="-120"/>
            </a:endParaRPr>
          </a:p>
        </p:txBody>
      </p:sp>
      <p:sp>
        <p:nvSpPr>
          <p:cNvPr id="6" name="矩形: 圓角 5"/>
          <p:cNvSpPr/>
          <p:nvPr/>
        </p:nvSpPr>
        <p:spPr>
          <a:xfrm>
            <a:off x="669196" y="5286732"/>
            <a:ext cx="10817953" cy="675982"/>
          </a:xfrm>
          <a:prstGeom prst="roundRect">
            <a:avLst/>
          </a:prstGeom>
          <a:noFill/>
          <a:ln w="381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17" grpId="0" animBg="1"/>
      <p:bldP spid="20" grpId="0" animBg="1"/>
      <p:bldP spid="21" grpId="0"/>
      <p:bldP spid="27" grpId="0"/>
      <p:bldP spid="42" grpId="0"/>
      <p:bldP spid="43" grpId="0"/>
      <p:bldP spid="44" grpId="0"/>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StreamBench</a:t>
            </a:r>
            <a:endParaRPr lang="zh-TW" altLang="en-US" dirty="0"/>
          </a:p>
        </p:txBody>
      </p:sp>
      <p:sp>
        <p:nvSpPr>
          <p:cNvPr id="4" name="文字方塊 3"/>
          <p:cNvSpPr txBox="1"/>
          <p:nvPr/>
        </p:nvSpPr>
        <p:spPr>
          <a:xfrm>
            <a:off x="838200" y="1267239"/>
            <a:ext cx="350123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https://arxiv.org/abs/2406.08747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1" name="文字方塊 10"/>
          <p:cNvSpPr txBox="1"/>
          <p:nvPr/>
        </p:nvSpPr>
        <p:spPr>
          <a:xfrm>
            <a:off x="5565861" y="763805"/>
            <a:ext cx="3501233" cy="64633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https://stream-bench.github.io/</a:t>
            </a:r>
            <a:endParaRPr kumimoji="0" lang="en-US" altLang="zh-TW"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a:p>
            <a:pPr marL="0" marR="0" lvl="0" indent="0" algn="r" defTabSz="914400" rtl="0" eaLnBrk="1" fontAlgn="auto" latinLnBrk="0" hangingPunct="1">
              <a:lnSpc>
                <a:spcPct val="100000"/>
              </a:lnSpc>
              <a:spcBef>
                <a:spcPts val="0"/>
              </a:spcBef>
              <a:spcAft>
                <a:spcPts val="0"/>
              </a:spcAft>
              <a:buClrTx/>
              <a:buSzTx/>
              <a:buFontTx/>
              <a:buNone/>
              <a:defRPr/>
            </a:pPr>
            <a:r>
              <a:rPr lang="en-US" altLang="zh-TW" dirty="0">
                <a:solidFill>
                  <a:prstClr val="black"/>
                </a:solidFill>
                <a:latin typeface="Calibri" panose="020F0502020204030204"/>
                <a:ea typeface="PMingLiU" panose="02020500000000000000" pitchFamily="18" charset="-120"/>
              </a:rPr>
              <a:t>(done by </a:t>
            </a:r>
            <a:r>
              <a:rPr lang="en-US" altLang="zh-TW" dirty="0" err="1">
                <a:solidFill>
                  <a:prstClr val="black"/>
                </a:solidFill>
                <a:latin typeface="Calibri" panose="020F0502020204030204"/>
                <a:ea typeface="PMingLiU" panose="02020500000000000000" pitchFamily="18" charset="-120"/>
              </a:rPr>
              <a:t>Appier</a:t>
            </a:r>
            <a:r>
              <a:rPr lang="en-US" altLang="zh-TW" dirty="0">
                <a:solidFill>
                  <a:prstClr val="black"/>
                </a:solidFill>
                <a:latin typeface="Calibri" panose="020F0502020204030204"/>
                <a:ea typeface="PMingLiU" panose="02020500000000000000" pitchFamily="18" charset="-120"/>
              </a:rPr>
              <a:t> Researchers)</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1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30364" y="240664"/>
            <a:ext cx="1453280" cy="145328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443" y="34975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0410" y="34975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3377" y="34975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2278" y="3497571"/>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6344" y="34975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9311" y="34975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5246" y="34975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7398" y="34975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4430" y="3497571"/>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0365" y="34975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113" y="1736424"/>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9520" y="1753842"/>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57102" y="1775915"/>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直線單箭頭接點 28"/>
          <p:cNvCxnSpPr/>
          <p:nvPr/>
        </p:nvCxnSpPr>
        <p:spPr>
          <a:xfrm flipV="1">
            <a:off x="794340" y="3020263"/>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a:off x="1468213" y="3065103"/>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左大括弧 36"/>
          <p:cNvSpPr/>
          <p:nvPr/>
        </p:nvSpPr>
        <p:spPr>
          <a:xfrm rot="16200000">
            <a:off x="5817399" y="77164"/>
            <a:ext cx="523219" cy="11869040"/>
          </a:xfrm>
          <a:prstGeom prst="leftBrace">
            <a:avLst>
              <a:gd name="adj1" fmla="val 62625"/>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1200" cap="none" spc="0" normalizeH="0" baseline="0" noProof="0">
              <a:ln>
                <a:noFill/>
              </a:ln>
              <a:solidFill>
                <a:prstClr val="black"/>
              </a:solidFill>
              <a:effectLst/>
              <a:uLnTx/>
              <a:uFillTx/>
              <a:latin typeface="Calibri" panose="020F0502020204030204"/>
              <a:ea typeface="PMingLiU" panose="02020500000000000000" pitchFamily="18" charset="-120"/>
              <a:cs typeface="+mn-cs"/>
            </a:endParaRPr>
          </a:p>
        </p:txBody>
      </p:sp>
      <p:sp>
        <p:nvSpPr>
          <p:cNvPr id="38" name="文字方塊 37"/>
          <p:cNvSpPr txBox="1"/>
          <p:nvPr/>
        </p:nvSpPr>
        <p:spPr>
          <a:xfrm>
            <a:off x="2343377" y="6214034"/>
            <a:ext cx="7165101"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Goal: Maximize the </a:t>
            </a:r>
            <a:r>
              <a:rPr lang="en-US" altLang="zh-TW" sz="2800" dirty="0">
                <a:solidFill>
                  <a:prstClr val="black"/>
                </a:solidFill>
                <a:latin typeface="Calibri" panose="020F0502020204030204"/>
                <a:ea typeface="PMingLiU" panose="02020500000000000000" pitchFamily="18" charset="-120"/>
              </a:rPr>
              <a:t>a</a:t>
            </a:r>
            <a:r>
              <a:rPr kumimoji="0" lang="en-US" altLang="zh-TW" sz="2800" b="0" i="0" u="none" strike="noStrike" kern="1200" cap="none" spc="0" normalizeH="0" baseline="0" noProof="0" dirty="0" err="1">
                <a:ln>
                  <a:noFill/>
                </a:ln>
                <a:solidFill>
                  <a:prstClr val="black"/>
                </a:solidFill>
                <a:effectLst/>
                <a:uLnTx/>
                <a:uFillTx/>
                <a:latin typeface="Calibri" panose="020F0502020204030204"/>
                <a:ea typeface="PMingLiU" panose="02020500000000000000" pitchFamily="18" charset="-120"/>
                <a:cs typeface="+mn-cs"/>
              </a:rPr>
              <a:t>ccuracy</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over the sequence </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40" name="文字方塊 39"/>
          <p:cNvSpPr txBox="1"/>
          <p:nvPr/>
        </p:nvSpPr>
        <p:spPr>
          <a:xfrm>
            <a:off x="6958213" y="3497571"/>
            <a:ext cx="1063249" cy="523220"/>
          </a:xfrm>
          <a:prstGeom prst="rect">
            <a:avLst/>
          </a:prstGeom>
          <a:noFill/>
        </p:spPr>
        <p:txBody>
          <a:bodyPr wrap="square" rtlCol="0">
            <a:spAutoFit/>
          </a:bodyPr>
          <a:lstStyle/>
          <a:p>
            <a:pPr algn="ctr"/>
            <a:r>
              <a:rPr lang="en-US" altLang="zh-TW" sz="2800" b="1" dirty="0"/>
              <a:t>……</a:t>
            </a:r>
            <a:endParaRPr lang="zh-TW" altLang="en-US" sz="2800" b="1" dirty="0"/>
          </a:p>
        </p:txBody>
      </p:sp>
      <p:pic>
        <p:nvPicPr>
          <p:cNvPr id="4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93333" y="3497571"/>
            <a:ext cx="720000"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直線單箭頭接點 41"/>
          <p:cNvCxnSpPr/>
          <p:nvPr/>
        </p:nvCxnSpPr>
        <p:spPr>
          <a:xfrm flipV="1">
            <a:off x="3551260" y="3000526"/>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p:nvPr/>
        </p:nvCxnSpPr>
        <p:spPr>
          <a:xfrm>
            <a:off x="4225133" y="3045366"/>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p:nvPr/>
        </p:nvCxnSpPr>
        <p:spPr>
          <a:xfrm flipV="1">
            <a:off x="9383237" y="3000526"/>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10057110" y="3045366"/>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0409" y="4753531"/>
            <a:ext cx="1031387" cy="103138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34474" y="4774205"/>
            <a:ext cx="1031387" cy="1031387"/>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11591" y="4715833"/>
            <a:ext cx="1031387" cy="1031387"/>
          </a:xfrm>
          <a:prstGeom prst="rect">
            <a:avLst/>
          </a:prstGeom>
          <a:noFill/>
          <a:extLst>
            <a:ext uri="{909E8E84-426E-40DD-AFC4-6F175D3DCCD1}">
              <a14:hiddenFill xmlns:a14="http://schemas.microsoft.com/office/drawing/2010/main">
                <a:solidFill>
                  <a:srgbClr val="FFFFFF"/>
                </a:solidFill>
              </a14:hiddenFill>
            </a:ext>
          </a:extLst>
        </p:spPr>
      </p:pic>
      <p:grpSp>
        <p:nvGrpSpPr>
          <p:cNvPr id="51" name="群組 50"/>
          <p:cNvGrpSpPr/>
          <p:nvPr/>
        </p:nvGrpSpPr>
        <p:grpSpPr>
          <a:xfrm flipV="1">
            <a:off x="10365797" y="4262706"/>
            <a:ext cx="1122973" cy="442079"/>
            <a:chOff x="7326007" y="4685470"/>
            <a:chExt cx="1122973" cy="442079"/>
          </a:xfrm>
        </p:grpSpPr>
        <p:cxnSp>
          <p:nvCxnSpPr>
            <p:cNvPr id="49" name="直線單箭頭接點 48"/>
            <p:cNvCxnSpPr/>
            <p:nvPr/>
          </p:nvCxnSpPr>
          <p:spPr>
            <a:xfrm flipV="1">
              <a:off x="7326007" y="4685470"/>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p:nvPr/>
          </p:nvCxnSpPr>
          <p:spPr>
            <a:xfrm>
              <a:off x="7999880" y="4730310"/>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2" name="群組 51"/>
          <p:cNvGrpSpPr/>
          <p:nvPr/>
        </p:nvGrpSpPr>
        <p:grpSpPr>
          <a:xfrm flipV="1">
            <a:off x="4454359" y="4306734"/>
            <a:ext cx="1122973" cy="442079"/>
            <a:chOff x="7326007" y="4685470"/>
            <a:chExt cx="1122973" cy="442079"/>
          </a:xfrm>
        </p:grpSpPr>
        <p:cxnSp>
          <p:nvCxnSpPr>
            <p:cNvPr id="53" name="直線單箭頭接點 52"/>
            <p:cNvCxnSpPr/>
            <p:nvPr/>
          </p:nvCxnSpPr>
          <p:spPr>
            <a:xfrm flipV="1">
              <a:off x="7326007" y="4685470"/>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p:nvPr/>
          </p:nvCxnSpPr>
          <p:spPr>
            <a:xfrm>
              <a:off x="7999880" y="4730310"/>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5" name="群組 54"/>
          <p:cNvGrpSpPr/>
          <p:nvPr/>
        </p:nvGrpSpPr>
        <p:grpSpPr>
          <a:xfrm flipV="1">
            <a:off x="1692763" y="4266449"/>
            <a:ext cx="1122973" cy="442079"/>
            <a:chOff x="7326007" y="4685470"/>
            <a:chExt cx="1122973" cy="442079"/>
          </a:xfrm>
        </p:grpSpPr>
        <p:cxnSp>
          <p:nvCxnSpPr>
            <p:cNvPr id="56" name="直線單箭頭接點 55"/>
            <p:cNvCxnSpPr/>
            <p:nvPr/>
          </p:nvCxnSpPr>
          <p:spPr>
            <a:xfrm flipV="1">
              <a:off x="7326007" y="4685470"/>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a:off x="7999880" y="4730310"/>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8" name="文字方塊 57"/>
          <p:cNvSpPr txBox="1"/>
          <p:nvPr/>
        </p:nvSpPr>
        <p:spPr>
          <a:xfrm>
            <a:off x="298457" y="4165523"/>
            <a:ext cx="1051149" cy="461665"/>
          </a:xfrm>
          <a:prstGeom prst="rect">
            <a:avLst/>
          </a:prstGeom>
          <a:noFill/>
        </p:spPr>
        <p:txBody>
          <a:bodyPr wrap="square" rtlCol="0">
            <a:spAutoFit/>
          </a:bodyPr>
          <a:lstStyle/>
          <a:p>
            <a:pPr algn="ctr"/>
            <a:r>
              <a:rPr lang="en-US" altLang="zh-TW" sz="2400" dirty="0"/>
              <a:t>Q1</a:t>
            </a:r>
            <a:endParaRPr lang="zh-TW" altLang="en-US" sz="2400" dirty="0"/>
          </a:p>
        </p:txBody>
      </p:sp>
      <p:sp>
        <p:nvSpPr>
          <p:cNvPr id="59" name="文字方塊 58"/>
          <p:cNvSpPr txBox="1"/>
          <p:nvPr/>
        </p:nvSpPr>
        <p:spPr>
          <a:xfrm>
            <a:off x="3083566" y="4206293"/>
            <a:ext cx="1051149" cy="461665"/>
          </a:xfrm>
          <a:prstGeom prst="rect">
            <a:avLst/>
          </a:prstGeom>
          <a:noFill/>
        </p:spPr>
        <p:txBody>
          <a:bodyPr wrap="square" rtlCol="0">
            <a:spAutoFit/>
          </a:bodyPr>
          <a:lstStyle/>
          <a:p>
            <a:pPr algn="ctr"/>
            <a:r>
              <a:rPr lang="en-US" altLang="zh-TW" sz="2400" dirty="0"/>
              <a:t>Q2</a:t>
            </a:r>
            <a:endParaRPr lang="zh-TW" altLang="en-US" sz="2400" dirty="0"/>
          </a:p>
        </p:txBody>
      </p:sp>
      <p:sp>
        <p:nvSpPr>
          <p:cNvPr id="60" name="文字方塊 59"/>
          <p:cNvSpPr txBox="1"/>
          <p:nvPr/>
        </p:nvSpPr>
        <p:spPr>
          <a:xfrm>
            <a:off x="9005961" y="4242308"/>
            <a:ext cx="1051149" cy="461665"/>
          </a:xfrm>
          <a:prstGeom prst="rect">
            <a:avLst/>
          </a:prstGeom>
          <a:noFill/>
        </p:spPr>
        <p:txBody>
          <a:bodyPr wrap="square" rtlCol="0">
            <a:spAutoFit/>
          </a:bodyPr>
          <a:lstStyle/>
          <a:p>
            <a:pPr algn="ctr"/>
            <a:r>
              <a:rPr lang="en-US" altLang="zh-TW" sz="2400" dirty="0"/>
              <a:t>Q1000</a:t>
            </a:r>
            <a:endParaRPr lang="zh-TW" altLang="en-US" sz="2400" dirty="0"/>
          </a:p>
        </p:txBody>
      </p:sp>
      <p:sp>
        <p:nvSpPr>
          <p:cNvPr id="61" name="文字方塊 60"/>
          <p:cNvSpPr txBox="1"/>
          <p:nvPr/>
        </p:nvSpPr>
        <p:spPr>
          <a:xfrm>
            <a:off x="5868675" y="4242308"/>
            <a:ext cx="1051149" cy="461665"/>
          </a:xfrm>
          <a:prstGeom prst="rect">
            <a:avLst/>
          </a:prstGeom>
          <a:noFill/>
        </p:spPr>
        <p:txBody>
          <a:bodyPr wrap="square" rtlCol="0">
            <a:spAutoFit/>
          </a:bodyPr>
          <a:lstStyle/>
          <a:p>
            <a:pPr algn="ctr"/>
            <a:r>
              <a:rPr lang="en-US" altLang="zh-TW" sz="2400" dirty="0"/>
              <a:t>Q3</a:t>
            </a:r>
            <a:endParaRPr lang="zh-TW" altLang="en-US" sz="2400" dirty="0"/>
          </a:p>
        </p:txBody>
      </p:sp>
      <p:pic>
        <p:nvPicPr>
          <p:cNvPr id="62" name="圖片 61" descr="一張含有 服裝, 人員, 戶外, 人的臉孔 的圖片&#10;&#10;自動產生的描述"/>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11344" y="336821"/>
            <a:ext cx="1241985" cy="12419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StreamBench</a:t>
            </a:r>
            <a:endParaRPr lang="zh-TW" altLang="en-US" dirty="0"/>
          </a:p>
        </p:txBody>
      </p:sp>
      <p:sp>
        <p:nvSpPr>
          <p:cNvPr id="4" name="文字方塊 3"/>
          <p:cNvSpPr txBox="1"/>
          <p:nvPr/>
        </p:nvSpPr>
        <p:spPr>
          <a:xfrm>
            <a:off x="838200" y="1267239"/>
            <a:ext cx="350123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https://arxiv.org/abs/2406.08747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7443"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0410"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3377"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278" y="5440671"/>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66344"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9311"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35246"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42865" y="2244262"/>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2569" y="522606"/>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40" name="文字方塊 39"/>
          <p:cNvSpPr txBox="1"/>
          <p:nvPr/>
        </p:nvSpPr>
        <p:spPr>
          <a:xfrm>
            <a:off x="6958213" y="5440671"/>
            <a:ext cx="1063249" cy="523220"/>
          </a:xfrm>
          <a:prstGeom prst="rect">
            <a:avLst/>
          </a:prstGeom>
          <a:noFill/>
        </p:spPr>
        <p:txBody>
          <a:bodyPr wrap="square" rtlCol="0">
            <a:spAutoFit/>
          </a:bodyPr>
          <a:lstStyle/>
          <a:p>
            <a:pPr algn="ctr"/>
            <a:r>
              <a:rPr lang="en-US" altLang="zh-TW" sz="2800" b="1" dirty="0"/>
              <a:t>……</a:t>
            </a:r>
            <a:endParaRPr lang="zh-TW" altLang="en-US" sz="2800" b="1" dirty="0"/>
          </a:p>
        </p:txBody>
      </p:sp>
      <p:cxnSp>
        <p:nvCxnSpPr>
          <p:cNvPr id="44" name="直線單箭頭接點 43"/>
          <p:cNvCxnSpPr/>
          <p:nvPr/>
        </p:nvCxnSpPr>
        <p:spPr>
          <a:xfrm flipV="1">
            <a:off x="7878704" y="1747217"/>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8552577" y="1792057"/>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文字方塊 57"/>
          <p:cNvSpPr txBox="1"/>
          <p:nvPr/>
        </p:nvSpPr>
        <p:spPr>
          <a:xfrm>
            <a:off x="298457" y="6108623"/>
            <a:ext cx="1051149" cy="461665"/>
          </a:xfrm>
          <a:prstGeom prst="rect">
            <a:avLst/>
          </a:prstGeom>
          <a:noFill/>
        </p:spPr>
        <p:txBody>
          <a:bodyPr wrap="square" rtlCol="0">
            <a:spAutoFit/>
          </a:bodyPr>
          <a:lstStyle/>
          <a:p>
            <a:pPr algn="ctr"/>
            <a:r>
              <a:rPr lang="en-US" altLang="zh-TW" sz="2400" dirty="0"/>
              <a:t>Q1</a:t>
            </a:r>
            <a:endParaRPr lang="zh-TW" altLang="en-US" sz="2400" dirty="0"/>
          </a:p>
        </p:txBody>
      </p:sp>
      <p:sp>
        <p:nvSpPr>
          <p:cNvPr id="59" name="文字方塊 58"/>
          <p:cNvSpPr txBox="1"/>
          <p:nvPr/>
        </p:nvSpPr>
        <p:spPr>
          <a:xfrm>
            <a:off x="3083566" y="6149393"/>
            <a:ext cx="1051149" cy="461665"/>
          </a:xfrm>
          <a:prstGeom prst="rect">
            <a:avLst/>
          </a:prstGeom>
          <a:noFill/>
        </p:spPr>
        <p:txBody>
          <a:bodyPr wrap="square" rtlCol="0">
            <a:spAutoFit/>
          </a:bodyPr>
          <a:lstStyle/>
          <a:p>
            <a:pPr algn="ctr"/>
            <a:r>
              <a:rPr lang="en-US" altLang="zh-TW" sz="2400" dirty="0"/>
              <a:t>Q2</a:t>
            </a:r>
            <a:endParaRPr lang="zh-TW" altLang="en-US" sz="2400" dirty="0"/>
          </a:p>
        </p:txBody>
      </p:sp>
      <p:sp>
        <p:nvSpPr>
          <p:cNvPr id="60" name="文字方塊 59"/>
          <p:cNvSpPr txBox="1"/>
          <p:nvPr/>
        </p:nvSpPr>
        <p:spPr>
          <a:xfrm>
            <a:off x="7501428" y="2988999"/>
            <a:ext cx="1051149" cy="461665"/>
          </a:xfrm>
          <a:prstGeom prst="rect">
            <a:avLst/>
          </a:prstGeom>
          <a:noFill/>
        </p:spPr>
        <p:txBody>
          <a:bodyPr wrap="square" rtlCol="0">
            <a:spAutoFit/>
          </a:bodyPr>
          <a:lstStyle/>
          <a:p>
            <a:pPr algn="ctr"/>
            <a:r>
              <a:rPr lang="en-US" altLang="zh-TW" sz="2400" dirty="0"/>
              <a:t>Q100</a:t>
            </a:r>
            <a:endParaRPr lang="zh-TW" altLang="en-US" sz="2400" dirty="0"/>
          </a:p>
        </p:txBody>
      </p:sp>
      <p:sp>
        <p:nvSpPr>
          <p:cNvPr id="61" name="文字方塊 60"/>
          <p:cNvSpPr txBox="1"/>
          <p:nvPr/>
        </p:nvSpPr>
        <p:spPr>
          <a:xfrm>
            <a:off x="5868675" y="6185408"/>
            <a:ext cx="1051149" cy="461665"/>
          </a:xfrm>
          <a:prstGeom prst="rect">
            <a:avLst/>
          </a:prstGeom>
          <a:noFill/>
        </p:spPr>
        <p:txBody>
          <a:bodyPr wrap="square" rtlCol="0">
            <a:spAutoFit/>
          </a:bodyPr>
          <a:lstStyle/>
          <a:p>
            <a:pPr algn="ctr"/>
            <a:r>
              <a:rPr lang="en-US" altLang="zh-TW" sz="2400" dirty="0"/>
              <a:t>Q3</a:t>
            </a:r>
            <a:endParaRPr lang="zh-TW" altLang="en-US" sz="2400" dirty="0"/>
          </a:p>
        </p:txBody>
      </p:sp>
      <p:sp>
        <p:nvSpPr>
          <p:cNvPr id="3" name="矩形: 圓角 2"/>
          <p:cNvSpPr/>
          <p:nvPr/>
        </p:nvSpPr>
        <p:spPr>
          <a:xfrm>
            <a:off x="3817257" y="4037976"/>
            <a:ext cx="1879593" cy="552602"/>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Read</a:t>
            </a:r>
            <a:endParaRPr lang="zh-TW" altLang="en-US" sz="2400" dirty="0"/>
          </a:p>
        </p:txBody>
      </p:sp>
      <p:cxnSp>
        <p:nvCxnSpPr>
          <p:cNvPr id="5" name="直線單箭頭接點 4"/>
          <p:cNvCxnSpPr/>
          <p:nvPr/>
        </p:nvCxnSpPr>
        <p:spPr>
          <a:xfrm flipV="1">
            <a:off x="4728720" y="4610100"/>
            <a:ext cx="0" cy="53309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文字方塊 6"/>
          <p:cNvSpPr txBox="1"/>
          <p:nvPr/>
        </p:nvSpPr>
        <p:spPr>
          <a:xfrm>
            <a:off x="1896060" y="4077119"/>
            <a:ext cx="2100993" cy="523220"/>
          </a:xfrm>
          <a:prstGeom prst="rect">
            <a:avLst/>
          </a:prstGeom>
          <a:noFill/>
        </p:spPr>
        <p:txBody>
          <a:bodyPr wrap="square" rtlCol="0">
            <a:spAutoFit/>
          </a:bodyPr>
          <a:lstStyle/>
          <a:p>
            <a:pPr algn="ctr"/>
            <a:r>
              <a:rPr lang="en-US" altLang="zh-TW" sz="2800" dirty="0">
                <a:solidFill>
                  <a:schemeClr val="dk1"/>
                </a:solidFill>
              </a:rPr>
              <a:t>Retrieval</a:t>
            </a:r>
            <a:endParaRPr lang="en-US" altLang="zh-TW" sz="2800" dirty="0">
              <a:solidFill>
                <a:schemeClr val="dk1"/>
              </a:solidFill>
            </a:endParaRPr>
          </a:p>
        </p:txBody>
      </p:sp>
      <p:sp>
        <p:nvSpPr>
          <p:cNvPr id="8" name="文字方塊 7"/>
          <p:cNvSpPr txBox="1"/>
          <p:nvPr/>
        </p:nvSpPr>
        <p:spPr>
          <a:xfrm>
            <a:off x="8556546" y="2279900"/>
            <a:ext cx="1063249" cy="523220"/>
          </a:xfrm>
          <a:prstGeom prst="rect">
            <a:avLst/>
          </a:prstGeom>
          <a:noFill/>
        </p:spPr>
        <p:txBody>
          <a:bodyPr wrap="square" rtlCol="0">
            <a:spAutoFit/>
          </a:bodyPr>
          <a:lstStyle/>
          <a:p>
            <a:pPr algn="ctr"/>
            <a:r>
              <a:rPr lang="en-US" altLang="zh-TW" sz="2800" b="1" dirty="0"/>
              <a:t>……</a:t>
            </a:r>
            <a:endParaRPr lang="zh-TW" altLang="en-US" sz="2800" b="1" dirty="0"/>
          </a:p>
        </p:txBody>
      </p:sp>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4982" y="2197953"/>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949" y="2197953"/>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0916" y="2197953"/>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9817" y="2197953"/>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73883" y="2197953"/>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6850" y="2197953"/>
            <a:ext cx="719999" cy="720000"/>
          </a:xfrm>
          <a:prstGeom prst="rect">
            <a:avLst/>
          </a:prstGeom>
          <a:noFill/>
          <a:extLst>
            <a:ext uri="{909E8E84-426E-40DD-AFC4-6F175D3DCCD1}">
              <a14:hiddenFill xmlns:a14="http://schemas.microsoft.com/office/drawing/2010/main">
                <a:solidFill>
                  <a:srgbClr val="FFFFFF"/>
                </a:solidFill>
              </a14:hiddenFill>
            </a:ext>
          </a:extLst>
        </p:spPr>
      </p:pic>
      <p:sp>
        <p:nvSpPr>
          <p:cNvPr id="19" name="文字方塊 18"/>
          <p:cNvSpPr txBox="1"/>
          <p:nvPr/>
        </p:nvSpPr>
        <p:spPr>
          <a:xfrm>
            <a:off x="1821828" y="2884097"/>
            <a:ext cx="1051149" cy="461665"/>
          </a:xfrm>
          <a:prstGeom prst="rect">
            <a:avLst/>
          </a:prstGeom>
          <a:noFill/>
        </p:spPr>
        <p:txBody>
          <a:bodyPr wrap="square" rtlCol="0">
            <a:spAutoFit/>
          </a:bodyPr>
          <a:lstStyle/>
          <a:p>
            <a:pPr algn="ctr"/>
            <a:r>
              <a:rPr lang="en-US" altLang="zh-TW" sz="2400" dirty="0"/>
              <a:t>Q65</a:t>
            </a:r>
            <a:endParaRPr lang="zh-TW" altLang="en-US" sz="2400" dirty="0"/>
          </a:p>
        </p:txBody>
      </p:sp>
      <p:sp>
        <p:nvSpPr>
          <p:cNvPr id="23" name="文字方塊 22"/>
          <p:cNvSpPr txBox="1"/>
          <p:nvPr/>
        </p:nvSpPr>
        <p:spPr>
          <a:xfrm>
            <a:off x="4591105" y="2906675"/>
            <a:ext cx="1051149" cy="461665"/>
          </a:xfrm>
          <a:prstGeom prst="rect">
            <a:avLst/>
          </a:prstGeom>
          <a:noFill/>
        </p:spPr>
        <p:txBody>
          <a:bodyPr wrap="square" rtlCol="0">
            <a:spAutoFit/>
          </a:bodyPr>
          <a:lstStyle/>
          <a:p>
            <a:pPr algn="ctr"/>
            <a:r>
              <a:rPr lang="en-US" altLang="zh-TW" sz="2400" dirty="0"/>
              <a:t>Q78</a:t>
            </a:r>
            <a:endParaRPr lang="zh-TW" altLang="en-US" sz="2400" dirty="0"/>
          </a:p>
        </p:txBody>
      </p:sp>
      <p:pic>
        <p:nvPicPr>
          <p:cNvPr id="2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5259" y="5475132"/>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59325" y="5475132"/>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2292" y="5475132"/>
            <a:ext cx="719999" cy="720000"/>
          </a:xfrm>
          <a:prstGeom prst="rect">
            <a:avLst/>
          </a:prstGeom>
          <a:noFill/>
          <a:extLst>
            <a:ext uri="{909E8E84-426E-40DD-AFC4-6F175D3DCCD1}">
              <a14:hiddenFill xmlns:a14="http://schemas.microsoft.com/office/drawing/2010/main">
                <a:solidFill>
                  <a:srgbClr val="FFFFFF"/>
                </a:solidFill>
              </a14:hiddenFill>
            </a:ext>
          </a:extLst>
        </p:spPr>
      </p:pic>
      <p:sp>
        <p:nvSpPr>
          <p:cNvPr id="35" name="文字方塊 34"/>
          <p:cNvSpPr txBox="1"/>
          <p:nvPr/>
        </p:nvSpPr>
        <p:spPr>
          <a:xfrm>
            <a:off x="7876547" y="6183854"/>
            <a:ext cx="1051149" cy="461665"/>
          </a:xfrm>
          <a:prstGeom prst="rect">
            <a:avLst/>
          </a:prstGeom>
          <a:noFill/>
        </p:spPr>
        <p:txBody>
          <a:bodyPr wrap="square" rtlCol="0">
            <a:spAutoFit/>
          </a:bodyPr>
          <a:lstStyle/>
          <a:p>
            <a:pPr algn="ctr"/>
            <a:r>
              <a:rPr lang="en-US" altLang="zh-TW" sz="2400" dirty="0"/>
              <a:t>Q99</a:t>
            </a:r>
            <a:endParaRPr lang="zh-TW" altLang="en-US" sz="2400" dirty="0"/>
          </a:p>
        </p:txBody>
      </p:sp>
      <p:cxnSp>
        <p:nvCxnSpPr>
          <p:cNvPr id="39" name="直線單箭頭接點 38"/>
          <p:cNvCxnSpPr/>
          <p:nvPr/>
        </p:nvCxnSpPr>
        <p:spPr>
          <a:xfrm flipV="1">
            <a:off x="4728720" y="3450664"/>
            <a:ext cx="0" cy="53309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2" name="矩形: 圓角 61"/>
          <p:cNvSpPr/>
          <p:nvPr/>
        </p:nvSpPr>
        <p:spPr>
          <a:xfrm>
            <a:off x="1781809" y="2128370"/>
            <a:ext cx="2862752" cy="1146517"/>
          </a:xfrm>
          <a:prstGeom prst="round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dirty="0">
              <a:solidFill>
                <a:schemeClr val="tx1"/>
              </a:solidFill>
            </a:endParaRPr>
          </a:p>
        </p:txBody>
      </p:sp>
      <p:sp>
        <p:nvSpPr>
          <p:cNvPr id="63" name="矩形: 圓角 62"/>
          <p:cNvSpPr/>
          <p:nvPr/>
        </p:nvSpPr>
        <p:spPr>
          <a:xfrm>
            <a:off x="4657721" y="2131483"/>
            <a:ext cx="2862752" cy="1146517"/>
          </a:xfrm>
          <a:prstGeom prst="round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19" grpId="0"/>
      <p:bldP spid="23" grpId="0"/>
      <p:bldP spid="62" grpId="0" animBg="1"/>
      <p:bldP spid="6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StreamBench</a:t>
            </a:r>
            <a:endParaRPr lang="zh-TW" altLang="en-US" dirty="0"/>
          </a:p>
        </p:txBody>
      </p:sp>
      <p:pic>
        <p:nvPicPr>
          <p:cNvPr id="5" name="圖片 4"/>
          <p:cNvPicPr>
            <a:picLocks noChangeAspect="1"/>
          </p:cNvPicPr>
          <p:nvPr/>
        </p:nvPicPr>
        <p:blipFill>
          <a:blip r:embed="rId1"/>
          <a:stretch>
            <a:fillRect/>
          </a:stretch>
        </p:blipFill>
        <p:spPr>
          <a:xfrm>
            <a:off x="2713963" y="1735022"/>
            <a:ext cx="7066121" cy="4700703"/>
          </a:xfrm>
          <a:prstGeom prst="rect">
            <a:avLst/>
          </a:prstGeom>
        </p:spPr>
      </p:pic>
      <p:sp>
        <p:nvSpPr>
          <p:cNvPr id="6" name="文字方塊 5"/>
          <p:cNvSpPr txBox="1"/>
          <p:nvPr/>
        </p:nvSpPr>
        <p:spPr>
          <a:xfrm>
            <a:off x="891050" y="1210663"/>
            <a:ext cx="60997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https://arxiv.org/abs/2406.08747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4" name="橢圓 3"/>
          <p:cNvSpPr/>
          <p:nvPr/>
        </p:nvSpPr>
        <p:spPr>
          <a:xfrm>
            <a:off x="9246849" y="2133881"/>
            <a:ext cx="240051" cy="23619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
        <p:nvSpPr>
          <p:cNvPr id="7" name="橢圓 6"/>
          <p:cNvSpPr/>
          <p:nvPr/>
        </p:nvSpPr>
        <p:spPr>
          <a:xfrm>
            <a:off x="9246849" y="3060585"/>
            <a:ext cx="240051" cy="23619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
        <p:nvSpPr>
          <p:cNvPr id="8" name="橢圓 7"/>
          <p:cNvSpPr/>
          <p:nvPr/>
        </p:nvSpPr>
        <p:spPr>
          <a:xfrm>
            <a:off x="9256374" y="3755910"/>
            <a:ext cx="240051" cy="23619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
        <p:nvSpPr>
          <p:cNvPr id="9" name="橢圓 8"/>
          <p:cNvSpPr/>
          <p:nvPr/>
        </p:nvSpPr>
        <p:spPr>
          <a:xfrm>
            <a:off x="9265899" y="4127385"/>
            <a:ext cx="240051" cy="236199"/>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StreamBench</a:t>
            </a:r>
            <a:endParaRPr lang="zh-TW" altLang="en-US" dirty="0"/>
          </a:p>
        </p:txBody>
      </p:sp>
      <p:sp>
        <p:nvSpPr>
          <p:cNvPr id="4" name="文字方塊 3"/>
          <p:cNvSpPr txBox="1"/>
          <p:nvPr/>
        </p:nvSpPr>
        <p:spPr>
          <a:xfrm>
            <a:off x="838200" y="1267239"/>
            <a:ext cx="350123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https://arxiv.org/abs/2406.08747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7443"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0410"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3377"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278" y="5440671"/>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66344"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9311"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35246" y="5440671"/>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42865" y="2244262"/>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2569" y="522606"/>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40" name="文字方塊 39"/>
          <p:cNvSpPr txBox="1"/>
          <p:nvPr/>
        </p:nvSpPr>
        <p:spPr>
          <a:xfrm>
            <a:off x="6958213" y="5440671"/>
            <a:ext cx="1063249" cy="523220"/>
          </a:xfrm>
          <a:prstGeom prst="rect">
            <a:avLst/>
          </a:prstGeom>
          <a:noFill/>
        </p:spPr>
        <p:txBody>
          <a:bodyPr wrap="square" rtlCol="0">
            <a:spAutoFit/>
          </a:bodyPr>
          <a:lstStyle/>
          <a:p>
            <a:pPr algn="ctr"/>
            <a:r>
              <a:rPr lang="en-US" altLang="zh-TW" sz="2800" b="1" dirty="0"/>
              <a:t>……</a:t>
            </a:r>
            <a:endParaRPr lang="zh-TW" altLang="en-US" sz="2800" b="1" dirty="0"/>
          </a:p>
        </p:txBody>
      </p:sp>
      <p:cxnSp>
        <p:nvCxnSpPr>
          <p:cNvPr id="44" name="直線單箭頭接點 43"/>
          <p:cNvCxnSpPr/>
          <p:nvPr/>
        </p:nvCxnSpPr>
        <p:spPr>
          <a:xfrm flipV="1">
            <a:off x="7878704" y="1747217"/>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8552577" y="1792057"/>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文字方塊 57"/>
          <p:cNvSpPr txBox="1"/>
          <p:nvPr/>
        </p:nvSpPr>
        <p:spPr>
          <a:xfrm>
            <a:off x="298457" y="6108623"/>
            <a:ext cx="1051149" cy="461665"/>
          </a:xfrm>
          <a:prstGeom prst="rect">
            <a:avLst/>
          </a:prstGeom>
          <a:noFill/>
        </p:spPr>
        <p:txBody>
          <a:bodyPr wrap="square" rtlCol="0">
            <a:spAutoFit/>
          </a:bodyPr>
          <a:lstStyle/>
          <a:p>
            <a:pPr algn="ctr"/>
            <a:r>
              <a:rPr lang="en-US" altLang="zh-TW" sz="2400" dirty="0"/>
              <a:t>Q1</a:t>
            </a:r>
            <a:endParaRPr lang="zh-TW" altLang="en-US" sz="2400" dirty="0"/>
          </a:p>
        </p:txBody>
      </p:sp>
      <p:sp>
        <p:nvSpPr>
          <p:cNvPr id="59" name="文字方塊 58"/>
          <p:cNvSpPr txBox="1"/>
          <p:nvPr/>
        </p:nvSpPr>
        <p:spPr>
          <a:xfrm>
            <a:off x="3083566" y="6149393"/>
            <a:ext cx="1051149" cy="461665"/>
          </a:xfrm>
          <a:prstGeom prst="rect">
            <a:avLst/>
          </a:prstGeom>
          <a:noFill/>
        </p:spPr>
        <p:txBody>
          <a:bodyPr wrap="square" rtlCol="0">
            <a:spAutoFit/>
          </a:bodyPr>
          <a:lstStyle/>
          <a:p>
            <a:pPr algn="ctr"/>
            <a:r>
              <a:rPr lang="en-US" altLang="zh-TW" sz="2400" dirty="0"/>
              <a:t>Q2</a:t>
            </a:r>
            <a:endParaRPr lang="zh-TW" altLang="en-US" sz="2400" dirty="0"/>
          </a:p>
        </p:txBody>
      </p:sp>
      <p:sp>
        <p:nvSpPr>
          <p:cNvPr id="60" name="文字方塊 59"/>
          <p:cNvSpPr txBox="1"/>
          <p:nvPr/>
        </p:nvSpPr>
        <p:spPr>
          <a:xfrm>
            <a:off x="7501428" y="2988999"/>
            <a:ext cx="1051149" cy="461665"/>
          </a:xfrm>
          <a:prstGeom prst="rect">
            <a:avLst/>
          </a:prstGeom>
          <a:noFill/>
        </p:spPr>
        <p:txBody>
          <a:bodyPr wrap="square" rtlCol="0">
            <a:spAutoFit/>
          </a:bodyPr>
          <a:lstStyle/>
          <a:p>
            <a:pPr algn="ctr"/>
            <a:r>
              <a:rPr lang="en-US" altLang="zh-TW" sz="2400" dirty="0"/>
              <a:t>Q100</a:t>
            </a:r>
            <a:endParaRPr lang="zh-TW" altLang="en-US" sz="2400" dirty="0"/>
          </a:p>
        </p:txBody>
      </p:sp>
      <p:sp>
        <p:nvSpPr>
          <p:cNvPr id="61" name="文字方塊 60"/>
          <p:cNvSpPr txBox="1"/>
          <p:nvPr/>
        </p:nvSpPr>
        <p:spPr>
          <a:xfrm>
            <a:off x="5868675" y="6185408"/>
            <a:ext cx="1051149" cy="461665"/>
          </a:xfrm>
          <a:prstGeom prst="rect">
            <a:avLst/>
          </a:prstGeom>
          <a:noFill/>
        </p:spPr>
        <p:txBody>
          <a:bodyPr wrap="square" rtlCol="0">
            <a:spAutoFit/>
          </a:bodyPr>
          <a:lstStyle/>
          <a:p>
            <a:pPr algn="ctr"/>
            <a:r>
              <a:rPr lang="en-US" altLang="zh-TW" sz="2400" dirty="0"/>
              <a:t>Q3</a:t>
            </a:r>
            <a:endParaRPr lang="zh-TW" altLang="en-US" sz="2400" dirty="0"/>
          </a:p>
        </p:txBody>
      </p:sp>
      <p:sp>
        <p:nvSpPr>
          <p:cNvPr id="3" name="矩形: 圓角 2"/>
          <p:cNvSpPr/>
          <p:nvPr/>
        </p:nvSpPr>
        <p:spPr>
          <a:xfrm>
            <a:off x="3817257" y="4037976"/>
            <a:ext cx="1879593" cy="552602"/>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Read</a:t>
            </a:r>
            <a:endParaRPr lang="zh-TW" altLang="en-US" sz="2400" dirty="0"/>
          </a:p>
        </p:txBody>
      </p:sp>
      <p:cxnSp>
        <p:nvCxnSpPr>
          <p:cNvPr id="5" name="直線單箭頭接點 4"/>
          <p:cNvCxnSpPr/>
          <p:nvPr/>
        </p:nvCxnSpPr>
        <p:spPr>
          <a:xfrm flipV="1">
            <a:off x="4728720" y="4610100"/>
            <a:ext cx="0" cy="53309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文字方塊 6"/>
          <p:cNvSpPr txBox="1"/>
          <p:nvPr/>
        </p:nvSpPr>
        <p:spPr>
          <a:xfrm>
            <a:off x="1896060" y="4077119"/>
            <a:ext cx="2100993" cy="523220"/>
          </a:xfrm>
          <a:prstGeom prst="rect">
            <a:avLst/>
          </a:prstGeom>
          <a:noFill/>
        </p:spPr>
        <p:txBody>
          <a:bodyPr wrap="square" rtlCol="0">
            <a:spAutoFit/>
          </a:bodyPr>
          <a:lstStyle/>
          <a:p>
            <a:pPr algn="ctr"/>
            <a:r>
              <a:rPr lang="en-US" altLang="zh-TW" sz="2800" dirty="0">
                <a:solidFill>
                  <a:schemeClr val="dk1"/>
                </a:solidFill>
              </a:rPr>
              <a:t>Retrieval</a:t>
            </a:r>
            <a:endParaRPr lang="en-US" altLang="zh-TW" sz="2800" dirty="0">
              <a:solidFill>
                <a:schemeClr val="dk1"/>
              </a:solidFill>
            </a:endParaRPr>
          </a:p>
        </p:txBody>
      </p:sp>
      <p:sp>
        <p:nvSpPr>
          <p:cNvPr id="8" name="文字方塊 7"/>
          <p:cNvSpPr txBox="1"/>
          <p:nvPr/>
        </p:nvSpPr>
        <p:spPr>
          <a:xfrm>
            <a:off x="8556546" y="2279900"/>
            <a:ext cx="1063249" cy="523220"/>
          </a:xfrm>
          <a:prstGeom prst="rect">
            <a:avLst/>
          </a:prstGeom>
          <a:noFill/>
        </p:spPr>
        <p:txBody>
          <a:bodyPr wrap="square" rtlCol="0">
            <a:spAutoFit/>
          </a:bodyPr>
          <a:lstStyle/>
          <a:p>
            <a:pPr algn="ctr"/>
            <a:r>
              <a:rPr lang="en-US" altLang="zh-TW" sz="2800" b="1" dirty="0"/>
              <a:t>……</a:t>
            </a:r>
            <a:endParaRPr lang="zh-TW" altLang="en-US" sz="2800" b="1" dirty="0"/>
          </a:p>
        </p:txBody>
      </p:sp>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4982" y="2197953"/>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949" y="2197953"/>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9817" y="2197953"/>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73883" y="2197953"/>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6850" y="2197953"/>
            <a:ext cx="719999" cy="720000"/>
          </a:xfrm>
          <a:prstGeom prst="rect">
            <a:avLst/>
          </a:prstGeom>
          <a:noFill/>
          <a:extLst>
            <a:ext uri="{909E8E84-426E-40DD-AFC4-6F175D3DCCD1}">
              <a14:hiddenFill xmlns:a14="http://schemas.microsoft.com/office/drawing/2010/main">
                <a:solidFill>
                  <a:srgbClr val="FFFFFF"/>
                </a:solidFill>
              </a14:hiddenFill>
            </a:ext>
          </a:extLst>
        </p:spPr>
      </p:pic>
      <p:sp>
        <p:nvSpPr>
          <p:cNvPr id="19" name="文字方塊 18"/>
          <p:cNvSpPr txBox="1"/>
          <p:nvPr/>
        </p:nvSpPr>
        <p:spPr>
          <a:xfrm>
            <a:off x="1821828" y="2884097"/>
            <a:ext cx="1051149" cy="461665"/>
          </a:xfrm>
          <a:prstGeom prst="rect">
            <a:avLst/>
          </a:prstGeom>
          <a:noFill/>
        </p:spPr>
        <p:txBody>
          <a:bodyPr wrap="square" rtlCol="0">
            <a:spAutoFit/>
          </a:bodyPr>
          <a:lstStyle/>
          <a:p>
            <a:pPr algn="ctr"/>
            <a:r>
              <a:rPr lang="en-US" altLang="zh-TW" sz="2400" dirty="0"/>
              <a:t>Q59</a:t>
            </a:r>
            <a:endParaRPr lang="zh-TW" altLang="en-US" sz="2400" dirty="0"/>
          </a:p>
        </p:txBody>
      </p:sp>
      <p:sp>
        <p:nvSpPr>
          <p:cNvPr id="23" name="文字方塊 22"/>
          <p:cNvSpPr txBox="1"/>
          <p:nvPr/>
        </p:nvSpPr>
        <p:spPr>
          <a:xfrm>
            <a:off x="4591105" y="2906675"/>
            <a:ext cx="1051149" cy="461665"/>
          </a:xfrm>
          <a:prstGeom prst="rect">
            <a:avLst/>
          </a:prstGeom>
          <a:noFill/>
        </p:spPr>
        <p:txBody>
          <a:bodyPr wrap="square" rtlCol="0">
            <a:spAutoFit/>
          </a:bodyPr>
          <a:lstStyle/>
          <a:p>
            <a:pPr algn="ctr"/>
            <a:r>
              <a:rPr lang="en-US" altLang="zh-TW" sz="2400" dirty="0"/>
              <a:t>Q78</a:t>
            </a:r>
            <a:endParaRPr lang="zh-TW" altLang="en-US" sz="2400" dirty="0"/>
          </a:p>
        </p:txBody>
      </p:sp>
      <p:pic>
        <p:nvPicPr>
          <p:cNvPr id="2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5259" y="5475132"/>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59325" y="5475132"/>
            <a:ext cx="719999" cy="7200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2292" y="5475132"/>
            <a:ext cx="719999" cy="720000"/>
          </a:xfrm>
          <a:prstGeom prst="rect">
            <a:avLst/>
          </a:prstGeom>
          <a:noFill/>
          <a:extLst>
            <a:ext uri="{909E8E84-426E-40DD-AFC4-6F175D3DCCD1}">
              <a14:hiddenFill xmlns:a14="http://schemas.microsoft.com/office/drawing/2010/main">
                <a:solidFill>
                  <a:srgbClr val="FFFFFF"/>
                </a:solidFill>
              </a14:hiddenFill>
            </a:ext>
          </a:extLst>
        </p:spPr>
      </p:pic>
      <p:sp>
        <p:nvSpPr>
          <p:cNvPr id="35" name="文字方塊 34"/>
          <p:cNvSpPr txBox="1"/>
          <p:nvPr/>
        </p:nvSpPr>
        <p:spPr>
          <a:xfrm>
            <a:off x="7876547" y="6183854"/>
            <a:ext cx="1051149" cy="461665"/>
          </a:xfrm>
          <a:prstGeom prst="rect">
            <a:avLst/>
          </a:prstGeom>
          <a:noFill/>
        </p:spPr>
        <p:txBody>
          <a:bodyPr wrap="square" rtlCol="0">
            <a:spAutoFit/>
          </a:bodyPr>
          <a:lstStyle/>
          <a:p>
            <a:pPr algn="ctr"/>
            <a:r>
              <a:rPr lang="en-US" altLang="zh-TW" sz="2400" dirty="0"/>
              <a:t>Q99</a:t>
            </a:r>
            <a:endParaRPr lang="zh-TW" altLang="en-US" sz="2400" dirty="0"/>
          </a:p>
        </p:txBody>
      </p:sp>
      <p:cxnSp>
        <p:nvCxnSpPr>
          <p:cNvPr id="39" name="直線單箭頭接點 38"/>
          <p:cNvCxnSpPr/>
          <p:nvPr/>
        </p:nvCxnSpPr>
        <p:spPr>
          <a:xfrm flipV="1">
            <a:off x="4728720" y="3450664"/>
            <a:ext cx="0" cy="53309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6509" y="2164097"/>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1" name="文字方塊 10"/>
          <p:cNvSpPr txBox="1"/>
          <p:nvPr/>
        </p:nvSpPr>
        <p:spPr>
          <a:xfrm>
            <a:off x="4507241" y="4072239"/>
            <a:ext cx="6118018"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PMingLiU" panose="02020500000000000000" pitchFamily="18" charset="-120"/>
                <a:cs typeface="+mn-cs"/>
              </a:rPr>
              <a:t>Negative feedback is unhelpful.</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PMingLiU" panose="02020500000000000000" pitchFamily="18" charset="-120"/>
              <a:cs typeface="+mn-cs"/>
            </a:endParaRPr>
          </a:p>
        </p:txBody>
      </p:sp>
      <p:sp>
        <p:nvSpPr>
          <p:cNvPr id="12" name="矩形: 圓角 11"/>
          <p:cNvSpPr/>
          <p:nvPr/>
        </p:nvSpPr>
        <p:spPr>
          <a:xfrm>
            <a:off x="1781809" y="2128370"/>
            <a:ext cx="2862752" cy="1146517"/>
          </a:xfrm>
          <a:prstGeom prst="round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dirty="0">
              <a:solidFill>
                <a:schemeClr val="tx1"/>
              </a:solidFill>
            </a:endParaRPr>
          </a:p>
        </p:txBody>
      </p:sp>
      <p:sp>
        <p:nvSpPr>
          <p:cNvPr id="26" name="矩形: 圓角 25"/>
          <p:cNvSpPr/>
          <p:nvPr/>
        </p:nvSpPr>
        <p:spPr>
          <a:xfrm>
            <a:off x="4657721" y="2131483"/>
            <a:ext cx="2862752" cy="1146517"/>
          </a:xfrm>
          <a:prstGeom prst="round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StreamBench</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文字方塊 3"/>
          <p:cNvSpPr txBox="1"/>
          <p:nvPr/>
        </p:nvSpPr>
        <p:spPr>
          <a:xfrm>
            <a:off x="891050" y="1210663"/>
            <a:ext cx="60997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https://arxiv.org/abs/2406.08747</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6" name="圖片 5"/>
          <p:cNvPicPr>
            <a:picLocks noChangeAspect="1"/>
          </p:cNvPicPr>
          <p:nvPr/>
        </p:nvPicPr>
        <p:blipFill>
          <a:blip r:embed="rId1"/>
          <a:stretch>
            <a:fillRect/>
          </a:stretch>
        </p:blipFill>
        <p:spPr>
          <a:xfrm>
            <a:off x="2412030" y="1902958"/>
            <a:ext cx="7710840" cy="419667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cs typeface="Gisha" panose="020F0502020204030204" pitchFamily="34" charset="-79"/>
              </a:rPr>
              <a:t>根據經驗調整行為</a:t>
            </a:r>
            <a:endParaRPr lang="zh-TW" altLang="en-US" dirty="0"/>
          </a:p>
        </p:txBody>
      </p:sp>
      <p:sp>
        <p:nvSpPr>
          <p:cNvPr id="28" name="矩形: 圓角 27"/>
          <p:cNvSpPr/>
          <p:nvPr/>
        </p:nvSpPr>
        <p:spPr>
          <a:xfrm>
            <a:off x="5873067" y="1829745"/>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10000</a:t>
            </a:r>
            <a:endParaRPr lang="zh-TW" altLang="en-US" sz="2400" dirty="0"/>
          </a:p>
        </p:txBody>
      </p:sp>
      <p:pic>
        <p:nvPicPr>
          <p:cNvPr id="3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07422" y="284045"/>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直線單箭頭接點 31"/>
          <p:cNvCxnSpPr/>
          <p:nvPr/>
        </p:nvCxnSpPr>
        <p:spPr>
          <a:xfrm flipV="1">
            <a:off x="6617022" y="1330422"/>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a:off x="7902072" y="1314182"/>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33"/>
          <p:cNvSpPr txBox="1"/>
          <p:nvPr/>
        </p:nvSpPr>
        <p:spPr>
          <a:xfrm>
            <a:off x="2131869" y="6044453"/>
            <a:ext cx="5560248" cy="523220"/>
          </a:xfrm>
          <a:prstGeom prst="rect">
            <a:avLst/>
          </a:prstGeom>
          <a:noFill/>
        </p:spPr>
        <p:txBody>
          <a:bodyPr wrap="square" rtlCol="0">
            <a:spAutoFit/>
          </a:bodyPr>
          <a:lstStyle/>
          <a:p>
            <a:pPr algn="ctr"/>
            <a:r>
              <a:rPr lang="en-US" altLang="zh-TW" sz="2800" dirty="0">
                <a:ea typeface="Microsoft JhengHei" panose="020B0604030504040204" pitchFamily="34" charset="-120"/>
              </a:rPr>
              <a:t>Agent’s Memory </a:t>
            </a:r>
            <a:endParaRPr lang="zh-TW" altLang="en-US" sz="2800" dirty="0">
              <a:ea typeface="Microsoft JhengHei" panose="020B0604030504040204" pitchFamily="34" charset="-120"/>
            </a:endParaRPr>
          </a:p>
        </p:txBody>
      </p:sp>
      <p:sp>
        <p:nvSpPr>
          <p:cNvPr id="3" name="矩形: 圓角 2"/>
          <p:cNvSpPr/>
          <p:nvPr/>
        </p:nvSpPr>
        <p:spPr>
          <a:xfrm>
            <a:off x="966506" y="5422135"/>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goal</a:t>
            </a:r>
            <a:endParaRPr lang="zh-TW" altLang="en-US" sz="2400" dirty="0"/>
          </a:p>
        </p:txBody>
      </p:sp>
      <p:sp>
        <p:nvSpPr>
          <p:cNvPr id="4" name="矩形: 圓角 3"/>
          <p:cNvSpPr/>
          <p:nvPr/>
        </p:nvSpPr>
        <p:spPr>
          <a:xfrm>
            <a:off x="2766506" y="5426900"/>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5" name="矩形: 圓角 4"/>
          <p:cNvSpPr/>
          <p:nvPr/>
        </p:nvSpPr>
        <p:spPr>
          <a:xfrm>
            <a:off x="4571681" y="5423969"/>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8" name="文字方塊 7"/>
          <p:cNvSpPr txBox="1"/>
          <p:nvPr/>
        </p:nvSpPr>
        <p:spPr>
          <a:xfrm>
            <a:off x="6384093" y="5280505"/>
            <a:ext cx="1418850"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2" name="矩形: 圓角 11"/>
          <p:cNvSpPr/>
          <p:nvPr/>
        </p:nvSpPr>
        <p:spPr>
          <a:xfrm>
            <a:off x="7693186" y="544922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9999</a:t>
            </a:r>
            <a:endParaRPr lang="zh-TW" altLang="en-US" sz="2400" dirty="0"/>
          </a:p>
        </p:txBody>
      </p:sp>
      <p:sp>
        <p:nvSpPr>
          <p:cNvPr id="15" name="矩形: 圓角 14"/>
          <p:cNvSpPr/>
          <p:nvPr/>
        </p:nvSpPr>
        <p:spPr>
          <a:xfrm>
            <a:off x="9498361" y="5446291"/>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9999</a:t>
            </a:r>
            <a:endParaRPr lang="zh-TW" altLang="en-US" sz="2400" dirty="0"/>
          </a:p>
        </p:txBody>
      </p:sp>
      <p:sp>
        <p:nvSpPr>
          <p:cNvPr id="20" name="矩形: 圓角 19"/>
          <p:cNvSpPr/>
          <p:nvPr/>
        </p:nvSpPr>
        <p:spPr>
          <a:xfrm>
            <a:off x="1132417" y="1822293"/>
            <a:ext cx="4708686" cy="360001"/>
          </a:xfrm>
          <a:prstGeom prst="round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rPr>
              <a:t>Relevant</a:t>
            </a:r>
            <a:r>
              <a:rPr lang="zh-TW" altLang="en-US" sz="2400" dirty="0">
                <a:solidFill>
                  <a:schemeClr val="tx1"/>
                </a:solidFill>
              </a:rPr>
              <a:t> </a:t>
            </a:r>
            <a:r>
              <a:rPr lang="en-US" altLang="zh-TW" sz="2400" dirty="0">
                <a:solidFill>
                  <a:schemeClr val="tx1"/>
                </a:solidFill>
              </a:rPr>
              <a:t>Experience </a:t>
            </a:r>
            <a:endParaRPr lang="zh-TW" altLang="en-US" sz="2400" dirty="0">
              <a:solidFill>
                <a:schemeClr val="tx1"/>
              </a:solidFill>
            </a:endParaRPr>
          </a:p>
        </p:txBody>
      </p:sp>
      <p:sp>
        <p:nvSpPr>
          <p:cNvPr id="6" name="矩形: 圓角 5"/>
          <p:cNvSpPr/>
          <p:nvPr/>
        </p:nvSpPr>
        <p:spPr>
          <a:xfrm>
            <a:off x="7692117" y="1823395"/>
            <a:ext cx="1836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10000</a:t>
            </a:r>
            <a:endParaRPr lang="zh-TW" altLang="en-US" sz="2400" dirty="0"/>
          </a:p>
        </p:txBody>
      </p:sp>
      <p:sp>
        <p:nvSpPr>
          <p:cNvPr id="7" name="文字方塊 6"/>
          <p:cNvSpPr txBox="1"/>
          <p:nvPr/>
        </p:nvSpPr>
        <p:spPr>
          <a:xfrm>
            <a:off x="7229706" y="3428151"/>
            <a:ext cx="2063068" cy="523220"/>
          </a:xfrm>
          <a:prstGeom prst="rect">
            <a:avLst/>
          </a:prstGeom>
          <a:noFill/>
        </p:spPr>
        <p:txBody>
          <a:bodyPr wrap="square" rtlCol="0">
            <a:spAutoFit/>
          </a:bodyPr>
          <a:lstStyle/>
          <a:p>
            <a:pPr algn="r"/>
            <a:r>
              <a:rPr lang="zh-TW" altLang="en-US" sz="2800" dirty="0">
                <a:latin typeface="Microsoft JhengHei" panose="020B0604030504040204" pitchFamily="34" charset="-120"/>
                <a:ea typeface="Microsoft JhengHei" panose="020B0604030504040204" pitchFamily="34" charset="-120"/>
              </a:rPr>
              <a:t>記下來？</a:t>
            </a:r>
            <a:endParaRPr lang="zh-TW" altLang="en-US" sz="2800" dirty="0">
              <a:latin typeface="Microsoft JhengHei" panose="020B0604030504040204" pitchFamily="34" charset="-120"/>
              <a:ea typeface="Microsoft JhengHei" panose="020B0604030504040204" pitchFamily="34" charset="-120"/>
            </a:endParaRPr>
          </a:p>
        </p:txBody>
      </p:sp>
      <p:sp>
        <p:nvSpPr>
          <p:cNvPr id="9" name="矩形: 圓角 8"/>
          <p:cNvSpPr/>
          <p:nvPr/>
        </p:nvSpPr>
        <p:spPr>
          <a:xfrm>
            <a:off x="5700409" y="1738933"/>
            <a:ext cx="5778231" cy="523220"/>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箭號: 向下 9"/>
          <p:cNvSpPr/>
          <p:nvPr/>
        </p:nvSpPr>
        <p:spPr>
          <a:xfrm>
            <a:off x="9109312" y="2431915"/>
            <a:ext cx="782734" cy="276378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4" name="文字方塊 13"/>
          <p:cNvSpPr txBox="1"/>
          <p:nvPr/>
        </p:nvSpPr>
        <p:spPr>
          <a:xfrm>
            <a:off x="5918392" y="6049950"/>
            <a:ext cx="5560248" cy="523220"/>
          </a:xfrm>
          <a:prstGeom prst="rect">
            <a:avLst/>
          </a:prstGeom>
          <a:noFill/>
        </p:spPr>
        <p:txBody>
          <a:bodyPr wrap="square" rtlCol="0">
            <a:spAutoFit/>
          </a:bodyPr>
          <a:lstStyle/>
          <a:p>
            <a:pPr algn="ctr"/>
            <a:r>
              <a:rPr lang="en-US" altLang="zh-TW" sz="2800" dirty="0">
                <a:latin typeface="Microsoft JhengHei" panose="020B0604030504040204" pitchFamily="34" charset="-120"/>
                <a:ea typeface="Microsoft JhengHei" panose="020B0604030504040204" pitchFamily="34" charset="-120"/>
              </a:rPr>
              <a:t>(</a:t>
            </a:r>
            <a:r>
              <a:rPr lang="zh-TW" altLang="en-US" sz="2800" dirty="0">
                <a:latin typeface="Microsoft JhengHei" panose="020B0604030504040204" pitchFamily="34" charset="-120"/>
                <a:ea typeface="Microsoft JhengHei" panose="020B0604030504040204" pitchFamily="34" charset="-120"/>
              </a:rPr>
              <a:t>被雞毛蒜皮的小事塞爆</a:t>
            </a:r>
            <a:r>
              <a:rPr lang="en-US" altLang="zh-TW" sz="2800" dirty="0">
                <a:latin typeface="Microsoft JhengHei" panose="020B0604030504040204" pitchFamily="34" charset="-120"/>
                <a:ea typeface="Microsoft JhengHei" panose="020B0604030504040204" pitchFamily="34" charset="-120"/>
              </a:rPr>
              <a:t>)</a:t>
            </a:r>
            <a:endParaRPr lang="zh-TW" altLang="en-US" sz="2800" dirty="0">
              <a:latin typeface="Microsoft JhengHei" panose="020B0604030504040204" pitchFamily="34" charset="-120"/>
              <a:ea typeface="Microsoft JhengHei" panose="020B0604030504040204" pitchFamily="34" charset="-120"/>
            </a:endParaRPr>
          </a:p>
        </p:txBody>
      </p:sp>
      <p:sp>
        <p:nvSpPr>
          <p:cNvPr id="16" name="矩形: 圓角 15"/>
          <p:cNvSpPr/>
          <p:nvPr/>
        </p:nvSpPr>
        <p:spPr>
          <a:xfrm>
            <a:off x="9554272" y="1828767"/>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10001</a:t>
            </a:r>
            <a:endParaRPr lang="zh-TW"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animBg="1"/>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cs typeface="Gisha" panose="020F0502020204030204" pitchFamily="34" charset="-79"/>
              </a:rPr>
              <a:t>根據經驗調整行為</a:t>
            </a:r>
            <a:endParaRPr lang="zh-TW" altLang="en-US" dirty="0"/>
          </a:p>
        </p:txBody>
      </p:sp>
      <p:sp>
        <p:nvSpPr>
          <p:cNvPr id="28" name="矩形: 圓角 27"/>
          <p:cNvSpPr/>
          <p:nvPr/>
        </p:nvSpPr>
        <p:spPr>
          <a:xfrm>
            <a:off x="5873067" y="1829745"/>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10000</a:t>
            </a:r>
            <a:endParaRPr lang="zh-TW" altLang="en-US" sz="2400" dirty="0"/>
          </a:p>
        </p:txBody>
      </p:sp>
      <p:pic>
        <p:nvPicPr>
          <p:cNvPr id="3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07422" y="284045"/>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直線單箭頭接點 31"/>
          <p:cNvCxnSpPr/>
          <p:nvPr/>
        </p:nvCxnSpPr>
        <p:spPr>
          <a:xfrm flipV="1">
            <a:off x="6617022" y="1330422"/>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a:off x="7902072" y="1314182"/>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矩形: 圓角 2"/>
          <p:cNvSpPr/>
          <p:nvPr/>
        </p:nvSpPr>
        <p:spPr>
          <a:xfrm>
            <a:off x="966506" y="5422135"/>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goal</a:t>
            </a:r>
            <a:endParaRPr lang="zh-TW" altLang="en-US" sz="2400" dirty="0"/>
          </a:p>
        </p:txBody>
      </p:sp>
      <p:sp>
        <p:nvSpPr>
          <p:cNvPr id="4" name="矩形: 圓角 3"/>
          <p:cNvSpPr/>
          <p:nvPr/>
        </p:nvSpPr>
        <p:spPr>
          <a:xfrm>
            <a:off x="2766506" y="5426900"/>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5" name="矩形: 圓角 4"/>
          <p:cNvSpPr/>
          <p:nvPr/>
        </p:nvSpPr>
        <p:spPr>
          <a:xfrm>
            <a:off x="4571681" y="5423969"/>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8" name="文字方塊 7"/>
          <p:cNvSpPr txBox="1"/>
          <p:nvPr/>
        </p:nvSpPr>
        <p:spPr>
          <a:xfrm>
            <a:off x="6384093" y="5280505"/>
            <a:ext cx="1418850"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2" name="矩形: 圓角 11"/>
          <p:cNvSpPr/>
          <p:nvPr/>
        </p:nvSpPr>
        <p:spPr>
          <a:xfrm>
            <a:off x="7693186" y="544922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9999</a:t>
            </a:r>
            <a:endParaRPr lang="zh-TW" altLang="en-US" sz="2400" dirty="0"/>
          </a:p>
        </p:txBody>
      </p:sp>
      <p:sp>
        <p:nvSpPr>
          <p:cNvPr id="15" name="矩形: 圓角 14"/>
          <p:cNvSpPr/>
          <p:nvPr/>
        </p:nvSpPr>
        <p:spPr>
          <a:xfrm>
            <a:off x="9498361" y="5446291"/>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9999</a:t>
            </a:r>
            <a:endParaRPr lang="zh-TW" altLang="en-US" sz="2400" dirty="0"/>
          </a:p>
        </p:txBody>
      </p:sp>
      <p:sp>
        <p:nvSpPr>
          <p:cNvPr id="20" name="矩形: 圓角 19"/>
          <p:cNvSpPr/>
          <p:nvPr/>
        </p:nvSpPr>
        <p:spPr>
          <a:xfrm>
            <a:off x="1132417" y="1822293"/>
            <a:ext cx="4708686" cy="360001"/>
          </a:xfrm>
          <a:prstGeom prst="round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rPr>
              <a:t>Relevant</a:t>
            </a:r>
            <a:r>
              <a:rPr lang="zh-TW" altLang="en-US" sz="2400" dirty="0">
                <a:solidFill>
                  <a:schemeClr val="tx1"/>
                </a:solidFill>
              </a:rPr>
              <a:t> </a:t>
            </a:r>
            <a:r>
              <a:rPr lang="en-US" altLang="zh-TW" sz="2400" dirty="0">
                <a:solidFill>
                  <a:schemeClr val="tx1"/>
                </a:solidFill>
              </a:rPr>
              <a:t>Experience </a:t>
            </a:r>
            <a:endParaRPr lang="zh-TW" altLang="en-US" sz="2400" dirty="0">
              <a:solidFill>
                <a:schemeClr val="tx1"/>
              </a:solidFill>
            </a:endParaRPr>
          </a:p>
        </p:txBody>
      </p:sp>
      <p:sp>
        <p:nvSpPr>
          <p:cNvPr id="6" name="矩形: 圓角 5"/>
          <p:cNvSpPr/>
          <p:nvPr/>
        </p:nvSpPr>
        <p:spPr>
          <a:xfrm>
            <a:off x="7692117" y="1823395"/>
            <a:ext cx="1836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10000</a:t>
            </a:r>
            <a:endParaRPr lang="zh-TW" altLang="en-US" sz="2400" dirty="0"/>
          </a:p>
        </p:txBody>
      </p:sp>
      <p:sp>
        <p:nvSpPr>
          <p:cNvPr id="9" name="矩形: 圓角 8"/>
          <p:cNvSpPr/>
          <p:nvPr/>
        </p:nvSpPr>
        <p:spPr>
          <a:xfrm>
            <a:off x="5700409" y="1738933"/>
            <a:ext cx="5778231" cy="523220"/>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圓角 15"/>
          <p:cNvSpPr/>
          <p:nvPr/>
        </p:nvSpPr>
        <p:spPr>
          <a:xfrm>
            <a:off x="9554272" y="1828767"/>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10001</a:t>
            </a:r>
            <a:endParaRPr lang="zh-TW" altLang="en-US" sz="2400" dirty="0"/>
          </a:p>
        </p:txBody>
      </p:sp>
      <p:sp>
        <p:nvSpPr>
          <p:cNvPr id="17" name="矩形: 圓角 16"/>
          <p:cNvSpPr/>
          <p:nvPr/>
        </p:nvSpPr>
        <p:spPr>
          <a:xfrm>
            <a:off x="8792342" y="3224590"/>
            <a:ext cx="1582346" cy="1028736"/>
          </a:xfrm>
          <a:prstGeom prst="roundRect">
            <a:avLst/>
          </a:prstGeom>
          <a:solidFill>
            <a:schemeClr val="accent4">
              <a:lumMod val="20000"/>
              <a:lumOff val="8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Write</a:t>
            </a:r>
            <a:endParaRPr lang="en-US" altLang="zh-TW" sz="2400" dirty="0"/>
          </a:p>
        </p:txBody>
      </p:sp>
      <p:cxnSp>
        <p:nvCxnSpPr>
          <p:cNvPr id="18" name="直線單箭頭接點 17"/>
          <p:cNvCxnSpPr/>
          <p:nvPr/>
        </p:nvCxnSpPr>
        <p:spPr>
          <a:xfrm>
            <a:off x="9544200" y="2347403"/>
            <a:ext cx="0" cy="79936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直線單箭頭接點 18"/>
          <p:cNvCxnSpPr/>
          <p:nvPr/>
        </p:nvCxnSpPr>
        <p:spPr>
          <a:xfrm>
            <a:off x="9563655" y="4270045"/>
            <a:ext cx="0" cy="97155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文字方塊 6"/>
          <p:cNvSpPr txBox="1"/>
          <p:nvPr/>
        </p:nvSpPr>
        <p:spPr>
          <a:xfrm>
            <a:off x="2131869" y="6044453"/>
            <a:ext cx="5560248" cy="523220"/>
          </a:xfrm>
          <a:prstGeom prst="rect">
            <a:avLst/>
          </a:prstGeom>
          <a:noFill/>
        </p:spPr>
        <p:txBody>
          <a:bodyPr wrap="square" rtlCol="0">
            <a:spAutoFit/>
          </a:bodyPr>
          <a:lstStyle/>
          <a:p>
            <a:pPr algn="ctr"/>
            <a:r>
              <a:rPr lang="en-US" altLang="zh-TW" sz="2800" dirty="0">
                <a:ea typeface="Microsoft JhengHei" panose="020B0604030504040204" pitchFamily="34" charset="-120"/>
              </a:rPr>
              <a:t>Agent’s Memory </a:t>
            </a:r>
            <a:endParaRPr lang="zh-TW" altLang="en-US" sz="2800" dirty="0">
              <a:ea typeface="Microsoft JhengHei" panose="020B0604030504040204" pitchFamily="34" charset="-120"/>
            </a:endParaRPr>
          </a:p>
        </p:txBody>
      </p:sp>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95215" y="3074544"/>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13" name="語音泡泡: 圓角矩形 12"/>
          <p:cNvSpPr/>
          <p:nvPr/>
        </p:nvSpPr>
        <p:spPr>
          <a:xfrm>
            <a:off x="3414501" y="2950249"/>
            <a:ext cx="3850929" cy="697827"/>
          </a:xfrm>
          <a:prstGeom prst="wedgeRoundRectCallout">
            <a:avLst>
              <a:gd name="adj1" fmla="val 63841"/>
              <a:gd name="adj2" fmla="val 88194"/>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這件事要被記下來嗎？</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cs typeface="Gisha" panose="020F0502020204030204" pitchFamily="34" charset="-79"/>
              </a:rPr>
              <a:t>根據經驗調整行為</a:t>
            </a:r>
            <a:endParaRPr lang="zh-TW" altLang="en-US" dirty="0"/>
          </a:p>
        </p:txBody>
      </p:sp>
      <p:sp>
        <p:nvSpPr>
          <p:cNvPr id="28" name="矩形: 圓角 27"/>
          <p:cNvSpPr/>
          <p:nvPr/>
        </p:nvSpPr>
        <p:spPr>
          <a:xfrm>
            <a:off x="5873067" y="1829745"/>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dirty="0" err="1"/>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10000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3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07422" y="284045"/>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直線單箭頭接點 31"/>
          <p:cNvCxnSpPr/>
          <p:nvPr/>
        </p:nvCxnSpPr>
        <p:spPr>
          <a:xfrm flipV="1">
            <a:off x="6617022" y="1330422"/>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a:off x="7902072" y="1314182"/>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圓角 19"/>
          <p:cNvSpPr/>
          <p:nvPr/>
        </p:nvSpPr>
        <p:spPr>
          <a:xfrm>
            <a:off x="1132417" y="1822293"/>
            <a:ext cx="4708686" cy="360001"/>
          </a:xfrm>
          <a:prstGeom prst="round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Relevant</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Experience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6" name="矩形: 圓角 5"/>
          <p:cNvSpPr/>
          <p:nvPr/>
        </p:nvSpPr>
        <p:spPr>
          <a:xfrm>
            <a:off x="7692117" y="1823395"/>
            <a:ext cx="1836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10000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9" name="矩形: 圓角 8"/>
          <p:cNvSpPr/>
          <p:nvPr/>
        </p:nvSpPr>
        <p:spPr>
          <a:xfrm>
            <a:off x="5700409" y="1738933"/>
            <a:ext cx="5778231" cy="523220"/>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
        <p:nvSpPr>
          <p:cNvPr id="16" name="矩形: 圓角 15"/>
          <p:cNvSpPr/>
          <p:nvPr/>
        </p:nvSpPr>
        <p:spPr>
          <a:xfrm>
            <a:off x="9554272" y="1828767"/>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dirty="0" err="1"/>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10001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7" name="矩形: 圓角 16"/>
          <p:cNvSpPr/>
          <p:nvPr/>
        </p:nvSpPr>
        <p:spPr>
          <a:xfrm>
            <a:off x="8736944" y="2846179"/>
            <a:ext cx="1582346" cy="650829"/>
          </a:xfrm>
          <a:prstGeom prst="roundRect">
            <a:avLst/>
          </a:prstGeom>
          <a:solidFill>
            <a:schemeClr val="accent4">
              <a:lumMod val="20000"/>
              <a:lumOff val="8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Write</a:t>
            </a:r>
            <a:endPar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18" name="直線單箭頭接點 17"/>
          <p:cNvCxnSpPr/>
          <p:nvPr/>
        </p:nvCxnSpPr>
        <p:spPr>
          <a:xfrm>
            <a:off x="9544200" y="2347403"/>
            <a:ext cx="0" cy="4716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矩形: 圓角 6"/>
          <p:cNvSpPr/>
          <p:nvPr/>
        </p:nvSpPr>
        <p:spPr>
          <a:xfrm>
            <a:off x="2766506" y="2819064"/>
            <a:ext cx="1582346" cy="634475"/>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Read</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11" name="直線單箭頭接點 10"/>
          <p:cNvCxnSpPr/>
          <p:nvPr/>
        </p:nvCxnSpPr>
        <p:spPr>
          <a:xfrm flipV="1">
            <a:off x="3560167" y="2275054"/>
            <a:ext cx="0" cy="472032"/>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直線單箭頭接點 39"/>
          <p:cNvCxnSpPr/>
          <p:nvPr/>
        </p:nvCxnSpPr>
        <p:spPr>
          <a:xfrm>
            <a:off x="9554272" y="3532297"/>
            <a:ext cx="0" cy="212147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直線單箭頭接點 40"/>
          <p:cNvCxnSpPr/>
          <p:nvPr/>
        </p:nvCxnSpPr>
        <p:spPr>
          <a:xfrm flipV="1">
            <a:off x="3557679" y="3497008"/>
            <a:ext cx="0" cy="39599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8" name="矩形: 圓角 47"/>
          <p:cNvSpPr/>
          <p:nvPr/>
        </p:nvSpPr>
        <p:spPr>
          <a:xfrm>
            <a:off x="6190560" y="4310393"/>
            <a:ext cx="2540704" cy="634475"/>
          </a:xfrm>
          <a:prstGeom prst="roundRect">
            <a:avLst/>
          </a:prstGeom>
          <a:solidFill>
            <a:schemeClr val="accent6">
              <a:lumMod val="20000"/>
              <a:lumOff val="8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dirty="0">
                <a:solidFill>
                  <a:prstClr val="black"/>
                </a:solidFill>
                <a:latin typeface="Calibri" panose="020F0502020204030204"/>
                <a:ea typeface="PMingLiU" panose="02020500000000000000" pitchFamily="18" charset="-120"/>
              </a:rPr>
              <a:t>Reflection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grpSp>
        <p:nvGrpSpPr>
          <p:cNvPr id="10" name="群組 9"/>
          <p:cNvGrpSpPr/>
          <p:nvPr/>
        </p:nvGrpSpPr>
        <p:grpSpPr>
          <a:xfrm>
            <a:off x="1642814" y="4146280"/>
            <a:ext cx="3724738" cy="875501"/>
            <a:chOff x="1642814" y="4507986"/>
            <a:chExt cx="3724738" cy="875501"/>
          </a:xfrm>
        </p:grpSpPr>
        <p:sp>
          <p:nvSpPr>
            <p:cNvPr id="3" name="矩形: 圓角 2"/>
            <p:cNvSpPr/>
            <p:nvPr/>
          </p:nvSpPr>
          <p:spPr>
            <a:xfrm>
              <a:off x="1642814" y="4507986"/>
              <a:ext cx="1800000" cy="360000"/>
            </a:xfrm>
            <a:prstGeom prst="roundRect">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thought 1</a:t>
              </a:r>
              <a:endParaRPr lang="zh-TW" altLang="en-US" sz="2400" dirty="0"/>
            </a:p>
          </p:txBody>
        </p:sp>
        <p:sp>
          <p:nvSpPr>
            <p:cNvPr id="4" name="矩形: 圓角 3"/>
            <p:cNvSpPr/>
            <p:nvPr/>
          </p:nvSpPr>
          <p:spPr>
            <a:xfrm>
              <a:off x="3567552" y="4507986"/>
              <a:ext cx="1800000" cy="360000"/>
            </a:xfrm>
            <a:prstGeom prst="roundRect">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thought 2</a:t>
              </a:r>
              <a:endParaRPr lang="zh-TW" altLang="en-US" sz="2400" dirty="0"/>
            </a:p>
          </p:txBody>
        </p:sp>
        <p:sp>
          <p:nvSpPr>
            <p:cNvPr id="5" name="矩形: 圓角 4"/>
            <p:cNvSpPr/>
            <p:nvPr/>
          </p:nvSpPr>
          <p:spPr>
            <a:xfrm>
              <a:off x="1642814" y="5023487"/>
              <a:ext cx="1800000" cy="360000"/>
            </a:xfrm>
            <a:prstGeom prst="roundRect">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thought 3</a:t>
              </a:r>
              <a:endParaRPr lang="zh-TW" altLang="en-US" sz="2400" dirty="0"/>
            </a:p>
          </p:txBody>
        </p:sp>
        <p:sp>
          <p:nvSpPr>
            <p:cNvPr id="8" name="矩形: 圓角 7"/>
            <p:cNvSpPr/>
            <p:nvPr/>
          </p:nvSpPr>
          <p:spPr>
            <a:xfrm>
              <a:off x="3567552" y="5023487"/>
              <a:ext cx="1800000" cy="360000"/>
            </a:xfrm>
            <a:prstGeom prst="roundRect">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thought 4</a:t>
              </a:r>
              <a:endParaRPr lang="zh-TW" altLang="en-US" sz="2400" dirty="0"/>
            </a:p>
          </p:txBody>
        </p:sp>
      </p:grpSp>
      <p:sp>
        <p:nvSpPr>
          <p:cNvPr id="12" name="矩形: 圓角 11"/>
          <p:cNvSpPr/>
          <p:nvPr/>
        </p:nvSpPr>
        <p:spPr>
          <a:xfrm>
            <a:off x="687023" y="5653771"/>
            <a:ext cx="10817953" cy="675982"/>
          </a:xfrm>
          <a:prstGeom prst="roundRect">
            <a:avLst/>
          </a:prstGeom>
          <a:noFill/>
          <a:ln w="381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dirty="0">
              <a:solidFill>
                <a:schemeClr val="tx1"/>
              </a:solidFill>
            </a:endParaRPr>
          </a:p>
        </p:txBody>
      </p:sp>
      <p:sp>
        <p:nvSpPr>
          <p:cNvPr id="15" name="矩形: 圓角 14"/>
          <p:cNvSpPr/>
          <p:nvPr/>
        </p:nvSpPr>
        <p:spPr>
          <a:xfrm>
            <a:off x="966506" y="5822185"/>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goal</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9" name="矩形: 圓角 18"/>
          <p:cNvSpPr/>
          <p:nvPr/>
        </p:nvSpPr>
        <p:spPr>
          <a:xfrm>
            <a:off x="2766506" y="5826950"/>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lvl="0" algn="ctr">
              <a:defRPr/>
            </a:pPr>
            <a:r>
              <a:rPr lang="en-US" altLang="zh-TW" sz="2400" dirty="0" err="1"/>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3" name="矩形: 圓角 22"/>
          <p:cNvSpPr/>
          <p:nvPr/>
        </p:nvSpPr>
        <p:spPr>
          <a:xfrm>
            <a:off x="4571681" y="5824019"/>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4" name="文字方塊 23"/>
          <p:cNvSpPr txBox="1"/>
          <p:nvPr/>
        </p:nvSpPr>
        <p:spPr>
          <a:xfrm>
            <a:off x="6384093" y="5680555"/>
            <a:ext cx="141885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6" name="矩形: 圓角 25"/>
          <p:cNvSpPr/>
          <p:nvPr/>
        </p:nvSpPr>
        <p:spPr>
          <a:xfrm>
            <a:off x="7693186" y="584927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lvl="0" algn="ctr">
              <a:defRPr/>
            </a:pPr>
            <a:r>
              <a:rPr lang="en-US" altLang="zh-TW" sz="2400" dirty="0" err="1"/>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9999</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7" name="矩形: 圓角 26"/>
          <p:cNvSpPr/>
          <p:nvPr/>
        </p:nvSpPr>
        <p:spPr>
          <a:xfrm>
            <a:off x="9498361" y="5846341"/>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9999</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30" name="直線單箭頭接點 29"/>
          <p:cNvCxnSpPr>
            <a:endCxn id="48" idx="2"/>
          </p:cNvCxnSpPr>
          <p:nvPr/>
        </p:nvCxnSpPr>
        <p:spPr>
          <a:xfrm flipV="1">
            <a:off x="7460912" y="4944868"/>
            <a:ext cx="0" cy="70890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直線單箭頭接點 36"/>
          <p:cNvCxnSpPr/>
          <p:nvPr/>
        </p:nvCxnSpPr>
        <p:spPr>
          <a:xfrm flipH="1" flipV="1">
            <a:off x="5507882" y="4619059"/>
            <a:ext cx="632567" cy="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矩形: 圓角 49"/>
          <p:cNvSpPr/>
          <p:nvPr/>
        </p:nvSpPr>
        <p:spPr>
          <a:xfrm>
            <a:off x="1422804" y="4012328"/>
            <a:ext cx="4127911" cy="1160669"/>
          </a:xfrm>
          <a:prstGeom prst="roundRect">
            <a:avLst/>
          </a:prstGeom>
          <a:noFill/>
          <a:ln w="381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dirty="0">
              <a:solidFill>
                <a:schemeClr val="tx1"/>
              </a:solidFill>
            </a:endParaRPr>
          </a:p>
        </p:txBody>
      </p:sp>
      <p:sp>
        <p:nvSpPr>
          <p:cNvPr id="56" name="文字方塊 55"/>
          <p:cNvSpPr txBox="1"/>
          <p:nvPr/>
        </p:nvSpPr>
        <p:spPr>
          <a:xfrm>
            <a:off x="6233264" y="3381135"/>
            <a:ext cx="2426213" cy="830997"/>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對於記憶中的資訊做重新整理</a:t>
            </a:r>
            <a:endParaRPr lang="en-US" altLang="zh-TW" sz="24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12" grpId="0" animBg="1"/>
      <p:bldP spid="50" grpId="0" animBg="1"/>
      <p:bldP spid="5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cs typeface="Gisha" panose="020F0502020204030204" pitchFamily="34" charset="-79"/>
              </a:rPr>
              <a:t>根據經驗調整行為</a:t>
            </a:r>
            <a:endParaRPr lang="zh-TW" altLang="en-US" dirty="0"/>
          </a:p>
        </p:txBody>
      </p:sp>
      <p:sp>
        <p:nvSpPr>
          <p:cNvPr id="28" name="矩形: 圓角 27"/>
          <p:cNvSpPr/>
          <p:nvPr/>
        </p:nvSpPr>
        <p:spPr>
          <a:xfrm>
            <a:off x="5873067" y="1829745"/>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dirty="0" err="1"/>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10000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3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07422" y="284045"/>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32" name="直線單箭頭接點 31"/>
          <p:cNvCxnSpPr/>
          <p:nvPr/>
        </p:nvCxnSpPr>
        <p:spPr>
          <a:xfrm flipV="1">
            <a:off x="6617022" y="1330422"/>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a:off x="7902072" y="1314182"/>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圓角 19"/>
          <p:cNvSpPr/>
          <p:nvPr/>
        </p:nvSpPr>
        <p:spPr>
          <a:xfrm>
            <a:off x="1132417" y="1822293"/>
            <a:ext cx="4708686" cy="360001"/>
          </a:xfrm>
          <a:prstGeom prst="roundRect">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Relevant</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Experience </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6" name="矩形: 圓角 5"/>
          <p:cNvSpPr/>
          <p:nvPr/>
        </p:nvSpPr>
        <p:spPr>
          <a:xfrm>
            <a:off x="7692117" y="1823395"/>
            <a:ext cx="1836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10000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9" name="矩形: 圓角 8"/>
          <p:cNvSpPr/>
          <p:nvPr/>
        </p:nvSpPr>
        <p:spPr>
          <a:xfrm>
            <a:off x="5700409" y="1738933"/>
            <a:ext cx="5778231" cy="523220"/>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PMingLiU" panose="02020500000000000000" pitchFamily="18" charset="-120"/>
              <a:cs typeface="+mn-cs"/>
            </a:endParaRPr>
          </a:p>
        </p:txBody>
      </p:sp>
      <p:sp>
        <p:nvSpPr>
          <p:cNvPr id="16" name="矩形: 圓角 15"/>
          <p:cNvSpPr/>
          <p:nvPr/>
        </p:nvSpPr>
        <p:spPr>
          <a:xfrm>
            <a:off x="9554272" y="1828767"/>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dirty="0" err="1"/>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10001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7" name="矩形: 圓角 16"/>
          <p:cNvSpPr/>
          <p:nvPr/>
        </p:nvSpPr>
        <p:spPr>
          <a:xfrm>
            <a:off x="8736944" y="2846179"/>
            <a:ext cx="1582346" cy="650829"/>
          </a:xfrm>
          <a:prstGeom prst="roundRect">
            <a:avLst/>
          </a:prstGeom>
          <a:solidFill>
            <a:schemeClr val="accent4">
              <a:lumMod val="20000"/>
              <a:lumOff val="8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Write</a:t>
            </a:r>
            <a:endPar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18" name="直線單箭頭接點 17"/>
          <p:cNvCxnSpPr/>
          <p:nvPr/>
        </p:nvCxnSpPr>
        <p:spPr>
          <a:xfrm>
            <a:off x="9544200" y="2347403"/>
            <a:ext cx="0" cy="4716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矩形: 圓角 6"/>
          <p:cNvSpPr/>
          <p:nvPr/>
        </p:nvSpPr>
        <p:spPr>
          <a:xfrm>
            <a:off x="2766506" y="2819064"/>
            <a:ext cx="1582346" cy="634475"/>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Read</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11" name="直線單箭頭接點 10"/>
          <p:cNvCxnSpPr/>
          <p:nvPr/>
        </p:nvCxnSpPr>
        <p:spPr>
          <a:xfrm flipV="1">
            <a:off x="3560167" y="2275054"/>
            <a:ext cx="0" cy="472032"/>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直線單箭頭接點 39"/>
          <p:cNvCxnSpPr/>
          <p:nvPr/>
        </p:nvCxnSpPr>
        <p:spPr>
          <a:xfrm>
            <a:off x="9554272" y="3532297"/>
            <a:ext cx="0" cy="212147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直線單箭頭接點 40"/>
          <p:cNvCxnSpPr>
            <a:stCxn id="13" idx="0"/>
          </p:cNvCxnSpPr>
          <p:nvPr/>
        </p:nvCxnSpPr>
        <p:spPr>
          <a:xfrm flipV="1">
            <a:off x="3543246" y="3497008"/>
            <a:ext cx="0" cy="59971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8" name="矩形: 圓角 47"/>
          <p:cNvSpPr/>
          <p:nvPr/>
        </p:nvSpPr>
        <p:spPr>
          <a:xfrm>
            <a:off x="6190560" y="4310393"/>
            <a:ext cx="2540704" cy="634475"/>
          </a:xfrm>
          <a:prstGeom prst="roundRect">
            <a:avLst/>
          </a:prstGeom>
          <a:solidFill>
            <a:schemeClr val="accent6">
              <a:lumMod val="20000"/>
              <a:lumOff val="8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TW" sz="2400" dirty="0">
                <a:solidFill>
                  <a:prstClr val="black"/>
                </a:solidFill>
                <a:latin typeface="Calibri" panose="020F0502020204030204"/>
                <a:ea typeface="PMingLiU" panose="02020500000000000000" pitchFamily="18" charset="-120"/>
              </a:rPr>
              <a:t>Reflection</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2" name="矩形: 圓角 11"/>
          <p:cNvSpPr/>
          <p:nvPr/>
        </p:nvSpPr>
        <p:spPr>
          <a:xfrm>
            <a:off x="687023" y="5653771"/>
            <a:ext cx="10817953" cy="675982"/>
          </a:xfrm>
          <a:prstGeom prst="roundRect">
            <a:avLst/>
          </a:prstGeom>
          <a:noFill/>
          <a:ln w="381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dirty="0">
              <a:solidFill>
                <a:schemeClr val="tx1"/>
              </a:solidFill>
            </a:endParaRPr>
          </a:p>
        </p:txBody>
      </p:sp>
      <p:sp>
        <p:nvSpPr>
          <p:cNvPr id="15" name="矩形: 圓角 14"/>
          <p:cNvSpPr/>
          <p:nvPr/>
        </p:nvSpPr>
        <p:spPr>
          <a:xfrm>
            <a:off x="966506" y="5822185"/>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goal</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19" name="矩形: 圓角 18"/>
          <p:cNvSpPr/>
          <p:nvPr/>
        </p:nvSpPr>
        <p:spPr>
          <a:xfrm>
            <a:off x="2766506" y="5826950"/>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lvl="0" algn="ctr">
              <a:defRPr/>
            </a:pPr>
            <a:r>
              <a:rPr lang="en-US" altLang="zh-TW" sz="2400" dirty="0" err="1"/>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3" name="矩形: 圓角 22"/>
          <p:cNvSpPr/>
          <p:nvPr/>
        </p:nvSpPr>
        <p:spPr>
          <a:xfrm>
            <a:off x="4571681" y="5824019"/>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1</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4" name="文字方塊 23"/>
          <p:cNvSpPr txBox="1"/>
          <p:nvPr/>
        </p:nvSpPr>
        <p:spPr>
          <a:xfrm>
            <a:off x="6384093" y="5680555"/>
            <a:ext cx="141885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6" name="矩形: 圓角 25"/>
          <p:cNvSpPr/>
          <p:nvPr/>
        </p:nvSpPr>
        <p:spPr>
          <a:xfrm>
            <a:off x="7693186" y="584927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lvl="0" algn="ctr">
              <a:defRPr/>
            </a:pPr>
            <a:r>
              <a:rPr lang="en-US" altLang="zh-TW" sz="2400" dirty="0" err="1"/>
              <a:t>obs</a:t>
            </a: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 9999</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sp>
        <p:nvSpPr>
          <p:cNvPr id="27" name="矩形: 圓角 26"/>
          <p:cNvSpPr/>
          <p:nvPr/>
        </p:nvSpPr>
        <p:spPr>
          <a:xfrm>
            <a:off x="9498361" y="5846341"/>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action 9999</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cxnSp>
        <p:nvCxnSpPr>
          <p:cNvPr id="30" name="直線單箭頭接點 29"/>
          <p:cNvCxnSpPr>
            <a:endCxn id="48" idx="2"/>
          </p:cNvCxnSpPr>
          <p:nvPr/>
        </p:nvCxnSpPr>
        <p:spPr>
          <a:xfrm flipV="1">
            <a:off x="7460912" y="4944868"/>
            <a:ext cx="0" cy="70890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直線單箭頭接點 36"/>
          <p:cNvCxnSpPr/>
          <p:nvPr/>
        </p:nvCxnSpPr>
        <p:spPr>
          <a:xfrm flipH="1">
            <a:off x="4239857" y="4619060"/>
            <a:ext cx="1900592"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文字方塊 12"/>
          <p:cNvSpPr txBox="1"/>
          <p:nvPr/>
        </p:nvSpPr>
        <p:spPr>
          <a:xfrm>
            <a:off x="1837313" y="4096718"/>
            <a:ext cx="3411865"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Knowledge </a:t>
            </a:r>
            <a:endPar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rPr>
              <a:t>Graph</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PMingLiU" panose="02020500000000000000" pitchFamily="18" charset="-120"/>
              <a:cs typeface="+mn-cs"/>
            </a:endParaRPr>
          </a:p>
        </p:txBody>
      </p:sp>
      <p:pic>
        <p:nvPicPr>
          <p:cNvPr id="1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1226" y="3988529"/>
            <a:ext cx="1056501" cy="1056501"/>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群組 24"/>
          <p:cNvGrpSpPr/>
          <p:nvPr/>
        </p:nvGrpSpPr>
        <p:grpSpPr>
          <a:xfrm>
            <a:off x="4854072" y="2388046"/>
            <a:ext cx="6096000" cy="1578043"/>
            <a:chOff x="8596200" y="12643"/>
            <a:chExt cx="6096000" cy="1578043"/>
          </a:xfrm>
        </p:grpSpPr>
        <p:sp>
          <p:nvSpPr>
            <p:cNvPr id="29" name="文字方塊 28"/>
            <p:cNvSpPr txBox="1"/>
            <p:nvPr/>
          </p:nvSpPr>
          <p:spPr>
            <a:xfrm>
              <a:off x="8596200" y="477239"/>
              <a:ext cx="3886200" cy="369332"/>
            </a:xfrm>
            <a:prstGeom prst="rect">
              <a:avLst/>
            </a:prstGeom>
            <a:noFill/>
          </p:spPr>
          <p:txBody>
            <a:bodyPr wrap="square">
              <a:spAutoFit/>
            </a:bodyPr>
            <a:lstStyle/>
            <a:p>
              <a:r>
                <a:rPr lang="zh-TW" altLang="en-US" dirty="0"/>
                <a:t>https://arxiv.org/abs/2404.16130</a:t>
              </a:r>
              <a:endParaRPr lang="zh-TW" altLang="en-US" dirty="0"/>
            </a:p>
          </p:txBody>
        </p:sp>
        <p:sp>
          <p:nvSpPr>
            <p:cNvPr id="34" name="文字方塊 33"/>
            <p:cNvSpPr txBox="1"/>
            <p:nvPr/>
          </p:nvSpPr>
          <p:spPr>
            <a:xfrm>
              <a:off x="8596200" y="12643"/>
              <a:ext cx="1771650" cy="461665"/>
            </a:xfrm>
            <a:prstGeom prst="rect">
              <a:avLst/>
            </a:prstGeom>
            <a:noFill/>
          </p:spPr>
          <p:txBody>
            <a:bodyPr wrap="square">
              <a:spAutoFit/>
            </a:bodyPr>
            <a:lstStyle/>
            <a:p>
              <a:r>
                <a:rPr lang="en-US" altLang="zh-TW" sz="2400" dirty="0" err="1"/>
                <a:t>GraphRAG</a:t>
              </a:r>
              <a:endParaRPr lang="en-US" altLang="zh-TW" sz="2400" dirty="0"/>
            </a:p>
          </p:txBody>
        </p:sp>
        <p:sp>
          <p:nvSpPr>
            <p:cNvPr id="35" name="文字方塊 34"/>
            <p:cNvSpPr txBox="1"/>
            <p:nvPr/>
          </p:nvSpPr>
          <p:spPr>
            <a:xfrm>
              <a:off x="8596200" y="759689"/>
              <a:ext cx="3314700" cy="461665"/>
            </a:xfrm>
            <a:prstGeom prst="rect">
              <a:avLst/>
            </a:prstGeom>
            <a:noFill/>
          </p:spPr>
          <p:txBody>
            <a:bodyPr wrap="square">
              <a:spAutoFit/>
            </a:bodyPr>
            <a:lstStyle/>
            <a:p>
              <a:r>
                <a:rPr lang="en-US" altLang="zh-TW" sz="2400" dirty="0" err="1"/>
                <a:t>HippoRAG</a:t>
              </a:r>
              <a:endParaRPr lang="en-US" altLang="zh-TW" sz="2400" dirty="0"/>
            </a:p>
          </p:txBody>
        </p:sp>
        <p:sp>
          <p:nvSpPr>
            <p:cNvPr id="36" name="文字方塊 35"/>
            <p:cNvSpPr txBox="1"/>
            <p:nvPr/>
          </p:nvSpPr>
          <p:spPr>
            <a:xfrm>
              <a:off x="8596200" y="1221354"/>
              <a:ext cx="6096000" cy="369332"/>
            </a:xfrm>
            <a:prstGeom prst="rect">
              <a:avLst/>
            </a:prstGeom>
            <a:noFill/>
          </p:spPr>
          <p:txBody>
            <a:bodyPr wrap="square">
              <a:spAutoFit/>
            </a:bodyPr>
            <a:lstStyle/>
            <a:p>
              <a:r>
                <a:rPr lang="zh-TW" altLang="en-US" dirty="0"/>
                <a:t>https://arxiv.org/abs/2405.14831</a:t>
              </a:r>
              <a:endParaRPr lang="zh-TW" altLang="en-US" dirty="0"/>
            </a:p>
          </p:txBody>
        </p:sp>
      </p:gr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有記憶的 </a:t>
            </a:r>
            <a:r>
              <a:rPr lang="en-US" altLang="zh-TW" dirty="0">
                <a:latin typeface="Microsoft JhengHei" panose="020B0604030504040204" pitchFamily="34" charset="-120"/>
                <a:ea typeface="Microsoft JhengHei" panose="020B0604030504040204" pitchFamily="34" charset="-120"/>
              </a:rPr>
              <a:t>ChatGPT </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5" name="圖片 4"/>
          <p:cNvPicPr>
            <a:picLocks noChangeAspect="1"/>
          </p:cNvPicPr>
          <p:nvPr/>
        </p:nvPicPr>
        <p:blipFill>
          <a:blip r:embed="rId1"/>
          <a:stretch>
            <a:fillRect/>
          </a:stretch>
        </p:blipFill>
        <p:spPr>
          <a:xfrm>
            <a:off x="838200" y="1555750"/>
            <a:ext cx="10575626" cy="4768850"/>
          </a:xfrm>
          <a:prstGeom prst="rect">
            <a:avLst/>
          </a:prstGeom>
        </p:spPr>
      </p:pic>
      <p:sp>
        <p:nvSpPr>
          <p:cNvPr id="6" name="文字方塊 5"/>
          <p:cNvSpPr txBox="1"/>
          <p:nvPr/>
        </p:nvSpPr>
        <p:spPr>
          <a:xfrm>
            <a:off x="1611163" y="4533900"/>
            <a:ext cx="4514850" cy="523220"/>
          </a:xfrm>
          <a:prstGeom prst="rect">
            <a:avLst/>
          </a:prstGeom>
          <a:noFill/>
        </p:spPr>
        <p:txBody>
          <a:bodyPr wrap="square" rtlCol="0">
            <a:spAutoFit/>
          </a:bodyPr>
          <a:lstStyle/>
          <a:p>
            <a:r>
              <a:rPr lang="en-US" altLang="zh-TW" sz="2800" dirty="0">
                <a:latin typeface="Microsoft JhengHei" panose="020B0604030504040204" pitchFamily="34" charset="-120"/>
                <a:ea typeface="Microsoft JhengHei" panose="020B0604030504040204" pitchFamily="34" charset="-120"/>
              </a:rPr>
              <a:t>Write </a:t>
            </a:r>
            <a:r>
              <a:rPr lang="zh-TW" altLang="en-US" sz="2800" dirty="0">
                <a:latin typeface="Microsoft JhengHei" panose="020B0604030504040204" pitchFamily="34" charset="-120"/>
                <a:ea typeface="Microsoft JhengHei" panose="020B0604030504040204" pitchFamily="34" charset="-120"/>
              </a:rPr>
              <a:t>模組決定要記下來</a:t>
            </a:r>
            <a:endParaRPr lang="zh-TW" altLang="en-US" sz="2800" dirty="0">
              <a:latin typeface="Microsoft JhengHei" panose="020B0604030504040204" pitchFamily="34" charset="-120"/>
              <a:ea typeface="Microsoft JhengHei" panose="020B0604030504040204" pitchFamily="34" charset="-120"/>
            </a:endParaRPr>
          </a:p>
        </p:txBody>
      </p:sp>
      <p:cxnSp>
        <p:nvCxnSpPr>
          <p:cNvPr id="8" name="直線單箭頭接點 7"/>
          <p:cNvCxnSpPr/>
          <p:nvPr/>
        </p:nvCxnSpPr>
        <p:spPr>
          <a:xfrm flipH="1">
            <a:off x="1611163" y="4966399"/>
            <a:ext cx="438150" cy="45131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676275" y="3694113"/>
            <a:ext cx="10839450" cy="3028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有記憶的 </a:t>
            </a:r>
            <a:r>
              <a:rPr lang="en-US" altLang="zh-TW" dirty="0">
                <a:latin typeface="Microsoft JhengHei" panose="020B0604030504040204" pitchFamily="34" charset="-120"/>
                <a:ea typeface="Microsoft JhengHei" panose="020B0604030504040204" pitchFamily="34" charset="-120"/>
              </a:rPr>
              <a:t>ChatGPT </a:t>
            </a:r>
            <a:endParaRPr lang="zh-TW" altLang="en-US" dirty="0"/>
          </a:p>
        </p:txBody>
      </p:sp>
      <p:pic>
        <p:nvPicPr>
          <p:cNvPr id="5" name="圖片 4"/>
          <p:cNvPicPr>
            <a:picLocks noChangeAspect="1"/>
          </p:cNvPicPr>
          <p:nvPr/>
        </p:nvPicPr>
        <p:blipFill>
          <a:blip r:embed="rId1"/>
          <a:stretch>
            <a:fillRect/>
          </a:stretch>
        </p:blipFill>
        <p:spPr>
          <a:xfrm>
            <a:off x="3433977" y="1690688"/>
            <a:ext cx="8295845" cy="4888167"/>
          </a:xfrm>
          <a:prstGeom prst="rect">
            <a:avLst/>
          </a:prstGeom>
        </p:spPr>
      </p:pic>
      <p:pic>
        <p:nvPicPr>
          <p:cNvPr id="14" name="圖片 13"/>
          <p:cNvPicPr>
            <a:picLocks noChangeAspect="1"/>
          </p:cNvPicPr>
          <p:nvPr/>
        </p:nvPicPr>
        <p:blipFill>
          <a:blip r:embed="rId2"/>
          <a:stretch>
            <a:fillRect/>
          </a:stretch>
        </p:blipFill>
        <p:spPr>
          <a:xfrm>
            <a:off x="633628" y="1557899"/>
            <a:ext cx="2572109" cy="51537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有記憶的 </a:t>
            </a:r>
            <a:r>
              <a:rPr lang="en-US" altLang="zh-TW" dirty="0">
                <a:latin typeface="Microsoft JhengHei" panose="020B0604030504040204" pitchFamily="34" charset="-120"/>
                <a:ea typeface="Microsoft JhengHei" panose="020B0604030504040204" pitchFamily="34" charset="-120"/>
              </a:rPr>
              <a:t>ChatGPT </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5" name="圖片 4"/>
          <p:cNvPicPr>
            <a:picLocks noChangeAspect="1"/>
          </p:cNvPicPr>
          <p:nvPr/>
        </p:nvPicPr>
        <p:blipFill>
          <a:blip r:embed="rId1"/>
          <a:stretch>
            <a:fillRect/>
          </a:stretch>
        </p:blipFill>
        <p:spPr>
          <a:xfrm>
            <a:off x="838200" y="1326825"/>
            <a:ext cx="10894369" cy="534893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有記憶的 </a:t>
            </a:r>
            <a:r>
              <a:rPr lang="en-US" altLang="zh-TW" dirty="0">
                <a:latin typeface="Microsoft JhengHei" panose="020B0604030504040204" pitchFamily="34" charset="-120"/>
                <a:ea typeface="Microsoft JhengHei" panose="020B0604030504040204" pitchFamily="34" charset="-120"/>
              </a:rPr>
              <a:t>ChatGPT </a:t>
            </a:r>
            <a:endParaRPr lang="zh-TW" altLang="en-US" dirty="0"/>
          </a:p>
        </p:txBody>
      </p:sp>
      <p:pic>
        <p:nvPicPr>
          <p:cNvPr id="5" name="圖片 4"/>
          <p:cNvPicPr>
            <a:picLocks noChangeAspect="1"/>
          </p:cNvPicPr>
          <p:nvPr/>
        </p:nvPicPr>
        <p:blipFill>
          <a:blip r:embed="rId1"/>
          <a:stretch>
            <a:fillRect/>
          </a:stretch>
        </p:blipFill>
        <p:spPr>
          <a:xfrm>
            <a:off x="838200" y="1690688"/>
            <a:ext cx="10690396" cy="4486275"/>
          </a:xfrm>
          <a:prstGeom prst="rect">
            <a:avLst/>
          </a:prstGeom>
        </p:spPr>
      </p:pic>
      <p:sp>
        <p:nvSpPr>
          <p:cNvPr id="3" name="矩形 2"/>
          <p:cNvSpPr/>
          <p:nvPr/>
        </p:nvSpPr>
        <p:spPr>
          <a:xfrm>
            <a:off x="623908" y="2590800"/>
            <a:ext cx="10839450" cy="133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p:nvSpPr>
        <p:spPr>
          <a:xfrm>
            <a:off x="838200" y="4824412"/>
            <a:ext cx="10839450" cy="14239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p:cNvSpPr txBox="1"/>
          <p:nvPr/>
        </p:nvSpPr>
        <p:spPr>
          <a:xfrm>
            <a:off x="623909" y="2271714"/>
            <a:ext cx="2789387" cy="523220"/>
          </a:xfrm>
          <a:prstGeom prst="rect">
            <a:avLst/>
          </a:prstGeom>
          <a:noFill/>
        </p:spPr>
        <p:txBody>
          <a:bodyPr wrap="square" rtlCol="0">
            <a:spAutoFit/>
          </a:bodyPr>
          <a:lstStyle/>
          <a:p>
            <a:pPr algn="r"/>
            <a:r>
              <a:rPr lang="en-US" altLang="zh-TW" sz="2800" dirty="0">
                <a:latin typeface="Microsoft JhengHei" panose="020B0604030504040204" pitchFamily="34" charset="-120"/>
                <a:ea typeface="Microsoft JhengHei" panose="020B0604030504040204" pitchFamily="34" charset="-120"/>
              </a:rPr>
              <a:t>Read </a:t>
            </a:r>
            <a:r>
              <a:rPr lang="zh-TW" altLang="en-US" sz="2800" dirty="0">
                <a:latin typeface="Microsoft JhengHei" panose="020B0604030504040204" pitchFamily="34" charset="-120"/>
                <a:ea typeface="Microsoft JhengHei" panose="020B0604030504040204" pitchFamily="34" charset="-120"/>
              </a:rPr>
              <a:t>模組啟動</a:t>
            </a:r>
            <a:endParaRPr lang="zh-TW" altLang="en-US" sz="2800" dirty="0">
              <a:latin typeface="Microsoft JhengHei" panose="020B0604030504040204" pitchFamily="34" charset="-120"/>
              <a:ea typeface="Microsoft JhengHei" panose="020B0604030504040204" pitchFamily="34" charset="-120"/>
            </a:endParaRPr>
          </a:p>
        </p:txBody>
      </p:sp>
      <p:sp>
        <p:nvSpPr>
          <p:cNvPr id="7" name="文字方塊 6"/>
          <p:cNvSpPr txBox="1"/>
          <p:nvPr/>
        </p:nvSpPr>
        <p:spPr>
          <a:xfrm>
            <a:off x="623908" y="4595814"/>
            <a:ext cx="2789387" cy="523220"/>
          </a:xfrm>
          <a:prstGeom prst="rect">
            <a:avLst/>
          </a:prstGeom>
          <a:noFill/>
        </p:spPr>
        <p:txBody>
          <a:bodyPr wrap="square" rtlCol="0">
            <a:spAutoFit/>
          </a:bodyPr>
          <a:lstStyle/>
          <a:p>
            <a:pPr algn="r"/>
            <a:r>
              <a:rPr lang="en-US" altLang="zh-TW" sz="2800" dirty="0">
                <a:latin typeface="Microsoft JhengHei" panose="020B0604030504040204" pitchFamily="34" charset="-120"/>
                <a:ea typeface="Microsoft JhengHei" panose="020B0604030504040204" pitchFamily="34" charset="-120"/>
              </a:rPr>
              <a:t>Read </a:t>
            </a:r>
            <a:r>
              <a:rPr lang="zh-TW" altLang="en-US" sz="2800" dirty="0">
                <a:latin typeface="Microsoft JhengHei" panose="020B0604030504040204" pitchFamily="34" charset="-120"/>
                <a:ea typeface="Microsoft JhengHei" panose="020B0604030504040204" pitchFamily="34" charset="-120"/>
              </a:rPr>
              <a:t>模組啟動</a:t>
            </a:r>
            <a:endParaRPr lang="zh-TW" altLang="en-US" sz="28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p:cNvPicPr>
            <a:picLocks noChangeAspect="1"/>
          </p:cNvPicPr>
          <p:nvPr/>
        </p:nvPicPr>
        <p:blipFill>
          <a:blip r:embed="rId1"/>
          <a:stretch>
            <a:fillRect/>
          </a:stretch>
        </p:blipFill>
        <p:spPr>
          <a:xfrm>
            <a:off x="5423920" y="5241546"/>
            <a:ext cx="6169171" cy="1496090"/>
          </a:xfrm>
          <a:prstGeom prst="rect">
            <a:avLst/>
          </a:prstGeom>
        </p:spPr>
      </p:pic>
      <p:sp>
        <p:nvSpPr>
          <p:cNvPr id="2" name="標題 1"/>
          <p:cNvSpPr>
            <a:spLocks noGrp="1"/>
          </p:cNvSpPr>
          <p:nvPr>
            <p:ph type="title"/>
          </p:nvPr>
        </p:nvSpPr>
        <p:spPr/>
        <p:txBody>
          <a:bodyPr/>
          <a:lstStyle/>
          <a:p>
            <a:r>
              <a:rPr lang="en-US" altLang="zh-TW" dirty="0"/>
              <a:t>To learn more …</a:t>
            </a:r>
            <a:endParaRPr lang="zh-TW" altLang="en-US" dirty="0"/>
          </a:p>
        </p:txBody>
      </p:sp>
      <p:sp>
        <p:nvSpPr>
          <p:cNvPr id="3" name="內容版面配置區 2"/>
          <p:cNvSpPr>
            <a:spLocks noGrp="1"/>
          </p:cNvSpPr>
          <p:nvPr>
            <p:ph idx="1"/>
          </p:nvPr>
        </p:nvSpPr>
        <p:spPr/>
        <p:txBody>
          <a:bodyPr>
            <a:normAutofit/>
          </a:bodyPr>
          <a:lstStyle/>
          <a:p>
            <a:r>
              <a:rPr lang="en-US" altLang="zh-TW" dirty="0" err="1"/>
              <a:t>MemGPT</a:t>
            </a:r>
            <a:endParaRPr lang="en-US" altLang="zh-TW" dirty="0"/>
          </a:p>
          <a:p>
            <a:endParaRPr lang="en-US" altLang="zh-TW" dirty="0"/>
          </a:p>
          <a:p>
            <a:endParaRPr lang="en-US" altLang="zh-TW" dirty="0"/>
          </a:p>
          <a:p>
            <a:r>
              <a:rPr lang="en-US" altLang="zh-TW" dirty="0"/>
              <a:t>Agent Workflow Memory </a:t>
            </a:r>
            <a:endParaRPr lang="en-US" altLang="zh-TW" dirty="0"/>
          </a:p>
          <a:p>
            <a:endParaRPr lang="en-US" altLang="zh-TW" dirty="0"/>
          </a:p>
          <a:p>
            <a:endParaRPr lang="en-US" altLang="zh-TW" dirty="0"/>
          </a:p>
          <a:p>
            <a:r>
              <a:rPr lang="en-US" altLang="zh-TW" dirty="0"/>
              <a:t>A-MEM: Agentic Memory for LLM Agents</a:t>
            </a:r>
            <a:endParaRPr lang="en-US" altLang="zh-TW" dirty="0"/>
          </a:p>
          <a:p>
            <a:endParaRPr lang="en-US" altLang="zh-TW" dirty="0"/>
          </a:p>
          <a:p>
            <a:endParaRPr lang="zh-TW" altLang="en-US" dirty="0"/>
          </a:p>
        </p:txBody>
      </p:sp>
      <p:sp>
        <p:nvSpPr>
          <p:cNvPr id="5" name="文字方塊 4"/>
          <p:cNvSpPr txBox="1"/>
          <p:nvPr/>
        </p:nvSpPr>
        <p:spPr>
          <a:xfrm>
            <a:off x="1038452" y="2387744"/>
            <a:ext cx="6858000" cy="369332"/>
          </a:xfrm>
          <a:prstGeom prst="rect">
            <a:avLst/>
          </a:prstGeom>
          <a:noFill/>
        </p:spPr>
        <p:txBody>
          <a:bodyPr wrap="square">
            <a:spAutoFit/>
          </a:bodyPr>
          <a:lstStyle/>
          <a:p>
            <a:r>
              <a:rPr lang="zh-TW" altLang="en-US" dirty="0"/>
              <a:t>https://arxiv.org/abs/2310.08560</a:t>
            </a:r>
            <a:endParaRPr lang="zh-TW" altLang="en-US" dirty="0"/>
          </a:p>
        </p:txBody>
      </p:sp>
      <p:sp>
        <p:nvSpPr>
          <p:cNvPr id="7" name="文字方塊 6"/>
          <p:cNvSpPr txBox="1"/>
          <p:nvPr/>
        </p:nvSpPr>
        <p:spPr>
          <a:xfrm>
            <a:off x="1038452" y="3836723"/>
            <a:ext cx="6858000" cy="369332"/>
          </a:xfrm>
          <a:prstGeom prst="rect">
            <a:avLst/>
          </a:prstGeom>
          <a:noFill/>
        </p:spPr>
        <p:txBody>
          <a:bodyPr wrap="square">
            <a:spAutoFit/>
          </a:bodyPr>
          <a:lstStyle/>
          <a:p>
            <a:r>
              <a:rPr lang="zh-TW" altLang="en-US" dirty="0"/>
              <a:t>https://arxiv.org/abs/2409.07429</a:t>
            </a:r>
            <a:endParaRPr lang="zh-TW" altLang="en-US" dirty="0"/>
          </a:p>
        </p:txBody>
      </p:sp>
      <p:sp>
        <p:nvSpPr>
          <p:cNvPr id="9" name="文字方塊 8"/>
          <p:cNvSpPr txBox="1"/>
          <p:nvPr/>
        </p:nvSpPr>
        <p:spPr>
          <a:xfrm>
            <a:off x="1038452" y="5359339"/>
            <a:ext cx="6858000" cy="369332"/>
          </a:xfrm>
          <a:prstGeom prst="rect">
            <a:avLst/>
          </a:prstGeom>
          <a:noFill/>
        </p:spPr>
        <p:txBody>
          <a:bodyPr wrap="square">
            <a:spAutoFit/>
          </a:bodyPr>
          <a:lstStyle/>
          <a:p>
            <a:r>
              <a:rPr lang="zh-TW" altLang="en-US" dirty="0"/>
              <a:t>https://arxiv.org/abs/2502.12110</a:t>
            </a:r>
            <a:endParaRPr lang="zh-TW" altLang="en-US" dirty="0"/>
          </a:p>
        </p:txBody>
      </p:sp>
      <p:pic>
        <p:nvPicPr>
          <p:cNvPr id="15" name="圖片 14"/>
          <p:cNvPicPr>
            <a:picLocks noChangeAspect="1"/>
          </p:cNvPicPr>
          <p:nvPr/>
        </p:nvPicPr>
        <p:blipFill>
          <a:blip r:embed="rId2"/>
          <a:stretch>
            <a:fillRect/>
          </a:stretch>
        </p:blipFill>
        <p:spPr>
          <a:xfrm>
            <a:off x="7281226" y="2561685"/>
            <a:ext cx="4006341" cy="2414468"/>
          </a:xfrm>
          <a:prstGeom prst="rect">
            <a:avLst/>
          </a:prstGeom>
        </p:spPr>
      </p:pic>
      <p:pic>
        <p:nvPicPr>
          <p:cNvPr id="16" name="圖片 15"/>
          <p:cNvPicPr>
            <a:picLocks noChangeAspect="1"/>
          </p:cNvPicPr>
          <p:nvPr/>
        </p:nvPicPr>
        <p:blipFill>
          <a:blip r:embed="rId3"/>
          <a:stretch>
            <a:fillRect/>
          </a:stretch>
        </p:blipFill>
        <p:spPr>
          <a:xfrm>
            <a:off x="5813062" y="150729"/>
            <a:ext cx="5660383" cy="22284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p:cNvSpPr>
            <a:spLocks noGrp="1" noRot="1" noChangeAspect="1" noMove="1" noResize="1" noEditPoints="1" noAdjustHandles="1" noChangeArrowheads="1" noChangeShapeType="1" noTextEdit="1"/>
          </p:cNvSpPr>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4" descr="施工用的作業工具"/>
          <p:cNvPicPr>
            <a:picLocks noChangeAspect="1"/>
          </p:cNvPicPr>
          <p:nvPr/>
        </p:nvPicPr>
        <p:blipFill>
          <a:blip r:embed="rId1">
            <a:alphaModFix amt="50000"/>
          </a:blip>
          <a:srcRect t="11334" r="-1" b="4375"/>
          <a:stretch>
            <a:fillRect/>
          </a:stretch>
        </p:blipFill>
        <p:spPr>
          <a:xfrm>
            <a:off x="20" y="10"/>
            <a:ext cx="12188930" cy="6857990"/>
          </a:xfrm>
          <a:prstGeom prst="rect">
            <a:avLst/>
          </a:prstGeom>
        </p:spPr>
      </p:pic>
      <p:sp>
        <p:nvSpPr>
          <p:cNvPr id="2" name="標題 1"/>
          <p:cNvSpPr>
            <a:spLocks noGrp="1"/>
          </p:cNvSpPr>
          <p:nvPr>
            <p:ph type="ctrTitle"/>
          </p:nvPr>
        </p:nvSpPr>
        <p:spPr>
          <a:xfrm>
            <a:off x="1524000" y="1122363"/>
            <a:ext cx="9144000" cy="3063240"/>
          </a:xfrm>
        </p:spPr>
        <p:txBody>
          <a:bodyPr>
            <a:normAutofit/>
          </a:bodyPr>
          <a:lstStyle/>
          <a:p>
            <a:r>
              <a:rPr lang="en-US" altLang="zh-TW" sz="6600" b="1" dirty="0">
                <a:solidFill>
                  <a:schemeClr val="bg1"/>
                </a:solidFill>
                <a:latin typeface="Microsoft JhengHei" panose="020B0604030504040204" pitchFamily="34" charset="-120"/>
                <a:ea typeface="Microsoft JhengHei" panose="020B0604030504040204" pitchFamily="34" charset="-120"/>
              </a:rPr>
              <a:t>AI</a:t>
            </a:r>
            <a:r>
              <a:rPr lang="zh-TW" altLang="en-US" sz="6600" b="1" dirty="0">
                <a:solidFill>
                  <a:schemeClr val="bg1"/>
                </a:solidFill>
                <a:latin typeface="Microsoft JhengHei" panose="020B0604030504040204" pitchFamily="34" charset="-120"/>
                <a:ea typeface="Microsoft JhengHei" panose="020B0604030504040204" pitchFamily="34" charset="-120"/>
              </a:rPr>
              <a:t> 如何使用工具</a:t>
            </a:r>
            <a:endParaRPr lang="zh-TW" altLang="en-US" sz="6600" b="1" dirty="0">
              <a:solidFill>
                <a:schemeClr val="bg1"/>
              </a:solidFill>
              <a:latin typeface="Microsoft JhengHei" panose="020B0604030504040204" pitchFamily="34" charset="-120"/>
              <a:ea typeface="Microsoft JhengHei" panose="020B0604030504040204" pitchFamily="34" charset="-120"/>
            </a:endParaRPr>
          </a:p>
        </p:txBody>
      </p:sp>
      <p:sp>
        <p:nvSpPr>
          <p:cNvPr id="3" name="副標題 2"/>
          <p:cNvSpPr>
            <a:spLocks noGrp="1"/>
          </p:cNvSpPr>
          <p:nvPr>
            <p:ph type="subTitle" idx="1"/>
          </p:nvPr>
        </p:nvSpPr>
        <p:spPr>
          <a:xfrm>
            <a:off x="1527048" y="4599432"/>
            <a:ext cx="9144000" cy="1536192"/>
          </a:xfrm>
        </p:spPr>
        <p:txBody>
          <a:bodyPr>
            <a:normAutofit/>
          </a:bodyPr>
          <a:lstStyle/>
          <a:p>
            <a:endParaRPr lang="zh-TW" altLang="en-US">
              <a:solidFill>
                <a:schemeClr val="bg1"/>
              </a:solidFill>
            </a:endParaRPr>
          </a:p>
        </p:txBody>
      </p:sp>
      <p:sp>
        <p:nvSpPr>
          <p:cNvPr id="37" name="sketchy line"/>
          <p:cNvSpPr>
            <a:spLocks noGrp="1" noRot="1" noChangeAspect="1" noMove="1" noResize="1" noEditPoints="1" noAdjustHandles="1" noChangeArrowheads="1" noChangeShapeType="1" noTextEdit="1"/>
          </p:cNvSpPr>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語言模型常用工具</a:t>
            </a:r>
            <a:endParaRPr lang="zh-TW" altLang="en-US" dirty="0">
              <a:latin typeface="Microsoft JhengHei" panose="020B0604030504040204" pitchFamily="34" charset="-120"/>
              <a:ea typeface="Microsoft JhengHei" panose="020B0604030504040204" pitchFamily="34" charset="-120"/>
            </a:endParaRPr>
          </a:p>
        </p:txBody>
      </p:sp>
      <p:pic>
        <p:nvPicPr>
          <p:cNvPr id="10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14538" y="1985080"/>
            <a:ext cx="1457326" cy="14573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8674" y="1914524"/>
            <a:ext cx="1719262" cy="1719262"/>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p:cNvSpPr txBox="1"/>
          <p:nvPr/>
        </p:nvSpPr>
        <p:spPr>
          <a:xfrm>
            <a:off x="5042218" y="3487604"/>
            <a:ext cx="1809750" cy="523220"/>
          </a:xfrm>
          <a:prstGeom prst="rect">
            <a:avLst/>
          </a:prstGeom>
          <a:noFill/>
        </p:spPr>
        <p:txBody>
          <a:bodyPr wrap="square" rtlCol="0">
            <a:spAutoFit/>
          </a:bodyPr>
          <a:lstStyle/>
          <a:p>
            <a:pPr algn="ctr"/>
            <a:r>
              <a:rPr lang="en-US" altLang="zh-TW" sz="2800" dirty="0"/>
              <a:t>Python</a:t>
            </a:r>
            <a:endParaRPr lang="zh-TW" altLang="en-US" sz="2800" dirty="0"/>
          </a:p>
        </p:txBody>
      </p:sp>
      <p:sp>
        <p:nvSpPr>
          <p:cNvPr id="5" name="文字方塊 4"/>
          <p:cNvSpPr txBox="1"/>
          <p:nvPr/>
        </p:nvSpPr>
        <p:spPr>
          <a:xfrm>
            <a:off x="1364456" y="3513190"/>
            <a:ext cx="2752725" cy="523220"/>
          </a:xfrm>
          <a:prstGeom prst="rect">
            <a:avLst/>
          </a:prstGeom>
          <a:noFill/>
        </p:spPr>
        <p:txBody>
          <a:bodyPr wrap="square" rtlCol="0">
            <a:spAutoFit/>
          </a:bodyPr>
          <a:lstStyle/>
          <a:p>
            <a:pPr algn="ctr"/>
            <a:r>
              <a:rPr lang="en-US" altLang="zh-TW" sz="2800" dirty="0"/>
              <a:t>Search Engine</a:t>
            </a:r>
            <a:endParaRPr lang="zh-TW" altLang="en-US" sz="2800" dirty="0"/>
          </a:p>
        </p:txBody>
      </p:sp>
      <p:sp>
        <p:nvSpPr>
          <p:cNvPr id="6" name="文字方塊 5"/>
          <p:cNvSpPr txBox="1"/>
          <p:nvPr/>
        </p:nvSpPr>
        <p:spPr>
          <a:xfrm>
            <a:off x="7577137" y="3520548"/>
            <a:ext cx="3548063" cy="1261884"/>
          </a:xfrm>
          <a:prstGeom prst="rect">
            <a:avLst/>
          </a:prstGeom>
          <a:noFill/>
        </p:spPr>
        <p:txBody>
          <a:bodyPr wrap="square" rtlCol="0">
            <a:spAutoFit/>
          </a:bodyPr>
          <a:lstStyle/>
          <a:p>
            <a:pPr algn="ctr"/>
            <a:r>
              <a:rPr lang="en-US" altLang="zh-TW" sz="2800" dirty="0"/>
              <a:t>Other AI</a:t>
            </a:r>
            <a:endParaRPr lang="en-US" altLang="zh-TW" sz="2800" dirty="0"/>
          </a:p>
          <a:p>
            <a:pPr algn="ctr"/>
            <a:r>
              <a:rPr lang="en-US" altLang="zh-TW" sz="2400" dirty="0"/>
              <a:t>(Different capabilities, stronger but costly)</a:t>
            </a:r>
            <a:endParaRPr lang="zh-TW" altLang="en-US" sz="2400" dirty="0"/>
          </a:p>
        </p:txBody>
      </p:sp>
      <p:sp>
        <p:nvSpPr>
          <p:cNvPr id="8" name="文字方塊 7"/>
          <p:cNvSpPr txBox="1"/>
          <p:nvPr/>
        </p:nvSpPr>
        <p:spPr>
          <a:xfrm>
            <a:off x="1581151" y="5058105"/>
            <a:ext cx="9906000" cy="461665"/>
          </a:xfrm>
          <a:prstGeom prst="rect">
            <a:avLst/>
          </a:prstGeom>
          <a:noFill/>
        </p:spPr>
        <p:txBody>
          <a:bodyPr wrap="square" rtlCol="0">
            <a:spAutoFit/>
          </a:bodyPr>
          <a:lstStyle/>
          <a:p>
            <a:pPr marL="342900" indent="-342900">
              <a:buFont typeface="Arial" panose="020B0604020202020204" pitchFamily="34" charset="0"/>
              <a:buChar char="•"/>
            </a:pPr>
            <a:r>
              <a:rPr lang="zh-TW" altLang="en-US" sz="2400" dirty="0">
                <a:latin typeface="Microsoft JhengHei" panose="020B0604030504040204" pitchFamily="34" charset="-120"/>
                <a:ea typeface="Microsoft JhengHei" panose="020B0604030504040204" pitchFamily="34" charset="-120"/>
              </a:rPr>
              <a:t>工具可以看做是 </a:t>
            </a:r>
            <a:r>
              <a:rPr lang="en-US" altLang="zh-TW" sz="2400" dirty="0">
                <a:latin typeface="Microsoft JhengHei" panose="020B0604030504040204" pitchFamily="34" charset="-120"/>
                <a:ea typeface="Microsoft JhengHei" panose="020B0604030504040204" pitchFamily="34" charset="-120"/>
              </a:rPr>
              <a:t>Function</a:t>
            </a:r>
            <a:r>
              <a:rPr lang="zh-TW" altLang="en-US" sz="2400" dirty="0">
                <a:latin typeface="Microsoft JhengHei" panose="020B0604030504040204" pitchFamily="34" charset="-120"/>
                <a:ea typeface="Microsoft JhengHei" panose="020B0604030504040204" pitchFamily="34" charset="-120"/>
              </a:rPr>
              <a:t>，使用工具就是調用這些 </a:t>
            </a:r>
            <a:r>
              <a:rPr lang="en-US" altLang="zh-TW" sz="2400" dirty="0">
                <a:latin typeface="Microsoft JhengHei" panose="020B0604030504040204" pitchFamily="34" charset="-120"/>
                <a:ea typeface="Microsoft JhengHei" panose="020B0604030504040204" pitchFamily="34" charset="-120"/>
              </a:rPr>
              <a:t>Function  </a:t>
            </a:r>
            <a:endParaRPr lang="zh-TW" altLang="en-US" sz="2400" dirty="0">
              <a:latin typeface="Microsoft JhengHei" panose="020B0604030504040204" pitchFamily="34" charset="-120"/>
              <a:ea typeface="Microsoft JhengHei" panose="020B0604030504040204" pitchFamily="34" charset="-120"/>
            </a:endParaRPr>
          </a:p>
        </p:txBody>
      </p:sp>
      <p:sp>
        <p:nvSpPr>
          <p:cNvPr id="9" name="文字方塊 8"/>
          <p:cNvSpPr txBox="1"/>
          <p:nvPr/>
        </p:nvSpPr>
        <p:spPr>
          <a:xfrm>
            <a:off x="1581151" y="5669768"/>
            <a:ext cx="9906000" cy="461665"/>
          </a:xfrm>
          <a:prstGeom prst="rect">
            <a:avLst/>
          </a:prstGeom>
          <a:noFill/>
        </p:spPr>
        <p:txBody>
          <a:bodyPr wrap="square" rtlCol="0">
            <a:spAutoFit/>
          </a:bodyPr>
          <a:lstStyle/>
          <a:p>
            <a:pPr marL="342900" indent="-342900">
              <a:buFont typeface="Arial" panose="020B0604020202020204" pitchFamily="34" charset="0"/>
              <a:buChar char="•"/>
            </a:pPr>
            <a:r>
              <a:rPr lang="zh-TW" altLang="en-US" sz="2400" dirty="0">
                <a:latin typeface="Microsoft JhengHei" panose="020B0604030504040204" pitchFamily="34" charset="-120"/>
                <a:ea typeface="Microsoft JhengHei" panose="020B0604030504040204" pitchFamily="34" charset="-120"/>
              </a:rPr>
              <a:t>使用工具又叫 </a:t>
            </a:r>
            <a:r>
              <a:rPr lang="en-US" altLang="zh-TW" sz="2400" dirty="0">
                <a:latin typeface="Microsoft JhengHei" panose="020B0604030504040204" pitchFamily="34" charset="-120"/>
                <a:ea typeface="Microsoft JhengHei" panose="020B0604030504040204" pitchFamily="34" charset="-120"/>
              </a:rPr>
              <a:t>“Function Call”</a:t>
            </a:r>
            <a:endParaRPr lang="zh-TW" altLang="en-US" sz="2400" dirty="0">
              <a:latin typeface="Microsoft JhengHei" panose="020B0604030504040204" pitchFamily="34" charset="-120"/>
              <a:ea typeface="Microsoft JhengHei" panose="020B0604030504040204" pitchFamily="34" charset="-120"/>
            </a:endParaRPr>
          </a:p>
        </p:txBody>
      </p:sp>
      <p:sp>
        <p:nvSpPr>
          <p:cNvPr id="7" name="文字方塊 6"/>
          <p:cNvSpPr txBox="1"/>
          <p:nvPr/>
        </p:nvSpPr>
        <p:spPr>
          <a:xfrm>
            <a:off x="6534151" y="563486"/>
            <a:ext cx="4249841" cy="830997"/>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工具：只需要知道怎麼使用，不需要知道內部運作原理</a:t>
            </a:r>
            <a:endParaRPr lang="zh-TW" altLang="en-US" sz="2400" dirty="0">
              <a:latin typeface="Microsoft JhengHei" panose="020B0604030504040204" pitchFamily="34" charset="-120"/>
              <a:ea typeface="Microsoft JhengHei" panose="020B0604030504040204" pitchFamily="34" charset="-120"/>
            </a:endParaRPr>
          </a:p>
        </p:txBody>
      </p:sp>
      <p:pic>
        <p:nvPicPr>
          <p:cNvPr id="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3728" y="1865918"/>
            <a:ext cx="1719262" cy="17192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如何使用工具</a:t>
            </a:r>
            <a:endParaRPr lang="zh-TW" altLang="en-US" dirty="0">
              <a:latin typeface="Microsoft JhengHei" panose="020B0604030504040204" pitchFamily="34" charset="-120"/>
              <a:ea typeface="Microsoft JhengHei" panose="020B0604030504040204" pitchFamily="34" charset="-120"/>
            </a:endParaRPr>
          </a:p>
        </p:txBody>
      </p:sp>
      <p:sp>
        <p:nvSpPr>
          <p:cNvPr id="6" name="文字方塊 5"/>
          <p:cNvSpPr txBox="1"/>
          <p:nvPr/>
        </p:nvSpPr>
        <p:spPr>
          <a:xfrm>
            <a:off x="1428750" y="1502525"/>
            <a:ext cx="7810500" cy="1200329"/>
          </a:xfrm>
          <a:prstGeom prst="rect">
            <a:avLst/>
          </a:prstGeom>
          <a:noFill/>
        </p:spPr>
        <p:txBody>
          <a:bodyPr wrap="square">
            <a:spAutoFit/>
          </a:bodyPr>
          <a:lstStyle/>
          <a:p>
            <a:r>
              <a:rPr lang="zh-TW" altLang="en-US" dirty="0"/>
              <a:t>如果遇到根據你的知識無法回答的問題，使用工具</a:t>
            </a:r>
            <a:endParaRPr lang="en-US" altLang="zh-TW" dirty="0"/>
          </a:p>
          <a:p>
            <a:endParaRPr lang="en-US" altLang="zh-TW" dirty="0"/>
          </a:p>
          <a:p>
            <a:r>
              <a:rPr lang="zh-TW" altLang="en-US" dirty="0"/>
              <a:t>把使用工具的指令放在 &lt;tool&gt; 和 &lt;/tool&gt; 中間，使用完工具後你會得到輸出，放在 &lt;output&gt; 和 &lt;/output&gt; 中間</a:t>
            </a:r>
            <a:endParaRPr lang="zh-TW" altLang="en-US" dirty="0"/>
          </a:p>
        </p:txBody>
      </p:sp>
      <p:sp>
        <p:nvSpPr>
          <p:cNvPr id="7" name="矩形: 圓角 6"/>
          <p:cNvSpPr/>
          <p:nvPr/>
        </p:nvSpPr>
        <p:spPr>
          <a:xfrm>
            <a:off x="4943475" y="4822997"/>
            <a:ext cx="1228725" cy="918462"/>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2400" dirty="0">
                <a:latin typeface="Microsoft JhengHei" panose="020B0604030504040204" pitchFamily="34" charset="-120"/>
                <a:ea typeface="Microsoft JhengHei" panose="020B0604030504040204" pitchFamily="34" charset="-120"/>
              </a:rPr>
              <a:t>語言</a:t>
            </a:r>
            <a:endParaRPr lang="en-US" altLang="zh-TW" sz="2400" dirty="0">
              <a:latin typeface="Microsoft JhengHei" panose="020B0604030504040204" pitchFamily="34" charset="-120"/>
              <a:ea typeface="Microsoft JhengHei" panose="020B0604030504040204" pitchFamily="34" charset="-120"/>
            </a:endParaRPr>
          </a:p>
          <a:p>
            <a:pPr algn="ctr"/>
            <a:r>
              <a:rPr lang="zh-TW" altLang="en-US" sz="2400" dirty="0">
                <a:latin typeface="Microsoft JhengHei" panose="020B0604030504040204" pitchFamily="34" charset="-120"/>
                <a:ea typeface="Microsoft JhengHei" panose="020B0604030504040204" pitchFamily="34" charset="-120"/>
              </a:rPr>
              <a:t>模型</a:t>
            </a:r>
            <a:endParaRPr lang="zh-TW" altLang="en-US" sz="2400" dirty="0">
              <a:latin typeface="Microsoft JhengHei" panose="020B0604030504040204" pitchFamily="34" charset="-120"/>
              <a:ea typeface="Microsoft JhengHei" panose="020B0604030504040204" pitchFamily="34" charset="-120"/>
            </a:endParaRPr>
          </a:p>
        </p:txBody>
      </p:sp>
      <p:sp>
        <p:nvSpPr>
          <p:cNvPr id="9" name="文字方塊 8"/>
          <p:cNvSpPr txBox="1"/>
          <p:nvPr/>
        </p:nvSpPr>
        <p:spPr>
          <a:xfrm>
            <a:off x="1466851" y="2836322"/>
            <a:ext cx="8153400" cy="923330"/>
          </a:xfrm>
          <a:prstGeom prst="rect">
            <a:avLst/>
          </a:prstGeom>
          <a:noFill/>
        </p:spPr>
        <p:txBody>
          <a:bodyPr wrap="square">
            <a:spAutoFit/>
          </a:bodyPr>
          <a:lstStyle/>
          <a:p>
            <a:r>
              <a:rPr lang="zh-TW" altLang="en-US" dirty="0"/>
              <a:t>現在你可以使用的工具如下：</a:t>
            </a:r>
            <a:endParaRPr lang="zh-TW" altLang="en-US" dirty="0"/>
          </a:p>
          <a:p>
            <a:r>
              <a:rPr lang="zh-TW" altLang="en-US" dirty="0"/>
              <a:t>查詢某地、某時溫度的函式 Temperature(location, time)，使用範例：Temperature('台北', '2025.02.22 14:26') </a:t>
            </a:r>
            <a:endParaRPr lang="zh-TW" altLang="en-US" dirty="0"/>
          </a:p>
        </p:txBody>
      </p:sp>
      <p:sp>
        <p:nvSpPr>
          <p:cNvPr id="11" name="文字方塊 10"/>
          <p:cNvSpPr txBox="1"/>
          <p:nvPr/>
        </p:nvSpPr>
        <p:spPr>
          <a:xfrm>
            <a:off x="1485900" y="3950212"/>
            <a:ext cx="7677150" cy="369332"/>
          </a:xfrm>
          <a:prstGeom prst="rect">
            <a:avLst/>
          </a:prstGeom>
          <a:noFill/>
        </p:spPr>
        <p:txBody>
          <a:bodyPr wrap="square">
            <a:spAutoFit/>
          </a:bodyPr>
          <a:lstStyle/>
          <a:p>
            <a:r>
              <a:rPr lang="en-US" altLang="zh-TW" dirty="0"/>
              <a:t>2025 </a:t>
            </a:r>
            <a:r>
              <a:rPr lang="zh-TW" altLang="en-US" dirty="0"/>
              <a:t>年 </a:t>
            </a:r>
            <a:r>
              <a:rPr lang="en-US" altLang="zh-TW" dirty="0"/>
              <a:t>3 </a:t>
            </a:r>
            <a:r>
              <a:rPr lang="zh-TW" altLang="en-US" dirty="0"/>
              <a:t>月 </a:t>
            </a:r>
            <a:r>
              <a:rPr lang="en-US" altLang="zh-TW" dirty="0"/>
              <a:t>10 </a:t>
            </a:r>
            <a:r>
              <a:rPr lang="zh-TW" altLang="en-US" dirty="0"/>
              <a:t>日那天下午 </a:t>
            </a:r>
            <a:r>
              <a:rPr lang="en-US" altLang="zh-TW" dirty="0"/>
              <a:t>2:00 </a:t>
            </a:r>
            <a:r>
              <a:rPr lang="zh-TW" altLang="en-US" dirty="0"/>
              <a:t>，高雄氣溫如何</a:t>
            </a:r>
            <a:endParaRPr lang="zh-TW" altLang="en-US" dirty="0"/>
          </a:p>
        </p:txBody>
      </p:sp>
      <p:cxnSp>
        <p:nvCxnSpPr>
          <p:cNvPr id="15" name="直線單箭頭接點 14"/>
          <p:cNvCxnSpPr>
            <a:stCxn id="7" idx="2"/>
          </p:cNvCxnSpPr>
          <p:nvPr/>
        </p:nvCxnSpPr>
        <p:spPr>
          <a:xfrm flipH="1">
            <a:off x="5557837" y="5741459"/>
            <a:ext cx="1" cy="3839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H="1">
            <a:off x="5567361" y="4391990"/>
            <a:ext cx="1" cy="3839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9268278" y="1712326"/>
            <a:ext cx="1543504" cy="830997"/>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如何使用所有工具</a:t>
            </a:r>
            <a:endParaRPr lang="zh-TW" altLang="en-US" sz="2400" dirty="0">
              <a:latin typeface="Microsoft JhengHei" panose="020B0604030504040204" pitchFamily="34" charset="-120"/>
              <a:ea typeface="Microsoft JhengHei" panose="020B0604030504040204" pitchFamily="34" charset="-120"/>
            </a:endParaRPr>
          </a:p>
        </p:txBody>
      </p:sp>
      <p:sp>
        <p:nvSpPr>
          <p:cNvPr id="20" name="文字方塊 19"/>
          <p:cNvSpPr txBox="1"/>
          <p:nvPr/>
        </p:nvSpPr>
        <p:spPr>
          <a:xfrm>
            <a:off x="9306379" y="2818281"/>
            <a:ext cx="1543504" cy="830997"/>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特定工具使用方式</a:t>
            </a:r>
            <a:endParaRPr lang="zh-TW" altLang="en-US" sz="2400" dirty="0">
              <a:latin typeface="Microsoft JhengHei" panose="020B0604030504040204" pitchFamily="34" charset="-120"/>
              <a:ea typeface="Microsoft JhengHei" panose="020B0604030504040204" pitchFamily="34" charset="-120"/>
            </a:endParaRPr>
          </a:p>
        </p:txBody>
      </p:sp>
      <p:sp>
        <p:nvSpPr>
          <p:cNvPr id="21" name="文字方塊 20"/>
          <p:cNvSpPr txBox="1"/>
          <p:nvPr/>
        </p:nvSpPr>
        <p:spPr>
          <a:xfrm>
            <a:off x="6624640" y="3912112"/>
            <a:ext cx="2218874" cy="461665"/>
          </a:xfrm>
          <a:prstGeom prst="rect">
            <a:avLst/>
          </a:prstGeom>
          <a:noFill/>
        </p:spPr>
        <p:txBody>
          <a:bodyPr wrap="square" rtlCol="0">
            <a:spAutoFit/>
          </a:bodyPr>
          <a:lstStyle/>
          <a:p>
            <a:r>
              <a:rPr lang="en-US" altLang="zh-TW" sz="2400" b="1" dirty="0">
                <a:solidFill>
                  <a:srgbClr val="0000FF"/>
                </a:solidFill>
                <a:latin typeface="Microsoft JhengHei" panose="020B0604030504040204" pitchFamily="34" charset="-120"/>
                <a:ea typeface="Microsoft JhengHei" panose="020B0604030504040204" pitchFamily="34" charset="-120"/>
              </a:rPr>
              <a:t>User Prompt</a:t>
            </a:r>
            <a:endParaRPr lang="zh-TW" altLang="en-US" sz="2400" b="1" dirty="0">
              <a:solidFill>
                <a:srgbClr val="0000FF"/>
              </a:solidFill>
              <a:latin typeface="Microsoft JhengHei" panose="020B0604030504040204" pitchFamily="34" charset="-120"/>
              <a:ea typeface="Microsoft JhengHei" panose="020B0604030504040204" pitchFamily="34" charset="-120"/>
            </a:endParaRPr>
          </a:p>
        </p:txBody>
      </p:sp>
      <p:sp>
        <p:nvSpPr>
          <p:cNvPr id="22" name="文字方塊 21"/>
          <p:cNvSpPr txBox="1"/>
          <p:nvPr/>
        </p:nvSpPr>
        <p:spPr>
          <a:xfrm>
            <a:off x="8812211" y="878246"/>
            <a:ext cx="2835731" cy="461665"/>
          </a:xfrm>
          <a:prstGeom prst="rect">
            <a:avLst/>
          </a:prstGeom>
          <a:noFill/>
        </p:spPr>
        <p:txBody>
          <a:bodyPr wrap="square" rtlCol="0">
            <a:spAutoFit/>
          </a:bodyPr>
          <a:lstStyle/>
          <a:p>
            <a:pPr algn="ctr"/>
            <a:r>
              <a:rPr lang="en-US" altLang="zh-TW" sz="2400" b="1" dirty="0">
                <a:solidFill>
                  <a:srgbClr val="0000FF"/>
                </a:solidFill>
                <a:latin typeface="Microsoft JhengHei" panose="020B0604030504040204" pitchFamily="34" charset="-120"/>
                <a:ea typeface="Microsoft JhengHei" panose="020B0604030504040204" pitchFamily="34" charset="-120"/>
              </a:rPr>
              <a:t>System Prompt</a:t>
            </a:r>
            <a:endParaRPr lang="zh-TW" altLang="en-US" sz="2400" b="1" dirty="0">
              <a:solidFill>
                <a:srgbClr val="0000FF"/>
              </a:solidFill>
              <a:latin typeface="Microsoft JhengHei" panose="020B0604030504040204" pitchFamily="34" charset="-120"/>
              <a:ea typeface="Microsoft JhengHei" panose="020B0604030504040204" pitchFamily="34" charset="-120"/>
            </a:endParaRPr>
          </a:p>
        </p:txBody>
      </p:sp>
      <p:sp>
        <p:nvSpPr>
          <p:cNvPr id="23" name="矩形: 圓角 22"/>
          <p:cNvSpPr/>
          <p:nvPr/>
        </p:nvSpPr>
        <p:spPr>
          <a:xfrm>
            <a:off x="1428750" y="1533913"/>
            <a:ext cx="7810500" cy="1139351"/>
          </a:xfrm>
          <a:prstGeom prst="roundRect">
            <a:avLst>
              <a:gd name="adj" fmla="val 10097"/>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圓角 23"/>
          <p:cNvSpPr/>
          <p:nvPr/>
        </p:nvSpPr>
        <p:spPr>
          <a:xfrm>
            <a:off x="1428750" y="2818281"/>
            <a:ext cx="7810500" cy="937804"/>
          </a:xfrm>
          <a:prstGeom prst="roundRect">
            <a:avLst>
              <a:gd name="adj" fmla="val 10097"/>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圓角 24"/>
          <p:cNvSpPr/>
          <p:nvPr/>
        </p:nvSpPr>
        <p:spPr>
          <a:xfrm>
            <a:off x="1333499" y="3951215"/>
            <a:ext cx="5295891" cy="393729"/>
          </a:xfrm>
          <a:prstGeom prst="roundRect">
            <a:avLst>
              <a:gd name="adj" fmla="val 10097"/>
            </a:avLst>
          </a:prstGeom>
          <a:noFill/>
          <a:ln w="38100">
            <a:solidFill>
              <a:srgbClr val="0000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圓角 25"/>
          <p:cNvSpPr/>
          <p:nvPr/>
        </p:nvSpPr>
        <p:spPr>
          <a:xfrm>
            <a:off x="1333500" y="1429615"/>
            <a:ext cx="9516383" cy="2422687"/>
          </a:xfrm>
          <a:prstGeom prst="roundRect">
            <a:avLst>
              <a:gd name="adj" fmla="val 4705"/>
            </a:avLst>
          </a:prstGeom>
          <a:noFill/>
          <a:ln w="38100">
            <a:solidFill>
              <a:srgbClr val="0000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6834412" y="6077376"/>
            <a:ext cx="5171625" cy="461665"/>
          </a:xfrm>
          <a:prstGeom prst="rect">
            <a:avLst/>
          </a:prstGeom>
          <a:noFill/>
        </p:spPr>
        <p:txBody>
          <a:bodyPr wrap="square" rtlCol="0">
            <a:spAutoFit/>
          </a:bodyPr>
          <a:lstStyle/>
          <a:p>
            <a:r>
              <a:rPr lang="zh-TW" altLang="en-US" sz="2400" b="1" dirty="0">
                <a:solidFill>
                  <a:srgbClr val="0000FF"/>
                </a:solidFill>
                <a:latin typeface="Microsoft JhengHei" panose="020B0604030504040204" pitchFamily="34" charset="-120"/>
                <a:ea typeface="Microsoft JhengHei" panose="020B0604030504040204" pitchFamily="34" charset="-120"/>
              </a:rPr>
              <a:t>這就是一串文字，無法真的呼叫函式</a:t>
            </a:r>
            <a:endParaRPr lang="zh-TW" altLang="en-US" sz="2400" b="1" dirty="0">
              <a:solidFill>
                <a:srgbClr val="0000FF"/>
              </a:solidFill>
              <a:latin typeface="Microsoft JhengHei" panose="020B0604030504040204" pitchFamily="34" charset="-120"/>
              <a:ea typeface="Microsoft JhengHei" panose="020B0604030504040204" pitchFamily="34" charset="-120"/>
            </a:endParaRPr>
          </a:p>
        </p:txBody>
      </p:sp>
      <p:sp>
        <p:nvSpPr>
          <p:cNvPr id="30" name="文字方塊 29"/>
          <p:cNvSpPr txBox="1"/>
          <p:nvPr/>
        </p:nvSpPr>
        <p:spPr>
          <a:xfrm>
            <a:off x="1695450" y="6123543"/>
            <a:ext cx="6096000" cy="369332"/>
          </a:xfrm>
          <a:prstGeom prst="rect">
            <a:avLst/>
          </a:prstGeom>
          <a:noFill/>
        </p:spPr>
        <p:txBody>
          <a:bodyPr wrap="square">
            <a:spAutoFit/>
          </a:bodyPr>
          <a:lstStyle/>
          <a:p>
            <a:r>
              <a:rPr lang="en-US" altLang="zh-TW" dirty="0"/>
              <a:t>&lt;tool&gt;Temperature('</a:t>
            </a:r>
            <a:r>
              <a:rPr lang="zh-TW" altLang="en-US" dirty="0"/>
              <a:t>高雄</a:t>
            </a:r>
            <a:r>
              <a:rPr lang="en-US" altLang="zh-TW" dirty="0"/>
              <a:t>', '2025.03.10 14:00')&lt;/tool&gt;</a:t>
            </a:r>
            <a:endParaRPr lang="en-US" altLang="zh-TW" dirty="0"/>
          </a:p>
        </p:txBody>
      </p:sp>
      <p:sp>
        <p:nvSpPr>
          <p:cNvPr id="31" name="文字方塊 30"/>
          <p:cNvSpPr txBox="1"/>
          <p:nvPr/>
        </p:nvSpPr>
        <p:spPr>
          <a:xfrm>
            <a:off x="6215569" y="5119810"/>
            <a:ext cx="3151761" cy="369332"/>
          </a:xfrm>
          <a:prstGeom prst="rect">
            <a:avLst/>
          </a:prstGeom>
          <a:noFill/>
        </p:spPr>
        <p:txBody>
          <a:bodyPr wrap="square" rtlCol="0">
            <a:spAutoFit/>
          </a:bodyPr>
          <a:lstStyle/>
          <a:p>
            <a:r>
              <a:rPr lang="en-US" altLang="zh-TW" dirty="0"/>
              <a:t>gpt-4o-mini</a:t>
            </a:r>
            <a:endParaRPr lang="zh-TW" altLang="en-US" dirty="0"/>
          </a:p>
        </p:txBody>
      </p:sp>
      <p:sp>
        <p:nvSpPr>
          <p:cNvPr id="3" name="文字方塊 2"/>
          <p:cNvSpPr txBox="1"/>
          <p:nvPr/>
        </p:nvSpPr>
        <p:spPr>
          <a:xfrm>
            <a:off x="6739161" y="95855"/>
            <a:ext cx="5567363" cy="369332"/>
          </a:xfrm>
          <a:prstGeom prst="rect">
            <a:avLst/>
          </a:prstGeom>
          <a:noFill/>
        </p:spPr>
        <p:txBody>
          <a:bodyPr wrap="square" rtlCol="0">
            <a:spAutoFit/>
          </a:bodyPr>
          <a:lstStyle/>
          <a:p>
            <a:r>
              <a:rPr lang="en-US" altLang="zh-TW"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使用工具的方法很多，這邊是只是一個通用的方法</a:t>
            </a:r>
            <a:r>
              <a:rPr lang="en-US" altLang="zh-TW" dirty="0">
                <a:latin typeface="Microsoft JhengHei" panose="020B0604030504040204" pitchFamily="34" charset="-120"/>
                <a:ea typeface="Microsoft JhengHei" panose="020B0604030504040204" pitchFamily="34" charset="-120"/>
              </a:rPr>
              <a:t>)</a:t>
            </a:r>
            <a:endParaRPr lang="zh-TW" altLang="en-US"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P spid="19" grpId="0"/>
      <p:bldP spid="20" grpId="0"/>
      <p:bldP spid="21" grpId="0"/>
      <p:bldP spid="22" grpId="0"/>
      <p:bldP spid="23" grpId="0" animBg="1"/>
      <p:bldP spid="24" grpId="0" animBg="1"/>
      <p:bldP spid="25" grpId="0" animBg="1"/>
      <p:bldP spid="26" grpId="0" animBg="1"/>
      <p:bldP spid="28" grpId="0"/>
      <p:bldP spid="3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圓角 37"/>
          <p:cNvSpPr/>
          <p:nvPr/>
        </p:nvSpPr>
        <p:spPr>
          <a:xfrm>
            <a:off x="6796413" y="4166382"/>
            <a:ext cx="3060824" cy="365465"/>
          </a:xfrm>
          <a:prstGeom prst="roundRect">
            <a:avLst/>
          </a:prstGeom>
          <a:solidFill>
            <a:schemeClr val="accent5">
              <a:lumMod val="20000"/>
              <a:lumOff val="80000"/>
            </a:schemeClr>
          </a:solidFill>
          <a:ln w="19050">
            <a:noFill/>
            <a:prstDash val="sysDo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2400" dirty="0">
              <a:latin typeface="Microsoft JhengHei" panose="020B0604030504040204" pitchFamily="34" charset="-120"/>
              <a:ea typeface="Microsoft JhengHei" panose="020B0604030504040204" pitchFamily="34" charset="-120"/>
            </a:endParaRPr>
          </a:p>
        </p:txBody>
      </p:sp>
      <p:sp>
        <p:nvSpPr>
          <p:cNvPr id="37" name="矩形: 圓角 36"/>
          <p:cNvSpPr/>
          <p:nvPr/>
        </p:nvSpPr>
        <p:spPr>
          <a:xfrm>
            <a:off x="1618880" y="4176513"/>
            <a:ext cx="5155433" cy="365465"/>
          </a:xfrm>
          <a:prstGeom prst="roundRect">
            <a:avLst/>
          </a:prstGeom>
          <a:solidFill>
            <a:schemeClr val="accent5">
              <a:lumMod val="20000"/>
              <a:lumOff val="80000"/>
            </a:schemeClr>
          </a:solidFill>
          <a:ln w="19050">
            <a:noFill/>
            <a:prstDash val="sysDo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2400" dirty="0">
              <a:latin typeface="Microsoft JhengHei" panose="020B0604030504040204" pitchFamily="34" charset="-120"/>
              <a:ea typeface="Microsoft JhengHei" panose="020B0604030504040204" pitchFamily="34" charset="-120"/>
            </a:endParaRPr>
          </a:p>
        </p:txBody>
      </p:sp>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如何使用工具</a:t>
            </a:r>
            <a:endParaRPr lang="zh-TW" altLang="en-US" dirty="0"/>
          </a:p>
        </p:txBody>
      </p:sp>
      <p:sp>
        <p:nvSpPr>
          <p:cNvPr id="7" name="矩形: 圓角 6"/>
          <p:cNvSpPr/>
          <p:nvPr/>
        </p:nvSpPr>
        <p:spPr>
          <a:xfrm>
            <a:off x="4943475" y="2841797"/>
            <a:ext cx="1228725" cy="918462"/>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2400" dirty="0">
                <a:latin typeface="Microsoft JhengHei" panose="020B0604030504040204" pitchFamily="34" charset="-120"/>
                <a:ea typeface="Microsoft JhengHei" panose="020B0604030504040204" pitchFamily="34" charset="-120"/>
              </a:rPr>
              <a:t>語言</a:t>
            </a:r>
            <a:endParaRPr lang="en-US" altLang="zh-TW" sz="2400" dirty="0">
              <a:latin typeface="Microsoft JhengHei" panose="020B0604030504040204" pitchFamily="34" charset="-120"/>
              <a:ea typeface="Microsoft JhengHei" panose="020B0604030504040204" pitchFamily="34" charset="-120"/>
            </a:endParaRPr>
          </a:p>
          <a:p>
            <a:pPr algn="ctr"/>
            <a:r>
              <a:rPr lang="zh-TW" altLang="en-US" sz="2400" dirty="0">
                <a:latin typeface="Microsoft JhengHei" panose="020B0604030504040204" pitchFamily="34" charset="-120"/>
                <a:ea typeface="Microsoft JhengHei" panose="020B0604030504040204" pitchFamily="34" charset="-120"/>
              </a:rPr>
              <a:t>模型</a:t>
            </a:r>
            <a:endParaRPr lang="zh-TW" altLang="en-US" sz="2400" dirty="0">
              <a:latin typeface="Microsoft JhengHei" panose="020B0604030504040204" pitchFamily="34" charset="-120"/>
              <a:ea typeface="Microsoft JhengHei" panose="020B0604030504040204" pitchFamily="34" charset="-120"/>
            </a:endParaRPr>
          </a:p>
        </p:txBody>
      </p:sp>
      <p:sp>
        <p:nvSpPr>
          <p:cNvPr id="11" name="文字方塊 10"/>
          <p:cNvSpPr txBox="1"/>
          <p:nvPr/>
        </p:nvSpPr>
        <p:spPr>
          <a:xfrm>
            <a:off x="1485900" y="1969012"/>
            <a:ext cx="7677150" cy="369332"/>
          </a:xfrm>
          <a:prstGeom prst="rect">
            <a:avLst/>
          </a:prstGeom>
          <a:noFill/>
        </p:spPr>
        <p:txBody>
          <a:bodyPr wrap="square">
            <a:spAutoFit/>
          </a:bodyPr>
          <a:lstStyle/>
          <a:p>
            <a:r>
              <a:rPr lang="en-US" altLang="zh-TW" dirty="0"/>
              <a:t>2025 </a:t>
            </a:r>
            <a:r>
              <a:rPr lang="zh-TW" altLang="en-US" dirty="0"/>
              <a:t>年 </a:t>
            </a:r>
            <a:r>
              <a:rPr lang="en-US" altLang="zh-TW" dirty="0"/>
              <a:t>3 </a:t>
            </a:r>
            <a:r>
              <a:rPr lang="zh-TW" altLang="en-US" dirty="0"/>
              <a:t>月 </a:t>
            </a:r>
            <a:r>
              <a:rPr lang="en-US" altLang="zh-TW" dirty="0"/>
              <a:t>10 </a:t>
            </a:r>
            <a:r>
              <a:rPr lang="zh-TW" altLang="en-US" dirty="0"/>
              <a:t>日那天下午 </a:t>
            </a:r>
            <a:r>
              <a:rPr lang="en-US" altLang="zh-TW" dirty="0"/>
              <a:t>2:00 </a:t>
            </a:r>
            <a:r>
              <a:rPr lang="zh-TW" altLang="en-US" dirty="0"/>
              <a:t>，高雄氣溫如何</a:t>
            </a:r>
            <a:endParaRPr lang="zh-TW" altLang="en-US" dirty="0"/>
          </a:p>
        </p:txBody>
      </p:sp>
      <p:sp>
        <p:nvSpPr>
          <p:cNvPr id="13" name="文字方塊 12"/>
          <p:cNvSpPr txBox="1"/>
          <p:nvPr/>
        </p:nvSpPr>
        <p:spPr>
          <a:xfrm>
            <a:off x="1695450" y="4142343"/>
            <a:ext cx="6096000" cy="369332"/>
          </a:xfrm>
          <a:prstGeom prst="rect">
            <a:avLst/>
          </a:prstGeom>
          <a:noFill/>
        </p:spPr>
        <p:txBody>
          <a:bodyPr wrap="square">
            <a:spAutoFit/>
          </a:bodyPr>
          <a:lstStyle/>
          <a:p>
            <a:r>
              <a:rPr lang="en-US" altLang="zh-TW" dirty="0"/>
              <a:t>&lt;tool&gt;Temperature('</a:t>
            </a:r>
            <a:r>
              <a:rPr lang="zh-TW" altLang="en-US" dirty="0"/>
              <a:t>高雄</a:t>
            </a:r>
            <a:r>
              <a:rPr lang="en-US" altLang="zh-TW" dirty="0"/>
              <a:t>', '2025.03.10 14:00')&lt;/tool&gt;</a:t>
            </a:r>
            <a:endParaRPr lang="en-US" altLang="zh-TW" dirty="0"/>
          </a:p>
        </p:txBody>
      </p:sp>
      <p:cxnSp>
        <p:nvCxnSpPr>
          <p:cNvPr id="15" name="直線單箭頭接點 14"/>
          <p:cNvCxnSpPr>
            <a:stCxn id="7" idx="2"/>
          </p:cNvCxnSpPr>
          <p:nvPr/>
        </p:nvCxnSpPr>
        <p:spPr>
          <a:xfrm flipH="1">
            <a:off x="5557837" y="3760259"/>
            <a:ext cx="1" cy="3839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H="1">
            <a:off x="5567361" y="2410790"/>
            <a:ext cx="1" cy="3839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p:cNvSpPr txBox="1"/>
          <p:nvPr/>
        </p:nvSpPr>
        <p:spPr>
          <a:xfrm>
            <a:off x="6624640" y="1930912"/>
            <a:ext cx="2218874" cy="461665"/>
          </a:xfrm>
          <a:prstGeom prst="rect">
            <a:avLst/>
          </a:prstGeom>
          <a:noFill/>
        </p:spPr>
        <p:txBody>
          <a:bodyPr wrap="square" rtlCol="0">
            <a:spAutoFit/>
          </a:bodyPr>
          <a:lstStyle/>
          <a:p>
            <a:r>
              <a:rPr lang="en-US" altLang="zh-TW" sz="2400" b="1" dirty="0">
                <a:solidFill>
                  <a:srgbClr val="0000FF"/>
                </a:solidFill>
                <a:latin typeface="Microsoft JhengHei" panose="020B0604030504040204" pitchFamily="34" charset="-120"/>
                <a:ea typeface="Microsoft JhengHei" panose="020B0604030504040204" pitchFamily="34" charset="-120"/>
              </a:rPr>
              <a:t>User Prompt</a:t>
            </a:r>
            <a:endParaRPr lang="zh-TW" altLang="en-US" sz="2400" b="1" dirty="0">
              <a:solidFill>
                <a:srgbClr val="0000FF"/>
              </a:solidFill>
              <a:latin typeface="Microsoft JhengHei" panose="020B0604030504040204" pitchFamily="34" charset="-120"/>
              <a:ea typeface="Microsoft JhengHei" panose="020B0604030504040204" pitchFamily="34" charset="-120"/>
            </a:endParaRPr>
          </a:p>
        </p:txBody>
      </p:sp>
      <p:sp>
        <p:nvSpPr>
          <p:cNvPr id="22" name="文字方塊 21"/>
          <p:cNvSpPr txBox="1"/>
          <p:nvPr/>
        </p:nvSpPr>
        <p:spPr>
          <a:xfrm>
            <a:off x="6624640" y="1371337"/>
            <a:ext cx="2835731" cy="461665"/>
          </a:xfrm>
          <a:prstGeom prst="rect">
            <a:avLst/>
          </a:prstGeom>
          <a:noFill/>
        </p:spPr>
        <p:txBody>
          <a:bodyPr wrap="square" rtlCol="0">
            <a:spAutoFit/>
          </a:bodyPr>
          <a:lstStyle/>
          <a:p>
            <a:r>
              <a:rPr lang="en-US" altLang="zh-TW" sz="2400" b="1" dirty="0">
                <a:solidFill>
                  <a:srgbClr val="0000FF"/>
                </a:solidFill>
                <a:latin typeface="Microsoft JhengHei" panose="020B0604030504040204" pitchFamily="34" charset="-120"/>
                <a:ea typeface="Microsoft JhengHei" panose="020B0604030504040204" pitchFamily="34" charset="-120"/>
              </a:rPr>
              <a:t>System Prompt</a:t>
            </a:r>
            <a:endParaRPr lang="zh-TW" altLang="en-US" sz="2400" b="1" dirty="0">
              <a:solidFill>
                <a:srgbClr val="0000FF"/>
              </a:solidFill>
              <a:latin typeface="Microsoft JhengHei" panose="020B0604030504040204" pitchFamily="34" charset="-120"/>
              <a:ea typeface="Microsoft JhengHei" panose="020B0604030504040204" pitchFamily="34" charset="-120"/>
            </a:endParaRPr>
          </a:p>
        </p:txBody>
      </p:sp>
      <p:sp>
        <p:nvSpPr>
          <p:cNvPr id="25" name="矩形: 圓角 24"/>
          <p:cNvSpPr/>
          <p:nvPr/>
        </p:nvSpPr>
        <p:spPr>
          <a:xfrm>
            <a:off x="1333499" y="1970015"/>
            <a:ext cx="5295891" cy="393729"/>
          </a:xfrm>
          <a:prstGeom prst="roundRect">
            <a:avLst>
              <a:gd name="adj" fmla="val 10097"/>
            </a:avLst>
          </a:prstGeom>
          <a:noFill/>
          <a:ln w="38100">
            <a:solidFill>
              <a:srgbClr val="0000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圓角 25"/>
          <p:cNvSpPr/>
          <p:nvPr/>
        </p:nvSpPr>
        <p:spPr>
          <a:xfrm>
            <a:off x="1333501" y="1371337"/>
            <a:ext cx="5291140" cy="461665"/>
          </a:xfrm>
          <a:prstGeom prst="roundRect">
            <a:avLst>
              <a:gd name="adj" fmla="val 4705"/>
            </a:avLst>
          </a:prstGeom>
          <a:noFill/>
          <a:ln w="38100">
            <a:solidFill>
              <a:srgbClr val="0000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p:cNvSpPr txBox="1"/>
          <p:nvPr/>
        </p:nvSpPr>
        <p:spPr>
          <a:xfrm>
            <a:off x="1490435" y="1405538"/>
            <a:ext cx="5011965" cy="369332"/>
          </a:xfrm>
          <a:prstGeom prst="rect">
            <a:avLst/>
          </a:prstGeom>
          <a:noFill/>
        </p:spPr>
        <p:txBody>
          <a:bodyPr wrap="square">
            <a:spAutoFit/>
          </a:bodyPr>
          <a:lstStyle/>
          <a:p>
            <a:r>
              <a:rPr lang="zh-TW" altLang="en-US" dirty="0"/>
              <a:t>工具使用方式 </a:t>
            </a:r>
            <a:r>
              <a:rPr lang="en-US" altLang="zh-TW" dirty="0"/>
              <a:t>……</a:t>
            </a:r>
            <a:endParaRPr lang="zh-TW" altLang="en-US" dirty="0"/>
          </a:p>
        </p:txBody>
      </p:sp>
      <p:sp>
        <p:nvSpPr>
          <p:cNvPr id="4" name="文字方塊 3"/>
          <p:cNvSpPr txBox="1"/>
          <p:nvPr/>
        </p:nvSpPr>
        <p:spPr>
          <a:xfrm>
            <a:off x="6774321" y="4150325"/>
            <a:ext cx="3245977" cy="369332"/>
          </a:xfrm>
          <a:prstGeom prst="rect">
            <a:avLst/>
          </a:prstGeom>
          <a:noFill/>
        </p:spPr>
        <p:txBody>
          <a:bodyPr wrap="square">
            <a:spAutoFit/>
          </a:bodyPr>
          <a:lstStyle/>
          <a:p>
            <a:r>
              <a:rPr lang="en-US" altLang="zh-TW" dirty="0"/>
              <a:t>&lt;output&gt;</a:t>
            </a:r>
            <a:r>
              <a:rPr lang="zh-TW" altLang="en-US" dirty="0"/>
              <a:t>攝氏 </a:t>
            </a:r>
            <a:r>
              <a:rPr lang="en-US" altLang="zh-TW" dirty="0"/>
              <a:t>32 </a:t>
            </a:r>
            <a:r>
              <a:rPr lang="zh-TW" altLang="en-US" dirty="0"/>
              <a:t>度</a:t>
            </a:r>
            <a:r>
              <a:rPr lang="en-US" altLang="zh-TW" dirty="0"/>
              <a:t>&lt;/output&gt;</a:t>
            </a:r>
            <a:endParaRPr lang="en-US" altLang="zh-TW" dirty="0"/>
          </a:p>
        </p:txBody>
      </p:sp>
      <p:sp>
        <p:nvSpPr>
          <p:cNvPr id="5" name="文字方塊 4"/>
          <p:cNvSpPr txBox="1"/>
          <p:nvPr/>
        </p:nvSpPr>
        <p:spPr>
          <a:xfrm>
            <a:off x="646680" y="3631480"/>
            <a:ext cx="2659743"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不需要呈現給使用者看</a:t>
            </a:r>
            <a:endParaRPr lang="zh-TW" altLang="en-US" dirty="0">
              <a:latin typeface="Microsoft JhengHei" panose="020B0604030504040204" pitchFamily="34" charset="-120"/>
              <a:ea typeface="Microsoft JhengHei" panose="020B0604030504040204" pitchFamily="34" charset="-120"/>
            </a:endParaRPr>
          </a:p>
        </p:txBody>
      </p:sp>
      <p:sp>
        <p:nvSpPr>
          <p:cNvPr id="8" name="文字方塊 7"/>
          <p:cNvSpPr txBox="1"/>
          <p:nvPr/>
        </p:nvSpPr>
        <p:spPr>
          <a:xfrm>
            <a:off x="1199924" y="5065470"/>
            <a:ext cx="1796144" cy="646331"/>
          </a:xfrm>
          <a:prstGeom prst="rect">
            <a:avLst/>
          </a:prstGeom>
          <a:noFill/>
        </p:spPr>
        <p:txBody>
          <a:bodyPr wrap="square" rtlCol="0">
            <a:spAutoFit/>
          </a:bodyPr>
          <a:lstStyle/>
          <a:p>
            <a:pPr algn="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開發者</a:t>
            </a:r>
            <a:endParaRPr lang="en-US" altLang="zh-TW" dirty="0">
              <a:latin typeface="Microsoft JhengHei" panose="020B0604030504040204" pitchFamily="34" charset="-120"/>
              <a:ea typeface="Microsoft JhengHei" panose="020B0604030504040204" pitchFamily="34" charset="-120"/>
            </a:endParaRPr>
          </a:p>
          <a:p>
            <a:pPr algn="r"/>
            <a:r>
              <a:rPr lang="zh-TW" altLang="en-US" dirty="0">
                <a:latin typeface="Microsoft JhengHei" panose="020B0604030504040204" pitchFamily="34" charset="-120"/>
                <a:ea typeface="Microsoft JhengHei" panose="020B0604030504040204" pitchFamily="34" charset="-120"/>
              </a:rPr>
              <a:t>先設定好的流程</a:t>
            </a:r>
            <a:endParaRPr lang="zh-TW" altLang="en-US" dirty="0">
              <a:latin typeface="Microsoft JhengHei" panose="020B0604030504040204" pitchFamily="34" charset="-120"/>
              <a:ea typeface="Microsoft JhengHei" panose="020B0604030504040204" pitchFamily="34" charset="-120"/>
            </a:endParaRPr>
          </a:p>
        </p:txBody>
      </p:sp>
      <p:sp>
        <p:nvSpPr>
          <p:cNvPr id="10" name="矩形: 圓角 9"/>
          <p:cNvSpPr/>
          <p:nvPr/>
        </p:nvSpPr>
        <p:spPr>
          <a:xfrm>
            <a:off x="3083379" y="5136964"/>
            <a:ext cx="2241096" cy="554303"/>
          </a:xfrm>
          <a:prstGeom prst="roundRect">
            <a:avLst/>
          </a:prstGeom>
          <a:solidFill>
            <a:schemeClr val="accent4">
              <a:lumMod val="20000"/>
              <a:lumOff val="80000"/>
            </a:schemeClr>
          </a:solidFill>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latin typeface="Microsoft JhengHei" panose="020B0604030504040204" pitchFamily="34" charset="-120"/>
                <a:ea typeface="Microsoft JhengHei" panose="020B0604030504040204" pitchFamily="34" charset="-120"/>
              </a:rPr>
              <a:t>Temperature</a:t>
            </a:r>
            <a:endParaRPr lang="zh-TW" altLang="en-US" sz="2400" dirty="0">
              <a:latin typeface="Microsoft JhengHei" panose="020B0604030504040204" pitchFamily="34" charset="-120"/>
              <a:ea typeface="Microsoft JhengHei" panose="020B0604030504040204" pitchFamily="34" charset="-120"/>
            </a:endParaRPr>
          </a:p>
        </p:txBody>
      </p:sp>
      <p:cxnSp>
        <p:nvCxnSpPr>
          <p:cNvPr id="12" name="直線單箭頭接點 11"/>
          <p:cNvCxnSpPr/>
          <p:nvPr/>
        </p:nvCxnSpPr>
        <p:spPr>
          <a:xfrm flipH="1">
            <a:off x="4212543" y="4709461"/>
            <a:ext cx="1" cy="3839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右大括弧 13"/>
          <p:cNvSpPr/>
          <p:nvPr/>
        </p:nvSpPr>
        <p:spPr>
          <a:xfrm rot="5400000">
            <a:off x="4078269" y="2732611"/>
            <a:ext cx="274224" cy="3761236"/>
          </a:xfrm>
          <a:prstGeom prst="rightBrace">
            <a:avLst>
              <a:gd name="adj1" fmla="val 39564"/>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7" name="右大括弧 16"/>
          <p:cNvSpPr/>
          <p:nvPr/>
        </p:nvSpPr>
        <p:spPr>
          <a:xfrm rot="5400000">
            <a:off x="8152662" y="4044975"/>
            <a:ext cx="250944" cy="1130760"/>
          </a:xfrm>
          <a:prstGeom prst="rightBrace">
            <a:avLst>
              <a:gd name="adj1" fmla="val 39564"/>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8" name="文字方塊 17"/>
          <p:cNvSpPr txBox="1"/>
          <p:nvPr/>
        </p:nvSpPr>
        <p:spPr>
          <a:xfrm>
            <a:off x="7708392" y="3624422"/>
            <a:ext cx="2659743"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不需要呈現給使用者看</a:t>
            </a:r>
            <a:endParaRPr lang="zh-TW" altLang="en-US" dirty="0">
              <a:latin typeface="Microsoft JhengHei" panose="020B0604030504040204" pitchFamily="34" charset="-120"/>
              <a:ea typeface="Microsoft JhengHei" panose="020B0604030504040204" pitchFamily="34" charset="-120"/>
            </a:endParaRPr>
          </a:p>
        </p:txBody>
      </p:sp>
      <p:cxnSp>
        <p:nvCxnSpPr>
          <p:cNvPr id="27" name="直線單箭頭接點 26"/>
          <p:cNvCxnSpPr/>
          <p:nvPr/>
        </p:nvCxnSpPr>
        <p:spPr>
          <a:xfrm flipV="1">
            <a:off x="8278133" y="4721313"/>
            <a:ext cx="0" cy="6883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a:off x="5343524" y="5409628"/>
            <a:ext cx="2934611" cy="1"/>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flipH="1" flipV="1">
            <a:off x="1753222" y="3956532"/>
            <a:ext cx="322603" cy="253549"/>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V="1">
            <a:off x="7326256" y="3903677"/>
            <a:ext cx="407821" cy="284027"/>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文字方塊 39"/>
          <p:cNvSpPr txBox="1"/>
          <p:nvPr/>
        </p:nvSpPr>
        <p:spPr>
          <a:xfrm>
            <a:off x="3726313" y="6023582"/>
            <a:ext cx="6096000" cy="369332"/>
          </a:xfrm>
          <a:prstGeom prst="rect">
            <a:avLst/>
          </a:prstGeom>
          <a:noFill/>
        </p:spPr>
        <p:txBody>
          <a:bodyPr wrap="square">
            <a:spAutoFit/>
          </a:bodyPr>
          <a:lstStyle/>
          <a:p>
            <a:r>
              <a:rPr lang="en-US" altLang="zh-TW" dirty="0"/>
              <a:t>2025 </a:t>
            </a:r>
            <a:r>
              <a:rPr lang="zh-TW" altLang="en-US" dirty="0"/>
              <a:t>年 </a:t>
            </a:r>
            <a:r>
              <a:rPr lang="en-US" altLang="zh-TW" dirty="0"/>
              <a:t>3 </a:t>
            </a:r>
            <a:r>
              <a:rPr lang="zh-TW" altLang="en-US" dirty="0"/>
              <a:t>月 </a:t>
            </a:r>
            <a:r>
              <a:rPr lang="en-US" altLang="zh-TW" dirty="0"/>
              <a:t>10 </a:t>
            </a:r>
            <a:r>
              <a:rPr lang="zh-TW" altLang="en-US" dirty="0"/>
              <a:t>日下午 </a:t>
            </a:r>
            <a:r>
              <a:rPr lang="en-US" altLang="zh-TW" dirty="0"/>
              <a:t>2:00</a:t>
            </a:r>
            <a:r>
              <a:rPr lang="zh-TW" altLang="en-US" dirty="0"/>
              <a:t>，高雄的氣溫為攝氏</a:t>
            </a:r>
            <a:r>
              <a:rPr lang="en-US" altLang="zh-TW" dirty="0"/>
              <a:t>32</a:t>
            </a:r>
            <a:r>
              <a:rPr lang="zh-TW" altLang="en-US" dirty="0"/>
              <a:t>度。</a:t>
            </a:r>
            <a:endParaRPr lang="zh-TW" altLang="en-US" dirty="0"/>
          </a:p>
        </p:txBody>
      </p:sp>
      <p:sp>
        <p:nvSpPr>
          <p:cNvPr id="41" name="文字方塊 40"/>
          <p:cNvSpPr txBox="1"/>
          <p:nvPr/>
        </p:nvSpPr>
        <p:spPr>
          <a:xfrm>
            <a:off x="1534527" y="6023582"/>
            <a:ext cx="2593663" cy="369332"/>
          </a:xfrm>
          <a:prstGeom prst="rect">
            <a:avLst/>
          </a:prstGeom>
          <a:noFill/>
        </p:spPr>
        <p:txBody>
          <a:bodyPr wrap="square" rtlCol="0">
            <a:spAutoFit/>
          </a:bodyPr>
          <a:lstStyle/>
          <a:p>
            <a:r>
              <a:rPr lang="en-US" altLang="zh-TW" dirty="0"/>
              <a:t>(</a:t>
            </a:r>
            <a:r>
              <a:rPr lang="zh-TW" altLang="en-US" dirty="0"/>
              <a:t>繼續去做接龍 </a:t>
            </a:r>
            <a:r>
              <a:rPr lang="en-US" altLang="zh-TW" dirty="0"/>
              <a:t>……)</a:t>
            </a:r>
            <a:endParaRPr lang="zh-TW" altLang="en-US" dirty="0"/>
          </a:p>
        </p:txBody>
      </p:sp>
      <p:sp>
        <p:nvSpPr>
          <p:cNvPr id="42" name="文字方塊 41"/>
          <p:cNvSpPr txBox="1"/>
          <p:nvPr/>
        </p:nvSpPr>
        <p:spPr>
          <a:xfrm>
            <a:off x="9537877" y="5500563"/>
            <a:ext cx="2659743"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使用者看到的輸出</a:t>
            </a:r>
            <a:endParaRPr lang="zh-TW" altLang="en-US" dirty="0">
              <a:latin typeface="Microsoft JhengHei" panose="020B0604030504040204" pitchFamily="34" charset="-120"/>
              <a:ea typeface="Microsoft JhengHei" panose="020B0604030504040204" pitchFamily="34" charset="-120"/>
            </a:endParaRPr>
          </a:p>
        </p:txBody>
      </p:sp>
      <p:cxnSp>
        <p:nvCxnSpPr>
          <p:cNvPr id="43" name="直線單箭頭接點 42"/>
          <p:cNvCxnSpPr/>
          <p:nvPr/>
        </p:nvCxnSpPr>
        <p:spPr>
          <a:xfrm flipV="1">
            <a:off x="9038263" y="5714279"/>
            <a:ext cx="497962" cy="280253"/>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5" name="文字方塊 44"/>
          <p:cNvSpPr txBox="1"/>
          <p:nvPr/>
        </p:nvSpPr>
        <p:spPr>
          <a:xfrm>
            <a:off x="6215569" y="3075561"/>
            <a:ext cx="3151761" cy="369332"/>
          </a:xfrm>
          <a:prstGeom prst="rect">
            <a:avLst/>
          </a:prstGeom>
          <a:noFill/>
        </p:spPr>
        <p:txBody>
          <a:bodyPr wrap="square" rtlCol="0">
            <a:spAutoFit/>
          </a:bodyPr>
          <a:lstStyle/>
          <a:p>
            <a:r>
              <a:rPr lang="en-US" altLang="zh-TW" dirty="0"/>
              <a:t>gpt-4o-mini</a:t>
            </a:r>
            <a:endParaRPr lang="zh-TW" altLang="en-US" dirty="0"/>
          </a:p>
        </p:txBody>
      </p:sp>
      <p:sp>
        <p:nvSpPr>
          <p:cNvPr id="6" name="文字方塊 5"/>
          <p:cNvSpPr txBox="1"/>
          <p:nvPr/>
        </p:nvSpPr>
        <p:spPr>
          <a:xfrm>
            <a:off x="6739161" y="95855"/>
            <a:ext cx="5567363" cy="369332"/>
          </a:xfrm>
          <a:prstGeom prst="rect">
            <a:avLst/>
          </a:prstGeom>
          <a:noFill/>
        </p:spPr>
        <p:txBody>
          <a:bodyPr wrap="square" rtlCol="0">
            <a:spAutoFit/>
          </a:bodyPr>
          <a:lstStyle/>
          <a:p>
            <a:r>
              <a:rPr lang="en-US" altLang="zh-TW"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使用工具的方法很多，這邊是只是一個通用的方法</a:t>
            </a:r>
            <a:r>
              <a:rPr lang="en-US" altLang="zh-TW" dirty="0">
                <a:latin typeface="Microsoft JhengHei" panose="020B0604030504040204" pitchFamily="34" charset="-120"/>
                <a:ea typeface="Microsoft JhengHei" panose="020B0604030504040204" pitchFamily="34" charset="-120"/>
              </a:rPr>
              <a:t>)</a:t>
            </a:r>
            <a:endParaRPr lang="zh-TW" altLang="en-US"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4" grpId="0"/>
      <p:bldP spid="5" grpId="0"/>
      <p:bldP spid="8" grpId="0"/>
      <p:bldP spid="10" grpId="0" animBg="1"/>
      <p:bldP spid="14" grpId="0" animBg="1"/>
      <p:bldP spid="17" grpId="0" animBg="1"/>
      <p:bldP spid="18" grpId="0"/>
      <p:bldP spid="40" grpId="0"/>
      <p:bldP spid="41" grpId="0"/>
      <p:bldP spid="4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最常使用的工具：搜尋引擎</a:t>
            </a:r>
            <a:endParaRPr lang="zh-TW" altLang="en-US" dirty="0">
              <a:latin typeface="Microsoft JhengHei" panose="020B0604030504040204" pitchFamily="34" charset="-120"/>
              <a:ea typeface="Microsoft JhengHei" panose="020B0604030504040204" pitchFamily="34" charset="-120"/>
            </a:endParaRPr>
          </a:p>
        </p:txBody>
      </p:sp>
      <p:sp>
        <p:nvSpPr>
          <p:cNvPr id="4" name="文字方塊 3"/>
          <p:cNvSpPr txBox="1"/>
          <p:nvPr/>
        </p:nvSpPr>
        <p:spPr>
          <a:xfrm>
            <a:off x="4318573" y="1302405"/>
            <a:ext cx="7451388" cy="523220"/>
          </a:xfrm>
          <a:prstGeom prst="rect">
            <a:avLst/>
          </a:prstGeom>
          <a:noFill/>
        </p:spPr>
        <p:txBody>
          <a:bodyPr wrap="square" rtlCol="0">
            <a:spAutoFit/>
          </a:bodyPr>
          <a:lstStyle/>
          <a:p>
            <a:pPr algn="r"/>
            <a:r>
              <a:rPr lang="en-US" altLang="zh-TW" sz="2800" b="1" dirty="0"/>
              <a:t>Retrieval Augmented Generation (RAG)</a:t>
            </a:r>
            <a:endParaRPr lang="zh-TW" altLang="en-US" sz="2800" b="1" dirty="0"/>
          </a:p>
        </p:txBody>
      </p:sp>
      <p:pic>
        <p:nvPicPr>
          <p:cNvPr id="8" name="圖片 7"/>
          <p:cNvPicPr>
            <a:picLocks noChangeAspect="1"/>
          </p:cNvPicPr>
          <p:nvPr/>
        </p:nvPicPr>
        <p:blipFill>
          <a:blip r:embed="rId1"/>
          <a:stretch>
            <a:fillRect/>
          </a:stretch>
        </p:blipFill>
        <p:spPr>
          <a:xfrm>
            <a:off x="2043858" y="2030333"/>
            <a:ext cx="8104284" cy="433298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9" name="矩形: 圓角 8"/>
          <p:cNvSpPr/>
          <p:nvPr/>
        </p:nvSpPr>
        <p:spPr>
          <a:xfrm>
            <a:off x="3467100" y="4448175"/>
            <a:ext cx="1362075" cy="33337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使用其他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作為工具 </a:t>
            </a:r>
            <a:endParaRPr lang="zh-TW" altLang="en-US" dirty="0">
              <a:latin typeface="Microsoft JhengHei" panose="020B0604030504040204" pitchFamily="34" charset="-120"/>
              <a:ea typeface="Microsoft JhengHei" panose="020B0604030504040204" pitchFamily="34" charset="-120"/>
            </a:endParaRPr>
          </a:p>
        </p:txBody>
      </p:sp>
      <p:sp>
        <p:nvSpPr>
          <p:cNvPr id="3" name="內容版面配置區 2"/>
          <p:cNvSpPr>
            <a:spLocks noGrp="1"/>
          </p:cNvSpPr>
          <p:nvPr>
            <p:ph idx="1"/>
          </p:nvPr>
        </p:nvSpPr>
        <p:spPr/>
        <p:txBody>
          <a:bodyPr/>
          <a:lstStyle/>
          <a:p>
            <a:endParaRPr lang="zh-TW" altLang="en-US" dirty="0"/>
          </a:p>
        </p:txBody>
      </p:sp>
      <p:sp>
        <p:nvSpPr>
          <p:cNvPr id="12" name="矩形: 圓角 11"/>
          <p:cNvSpPr/>
          <p:nvPr/>
        </p:nvSpPr>
        <p:spPr>
          <a:xfrm>
            <a:off x="6096000" y="2014945"/>
            <a:ext cx="1693981" cy="1097684"/>
          </a:xfrm>
          <a:prstGeom prst="roundRect">
            <a:avLst/>
          </a:prstGeom>
          <a:solidFill>
            <a:srgbClr val="4472C4">
              <a:lumMod val="20000"/>
              <a:lumOff val="80000"/>
            </a:srgbClr>
          </a:solidFill>
          <a:ln w="571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TW" altLang="en-US" sz="2400" b="0" i="0" u="none" strike="noStrike" kern="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語言</a:t>
            </a:r>
            <a:endParaRPr kumimoji="0" lang="en-US" altLang="zh-TW" sz="2400" b="0" i="0" u="none" strike="noStrike" kern="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TW" altLang="en-US" sz="2400" b="0" i="0" u="none" strike="noStrike" kern="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模型</a:t>
            </a:r>
            <a:endParaRPr kumimoji="0" lang="zh-TW" altLang="en-US" sz="2400" b="0" i="0" u="none" strike="noStrike" kern="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p:txBody>
      </p:sp>
      <p:cxnSp>
        <p:nvCxnSpPr>
          <p:cNvPr id="13" name="直線單箭頭接點 12"/>
          <p:cNvCxnSpPr/>
          <p:nvPr/>
        </p:nvCxnSpPr>
        <p:spPr>
          <a:xfrm>
            <a:off x="5084883" y="2567356"/>
            <a:ext cx="855433" cy="0"/>
          </a:xfrm>
          <a:prstGeom prst="straightConnector1">
            <a:avLst/>
          </a:prstGeom>
          <a:noFill/>
          <a:ln w="57150" cap="flat" cmpd="sng" algn="ctr">
            <a:solidFill>
              <a:sysClr val="windowText" lastClr="000000"/>
            </a:solidFill>
            <a:prstDash val="solid"/>
            <a:miter lim="800000"/>
            <a:tailEnd type="triangle"/>
          </a:ln>
          <a:effectLst/>
        </p:spPr>
      </p:cxnSp>
      <p:cxnSp>
        <p:nvCxnSpPr>
          <p:cNvPr id="14" name="直線單箭頭接點 13"/>
          <p:cNvCxnSpPr/>
          <p:nvPr/>
        </p:nvCxnSpPr>
        <p:spPr>
          <a:xfrm>
            <a:off x="7925671" y="2563787"/>
            <a:ext cx="1193245" cy="0"/>
          </a:xfrm>
          <a:prstGeom prst="straightConnector1">
            <a:avLst/>
          </a:prstGeom>
          <a:noFill/>
          <a:ln w="57150" cap="flat" cmpd="sng" algn="ctr">
            <a:solidFill>
              <a:sysClr val="windowText" lastClr="000000"/>
            </a:solidFill>
            <a:prstDash val="solid"/>
            <a:miter lim="800000"/>
            <a:tailEnd type="triangle"/>
          </a:ln>
          <a:effectLst/>
        </p:spPr>
      </p:cxnSp>
      <p:grpSp>
        <p:nvGrpSpPr>
          <p:cNvPr id="15" name="群組 14"/>
          <p:cNvGrpSpPr/>
          <p:nvPr/>
        </p:nvGrpSpPr>
        <p:grpSpPr>
          <a:xfrm>
            <a:off x="817153" y="2114262"/>
            <a:ext cx="2287997" cy="830012"/>
            <a:chOff x="393073" y="5022255"/>
            <a:chExt cx="2117030" cy="878286"/>
          </a:xfrm>
        </p:grpSpPr>
        <p:pic>
          <p:nvPicPr>
            <p:cNvPr id="16" name="Google Shape;3429;p293" descr="https://lh3.googleusercontent.com/ErsprmYcrgXkAxt8GddRWWqvLg_rDp2yFTkxcS8T0t7xlWULZHifO-__ODwkQYArchxRaJCYFk8bS2rkx2dUceEB0bnIfswMqnR3V2ZMms8Or9J82k2r23hQnYEACGdvbHQmIFKU220"/>
            <p:cNvPicPr preferRelativeResize="0"/>
            <p:nvPr/>
          </p:nvPicPr>
          <p:blipFill rotWithShape="1">
            <a:blip r:embed="rId1"/>
            <a:srcRect l="39924" t="74586" r="38724" b="15732"/>
            <a:stretch>
              <a:fillRect/>
            </a:stretch>
          </p:blipFill>
          <p:spPr>
            <a:xfrm>
              <a:off x="393073" y="5022255"/>
              <a:ext cx="1347649" cy="809022"/>
            </a:xfrm>
            <a:prstGeom prst="rect">
              <a:avLst/>
            </a:prstGeom>
            <a:noFill/>
            <a:ln>
              <a:noFill/>
            </a:ln>
          </p:spPr>
        </p:pic>
        <p:pic>
          <p:nvPicPr>
            <p:cNvPr id="17" name="Google Shape;3430;p293" descr="https://lh3.googleusercontent.com/ErsprmYcrgXkAxt8GddRWWqvLg_rDp2yFTkxcS8T0t7xlWULZHifO-__ODwkQYArchxRaJCYFk8bS2rkx2dUceEB0bnIfswMqnR3V2ZMms8Or9J82k2r23hQnYEACGdvbHQmIFKU220"/>
            <p:cNvPicPr preferRelativeResize="0"/>
            <p:nvPr/>
          </p:nvPicPr>
          <p:blipFill rotWithShape="1">
            <a:blip r:embed="rId1"/>
            <a:srcRect l="35083" t="84591" r="35071" b="1174"/>
            <a:stretch>
              <a:fillRect/>
            </a:stretch>
          </p:blipFill>
          <p:spPr>
            <a:xfrm>
              <a:off x="1576011" y="5095308"/>
              <a:ext cx="934092" cy="805233"/>
            </a:xfrm>
            <a:prstGeom prst="rect">
              <a:avLst/>
            </a:prstGeom>
            <a:noFill/>
            <a:ln>
              <a:noFill/>
            </a:ln>
          </p:spPr>
        </p:pic>
      </p:grpSp>
      <p:sp>
        <p:nvSpPr>
          <p:cNvPr id="18" name="矩形: 圓角 17"/>
          <p:cNvSpPr/>
          <p:nvPr/>
        </p:nvSpPr>
        <p:spPr>
          <a:xfrm>
            <a:off x="3216341" y="2314285"/>
            <a:ext cx="1790700" cy="511203"/>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TW" altLang="en-US" sz="2400" dirty="0">
                <a:latin typeface="Microsoft JhengHei" panose="020B0604030504040204" pitchFamily="34" charset="-120"/>
                <a:ea typeface="Microsoft JhengHei" panose="020B0604030504040204" pitchFamily="34" charset="-120"/>
              </a:rPr>
              <a:t>文字指令</a:t>
            </a:r>
            <a:endParaRPr lang="zh-TW" altLang="en-US" sz="2400" dirty="0">
              <a:latin typeface="Microsoft JhengHei" panose="020B0604030504040204" pitchFamily="34" charset="-120"/>
              <a:ea typeface="Microsoft JhengHei" panose="020B0604030504040204" pitchFamily="34" charset="-120"/>
            </a:endParaRPr>
          </a:p>
        </p:txBody>
      </p:sp>
      <p:sp>
        <p:nvSpPr>
          <p:cNvPr id="19" name="矩形: 圓角 18"/>
          <p:cNvSpPr/>
          <p:nvPr/>
        </p:nvSpPr>
        <p:spPr>
          <a:xfrm>
            <a:off x="9254606" y="2314285"/>
            <a:ext cx="1790700" cy="511203"/>
          </a:xfrm>
          <a:prstGeom prst="roundRect">
            <a:avLst/>
          </a:prstGeom>
          <a:solidFill>
            <a:schemeClr val="accent6">
              <a:lumMod val="40000"/>
              <a:lumOff val="6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TW" altLang="en-US" sz="2400" dirty="0">
                <a:latin typeface="Microsoft JhengHei" panose="020B0604030504040204" pitchFamily="34" charset="-120"/>
                <a:ea typeface="Microsoft JhengHei" panose="020B0604030504040204" pitchFamily="34" charset="-120"/>
              </a:rPr>
              <a:t>文字回應</a:t>
            </a:r>
            <a:endParaRPr lang="zh-TW" altLang="en-US" sz="2400" dirty="0">
              <a:latin typeface="Microsoft JhengHei" panose="020B0604030504040204" pitchFamily="34" charset="-120"/>
              <a:ea typeface="Microsoft JhengHei" panose="020B0604030504040204" pitchFamily="34" charset="-120"/>
            </a:endParaRPr>
          </a:p>
        </p:txBody>
      </p:sp>
      <p:sp>
        <p:nvSpPr>
          <p:cNvPr id="20" name="矩形: 圓角 19"/>
          <p:cNvSpPr/>
          <p:nvPr/>
        </p:nvSpPr>
        <p:spPr>
          <a:xfrm>
            <a:off x="6096000" y="3536203"/>
            <a:ext cx="1693981" cy="1097684"/>
          </a:xfrm>
          <a:prstGeom prst="roundRect">
            <a:avLst/>
          </a:prstGeom>
          <a:solidFill>
            <a:srgbClr val="4472C4">
              <a:lumMod val="20000"/>
              <a:lumOff val="80000"/>
            </a:srgbClr>
          </a:solidFill>
          <a:ln w="57150" cap="flat" cmpd="sng" algn="ctr">
            <a:solidFill>
              <a:sysClr val="windowText" lastClr="000000"/>
            </a:solidFill>
            <a:prstDash val="solid"/>
            <a:miter lim="800000"/>
          </a:ln>
          <a:effectLst/>
        </p:spPr>
        <p:txBody>
          <a:bodyPr rtlCol="0" anchor="ctr"/>
          <a:lstStyle/>
          <a:p>
            <a:pPr lvl="0" algn="ctr">
              <a:defRPr/>
            </a:pPr>
            <a:r>
              <a:rPr lang="zh-TW" altLang="en-US" sz="2400" kern="0" dirty="0">
                <a:solidFill>
                  <a:prstClr val="black"/>
                </a:solidFill>
                <a:latin typeface="Microsoft JhengHei" panose="020B0604030504040204" pitchFamily="34" charset="-120"/>
                <a:ea typeface="Microsoft JhengHei" panose="020B0604030504040204" pitchFamily="34" charset="-120"/>
              </a:rPr>
              <a:t>語言</a:t>
            </a:r>
            <a:endParaRPr lang="en-US" altLang="zh-TW" sz="2400" kern="0" dirty="0">
              <a:solidFill>
                <a:prstClr val="black"/>
              </a:solidFill>
              <a:latin typeface="Microsoft JhengHei" panose="020B0604030504040204" pitchFamily="34" charset="-120"/>
              <a:ea typeface="Microsoft JhengHei" panose="020B0604030504040204" pitchFamily="34" charset="-120"/>
            </a:endParaRPr>
          </a:p>
          <a:p>
            <a:pPr lvl="0" algn="ctr">
              <a:defRPr/>
            </a:pPr>
            <a:r>
              <a:rPr lang="zh-TW" altLang="en-US" sz="2400" kern="0" dirty="0">
                <a:solidFill>
                  <a:prstClr val="black"/>
                </a:solidFill>
                <a:latin typeface="Microsoft JhengHei" panose="020B0604030504040204" pitchFamily="34" charset="-120"/>
                <a:ea typeface="Microsoft JhengHei" panose="020B0604030504040204" pitchFamily="34" charset="-120"/>
              </a:rPr>
              <a:t>模型</a:t>
            </a:r>
            <a:endParaRPr lang="zh-TW" altLang="en-US" sz="2400" kern="0" dirty="0">
              <a:solidFill>
                <a:prstClr val="black"/>
              </a:solidFill>
              <a:latin typeface="Microsoft JhengHei" panose="020B0604030504040204" pitchFamily="34" charset="-120"/>
              <a:ea typeface="Microsoft JhengHei" panose="020B0604030504040204" pitchFamily="34" charset="-120"/>
            </a:endParaRPr>
          </a:p>
        </p:txBody>
      </p:sp>
      <p:cxnSp>
        <p:nvCxnSpPr>
          <p:cNvPr id="21" name="直線單箭頭接點 20"/>
          <p:cNvCxnSpPr/>
          <p:nvPr/>
        </p:nvCxnSpPr>
        <p:spPr>
          <a:xfrm>
            <a:off x="5084883" y="4088614"/>
            <a:ext cx="855433" cy="0"/>
          </a:xfrm>
          <a:prstGeom prst="straightConnector1">
            <a:avLst/>
          </a:prstGeom>
          <a:noFill/>
          <a:ln w="57150" cap="flat" cmpd="sng" algn="ctr">
            <a:solidFill>
              <a:sysClr val="windowText" lastClr="000000"/>
            </a:solidFill>
            <a:prstDash val="solid"/>
            <a:miter lim="800000"/>
            <a:tailEnd type="triangle"/>
          </a:ln>
          <a:effectLst/>
        </p:spPr>
      </p:cxnSp>
      <p:cxnSp>
        <p:nvCxnSpPr>
          <p:cNvPr id="22" name="直線單箭頭接點 21"/>
          <p:cNvCxnSpPr/>
          <p:nvPr/>
        </p:nvCxnSpPr>
        <p:spPr>
          <a:xfrm>
            <a:off x="7925671" y="4085045"/>
            <a:ext cx="1193245" cy="0"/>
          </a:xfrm>
          <a:prstGeom prst="straightConnector1">
            <a:avLst/>
          </a:prstGeom>
          <a:noFill/>
          <a:ln w="57150" cap="flat" cmpd="sng" algn="ctr">
            <a:solidFill>
              <a:sysClr val="windowText" lastClr="000000"/>
            </a:solidFill>
            <a:prstDash val="solid"/>
            <a:miter lim="800000"/>
            <a:tailEnd type="triangle"/>
          </a:ln>
          <a:effectLst/>
        </p:spPr>
      </p:cxnSp>
      <p:grpSp>
        <p:nvGrpSpPr>
          <p:cNvPr id="23" name="群組 22"/>
          <p:cNvGrpSpPr/>
          <p:nvPr/>
        </p:nvGrpSpPr>
        <p:grpSpPr>
          <a:xfrm>
            <a:off x="817153" y="3635520"/>
            <a:ext cx="2287997" cy="830012"/>
            <a:chOff x="393073" y="5022255"/>
            <a:chExt cx="2117030" cy="878286"/>
          </a:xfrm>
        </p:grpSpPr>
        <p:pic>
          <p:nvPicPr>
            <p:cNvPr id="24" name="Google Shape;3429;p293" descr="https://lh3.googleusercontent.com/ErsprmYcrgXkAxt8GddRWWqvLg_rDp2yFTkxcS8T0t7xlWULZHifO-__ODwkQYArchxRaJCYFk8bS2rkx2dUceEB0bnIfswMqnR3V2ZMms8Or9J82k2r23hQnYEACGdvbHQmIFKU220"/>
            <p:cNvPicPr preferRelativeResize="0"/>
            <p:nvPr/>
          </p:nvPicPr>
          <p:blipFill rotWithShape="1">
            <a:blip r:embed="rId1"/>
            <a:srcRect l="39924" t="74586" r="38724" b="15732"/>
            <a:stretch>
              <a:fillRect/>
            </a:stretch>
          </p:blipFill>
          <p:spPr>
            <a:xfrm>
              <a:off x="393073" y="5022255"/>
              <a:ext cx="1347649" cy="809022"/>
            </a:xfrm>
            <a:prstGeom prst="rect">
              <a:avLst/>
            </a:prstGeom>
            <a:noFill/>
            <a:ln>
              <a:noFill/>
            </a:ln>
          </p:spPr>
        </p:pic>
        <p:pic>
          <p:nvPicPr>
            <p:cNvPr id="25" name="Google Shape;3430;p293" descr="https://lh3.googleusercontent.com/ErsprmYcrgXkAxt8GddRWWqvLg_rDp2yFTkxcS8T0t7xlWULZHifO-__ODwkQYArchxRaJCYFk8bS2rkx2dUceEB0bnIfswMqnR3V2ZMms8Or9J82k2r23hQnYEACGdvbHQmIFKU220"/>
            <p:cNvPicPr preferRelativeResize="0"/>
            <p:nvPr/>
          </p:nvPicPr>
          <p:blipFill rotWithShape="1">
            <a:blip r:embed="rId1"/>
            <a:srcRect l="35083" t="84591" r="35071" b="1174"/>
            <a:stretch>
              <a:fillRect/>
            </a:stretch>
          </p:blipFill>
          <p:spPr>
            <a:xfrm>
              <a:off x="1576011" y="5095308"/>
              <a:ext cx="934092" cy="805233"/>
            </a:xfrm>
            <a:prstGeom prst="rect">
              <a:avLst/>
            </a:prstGeom>
            <a:noFill/>
            <a:ln>
              <a:noFill/>
            </a:ln>
          </p:spPr>
        </p:pic>
      </p:grpSp>
      <p:sp>
        <p:nvSpPr>
          <p:cNvPr id="26" name="文字方塊 25"/>
          <p:cNvSpPr txBox="1"/>
          <p:nvPr/>
        </p:nvSpPr>
        <p:spPr>
          <a:xfrm>
            <a:off x="3105150" y="3921312"/>
            <a:ext cx="2152650"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這個人在說什麼？</a:t>
            </a:r>
            <a:endParaRPr lang="zh-TW" altLang="en-US" dirty="0">
              <a:latin typeface="Microsoft JhengHei" panose="020B0604030504040204" pitchFamily="34" charset="-120"/>
              <a:ea typeface="Microsoft JhengHei" panose="020B0604030504040204" pitchFamily="34" charset="-120"/>
            </a:endParaRPr>
          </a:p>
        </p:txBody>
      </p:sp>
      <p:sp>
        <p:nvSpPr>
          <p:cNvPr id="27" name="文字方塊 26"/>
          <p:cNvSpPr txBox="1"/>
          <p:nvPr/>
        </p:nvSpPr>
        <p:spPr>
          <a:xfrm>
            <a:off x="9222197" y="3921312"/>
            <a:ext cx="2152650"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他說「大家好」</a:t>
            </a:r>
            <a:endParaRPr lang="zh-TW" altLang="en-US" dirty="0">
              <a:latin typeface="Microsoft JhengHei" panose="020B0604030504040204" pitchFamily="34" charset="-120"/>
              <a:ea typeface="Microsoft JhengHei" panose="020B0604030504040204" pitchFamily="34" charset="-120"/>
            </a:endParaRPr>
          </a:p>
        </p:txBody>
      </p:sp>
      <p:sp>
        <p:nvSpPr>
          <p:cNvPr id="28" name="矩形: 圓角 27"/>
          <p:cNvSpPr/>
          <p:nvPr/>
        </p:nvSpPr>
        <p:spPr>
          <a:xfrm>
            <a:off x="6096000" y="5057461"/>
            <a:ext cx="1693981" cy="1097684"/>
          </a:xfrm>
          <a:prstGeom prst="roundRect">
            <a:avLst/>
          </a:prstGeom>
          <a:solidFill>
            <a:srgbClr val="4472C4">
              <a:lumMod val="20000"/>
              <a:lumOff val="80000"/>
            </a:srgbClr>
          </a:solidFill>
          <a:ln w="57150" cap="flat" cmpd="sng" algn="ctr">
            <a:solidFill>
              <a:sysClr val="windowText" lastClr="000000"/>
            </a:solidFill>
            <a:prstDash val="solid"/>
            <a:miter lim="800000"/>
          </a:ln>
          <a:effectLst/>
        </p:spPr>
        <p:txBody>
          <a:bodyPr rtlCol="0" anchor="ctr"/>
          <a:lstStyle/>
          <a:p>
            <a:pPr lvl="0" algn="ctr">
              <a:defRPr/>
            </a:pPr>
            <a:r>
              <a:rPr lang="zh-TW" altLang="en-US" sz="2400" kern="0" dirty="0">
                <a:solidFill>
                  <a:prstClr val="black"/>
                </a:solidFill>
                <a:latin typeface="Microsoft JhengHei" panose="020B0604030504040204" pitchFamily="34" charset="-120"/>
                <a:ea typeface="Microsoft JhengHei" panose="020B0604030504040204" pitchFamily="34" charset="-120"/>
              </a:rPr>
              <a:t>語言</a:t>
            </a:r>
            <a:endParaRPr lang="en-US" altLang="zh-TW" sz="2400" kern="0" dirty="0">
              <a:solidFill>
                <a:prstClr val="black"/>
              </a:solidFill>
              <a:latin typeface="Microsoft JhengHei" panose="020B0604030504040204" pitchFamily="34" charset="-120"/>
              <a:ea typeface="Microsoft JhengHei" panose="020B0604030504040204" pitchFamily="34" charset="-120"/>
            </a:endParaRPr>
          </a:p>
          <a:p>
            <a:pPr lvl="0" algn="ctr">
              <a:defRPr/>
            </a:pPr>
            <a:r>
              <a:rPr lang="zh-TW" altLang="en-US" sz="2400" kern="0" dirty="0">
                <a:solidFill>
                  <a:prstClr val="black"/>
                </a:solidFill>
                <a:latin typeface="Microsoft JhengHei" panose="020B0604030504040204" pitchFamily="34" charset="-120"/>
                <a:ea typeface="Microsoft JhengHei" panose="020B0604030504040204" pitchFamily="34" charset="-120"/>
              </a:rPr>
              <a:t>模型</a:t>
            </a:r>
            <a:endParaRPr lang="zh-TW" altLang="en-US" sz="2400" kern="0" dirty="0">
              <a:solidFill>
                <a:prstClr val="black"/>
              </a:solidFill>
              <a:latin typeface="Microsoft JhengHei" panose="020B0604030504040204" pitchFamily="34" charset="-120"/>
              <a:ea typeface="Microsoft JhengHei" panose="020B0604030504040204" pitchFamily="34" charset="-120"/>
            </a:endParaRPr>
          </a:p>
        </p:txBody>
      </p:sp>
      <p:cxnSp>
        <p:nvCxnSpPr>
          <p:cNvPr id="29" name="直線單箭頭接點 28"/>
          <p:cNvCxnSpPr/>
          <p:nvPr/>
        </p:nvCxnSpPr>
        <p:spPr>
          <a:xfrm>
            <a:off x="5084883" y="5609872"/>
            <a:ext cx="855433" cy="0"/>
          </a:xfrm>
          <a:prstGeom prst="straightConnector1">
            <a:avLst/>
          </a:prstGeom>
          <a:noFill/>
          <a:ln w="57150" cap="flat" cmpd="sng" algn="ctr">
            <a:solidFill>
              <a:sysClr val="windowText" lastClr="000000"/>
            </a:solidFill>
            <a:prstDash val="solid"/>
            <a:miter lim="800000"/>
            <a:tailEnd type="triangle"/>
          </a:ln>
          <a:effectLst/>
        </p:spPr>
      </p:cxnSp>
      <p:cxnSp>
        <p:nvCxnSpPr>
          <p:cNvPr id="30" name="直線單箭頭接點 29"/>
          <p:cNvCxnSpPr/>
          <p:nvPr/>
        </p:nvCxnSpPr>
        <p:spPr>
          <a:xfrm>
            <a:off x="7925671" y="5606303"/>
            <a:ext cx="1193245" cy="0"/>
          </a:xfrm>
          <a:prstGeom prst="straightConnector1">
            <a:avLst/>
          </a:prstGeom>
          <a:noFill/>
          <a:ln w="57150" cap="flat" cmpd="sng" algn="ctr">
            <a:solidFill>
              <a:sysClr val="windowText" lastClr="000000"/>
            </a:solidFill>
            <a:prstDash val="solid"/>
            <a:miter lim="800000"/>
            <a:tailEnd type="triangle"/>
          </a:ln>
          <a:effectLst/>
        </p:spPr>
      </p:cxnSp>
      <p:grpSp>
        <p:nvGrpSpPr>
          <p:cNvPr id="31" name="群組 30"/>
          <p:cNvGrpSpPr/>
          <p:nvPr/>
        </p:nvGrpSpPr>
        <p:grpSpPr>
          <a:xfrm>
            <a:off x="817153" y="5156778"/>
            <a:ext cx="2287997" cy="830012"/>
            <a:chOff x="393073" y="5022255"/>
            <a:chExt cx="2117030" cy="878286"/>
          </a:xfrm>
        </p:grpSpPr>
        <p:pic>
          <p:nvPicPr>
            <p:cNvPr id="32" name="Google Shape;3429;p293" descr="https://lh3.googleusercontent.com/ErsprmYcrgXkAxt8GddRWWqvLg_rDp2yFTkxcS8T0t7xlWULZHifO-__ODwkQYArchxRaJCYFk8bS2rkx2dUceEB0bnIfswMqnR3V2ZMms8Or9J82k2r23hQnYEACGdvbHQmIFKU220"/>
            <p:cNvPicPr preferRelativeResize="0"/>
            <p:nvPr/>
          </p:nvPicPr>
          <p:blipFill rotWithShape="1">
            <a:blip r:embed="rId1"/>
            <a:srcRect l="39924" t="74586" r="38724" b="15732"/>
            <a:stretch>
              <a:fillRect/>
            </a:stretch>
          </p:blipFill>
          <p:spPr>
            <a:xfrm>
              <a:off x="393073" y="5022255"/>
              <a:ext cx="1347649" cy="809022"/>
            </a:xfrm>
            <a:prstGeom prst="rect">
              <a:avLst/>
            </a:prstGeom>
            <a:noFill/>
            <a:ln>
              <a:noFill/>
            </a:ln>
          </p:spPr>
        </p:pic>
        <p:pic>
          <p:nvPicPr>
            <p:cNvPr id="33" name="Google Shape;3430;p293" descr="https://lh3.googleusercontent.com/ErsprmYcrgXkAxt8GddRWWqvLg_rDp2yFTkxcS8T0t7xlWULZHifO-__ODwkQYArchxRaJCYFk8bS2rkx2dUceEB0bnIfswMqnR3V2ZMms8Or9J82k2r23hQnYEACGdvbHQmIFKU220"/>
            <p:cNvPicPr preferRelativeResize="0"/>
            <p:nvPr/>
          </p:nvPicPr>
          <p:blipFill rotWithShape="1">
            <a:blip r:embed="rId1"/>
            <a:srcRect l="35083" t="84591" r="35071" b="1174"/>
            <a:stretch>
              <a:fillRect/>
            </a:stretch>
          </p:blipFill>
          <p:spPr>
            <a:xfrm>
              <a:off x="1576011" y="5095308"/>
              <a:ext cx="934092" cy="805233"/>
            </a:xfrm>
            <a:prstGeom prst="rect">
              <a:avLst/>
            </a:prstGeom>
            <a:noFill/>
            <a:ln>
              <a:noFill/>
            </a:ln>
          </p:spPr>
        </p:pic>
      </p:grpSp>
      <p:sp>
        <p:nvSpPr>
          <p:cNvPr id="34" name="文字方塊 33"/>
          <p:cNvSpPr txBox="1"/>
          <p:nvPr/>
        </p:nvSpPr>
        <p:spPr>
          <a:xfrm>
            <a:off x="3105150" y="5442570"/>
            <a:ext cx="2152650"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這個人心情怎麼樣</a:t>
            </a:r>
            <a:endParaRPr lang="zh-TW" altLang="en-US" dirty="0">
              <a:latin typeface="Microsoft JhengHei" panose="020B0604030504040204" pitchFamily="34" charset="-120"/>
              <a:ea typeface="Microsoft JhengHei" panose="020B0604030504040204" pitchFamily="34" charset="-120"/>
            </a:endParaRPr>
          </a:p>
        </p:txBody>
      </p:sp>
      <p:sp>
        <p:nvSpPr>
          <p:cNvPr id="35" name="文字方塊 34"/>
          <p:cNvSpPr txBox="1"/>
          <p:nvPr/>
        </p:nvSpPr>
        <p:spPr>
          <a:xfrm>
            <a:off x="9222197" y="5442570"/>
            <a:ext cx="2152650"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應該是心情蠻好的</a:t>
            </a:r>
            <a:endParaRPr lang="zh-TW" altLang="en-US"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p:bldP spid="27" grpId="0"/>
      <p:bldP spid="28" grpId="0" animBg="1"/>
      <p:bldP spid="34" grpId="0"/>
      <p:bldP spid="3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1"/>
          <a:stretch>
            <a:fillRect/>
          </a:stretch>
        </p:blipFill>
        <p:spPr>
          <a:xfrm>
            <a:off x="591812" y="1173512"/>
            <a:ext cx="4130704" cy="4722566"/>
          </a:xfrm>
          <a:prstGeom prst="rect">
            <a:avLst/>
          </a:prstGeom>
        </p:spPr>
      </p:pic>
      <p:pic>
        <p:nvPicPr>
          <p:cNvPr id="6" name="圖片 5"/>
          <p:cNvPicPr>
            <a:picLocks noChangeAspect="1"/>
          </p:cNvPicPr>
          <p:nvPr/>
        </p:nvPicPr>
        <p:blipFill>
          <a:blip r:embed="rId2"/>
          <a:stretch>
            <a:fillRect/>
          </a:stretch>
        </p:blipFill>
        <p:spPr>
          <a:xfrm>
            <a:off x="4827475" y="212125"/>
            <a:ext cx="6080484" cy="6476082"/>
          </a:xfrm>
          <a:prstGeom prst="rect">
            <a:avLst/>
          </a:prstGeom>
        </p:spPr>
      </p:pic>
      <p:grpSp>
        <p:nvGrpSpPr>
          <p:cNvPr id="7" name="群組 6"/>
          <p:cNvGrpSpPr/>
          <p:nvPr/>
        </p:nvGrpSpPr>
        <p:grpSpPr>
          <a:xfrm>
            <a:off x="2531653" y="190500"/>
            <a:ext cx="2287997" cy="830012"/>
            <a:chOff x="393073" y="5022255"/>
            <a:chExt cx="2117030" cy="878286"/>
          </a:xfrm>
        </p:grpSpPr>
        <p:pic>
          <p:nvPicPr>
            <p:cNvPr id="8" name="Google Shape;3429;p293" descr="https://lh3.googleusercontent.com/ErsprmYcrgXkAxt8GddRWWqvLg_rDp2yFTkxcS8T0t7xlWULZHifO-__ODwkQYArchxRaJCYFk8bS2rkx2dUceEB0bnIfswMqnR3V2ZMms8Or9J82k2r23hQnYEACGdvbHQmIFKU220"/>
            <p:cNvPicPr preferRelativeResize="0"/>
            <p:nvPr/>
          </p:nvPicPr>
          <p:blipFill rotWithShape="1">
            <a:blip r:embed="rId3"/>
            <a:srcRect l="39924" t="74586" r="38724" b="15732"/>
            <a:stretch>
              <a:fillRect/>
            </a:stretch>
          </p:blipFill>
          <p:spPr>
            <a:xfrm>
              <a:off x="393073" y="5022255"/>
              <a:ext cx="1347649" cy="809022"/>
            </a:xfrm>
            <a:prstGeom prst="rect">
              <a:avLst/>
            </a:prstGeom>
            <a:noFill/>
            <a:ln>
              <a:noFill/>
            </a:ln>
          </p:spPr>
        </p:pic>
        <p:pic>
          <p:nvPicPr>
            <p:cNvPr id="9" name="Google Shape;3430;p293" descr="https://lh3.googleusercontent.com/ErsprmYcrgXkAxt8GddRWWqvLg_rDp2yFTkxcS8T0t7xlWULZHifO-__ODwkQYArchxRaJCYFk8bS2rkx2dUceEB0bnIfswMqnR3V2ZMms8Or9J82k2r23hQnYEACGdvbHQmIFKU220"/>
            <p:cNvPicPr preferRelativeResize="0"/>
            <p:nvPr/>
          </p:nvPicPr>
          <p:blipFill rotWithShape="1">
            <a:blip r:embed="rId3"/>
            <a:srcRect l="35083" t="84591" r="35071" b="1174"/>
            <a:stretch>
              <a:fillRect/>
            </a:stretch>
          </p:blipFill>
          <p:spPr>
            <a:xfrm>
              <a:off x="1576011" y="5095308"/>
              <a:ext cx="934092" cy="805233"/>
            </a:xfrm>
            <a:prstGeom prst="rect">
              <a:avLst/>
            </a:prstGeom>
            <a:noFill/>
            <a:ln>
              <a:noFill/>
            </a:ln>
          </p:spPr>
        </p:pic>
      </p:grpSp>
      <p:sp>
        <p:nvSpPr>
          <p:cNvPr id="12" name="文字方塊 11"/>
          <p:cNvSpPr txBox="1"/>
          <p:nvPr/>
        </p:nvSpPr>
        <p:spPr>
          <a:xfrm>
            <a:off x="495434" y="6267230"/>
            <a:ext cx="6096000" cy="369332"/>
          </a:xfrm>
          <a:prstGeom prst="rect">
            <a:avLst/>
          </a:prstGeom>
          <a:noFill/>
        </p:spPr>
        <p:txBody>
          <a:bodyPr wrap="square">
            <a:spAutoFit/>
          </a:bodyPr>
          <a:lstStyle/>
          <a:p>
            <a:r>
              <a:rPr lang="zh-TW" altLang="en-US" dirty="0"/>
              <a:t>https://arxiv.org/abs/2407.09886</a:t>
            </a:r>
            <a:endParaRPr lang="zh-TW" altLang="en-US" dirty="0"/>
          </a:p>
        </p:txBody>
      </p:sp>
      <p:sp>
        <p:nvSpPr>
          <p:cNvPr id="5" name="矩形 4"/>
          <p:cNvSpPr/>
          <p:nvPr/>
        </p:nvSpPr>
        <p:spPr>
          <a:xfrm>
            <a:off x="4819650" y="1195137"/>
            <a:ext cx="6534150" cy="58374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 name="圖片 10"/>
          <p:cNvPicPr>
            <a:picLocks noChangeAspect="1"/>
          </p:cNvPicPr>
          <p:nvPr/>
        </p:nvPicPr>
        <p:blipFill>
          <a:blip r:embed="rId4"/>
          <a:stretch>
            <a:fillRect/>
          </a:stretch>
        </p:blipFill>
        <p:spPr>
          <a:xfrm>
            <a:off x="6076096" y="3905649"/>
            <a:ext cx="6115904" cy="2829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使用其他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作為工具</a:t>
            </a:r>
            <a:endParaRPr lang="zh-TW" altLang="en-US" dirty="0"/>
          </a:p>
        </p:txBody>
      </p:sp>
      <p:sp>
        <p:nvSpPr>
          <p:cNvPr id="5" name="文字方塊 4"/>
          <p:cNvSpPr txBox="1"/>
          <p:nvPr/>
        </p:nvSpPr>
        <p:spPr>
          <a:xfrm>
            <a:off x="8801233" y="112991"/>
            <a:ext cx="6096000" cy="369332"/>
          </a:xfrm>
          <a:prstGeom prst="rect">
            <a:avLst/>
          </a:prstGeom>
          <a:noFill/>
        </p:spPr>
        <p:txBody>
          <a:bodyPr wrap="square">
            <a:spAutoFit/>
          </a:bodyPr>
          <a:lstStyle/>
          <a:p>
            <a:r>
              <a:rPr lang="zh-TW" altLang="en-US" dirty="0"/>
              <a:t>https://arxiv.org/abs/2407.09886</a:t>
            </a:r>
            <a:endParaRPr lang="zh-TW" altLang="en-US" dirty="0"/>
          </a:p>
        </p:txBody>
      </p:sp>
      <p:pic>
        <p:nvPicPr>
          <p:cNvPr id="7" name="圖片 6"/>
          <p:cNvPicPr>
            <a:picLocks noChangeAspect="1"/>
          </p:cNvPicPr>
          <p:nvPr/>
        </p:nvPicPr>
        <p:blipFill>
          <a:blip r:embed="rId1"/>
          <a:stretch>
            <a:fillRect/>
          </a:stretch>
        </p:blipFill>
        <p:spPr>
          <a:xfrm>
            <a:off x="493509" y="2697359"/>
            <a:ext cx="11204982" cy="3327124"/>
          </a:xfrm>
          <a:prstGeom prst="rect">
            <a:avLst/>
          </a:prstGeom>
        </p:spPr>
      </p:pic>
      <p:sp>
        <p:nvSpPr>
          <p:cNvPr id="9" name="文字方塊 8"/>
          <p:cNvSpPr txBox="1"/>
          <p:nvPr/>
        </p:nvSpPr>
        <p:spPr>
          <a:xfrm>
            <a:off x="10815637" y="1690688"/>
            <a:ext cx="1076325" cy="646331"/>
          </a:xfrm>
          <a:prstGeom prst="rect">
            <a:avLst/>
          </a:prstGeom>
          <a:noFill/>
        </p:spPr>
        <p:txBody>
          <a:bodyPr wrap="square">
            <a:spAutoFit/>
          </a:bodyPr>
          <a:lstStyle/>
          <a:p>
            <a:pPr algn="ctr"/>
            <a:r>
              <a:rPr lang="en-US" altLang="zh-TW" dirty="0"/>
              <a:t>Chih-Kai </a:t>
            </a:r>
            <a:endParaRPr lang="en-US" altLang="zh-TW" dirty="0"/>
          </a:p>
          <a:p>
            <a:pPr algn="ctr"/>
            <a:r>
              <a:rPr lang="en-US" altLang="zh-TW" dirty="0"/>
              <a:t>Yang</a:t>
            </a:r>
            <a:endParaRPr lang="zh-TW" altLang="en-US" dirty="0"/>
          </a:p>
        </p:txBody>
      </p:sp>
      <p:sp>
        <p:nvSpPr>
          <p:cNvPr id="11" name="文字方塊 10"/>
          <p:cNvSpPr txBox="1"/>
          <p:nvPr/>
        </p:nvSpPr>
        <p:spPr>
          <a:xfrm>
            <a:off x="9289846" y="1690688"/>
            <a:ext cx="1525791" cy="646331"/>
          </a:xfrm>
          <a:prstGeom prst="rect">
            <a:avLst/>
          </a:prstGeom>
          <a:noFill/>
        </p:spPr>
        <p:txBody>
          <a:bodyPr wrap="square">
            <a:spAutoFit/>
          </a:bodyPr>
          <a:lstStyle/>
          <a:p>
            <a:pPr algn="ctr"/>
            <a:r>
              <a:rPr lang="en-US" altLang="zh-TW" dirty="0"/>
              <a:t>Chun-Yi </a:t>
            </a:r>
            <a:endParaRPr lang="en-US" altLang="zh-TW" dirty="0"/>
          </a:p>
          <a:p>
            <a:pPr algn="ctr"/>
            <a:r>
              <a:rPr lang="en-US" altLang="zh-TW" dirty="0"/>
              <a:t>Kuan</a:t>
            </a:r>
            <a:endParaRPr lang="zh-TW" altLang="en-US" dirty="0"/>
          </a:p>
        </p:txBody>
      </p:sp>
      <p:pic>
        <p:nvPicPr>
          <p:cNvPr id="1026" name="Picture 2" descr="未提供相片說明。"/>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32305" y="627004"/>
            <a:ext cx="1042987" cy="10446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未提供相片說明。"/>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1247" y="628697"/>
            <a:ext cx="1042987" cy="1042987"/>
          </a:xfrm>
          <a:prstGeom prst="rect">
            <a:avLst/>
          </a:prstGeom>
          <a:noFill/>
          <a:extLst>
            <a:ext uri="{909E8E84-426E-40DD-AFC4-6F175D3DCCD1}">
              <a14:hiddenFill xmlns:a14="http://schemas.microsoft.com/office/drawing/2010/main">
                <a:solidFill>
                  <a:srgbClr val="FFFFFF"/>
                </a:solidFill>
              </a14:hiddenFill>
            </a:ext>
          </a:extLst>
        </p:spPr>
      </p:pic>
      <p:sp>
        <p:nvSpPr>
          <p:cNvPr id="3" name="文字方塊 2"/>
          <p:cNvSpPr txBox="1"/>
          <p:nvPr/>
        </p:nvSpPr>
        <p:spPr>
          <a:xfrm>
            <a:off x="493509" y="2106186"/>
            <a:ext cx="4267200" cy="461665"/>
          </a:xfrm>
          <a:prstGeom prst="rect">
            <a:avLst/>
          </a:prstGeom>
          <a:noFill/>
        </p:spPr>
        <p:txBody>
          <a:bodyPr wrap="square" rtlCol="0">
            <a:spAutoFit/>
          </a:bodyPr>
          <a:lstStyle/>
          <a:p>
            <a:r>
              <a:rPr lang="en-US" altLang="zh-TW" sz="2400" dirty="0">
                <a:latin typeface="Microsoft JhengHei" panose="020B0604030504040204" pitchFamily="34" charset="-120"/>
                <a:ea typeface="Microsoft JhengHei" panose="020B0604030504040204" pitchFamily="34" charset="-120"/>
              </a:rPr>
              <a:t>Dynamic SUPERB </a:t>
            </a:r>
            <a:r>
              <a:rPr lang="zh-TW" altLang="en-US" sz="2400" dirty="0">
                <a:latin typeface="Microsoft JhengHei" panose="020B0604030504040204" pitchFamily="34" charset="-120"/>
                <a:ea typeface="Microsoft JhengHei" panose="020B0604030504040204" pitchFamily="34" charset="-120"/>
              </a:rPr>
              <a:t>上的結果</a:t>
            </a:r>
            <a:endParaRPr lang="zh-TW" altLang="en-US" sz="24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非常多工具怎麼辦？</a:t>
            </a:r>
            <a:endParaRPr lang="zh-TW" altLang="en-US" dirty="0">
              <a:latin typeface="Microsoft JhengHei" panose="020B0604030504040204" pitchFamily="34" charset="-120"/>
              <a:ea typeface="Microsoft JhengHei" panose="020B0604030504040204" pitchFamily="34" charset="-120"/>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99551" y="1690688"/>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圓角 6"/>
          <p:cNvSpPr/>
          <p:nvPr/>
        </p:nvSpPr>
        <p:spPr>
          <a:xfrm>
            <a:off x="4662499" y="2176400"/>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8" name="矩形: 圓角 7"/>
          <p:cNvSpPr/>
          <p:nvPr/>
        </p:nvSpPr>
        <p:spPr>
          <a:xfrm>
            <a:off x="9361026" y="2166656"/>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cxnSp>
        <p:nvCxnSpPr>
          <p:cNvPr id="9" name="直線單箭頭接點 8"/>
          <p:cNvCxnSpPr/>
          <p:nvPr/>
        </p:nvCxnSpPr>
        <p:spPr>
          <a:xfrm>
            <a:off x="6660311" y="2368382"/>
            <a:ext cx="68209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p:cNvSpPr txBox="1"/>
          <p:nvPr/>
        </p:nvSpPr>
        <p:spPr>
          <a:xfrm>
            <a:off x="9599272" y="2564756"/>
            <a:ext cx="1399708" cy="461665"/>
          </a:xfrm>
          <a:prstGeom prst="rect">
            <a:avLst/>
          </a:prstGeom>
          <a:noFill/>
        </p:spPr>
        <p:txBody>
          <a:bodyPr wrap="square" rtlCol="0">
            <a:spAutoFit/>
          </a:bodyPr>
          <a:lstStyle/>
          <a:p>
            <a:r>
              <a:rPr lang="en-US" altLang="zh-TW" sz="2400" dirty="0"/>
              <a:t>Tool Use</a:t>
            </a:r>
            <a:endParaRPr lang="zh-TW" altLang="en-US" sz="2400" dirty="0"/>
          </a:p>
        </p:txBody>
      </p:sp>
      <p:sp>
        <p:nvSpPr>
          <p:cNvPr id="14" name="矩形: 圓角 13"/>
          <p:cNvSpPr/>
          <p:nvPr/>
        </p:nvSpPr>
        <p:spPr>
          <a:xfrm>
            <a:off x="1099024" y="2122636"/>
            <a:ext cx="3481601" cy="2239814"/>
          </a:xfrm>
          <a:prstGeom prst="roundRect">
            <a:avLst>
              <a:gd name="adj" fmla="val 5776"/>
            </a:avLst>
          </a:prstGeom>
          <a:solidFill>
            <a:schemeClr val="accent4">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a:t>Hundreds </a:t>
            </a:r>
            <a:endParaRPr lang="en-US" altLang="zh-TW" sz="2400"/>
          </a:p>
          <a:p>
            <a:pPr algn="ctr"/>
            <a:r>
              <a:rPr lang="en-US" altLang="zh-TW" sz="2400"/>
              <a:t>of </a:t>
            </a:r>
            <a:endParaRPr lang="en-US" altLang="zh-TW" sz="2400"/>
          </a:p>
          <a:p>
            <a:pPr algn="ctr"/>
            <a:r>
              <a:rPr lang="en-US" altLang="zh-TW" sz="2400"/>
              <a:t>Tool Descriptions</a:t>
            </a:r>
            <a:endParaRPr lang="zh-TW" altLang="en-US" sz="2400" dirty="0"/>
          </a:p>
        </p:txBody>
      </p:sp>
      <p:cxnSp>
        <p:nvCxnSpPr>
          <p:cNvPr id="18" name="直線單箭頭接點 17"/>
          <p:cNvCxnSpPr/>
          <p:nvPr/>
        </p:nvCxnSpPr>
        <p:spPr>
          <a:xfrm>
            <a:off x="8618751" y="2368382"/>
            <a:ext cx="68209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非常多工具怎麼辦？</a:t>
            </a:r>
            <a:endParaRPr lang="zh-TW" altLang="en-US" dirty="0">
              <a:latin typeface="Microsoft JhengHei" panose="020B0604030504040204" pitchFamily="34" charset="-120"/>
              <a:ea typeface="Microsoft JhengHei" panose="020B0604030504040204" pitchFamily="34" charset="-120"/>
            </a:endParaRPr>
          </a:p>
        </p:txBody>
      </p:sp>
      <p:sp>
        <p:nvSpPr>
          <p:cNvPr id="3" name="文字方塊 2"/>
          <p:cNvSpPr txBox="1"/>
          <p:nvPr/>
        </p:nvSpPr>
        <p:spPr>
          <a:xfrm>
            <a:off x="8492727" y="506253"/>
            <a:ext cx="3376247" cy="369332"/>
          </a:xfrm>
          <a:prstGeom prst="rect">
            <a:avLst/>
          </a:prstGeom>
          <a:noFill/>
        </p:spPr>
        <p:txBody>
          <a:bodyPr wrap="square">
            <a:spAutoFit/>
          </a:bodyPr>
          <a:lstStyle/>
          <a:p>
            <a:r>
              <a:rPr lang="zh-TW" altLang="en-US" dirty="0"/>
              <a:t>https://arxiv.org/abs/2310.03128</a:t>
            </a:r>
            <a:endParaRPr lang="zh-TW" altLang="en-US" dirty="0"/>
          </a:p>
        </p:txBody>
      </p:sp>
      <p:sp>
        <p:nvSpPr>
          <p:cNvPr id="16" name="文字方塊 15"/>
          <p:cNvSpPr txBox="1"/>
          <p:nvPr/>
        </p:nvSpPr>
        <p:spPr>
          <a:xfrm>
            <a:off x="8492727" y="809693"/>
            <a:ext cx="3376247" cy="369332"/>
          </a:xfrm>
          <a:prstGeom prst="rect">
            <a:avLst/>
          </a:prstGeom>
          <a:noFill/>
        </p:spPr>
        <p:txBody>
          <a:bodyPr wrap="square">
            <a:spAutoFit/>
          </a:bodyPr>
          <a:lstStyle/>
          <a:p>
            <a:r>
              <a:rPr lang="zh-TW" altLang="en-US" dirty="0"/>
              <a:t>https://arxiv.org/abs/2502.11271</a:t>
            </a:r>
            <a:endParaRPr lang="zh-TW" altLang="en-US" dirty="0"/>
          </a:p>
        </p:txBody>
      </p:sp>
      <p:sp>
        <p:nvSpPr>
          <p:cNvPr id="4" name="矩形: 圓角 3"/>
          <p:cNvSpPr/>
          <p:nvPr/>
        </p:nvSpPr>
        <p:spPr>
          <a:xfrm>
            <a:off x="1788263" y="3059100"/>
            <a:ext cx="1761491" cy="884550"/>
          </a:xfrm>
          <a:prstGeom prst="roundRect">
            <a:avLst>
              <a:gd name="adj" fmla="val 5776"/>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Tool</a:t>
            </a:r>
            <a:r>
              <a:rPr lang="zh-TW" altLang="en-US" sz="2400" dirty="0"/>
              <a:t> </a:t>
            </a:r>
            <a:endParaRPr lang="en-US" altLang="zh-TW" sz="2400" dirty="0"/>
          </a:p>
          <a:p>
            <a:pPr algn="ctr"/>
            <a:r>
              <a:rPr lang="en-US" altLang="zh-TW" sz="2400" dirty="0"/>
              <a:t>Selection</a:t>
            </a:r>
            <a:endParaRPr lang="en-US" altLang="zh-TW" sz="2400" dirty="0"/>
          </a:p>
        </p:txBody>
      </p:sp>
      <p:sp>
        <p:nvSpPr>
          <p:cNvPr id="10" name="矩形: 圓角 9"/>
          <p:cNvSpPr/>
          <p:nvPr/>
        </p:nvSpPr>
        <p:spPr>
          <a:xfrm>
            <a:off x="928209" y="2154426"/>
            <a:ext cx="3481601" cy="360000"/>
          </a:xfrm>
          <a:prstGeom prst="roundRect">
            <a:avLst>
              <a:gd name="adj" fmla="val 5776"/>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selected tools</a:t>
            </a:r>
            <a:endParaRPr lang="zh-TW" altLang="en-US" sz="2400" dirty="0"/>
          </a:p>
        </p:txBody>
      </p:sp>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99551" y="1690688"/>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圓角 14"/>
          <p:cNvSpPr/>
          <p:nvPr/>
        </p:nvSpPr>
        <p:spPr>
          <a:xfrm>
            <a:off x="4662499" y="2176400"/>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17" name="矩形: 圓角 16"/>
          <p:cNvSpPr/>
          <p:nvPr/>
        </p:nvSpPr>
        <p:spPr>
          <a:xfrm>
            <a:off x="9361026" y="2166656"/>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cxnSp>
        <p:nvCxnSpPr>
          <p:cNvPr id="18" name="直線單箭頭接點 17"/>
          <p:cNvCxnSpPr/>
          <p:nvPr/>
        </p:nvCxnSpPr>
        <p:spPr>
          <a:xfrm>
            <a:off x="6660311" y="2368382"/>
            <a:ext cx="68209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9599272" y="2564756"/>
            <a:ext cx="1399708" cy="461665"/>
          </a:xfrm>
          <a:prstGeom prst="rect">
            <a:avLst/>
          </a:prstGeom>
          <a:noFill/>
        </p:spPr>
        <p:txBody>
          <a:bodyPr wrap="square" rtlCol="0">
            <a:spAutoFit/>
          </a:bodyPr>
          <a:lstStyle/>
          <a:p>
            <a:r>
              <a:rPr lang="en-US" altLang="zh-TW" sz="2400" dirty="0"/>
              <a:t>Tool Use</a:t>
            </a:r>
            <a:endParaRPr lang="zh-TW" altLang="en-US" sz="2400" dirty="0"/>
          </a:p>
        </p:txBody>
      </p:sp>
      <p:cxnSp>
        <p:nvCxnSpPr>
          <p:cNvPr id="20" name="直線單箭頭接點 19"/>
          <p:cNvCxnSpPr/>
          <p:nvPr/>
        </p:nvCxnSpPr>
        <p:spPr>
          <a:xfrm>
            <a:off x="8618751" y="2368382"/>
            <a:ext cx="68209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圓角 20"/>
          <p:cNvSpPr/>
          <p:nvPr/>
        </p:nvSpPr>
        <p:spPr>
          <a:xfrm>
            <a:off x="4662499" y="4346649"/>
            <a:ext cx="3481601" cy="2239814"/>
          </a:xfrm>
          <a:prstGeom prst="roundRect">
            <a:avLst>
              <a:gd name="adj" fmla="val 5776"/>
            </a:avLst>
          </a:prstGeom>
          <a:solidFill>
            <a:schemeClr val="accent4">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a:t>Hundreds </a:t>
            </a:r>
            <a:endParaRPr lang="en-US" altLang="zh-TW" sz="2400"/>
          </a:p>
          <a:p>
            <a:pPr algn="ctr"/>
            <a:r>
              <a:rPr lang="en-US" altLang="zh-TW" sz="2400"/>
              <a:t>of </a:t>
            </a:r>
            <a:endParaRPr lang="en-US" altLang="zh-TW" sz="2400"/>
          </a:p>
          <a:p>
            <a:pPr algn="ctr"/>
            <a:r>
              <a:rPr lang="en-US" altLang="zh-TW" sz="2400"/>
              <a:t>Tool Descriptions</a:t>
            </a:r>
            <a:endParaRPr lang="zh-TW" altLang="en-US" sz="2400" dirty="0"/>
          </a:p>
        </p:txBody>
      </p:sp>
      <p:sp>
        <p:nvSpPr>
          <p:cNvPr id="22" name="文字方塊 21"/>
          <p:cNvSpPr txBox="1"/>
          <p:nvPr/>
        </p:nvSpPr>
        <p:spPr>
          <a:xfrm>
            <a:off x="6819148" y="6090137"/>
            <a:ext cx="5560248" cy="523220"/>
          </a:xfrm>
          <a:prstGeom prst="rect">
            <a:avLst/>
          </a:prstGeom>
          <a:noFill/>
        </p:spPr>
        <p:txBody>
          <a:bodyPr wrap="square" rtlCol="0">
            <a:spAutoFit/>
          </a:bodyPr>
          <a:lstStyle/>
          <a:p>
            <a:pPr algn="ctr"/>
            <a:r>
              <a:rPr lang="en-US" altLang="zh-TW" sz="2800" dirty="0">
                <a:ea typeface="Microsoft JhengHei" panose="020B0604030504040204" pitchFamily="34" charset="-120"/>
              </a:rPr>
              <a:t>Agent’s Memory </a:t>
            </a:r>
            <a:endParaRPr lang="zh-TW" altLang="en-US" sz="2800" dirty="0">
              <a:ea typeface="Microsoft JhengHei" panose="020B0604030504040204" pitchFamily="34" charset="-120"/>
            </a:endParaRPr>
          </a:p>
        </p:txBody>
      </p:sp>
      <p:cxnSp>
        <p:nvCxnSpPr>
          <p:cNvPr id="23" name="直線單箭頭接點 22"/>
          <p:cNvCxnSpPr/>
          <p:nvPr/>
        </p:nvCxnSpPr>
        <p:spPr>
          <a:xfrm flipV="1">
            <a:off x="2668907" y="2564756"/>
            <a:ext cx="0" cy="5291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flipV="1">
            <a:off x="2687957" y="3981750"/>
            <a:ext cx="0" cy="14848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endCxn id="21" idx="1"/>
          </p:cNvCxnSpPr>
          <p:nvPr/>
        </p:nvCxnSpPr>
        <p:spPr>
          <a:xfrm flipV="1">
            <a:off x="2668907" y="5466556"/>
            <a:ext cx="1993592" cy="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flipH="1" flipV="1">
            <a:off x="3568907" y="3501375"/>
            <a:ext cx="1993592" cy="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a:off x="5562499" y="2590790"/>
            <a:ext cx="0" cy="936619"/>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模型自己打造工具</a:t>
            </a:r>
            <a:endParaRPr lang="zh-TW" altLang="en-US" dirty="0">
              <a:latin typeface="Microsoft JhengHei" panose="020B0604030504040204" pitchFamily="34" charset="-120"/>
              <a:ea typeface="Microsoft JhengHei" panose="020B0604030504040204" pitchFamily="34" charset="-120"/>
            </a:endParaRPr>
          </a:p>
        </p:txBody>
      </p:sp>
      <p:sp>
        <p:nvSpPr>
          <p:cNvPr id="4" name="矩形: 圓角 3"/>
          <p:cNvSpPr/>
          <p:nvPr/>
        </p:nvSpPr>
        <p:spPr>
          <a:xfrm>
            <a:off x="1788263" y="3059100"/>
            <a:ext cx="1761491" cy="884550"/>
          </a:xfrm>
          <a:prstGeom prst="roundRect">
            <a:avLst>
              <a:gd name="adj" fmla="val 5776"/>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Tool</a:t>
            </a:r>
            <a:r>
              <a:rPr lang="zh-TW" altLang="en-US" sz="2400" dirty="0"/>
              <a:t> </a:t>
            </a:r>
            <a:endParaRPr lang="en-US" altLang="zh-TW" sz="2400" dirty="0"/>
          </a:p>
          <a:p>
            <a:pPr algn="ctr"/>
            <a:r>
              <a:rPr lang="en-US" altLang="zh-TW" sz="2400" dirty="0"/>
              <a:t>Selection</a:t>
            </a:r>
            <a:endParaRPr lang="en-US" altLang="zh-TW" sz="2400" dirty="0"/>
          </a:p>
        </p:txBody>
      </p:sp>
      <p:sp>
        <p:nvSpPr>
          <p:cNvPr id="10" name="矩形: 圓角 9"/>
          <p:cNvSpPr/>
          <p:nvPr/>
        </p:nvSpPr>
        <p:spPr>
          <a:xfrm>
            <a:off x="928209" y="2154426"/>
            <a:ext cx="3481601" cy="360000"/>
          </a:xfrm>
          <a:prstGeom prst="roundRect">
            <a:avLst>
              <a:gd name="adj" fmla="val 5776"/>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selected tools</a:t>
            </a:r>
            <a:endParaRPr lang="zh-TW" altLang="en-US" sz="2400" dirty="0"/>
          </a:p>
        </p:txBody>
      </p:sp>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99551" y="1690688"/>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圓角 14"/>
          <p:cNvSpPr/>
          <p:nvPr/>
        </p:nvSpPr>
        <p:spPr>
          <a:xfrm>
            <a:off x="4662499" y="2176400"/>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17" name="矩形: 圓角 16"/>
          <p:cNvSpPr/>
          <p:nvPr/>
        </p:nvSpPr>
        <p:spPr>
          <a:xfrm>
            <a:off x="9361026" y="2166656"/>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cxnSp>
        <p:nvCxnSpPr>
          <p:cNvPr id="18" name="直線單箭頭接點 17"/>
          <p:cNvCxnSpPr/>
          <p:nvPr/>
        </p:nvCxnSpPr>
        <p:spPr>
          <a:xfrm>
            <a:off x="6660311" y="2368382"/>
            <a:ext cx="68209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9415880" y="2598517"/>
            <a:ext cx="1754525" cy="461665"/>
          </a:xfrm>
          <a:prstGeom prst="rect">
            <a:avLst/>
          </a:prstGeom>
          <a:noFill/>
        </p:spPr>
        <p:txBody>
          <a:bodyPr wrap="square" rtlCol="0">
            <a:spAutoFit/>
          </a:bodyPr>
          <a:lstStyle/>
          <a:p>
            <a:r>
              <a:rPr lang="en-US" altLang="zh-TW" sz="2400" dirty="0"/>
              <a:t>Make Tools</a:t>
            </a:r>
            <a:endParaRPr lang="zh-TW" altLang="en-US" sz="2400" dirty="0"/>
          </a:p>
        </p:txBody>
      </p:sp>
      <p:cxnSp>
        <p:nvCxnSpPr>
          <p:cNvPr id="20" name="直線單箭頭接點 19"/>
          <p:cNvCxnSpPr/>
          <p:nvPr/>
        </p:nvCxnSpPr>
        <p:spPr>
          <a:xfrm>
            <a:off x="8618751" y="2368382"/>
            <a:ext cx="68209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圓角 20"/>
          <p:cNvSpPr/>
          <p:nvPr/>
        </p:nvSpPr>
        <p:spPr>
          <a:xfrm>
            <a:off x="4662499" y="4346649"/>
            <a:ext cx="3481601" cy="2239814"/>
          </a:xfrm>
          <a:prstGeom prst="roundRect">
            <a:avLst>
              <a:gd name="adj" fmla="val 5776"/>
            </a:avLst>
          </a:prstGeom>
          <a:solidFill>
            <a:schemeClr val="accent4">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a:t>Hundreds </a:t>
            </a:r>
            <a:endParaRPr lang="en-US" altLang="zh-TW" sz="2400"/>
          </a:p>
          <a:p>
            <a:pPr algn="ctr"/>
            <a:r>
              <a:rPr lang="en-US" altLang="zh-TW" sz="2400"/>
              <a:t>of </a:t>
            </a:r>
            <a:endParaRPr lang="en-US" altLang="zh-TW" sz="2400"/>
          </a:p>
          <a:p>
            <a:pPr algn="ctr"/>
            <a:r>
              <a:rPr lang="en-US" altLang="zh-TW" sz="2400"/>
              <a:t>Tool Descriptions</a:t>
            </a:r>
            <a:endParaRPr lang="zh-TW" altLang="en-US" sz="2400" dirty="0"/>
          </a:p>
        </p:txBody>
      </p:sp>
      <p:sp>
        <p:nvSpPr>
          <p:cNvPr id="22" name="文字方塊 21"/>
          <p:cNvSpPr txBox="1"/>
          <p:nvPr/>
        </p:nvSpPr>
        <p:spPr>
          <a:xfrm>
            <a:off x="6819148" y="6090137"/>
            <a:ext cx="5560248" cy="523220"/>
          </a:xfrm>
          <a:prstGeom prst="rect">
            <a:avLst/>
          </a:prstGeom>
          <a:noFill/>
        </p:spPr>
        <p:txBody>
          <a:bodyPr wrap="square" rtlCol="0">
            <a:spAutoFit/>
          </a:bodyPr>
          <a:lstStyle/>
          <a:p>
            <a:pPr algn="ctr"/>
            <a:r>
              <a:rPr lang="en-US" altLang="zh-TW" sz="2800" dirty="0">
                <a:ea typeface="Microsoft JhengHei" panose="020B0604030504040204" pitchFamily="34" charset="-120"/>
              </a:rPr>
              <a:t>Agent’s Memory </a:t>
            </a:r>
            <a:endParaRPr lang="zh-TW" altLang="en-US" sz="2800" dirty="0">
              <a:ea typeface="Microsoft JhengHei" panose="020B0604030504040204" pitchFamily="34" charset="-120"/>
            </a:endParaRPr>
          </a:p>
        </p:txBody>
      </p:sp>
      <p:cxnSp>
        <p:nvCxnSpPr>
          <p:cNvPr id="23" name="直線單箭頭接點 22"/>
          <p:cNvCxnSpPr/>
          <p:nvPr/>
        </p:nvCxnSpPr>
        <p:spPr>
          <a:xfrm flipV="1">
            <a:off x="2668907" y="2564756"/>
            <a:ext cx="0" cy="52918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flipV="1">
            <a:off x="2687957" y="3981750"/>
            <a:ext cx="0" cy="148480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endCxn id="21" idx="1"/>
          </p:cNvCxnSpPr>
          <p:nvPr/>
        </p:nvCxnSpPr>
        <p:spPr>
          <a:xfrm flipV="1">
            <a:off x="2668907" y="5466556"/>
            <a:ext cx="1993592" cy="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flipH="1" flipV="1">
            <a:off x="3568907" y="3501375"/>
            <a:ext cx="1993592" cy="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a:off x="5562499" y="2590790"/>
            <a:ext cx="0" cy="936619"/>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9272" y="3093944"/>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單箭頭接點 6"/>
          <p:cNvCxnSpPr/>
          <p:nvPr/>
        </p:nvCxnSpPr>
        <p:spPr>
          <a:xfrm flipH="1" flipV="1">
            <a:off x="8215280" y="5440522"/>
            <a:ext cx="1993592" cy="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直線單箭頭接點 7"/>
          <p:cNvCxnSpPr/>
          <p:nvPr/>
        </p:nvCxnSpPr>
        <p:spPr>
          <a:xfrm>
            <a:off x="10208872" y="4346649"/>
            <a:ext cx="0" cy="1119907"/>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文字方塊 11"/>
          <p:cNvSpPr txBox="1"/>
          <p:nvPr/>
        </p:nvSpPr>
        <p:spPr>
          <a:xfrm>
            <a:off x="7197517" y="160396"/>
            <a:ext cx="6191250" cy="1200329"/>
          </a:xfrm>
          <a:prstGeom prst="rect">
            <a:avLst/>
          </a:prstGeom>
          <a:noFill/>
        </p:spPr>
        <p:txBody>
          <a:bodyPr wrap="square">
            <a:spAutoFit/>
          </a:bodyPr>
          <a:lstStyle/>
          <a:p>
            <a:r>
              <a:rPr lang="en-US" altLang="zh-TW" dirty="0" err="1"/>
              <a:t>TroVE</a:t>
            </a:r>
            <a:r>
              <a:rPr lang="en-US" altLang="zh-TW" dirty="0"/>
              <a:t>: https://arxiv.org/pdf/2401.12869</a:t>
            </a:r>
            <a:endParaRPr lang="en-US" altLang="zh-TW" dirty="0"/>
          </a:p>
          <a:p>
            <a:r>
              <a:rPr lang="en-US" altLang="zh-TW" dirty="0"/>
              <a:t>LATM: https://arxiv.org/abs/2305.17126</a:t>
            </a:r>
            <a:endParaRPr lang="en-US" altLang="zh-TW" dirty="0"/>
          </a:p>
          <a:p>
            <a:r>
              <a:rPr lang="en-US" altLang="zh-TW" dirty="0"/>
              <a:t>CREATOR: https://arxiv.org/abs/2305.14318 </a:t>
            </a:r>
            <a:endParaRPr lang="en-US" altLang="zh-TW" dirty="0"/>
          </a:p>
          <a:p>
            <a:r>
              <a:rPr lang="en-US" altLang="zh-TW" dirty="0"/>
              <a:t>CRAFT: https://arxiv.org/abs/2309.17428</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4416" y="2652467"/>
            <a:ext cx="1800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2216" y="2652467"/>
            <a:ext cx="1799999" cy="1800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7308" y="2653079"/>
            <a:ext cx="1800000" cy="18000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單箭頭接點 7"/>
          <p:cNvCxnSpPr>
            <a:stCxn id="4" idx="3"/>
          </p:cNvCxnSpPr>
          <p:nvPr/>
        </p:nvCxnSpPr>
        <p:spPr>
          <a:xfrm>
            <a:off x="2544416" y="3552467"/>
            <a:ext cx="2027585"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a:off x="7221923" y="3576288"/>
            <a:ext cx="2027585"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2240701" y="3739147"/>
            <a:ext cx="2681907" cy="523220"/>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工具</a:t>
            </a:r>
            <a:endParaRPr lang="zh-TW" altLang="en-US" sz="2800" dirty="0">
              <a:latin typeface="Microsoft JhengHei" panose="020B0604030504040204" pitchFamily="34" charset="-120"/>
              <a:ea typeface="Microsoft JhengHei" panose="020B0604030504040204" pitchFamily="34" charset="-120"/>
            </a:endParaRPr>
          </a:p>
        </p:txBody>
      </p:sp>
      <p:sp>
        <p:nvSpPr>
          <p:cNvPr id="11" name="文字方塊 10"/>
          <p:cNvSpPr txBox="1"/>
          <p:nvPr/>
        </p:nvSpPr>
        <p:spPr>
          <a:xfrm>
            <a:off x="6835401" y="3780316"/>
            <a:ext cx="2681907" cy="523220"/>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工具</a:t>
            </a:r>
            <a:endParaRPr lang="zh-TW" altLang="en-US" sz="2800" dirty="0">
              <a:latin typeface="Microsoft JhengHei" panose="020B0604030504040204" pitchFamily="34" charset="-120"/>
              <a:ea typeface="Microsoft JhengHei" panose="020B0604030504040204" pitchFamily="34" charset="-120"/>
            </a:endParaRPr>
          </a:p>
        </p:txBody>
      </p:sp>
      <p:sp>
        <p:nvSpPr>
          <p:cNvPr id="12" name="文字方塊 11"/>
          <p:cNvSpPr txBox="1"/>
          <p:nvPr/>
        </p:nvSpPr>
        <p:spPr>
          <a:xfrm>
            <a:off x="844062" y="1989883"/>
            <a:ext cx="6096000" cy="523220"/>
          </a:xfrm>
          <a:prstGeom prst="rect">
            <a:avLst/>
          </a:prstGeom>
          <a:noFill/>
        </p:spPr>
        <p:txBody>
          <a:bodyPr wrap="square" rtlCol="0">
            <a:spAutoFit/>
          </a:bodyPr>
          <a:lstStyle/>
          <a:p>
            <a:r>
              <a:rPr lang="zh-TW" altLang="en-US" sz="2800" dirty="0">
                <a:latin typeface="Microsoft JhengHei" panose="020B0604030504040204" pitchFamily="34" charset="-120"/>
                <a:ea typeface="Microsoft JhengHei" panose="020B0604030504040204" pitchFamily="34" charset="-120"/>
              </a:rPr>
              <a:t>因為過度相信工具而犯錯 </a:t>
            </a:r>
            <a:r>
              <a:rPr lang="en-US" altLang="zh-TW" sz="2800" dirty="0">
                <a:latin typeface="Microsoft JhengHei" panose="020B0604030504040204" pitchFamily="34" charset="-120"/>
                <a:ea typeface="Microsoft JhengHei" panose="020B0604030504040204" pitchFamily="34" charset="-120"/>
              </a:rPr>
              <a:t>…</a:t>
            </a:r>
            <a:endParaRPr lang="zh-TW" altLang="en-US" sz="2800" dirty="0">
              <a:latin typeface="Microsoft JhengHei" panose="020B0604030504040204" pitchFamily="34" charset="-120"/>
              <a:ea typeface="Microsoft JhengHei" panose="020B0604030504040204" pitchFamily="34" charset="-120"/>
            </a:endParaRPr>
          </a:p>
        </p:txBody>
      </p:sp>
      <p:sp>
        <p:nvSpPr>
          <p:cNvPr id="13" name="文字方塊 12"/>
          <p:cNvSpPr txBox="1"/>
          <p:nvPr/>
        </p:nvSpPr>
        <p:spPr>
          <a:xfrm>
            <a:off x="5102216" y="4706578"/>
            <a:ext cx="6096000" cy="523220"/>
          </a:xfrm>
          <a:prstGeom prst="rect">
            <a:avLst/>
          </a:prstGeom>
          <a:noFill/>
        </p:spPr>
        <p:txBody>
          <a:bodyPr wrap="square" rtlCol="0">
            <a:spAutoFit/>
          </a:bodyPr>
          <a:lstStyle/>
          <a:p>
            <a:r>
              <a:rPr lang="zh-TW" altLang="en-US" sz="2800" dirty="0">
                <a:latin typeface="Microsoft JhengHei" panose="020B0604030504040204" pitchFamily="34" charset="-120"/>
                <a:ea typeface="Microsoft JhengHei" panose="020B0604030504040204" pitchFamily="34" charset="-120"/>
              </a:rPr>
              <a:t>因為過度相信工具而犯錯 </a:t>
            </a:r>
            <a:r>
              <a:rPr lang="en-US" altLang="zh-TW" sz="2800" dirty="0">
                <a:latin typeface="Microsoft JhengHei" panose="020B0604030504040204" pitchFamily="34" charset="-120"/>
                <a:ea typeface="Microsoft JhengHei" panose="020B0604030504040204" pitchFamily="34" charset="-120"/>
              </a:rPr>
              <a:t>…</a:t>
            </a:r>
            <a:endParaRPr lang="zh-TW" altLang="en-US" sz="28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假如工具有問題 </a:t>
            </a:r>
            <a:r>
              <a:rPr lang="en-US" altLang="zh-TW" dirty="0">
                <a:latin typeface="Microsoft JhengHei" panose="020B0604030504040204" pitchFamily="34" charset="-120"/>
                <a:ea typeface="Microsoft JhengHei" panose="020B0604030504040204" pitchFamily="34" charset="-120"/>
              </a:rPr>
              <a:t>… </a:t>
            </a:r>
            <a:r>
              <a:rPr lang="zh-TW" altLang="en-US" dirty="0">
                <a:latin typeface="Microsoft JhengHei" panose="020B0604030504040204" pitchFamily="34" charset="-120"/>
                <a:ea typeface="Microsoft JhengHei" panose="020B0604030504040204" pitchFamily="34" charset="-120"/>
              </a:rPr>
              <a:t>以 </a:t>
            </a:r>
            <a:r>
              <a:rPr lang="en-US" altLang="zh-TW" dirty="0">
                <a:latin typeface="Microsoft JhengHei" panose="020B0604030504040204" pitchFamily="34" charset="-120"/>
                <a:ea typeface="Microsoft JhengHei" panose="020B0604030504040204" pitchFamily="34" charset="-120"/>
              </a:rPr>
              <a:t>RAG</a:t>
            </a:r>
            <a:r>
              <a:rPr lang="zh-TW" altLang="en-US" dirty="0">
                <a:latin typeface="Microsoft JhengHei" panose="020B0604030504040204" pitchFamily="34" charset="-120"/>
                <a:ea typeface="Microsoft JhengHei" panose="020B0604030504040204" pitchFamily="34" charset="-120"/>
              </a:rPr>
              <a:t> 為例</a:t>
            </a:r>
            <a:endParaRPr lang="zh-TW" altLang="en-US" dirty="0">
              <a:latin typeface="Microsoft JhengHei" panose="020B0604030504040204" pitchFamily="34" charset="-120"/>
              <a:ea typeface="Microsoft JhengHei" panose="020B0604030504040204" pitchFamily="34" charset="-120"/>
            </a:endParaRPr>
          </a:p>
        </p:txBody>
      </p:sp>
      <p:sp>
        <p:nvSpPr>
          <p:cNvPr id="5" name="文字方塊 4"/>
          <p:cNvSpPr txBox="1"/>
          <p:nvPr/>
        </p:nvSpPr>
        <p:spPr>
          <a:xfrm>
            <a:off x="838200" y="6099680"/>
            <a:ext cx="11029122" cy="646331"/>
          </a:xfrm>
          <a:prstGeom prst="rect">
            <a:avLst/>
          </a:prstGeom>
          <a:noFill/>
        </p:spPr>
        <p:txBody>
          <a:bodyPr wrap="square">
            <a:spAutoFit/>
          </a:bodyPr>
          <a:lstStyle/>
          <a:p>
            <a:r>
              <a:rPr lang="en-US" altLang="zh-TW" dirty="0"/>
              <a:t>Source of image: </a:t>
            </a:r>
            <a:r>
              <a:rPr lang="zh-TW" altLang="en-US" dirty="0"/>
              <a:t>https://www.linkedin.com/posts/petergyang_google-ai-overview-suggests-adding-glue-to-activity-7199246664329551872-9VdY/</a:t>
            </a:r>
            <a:endParaRPr lang="zh-TW" altLang="en-US" dirty="0"/>
          </a:p>
        </p:txBody>
      </p:sp>
      <p:pic>
        <p:nvPicPr>
          <p:cNvPr id="6" name="圖片 5"/>
          <p:cNvPicPr>
            <a:picLocks noChangeAspect="1"/>
          </p:cNvPicPr>
          <p:nvPr/>
        </p:nvPicPr>
        <p:blipFill>
          <a:blip r:embed="rId1"/>
          <a:stretch>
            <a:fillRect/>
          </a:stretch>
        </p:blipFill>
        <p:spPr>
          <a:xfrm>
            <a:off x="1636330" y="1609195"/>
            <a:ext cx="9434431" cy="435133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4416" y="2652467"/>
            <a:ext cx="1800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2216" y="2652467"/>
            <a:ext cx="1799999" cy="1800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7308" y="2653079"/>
            <a:ext cx="1800000" cy="18000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單箭頭接點 7"/>
          <p:cNvCxnSpPr>
            <a:stCxn id="4" idx="3"/>
          </p:cNvCxnSpPr>
          <p:nvPr/>
        </p:nvCxnSpPr>
        <p:spPr>
          <a:xfrm>
            <a:off x="2544416" y="3552467"/>
            <a:ext cx="2027585"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a:off x="7221923" y="3576288"/>
            <a:ext cx="2027585"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2240701" y="3739147"/>
            <a:ext cx="2681907" cy="523220"/>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工具</a:t>
            </a:r>
            <a:endParaRPr lang="zh-TW" altLang="en-US" sz="2800" dirty="0">
              <a:latin typeface="Microsoft JhengHei" panose="020B0604030504040204" pitchFamily="34" charset="-120"/>
              <a:ea typeface="Microsoft JhengHei" panose="020B0604030504040204" pitchFamily="34" charset="-120"/>
            </a:endParaRPr>
          </a:p>
        </p:txBody>
      </p:sp>
      <p:sp>
        <p:nvSpPr>
          <p:cNvPr id="11" name="文字方塊 10"/>
          <p:cNvSpPr txBox="1"/>
          <p:nvPr/>
        </p:nvSpPr>
        <p:spPr>
          <a:xfrm>
            <a:off x="6835401" y="3780316"/>
            <a:ext cx="2681907" cy="523220"/>
          </a:xfrm>
          <a:prstGeom prst="rect">
            <a:avLst/>
          </a:prstGeom>
          <a:noFill/>
        </p:spPr>
        <p:txBody>
          <a:bodyPr wrap="square" rtlCol="0">
            <a:spAutoFit/>
          </a:bodyPr>
          <a:lstStyle/>
          <a:p>
            <a:pPr algn="ctr"/>
            <a:r>
              <a:rPr lang="zh-TW" altLang="en-US" sz="2800" dirty="0">
                <a:latin typeface="Microsoft JhengHei" panose="020B0604030504040204" pitchFamily="34" charset="-120"/>
                <a:ea typeface="Microsoft JhengHei" panose="020B0604030504040204" pitchFamily="34" charset="-120"/>
              </a:rPr>
              <a:t>工具</a:t>
            </a:r>
            <a:endParaRPr lang="zh-TW" altLang="en-US" sz="2800" dirty="0">
              <a:latin typeface="Microsoft JhengHei" panose="020B0604030504040204" pitchFamily="34" charset="-120"/>
              <a:ea typeface="Microsoft JhengHei" panose="020B0604030504040204" pitchFamily="34" charset="-120"/>
            </a:endParaRPr>
          </a:p>
        </p:txBody>
      </p:sp>
      <p:sp>
        <p:nvSpPr>
          <p:cNvPr id="12" name="文字方塊 11"/>
          <p:cNvSpPr txBox="1"/>
          <p:nvPr/>
        </p:nvSpPr>
        <p:spPr>
          <a:xfrm>
            <a:off x="844062" y="1989883"/>
            <a:ext cx="6096000" cy="523220"/>
          </a:xfrm>
          <a:prstGeom prst="rect">
            <a:avLst/>
          </a:prstGeom>
          <a:noFill/>
        </p:spPr>
        <p:txBody>
          <a:bodyPr wrap="square" rtlCol="0">
            <a:spAutoFit/>
          </a:bodyPr>
          <a:lstStyle/>
          <a:p>
            <a:r>
              <a:rPr lang="zh-TW" altLang="en-US" sz="2800" dirty="0">
                <a:latin typeface="Microsoft JhengHei" panose="020B0604030504040204" pitchFamily="34" charset="-120"/>
                <a:ea typeface="Microsoft JhengHei" panose="020B0604030504040204" pitchFamily="34" charset="-120"/>
              </a:rPr>
              <a:t>因為過度相信工具而犯錯 </a:t>
            </a:r>
            <a:r>
              <a:rPr lang="en-US" altLang="zh-TW" sz="2800" dirty="0">
                <a:latin typeface="Microsoft JhengHei" panose="020B0604030504040204" pitchFamily="34" charset="-120"/>
                <a:ea typeface="Microsoft JhengHei" panose="020B0604030504040204" pitchFamily="34" charset="-120"/>
              </a:rPr>
              <a:t>…</a:t>
            </a:r>
            <a:endParaRPr lang="zh-TW" altLang="en-US" sz="2800" dirty="0">
              <a:latin typeface="Microsoft JhengHei" panose="020B0604030504040204" pitchFamily="34" charset="-120"/>
              <a:ea typeface="Microsoft JhengHei" panose="020B0604030504040204" pitchFamily="34" charset="-120"/>
            </a:endParaRPr>
          </a:p>
        </p:txBody>
      </p:sp>
      <p:sp>
        <p:nvSpPr>
          <p:cNvPr id="13" name="文字方塊 12"/>
          <p:cNvSpPr txBox="1"/>
          <p:nvPr/>
        </p:nvSpPr>
        <p:spPr>
          <a:xfrm>
            <a:off x="5102216" y="4706578"/>
            <a:ext cx="6096000" cy="523220"/>
          </a:xfrm>
          <a:prstGeom prst="rect">
            <a:avLst/>
          </a:prstGeom>
          <a:noFill/>
        </p:spPr>
        <p:txBody>
          <a:bodyPr wrap="square" rtlCol="0">
            <a:spAutoFit/>
          </a:bodyPr>
          <a:lstStyle/>
          <a:p>
            <a:r>
              <a:rPr lang="zh-TW" altLang="en-US" sz="2800" dirty="0">
                <a:latin typeface="Microsoft JhengHei" panose="020B0604030504040204" pitchFamily="34" charset="-120"/>
                <a:ea typeface="Microsoft JhengHei" panose="020B0604030504040204" pitchFamily="34" charset="-120"/>
              </a:rPr>
              <a:t>因為過度相信工具而犯錯 </a:t>
            </a:r>
            <a:r>
              <a:rPr lang="en-US" altLang="zh-TW" sz="2800" dirty="0">
                <a:latin typeface="Microsoft JhengHei" panose="020B0604030504040204" pitchFamily="34" charset="-120"/>
                <a:ea typeface="Microsoft JhengHei" panose="020B0604030504040204" pitchFamily="34" charset="-120"/>
              </a:rPr>
              <a:t>…</a:t>
            </a:r>
            <a:endParaRPr lang="zh-TW" altLang="en-US" sz="2800" dirty="0">
              <a:latin typeface="Microsoft JhengHei" panose="020B0604030504040204" pitchFamily="34" charset="-120"/>
              <a:ea typeface="Microsoft JhengHei" panose="020B0604030504040204" pitchFamily="34" charset="-120"/>
            </a:endParaRPr>
          </a:p>
        </p:txBody>
      </p:sp>
      <p:sp>
        <p:nvSpPr>
          <p:cNvPr id="7" name="文字方塊 6"/>
          <p:cNvSpPr txBox="1"/>
          <p:nvPr/>
        </p:nvSpPr>
        <p:spPr>
          <a:xfrm>
            <a:off x="1344393" y="5266985"/>
            <a:ext cx="3578215" cy="954107"/>
          </a:xfrm>
          <a:prstGeom prst="rect">
            <a:avLst/>
          </a:prstGeom>
          <a:noFill/>
        </p:spPr>
        <p:txBody>
          <a:bodyPr wrap="square" rtlCol="0">
            <a:spAutoFit/>
          </a:bodyPr>
          <a:lstStyle/>
          <a:p>
            <a:r>
              <a:rPr lang="zh-TW" altLang="en-US" sz="2800" b="1" dirty="0">
                <a:latin typeface="Microsoft JhengHei" panose="020B0604030504040204" pitchFamily="34" charset="-120"/>
                <a:ea typeface="Microsoft JhengHei" panose="020B0604030504040204" pitchFamily="34" charset="-120"/>
              </a:rPr>
              <a:t>不要完全相信工具，要有自己的判斷力</a:t>
            </a:r>
            <a:endParaRPr lang="zh-TW" altLang="en-US" sz="2800" b="1" dirty="0">
              <a:latin typeface="Microsoft JhengHei" panose="020B0604030504040204" pitchFamily="34" charset="-120"/>
              <a:ea typeface="Microsoft JhengHei" panose="020B0604030504040204" pitchFamily="34" charset="-120"/>
            </a:endParaRPr>
          </a:p>
        </p:txBody>
      </p:sp>
      <p:sp>
        <p:nvSpPr>
          <p:cNvPr id="14" name="文字方塊 13"/>
          <p:cNvSpPr txBox="1"/>
          <p:nvPr/>
        </p:nvSpPr>
        <p:spPr>
          <a:xfrm>
            <a:off x="6835401" y="1270162"/>
            <a:ext cx="3578215" cy="954107"/>
          </a:xfrm>
          <a:prstGeom prst="rect">
            <a:avLst/>
          </a:prstGeom>
          <a:noFill/>
        </p:spPr>
        <p:txBody>
          <a:bodyPr wrap="square" rtlCol="0">
            <a:spAutoFit/>
          </a:bodyPr>
          <a:lstStyle/>
          <a:p>
            <a:r>
              <a:rPr lang="zh-TW" altLang="en-US" sz="2800" b="1" dirty="0">
                <a:latin typeface="Microsoft JhengHei" panose="020B0604030504040204" pitchFamily="34" charset="-120"/>
                <a:ea typeface="Microsoft JhengHei" panose="020B0604030504040204" pitchFamily="34" charset="-120"/>
              </a:rPr>
              <a:t>不要完全相信工具，要有自己的判斷力</a:t>
            </a:r>
            <a:endParaRPr lang="zh-TW" altLang="en-US" sz="2800" b="1" dirty="0">
              <a:latin typeface="Microsoft JhengHei" panose="020B0604030504040204" pitchFamily="34" charset="-120"/>
              <a:ea typeface="Microsoft JhengHei" panose="020B0604030504040204" pitchFamily="34" charset="-120"/>
            </a:endParaRPr>
          </a:p>
        </p:txBody>
      </p:sp>
      <p:cxnSp>
        <p:nvCxnSpPr>
          <p:cNvPr id="16" name="直線單箭頭接點 15"/>
          <p:cNvCxnSpPr/>
          <p:nvPr/>
        </p:nvCxnSpPr>
        <p:spPr>
          <a:xfrm flipH="1" flipV="1">
            <a:off x="1644416" y="4706578"/>
            <a:ext cx="596285" cy="523220"/>
          </a:xfrm>
          <a:prstGeom prst="straightConnector1">
            <a:avLst/>
          </a:prstGeom>
          <a:ln w="762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flipH="1">
            <a:off x="6662401" y="2224269"/>
            <a:ext cx="1051384" cy="480223"/>
          </a:xfrm>
          <a:prstGeom prst="straightConnector1">
            <a:avLst/>
          </a:prstGeom>
          <a:ln w="762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語言模型有沒有自己的判斷力？</a:t>
            </a:r>
            <a:endParaRPr lang="zh-TW" altLang="en-US" dirty="0">
              <a:latin typeface="Microsoft JhengHei" panose="020B0604030504040204" pitchFamily="34" charset="-120"/>
              <a:ea typeface="Microsoft JhengHei" panose="020B0604030504040204" pitchFamily="34" charset="-120"/>
            </a:endParaRPr>
          </a:p>
        </p:txBody>
      </p:sp>
      <p:sp>
        <p:nvSpPr>
          <p:cNvPr id="6" name="矩形: 圓角 5"/>
          <p:cNvSpPr/>
          <p:nvPr/>
        </p:nvSpPr>
        <p:spPr>
          <a:xfrm>
            <a:off x="6850077" y="4485733"/>
            <a:ext cx="3281037" cy="409758"/>
          </a:xfrm>
          <a:prstGeom prst="roundRect">
            <a:avLst/>
          </a:prstGeom>
          <a:solidFill>
            <a:schemeClr val="accent5">
              <a:lumMod val="20000"/>
              <a:lumOff val="80000"/>
            </a:schemeClr>
          </a:solidFill>
          <a:ln w="19050">
            <a:noFill/>
            <a:prstDash val="sysDo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2400" dirty="0">
              <a:latin typeface="Microsoft JhengHei" panose="020B0604030504040204" pitchFamily="34" charset="-120"/>
              <a:ea typeface="Microsoft JhengHei" panose="020B0604030504040204" pitchFamily="34" charset="-120"/>
            </a:endParaRPr>
          </a:p>
        </p:txBody>
      </p:sp>
      <p:sp>
        <p:nvSpPr>
          <p:cNvPr id="9" name="矩形: 圓角 8"/>
          <p:cNvSpPr/>
          <p:nvPr/>
        </p:nvSpPr>
        <p:spPr>
          <a:xfrm>
            <a:off x="1672545" y="4495864"/>
            <a:ext cx="5155433" cy="365465"/>
          </a:xfrm>
          <a:prstGeom prst="roundRect">
            <a:avLst/>
          </a:prstGeom>
          <a:solidFill>
            <a:schemeClr val="accent5">
              <a:lumMod val="20000"/>
              <a:lumOff val="80000"/>
            </a:schemeClr>
          </a:solidFill>
          <a:ln w="19050">
            <a:noFill/>
            <a:prstDash val="sysDo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2400" dirty="0">
              <a:latin typeface="Microsoft JhengHei" panose="020B0604030504040204" pitchFamily="34" charset="-120"/>
              <a:ea typeface="Microsoft JhengHei" panose="020B0604030504040204" pitchFamily="34" charset="-120"/>
            </a:endParaRPr>
          </a:p>
        </p:txBody>
      </p:sp>
      <p:sp>
        <p:nvSpPr>
          <p:cNvPr id="19" name="矩形: 圓角 18"/>
          <p:cNvSpPr/>
          <p:nvPr/>
        </p:nvSpPr>
        <p:spPr>
          <a:xfrm>
            <a:off x="4997140" y="3161148"/>
            <a:ext cx="1228725" cy="918462"/>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2400" dirty="0">
                <a:latin typeface="Microsoft JhengHei" panose="020B0604030504040204" pitchFamily="34" charset="-120"/>
                <a:ea typeface="Microsoft JhengHei" panose="020B0604030504040204" pitchFamily="34" charset="-120"/>
              </a:rPr>
              <a:t>語言</a:t>
            </a:r>
            <a:endParaRPr lang="en-US" altLang="zh-TW" sz="2400" dirty="0">
              <a:latin typeface="Microsoft JhengHei" panose="020B0604030504040204" pitchFamily="34" charset="-120"/>
              <a:ea typeface="Microsoft JhengHei" panose="020B0604030504040204" pitchFamily="34" charset="-120"/>
            </a:endParaRPr>
          </a:p>
          <a:p>
            <a:pPr algn="ctr"/>
            <a:r>
              <a:rPr lang="zh-TW" altLang="en-US" sz="2400" dirty="0">
                <a:latin typeface="Microsoft JhengHei" panose="020B0604030504040204" pitchFamily="34" charset="-120"/>
                <a:ea typeface="Microsoft JhengHei" panose="020B0604030504040204" pitchFamily="34" charset="-120"/>
              </a:rPr>
              <a:t>模型</a:t>
            </a:r>
            <a:endParaRPr lang="zh-TW" altLang="en-US" sz="2400" dirty="0">
              <a:latin typeface="Microsoft JhengHei" panose="020B0604030504040204" pitchFamily="34" charset="-120"/>
              <a:ea typeface="Microsoft JhengHei" panose="020B0604030504040204" pitchFamily="34" charset="-120"/>
            </a:endParaRPr>
          </a:p>
        </p:txBody>
      </p:sp>
      <p:sp>
        <p:nvSpPr>
          <p:cNvPr id="20" name="文字方塊 19"/>
          <p:cNvSpPr txBox="1"/>
          <p:nvPr/>
        </p:nvSpPr>
        <p:spPr>
          <a:xfrm>
            <a:off x="1539565" y="2288363"/>
            <a:ext cx="7677150" cy="369332"/>
          </a:xfrm>
          <a:prstGeom prst="rect">
            <a:avLst/>
          </a:prstGeom>
          <a:noFill/>
        </p:spPr>
        <p:txBody>
          <a:bodyPr wrap="square">
            <a:spAutoFit/>
          </a:bodyPr>
          <a:lstStyle/>
          <a:p>
            <a:r>
              <a:rPr lang="en-US" altLang="zh-TW" dirty="0"/>
              <a:t>2025 </a:t>
            </a:r>
            <a:r>
              <a:rPr lang="zh-TW" altLang="en-US" dirty="0"/>
              <a:t>年 </a:t>
            </a:r>
            <a:r>
              <a:rPr lang="en-US" altLang="zh-TW" dirty="0"/>
              <a:t>3 </a:t>
            </a:r>
            <a:r>
              <a:rPr lang="zh-TW" altLang="en-US" dirty="0"/>
              <a:t>月 </a:t>
            </a:r>
            <a:r>
              <a:rPr lang="en-US" altLang="zh-TW" dirty="0"/>
              <a:t>10 </a:t>
            </a:r>
            <a:r>
              <a:rPr lang="zh-TW" altLang="en-US" dirty="0"/>
              <a:t>日那天下午 </a:t>
            </a:r>
            <a:r>
              <a:rPr lang="en-US" altLang="zh-TW" dirty="0"/>
              <a:t>2:00 </a:t>
            </a:r>
            <a:r>
              <a:rPr lang="zh-TW" altLang="en-US" dirty="0"/>
              <a:t>，高雄氣溫如何</a:t>
            </a:r>
            <a:endParaRPr lang="zh-TW" altLang="en-US" dirty="0"/>
          </a:p>
        </p:txBody>
      </p:sp>
      <p:sp>
        <p:nvSpPr>
          <p:cNvPr id="23" name="文字方塊 22"/>
          <p:cNvSpPr txBox="1"/>
          <p:nvPr/>
        </p:nvSpPr>
        <p:spPr>
          <a:xfrm>
            <a:off x="1749115" y="4461694"/>
            <a:ext cx="6096000" cy="369332"/>
          </a:xfrm>
          <a:prstGeom prst="rect">
            <a:avLst/>
          </a:prstGeom>
          <a:noFill/>
        </p:spPr>
        <p:txBody>
          <a:bodyPr wrap="square">
            <a:spAutoFit/>
          </a:bodyPr>
          <a:lstStyle/>
          <a:p>
            <a:r>
              <a:rPr lang="en-US" altLang="zh-TW" dirty="0"/>
              <a:t>&lt;tool&gt;Temperature('</a:t>
            </a:r>
            <a:r>
              <a:rPr lang="zh-TW" altLang="en-US" dirty="0"/>
              <a:t>高雄</a:t>
            </a:r>
            <a:r>
              <a:rPr lang="en-US" altLang="zh-TW" dirty="0"/>
              <a:t>', '2025.03.10 14:00')&lt;/tool&gt;</a:t>
            </a:r>
            <a:endParaRPr lang="en-US" altLang="zh-TW" dirty="0"/>
          </a:p>
        </p:txBody>
      </p:sp>
      <p:cxnSp>
        <p:nvCxnSpPr>
          <p:cNvPr id="24" name="直線單箭頭接點 23"/>
          <p:cNvCxnSpPr>
            <a:stCxn id="19" idx="2"/>
          </p:cNvCxnSpPr>
          <p:nvPr/>
        </p:nvCxnSpPr>
        <p:spPr>
          <a:xfrm flipH="1">
            <a:off x="5611502" y="4079610"/>
            <a:ext cx="1" cy="3839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flipH="1">
            <a:off x="5621026" y="2730141"/>
            <a:ext cx="1" cy="3839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p:cNvSpPr txBox="1"/>
          <p:nvPr/>
        </p:nvSpPr>
        <p:spPr>
          <a:xfrm>
            <a:off x="6678305" y="2250263"/>
            <a:ext cx="2218874" cy="461665"/>
          </a:xfrm>
          <a:prstGeom prst="rect">
            <a:avLst/>
          </a:prstGeom>
          <a:noFill/>
        </p:spPr>
        <p:txBody>
          <a:bodyPr wrap="square" rtlCol="0">
            <a:spAutoFit/>
          </a:bodyPr>
          <a:lstStyle/>
          <a:p>
            <a:r>
              <a:rPr lang="en-US" altLang="zh-TW" sz="2400" b="1" dirty="0">
                <a:solidFill>
                  <a:srgbClr val="0000FF"/>
                </a:solidFill>
                <a:latin typeface="Microsoft JhengHei" panose="020B0604030504040204" pitchFamily="34" charset="-120"/>
                <a:ea typeface="Microsoft JhengHei" panose="020B0604030504040204" pitchFamily="34" charset="-120"/>
              </a:rPr>
              <a:t>User Prompt</a:t>
            </a:r>
            <a:endParaRPr lang="zh-TW" altLang="en-US" sz="2400" b="1" dirty="0">
              <a:solidFill>
                <a:srgbClr val="0000FF"/>
              </a:solidFill>
              <a:latin typeface="Microsoft JhengHei" panose="020B0604030504040204" pitchFamily="34" charset="-120"/>
              <a:ea typeface="Microsoft JhengHei" panose="020B0604030504040204" pitchFamily="34" charset="-120"/>
            </a:endParaRPr>
          </a:p>
        </p:txBody>
      </p:sp>
      <p:sp>
        <p:nvSpPr>
          <p:cNvPr id="31" name="文字方塊 30"/>
          <p:cNvSpPr txBox="1"/>
          <p:nvPr/>
        </p:nvSpPr>
        <p:spPr>
          <a:xfrm>
            <a:off x="6678305" y="1690688"/>
            <a:ext cx="2835731" cy="461665"/>
          </a:xfrm>
          <a:prstGeom prst="rect">
            <a:avLst/>
          </a:prstGeom>
          <a:noFill/>
        </p:spPr>
        <p:txBody>
          <a:bodyPr wrap="square" rtlCol="0">
            <a:spAutoFit/>
          </a:bodyPr>
          <a:lstStyle/>
          <a:p>
            <a:r>
              <a:rPr lang="en-US" altLang="zh-TW" sz="2400" b="1" dirty="0">
                <a:solidFill>
                  <a:srgbClr val="0000FF"/>
                </a:solidFill>
                <a:latin typeface="Microsoft JhengHei" panose="020B0604030504040204" pitchFamily="34" charset="-120"/>
                <a:ea typeface="Microsoft JhengHei" panose="020B0604030504040204" pitchFamily="34" charset="-120"/>
              </a:rPr>
              <a:t>System Prompt</a:t>
            </a:r>
            <a:endParaRPr lang="zh-TW" altLang="en-US" sz="2400" b="1" dirty="0">
              <a:solidFill>
                <a:srgbClr val="0000FF"/>
              </a:solidFill>
              <a:latin typeface="Microsoft JhengHei" panose="020B0604030504040204" pitchFamily="34" charset="-120"/>
              <a:ea typeface="Microsoft JhengHei" panose="020B0604030504040204" pitchFamily="34" charset="-120"/>
            </a:endParaRPr>
          </a:p>
        </p:txBody>
      </p:sp>
      <p:sp>
        <p:nvSpPr>
          <p:cNvPr id="32" name="矩形: 圓角 31"/>
          <p:cNvSpPr/>
          <p:nvPr/>
        </p:nvSpPr>
        <p:spPr>
          <a:xfrm>
            <a:off x="1387164" y="2289366"/>
            <a:ext cx="5295891" cy="393729"/>
          </a:xfrm>
          <a:prstGeom prst="roundRect">
            <a:avLst>
              <a:gd name="adj" fmla="val 10097"/>
            </a:avLst>
          </a:prstGeom>
          <a:noFill/>
          <a:ln w="38100">
            <a:solidFill>
              <a:srgbClr val="0000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圓角 33"/>
          <p:cNvSpPr/>
          <p:nvPr/>
        </p:nvSpPr>
        <p:spPr>
          <a:xfrm>
            <a:off x="1387166" y="1690688"/>
            <a:ext cx="5291140" cy="461665"/>
          </a:xfrm>
          <a:prstGeom prst="roundRect">
            <a:avLst>
              <a:gd name="adj" fmla="val 4705"/>
            </a:avLst>
          </a:prstGeom>
          <a:noFill/>
          <a:ln w="38100">
            <a:solidFill>
              <a:srgbClr val="0000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文字方塊 35"/>
          <p:cNvSpPr txBox="1"/>
          <p:nvPr/>
        </p:nvSpPr>
        <p:spPr>
          <a:xfrm>
            <a:off x="1544100" y="1724889"/>
            <a:ext cx="5011965" cy="369332"/>
          </a:xfrm>
          <a:prstGeom prst="rect">
            <a:avLst/>
          </a:prstGeom>
          <a:noFill/>
        </p:spPr>
        <p:txBody>
          <a:bodyPr wrap="square">
            <a:spAutoFit/>
          </a:bodyPr>
          <a:lstStyle/>
          <a:p>
            <a:r>
              <a:rPr lang="zh-TW" altLang="en-US" dirty="0"/>
              <a:t>工具使用方式 </a:t>
            </a:r>
            <a:r>
              <a:rPr lang="en-US" altLang="zh-TW" dirty="0"/>
              <a:t>……</a:t>
            </a:r>
            <a:endParaRPr lang="zh-TW" altLang="en-US" dirty="0"/>
          </a:p>
        </p:txBody>
      </p:sp>
      <p:sp>
        <p:nvSpPr>
          <p:cNvPr id="39" name="文字方塊 38"/>
          <p:cNvSpPr txBox="1"/>
          <p:nvPr/>
        </p:nvSpPr>
        <p:spPr>
          <a:xfrm>
            <a:off x="6827986" y="4469676"/>
            <a:ext cx="3664457" cy="369332"/>
          </a:xfrm>
          <a:prstGeom prst="rect">
            <a:avLst/>
          </a:prstGeom>
          <a:noFill/>
        </p:spPr>
        <p:txBody>
          <a:bodyPr wrap="square">
            <a:spAutoFit/>
          </a:bodyPr>
          <a:lstStyle/>
          <a:p>
            <a:r>
              <a:rPr lang="en-US" altLang="zh-TW" dirty="0"/>
              <a:t>&lt;output&gt;</a:t>
            </a:r>
            <a:r>
              <a:rPr lang="zh-TW" altLang="en-US" dirty="0"/>
              <a:t>攝氏 </a:t>
            </a:r>
            <a:r>
              <a:rPr lang="en-US" altLang="zh-TW" dirty="0">
                <a:solidFill>
                  <a:srgbClr val="FF0000"/>
                </a:solidFill>
              </a:rPr>
              <a:t>100 </a:t>
            </a:r>
            <a:r>
              <a:rPr lang="zh-TW" altLang="en-US" dirty="0"/>
              <a:t>度</a:t>
            </a:r>
            <a:r>
              <a:rPr lang="en-US" altLang="zh-TW" dirty="0"/>
              <a:t>&lt;/output&gt;</a:t>
            </a:r>
            <a:endParaRPr lang="en-US" altLang="zh-TW" dirty="0"/>
          </a:p>
        </p:txBody>
      </p:sp>
      <p:sp>
        <p:nvSpPr>
          <p:cNvPr id="44" name="文字方塊 43"/>
          <p:cNvSpPr txBox="1"/>
          <p:nvPr/>
        </p:nvSpPr>
        <p:spPr>
          <a:xfrm>
            <a:off x="700345" y="3950831"/>
            <a:ext cx="2659743"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不需要呈現給使用者看</a:t>
            </a:r>
            <a:endParaRPr lang="zh-TW" altLang="en-US" dirty="0">
              <a:latin typeface="Microsoft JhengHei" panose="020B0604030504040204" pitchFamily="34" charset="-120"/>
              <a:ea typeface="Microsoft JhengHei" panose="020B0604030504040204" pitchFamily="34" charset="-120"/>
            </a:endParaRPr>
          </a:p>
        </p:txBody>
      </p:sp>
      <p:sp>
        <p:nvSpPr>
          <p:cNvPr id="51" name="文字方塊 50"/>
          <p:cNvSpPr txBox="1"/>
          <p:nvPr/>
        </p:nvSpPr>
        <p:spPr>
          <a:xfrm>
            <a:off x="7762057" y="3943773"/>
            <a:ext cx="2659743"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不需要呈現給使用者看</a:t>
            </a:r>
            <a:endParaRPr lang="zh-TW" altLang="en-US" dirty="0">
              <a:latin typeface="Microsoft JhengHei" panose="020B0604030504040204" pitchFamily="34" charset="-120"/>
              <a:ea typeface="Microsoft JhengHei" panose="020B0604030504040204" pitchFamily="34" charset="-120"/>
            </a:endParaRPr>
          </a:p>
        </p:txBody>
      </p:sp>
      <p:cxnSp>
        <p:nvCxnSpPr>
          <p:cNvPr id="54" name="直線單箭頭接點 53"/>
          <p:cNvCxnSpPr/>
          <p:nvPr/>
        </p:nvCxnSpPr>
        <p:spPr>
          <a:xfrm flipH="1" flipV="1">
            <a:off x="1806887" y="4275883"/>
            <a:ext cx="322603" cy="253549"/>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a:endCxn id="51" idx="1"/>
          </p:cNvCxnSpPr>
          <p:nvPr/>
        </p:nvCxnSpPr>
        <p:spPr>
          <a:xfrm flipV="1">
            <a:off x="7379921" y="4128439"/>
            <a:ext cx="382136" cy="378616"/>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文字方塊 55"/>
          <p:cNvSpPr txBox="1"/>
          <p:nvPr/>
        </p:nvSpPr>
        <p:spPr>
          <a:xfrm>
            <a:off x="3731350" y="5306250"/>
            <a:ext cx="6399763" cy="369332"/>
          </a:xfrm>
          <a:prstGeom prst="rect">
            <a:avLst/>
          </a:prstGeom>
          <a:noFill/>
        </p:spPr>
        <p:txBody>
          <a:bodyPr wrap="square">
            <a:spAutoFit/>
          </a:bodyPr>
          <a:lstStyle/>
          <a:p>
            <a:r>
              <a:rPr lang="en-US" altLang="zh-TW" dirty="0"/>
              <a:t>2025 </a:t>
            </a:r>
            <a:r>
              <a:rPr lang="zh-TW" altLang="en-US" dirty="0"/>
              <a:t>年 </a:t>
            </a:r>
            <a:r>
              <a:rPr lang="en-US" altLang="zh-TW" dirty="0"/>
              <a:t>3 </a:t>
            </a:r>
            <a:r>
              <a:rPr lang="zh-TW" altLang="en-US" dirty="0"/>
              <a:t>月 </a:t>
            </a:r>
            <a:r>
              <a:rPr lang="en-US" altLang="zh-TW" dirty="0"/>
              <a:t>10 </a:t>
            </a:r>
            <a:r>
              <a:rPr lang="zh-TW" altLang="en-US" dirty="0"/>
              <a:t>日下午 </a:t>
            </a:r>
            <a:r>
              <a:rPr lang="en-US" altLang="zh-TW" dirty="0"/>
              <a:t>2:00 </a:t>
            </a:r>
            <a:r>
              <a:rPr lang="zh-TW" altLang="en-US" dirty="0"/>
              <a:t>，高雄的氣溫預測為攝氏 </a:t>
            </a:r>
            <a:r>
              <a:rPr lang="en-US" altLang="zh-TW" dirty="0"/>
              <a:t>100 </a:t>
            </a:r>
            <a:r>
              <a:rPr lang="zh-TW" altLang="en-US" dirty="0"/>
              <a:t>度。</a:t>
            </a:r>
            <a:endParaRPr lang="zh-TW" altLang="en-US" dirty="0"/>
          </a:p>
        </p:txBody>
      </p:sp>
      <p:sp>
        <p:nvSpPr>
          <p:cNvPr id="57" name="文字方塊 56"/>
          <p:cNvSpPr txBox="1"/>
          <p:nvPr/>
        </p:nvSpPr>
        <p:spPr>
          <a:xfrm>
            <a:off x="1539565" y="5306250"/>
            <a:ext cx="2593663" cy="369332"/>
          </a:xfrm>
          <a:prstGeom prst="rect">
            <a:avLst/>
          </a:prstGeom>
          <a:noFill/>
        </p:spPr>
        <p:txBody>
          <a:bodyPr wrap="square" rtlCol="0">
            <a:spAutoFit/>
          </a:bodyPr>
          <a:lstStyle/>
          <a:p>
            <a:r>
              <a:rPr lang="en-US" altLang="zh-TW" dirty="0"/>
              <a:t>(</a:t>
            </a:r>
            <a:r>
              <a:rPr lang="zh-TW" altLang="en-US" dirty="0"/>
              <a:t>繼續去做接龍 </a:t>
            </a:r>
            <a:r>
              <a:rPr lang="en-US" altLang="zh-TW" dirty="0"/>
              <a:t>……)</a:t>
            </a:r>
            <a:endParaRPr lang="zh-TW" altLang="en-US" dirty="0"/>
          </a:p>
        </p:txBody>
      </p:sp>
      <p:sp>
        <p:nvSpPr>
          <p:cNvPr id="60" name="文字方塊 59"/>
          <p:cNvSpPr txBox="1"/>
          <p:nvPr/>
        </p:nvSpPr>
        <p:spPr>
          <a:xfrm>
            <a:off x="6269234" y="3394912"/>
            <a:ext cx="3151761" cy="369332"/>
          </a:xfrm>
          <a:prstGeom prst="rect">
            <a:avLst/>
          </a:prstGeom>
          <a:noFill/>
        </p:spPr>
        <p:txBody>
          <a:bodyPr wrap="square" rtlCol="0">
            <a:spAutoFit/>
          </a:bodyPr>
          <a:lstStyle/>
          <a:p>
            <a:r>
              <a:rPr lang="en-US" altLang="zh-TW" dirty="0"/>
              <a:t>gpt-4o-mini</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語言模型有沒有自己的判斷力？</a:t>
            </a:r>
            <a:endParaRPr lang="zh-TW" altLang="en-US" dirty="0">
              <a:latin typeface="Microsoft JhengHei" panose="020B0604030504040204" pitchFamily="34" charset="-120"/>
              <a:ea typeface="Microsoft JhengHei" panose="020B0604030504040204" pitchFamily="34" charset="-120"/>
            </a:endParaRPr>
          </a:p>
        </p:txBody>
      </p:sp>
      <p:sp>
        <p:nvSpPr>
          <p:cNvPr id="6" name="矩形: 圓角 5"/>
          <p:cNvSpPr/>
          <p:nvPr/>
        </p:nvSpPr>
        <p:spPr>
          <a:xfrm>
            <a:off x="6850077" y="4485733"/>
            <a:ext cx="3281037" cy="409758"/>
          </a:xfrm>
          <a:prstGeom prst="roundRect">
            <a:avLst/>
          </a:prstGeom>
          <a:solidFill>
            <a:schemeClr val="accent5">
              <a:lumMod val="20000"/>
              <a:lumOff val="80000"/>
            </a:schemeClr>
          </a:solidFill>
          <a:ln w="19050">
            <a:noFill/>
            <a:prstDash val="sysDo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2400" dirty="0">
              <a:latin typeface="Microsoft JhengHei" panose="020B0604030504040204" pitchFamily="34" charset="-120"/>
              <a:ea typeface="Microsoft JhengHei" panose="020B0604030504040204" pitchFamily="34" charset="-120"/>
            </a:endParaRPr>
          </a:p>
        </p:txBody>
      </p:sp>
      <p:sp>
        <p:nvSpPr>
          <p:cNvPr id="9" name="矩形: 圓角 8"/>
          <p:cNvSpPr/>
          <p:nvPr/>
        </p:nvSpPr>
        <p:spPr>
          <a:xfrm>
            <a:off x="1672545" y="4495864"/>
            <a:ext cx="5155433" cy="365465"/>
          </a:xfrm>
          <a:prstGeom prst="roundRect">
            <a:avLst/>
          </a:prstGeom>
          <a:solidFill>
            <a:schemeClr val="accent5">
              <a:lumMod val="20000"/>
              <a:lumOff val="80000"/>
            </a:schemeClr>
          </a:solidFill>
          <a:ln w="19050">
            <a:noFill/>
            <a:prstDash val="sysDot"/>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2400" dirty="0">
              <a:latin typeface="Microsoft JhengHei" panose="020B0604030504040204" pitchFamily="34" charset="-120"/>
              <a:ea typeface="Microsoft JhengHei" panose="020B0604030504040204" pitchFamily="34" charset="-120"/>
            </a:endParaRPr>
          </a:p>
        </p:txBody>
      </p:sp>
      <p:sp>
        <p:nvSpPr>
          <p:cNvPr id="19" name="矩形: 圓角 18"/>
          <p:cNvSpPr/>
          <p:nvPr/>
        </p:nvSpPr>
        <p:spPr>
          <a:xfrm>
            <a:off x="4997140" y="3161148"/>
            <a:ext cx="1228725" cy="918462"/>
          </a:xfrm>
          <a:prstGeom prst="roundRect">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zh-TW" altLang="en-US" sz="2400" dirty="0">
                <a:latin typeface="Microsoft JhengHei" panose="020B0604030504040204" pitchFamily="34" charset="-120"/>
                <a:ea typeface="Microsoft JhengHei" panose="020B0604030504040204" pitchFamily="34" charset="-120"/>
              </a:rPr>
              <a:t>語言</a:t>
            </a:r>
            <a:endParaRPr lang="en-US" altLang="zh-TW" sz="2400" dirty="0">
              <a:latin typeface="Microsoft JhengHei" panose="020B0604030504040204" pitchFamily="34" charset="-120"/>
              <a:ea typeface="Microsoft JhengHei" panose="020B0604030504040204" pitchFamily="34" charset="-120"/>
            </a:endParaRPr>
          </a:p>
          <a:p>
            <a:pPr algn="ctr"/>
            <a:r>
              <a:rPr lang="zh-TW" altLang="en-US" sz="2400" dirty="0">
                <a:latin typeface="Microsoft JhengHei" panose="020B0604030504040204" pitchFamily="34" charset="-120"/>
                <a:ea typeface="Microsoft JhengHei" panose="020B0604030504040204" pitchFamily="34" charset="-120"/>
              </a:rPr>
              <a:t>模型</a:t>
            </a:r>
            <a:endParaRPr lang="zh-TW" altLang="en-US" sz="2400" dirty="0">
              <a:latin typeface="Microsoft JhengHei" panose="020B0604030504040204" pitchFamily="34" charset="-120"/>
              <a:ea typeface="Microsoft JhengHei" panose="020B0604030504040204" pitchFamily="34" charset="-120"/>
            </a:endParaRPr>
          </a:p>
        </p:txBody>
      </p:sp>
      <p:sp>
        <p:nvSpPr>
          <p:cNvPr id="20" name="文字方塊 19"/>
          <p:cNvSpPr txBox="1"/>
          <p:nvPr/>
        </p:nvSpPr>
        <p:spPr>
          <a:xfrm>
            <a:off x="1539565" y="2288363"/>
            <a:ext cx="7677150" cy="369332"/>
          </a:xfrm>
          <a:prstGeom prst="rect">
            <a:avLst/>
          </a:prstGeom>
          <a:noFill/>
        </p:spPr>
        <p:txBody>
          <a:bodyPr wrap="square">
            <a:spAutoFit/>
          </a:bodyPr>
          <a:lstStyle/>
          <a:p>
            <a:r>
              <a:rPr lang="en-US" altLang="zh-TW" dirty="0"/>
              <a:t>2025 </a:t>
            </a:r>
            <a:r>
              <a:rPr lang="zh-TW" altLang="en-US" dirty="0"/>
              <a:t>年 </a:t>
            </a:r>
            <a:r>
              <a:rPr lang="en-US" altLang="zh-TW" dirty="0"/>
              <a:t>3 </a:t>
            </a:r>
            <a:r>
              <a:rPr lang="zh-TW" altLang="en-US" dirty="0"/>
              <a:t>月 </a:t>
            </a:r>
            <a:r>
              <a:rPr lang="en-US" altLang="zh-TW" dirty="0"/>
              <a:t>10 </a:t>
            </a:r>
            <a:r>
              <a:rPr lang="zh-TW" altLang="en-US" dirty="0"/>
              <a:t>日那天下午 </a:t>
            </a:r>
            <a:r>
              <a:rPr lang="en-US" altLang="zh-TW" dirty="0"/>
              <a:t>2:00 </a:t>
            </a:r>
            <a:r>
              <a:rPr lang="zh-TW" altLang="en-US" dirty="0"/>
              <a:t>，高雄氣溫如何</a:t>
            </a:r>
            <a:endParaRPr lang="zh-TW" altLang="en-US" dirty="0"/>
          </a:p>
        </p:txBody>
      </p:sp>
      <p:sp>
        <p:nvSpPr>
          <p:cNvPr id="23" name="文字方塊 22"/>
          <p:cNvSpPr txBox="1"/>
          <p:nvPr/>
        </p:nvSpPr>
        <p:spPr>
          <a:xfrm>
            <a:off x="1749115" y="4461694"/>
            <a:ext cx="6096000" cy="369332"/>
          </a:xfrm>
          <a:prstGeom prst="rect">
            <a:avLst/>
          </a:prstGeom>
          <a:noFill/>
        </p:spPr>
        <p:txBody>
          <a:bodyPr wrap="square">
            <a:spAutoFit/>
          </a:bodyPr>
          <a:lstStyle/>
          <a:p>
            <a:r>
              <a:rPr lang="en-US" altLang="zh-TW" dirty="0"/>
              <a:t>&lt;tool&gt;Temperature('</a:t>
            </a:r>
            <a:r>
              <a:rPr lang="zh-TW" altLang="en-US" dirty="0"/>
              <a:t>高雄</a:t>
            </a:r>
            <a:r>
              <a:rPr lang="en-US" altLang="zh-TW" dirty="0"/>
              <a:t>', '2025.03.10 14:00')&lt;/tool&gt;</a:t>
            </a:r>
            <a:endParaRPr lang="en-US" altLang="zh-TW" dirty="0"/>
          </a:p>
        </p:txBody>
      </p:sp>
      <p:cxnSp>
        <p:nvCxnSpPr>
          <p:cNvPr id="24" name="直線單箭頭接點 23"/>
          <p:cNvCxnSpPr>
            <a:stCxn id="19" idx="2"/>
          </p:cNvCxnSpPr>
          <p:nvPr/>
        </p:nvCxnSpPr>
        <p:spPr>
          <a:xfrm flipH="1">
            <a:off x="5611502" y="4079610"/>
            <a:ext cx="1" cy="3839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flipH="1">
            <a:off x="5621026" y="2730141"/>
            <a:ext cx="1" cy="3839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p:cNvSpPr txBox="1"/>
          <p:nvPr/>
        </p:nvSpPr>
        <p:spPr>
          <a:xfrm>
            <a:off x="6678305" y="2250263"/>
            <a:ext cx="2218874" cy="461665"/>
          </a:xfrm>
          <a:prstGeom prst="rect">
            <a:avLst/>
          </a:prstGeom>
          <a:noFill/>
        </p:spPr>
        <p:txBody>
          <a:bodyPr wrap="square" rtlCol="0">
            <a:spAutoFit/>
          </a:bodyPr>
          <a:lstStyle/>
          <a:p>
            <a:r>
              <a:rPr lang="en-US" altLang="zh-TW" sz="2400" b="1" dirty="0">
                <a:solidFill>
                  <a:srgbClr val="0000FF"/>
                </a:solidFill>
                <a:latin typeface="Microsoft JhengHei" panose="020B0604030504040204" pitchFamily="34" charset="-120"/>
                <a:ea typeface="Microsoft JhengHei" panose="020B0604030504040204" pitchFamily="34" charset="-120"/>
              </a:rPr>
              <a:t>User Prompt</a:t>
            </a:r>
            <a:endParaRPr lang="zh-TW" altLang="en-US" sz="2400" b="1" dirty="0">
              <a:solidFill>
                <a:srgbClr val="0000FF"/>
              </a:solidFill>
              <a:latin typeface="Microsoft JhengHei" panose="020B0604030504040204" pitchFamily="34" charset="-120"/>
              <a:ea typeface="Microsoft JhengHei" panose="020B0604030504040204" pitchFamily="34" charset="-120"/>
            </a:endParaRPr>
          </a:p>
        </p:txBody>
      </p:sp>
      <p:sp>
        <p:nvSpPr>
          <p:cNvPr id="31" name="文字方塊 30"/>
          <p:cNvSpPr txBox="1"/>
          <p:nvPr/>
        </p:nvSpPr>
        <p:spPr>
          <a:xfrm>
            <a:off x="6678305" y="1690688"/>
            <a:ext cx="2835731" cy="461665"/>
          </a:xfrm>
          <a:prstGeom prst="rect">
            <a:avLst/>
          </a:prstGeom>
          <a:noFill/>
        </p:spPr>
        <p:txBody>
          <a:bodyPr wrap="square" rtlCol="0">
            <a:spAutoFit/>
          </a:bodyPr>
          <a:lstStyle/>
          <a:p>
            <a:r>
              <a:rPr lang="en-US" altLang="zh-TW" sz="2400" b="1" dirty="0">
                <a:solidFill>
                  <a:srgbClr val="0000FF"/>
                </a:solidFill>
                <a:latin typeface="Microsoft JhengHei" panose="020B0604030504040204" pitchFamily="34" charset="-120"/>
                <a:ea typeface="Microsoft JhengHei" panose="020B0604030504040204" pitchFamily="34" charset="-120"/>
              </a:rPr>
              <a:t>System Prompt</a:t>
            </a:r>
            <a:endParaRPr lang="zh-TW" altLang="en-US" sz="2400" b="1" dirty="0">
              <a:solidFill>
                <a:srgbClr val="0000FF"/>
              </a:solidFill>
              <a:latin typeface="Microsoft JhengHei" panose="020B0604030504040204" pitchFamily="34" charset="-120"/>
              <a:ea typeface="Microsoft JhengHei" panose="020B0604030504040204" pitchFamily="34" charset="-120"/>
            </a:endParaRPr>
          </a:p>
        </p:txBody>
      </p:sp>
      <p:sp>
        <p:nvSpPr>
          <p:cNvPr id="32" name="矩形: 圓角 31"/>
          <p:cNvSpPr/>
          <p:nvPr/>
        </p:nvSpPr>
        <p:spPr>
          <a:xfrm>
            <a:off x="1387164" y="2289366"/>
            <a:ext cx="5295891" cy="393729"/>
          </a:xfrm>
          <a:prstGeom prst="roundRect">
            <a:avLst>
              <a:gd name="adj" fmla="val 10097"/>
            </a:avLst>
          </a:prstGeom>
          <a:noFill/>
          <a:ln w="38100">
            <a:solidFill>
              <a:srgbClr val="0000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圓角 33"/>
          <p:cNvSpPr/>
          <p:nvPr/>
        </p:nvSpPr>
        <p:spPr>
          <a:xfrm>
            <a:off x="1387166" y="1690688"/>
            <a:ext cx="5291140" cy="461665"/>
          </a:xfrm>
          <a:prstGeom prst="roundRect">
            <a:avLst>
              <a:gd name="adj" fmla="val 4705"/>
            </a:avLst>
          </a:prstGeom>
          <a:noFill/>
          <a:ln w="38100">
            <a:solidFill>
              <a:srgbClr val="0000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文字方塊 35"/>
          <p:cNvSpPr txBox="1"/>
          <p:nvPr/>
        </p:nvSpPr>
        <p:spPr>
          <a:xfrm>
            <a:off x="1544100" y="1724889"/>
            <a:ext cx="5011965" cy="369332"/>
          </a:xfrm>
          <a:prstGeom prst="rect">
            <a:avLst/>
          </a:prstGeom>
          <a:noFill/>
        </p:spPr>
        <p:txBody>
          <a:bodyPr wrap="square">
            <a:spAutoFit/>
          </a:bodyPr>
          <a:lstStyle/>
          <a:p>
            <a:r>
              <a:rPr lang="zh-TW" altLang="en-US" dirty="0"/>
              <a:t>工具使用方式 </a:t>
            </a:r>
            <a:r>
              <a:rPr lang="en-US" altLang="zh-TW" dirty="0"/>
              <a:t>……</a:t>
            </a:r>
            <a:endParaRPr lang="zh-TW" altLang="en-US" dirty="0"/>
          </a:p>
        </p:txBody>
      </p:sp>
      <p:sp>
        <p:nvSpPr>
          <p:cNvPr id="39" name="文字方塊 38"/>
          <p:cNvSpPr txBox="1"/>
          <p:nvPr/>
        </p:nvSpPr>
        <p:spPr>
          <a:xfrm>
            <a:off x="6827986" y="4469676"/>
            <a:ext cx="3664457" cy="369332"/>
          </a:xfrm>
          <a:prstGeom prst="rect">
            <a:avLst/>
          </a:prstGeom>
          <a:noFill/>
        </p:spPr>
        <p:txBody>
          <a:bodyPr wrap="square">
            <a:spAutoFit/>
          </a:bodyPr>
          <a:lstStyle/>
          <a:p>
            <a:r>
              <a:rPr lang="en-US" altLang="zh-TW" dirty="0"/>
              <a:t>&lt;output&gt;</a:t>
            </a:r>
            <a:r>
              <a:rPr lang="zh-TW" altLang="en-US" dirty="0"/>
              <a:t>攝氏 </a:t>
            </a:r>
            <a:r>
              <a:rPr lang="en-US" altLang="zh-TW" dirty="0">
                <a:solidFill>
                  <a:srgbClr val="FF0000"/>
                </a:solidFill>
              </a:rPr>
              <a:t>10000</a:t>
            </a:r>
            <a:r>
              <a:rPr lang="en-US" altLang="zh-TW" dirty="0"/>
              <a:t> </a:t>
            </a:r>
            <a:r>
              <a:rPr lang="zh-TW" altLang="en-US" dirty="0"/>
              <a:t>度</a:t>
            </a:r>
            <a:r>
              <a:rPr lang="en-US" altLang="zh-TW" dirty="0"/>
              <a:t>&lt;/output&gt;</a:t>
            </a:r>
            <a:endParaRPr lang="en-US" altLang="zh-TW" dirty="0"/>
          </a:p>
        </p:txBody>
      </p:sp>
      <p:sp>
        <p:nvSpPr>
          <p:cNvPr id="44" name="文字方塊 43"/>
          <p:cNvSpPr txBox="1"/>
          <p:nvPr/>
        </p:nvSpPr>
        <p:spPr>
          <a:xfrm>
            <a:off x="700345" y="3950831"/>
            <a:ext cx="2659743"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不需要呈現給使用者看</a:t>
            </a:r>
            <a:endParaRPr lang="zh-TW" altLang="en-US" dirty="0">
              <a:latin typeface="Microsoft JhengHei" panose="020B0604030504040204" pitchFamily="34" charset="-120"/>
              <a:ea typeface="Microsoft JhengHei" panose="020B0604030504040204" pitchFamily="34" charset="-120"/>
            </a:endParaRPr>
          </a:p>
        </p:txBody>
      </p:sp>
      <p:sp>
        <p:nvSpPr>
          <p:cNvPr id="51" name="文字方塊 50"/>
          <p:cNvSpPr txBox="1"/>
          <p:nvPr/>
        </p:nvSpPr>
        <p:spPr>
          <a:xfrm>
            <a:off x="7762057" y="3943773"/>
            <a:ext cx="2659743"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不需要呈現給使用者看</a:t>
            </a:r>
            <a:endParaRPr lang="zh-TW" altLang="en-US" dirty="0">
              <a:latin typeface="Microsoft JhengHei" panose="020B0604030504040204" pitchFamily="34" charset="-120"/>
              <a:ea typeface="Microsoft JhengHei" panose="020B0604030504040204" pitchFamily="34" charset="-120"/>
            </a:endParaRPr>
          </a:p>
        </p:txBody>
      </p:sp>
      <p:cxnSp>
        <p:nvCxnSpPr>
          <p:cNvPr id="54" name="直線單箭頭接點 53"/>
          <p:cNvCxnSpPr/>
          <p:nvPr/>
        </p:nvCxnSpPr>
        <p:spPr>
          <a:xfrm flipH="1" flipV="1">
            <a:off x="1806887" y="4275883"/>
            <a:ext cx="322603" cy="253549"/>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a:endCxn id="51" idx="1"/>
          </p:cNvCxnSpPr>
          <p:nvPr/>
        </p:nvCxnSpPr>
        <p:spPr>
          <a:xfrm flipV="1">
            <a:off x="7379921" y="4128439"/>
            <a:ext cx="382136" cy="378616"/>
          </a:xfrm>
          <a:prstGeom prst="straightConnector1">
            <a:avLst/>
          </a:prstGeom>
          <a:ln w="381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文字方塊 55"/>
          <p:cNvSpPr txBox="1"/>
          <p:nvPr/>
        </p:nvSpPr>
        <p:spPr>
          <a:xfrm>
            <a:off x="3731350" y="5306250"/>
            <a:ext cx="6399763" cy="923330"/>
          </a:xfrm>
          <a:prstGeom prst="rect">
            <a:avLst/>
          </a:prstGeom>
          <a:noFill/>
        </p:spPr>
        <p:txBody>
          <a:bodyPr wrap="square">
            <a:spAutoFit/>
          </a:bodyPr>
          <a:lstStyle/>
          <a:p>
            <a:r>
              <a:rPr lang="en-US" altLang="zh-TW" dirty="0">
                <a:latin typeface="Microsoft JhengHei" panose="020B0604030504040204" pitchFamily="34" charset="-120"/>
                <a:ea typeface="Microsoft JhengHei" panose="020B0604030504040204" pitchFamily="34" charset="-120"/>
              </a:rPr>
              <a:t>2025 </a:t>
            </a:r>
            <a:r>
              <a:rPr lang="zh-TW" altLang="en-US" dirty="0">
                <a:latin typeface="Microsoft JhengHei" panose="020B0604030504040204" pitchFamily="34" charset="-120"/>
                <a:ea typeface="Microsoft JhengHei" panose="020B0604030504040204" pitchFamily="34" charset="-120"/>
              </a:rPr>
              <a:t>年 </a:t>
            </a:r>
            <a:r>
              <a:rPr lang="en-US" altLang="zh-TW" dirty="0">
                <a:latin typeface="Microsoft JhengHei" panose="020B0604030504040204" pitchFamily="34" charset="-120"/>
                <a:ea typeface="Microsoft JhengHei" panose="020B0604030504040204" pitchFamily="34" charset="-120"/>
              </a:rPr>
              <a:t>3 </a:t>
            </a:r>
            <a:r>
              <a:rPr lang="zh-TW" altLang="en-US" dirty="0">
                <a:latin typeface="Microsoft JhengHei" panose="020B0604030504040204" pitchFamily="34" charset="-120"/>
                <a:ea typeface="Microsoft JhengHei" panose="020B0604030504040204" pitchFamily="34" charset="-120"/>
              </a:rPr>
              <a:t>月 </a:t>
            </a:r>
            <a:r>
              <a:rPr lang="en-US" altLang="zh-TW" dirty="0">
                <a:latin typeface="Microsoft JhengHei" panose="020B0604030504040204" pitchFamily="34" charset="-120"/>
                <a:ea typeface="Microsoft JhengHei" panose="020B0604030504040204" pitchFamily="34" charset="-120"/>
              </a:rPr>
              <a:t>10 </a:t>
            </a:r>
            <a:r>
              <a:rPr lang="zh-TW" altLang="en-US" dirty="0">
                <a:latin typeface="Microsoft JhengHei" panose="020B0604030504040204" pitchFamily="34" charset="-120"/>
                <a:ea typeface="Microsoft JhengHei" panose="020B0604030504040204" pitchFamily="34" charset="-120"/>
              </a:rPr>
              <a:t>日下午 </a:t>
            </a:r>
            <a:r>
              <a:rPr lang="en-US" altLang="zh-TW" dirty="0">
                <a:latin typeface="Microsoft JhengHei" panose="020B0604030504040204" pitchFamily="34" charset="-120"/>
                <a:ea typeface="Microsoft JhengHei" panose="020B0604030504040204" pitchFamily="34" charset="-120"/>
              </a:rPr>
              <a:t>2:00 </a:t>
            </a:r>
            <a:r>
              <a:rPr lang="zh-TW" altLang="en-US" dirty="0">
                <a:latin typeface="Microsoft JhengHei" panose="020B0604030504040204" pitchFamily="34" charset="-120"/>
                <a:ea typeface="Microsoft JhengHei" panose="020B0604030504040204" pitchFamily="34" charset="-120"/>
              </a:rPr>
              <a:t>時，高雄的氣溫為攝氏 </a:t>
            </a:r>
            <a:r>
              <a:rPr lang="en-US" altLang="zh-TW" dirty="0">
                <a:latin typeface="Microsoft JhengHei" panose="020B0604030504040204" pitchFamily="34" charset="-120"/>
                <a:ea typeface="Microsoft JhengHei" panose="020B0604030504040204" pitchFamily="34" charset="-120"/>
              </a:rPr>
              <a:t>10000 </a:t>
            </a:r>
            <a:r>
              <a:rPr lang="zh-TW" altLang="en-US" dirty="0">
                <a:latin typeface="Microsoft JhengHei" panose="020B0604030504040204" pitchFamily="34" charset="-120"/>
                <a:ea typeface="Microsoft JhengHei" panose="020B0604030504040204" pitchFamily="34" charset="-120"/>
              </a:rPr>
              <a:t>度。這個數值顯然不合常理，可能是工具輸出錯誤。如需其他信息或查詢，請告訴我。</a:t>
            </a:r>
            <a:endParaRPr lang="zh-TW" altLang="en-US" dirty="0">
              <a:latin typeface="Microsoft JhengHei" panose="020B0604030504040204" pitchFamily="34" charset="-120"/>
              <a:ea typeface="Microsoft JhengHei" panose="020B0604030504040204" pitchFamily="34" charset="-120"/>
            </a:endParaRPr>
          </a:p>
        </p:txBody>
      </p:sp>
      <p:sp>
        <p:nvSpPr>
          <p:cNvPr id="57" name="文字方塊 56"/>
          <p:cNvSpPr txBox="1"/>
          <p:nvPr/>
        </p:nvSpPr>
        <p:spPr>
          <a:xfrm>
            <a:off x="1539565" y="5306250"/>
            <a:ext cx="2593663" cy="369332"/>
          </a:xfrm>
          <a:prstGeom prst="rect">
            <a:avLst/>
          </a:prstGeom>
          <a:noFill/>
        </p:spPr>
        <p:txBody>
          <a:bodyPr wrap="square" rtlCol="0">
            <a:spAutoFit/>
          </a:bodyPr>
          <a:lstStyle/>
          <a:p>
            <a:r>
              <a:rPr lang="en-US" altLang="zh-TW" dirty="0"/>
              <a:t>(</a:t>
            </a:r>
            <a:r>
              <a:rPr lang="zh-TW" altLang="en-US" dirty="0"/>
              <a:t>繼續去做接龍 </a:t>
            </a:r>
            <a:r>
              <a:rPr lang="en-US" altLang="zh-TW" dirty="0"/>
              <a:t>……)</a:t>
            </a:r>
            <a:endParaRPr lang="zh-TW" altLang="en-US" dirty="0"/>
          </a:p>
        </p:txBody>
      </p:sp>
      <p:sp>
        <p:nvSpPr>
          <p:cNvPr id="60" name="文字方塊 59"/>
          <p:cNvSpPr txBox="1"/>
          <p:nvPr/>
        </p:nvSpPr>
        <p:spPr>
          <a:xfrm>
            <a:off x="6269234" y="3394912"/>
            <a:ext cx="3151761" cy="369332"/>
          </a:xfrm>
          <a:prstGeom prst="rect">
            <a:avLst/>
          </a:prstGeom>
          <a:noFill/>
        </p:spPr>
        <p:txBody>
          <a:bodyPr wrap="square" rtlCol="0">
            <a:spAutoFit/>
          </a:bodyPr>
          <a:lstStyle/>
          <a:p>
            <a:r>
              <a:rPr lang="en-US" altLang="zh-TW" dirty="0"/>
              <a:t>gpt-4o-mini</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語言模型在做 </a:t>
            </a:r>
            <a:r>
              <a:rPr lang="en-US" altLang="zh-TW" dirty="0">
                <a:latin typeface="Microsoft JhengHei" panose="020B0604030504040204" pitchFamily="34" charset="-120"/>
                <a:ea typeface="Microsoft JhengHei" panose="020B0604030504040204" pitchFamily="34" charset="-120"/>
              </a:rPr>
              <a:t>RAG</a:t>
            </a:r>
            <a:r>
              <a:rPr lang="zh-TW" altLang="en-US" dirty="0">
                <a:latin typeface="Microsoft JhengHei" panose="020B0604030504040204" pitchFamily="34" charset="-120"/>
                <a:ea typeface="Microsoft JhengHei" panose="020B0604030504040204" pitchFamily="34" charset="-120"/>
              </a:rPr>
              <a:t> 時 </a:t>
            </a:r>
            <a:r>
              <a:rPr lang="en-US" altLang="zh-TW" dirty="0">
                <a:latin typeface="Microsoft JhengHei" panose="020B0604030504040204" pitchFamily="34" charset="-120"/>
                <a:ea typeface="Microsoft JhengHei" panose="020B0604030504040204" pitchFamily="34" charset="-120"/>
              </a:rPr>
              <a:t>……</a:t>
            </a:r>
            <a:endParaRPr lang="zh-TW" altLang="en-US" dirty="0">
              <a:latin typeface="Microsoft JhengHei" panose="020B0604030504040204" pitchFamily="34" charset="-120"/>
              <a:ea typeface="Microsoft JhengHei" panose="020B0604030504040204" pitchFamily="34" charset="-120"/>
            </a:endParaRPr>
          </a:p>
        </p:txBody>
      </p:sp>
      <p:pic>
        <p:nvPicPr>
          <p:cNvPr id="5" name="內容版面配置區 4" descr="一張含有 卡通, 玩具 的圖片&#10;&#10;AI 產生的內容可能不正確。"/>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272074" y="1557338"/>
            <a:ext cx="6061504" cy="4196881"/>
          </a:xfrm>
        </p:spPr>
      </p:pic>
      <p:sp>
        <p:nvSpPr>
          <p:cNvPr id="6" name="文字方塊 5"/>
          <p:cNvSpPr txBox="1"/>
          <p:nvPr/>
        </p:nvSpPr>
        <p:spPr>
          <a:xfrm>
            <a:off x="1251851" y="2784997"/>
            <a:ext cx="1868741" cy="954107"/>
          </a:xfrm>
          <a:prstGeom prst="rect">
            <a:avLst/>
          </a:prstGeom>
          <a:noFill/>
        </p:spPr>
        <p:txBody>
          <a:bodyPr wrap="square" rtlCol="0">
            <a:spAutoFit/>
          </a:bodyPr>
          <a:lstStyle/>
          <a:p>
            <a:pPr algn="ctr"/>
            <a:r>
              <a:rPr lang="en-US" altLang="zh-TW" sz="2800" b="1" dirty="0"/>
              <a:t>Internal Knowledge </a:t>
            </a:r>
            <a:endParaRPr lang="zh-TW" altLang="en-US" sz="2800" b="1" dirty="0"/>
          </a:p>
        </p:txBody>
      </p:sp>
      <p:sp>
        <p:nvSpPr>
          <p:cNvPr id="7" name="文字方塊 6"/>
          <p:cNvSpPr txBox="1"/>
          <p:nvPr/>
        </p:nvSpPr>
        <p:spPr>
          <a:xfrm>
            <a:off x="9485059" y="2808731"/>
            <a:ext cx="1868741" cy="954107"/>
          </a:xfrm>
          <a:prstGeom prst="rect">
            <a:avLst/>
          </a:prstGeom>
          <a:noFill/>
        </p:spPr>
        <p:txBody>
          <a:bodyPr wrap="square" rtlCol="0">
            <a:spAutoFit/>
          </a:bodyPr>
          <a:lstStyle/>
          <a:p>
            <a:pPr algn="ctr"/>
            <a:r>
              <a:rPr lang="en-US" altLang="zh-TW" sz="2800" b="1" dirty="0"/>
              <a:t>External Knowledge </a:t>
            </a:r>
            <a:endParaRPr lang="zh-TW" altLang="en-US" sz="2800" b="1" dirty="0"/>
          </a:p>
        </p:txBody>
      </p:sp>
      <p:sp>
        <p:nvSpPr>
          <p:cNvPr id="4" name="文字方塊 3"/>
          <p:cNvSpPr txBox="1"/>
          <p:nvPr/>
        </p:nvSpPr>
        <p:spPr>
          <a:xfrm>
            <a:off x="1987560" y="5969655"/>
            <a:ext cx="8743950" cy="523220"/>
          </a:xfrm>
          <a:prstGeom prst="rect">
            <a:avLst/>
          </a:prstGeom>
          <a:noFill/>
        </p:spPr>
        <p:txBody>
          <a:bodyPr wrap="square">
            <a:spAutoFit/>
          </a:bodyPr>
          <a:lstStyle/>
          <a:p>
            <a:pPr algn="ctr"/>
            <a:r>
              <a:rPr lang="zh-TW" altLang="en-US" sz="2800" b="1" dirty="0">
                <a:latin typeface="Microsoft JhengHei" panose="020B0604030504040204" pitchFamily="34" charset="-120"/>
                <a:ea typeface="Microsoft JhengHei" panose="020B0604030504040204" pitchFamily="34" charset="-120"/>
              </a:rPr>
              <a:t>什麼樣的外部知識比較容易說服 </a:t>
            </a:r>
            <a:r>
              <a:rPr lang="en-US" altLang="zh-TW" sz="2800" b="1" dirty="0">
                <a:latin typeface="Microsoft JhengHei" panose="020B0604030504040204" pitchFamily="34" charset="-120"/>
                <a:ea typeface="Microsoft JhengHei" panose="020B0604030504040204" pitchFamily="34" charset="-120"/>
              </a:rPr>
              <a:t>AI</a:t>
            </a:r>
            <a:r>
              <a:rPr lang="zh-TW" altLang="en-US" sz="2800" b="1" dirty="0">
                <a:latin typeface="Microsoft JhengHei" panose="020B0604030504040204" pitchFamily="34" charset="-120"/>
                <a:ea typeface="Microsoft JhengHei" panose="020B0604030504040204" pitchFamily="34" charset="-120"/>
              </a:rPr>
              <a:t> </a:t>
            </a:r>
            <a:r>
              <a:rPr lang="en-US" altLang="zh-TW" sz="2800" b="1" dirty="0">
                <a:latin typeface="Microsoft JhengHei" panose="020B0604030504040204" pitchFamily="34" charset="-120"/>
                <a:ea typeface="Microsoft JhengHei" panose="020B0604030504040204" pitchFamily="34" charset="-120"/>
              </a:rPr>
              <a:t>……</a:t>
            </a:r>
            <a:endParaRPr lang="zh-TW"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什麼樣的外部知識比較容易說服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t>
            </a:r>
            <a:endParaRPr lang="zh-TW" altLang="en-US" dirty="0">
              <a:latin typeface="Microsoft JhengHei" panose="020B0604030504040204" pitchFamily="34" charset="-120"/>
              <a:ea typeface="Microsoft JhengHei" panose="020B0604030504040204" pitchFamily="34" charset="-120"/>
            </a:endParaRPr>
          </a:p>
        </p:txBody>
      </p:sp>
      <p:pic>
        <p:nvPicPr>
          <p:cNvPr id="5" name="圖片 4"/>
          <p:cNvPicPr>
            <a:picLocks noChangeAspect="1"/>
          </p:cNvPicPr>
          <p:nvPr/>
        </p:nvPicPr>
        <p:blipFill>
          <a:blip r:embed="rId1"/>
          <a:stretch>
            <a:fillRect/>
          </a:stretch>
        </p:blipFill>
        <p:spPr>
          <a:xfrm>
            <a:off x="529829" y="1500137"/>
            <a:ext cx="11132341" cy="3631289"/>
          </a:xfrm>
          <a:prstGeom prst="rect">
            <a:avLst/>
          </a:prstGeom>
        </p:spPr>
      </p:pic>
      <p:sp>
        <p:nvSpPr>
          <p:cNvPr id="7" name="文字方塊 6"/>
          <p:cNvSpPr txBox="1"/>
          <p:nvPr/>
        </p:nvSpPr>
        <p:spPr>
          <a:xfrm>
            <a:off x="558342" y="5976830"/>
            <a:ext cx="11468100" cy="830997"/>
          </a:xfrm>
          <a:prstGeom prst="rect">
            <a:avLst/>
          </a:prstGeom>
          <a:noFill/>
        </p:spPr>
        <p:txBody>
          <a:bodyPr wrap="square">
            <a:spAutoFit/>
          </a:bodyPr>
          <a:lstStyle/>
          <a:p>
            <a:pPr marL="342900" indent="-342900">
              <a:buFont typeface="Arial" panose="020B0604020202020204" pitchFamily="34" charset="0"/>
              <a:buChar char="•"/>
            </a:pPr>
            <a:r>
              <a:rPr lang="en-US" altLang="zh-TW" sz="2400" dirty="0"/>
              <a:t>The likelihood of the LLM to adhere to the retrieved information presented in context is inversely correlated with the model’s confidence in its response without.</a:t>
            </a:r>
            <a:endParaRPr lang="zh-TW" altLang="en-US" sz="2400" dirty="0"/>
          </a:p>
        </p:txBody>
      </p:sp>
      <p:sp>
        <p:nvSpPr>
          <p:cNvPr id="9" name="文字方塊 8"/>
          <p:cNvSpPr txBox="1"/>
          <p:nvPr/>
        </p:nvSpPr>
        <p:spPr>
          <a:xfrm>
            <a:off x="558342" y="5145833"/>
            <a:ext cx="10736370" cy="830997"/>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LLMs will increasingly revert to their priors when the original context is progressively modified with unrealistic values.</a:t>
            </a:r>
            <a:endParaRPr lang="zh-TW" altLang="en-US" sz="2400" dirty="0"/>
          </a:p>
        </p:txBody>
      </p:sp>
      <p:sp>
        <p:nvSpPr>
          <p:cNvPr id="11" name="文字方塊 10"/>
          <p:cNvSpPr txBox="1"/>
          <p:nvPr/>
        </p:nvSpPr>
        <p:spPr>
          <a:xfrm>
            <a:off x="8164620" y="4535488"/>
            <a:ext cx="6096000" cy="369332"/>
          </a:xfrm>
          <a:prstGeom prst="rect">
            <a:avLst/>
          </a:prstGeom>
          <a:noFill/>
        </p:spPr>
        <p:txBody>
          <a:bodyPr wrap="square">
            <a:spAutoFit/>
          </a:bodyPr>
          <a:lstStyle/>
          <a:p>
            <a:r>
              <a:rPr lang="zh-TW" altLang="en-US" dirty="0"/>
              <a:t>https://arxiv.org/abs/2404.10198v1</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什麼樣的外部知識比較容易說服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t>
            </a:r>
            <a:endParaRPr lang="zh-TW" altLang="en-US" dirty="0">
              <a:latin typeface="Microsoft JhengHei" panose="020B0604030504040204" pitchFamily="34" charset="-120"/>
              <a:ea typeface="Microsoft JhengHei" panose="020B0604030504040204" pitchFamily="34" charset="-120"/>
            </a:endParaRPr>
          </a:p>
        </p:txBody>
      </p:sp>
      <p:sp>
        <p:nvSpPr>
          <p:cNvPr id="5" name="文字方塊 4"/>
          <p:cNvSpPr txBox="1"/>
          <p:nvPr/>
        </p:nvSpPr>
        <p:spPr>
          <a:xfrm>
            <a:off x="331794" y="6301978"/>
            <a:ext cx="3712029" cy="381794"/>
          </a:xfrm>
          <a:prstGeom prst="rect">
            <a:avLst/>
          </a:prstGeom>
          <a:noFill/>
        </p:spPr>
        <p:txBody>
          <a:bodyPr wrap="square">
            <a:spAutoFit/>
          </a:bodyPr>
          <a:lstStyle/>
          <a:p>
            <a:r>
              <a:rPr lang="zh-TW" altLang="en-US" dirty="0"/>
              <a:t>https://arxiv.org/abs/2401.11911</a:t>
            </a:r>
            <a:endParaRPr lang="zh-TW" altLang="en-US" dirty="0"/>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14642" y="2981350"/>
            <a:ext cx="1830520" cy="183052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9126" y="3189382"/>
            <a:ext cx="1666834" cy="166683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969" y="3164906"/>
            <a:ext cx="1666834" cy="16668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9926" y="3331355"/>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541135" y="3145038"/>
            <a:ext cx="1666834" cy="1666834"/>
          </a:xfrm>
          <a:prstGeom prst="rect">
            <a:avLst/>
          </a:prstGeom>
          <a:noFill/>
          <a:extLst>
            <a:ext uri="{909E8E84-426E-40DD-AFC4-6F175D3DCCD1}">
              <a14:hiddenFill xmlns:a14="http://schemas.microsoft.com/office/drawing/2010/main">
                <a:solidFill>
                  <a:srgbClr val="FFFFFF"/>
                </a:solidFill>
              </a14:hiddenFill>
            </a:ext>
          </a:extLst>
        </p:spPr>
      </p:pic>
      <p:sp>
        <p:nvSpPr>
          <p:cNvPr id="9" name="語音泡泡: 圓角矩形 8"/>
          <p:cNvSpPr/>
          <p:nvPr/>
        </p:nvSpPr>
        <p:spPr>
          <a:xfrm>
            <a:off x="896028" y="2331189"/>
            <a:ext cx="2400300" cy="697827"/>
          </a:xfrm>
          <a:prstGeom prst="wedgeRoundRectCallout">
            <a:avLst>
              <a:gd name="adj1" fmla="val 12501"/>
              <a:gd name="adj2" fmla="val 85464"/>
              <a:gd name="adj3" fmla="val 16667"/>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答案是 </a:t>
            </a:r>
            <a:r>
              <a:rPr lang="en-US" altLang="zh-TW" sz="2400" dirty="0">
                <a:solidFill>
                  <a:schemeClr val="tx1"/>
                </a:solidFill>
                <a:latin typeface="Microsoft JhengHei" panose="020B0604030504040204" pitchFamily="34" charset="-120"/>
                <a:ea typeface="Microsoft JhengHei" panose="020B0604030504040204" pitchFamily="34" charset="-120"/>
              </a:rPr>
              <a:t>A</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10" name="語音泡泡: 圓角矩形 9"/>
          <p:cNvSpPr/>
          <p:nvPr/>
        </p:nvSpPr>
        <p:spPr>
          <a:xfrm>
            <a:off x="4631920" y="2300561"/>
            <a:ext cx="2400300" cy="697827"/>
          </a:xfrm>
          <a:prstGeom prst="wedgeRoundRectCallout">
            <a:avLst>
              <a:gd name="adj1" fmla="val 12501"/>
              <a:gd name="adj2" fmla="val 85464"/>
              <a:gd name="adj3" fmla="val 16667"/>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答案是 </a:t>
            </a:r>
            <a:r>
              <a:rPr lang="en-US" altLang="zh-TW" sz="2400" dirty="0">
                <a:solidFill>
                  <a:schemeClr val="tx1"/>
                </a:solidFill>
                <a:latin typeface="Microsoft JhengHei" panose="020B0604030504040204" pitchFamily="34" charset="-120"/>
                <a:ea typeface="Microsoft JhengHei" panose="020B0604030504040204" pitchFamily="34" charset="-120"/>
              </a:rPr>
              <a:t>B</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11" name="語音泡泡: 圓角矩形 10"/>
          <p:cNvSpPr/>
          <p:nvPr/>
        </p:nvSpPr>
        <p:spPr>
          <a:xfrm>
            <a:off x="6035040" y="5271012"/>
            <a:ext cx="2400300" cy="697827"/>
          </a:xfrm>
          <a:prstGeom prst="wedgeRoundRectCallout">
            <a:avLst>
              <a:gd name="adj1" fmla="val 52183"/>
              <a:gd name="adj2" fmla="val -108359"/>
              <a:gd name="adj3" fmla="val 16667"/>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答案是 </a:t>
            </a:r>
            <a:r>
              <a:rPr lang="en-US" altLang="zh-TW" sz="2400" dirty="0">
                <a:solidFill>
                  <a:schemeClr val="tx1"/>
                </a:solidFill>
                <a:latin typeface="Microsoft JhengHei" panose="020B0604030504040204" pitchFamily="34" charset="-120"/>
                <a:ea typeface="Microsoft JhengHei" panose="020B0604030504040204" pitchFamily="34" charset="-120"/>
              </a:rPr>
              <a:t>A</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12" name="文字方塊 11"/>
          <p:cNvSpPr txBox="1"/>
          <p:nvPr/>
        </p:nvSpPr>
        <p:spPr>
          <a:xfrm>
            <a:off x="8214642" y="5389092"/>
            <a:ext cx="3712029" cy="461665"/>
          </a:xfrm>
          <a:prstGeom prst="rect">
            <a:avLst/>
          </a:prstGeom>
          <a:noFill/>
        </p:spPr>
        <p:txBody>
          <a:bodyPr wrap="square" rtlCol="0">
            <a:spAutoFit/>
          </a:bodyPr>
          <a:lstStyle/>
          <a:p>
            <a:pPr algn="ctr"/>
            <a:r>
              <a:rPr lang="zh-TW" altLang="en-US" sz="2400" b="1" dirty="0">
                <a:latin typeface="Microsoft JhengHei" panose="020B0604030504040204" pitchFamily="34" charset="-120"/>
                <a:ea typeface="Microsoft JhengHei" panose="020B0604030504040204" pitchFamily="34" charset="-120"/>
              </a:rPr>
              <a:t>傾向相信 </a:t>
            </a:r>
            <a:r>
              <a:rPr lang="en-US" altLang="zh-TW" sz="2400" b="1" dirty="0">
                <a:latin typeface="Microsoft JhengHei" panose="020B0604030504040204" pitchFamily="34" charset="-120"/>
                <a:ea typeface="Microsoft JhengHei" panose="020B0604030504040204" pitchFamily="34" charset="-120"/>
              </a:rPr>
              <a:t>AI</a:t>
            </a:r>
            <a:r>
              <a:rPr lang="zh-TW" altLang="en-US" sz="2400" b="1" dirty="0">
                <a:latin typeface="Microsoft JhengHei" panose="020B0604030504040204" pitchFamily="34" charset="-120"/>
                <a:ea typeface="Microsoft JhengHei" panose="020B0604030504040204" pitchFamily="34" charset="-120"/>
              </a:rPr>
              <a:t> 同類的話</a:t>
            </a:r>
            <a:endParaRPr lang="zh-TW" altLang="en-US" sz="2400" b="1" dirty="0">
              <a:latin typeface="Microsoft JhengHei" panose="020B0604030504040204" pitchFamily="34" charset="-120"/>
              <a:ea typeface="Microsoft JhengHei" panose="020B0604030504040204" pitchFamily="34" charset="-120"/>
            </a:endParaRPr>
          </a:p>
        </p:txBody>
      </p:sp>
      <p:sp>
        <p:nvSpPr>
          <p:cNvPr id="15" name="想法泡泡: 雲朵 14"/>
          <p:cNvSpPr/>
          <p:nvPr/>
        </p:nvSpPr>
        <p:spPr>
          <a:xfrm>
            <a:off x="9129902" y="2023827"/>
            <a:ext cx="2598702" cy="1104361"/>
          </a:xfrm>
          <a:prstGeom prst="cloudCallout">
            <a:avLst>
              <a:gd name="adj1" fmla="val -20833"/>
              <a:gd name="adj2" fmla="val 60775"/>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答案是 </a:t>
            </a:r>
            <a:r>
              <a:rPr lang="en-US" altLang="zh-TW" sz="2400" dirty="0">
                <a:solidFill>
                  <a:schemeClr val="tx1"/>
                </a:solidFill>
                <a:latin typeface="Microsoft JhengHei" panose="020B0604030504040204" pitchFamily="34" charset="-120"/>
                <a:ea typeface="Microsoft JhengHei" panose="020B0604030504040204" pitchFamily="34" charset="-120"/>
              </a:rPr>
              <a:t>C</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什麼樣的外部知識比較容易說服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t>
            </a:r>
            <a:endParaRPr lang="zh-TW" altLang="en-US" dirty="0"/>
          </a:p>
        </p:txBody>
      </p:sp>
      <p:sp>
        <p:nvSpPr>
          <p:cNvPr id="3" name="內容版面配置區 2"/>
          <p:cNvSpPr>
            <a:spLocks noGrp="1"/>
          </p:cNvSpPr>
          <p:nvPr>
            <p:ph idx="1"/>
          </p:nvPr>
        </p:nvSpPr>
        <p:spPr/>
        <p:txBody>
          <a:bodyPr>
            <a:normAutofit/>
          </a:bodyPr>
          <a:lstStyle/>
          <a:p>
            <a:endParaRPr lang="zh-TW" altLang="en-US" sz="2400" dirty="0">
              <a:latin typeface="Microsoft JhengHei" panose="020B0604030504040204" pitchFamily="34" charset="-120"/>
              <a:ea typeface="Microsoft JhengHei" panose="020B0604030504040204" pitchFamily="34" charset="-120"/>
            </a:endParaRPr>
          </a:p>
        </p:txBody>
      </p:sp>
      <p:sp>
        <p:nvSpPr>
          <p:cNvPr id="5" name="文字方塊 4"/>
          <p:cNvSpPr txBox="1"/>
          <p:nvPr/>
        </p:nvSpPr>
        <p:spPr>
          <a:xfrm>
            <a:off x="402863" y="1925355"/>
            <a:ext cx="2429004" cy="830997"/>
          </a:xfrm>
          <a:prstGeom prst="rect">
            <a:avLst/>
          </a:prstGeom>
          <a:noFill/>
        </p:spPr>
        <p:txBody>
          <a:bodyPr wrap="square" rtlCol="0">
            <a:spAutoFit/>
          </a:bodyPr>
          <a:lstStyle/>
          <a:p>
            <a:r>
              <a:rPr lang="en-US" altLang="zh-TW" sz="2400" b="1" dirty="0">
                <a:latin typeface="Microsoft JhengHei" panose="020B0604030504040204" pitchFamily="34" charset="-120"/>
                <a:ea typeface="Microsoft JhengHei" panose="020B0604030504040204" pitchFamily="34" charset="-120"/>
              </a:rPr>
              <a:t>Meta Data </a:t>
            </a:r>
            <a:endParaRPr lang="en-US" altLang="zh-TW" sz="2400" b="1" dirty="0">
              <a:latin typeface="Microsoft JhengHei" panose="020B0604030504040204" pitchFamily="34" charset="-120"/>
              <a:ea typeface="Microsoft JhengHei" panose="020B0604030504040204" pitchFamily="34" charset="-120"/>
            </a:endParaRPr>
          </a:p>
          <a:p>
            <a:r>
              <a:rPr lang="zh-TW" altLang="en-US" sz="2400" b="1" dirty="0">
                <a:latin typeface="Microsoft JhengHei" panose="020B0604030504040204" pitchFamily="34" charset="-120"/>
                <a:ea typeface="Microsoft JhengHei" panose="020B0604030504040204" pitchFamily="34" charset="-120"/>
              </a:rPr>
              <a:t>的影響</a:t>
            </a:r>
            <a:endParaRPr lang="zh-TW" altLang="en-US" sz="2400" b="1" dirty="0">
              <a:latin typeface="Microsoft JhengHei" panose="020B0604030504040204" pitchFamily="34" charset="-120"/>
              <a:ea typeface="Microsoft JhengHei" panose="020B0604030504040204" pitchFamily="34" charset="-120"/>
            </a:endParaRPr>
          </a:p>
        </p:txBody>
      </p:sp>
      <p:sp>
        <p:nvSpPr>
          <p:cNvPr id="7" name="文字方塊 6"/>
          <p:cNvSpPr txBox="1"/>
          <p:nvPr/>
        </p:nvSpPr>
        <p:spPr>
          <a:xfrm>
            <a:off x="194553" y="6176963"/>
            <a:ext cx="3268494" cy="646331"/>
          </a:xfrm>
          <a:prstGeom prst="rect">
            <a:avLst/>
          </a:prstGeom>
          <a:noFill/>
        </p:spPr>
        <p:txBody>
          <a:bodyPr wrap="square">
            <a:spAutoFit/>
          </a:bodyPr>
          <a:lstStyle/>
          <a:p>
            <a:r>
              <a:rPr lang="zh-TW" altLang="en-US" dirty="0"/>
              <a:t>https://aclanthology.org/2024.blackboxnlp-1.24/</a:t>
            </a:r>
            <a:endParaRPr lang="zh-TW" altLang="en-US" dirty="0"/>
          </a:p>
        </p:txBody>
      </p:sp>
      <p:sp>
        <p:nvSpPr>
          <p:cNvPr id="9" name="文字方塊 8"/>
          <p:cNvSpPr txBox="1"/>
          <p:nvPr/>
        </p:nvSpPr>
        <p:spPr>
          <a:xfrm>
            <a:off x="194553" y="5913386"/>
            <a:ext cx="6099242" cy="369332"/>
          </a:xfrm>
          <a:prstGeom prst="rect">
            <a:avLst/>
          </a:prstGeom>
          <a:noFill/>
        </p:spPr>
        <p:txBody>
          <a:bodyPr wrap="square">
            <a:spAutoFit/>
          </a:bodyPr>
          <a:lstStyle/>
          <a:p>
            <a:r>
              <a:rPr lang="zh-TW" altLang="en-US" dirty="0"/>
              <a:t>Cheng-Han Chiang</a:t>
            </a:r>
            <a:endParaRPr lang="zh-TW" alt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5362" y="4470675"/>
            <a:ext cx="1267177" cy="1456293"/>
          </a:xfrm>
          <a:prstGeom prst="rect">
            <a:avLst/>
          </a:prstGeom>
          <a:noFill/>
          <a:extLst>
            <a:ext uri="{909E8E84-426E-40DD-AFC4-6F175D3DCCD1}">
              <a14:hiddenFill xmlns:a14="http://schemas.microsoft.com/office/drawing/2010/main">
                <a:solidFill>
                  <a:srgbClr val="FFFFFF"/>
                </a:solidFill>
              </a14:hiddenFill>
            </a:ext>
          </a:extLst>
        </p:spPr>
      </p:pic>
      <p:pic>
        <p:nvPicPr>
          <p:cNvPr id="11" name="圖片 10"/>
          <p:cNvPicPr>
            <a:picLocks noChangeAspect="1"/>
          </p:cNvPicPr>
          <p:nvPr/>
        </p:nvPicPr>
        <p:blipFill>
          <a:blip r:embed="rId2"/>
          <a:stretch>
            <a:fillRect/>
          </a:stretch>
        </p:blipFill>
        <p:spPr>
          <a:xfrm>
            <a:off x="3614054" y="1736703"/>
            <a:ext cx="8175083" cy="4945866"/>
          </a:xfrm>
          <a:prstGeom prst="rect">
            <a:avLst/>
          </a:prstGeom>
        </p:spPr>
      </p:pic>
      <p:sp>
        <p:nvSpPr>
          <p:cNvPr id="12" name="文字方塊 11"/>
          <p:cNvSpPr txBox="1"/>
          <p:nvPr/>
        </p:nvSpPr>
        <p:spPr>
          <a:xfrm>
            <a:off x="325362" y="2901320"/>
            <a:ext cx="3233574" cy="1200329"/>
          </a:xfrm>
          <a:prstGeom prst="rect">
            <a:avLst/>
          </a:prstGeom>
          <a:noFill/>
        </p:spPr>
        <p:txBody>
          <a:bodyPr wrap="square" rtlCol="0">
            <a:spAutoFit/>
          </a:bodyPr>
          <a:lstStyle/>
          <a:p>
            <a:pPr marL="342900" indent="-342900">
              <a:buFont typeface="Arial" panose="020B0604020202020204" pitchFamily="34" charset="0"/>
              <a:buChar char="•"/>
            </a:pPr>
            <a:r>
              <a:rPr lang="zh-TW" altLang="en-US" sz="2400" dirty="0">
                <a:latin typeface="Microsoft JhengHei" panose="020B0604030504040204" pitchFamily="34" charset="-120"/>
                <a:ea typeface="Microsoft JhengHei" panose="020B0604030504040204" pitchFamily="34" charset="-120"/>
              </a:rPr>
              <a:t>語言模型比較相信新的文章</a:t>
            </a:r>
            <a:endParaRPr lang="en-US" altLang="zh-TW" sz="2400" dirty="0">
              <a:latin typeface="Microsoft JhengHei" panose="020B0604030504040204" pitchFamily="34" charset="-120"/>
              <a:ea typeface="Microsoft JhengHei" panose="020B0604030504040204" pitchFamily="34" charset="-120"/>
            </a:endParaRPr>
          </a:p>
          <a:p>
            <a:pPr marL="342900" indent="-342900">
              <a:buFont typeface="Arial" panose="020B0604020202020204" pitchFamily="34" charset="0"/>
              <a:buChar char="•"/>
            </a:pPr>
            <a:r>
              <a:rPr lang="zh-TW" altLang="en-US" sz="2400" dirty="0">
                <a:latin typeface="Microsoft JhengHei" panose="020B0604030504040204" pitchFamily="34" charset="-120"/>
                <a:ea typeface="Microsoft JhengHei" panose="020B0604030504040204" pitchFamily="34" charset="-120"/>
              </a:rPr>
              <a:t>資料來源沒有影響</a:t>
            </a:r>
            <a:endParaRPr lang="en-US" altLang="zh-TW" sz="24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什麼樣的外部知識比較容易說服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t>
            </a:r>
            <a:endParaRPr lang="zh-TW" altLang="en-US" dirty="0"/>
          </a:p>
        </p:txBody>
      </p:sp>
      <p:sp>
        <p:nvSpPr>
          <p:cNvPr id="3" name="內容版面配置區 2"/>
          <p:cNvSpPr>
            <a:spLocks noGrp="1"/>
          </p:cNvSpPr>
          <p:nvPr>
            <p:ph idx="1"/>
          </p:nvPr>
        </p:nvSpPr>
        <p:spPr/>
        <p:txBody>
          <a:bodyPr>
            <a:normAutofit/>
          </a:bodyPr>
          <a:lstStyle/>
          <a:p>
            <a:endParaRPr lang="zh-TW" altLang="en-US" sz="2400" dirty="0">
              <a:latin typeface="Microsoft JhengHei" panose="020B0604030504040204" pitchFamily="34" charset="-120"/>
              <a:ea typeface="Microsoft JhengHei" panose="020B0604030504040204" pitchFamily="34" charset="-120"/>
            </a:endParaRPr>
          </a:p>
        </p:txBody>
      </p:sp>
      <p:sp>
        <p:nvSpPr>
          <p:cNvPr id="5" name="文字方塊 4"/>
          <p:cNvSpPr txBox="1"/>
          <p:nvPr/>
        </p:nvSpPr>
        <p:spPr>
          <a:xfrm>
            <a:off x="194553" y="6176963"/>
            <a:ext cx="3268494" cy="646331"/>
          </a:xfrm>
          <a:prstGeom prst="rect">
            <a:avLst/>
          </a:prstGeom>
          <a:noFill/>
        </p:spPr>
        <p:txBody>
          <a:bodyPr wrap="square">
            <a:spAutoFit/>
          </a:bodyPr>
          <a:lstStyle/>
          <a:p>
            <a:r>
              <a:rPr lang="zh-TW" altLang="en-US" dirty="0"/>
              <a:t>https://aclanthology.org/2024.blackboxnlp-1.24/</a:t>
            </a:r>
            <a:endParaRPr lang="zh-TW" altLang="en-US" dirty="0"/>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5362" y="4470675"/>
            <a:ext cx="1267177" cy="1456293"/>
          </a:xfrm>
          <a:prstGeom prst="rect">
            <a:avLst/>
          </a:prstGeom>
          <a:noFill/>
          <a:extLst>
            <a:ext uri="{909E8E84-426E-40DD-AFC4-6F175D3DCCD1}">
              <a14:hiddenFill xmlns:a14="http://schemas.microsoft.com/office/drawing/2010/main">
                <a:solidFill>
                  <a:srgbClr val="FFFFFF"/>
                </a:solidFill>
              </a14:hiddenFill>
            </a:ext>
          </a:extLst>
        </p:spPr>
      </p:pic>
      <p:pic>
        <p:nvPicPr>
          <p:cNvPr id="8" name="圖片 7"/>
          <p:cNvPicPr>
            <a:picLocks noChangeAspect="1"/>
          </p:cNvPicPr>
          <p:nvPr/>
        </p:nvPicPr>
        <p:blipFill>
          <a:blip r:embed="rId2"/>
          <a:stretch>
            <a:fillRect/>
          </a:stretch>
        </p:blipFill>
        <p:spPr>
          <a:xfrm>
            <a:off x="3706719" y="1893910"/>
            <a:ext cx="7706801" cy="1676634"/>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pic>
        <p:nvPicPr>
          <p:cNvPr id="10" name="圖片 9"/>
          <p:cNvPicPr>
            <a:picLocks noChangeAspect="1"/>
          </p:cNvPicPr>
          <p:nvPr/>
        </p:nvPicPr>
        <p:blipFill>
          <a:blip r:embed="rId3"/>
          <a:stretch>
            <a:fillRect/>
          </a:stretch>
        </p:blipFill>
        <p:spPr>
          <a:xfrm>
            <a:off x="3706719" y="4001294"/>
            <a:ext cx="7706801" cy="5133353"/>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11" name="文字方塊 10"/>
          <p:cNvSpPr txBox="1"/>
          <p:nvPr/>
        </p:nvSpPr>
        <p:spPr>
          <a:xfrm>
            <a:off x="194553" y="5913386"/>
            <a:ext cx="6099242" cy="369332"/>
          </a:xfrm>
          <a:prstGeom prst="rect">
            <a:avLst/>
          </a:prstGeom>
          <a:noFill/>
        </p:spPr>
        <p:txBody>
          <a:bodyPr wrap="square">
            <a:spAutoFit/>
          </a:bodyPr>
          <a:lstStyle/>
          <a:p>
            <a:r>
              <a:rPr lang="zh-TW" altLang="en-US" dirty="0"/>
              <a:t>Cheng-Han Chiang</a:t>
            </a:r>
            <a:endParaRPr lang="zh-TW" altLang="en-US" dirty="0"/>
          </a:p>
        </p:txBody>
      </p:sp>
      <p:sp>
        <p:nvSpPr>
          <p:cNvPr id="12" name="文字方塊 11"/>
          <p:cNvSpPr txBox="1"/>
          <p:nvPr/>
        </p:nvSpPr>
        <p:spPr>
          <a:xfrm>
            <a:off x="516376" y="2955702"/>
            <a:ext cx="2624847" cy="830997"/>
          </a:xfrm>
          <a:prstGeom prst="rect">
            <a:avLst/>
          </a:prstGeom>
          <a:noFill/>
        </p:spPr>
        <p:txBody>
          <a:bodyPr wrap="square" rtlCol="0">
            <a:spAutoFit/>
          </a:bodyPr>
          <a:lstStyle/>
          <a:p>
            <a:r>
              <a:rPr lang="en-US" altLang="zh-TW" sz="2400" dirty="0">
                <a:latin typeface="Microsoft JhengHei" panose="020B0604030504040204" pitchFamily="34" charset="-120"/>
                <a:ea typeface="Microsoft JhengHei" panose="020B0604030504040204" pitchFamily="34" charset="-120"/>
              </a:rPr>
              <a:t>Claude</a:t>
            </a:r>
            <a:r>
              <a:rPr lang="zh-TW" altLang="en-US" sz="2400" dirty="0">
                <a:latin typeface="Microsoft JhengHei" panose="020B0604030504040204" pitchFamily="34" charset="-120"/>
                <a:ea typeface="Microsoft JhengHei" panose="020B0604030504040204" pitchFamily="34" charset="-120"/>
              </a:rPr>
              <a:t> </a:t>
            </a:r>
            <a:r>
              <a:rPr lang="en-US" altLang="zh-TW" sz="2400" dirty="0">
                <a:latin typeface="Microsoft JhengHei" panose="020B0604030504040204" pitchFamily="34" charset="-120"/>
                <a:ea typeface="Microsoft JhengHei" panose="020B0604030504040204" pitchFamily="34" charset="-120"/>
              </a:rPr>
              <a:t>3 </a:t>
            </a:r>
            <a:r>
              <a:rPr lang="zh-TW" altLang="en-US" sz="2400" dirty="0">
                <a:latin typeface="Microsoft JhengHei" panose="020B0604030504040204" pitchFamily="34" charset="-120"/>
                <a:ea typeface="Microsoft JhengHei" panose="020B0604030504040204" pitchFamily="34" charset="-120"/>
              </a:rPr>
              <a:t>比較贊同下面那邊文章</a:t>
            </a:r>
            <a:endParaRPr lang="en-US" altLang="zh-TW" sz="2400" dirty="0">
              <a:latin typeface="Microsoft JhengHei" panose="020B0604030504040204" pitchFamily="34" charset="-120"/>
              <a:ea typeface="Microsoft JhengHei" panose="020B0604030504040204" pitchFamily="34" charset="-120"/>
            </a:endParaRPr>
          </a:p>
        </p:txBody>
      </p:sp>
      <p:sp>
        <p:nvSpPr>
          <p:cNvPr id="13" name="箭號: 向下 12"/>
          <p:cNvSpPr/>
          <p:nvPr/>
        </p:nvSpPr>
        <p:spPr>
          <a:xfrm>
            <a:off x="4474723" y="3570544"/>
            <a:ext cx="780680" cy="509001"/>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4" name="文字方塊 13"/>
          <p:cNvSpPr txBox="1"/>
          <p:nvPr/>
        </p:nvSpPr>
        <p:spPr>
          <a:xfrm>
            <a:off x="3784871" y="5682553"/>
            <a:ext cx="1545077" cy="830997"/>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一模一樣的內容</a:t>
            </a:r>
            <a:endParaRPr lang="zh-TW" altLang="en-US" sz="2400" dirty="0">
              <a:latin typeface="Microsoft JhengHei" panose="020B0604030504040204" pitchFamily="34" charset="-120"/>
              <a:ea typeface="Microsoft JhengHei" panose="020B0604030504040204" pitchFamily="34" charset="-120"/>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2432" y="2685702"/>
            <a:ext cx="807395" cy="80739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72432" y="5453726"/>
            <a:ext cx="975528" cy="975528"/>
          </a:xfrm>
          <a:prstGeom prst="rect">
            <a:avLst/>
          </a:prstGeom>
          <a:noFill/>
          <a:extLst>
            <a:ext uri="{909E8E84-426E-40DD-AFC4-6F175D3DCCD1}">
              <a14:hiddenFill xmlns:a14="http://schemas.microsoft.com/office/drawing/2010/main">
                <a:solidFill>
                  <a:srgbClr val="FFFFFF"/>
                </a:solidFill>
              </a14:hiddenFill>
            </a:ext>
          </a:extLst>
        </p:spPr>
      </p:pic>
      <p:sp>
        <p:nvSpPr>
          <p:cNvPr id="7" name="文字方塊 6"/>
          <p:cNvSpPr txBox="1"/>
          <p:nvPr/>
        </p:nvSpPr>
        <p:spPr>
          <a:xfrm>
            <a:off x="402863" y="1925355"/>
            <a:ext cx="2429004" cy="830997"/>
          </a:xfrm>
          <a:prstGeom prst="rect">
            <a:avLst/>
          </a:prstGeom>
          <a:noFill/>
        </p:spPr>
        <p:txBody>
          <a:bodyPr wrap="square" rtlCol="0">
            <a:spAutoFit/>
          </a:bodyPr>
          <a:lstStyle/>
          <a:p>
            <a:r>
              <a:rPr lang="en-US" altLang="zh-TW" sz="2400" b="1" dirty="0">
                <a:latin typeface="Microsoft JhengHei" panose="020B0604030504040204" pitchFamily="34" charset="-120"/>
                <a:ea typeface="Microsoft JhengHei" panose="020B0604030504040204" pitchFamily="34" charset="-120"/>
              </a:rPr>
              <a:t>Meta Data </a:t>
            </a:r>
            <a:endParaRPr lang="en-US" altLang="zh-TW" sz="2400" b="1" dirty="0">
              <a:latin typeface="Microsoft JhengHei" panose="020B0604030504040204" pitchFamily="34" charset="-120"/>
              <a:ea typeface="Microsoft JhengHei" panose="020B0604030504040204" pitchFamily="34" charset="-120"/>
            </a:endParaRPr>
          </a:p>
          <a:p>
            <a:r>
              <a:rPr lang="zh-TW" altLang="en-US" sz="2400" b="1" dirty="0">
                <a:latin typeface="Microsoft JhengHei" panose="020B0604030504040204" pitchFamily="34" charset="-120"/>
                <a:ea typeface="Microsoft JhengHei" panose="020B0604030504040204" pitchFamily="34" charset="-120"/>
              </a:rPr>
              <a:t>的影響</a:t>
            </a:r>
            <a:endParaRPr lang="zh-TW" altLang="en-US" sz="2400" b="1"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就算工具可靠 </a:t>
            </a:r>
            <a:r>
              <a:rPr lang="en-US" altLang="zh-TW" dirty="0">
                <a:latin typeface="Microsoft JhengHei" panose="020B0604030504040204" pitchFamily="34" charset="-120"/>
                <a:ea typeface="Microsoft JhengHei" panose="020B0604030504040204" pitchFamily="34" charset="-120"/>
              </a:rPr>
              <a:t>… </a:t>
            </a:r>
            <a:r>
              <a:rPr lang="zh-TW" altLang="en-US" dirty="0">
                <a:latin typeface="Microsoft JhengHei" panose="020B0604030504040204" pitchFamily="34" charset="-120"/>
                <a:ea typeface="Microsoft JhengHei" panose="020B0604030504040204" pitchFamily="34" charset="-120"/>
              </a:rPr>
              <a:t>不代表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就不會犯錯</a:t>
            </a:r>
            <a:endParaRPr lang="zh-TW" altLang="en-US" dirty="0"/>
          </a:p>
        </p:txBody>
      </p:sp>
      <p:sp>
        <p:nvSpPr>
          <p:cNvPr id="3" name="內容版面配置區 2"/>
          <p:cNvSpPr>
            <a:spLocks noGrp="1"/>
          </p:cNvSpPr>
          <p:nvPr>
            <p:ph idx="1"/>
          </p:nvPr>
        </p:nvSpPr>
        <p:spPr/>
        <p:txBody>
          <a:bodyPr/>
          <a:lstStyle/>
          <a:p>
            <a:r>
              <a:rPr lang="zh-TW" altLang="en-US" sz="2400" dirty="0">
                <a:latin typeface="Microsoft JhengHei" panose="020B0604030504040204" pitchFamily="34" charset="-120"/>
                <a:ea typeface="Microsoft JhengHei" panose="020B0604030504040204" pitchFamily="34" charset="-120"/>
              </a:rPr>
              <a:t>就算所有找到的資料都是對的，也不保證答案就是對的</a:t>
            </a:r>
            <a:endParaRPr lang="zh-TW" altLang="en-US" sz="2400" dirty="0">
              <a:latin typeface="Microsoft JhengHei" panose="020B0604030504040204" pitchFamily="34" charset="-120"/>
              <a:ea typeface="Microsoft JhengHei" panose="020B0604030504040204" pitchFamily="34" charset="-120"/>
            </a:endParaRPr>
          </a:p>
        </p:txBody>
      </p:sp>
      <p:pic>
        <p:nvPicPr>
          <p:cNvPr id="4" name="圖片 3"/>
          <p:cNvPicPr>
            <a:picLocks noChangeAspect="1"/>
          </p:cNvPicPr>
          <p:nvPr/>
        </p:nvPicPr>
        <p:blipFill>
          <a:blip r:embed="rId1"/>
          <a:stretch>
            <a:fillRect/>
          </a:stretch>
        </p:blipFill>
        <p:spPr>
          <a:xfrm>
            <a:off x="2062674" y="2325187"/>
            <a:ext cx="6726764" cy="1409164"/>
          </a:xfrm>
          <a:prstGeom prst="rect">
            <a:avLst/>
          </a:prstGeom>
        </p:spPr>
      </p:pic>
      <p:pic>
        <p:nvPicPr>
          <p:cNvPr id="5" name="圖片 4"/>
          <p:cNvPicPr>
            <a:picLocks noChangeAspect="1"/>
          </p:cNvPicPr>
          <p:nvPr/>
        </p:nvPicPr>
        <p:blipFill>
          <a:blip r:embed="rId2"/>
          <a:stretch>
            <a:fillRect/>
          </a:stretch>
        </p:blipFill>
        <p:spPr>
          <a:xfrm>
            <a:off x="2196630" y="3902578"/>
            <a:ext cx="7798740" cy="2714606"/>
          </a:xfrm>
          <a:prstGeom prst="rect">
            <a:avLst/>
          </a:prstGeom>
        </p:spPr>
      </p:pic>
      <p:pic>
        <p:nvPicPr>
          <p:cNvPr id="6" name="圖片 5"/>
          <p:cNvPicPr>
            <a:picLocks noChangeAspect="1"/>
          </p:cNvPicPr>
          <p:nvPr/>
        </p:nvPicPr>
        <p:blipFill>
          <a:blip r:embed="rId3"/>
          <a:stretch>
            <a:fillRect/>
          </a:stretch>
        </p:blipFill>
        <p:spPr>
          <a:xfrm>
            <a:off x="3913965" y="2524237"/>
            <a:ext cx="8173711" cy="4092947"/>
          </a:xfrm>
          <a:prstGeom prst="rect">
            <a:avLst/>
          </a:prstGeom>
        </p:spPr>
      </p:pic>
      <p:sp>
        <p:nvSpPr>
          <p:cNvPr id="8" name="文字方塊 7"/>
          <p:cNvSpPr txBox="1"/>
          <p:nvPr/>
        </p:nvSpPr>
        <p:spPr>
          <a:xfrm>
            <a:off x="159084" y="3392234"/>
            <a:ext cx="1903590" cy="954107"/>
          </a:xfrm>
          <a:prstGeom prst="rect">
            <a:avLst/>
          </a:prstGeom>
          <a:noFill/>
        </p:spPr>
        <p:txBody>
          <a:bodyPr wrap="square" rtlCol="0">
            <a:spAutoFit/>
          </a:bodyPr>
          <a:lstStyle/>
          <a:p>
            <a:r>
              <a:rPr lang="en-US" altLang="zh-TW" sz="2800" dirty="0">
                <a:latin typeface="Microsoft JhengHei" panose="020B0604030504040204" pitchFamily="34" charset="-120"/>
                <a:ea typeface="Microsoft JhengHei" panose="020B0604030504040204" pitchFamily="34" charset="-120"/>
              </a:rPr>
              <a:t>ChatGPT Search</a:t>
            </a:r>
            <a:endParaRPr lang="zh-TW" altLang="en-US" sz="2800" dirty="0">
              <a:latin typeface="Microsoft JhengHei" panose="020B0604030504040204" pitchFamily="34" charset="-120"/>
              <a:ea typeface="Microsoft JhengHei" panose="020B0604030504040204" pitchFamily="34" charset="-120"/>
            </a:endParaRPr>
          </a:p>
        </p:txBody>
      </p:sp>
      <p:sp>
        <p:nvSpPr>
          <p:cNvPr id="9" name="文字方塊 8"/>
          <p:cNvSpPr txBox="1"/>
          <p:nvPr/>
        </p:nvSpPr>
        <p:spPr>
          <a:xfrm>
            <a:off x="50523" y="4379631"/>
            <a:ext cx="2146107" cy="646331"/>
          </a:xfrm>
          <a:prstGeom prst="rect">
            <a:avLst/>
          </a:prstGeom>
          <a:noFill/>
        </p:spPr>
        <p:txBody>
          <a:bodyPr wrap="square" rtlCol="0">
            <a:spAutoFit/>
          </a:bodyPr>
          <a:lstStyle/>
          <a:p>
            <a:r>
              <a:rPr lang="en-US" altLang="zh-TW"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同樣的輸入目前已經沒有這樣的問題</a:t>
            </a:r>
            <a:r>
              <a:rPr lang="en-US" altLang="zh-TW" dirty="0">
                <a:latin typeface="Microsoft JhengHei" panose="020B0604030504040204" pitchFamily="34" charset="-120"/>
                <a:ea typeface="Microsoft JhengHei" panose="020B0604030504040204" pitchFamily="34" charset="-120"/>
              </a:rPr>
              <a:t>)</a:t>
            </a:r>
            <a:endParaRPr lang="zh-TW" altLang="en-US"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使用工具與模型本身能力間的平衡</a:t>
            </a:r>
            <a:endParaRPr lang="zh-TW" altLang="en-US" dirty="0"/>
          </a:p>
        </p:txBody>
      </p:sp>
      <p:sp>
        <p:nvSpPr>
          <p:cNvPr id="3" name="內容版面配置區 2"/>
          <p:cNvSpPr>
            <a:spLocks noGrp="1"/>
          </p:cNvSpPr>
          <p:nvPr>
            <p:ph idx="1"/>
          </p:nvPr>
        </p:nvSpPr>
        <p:spPr/>
        <p:txBody>
          <a:bodyPr/>
          <a:lstStyle/>
          <a:p>
            <a:r>
              <a:rPr lang="zh-TW" altLang="en-US" dirty="0">
                <a:latin typeface="Microsoft JhengHei" panose="020B0604030504040204" pitchFamily="34" charset="-120"/>
                <a:ea typeface="Microsoft JhengHei" panose="020B0604030504040204" pitchFamily="34" charset="-120"/>
              </a:rPr>
              <a:t>用工具不一定總是比較有效率</a:t>
            </a:r>
            <a:endParaRPr lang="en-US" altLang="zh-TW" dirty="0">
              <a:latin typeface="Microsoft JhengHei" panose="020B0604030504040204" pitchFamily="34" charset="-120"/>
              <a:ea typeface="Microsoft JhengHei" panose="020B0604030504040204" pitchFamily="34" charset="-120"/>
            </a:endParaRPr>
          </a:p>
          <a:p>
            <a:r>
              <a:rPr lang="zh-TW" altLang="en-US" dirty="0">
                <a:latin typeface="Microsoft JhengHei" panose="020B0604030504040204" pitchFamily="34" charset="-120"/>
                <a:ea typeface="Microsoft JhengHei" panose="020B0604030504040204" pitchFamily="34" charset="-120"/>
              </a:rPr>
              <a:t>如果要做數學運算，用計算機一定比普通人心算快嗎？</a:t>
            </a:r>
            <a:endParaRPr lang="zh-TW" altLang="en-US" dirty="0">
              <a:latin typeface="Microsoft JhengHei" panose="020B0604030504040204" pitchFamily="34" charset="-120"/>
              <a:ea typeface="Microsoft JhengHei" panose="020B0604030504040204" pitchFamily="34" charset="-120"/>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54858" y="3452854"/>
            <a:ext cx="2707533" cy="270753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6018" y="3320672"/>
            <a:ext cx="2971895" cy="297189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9366" y="4594360"/>
            <a:ext cx="1898515" cy="1898515"/>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p:cNvSpPr txBox="1"/>
          <p:nvPr/>
        </p:nvSpPr>
        <p:spPr>
          <a:xfrm>
            <a:off x="1718553" y="3452854"/>
            <a:ext cx="2707533"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問題：</a:t>
            </a:r>
            <a:r>
              <a:rPr lang="en-US" altLang="zh-TW" sz="2400" dirty="0">
                <a:latin typeface="Microsoft JhengHei" panose="020B0604030504040204" pitchFamily="34" charset="-120"/>
                <a:ea typeface="Microsoft JhengHei" panose="020B0604030504040204" pitchFamily="34" charset="-120"/>
              </a:rPr>
              <a:t>3</a:t>
            </a:r>
            <a:r>
              <a:rPr lang="zh-TW" altLang="en-US" sz="2400" dirty="0">
                <a:latin typeface="Microsoft JhengHei" panose="020B0604030504040204" pitchFamily="34" charset="-120"/>
                <a:ea typeface="Microsoft JhengHei" panose="020B0604030504040204" pitchFamily="34" charset="-120"/>
              </a:rPr>
              <a:t> </a:t>
            </a:r>
            <a:r>
              <a:rPr lang="en-US" altLang="zh-TW" sz="2400" dirty="0">
                <a:latin typeface="Microsoft JhengHei" panose="020B0604030504040204" pitchFamily="34" charset="-120"/>
                <a:ea typeface="Microsoft JhengHei" panose="020B0604030504040204" pitchFamily="34" charset="-120"/>
              </a:rPr>
              <a:t>x 4 </a:t>
            </a:r>
            <a:endParaRPr lang="zh-TW" altLang="en-US" sz="2400" dirty="0">
              <a:latin typeface="Microsoft JhengHei" panose="020B0604030504040204" pitchFamily="34" charset="-120"/>
              <a:ea typeface="Microsoft JhengHei" panose="020B0604030504040204" pitchFamily="34" charset="-120"/>
            </a:endParaRPr>
          </a:p>
        </p:txBody>
      </p:sp>
      <p:sp>
        <p:nvSpPr>
          <p:cNvPr id="6" name="文字方塊 5"/>
          <p:cNvSpPr txBox="1"/>
          <p:nvPr/>
        </p:nvSpPr>
        <p:spPr>
          <a:xfrm>
            <a:off x="4212793" y="4253745"/>
            <a:ext cx="1052613" cy="523220"/>
          </a:xfrm>
          <a:prstGeom prst="rect">
            <a:avLst/>
          </a:prstGeom>
          <a:noFill/>
        </p:spPr>
        <p:txBody>
          <a:bodyPr wrap="square" rtlCol="0">
            <a:spAutoFit/>
          </a:bodyPr>
          <a:lstStyle/>
          <a:p>
            <a:pPr algn="ctr"/>
            <a:r>
              <a:rPr lang="en-US" altLang="zh-TW" sz="2800" dirty="0"/>
              <a:t>12</a:t>
            </a:r>
            <a:endParaRPr lang="zh-TW"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在紙本日程上寫預約"/>
          <p:cNvPicPr>
            <a:picLocks noChangeAspect="1"/>
          </p:cNvPicPr>
          <p:nvPr/>
        </p:nvPicPr>
        <p:blipFill>
          <a:blip r:embed="rId1">
            <a:alphaModFix amt="50000"/>
          </a:blip>
          <a:srcRect t="15730"/>
          <a:stretch>
            <a:fillRect/>
          </a:stretch>
        </p:blipFill>
        <p:spPr>
          <a:xfrm>
            <a:off x="20" y="1"/>
            <a:ext cx="12191980" cy="6857999"/>
          </a:xfrm>
          <a:prstGeom prst="rect">
            <a:avLst/>
          </a:prstGeom>
        </p:spPr>
      </p:pic>
      <p:sp>
        <p:nvSpPr>
          <p:cNvPr id="2" name="標題 1"/>
          <p:cNvSpPr>
            <a:spLocks noGrp="1"/>
          </p:cNvSpPr>
          <p:nvPr>
            <p:ph type="ctrTitle"/>
          </p:nvPr>
        </p:nvSpPr>
        <p:spPr>
          <a:xfrm>
            <a:off x="1524000" y="1122362"/>
            <a:ext cx="9144000" cy="2900518"/>
          </a:xfrm>
        </p:spPr>
        <p:txBody>
          <a:bodyPr>
            <a:normAutofit/>
          </a:bodyPr>
          <a:lstStyle/>
          <a:p>
            <a:r>
              <a:rPr lang="en-US" altLang="zh-TW" sz="7200" b="1" dirty="0">
                <a:solidFill>
                  <a:srgbClr val="FFFFFF"/>
                </a:solidFill>
                <a:latin typeface="Microsoft JhengHei" panose="020B0604030504040204" pitchFamily="34" charset="-120"/>
                <a:ea typeface="Microsoft JhengHei" panose="020B0604030504040204" pitchFamily="34" charset="-120"/>
              </a:rPr>
              <a:t>AI</a:t>
            </a:r>
            <a:r>
              <a:rPr lang="zh-TW" altLang="en-US" sz="7200" b="1" dirty="0">
                <a:solidFill>
                  <a:srgbClr val="FFFFFF"/>
                </a:solidFill>
                <a:latin typeface="Microsoft JhengHei" panose="020B0604030504040204" pitchFamily="34" charset="-120"/>
                <a:ea typeface="Microsoft JhengHei" panose="020B0604030504040204" pitchFamily="34" charset="-120"/>
              </a:rPr>
              <a:t> 能不能做計劃？</a:t>
            </a:r>
            <a:endParaRPr lang="zh-TW" altLang="en-US" sz="7200" b="1" dirty="0">
              <a:solidFill>
                <a:srgbClr val="FFFFFF"/>
              </a:solidFill>
              <a:latin typeface="Microsoft JhengHei" panose="020B0604030504040204" pitchFamily="34" charset="-120"/>
              <a:ea typeface="Microsoft JhengHei" panose="020B0604030504040204" pitchFamily="34" charset="-120"/>
            </a:endParaRPr>
          </a:p>
        </p:txBody>
      </p:sp>
      <p:sp>
        <p:nvSpPr>
          <p:cNvPr id="3" name="副標題 2"/>
          <p:cNvSpPr>
            <a:spLocks noGrp="1"/>
          </p:cNvSpPr>
          <p:nvPr>
            <p:ph type="subTitle" idx="1"/>
          </p:nvPr>
        </p:nvSpPr>
        <p:spPr>
          <a:xfrm>
            <a:off x="1524000" y="4159404"/>
            <a:ext cx="9144000" cy="1098395"/>
          </a:xfrm>
        </p:spPr>
        <p:txBody>
          <a:bodyPr>
            <a:normAutofit/>
          </a:bodyPr>
          <a:lstStyle/>
          <a:p>
            <a:endParaRPr lang="zh-TW" altLang="en-US">
              <a:solidFill>
                <a:srgbClr val="FFFFFF"/>
              </a:solidFill>
            </a:endParaRP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做計劃</a:t>
            </a:r>
            <a:endParaRPr lang="zh-TW" altLang="en-US" dirty="0">
              <a:latin typeface="Microsoft JhengHei" panose="020B0604030504040204" pitchFamily="34" charset="-120"/>
              <a:ea typeface="Microsoft JhengHei" panose="020B0604030504040204" pitchFamily="34" charset="-120"/>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98950" y="4239238"/>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7750" y="1629751"/>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73750" y="4239238"/>
            <a:ext cx="1219200" cy="12192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4750" y="1629751"/>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圓角 7"/>
          <p:cNvSpPr/>
          <p:nvPr/>
        </p:nvSpPr>
        <p:spPr>
          <a:xfrm>
            <a:off x="-5850" y="3378565"/>
            <a:ext cx="1800000" cy="360000"/>
          </a:xfrm>
          <a:prstGeom prst="roundRect">
            <a:avLst/>
          </a:prstGeom>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goal</a:t>
            </a:r>
            <a:endParaRPr lang="zh-TW" altLang="en-US" sz="2400" dirty="0"/>
          </a:p>
        </p:txBody>
      </p:sp>
      <p:sp>
        <p:nvSpPr>
          <p:cNvPr id="9" name="矩形: 圓角 8"/>
          <p:cNvSpPr/>
          <p:nvPr/>
        </p:nvSpPr>
        <p:spPr>
          <a:xfrm>
            <a:off x="1794150" y="3364280"/>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10" name="矩形: 圓角 9"/>
          <p:cNvSpPr/>
          <p:nvPr/>
        </p:nvSpPr>
        <p:spPr>
          <a:xfrm>
            <a:off x="5385450" y="3377468"/>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a:t>
            </a:r>
            <a:endParaRPr lang="zh-TW" altLang="en-US" sz="2400" dirty="0"/>
          </a:p>
        </p:txBody>
      </p:sp>
      <p:sp>
        <p:nvSpPr>
          <p:cNvPr id="11" name="矩形: 圓角 10"/>
          <p:cNvSpPr/>
          <p:nvPr/>
        </p:nvSpPr>
        <p:spPr>
          <a:xfrm>
            <a:off x="3599325" y="3380399"/>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12" name="矩形: 圓角 11"/>
          <p:cNvSpPr/>
          <p:nvPr/>
        </p:nvSpPr>
        <p:spPr>
          <a:xfrm>
            <a:off x="7188450" y="3377468"/>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a:t>
            </a:r>
            <a:endParaRPr lang="zh-TW" altLang="en-US" sz="2400" dirty="0"/>
          </a:p>
        </p:txBody>
      </p:sp>
      <p:sp>
        <p:nvSpPr>
          <p:cNvPr id="13" name="矩形: 圓角 12"/>
          <p:cNvSpPr/>
          <p:nvPr/>
        </p:nvSpPr>
        <p:spPr>
          <a:xfrm>
            <a:off x="8988450" y="3363182"/>
            <a:ext cx="180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3</a:t>
            </a:r>
            <a:endParaRPr lang="zh-TW" altLang="en-US" sz="2400" dirty="0"/>
          </a:p>
        </p:txBody>
      </p:sp>
      <p:sp>
        <p:nvSpPr>
          <p:cNvPr id="14" name="矩形: 圓角 13"/>
          <p:cNvSpPr/>
          <p:nvPr/>
        </p:nvSpPr>
        <p:spPr>
          <a:xfrm>
            <a:off x="10788450" y="3363182"/>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3</a:t>
            </a:r>
            <a:endParaRPr lang="zh-TW" altLang="en-US" sz="2400" dirty="0"/>
          </a:p>
        </p:txBody>
      </p:sp>
      <p:pic>
        <p:nvPicPr>
          <p:cNvPr id="1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140750" y="4227878"/>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直線單箭頭接點 15"/>
          <p:cNvCxnSpPr/>
          <p:nvPr/>
        </p:nvCxnSpPr>
        <p:spPr>
          <a:xfrm flipV="1">
            <a:off x="4485450" y="282502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a:off x="5770500" y="284126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flipV="1">
            <a:off x="8052450" y="2823497"/>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a:off x="9337500" y="2839737"/>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0" name="群組 19"/>
          <p:cNvGrpSpPr/>
          <p:nvPr/>
        </p:nvGrpSpPr>
        <p:grpSpPr>
          <a:xfrm flipV="1">
            <a:off x="2694150" y="3777953"/>
            <a:ext cx="8897700" cy="452923"/>
            <a:chOff x="2770350" y="3222261"/>
            <a:chExt cx="8897700" cy="452923"/>
          </a:xfrm>
        </p:grpSpPr>
        <p:cxnSp>
          <p:nvCxnSpPr>
            <p:cNvPr id="21" name="直線單箭頭接點 20"/>
            <p:cNvCxnSpPr/>
            <p:nvPr/>
          </p:nvCxnSpPr>
          <p:spPr>
            <a:xfrm flipV="1">
              <a:off x="2770350" y="322226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a:off x="4055400" y="3238501"/>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flipV="1">
              <a:off x="6391050" y="326170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a:off x="7676100" y="327794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flipV="1">
              <a:off x="9933900" y="326170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a:off x="11218950" y="327794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文字方塊 29"/>
          <p:cNvSpPr txBox="1"/>
          <p:nvPr/>
        </p:nvSpPr>
        <p:spPr>
          <a:xfrm>
            <a:off x="933523" y="2083216"/>
            <a:ext cx="3407846" cy="523220"/>
          </a:xfrm>
          <a:prstGeom prst="rect">
            <a:avLst/>
          </a:prstGeom>
          <a:noFill/>
        </p:spPr>
        <p:txBody>
          <a:bodyPr wrap="square" rtlCol="0">
            <a:spAutoFit/>
          </a:bodyPr>
          <a:lstStyle/>
          <a:p>
            <a:pPr algn="ctr"/>
            <a:r>
              <a:rPr lang="en-US" altLang="zh-TW" sz="2800" dirty="0">
                <a:ea typeface="Microsoft JhengHei" panose="020B0604030504040204" pitchFamily="34" charset="-120"/>
              </a:rPr>
              <a:t>Reactive Response?</a:t>
            </a:r>
            <a:endParaRPr lang="zh-TW" altLang="en-US" sz="2800" dirty="0">
              <a:ea typeface="Microsoft JhengHei" panose="020B0604030504040204" pitchFamily="34" charset="-120"/>
            </a:endParaRPr>
          </a:p>
        </p:txBody>
      </p:sp>
      <p:sp>
        <p:nvSpPr>
          <p:cNvPr id="31" name="想法泡泡: 雲朵 30"/>
          <p:cNvSpPr/>
          <p:nvPr/>
        </p:nvSpPr>
        <p:spPr>
          <a:xfrm>
            <a:off x="319998" y="4914620"/>
            <a:ext cx="2598702" cy="1104361"/>
          </a:xfrm>
          <a:prstGeom prst="cloudCallout">
            <a:avLst>
              <a:gd name="adj1" fmla="val 53939"/>
              <a:gd name="adj2" fmla="val -42724"/>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ea typeface="Microsoft JhengHei" panose="020B0604030504040204" pitchFamily="34" charset="-120"/>
              </a:rPr>
              <a:t>Planning</a:t>
            </a:r>
            <a:endParaRPr lang="zh-TW" altLang="en-US" sz="2400" dirty="0">
              <a:solidFill>
                <a:schemeClr val="tx1"/>
              </a:solidFill>
              <a:ea typeface="Microsoft JhengHei" panose="020B0604030504040204" pitchFamily="34" charset="-120"/>
            </a:endParaRPr>
          </a:p>
        </p:txBody>
      </p:sp>
      <p:cxnSp>
        <p:nvCxnSpPr>
          <p:cNvPr id="33" name="直線單箭頭接點 32"/>
          <p:cNvCxnSpPr/>
          <p:nvPr/>
        </p:nvCxnSpPr>
        <p:spPr>
          <a:xfrm flipH="1" flipV="1">
            <a:off x="3636432" y="2622894"/>
            <a:ext cx="481912" cy="603015"/>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749" y="4838779"/>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做計劃</a:t>
            </a:r>
            <a:endParaRPr lang="zh-TW" altLang="en-US" dirty="0">
              <a:latin typeface="Microsoft JhengHei" panose="020B0604030504040204" pitchFamily="34" charset="-120"/>
              <a:ea typeface="Microsoft JhengHei" panose="020B0604030504040204" pitchFamily="34" charset="-120"/>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48944" y="3658260"/>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圓角 6"/>
          <p:cNvSpPr/>
          <p:nvPr/>
        </p:nvSpPr>
        <p:spPr>
          <a:xfrm>
            <a:off x="894437" y="2644680"/>
            <a:ext cx="144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8" name="矩形: 圓角 7"/>
          <p:cNvSpPr/>
          <p:nvPr/>
        </p:nvSpPr>
        <p:spPr>
          <a:xfrm>
            <a:off x="4801412" y="2644680"/>
            <a:ext cx="144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a:t>
            </a:r>
            <a:endParaRPr lang="zh-TW" altLang="en-US" sz="2400" dirty="0"/>
          </a:p>
        </p:txBody>
      </p:sp>
      <p:sp>
        <p:nvSpPr>
          <p:cNvPr id="9" name="矩形: 圓角 8"/>
          <p:cNvSpPr/>
          <p:nvPr/>
        </p:nvSpPr>
        <p:spPr>
          <a:xfrm>
            <a:off x="3304037" y="2629282"/>
            <a:ext cx="144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10" name="矩形: 圓角 9"/>
          <p:cNvSpPr/>
          <p:nvPr/>
        </p:nvSpPr>
        <p:spPr>
          <a:xfrm>
            <a:off x="6288737" y="2644680"/>
            <a:ext cx="144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a:t>
            </a:r>
            <a:endParaRPr lang="zh-TW" altLang="en-US" sz="2400" dirty="0"/>
          </a:p>
        </p:txBody>
      </p:sp>
      <p:sp>
        <p:nvSpPr>
          <p:cNvPr id="11" name="矩形: 圓角 10"/>
          <p:cNvSpPr/>
          <p:nvPr/>
        </p:nvSpPr>
        <p:spPr>
          <a:xfrm>
            <a:off x="7766620" y="2644680"/>
            <a:ext cx="144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3</a:t>
            </a:r>
            <a:endParaRPr lang="zh-TW" altLang="en-US" sz="2400" dirty="0"/>
          </a:p>
        </p:txBody>
      </p:sp>
      <p:sp>
        <p:nvSpPr>
          <p:cNvPr id="12" name="矩形: 圓角 11"/>
          <p:cNvSpPr/>
          <p:nvPr/>
        </p:nvSpPr>
        <p:spPr>
          <a:xfrm>
            <a:off x="9252137" y="2625531"/>
            <a:ext cx="144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3</a:t>
            </a:r>
            <a:endParaRPr lang="zh-TW" altLang="en-US" sz="2400" dirty="0"/>
          </a:p>
        </p:txBody>
      </p:sp>
      <p:pic>
        <p:nvPicPr>
          <p:cNvPr id="1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775885" y="3489242"/>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線單箭頭接點 14"/>
          <p:cNvCxnSpPr/>
          <p:nvPr/>
        </p:nvCxnSpPr>
        <p:spPr>
          <a:xfrm>
            <a:off x="1794437" y="311513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3150006" y="313471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a:off x="8478013" y="3076628"/>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V="1">
            <a:off x="9763063" y="3060388"/>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7028" y="2452905"/>
            <a:ext cx="743550" cy="74355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12392" y="3512855"/>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41" name="直線單箭頭接點 40"/>
          <p:cNvCxnSpPr/>
          <p:nvPr/>
        </p:nvCxnSpPr>
        <p:spPr>
          <a:xfrm>
            <a:off x="5429342" y="3079170"/>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p:nvPr/>
        </p:nvCxnSpPr>
        <p:spPr>
          <a:xfrm flipV="1">
            <a:off x="6714392" y="3062930"/>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語音泡泡: 圓角矩形 42"/>
          <p:cNvSpPr/>
          <p:nvPr/>
        </p:nvSpPr>
        <p:spPr>
          <a:xfrm>
            <a:off x="1145186" y="5219104"/>
            <a:ext cx="8170740" cy="969525"/>
          </a:xfrm>
          <a:prstGeom prst="wedgeRoundRectCallout">
            <a:avLst>
              <a:gd name="adj1" fmla="val -32571"/>
              <a:gd name="adj2" fmla="val -117163"/>
              <a:gd name="adj3" fmla="val 16667"/>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圓角 43"/>
          <p:cNvSpPr/>
          <p:nvPr/>
        </p:nvSpPr>
        <p:spPr>
          <a:xfrm>
            <a:off x="1497309" y="5557048"/>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45" name="矩形: 圓角 44"/>
          <p:cNvSpPr/>
          <p:nvPr/>
        </p:nvSpPr>
        <p:spPr>
          <a:xfrm>
            <a:off x="3368144" y="5557930"/>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a:t>
            </a:r>
            <a:endParaRPr lang="zh-TW" altLang="en-US" sz="2400" dirty="0"/>
          </a:p>
        </p:txBody>
      </p:sp>
      <p:sp>
        <p:nvSpPr>
          <p:cNvPr id="46" name="矩形: 圓角 45"/>
          <p:cNvSpPr/>
          <p:nvPr/>
        </p:nvSpPr>
        <p:spPr>
          <a:xfrm>
            <a:off x="5238979" y="5557048"/>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3</a:t>
            </a:r>
            <a:endParaRPr lang="zh-TW" altLang="en-US" sz="2400" dirty="0"/>
          </a:p>
        </p:txBody>
      </p:sp>
      <p:pic>
        <p:nvPicPr>
          <p:cNvPr id="4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0058" y="5365273"/>
            <a:ext cx="743550" cy="743550"/>
          </a:xfrm>
          <a:prstGeom prst="rect">
            <a:avLst/>
          </a:prstGeom>
          <a:noFill/>
          <a:extLst>
            <a:ext uri="{909E8E84-426E-40DD-AFC4-6F175D3DCCD1}">
              <a14:hiddenFill xmlns:a14="http://schemas.microsoft.com/office/drawing/2010/main">
                <a:solidFill>
                  <a:srgbClr val="FFFFFF"/>
                </a:solidFill>
              </a14:hiddenFill>
            </a:ext>
          </a:extLst>
        </p:spPr>
      </p:pic>
      <p:sp>
        <p:nvSpPr>
          <p:cNvPr id="48" name="箭號: 向右 47"/>
          <p:cNvSpPr/>
          <p:nvPr/>
        </p:nvSpPr>
        <p:spPr>
          <a:xfrm>
            <a:off x="7291297" y="5554434"/>
            <a:ext cx="790670" cy="360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 name="矩形: 圓角 2"/>
          <p:cNvSpPr/>
          <p:nvPr/>
        </p:nvSpPr>
        <p:spPr>
          <a:xfrm>
            <a:off x="2383030" y="2630254"/>
            <a:ext cx="849922" cy="360000"/>
          </a:xfrm>
          <a:prstGeom prst="roundRect">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plan</a:t>
            </a:r>
            <a:endParaRPr lang="zh-TW" altLang="en-US" sz="2400" dirty="0"/>
          </a:p>
        </p:txBody>
      </p:sp>
      <p:cxnSp>
        <p:nvCxnSpPr>
          <p:cNvPr id="5" name="直線單箭頭接點 4"/>
          <p:cNvCxnSpPr/>
          <p:nvPr/>
        </p:nvCxnSpPr>
        <p:spPr>
          <a:xfrm flipV="1">
            <a:off x="2718202" y="3064012"/>
            <a:ext cx="0" cy="43212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圓角 21"/>
          <p:cNvSpPr/>
          <p:nvPr/>
        </p:nvSpPr>
        <p:spPr>
          <a:xfrm>
            <a:off x="944515" y="5005273"/>
            <a:ext cx="849922" cy="360000"/>
          </a:xfrm>
          <a:prstGeom prst="roundRect">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plan</a:t>
            </a:r>
            <a:endParaRPr lang="zh-TW" altLang="en-US" sz="2400" dirty="0"/>
          </a:p>
        </p:txBody>
      </p:sp>
      <p:sp>
        <p:nvSpPr>
          <p:cNvPr id="29" name="文字方塊 28"/>
          <p:cNvSpPr txBox="1"/>
          <p:nvPr/>
        </p:nvSpPr>
        <p:spPr>
          <a:xfrm>
            <a:off x="5624578" y="391581"/>
            <a:ext cx="6096000" cy="630942"/>
          </a:xfrm>
          <a:prstGeom prst="rect">
            <a:avLst/>
          </a:prstGeom>
          <a:noFill/>
        </p:spPr>
        <p:txBody>
          <a:bodyPr wrap="square">
            <a:spAutoFit/>
          </a:bodyPr>
          <a:lstStyle/>
          <a:p>
            <a:pPr algn="l">
              <a:lnSpc>
                <a:spcPts val="2100"/>
              </a:lnSpc>
              <a:spcAft>
                <a:spcPts val="900"/>
              </a:spcAft>
            </a:pPr>
            <a:r>
              <a:rPr lang="en-US" altLang="zh-TW" i="0" dirty="0">
                <a:solidFill>
                  <a:srgbClr val="000000"/>
                </a:solidFill>
                <a:effectLst/>
                <a:latin typeface="Lucida Grande"/>
              </a:rPr>
              <a:t>Plan-and-Solve Prompting: Improving Zero-Shot Chain-of-Thought Reasoning by Large Language Models</a:t>
            </a:r>
            <a:endParaRPr lang="en-US" altLang="zh-TW" i="0" dirty="0">
              <a:solidFill>
                <a:srgbClr val="000000"/>
              </a:solidFill>
              <a:effectLst/>
              <a:latin typeface="Lucida Grande"/>
            </a:endParaRPr>
          </a:p>
        </p:txBody>
      </p:sp>
      <p:sp>
        <p:nvSpPr>
          <p:cNvPr id="31" name="文字方塊 30"/>
          <p:cNvSpPr txBox="1"/>
          <p:nvPr/>
        </p:nvSpPr>
        <p:spPr>
          <a:xfrm>
            <a:off x="8478013" y="1080138"/>
            <a:ext cx="6096000" cy="369332"/>
          </a:xfrm>
          <a:prstGeom prst="rect">
            <a:avLst/>
          </a:prstGeom>
          <a:noFill/>
        </p:spPr>
        <p:txBody>
          <a:bodyPr wrap="square">
            <a:spAutoFit/>
          </a:bodyPr>
          <a:lstStyle/>
          <a:p>
            <a:r>
              <a:rPr lang="zh-TW" altLang="en-US" dirty="0"/>
              <a:t>https://arxiv.org/abs/2305.04091</a:t>
            </a:r>
            <a:endParaRPr lang="zh-TW" altLang="en-US" dirty="0"/>
          </a:p>
        </p:txBody>
      </p:sp>
      <p:sp>
        <p:nvSpPr>
          <p:cNvPr id="32" name="文字方塊 31"/>
          <p:cNvSpPr txBox="1"/>
          <p:nvPr/>
        </p:nvSpPr>
        <p:spPr>
          <a:xfrm>
            <a:off x="2966488" y="1416378"/>
            <a:ext cx="5960625" cy="954107"/>
          </a:xfrm>
          <a:prstGeom prst="rect">
            <a:avLst/>
          </a:prstGeom>
          <a:noFill/>
        </p:spPr>
        <p:txBody>
          <a:bodyPr wrap="square" rtlCol="0">
            <a:spAutoFit/>
          </a:bodyPr>
          <a:lstStyle/>
          <a:p>
            <a:r>
              <a:rPr lang="zh-TW" altLang="en-US" sz="2800" dirty="0">
                <a:solidFill>
                  <a:srgbClr val="FF0000"/>
                </a:solidFill>
                <a:latin typeface="Microsoft JhengHei" panose="020B0604030504040204" pitchFamily="34" charset="-120"/>
                <a:ea typeface="Microsoft JhengHei" panose="020B0604030504040204" pitchFamily="34" charset="-120"/>
              </a:rPr>
              <a:t>天下沒那麼好的事情</a:t>
            </a:r>
            <a:endParaRPr lang="en-US" altLang="zh-TW" sz="2800" dirty="0">
              <a:solidFill>
                <a:srgbClr val="FF0000"/>
              </a:solidFill>
              <a:latin typeface="Microsoft JhengHei" panose="020B0604030504040204" pitchFamily="34" charset="-120"/>
              <a:ea typeface="Microsoft JhengHei" panose="020B0604030504040204" pitchFamily="34" charset="-120"/>
            </a:endParaRPr>
          </a:p>
          <a:p>
            <a:r>
              <a:rPr lang="zh-TW" altLang="en-US" sz="2800" dirty="0">
                <a:solidFill>
                  <a:srgbClr val="FF0000"/>
                </a:solidFill>
                <a:latin typeface="Microsoft JhengHei" panose="020B0604030504040204" pitchFamily="34" charset="-120"/>
                <a:ea typeface="Microsoft JhengHei" panose="020B0604030504040204" pitchFamily="34" charset="-120"/>
              </a:rPr>
              <a:t>計劃就是要拿來改變的</a:t>
            </a:r>
            <a:endParaRPr lang="zh-TW" altLang="en-US" sz="2800" dirty="0">
              <a:solidFill>
                <a:srgbClr val="FF0000"/>
              </a:solidFill>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43" grpId="0" animBg="1"/>
      <p:bldP spid="44" grpId="0" animBg="1"/>
      <p:bldP spid="45" grpId="0" animBg="1"/>
      <p:bldP spid="46" grpId="0" animBg="1"/>
      <p:bldP spid="48" grpId="0" animBg="1"/>
      <p:bldP spid="3" grpId="0" animBg="1"/>
      <p:bldP spid="22" grpId="0" animBg="1"/>
      <p:bldP spid="3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做計劃</a:t>
            </a:r>
            <a:endParaRPr lang="zh-TW" altLang="en-US" dirty="0">
              <a:latin typeface="Microsoft JhengHei" panose="020B0604030504040204" pitchFamily="34" charset="-120"/>
              <a:ea typeface="Microsoft JhengHei" panose="020B0604030504040204" pitchFamily="34" charset="-120"/>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48944" y="3658260"/>
            <a:ext cx="1219200" cy="1219201"/>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圓角 6"/>
          <p:cNvSpPr/>
          <p:nvPr/>
        </p:nvSpPr>
        <p:spPr>
          <a:xfrm>
            <a:off x="894437" y="2644680"/>
            <a:ext cx="14400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8" name="矩形: 圓角 7"/>
          <p:cNvSpPr/>
          <p:nvPr/>
        </p:nvSpPr>
        <p:spPr>
          <a:xfrm>
            <a:off x="4801412" y="2644680"/>
            <a:ext cx="1440000" cy="360000"/>
          </a:xfrm>
          <a:prstGeom prst="roundRect">
            <a:avLst/>
          </a:prstGeom>
          <a:solidFill>
            <a:schemeClr val="accent4">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a:t>
            </a:r>
            <a:endParaRPr lang="zh-TW" altLang="en-US" sz="2400" dirty="0"/>
          </a:p>
        </p:txBody>
      </p:sp>
      <p:sp>
        <p:nvSpPr>
          <p:cNvPr id="9" name="矩形: 圓角 8"/>
          <p:cNvSpPr/>
          <p:nvPr/>
        </p:nvSpPr>
        <p:spPr>
          <a:xfrm>
            <a:off x="3304037" y="2629282"/>
            <a:ext cx="144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10" name="矩形: 圓角 9"/>
          <p:cNvSpPr/>
          <p:nvPr/>
        </p:nvSpPr>
        <p:spPr>
          <a:xfrm>
            <a:off x="7176911" y="2640794"/>
            <a:ext cx="1440000" cy="360000"/>
          </a:xfrm>
          <a:prstGeom prst="roundRect">
            <a:avLst/>
          </a:prstGeom>
          <a:solidFill>
            <a:schemeClr val="accent4">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a:t>
            </a:r>
            <a:endParaRPr lang="zh-TW" altLang="en-US" sz="2400" dirty="0"/>
          </a:p>
        </p:txBody>
      </p:sp>
      <p:cxnSp>
        <p:nvCxnSpPr>
          <p:cNvPr id="15" name="直線單箭頭接點 14"/>
          <p:cNvCxnSpPr/>
          <p:nvPr/>
        </p:nvCxnSpPr>
        <p:spPr>
          <a:xfrm>
            <a:off x="1794437" y="311513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p:cNvCxnSpPr/>
          <p:nvPr/>
        </p:nvCxnSpPr>
        <p:spPr>
          <a:xfrm flipV="1">
            <a:off x="3150006" y="313471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72097" y="3512374"/>
            <a:ext cx="1219200" cy="1219201"/>
          </a:xfrm>
          <a:prstGeom prst="rect">
            <a:avLst/>
          </a:prstGeom>
          <a:noFill/>
          <a:extLst>
            <a:ext uri="{909E8E84-426E-40DD-AFC4-6F175D3DCCD1}">
              <a14:hiddenFill xmlns:a14="http://schemas.microsoft.com/office/drawing/2010/main">
                <a:solidFill>
                  <a:srgbClr val="FFFFFF"/>
                </a:solidFill>
              </a14:hiddenFill>
            </a:ext>
          </a:extLst>
        </p:spPr>
      </p:pic>
      <p:cxnSp>
        <p:nvCxnSpPr>
          <p:cNvPr id="41" name="直線單箭頭接點 40"/>
          <p:cNvCxnSpPr/>
          <p:nvPr/>
        </p:nvCxnSpPr>
        <p:spPr>
          <a:xfrm>
            <a:off x="5914429" y="3098895"/>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p:nvPr/>
        </p:nvCxnSpPr>
        <p:spPr>
          <a:xfrm flipV="1">
            <a:off x="6934937" y="3062664"/>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語音泡泡: 圓角矩形 42"/>
          <p:cNvSpPr/>
          <p:nvPr/>
        </p:nvSpPr>
        <p:spPr>
          <a:xfrm>
            <a:off x="1145186" y="5219104"/>
            <a:ext cx="8170740" cy="969525"/>
          </a:xfrm>
          <a:prstGeom prst="wedgeRoundRectCallout">
            <a:avLst>
              <a:gd name="adj1" fmla="val -32571"/>
              <a:gd name="adj2" fmla="val -117163"/>
              <a:gd name="adj3" fmla="val 16667"/>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圓角 43"/>
          <p:cNvSpPr/>
          <p:nvPr/>
        </p:nvSpPr>
        <p:spPr>
          <a:xfrm>
            <a:off x="1497309" y="5557048"/>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a:t>
            </a:r>
            <a:endParaRPr lang="zh-TW" altLang="en-US" sz="2400" dirty="0"/>
          </a:p>
        </p:txBody>
      </p:sp>
      <p:sp>
        <p:nvSpPr>
          <p:cNvPr id="45" name="矩形: 圓角 44"/>
          <p:cNvSpPr/>
          <p:nvPr/>
        </p:nvSpPr>
        <p:spPr>
          <a:xfrm>
            <a:off x="3368144" y="5557930"/>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a:t>
            </a:r>
            <a:endParaRPr lang="zh-TW" altLang="en-US" sz="2400" dirty="0"/>
          </a:p>
        </p:txBody>
      </p:sp>
      <p:sp>
        <p:nvSpPr>
          <p:cNvPr id="46" name="矩形: 圓角 45"/>
          <p:cNvSpPr/>
          <p:nvPr/>
        </p:nvSpPr>
        <p:spPr>
          <a:xfrm>
            <a:off x="5238979" y="5557048"/>
            <a:ext cx="1800000"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3</a:t>
            </a:r>
            <a:endParaRPr lang="zh-TW" altLang="en-US" sz="2400" dirty="0"/>
          </a:p>
        </p:txBody>
      </p:sp>
      <p:pic>
        <p:nvPicPr>
          <p:cNvPr id="4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0058" y="5365273"/>
            <a:ext cx="743550" cy="743550"/>
          </a:xfrm>
          <a:prstGeom prst="rect">
            <a:avLst/>
          </a:prstGeom>
          <a:noFill/>
          <a:extLst>
            <a:ext uri="{909E8E84-426E-40DD-AFC4-6F175D3DCCD1}">
              <a14:hiddenFill xmlns:a14="http://schemas.microsoft.com/office/drawing/2010/main">
                <a:solidFill>
                  <a:srgbClr val="FFFFFF"/>
                </a:solidFill>
              </a14:hiddenFill>
            </a:ext>
          </a:extLst>
        </p:spPr>
      </p:pic>
      <p:sp>
        <p:nvSpPr>
          <p:cNvPr id="48" name="箭號: 向右 47"/>
          <p:cNvSpPr/>
          <p:nvPr/>
        </p:nvSpPr>
        <p:spPr>
          <a:xfrm>
            <a:off x="7291297" y="5554434"/>
            <a:ext cx="790670" cy="360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 name="矩形: 圓角 2"/>
          <p:cNvSpPr/>
          <p:nvPr/>
        </p:nvSpPr>
        <p:spPr>
          <a:xfrm>
            <a:off x="2383030" y="2630254"/>
            <a:ext cx="849922" cy="360000"/>
          </a:xfrm>
          <a:prstGeom prst="roundRect">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plan</a:t>
            </a:r>
            <a:endParaRPr lang="zh-TW" altLang="en-US" sz="2400" dirty="0"/>
          </a:p>
        </p:txBody>
      </p:sp>
      <p:cxnSp>
        <p:nvCxnSpPr>
          <p:cNvPr id="5" name="直線單箭頭接點 4"/>
          <p:cNvCxnSpPr/>
          <p:nvPr/>
        </p:nvCxnSpPr>
        <p:spPr>
          <a:xfrm flipV="1">
            <a:off x="2718202" y="3064012"/>
            <a:ext cx="0" cy="43212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圓角 21"/>
          <p:cNvSpPr/>
          <p:nvPr/>
        </p:nvSpPr>
        <p:spPr>
          <a:xfrm>
            <a:off x="944515" y="5005273"/>
            <a:ext cx="849922" cy="360000"/>
          </a:xfrm>
          <a:prstGeom prst="roundRect">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plan</a:t>
            </a:r>
            <a:endParaRPr lang="zh-TW" altLang="en-US" sz="2400"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4437" y="1047643"/>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直線單箭頭接點 13"/>
          <p:cNvCxnSpPr/>
          <p:nvPr/>
        </p:nvCxnSpPr>
        <p:spPr>
          <a:xfrm flipV="1">
            <a:off x="4005574" y="2187139"/>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a:off x="5014429" y="2220694"/>
            <a:ext cx="449100" cy="39723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5791237" y="1047643"/>
            <a:ext cx="4971417" cy="461665"/>
          </a:xfrm>
          <a:prstGeom prst="rect">
            <a:avLst/>
          </a:prstGeom>
          <a:noFill/>
        </p:spPr>
        <p:txBody>
          <a:bodyPr wrap="square" rtlCol="0">
            <a:spAutoFit/>
          </a:bodyPr>
          <a:lstStyle/>
          <a:p>
            <a:pPr marL="285750" indent="-285750">
              <a:buFont typeface="Arial" panose="020B0604020202020204" pitchFamily="34" charset="0"/>
              <a:buChar char="•"/>
            </a:pPr>
            <a:r>
              <a:rPr lang="zh-TW" altLang="en-US" sz="2400" dirty="0">
                <a:latin typeface="Microsoft JhengHei" panose="020B0604030504040204" pitchFamily="34" charset="-120"/>
                <a:ea typeface="Microsoft JhengHei" panose="020B0604030504040204" pitchFamily="34" charset="-120"/>
              </a:rPr>
              <a:t>下棋：對手的招數跟預想不同</a:t>
            </a:r>
            <a:endParaRPr lang="zh-TW" altLang="en-US" sz="2400" dirty="0">
              <a:latin typeface="Microsoft JhengHei" panose="020B0604030504040204" pitchFamily="34" charset="-120"/>
              <a:ea typeface="Microsoft JhengHei" panose="020B0604030504040204" pitchFamily="34" charset="-120"/>
            </a:endParaRPr>
          </a:p>
        </p:txBody>
      </p:sp>
      <p:sp>
        <p:nvSpPr>
          <p:cNvPr id="21" name="文字方塊 20"/>
          <p:cNvSpPr txBox="1"/>
          <p:nvPr/>
        </p:nvSpPr>
        <p:spPr>
          <a:xfrm>
            <a:off x="5791237" y="1539640"/>
            <a:ext cx="4971417" cy="461665"/>
          </a:xfrm>
          <a:prstGeom prst="rect">
            <a:avLst/>
          </a:prstGeom>
          <a:noFill/>
        </p:spPr>
        <p:txBody>
          <a:bodyPr wrap="square" rtlCol="0">
            <a:spAutoFit/>
          </a:bodyPr>
          <a:lstStyle/>
          <a:p>
            <a:pPr marL="285750" indent="-285750">
              <a:buFont typeface="Arial" panose="020B0604020202020204" pitchFamily="34" charset="0"/>
              <a:buChar char="•"/>
            </a:pPr>
            <a:r>
              <a:rPr lang="zh-TW" altLang="en-US" sz="2400" dirty="0">
                <a:latin typeface="Microsoft JhengHei" panose="020B0604030504040204" pitchFamily="34" charset="-120"/>
                <a:ea typeface="Microsoft JhengHei" panose="020B0604030504040204" pitchFamily="34" charset="-120"/>
              </a:rPr>
              <a:t>使用電腦：突然跳出廣告視窗</a:t>
            </a:r>
            <a:endParaRPr lang="zh-TW" altLang="en-US" sz="2400" dirty="0">
              <a:latin typeface="Microsoft JhengHei" panose="020B0604030504040204" pitchFamily="34" charset="-120"/>
              <a:ea typeface="Microsoft JhengHei" panose="020B0604030504040204" pitchFamily="34" charset="-120"/>
            </a:endParaRPr>
          </a:p>
        </p:txBody>
      </p:sp>
      <p:sp>
        <p:nvSpPr>
          <p:cNvPr id="23" name="文字方塊 22"/>
          <p:cNvSpPr txBox="1"/>
          <p:nvPr/>
        </p:nvSpPr>
        <p:spPr>
          <a:xfrm>
            <a:off x="5620215" y="2037751"/>
            <a:ext cx="5499884" cy="461665"/>
          </a:xfrm>
          <a:prstGeom prst="rect">
            <a:avLst/>
          </a:prstGeom>
          <a:noFill/>
        </p:spPr>
        <p:txBody>
          <a:bodyPr wrap="square" rtlCol="0">
            <a:spAutoFit/>
          </a:bodyPr>
          <a:lstStyle/>
          <a:p>
            <a:r>
              <a:rPr lang="zh-TW" altLang="en-US" sz="2400" dirty="0">
                <a:solidFill>
                  <a:srgbClr val="FF0000"/>
                </a:solidFill>
                <a:latin typeface="Microsoft JhengHei" panose="020B0604030504040204" pitchFamily="34" charset="-120"/>
                <a:ea typeface="Microsoft JhengHei" panose="020B0604030504040204" pitchFamily="34" charset="-120"/>
              </a:rPr>
              <a:t>與預期不同，導致原有的計畫行不通</a:t>
            </a:r>
            <a:endParaRPr lang="zh-TW" altLang="en-US" sz="2400" dirty="0">
              <a:solidFill>
                <a:srgbClr val="FF0000"/>
              </a:solidFill>
              <a:latin typeface="Microsoft JhengHei" panose="020B0604030504040204" pitchFamily="34" charset="-120"/>
              <a:ea typeface="Microsoft JhengHei" panose="020B0604030504040204" pitchFamily="34" charset="-120"/>
            </a:endParaRPr>
          </a:p>
        </p:txBody>
      </p:sp>
      <p:grpSp>
        <p:nvGrpSpPr>
          <p:cNvPr id="34" name="群組 33"/>
          <p:cNvGrpSpPr/>
          <p:nvPr/>
        </p:nvGrpSpPr>
        <p:grpSpPr>
          <a:xfrm>
            <a:off x="5961112" y="4117865"/>
            <a:ext cx="6131079" cy="969525"/>
            <a:chOff x="5543435" y="4176494"/>
            <a:chExt cx="6131079" cy="969525"/>
          </a:xfrm>
        </p:grpSpPr>
        <p:sp>
          <p:nvSpPr>
            <p:cNvPr id="26" name="語音泡泡: 圓角矩形 25"/>
            <p:cNvSpPr/>
            <p:nvPr/>
          </p:nvSpPr>
          <p:spPr>
            <a:xfrm>
              <a:off x="5543435" y="4176494"/>
              <a:ext cx="6131079" cy="969525"/>
            </a:xfrm>
            <a:prstGeom prst="wedgeRoundRectCallout">
              <a:avLst>
                <a:gd name="adj1" fmla="val -34709"/>
                <a:gd name="adj2" fmla="val -62147"/>
                <a:gd name="adj3" fmla="val 16667"/>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圓角 26"/>
            <p:cNvSpPr/>
            <p:nvPr/>
          </p:nvSpPr>
          <p:spPr>
            <a:xfrm>
              <a:off x="5811589" y="4489472"/>
              <a:ext cx="1800000" cy="360000"/>
            </a:xfrm>
            <a:prstGeom prst="roundRect">
              <a:avLst/>
            </a:prstGeom>
            <a:solidFill>
              <a:schemeClr val="accent4">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a:t>
              </a:r>
              <a:endParaRPr lang="zh-TW" altLang="en-US" sz="2400" dirty="0"/>
            </a:p>
          </p:txBody>
        </p:sp>
        <p:sp>
          <p:nvSpPr>
            <p:cNvPr id="28" name="矩形: 圓角 27"/>
            <p:cNvSpPr/>
            <p:nvPr/>
          </p:nvSpPr>
          <p:spPr>
            <a:xfrm>
              <a:off x="7682424" y="4488590"/>
              <a:ext cx="1800000" cy="360000"/>
            </a:xfrm>
            <a:prstGeom prst="roundRect">
              <a:avLst/>
            </a:prstGeom>
            <a:solidFill>
              <a:schemeClr val="accent4">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3’</a:t>
              </a:r>
              <a:endParaRPr lang="zh-TW" altLang="en-US" sz="2400" dirty="0"/>
            </a:p>
          </p:txBody>
        </p:sp>
        <p:pic>
          <p:nvPicPr>
            <p:cNvPr id="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3503" y="4296815"/>
              <a:ext cx="743550" cy="743550"/>
            </a:xfrm>
            <a:prstGeom prst="rect">
              <a:avLst/>
            </a:prstGeom>
            <a:noFill/>
            <a:extLst>
              <a:ext uri="{909E8E84-426E-40DD-AFC4-6F175D3DCCD1}">
                <a14:hiddenFill xmlns:a14="http://schemas.microsoft.com/office/drawing/2010/main">
                  <a:solidFill>
                    <a:srgbClr val="FFFFFF"/>
                  </a:solidFill>
                </a14:hiddenFill>
              </a:ext>
            </a:extLst>
          </p:spPr>
        </p:pic>
        <p:sp>
          <p:nvSpPr>
            <p:cNvPr id="33" name="箭號: 向右 32"/>
            <p:cNvSpPr/>
            <p:nvPr/>
          </p:nvSpPr>
          <p:spPr>
            <a:xfrm>
              <a:off x="9734742" y="4485976"/>
              <a:ext cx="790670" cy="360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TW" altLang="en-US"/>
            </a:p>
          </p:txBody>
        </p:sp>
      </p:grpSp>
      <p:sp>
        <p:nvSpPr>
          <p:cNvPr id="35" name="矩形: 圓角 34"/>
          <p:cNvSpPr/>
          <p:nvPr/>
        </p:nvSpPr>
        <p:spPr>
          <a:xfrm>
            <a:off x="5585821" y="3900043"/>
            <a:ext cx="849922" cy="360000"/>
          </a:xfrm>
          <a:prstGeom prst="roundRect">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plan'</a:t>
            </a:r>
            <a:endParaRPr lang="zh-TW" altLang="en-US" sz="2400" dirty="0"/>
          </a:p>
        </p:txBody>
      </p:sp>
      <p:sp>
        <p:nvSpPr>
          <p:cNvPr id="36" name="矩形: 圓角 35"/>
          <p:cNvSpPr/>
          <p:nvPr/>
        </p:nvSpPr>
        <p:spPr>
          <a:xfrm>
            <a:off x="6267578" y="2642009"/>
            <a:ext cx="849922" cy="360000"/>
          </a:xfrm>
          <a:prstGeom prst="roundRect">
            <a:avLst/>
          </a:prstGeom>
          <a:solidFill>
            <a:schemeClr val="accent6">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plan'</a:t>
            </a:r>
            <a:endParaRPr lang="zh-TW" altLang="en-US" sz="2400" dirty="0"/>
          </a:p>
        </p:txBody>
      </p:sp>
      <p:cxnSp>
        <p:nvCxnSpPr>
          <p:cNvPr id="37" name="直線單箭頭接點 36"/>
          <p:cNvCxnSpPr/>
          <p:nvPr/>
        </p:nvCxnSpPr>
        <p:spPr>
          <a:xfrm flipV="1">
            <a:off x="6656837" y="3027781"/>
            <a:ext cx="0" cy="43212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p:bldP spid="21" grpId="0"/>
      <p:bldP spid="23" grpId="0"/>
      <p:bldP spid="35" grpId="0" animBg="1"/>
      <p:bldP spid="3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語言模型有能力做計畫嗎？</a:t>
            </a:r>
            <a:endParaRPr lang="zh-TW" altLang="en-US" dirty="0">
              <a:latin typeface="Microsoft JhengHei" panose="020B0604030504040204" pitchFamily="34" charset="-120"/>
              <a:ea typeface="Microsoft JhengHei" panose="020B0604030504040204" pitchFamily="34" charset="-120"/>
            </a:endParaRPr>
          </a:p>
        </p:txBody>
      </p:sp>
      <p:pic>
        <p:nvPicPr>
          <p:cNvPr id="5" name="圖片 4"/>
          <p:cNvPicPr>
            <a:picLocks noChangeAspect="1"/>
          </p:cNvPicPr>
          <p:nvPr/>
        </p:nvPicPr>
        <p:blipFill>
          <a:blip r:embed="rId1"/>
          <a:stretch>
            <a:fillRect/>
          </a:stretch>
        </p:blipFill>
        <p:spPr>
          <a:xfrm>
            <a:off x="4457386" y="1509665"/>
            <a:ext cx="7440552" cy="1119235"/>
          </a:xfrm>
          <a:prstGeom prst="rect">
            <a:avLst/>
          </a:prstGeom>
        </p:spPr>
      </p:pic>
      <p:sp>
        <p:nvSpPr>
          <p:cNvPr id="6" name="文字方塊 5"/>
          <p:cNvSpPr txBox="1"/>
          <p:nvPr/>
        </p:nvSpPr>
        <p:spPr>
          <a:xfrm>
            <a:off x="3085786" y="2069282"/>
            <a:ext cx="1371600" cy="461665"/>
          </a:xfrm>
          <a:prstGeom prst="rect">
            <a:avLst/>
          </a:prstGeom>
          <a:noFill/>
        </p:spPr>
        <p:txBody>
          <a:bodyPr wrap="square" rtlCol="0">
            <a:spAutoFit/>
          </a:bodyPr>
          <a:lstStyle/>
          <a:p>
            <a:pPr algn="r"/>
            <a:r>
              <a:rPr lang="en-US" altLang="zh-TW" sz="2400" dirty="0"/>
              <a:t>gpt-4o</a:t>
            </a:r>
            <a:endParaRPr lang="zh-TW" altLang="en-US" sz="2400" dirty="0"/>
          </a:p>
        </p:txBody>
      </p:sp>
      <p:pic>
        <p:nvPicPr>
          <p:cNvPr id="8" name="圖片 7"/>
          <p:cNvPicPr>
            <a:picLocks noChangeAspect="1"/>
          </p:cNvPicPr>
          <p:nvPr/>
        </p:nvPicPr>
        <p:blipFill>
          <a:blip r:embed="rId2"/>
          <a:stretch>
            <a:fillRect/>
          </a:stretch>
        </p:blipFill>
        <p:spPr>
          <a:xfrm>
            <a:off x="287252" y="2732586"/>
            <a:ext cx="8519345" cy="4125413"/>
          </a:xfrm>
          <a:prstGeom prst="rect">
            <a:avLst/>
          </a:prstGeom>
        </p:spPr>
      </p:pic>
      <p:pic>
        <p:nvPicPr>
          <p:cNvPr id="10" name="圖片 9"/>
          <p:cNvPicPr>
            <a:picLocks noChangeAspect="1"/>
          </p:cNvPicPr>
          <p:nvPr/>
        </p:nvPicPr>
        <p:blipFill>
          <a:blip r:embed="rId3"/>
          <a:stretch>
            <a:fillRect/>
          </a:stretch>
        </p:blipFill>
        <p:spPr>
          <a:xfrm>
            <a:off x="2322082" y="2670532"/>
            <a:ext cx="8519345" cy="3686020"/>
          </a:xfrm>
          <a:prstGeom prst="rect">
            <a:avLst/>
          </a:prstGeom>
        </p:spPr>
      </p:pic>
      <p:pic>
        <p:nvPicPr>
          <p:cNvPr id="12" name="圖片 11"/>
          <p:cNvPicPr>
            <a:picLocks noChangeAspect="1"/>
          </p:cNvPicPr>
          <p:nvPr/>
        </p:nvPicPr>
        <p:blipFill>
          <a:blip r:embed="rId4"/>
          <a:stretch>
            <a:fillRect/>
          </a:stretch>
        </p:blipFill>
        <p:spPr>
          <a:xfrm>
            <a:off x="4226281" y="2707320"/>
            <a:ext cx="8749424" cy="4229099"/>
          </a:xfrm>
          <a:prstGeom prst="rect">
            <a:avLst/>
          </a:prstGeom>
        </p:spPr>
      </p:pic>
      <p:pic>
        <p:nvPicPr>
          <p:cNvPr id="14" name="圖片 13"/>
          <p:cNvPicPr>
            <a:picLocks noChangeAspect="1"/>
          </p:cNvPicPr>
          <p:nvPr/>
        </p:nvPicPr>
        <p:blipFill>
          <a:blip r:embed="rId5"/>
          <a:stretch>
            <a:fillRect/>
          </a:stretch>
        </p:blipFill>
        <p:spPr>
          <a:xfrm>
            <a:off x="5969497" y="2647888"/>
            <a:ext cx="9563251" cy="409853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descr="一張含有 文字, 螢幕擷取畫面, 字型, 數字 的圖片&#10;&#10;自動產生的描述"/>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62402" y="101162"/>
            <a:ext cx="8090708" cy="5287628"/>
          </a:xfrm>
          <a:prstGeom prst="rect">
            <a:avLst/>
          </a:prstGeom>
        </p:spPr>
      </p:pic>
      <p:pic>
        <p:nvPicPr>
          <p:cNvPr id="11" name="內容版面配置區 7" descr="一張含有 文字, 螢幕擷取畫面, 字型, 行 的圖片&#10;&#10;自動產生的描述"/>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283" y="1164148"/>
            <a:ext cx="3487119" cy="3161655"/>
          </a:xfrm>
          <a:prstGeom prst="rect">
            <a:avLst/>
          </a:prstGeom>
        </p:spPr>
      </p:pic>
      <p:sp>
        <p:nvSpPr>
          <p:cNvPr id="3" name="文字方塊 2"/>
          <p:cNvSpPr txBox="1"/>
          <p:nvPr/>
        </p:nvSpPr>
        <p:spPr>
          <a:xfrm>
            <a:off x="457526" y="356354"/>
            <a:ext cx="6096000" cy="369332"/>
          </a:xfrm>
          <a:prstGeom prst="rect">
            <a:avLst/>
          </a:prstGeom>
          <a:noFill/>
        </p:spPr>
        <p:txBody>
          <a:bodyPr wrap="square">
            <a:spAutoFit/>
          </a:bodyPr>
          <a:lstStyle/>
          <a:p>
            <a:r>
              <a:rPr lang="zh-TW" altLang="en-US" dirty="0"/>
              <a:t>https://arxiv.org/abs/2201.07207</a:t>
            </a:r>
            <a:endParaRPr lang="zh-TW" altLang="en-US" dirty="0"/>
          </a:p>
        </p:txBody>
      </p:sp>
      <p:pic>
        <p:nvPicPr>
          <p:cNvPr id="4" name="圖片 3" descr="一張含有 文字, 螢幕擷取畫面, 拼貼畫 的圖片&#10;&#10;自動產生的描述"/>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710" y="4545389"/>
            <a:ext cx="11586580" cy="221144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圖片 15"/>
          <p:cNvPicPr>
            <a:picLocks noChangeAspect="1"/>
          </p:cNvPicPr>
          <p:nvPr/>
        </p:nvPicPr>
        <p:blipFill>
          <a:blip r:embed="rId1"/>
          <a:stretch>
            <a:fillRect/>
          </a:stretch>
        </p:blipFill>
        <p:spPr>
          <a:xfrm>
            <a:off x="7784674" y="1051738"/>
            <a:ext cx="3429479" cy="1857634"/>
          </a:xfrm>
          <a:prstGeom prst="rect">
            <a:avLst/>
          </a:prstGeom>
        </p:spPr>
      </p:pic>
      <p:sp>
        <p:nvSpPr>
          <p:cNvPr id="2" name="標題 1"/>
          <p:cNvSpPr>
            <a:spLocks noGrp="1"/>
          </p:cNvSpPr>
          <p:nvPr>
            <p:ph type="title"/>
          </p:nvPr>
        </p:nvSpPr>
        <p:spPr/>
        <p:txBody>
          <a:bodyPr/>
          <a:lstStyle/>
          <a:p>
            <a:r>
              <a:rPr lang="en-US" altLang="zh-TW" dirty="0" err="1"/>
              <a:t>PlanBench</a:t>
            </a:r>
            <a:endParaRPr lang="zh-TW" altLang="en-US" dirty="0"/>
          </a:p>
        </p:txBody>
      </p:sp>
      <p:sp>
        <p:nvSpPr>
          <p:cNvPr id="7" name="文字方塊 6"/>
          <p:cNvSpPr txBox="1"/>
          <p:nvPr/>
        </p:nvSpPr>
        <p:spPr>
          <a:xfrm>
            <a:off x="3749828" y="681037"/>
            <a:ext cx="6091084" cy="646331"/>
          </a:xfrm>
          <a:prstGeom prst="rect">
            <a:avLst/>
          </a:prstGeom>
          <a:noFill/>
        </p:spPr>
        <p:txBody>
          <a:bodyPr wrap="square">
            <a:spAutoFit/>
          </a:bodyPr>
          <a:lstStyle/>
          <a:p>
            <a:r>
              <a:rPr lang="en-US" altLang="zh-TW" dirty="0"/>
              <a:t>https://arxiv.org/abs/2206.10498</a:t>
            </a:r>
            <a:endParaRPr lang="en-US" altLang="zh-TW" dirty="0"/>
          </a:p>
          <a:p>
            <a:r>
              <a:rPr lang="en-US" altLang="zh-TW" dirty="0"/>
              <a:t>https://arxiv.org/abs/2305.15771</a:t>
            </a:r>
            <a:endParaRPr lang="en-US" altLang="zh-TW" dirty="0"/>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9296" y="3041635"/>
            <a:ext cx="1619842" cy="1619843"/>
          </a:xfrm>
          <a:prstGeom prst="rect">
            <a:avLst/>
          </a:prstGeom>
          <a:noFill/>
          <a:extLst>
            <a:ext uri="{909E8E84-426E-40DD-AFC4-6F175D3DCCD1}">
              <a14:hiddenFill xmlns:a14="http://schemas.microsoft.com/office/drawing/2010/main">
                <a:solidFill>
                  <a:srgbClr val="FFFFFF"/>
                </a:solidFill>
              </a14:hiddenFill>
            </a:ext>
          </a:extLst>
        </p:spPr>
      </p:pic>
      <p:sp>
        <p:nvSpPr>
          <p:cNvPr id="11" name="文字方塊 10"/>
          <p:cNvSpPr txBox="1"/>
          <p:nvPr/>
        </p:nvSpPr>
        <p:spPr>
          <a:xfrm>
            <a:off x="509403" y="2283069"/>
            <a:ext cx="3806371" cy="1477328"/>
          </a:xfrm>
          <a:prstGeom prst="rect">
            <a:avLst/>
          </a:prstGeom>
          <a:noFill/>
        </p:spPr>
        <p:txBody>
          <a:bodyPr wrap="square">
            <a:spAutoFit/>
          </a:bodyPr>
          <a:lstStyle/>
          <a:p>
            <a:r>
              <a:rPr lang="zh-TW" altLang="en-US" dirty="0">
                <a:latin typeface="Microsoft JhengHei" panose="020B0604030504040204" pitchFamily="34" charset="-120"/>
                <a:ea typeface="Microsoft JhengHei" panose="020B0604030504040204" pitchFamily="34" charset="-120"/>
              </a:rPr>
              <a:t>可以執行的操作： </a:t>
            </a:r>
            <a:endParaRPr lang="en-US" altLang="zh-TW" dirty="0">
              <a:latin typeface="Microsoft JhengHei" panose="020B0604030504040204" pitchFamily="34" charset="-120"/>
              <a:ea typeface="Microsoft JhengHei" panose="020B0604030504040204" pitchFamily="34" charset="-120"/>
            </a:endParaRPr>
          </a:p>
          <a:p>
            <a:pPr marL="342900" indent="-342900">
              <a:buAutoNum type="arabicPeriod"/>
            </a:pPr>
            <a:r>
              <a:rPr lang="zh-TW" altLang="en-US" dirty="0">
                <a:latin typeface="Microsoft JhengHei" panose="020B0604030504040204" pitchFamily="34" charset="-120"/>
                <a:ea typeface="Microsoft JhengHei" panose="020B0604030504040204" pitchFamily="34" charset="-120"/>
              </a:rPr>
              <a:t>從桌上拿起一個積木 </a:t>
            </a:r>
            <a:endParaRPr lang="en-US" altLang="zh-TW" dirty="0">
              <a:latin typeface="Microsoft JhengHei" panose="020B0604030504040204" pitchFamily="34" charset="-120"/>
              <a:ea typeface="Microsoft JhengHei" panose="020B0604030504040204" pitchFamily="34" charset="-120"/>
            </a:endParaRPr>
          </a:p>
          <a:p>
            <a:pPr marL="342900" indent="-342900">
              <a:buAutoNum type="arabicPeriod"/>
            </a:pPr>
            <a:r>
              <a:rPr lang="zh-TW" altLang="en-US" dirty="0">
                <a:latin typeface="Microsoft JhengHei" panose="020B0604030504040204" pitchFamily="34" charset="-120"/>
                <a:ea typeface="Microsoft JhengHei" panose="020B0604030504040204" pitchFamily="34" charset="-120"/>
              </a:rPr>
              <a:t>從另一個積木上拿起另一個積木 </a:t>
            </a:r>
            <a:endParaRPr lang="en-US" altLang="zh-TW" dirty="0">
              <a:latin typeface="Microsoft JhengHei" panose="020B0604030504040204" pitchFamily="34" charset="-120"/>
              <a:ea typeface="Microsoft JhengHei" panose="020B0604030504040204" pitchFamily="34" charset="-120"/>
            </a:endParaRPr>
          </a:p>
          <a:p>
            <a:pPr marL="342900" indent="-342900">
              <a:buAutoNum type="arabicPeriod"/>
            </a:pPr>
            <a:r>
              <a:rPr lang="zh-TW" altLang="en-US" dirty="0">
                <a:latin typeface="Microsoft JhengHei" panose="020B0604030504040204" pitchFamily="34" charset="-120"/>
                <a:ea typeface="Microsoft JhengHei" panose="020B0604030504040204" pitchFamily="34" charset="-120"/>
              </a:rPr>
              <a:t>把積木放到桌上 </a:t>
            </a:r>
            <a:endParaRPr lang="en-US" altLang="zh-TW" dirty="0">
              <a:latin typeface="Microsoft JhengHei" panose="020B0604030504040204" pitchFamily="34" charset="-120"/>
              <a:ea typeface="Microsoft JhengHei" panose="020B0604030504040204" pitchFamily="34" charset="-120"/>
            </a:endParaRPr>
          </a:p>
          <a:p>
            <a:pPr marL="342900" indent="-342900">
              <a:buAutoNum type="arabicPeriod"/>
            </a:pPr>
            <a:r>
              <a:rPr lang="zh-TW" altLang="en-US" dirty="0">
                <a:latin typeface="Microsoft JhengHei" panose="020B0604030504040204" pitchFamily="34" charset="-120"/>
                <a:ea typeface="Microsoft JhengHei" panose="020B0604030504040204" pitchFamily="34" charset="-120"/>
              </a:rPr>
              <a:t>將一個積木堆在另一個積木上 </a:t>
            </a:r>
            <a:endParaRPr lang="zh-TW" altLang="en-US" dirty="0">
              <a:latin typeface="Microsoft JhengHei" panose="020B0604030504040204" pitchFamily="34" charset="-120"/>
              <a:ea typeface="Microsoft JhengHei" panose="020B0604030504040204" pitchFamily="34" charset="-120"/>
            </a:endParaRPr>
          </a:p>
        </p:txBody>
      </p:sp>
      <p:sp>
        <p:nvSpPr>
          <p:cNvPr id="13" name="文字方塊 12"/>
          <p:cNvSpPr txBox="1"/>
          <p:nvPr/>
        </p:nvSpPr>
        <p:spPr>
          <a:xfrm>
            <a:off x="509403" y="3934122"/>
            <a:ext cx="4107542" cy="923330"/>
          </a:xfrm>
          <a:prstGeom prst="rect">
            <a:avLst/>
          </a:prstGeom>
          <a:noFill/>
        </p:spPr>
        <p:txBody>
          <a:bodyPr wrap="square">
            <a:spAutoFit/>
          </a:bodyPr>
          <a:lstStyle/>
          <a:p>
            <a:r>
              <a:rPr lang="zh-TW" altLang="en-US" dirty="0">
                <a:latin typeface="Microsoft JhengHei" panose="020B0604030504040204" pitchFamily="34" charset="-120"/>
                <a:ea typeface="Microsoft JhengHei" panose="020B0604030504040204" pitchFamily="34" charset="-120"/>
              </a:rPr>
              <a:t>初始狀態：藍色積木在橘色積木的上面，紅色積木在桌子上，橘色積木在桌子上，黃色積木也在桌子上。</a:t>
            </a:r>
            <a:endParaRPr lang="zh-TW" altLang="en-US" dirty="0">
              <a:latin typeface="Microsoft JhengHei" panose="020B0604030504040204" pitchFamily="34" charset="-120"/>
              <a:ea typeface="Microsoft JhengHei" panose="020B0604030504040204" pitchFamily="34" charset="-120"/>
            </a:endParaRPr>
          </a:p>
        </p:txBody>
      </p:sp>
      <p:sp>
        <p:nvSpPr>
          <p:cNvPr id="14" name="文字方塊 13"/>
          <p:cNvSpPr txBox="1"/>
          <p:nvPr/>
        </p:nvSpPr>
        <p:spPr>
          <a:xfrm>
            <a:off x="509403" y="5021042"/>
            <a:ext cx="4107542" cy="369332"/>
          </a:xfrm>
          <a:prstGeom prst="rect">
            <a:avLst/>
          </a:prstGeom>
          <a:noFill/>
        </p:spPr>
        <p:txBody>
          <a:bodyPr wrap="square">
            <a:spAutoFit/>
          </a:bodyPr>
          <a:lstStyle/>
          <a:p>
            <a:r>
              <a:rPr lang="zh-TW" altLang="en-US" dirty="0">
                <a:latin typeface="Microsoft JhengHei" panose="020B0604030504040204" pitchFamily="34" charset="-120"/>
                <a:ea typeface="Microsoft JhengHei" panose="020B0604030504040204" pitchFamily="34" charset="-120"/>
              </a:rPr>
              <a:t>目標：讓橘色積木放置在藍色積木上。</a:t>
            </a:r>
            <a:endParaRPr lang="zh-TW" altLang="en-US" dirty="0">
              <a:latin typeface="Microsoft JhengHei" panose="020B0604030504040204" pitchFamily="34" charset="-120"/>
              <a:ea typeface="Microsoft JhengHei" panose="020B0604030504040204" pitchFamily="34" charset="-120"/>
            </a:endParaRPr>
          </a:p>
        </p:txBody>
      </p:sp>
      <p:sp>
        <p:nvSpPr>
          <p:cNvPr id="19" name="文字方塊 18"/>
          <p:cNvSpPr txBox="1"/>
          <p:nvPr/>
        </p:nvSpPr>
        <p:spPr>
          <a:xfrm>
            <a:off x="7924321" y="3402112"/>
            <a:ext cx="4478216" cy="1200329"/>
          </a:xfrm>
          <a:prstGeom prst="rect">
            <a:avLst/>
          </a:prstGeom>
          <a:noFill/>
        </p:spPr>
        <p:txBody>
          <a:bodyPr wrap="square">
            <a:spAutoFit/>
          </a:bodyPr>
          <a:lstStyle/>
          <a:p>
            <a:pPr marL="342900" indent="-342900">
              <a:buAutoNum type="arabicPeriod"/>
            </a:pPr>
            <a:r>
              <a:rPr lang="zh-TW" altLang="en-US" dirty="0">
                <a:latin typeface="Microsoft JhengHei" panose="020B0604030504040204" pitchFamily="34" charset="-120"/>
                <a:ea typeface="Microsoft JhengHei" panose="020B0604030504040204" pitchFamily="34" charset="-120"/>
              </a:rPr>
              <a:t>將藍色積木從橘色積木上取下</a:t>
            </a:r>
            <a:endParaRPr lang="en-US" altLang="zh-TW" dirty="0">
              <a:latin typeface="Microsoft JhengHei" panose="020B0604030504040204" pitchFamily="34" charset="-120"/>
              <a:ea typeface="Microsoft JhengHei" panose="020B0604030504040204" pitchFamily="34" charset="-120"/>
            </a:endParaRPr>
          </a:p>
          <a:p>
            <a:pPr marL="342900" indent="-342900">
              <a:buAutoNum type="arabicPeriod"/>
            </a:pPr>
            <a:r>
              <a:rPr lang="zh-TW" altLang="en-US" dirty="0">
                <a:latin typeface="Microsoft JhengHei" panose="020B0604030504040204" pitchFamily="34" charset="-120"/>
                <a:ea typeface="Microsoft JhengHei" panose="020B0604030504040204" pitchFamily="34" charset="-120"/>
              </a:rPr>
              <a:t>將藍色積木放在桌子上</a:t>
            </a:r>
            <a:endParaRPr lang="en-US" altLang="zh-TW" dirty="0">
              <a:latin typeface="Microsoft JhengHei" panose="020B0604030504040204" pitchFamily="34" charset="-120"/>
              <a:ea typeface="Microsoft JhengHei" panose="020B0604030504040204" pitchFamily="34" charset="-120"/>
            </a:endParaRPr>
          </a:p>
          <a:p>
            <a:pPr marL="342900" indent="-342900">
              <a:buAutoNum type="arabicPeriod"/>
            </a:pPr>
            <a:r>
              <a:rPr lang="zh-TW" altLang="en-US" dirty="0">
                <a:latin typeface="Microsoft JhengHei" panose="020B0604030504040204" pitchFamily="34" charset="-120"/>
                <a:ea typeface="Microsoft JhengHei" panose="020B0604030504040204" pitchFamily="34" charset="-120"/>
              </a:rPr>
              <a:t>從桌上拿起橘色積木</a:t>
            </a:r>
            <a:endParaRPr lang="en-US" altLang="zh-TW" dirty="0">
              <a:latin typeface="Microsoft JhengHei" panose="020B0604030504040204" pitchFamily="34" charset="-120"/>
              <a:ea typeface="Microsoft JhengHei" panose="020B0604030504040204" pitchFamily="34" charset="-120"/>
            </a:endParaRPr>
          </a:p>
          <a:p>
            <a:pPr marL="342900" indent="-342900">
              <a:buAutoNum type="arabicPeriod"/>
            </a:pPr>
            <a:r>
              <a:rPr lang="zh-TW" altLang="en-US" dirty="0">
                <a:latin typeface="Microsoft JhengHei" panose="020B0604030504040204" pitchFamily="34" charset="-120"/>
                <a:ea typeface="Microsoft JhengHei" panose="020B0604030504040204" pitchFamily="34" charset="-120"/>
              </a:rPr>
              <a:t>將橘色積木堆放在藍色積木的上方</a:t>
            </a:r>
            <a:endParaRPr lang="zh-TW" altLang="en-US" dirty="0">
              <a:latin typeface="Microsoft JhengHei" panose="020B0604030504040204" pitchFamily="34" charset="-120"/>
              <a:ea typeface="Microsoft JhengHei" panose="020B0604030504040204" pitchFamily="34" charset="-120"/>
            </a:endParaRPr>
          </a:p>
        </p:txBody>
      </p:sp>
      <p:sp>
        <p:nvSpPr>
          <p:cNvPr id="27" name="矩形: 圓角 26"/>
          <p:cNvSpPr/>
          <p:nvPr/>
        </p:nvSpPr>
        <p:spPr>
          <a:xfrm>
            <a:off x="235969" y="2089165"/>
            <a:ext cx="4593939" cy="3550138"/>
          </a:xfrm>
          <a:prstGeom prst="roundRect">
            <a:avLst>
              <a:gd name="adj" fmla="val 10509"/>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圓角 27"/>
          <p:cNvSpPr/>
          <p:nvPr/>
        </p:nvSpPr>
        <p:spPr>
          <a:xfrm>
            <a:off x="7784674" y="3272692"/>
            <a:ext cx="4196312" cy="1388786"/>
          </a:xfrm>
          <a:prstGeom prst="roundRect">
            <a:avLst>
              <a:gd name="adj" fmla="val 10509"/>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0" name="直線單箭頭接點 29"/>
          <p:cNvCxnSpPr/>
          <p:nvPr/>
        </p:nvCxnSpPr>
        <p:spPr>
          <a:xfrm>
            <a:off x="4829908" y="3936355"/>
            <a:ext cx="71099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p:nvPr/>
        </p:nvCxnSpPr>
        <p:spPr>
          <a:xfrm>
            <a:off x="7285247" y="3981014"/>
            <a:ext cx="49942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5540901" y="5390374"/>
            <a:ext cx="6141696" cy="523220"/>
          </a:xfrm>
          <a:prstGeom prst="rect">
            <a:avLst/>
          </a:prstGeom>
          <a:noFill/>
        </p:spPr>
        <p:txBody>
          <a:bodyPr wrap="square" rtlCol="0">
            <a:spAutoFit/>
          </a:bodyPr>
          <a:lstStyle/>
          <a:p>
            <a:r>
              <a:rPr lang="zh-TW" altLang="en-US" sz="2800" b="1" dirty="0">
                <a:latin typeface="Microsoft JhengHei" panose="020B0604030504040204" pitchFamily="34" charset="-120"/>
                <a:ea typeface="Microsoft JhengHei" panose="020B0604030504040204" pitchFamily="34" charset="-120"/>
              </a:rPr>
              <a:t>會不會 </a:t>
            </a:r>
            <a:r>
              <a:rPr lang="en-US" altLang="zh-TW" sz="2800" b="1" dirty="0">
                <a:latin typeface="Microsoft JhengHei" panose="020B0604030504040204" pitchFamily="34" charset="-120"/>
                <a:ea typeface="Microsoft JhengHei" panose="020B0604030504040204" pitchFamily="34" charset="-120"/>
              </a:rPr>
              <a:t>LLM</a:t>
            </a:r>
            <a:r>
              <a:rPr lang="zh-TW" altLang="en-US" sz="2800" b="1" dirty="0">
                <a:latin typeface="Microsoft JhengHei" panose="020B0604030504040204" pitchFamily="34" charset="-120"/>
                <a:ea typeface="Microsoft JhengHei" panose="020B0604030504040204" pitchFamily="34" charset="-120"/>
              </a:rPr>
              <a:t> 早就看過類似的題目了？</a:t>
            </a:r>
            <a:endParaRPr lang="zh-TW" altLang="en-US" sz="2800" b="1"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8" grpId="0" animBg="1"/>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PlanBench</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文字方塊 3"/>
          <p:cNvSpPr txBox="1"/>
          <p:nvPr/>
        </p:nvSpPr>
        <p:spPr>
          <a:xfrm>
            <a:off x="3749828" y="681037"/>
            <a:ext cx="6091084" cy="646331"/>
          </a:xfrm>
          <a:prstGeom prst="rect">
            <a:avLst/>
          </a:prstGeom>
          <a:noFill/>
        </p:spPr>
        <p:txBody>
          <a:bodyPr wrap="square">
            <a:spAutoFit/>
          </a:bodyPr>
          <a:lstStyle/>
          <a:p>
            <a:r>
              <a:rPr lang="en-US" altLang="zh-TW" dirty="0"/>
              <a:t>https://arxiv.org/abs/2206.10498</a:t>
            </a:r>
            <a:endParaRPr lang="en-US" altLang="zh-TW" dirty="0"/>
          </a:p>
          <a:p>
            <a:r>
              <a:rPr lang="en-US" altLang="zh-TW" dirty="0"/>
              <a:t>https://arxiv.org/abs/2305.15771</a:t>
            </a:r>
            <a:endParaRPr lang="en-US" altLang="zh-TW" dirty="0"/>
          </a:p>
        </p:txBody>
      </p:sp>
      <p:pic>
        <p:nvPicPr>
          <p:cNvPr id="5" name="圖片 4"/>
          <p:cNvPicPr>
            <a:picLocks noChangeAspect="1"/>
          </p:cNvPicPr>
          <p:nvPr/>
        </p:nvPicPr>
        <p:blipFill>
          <a:blip r:embed="rId1"/>
          <a:stretch>
            <a:fillRect/>
          </a:stretch>
        </p:blipFill>
        <p:spPr>
          <a:xfrm>
            <a:off x="875117" y="-55563"/>
            <a:ext cx="10478683" cy="6858000"/>
          </a:xfrm>
          <a:prstGeom prst="rect">
            <a:avLst/>
          </a:prstGeom>
        </p:spPr>
      </p:pic>
      <p:sp>
        <p:nvSpPr>
          <p:cNvPr id="6" name="文字方塊 5"/>
          <p:cNvSpPr txBox="1"/>
          <p:nvPr/>
        </p:nvSpPr>
        <p:spPr>
          <a:xfrm>
            <a:off x="7219950" y="1327368"/>
            <a:ext cx="2620962" cy="461665"/>
          </a:xfrm>
          <a:prstGeom prst="rect">
            <a:avLst/>
          </a:prstGeom>
          <a:noFill/>
        </p:spPr>
        <p:txBody>
          <a:bodyPr wrap="square" rtlCol="0">
            <a:spAutoFit/>
          </a:bodyPr>
          <a:lstStyle/>
          <a:p>
            <a:r>
              <a:rPr lang="zh-TW" altLang="en-US" sz="2400" b="1" u="sng" dirty="0">
                <a:latin typeface="Microsoft JhengHei" panose="020B0604030504040204" pitchFamily="34" charset="-120"/>
                <a:ea typeface="Microsoft JhengHei" panose="020B0604030504040204" pitchFamily="34" charset="-120"/>
              </a:rPr>
              <a:t>神秘方塊世界</a:t>
            </a:r>
            <a:endParaRPr lang="zh-TW" altLang="en-US" sz="2400" b="1" u="sng" dirty="0">
              <a:latin typeface="Microsoft JhengHei" panose="020B0604030504040204" pitchFamily="34" charset="-120"/>
              <a:ea typeface="Microsoft JhengHei" panose="020B0604030504040204" pitchFamily="34" charset="-120"/>
            </a:endParaRPr>
          </a:p>
        </p:txBody>
      </p:sp>
      <p:sp>
        <p:nvSpPr>
          <p:cNvPr id="7" name="文字方塊 6"/>
          <p:cNvSpPr txBox="1"/>
          <p:nvPr/>
        </p:nvSpPr>
        <p:spPr>
          <a:xfrm>
            <a:off x="2946992" y="991632"/>
            <a:ext cx="1104900"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攻擊</a:t>
            </a:r>
            <a:endParaRPr lang="zh-TW" altLang="en-US" dirty="0">
              <a:latin typeface="Microsoft JhengHei" panose="020B0604030504040204" pitchFamily="34" charset="-120"/>
              <a:ea typeface="Microsoft JhengHei" panose="020B0604030504040204" pitchFamily="34" charset="-120"/>
            </a:endParaRPr>
          </a:p>
        </p:txBody>
      </p:sp>
      <p:sp>
        <p:nvSpPr>
          <p:cNvPr id="8" name="文字方塊 7"/>
          <p:cNvSpPr txBox="1"/>
          <p:nvPr/>
        </p:nvSpPr>
        <p:spPr>
          <a:xfrm>
            <a:off x="4715795" y="1204159"/>
            <a:ext cx="1104900"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吞噬</a:t>
            </a:r>
            <a:endParaRPr lang="zh-TW" altLang="en-US" dirty="0">
              <a:latin typeface="Microsoft JhengHei" panose="020B0604030504040204" pitchFamily="34" charset="-120"/>
              <a:ea typeface="Microsoft JhengHei" panose="020B0604030504040204" pitchFamily="34" charset="-120"/>
            </a:endParaRPr>
          </a:p>
        </p:txBody>
      </p:sp>
      <p:sp>
        <p:nvSpPr>
          <p:cNvPr id="9" name="文字方塊 8"/>
          <p:cNvSpPr txBox="1"/>
          <p:nvPr/>
        </p:nvSpPr>
        <p:spPr>
          <a:xfrm>
            <a:off x="1020424" y="1419701"/>
            <a:ext cx="1104900"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屈服</a:t>
            </a:r>
            <a:endParaRPr lang="zh-TW" altLang="en-US" dirty="0">
              <a:latin typeface="Microsoft JhengHei" panose="020B0604030504040204" pitchFamily="34" charset="-120"/>
              <a:ea typeface="Microsoft JhengHei" panose="020B0604030504040204" pitchFamily="34" charset="-120"/>
            </a:endParaRPr>
          </a:p>
        </p:txBody>
      </p:sp>
      <p:sp>
        <p:nvSpPr>
          <p:cNvPr id="10" name="文字方塊 9"/>
          <p:cNvSpPr txBox="1"/>
          <p:nvPr/>
        </p:nvSpPr>
        <p:spPr>
          <a:xfrm>
            <a:off x="4991100" y="1665824"/>
            <a:ext cx="1104900" cy="369332"/>
          </a:xfrm>
          <a:prstGeom prst="rect">
            <a:avLst/>
          </a:prstGeom>
          <a:noFill/>
        </p:spPr>
        <p:txBody>
          <a:bodyPr wrap="square" rtlCol="0">
            <a:spAutoFit/>
          </a:bodyPr>
          <a:lstStyle/>
          <a:p>
            <a:r>
              <a:rPr lang="zh-TW" altLang="en-US" dirty="0">
                <a:latin typeface="Microsoft JhengHei" panose="020B0604030504040204" pitchFamily="34" charset="-120"/>
                <a:ea typeface="Microsoft JhengHei" panose="020B0604030504040204" pitchFamily="34" charset="-120"/>
              </a:rPr>
              <a:t>征服</a:t>
            </a:r>
            <a:endParaRPr lang="zh-TW" altLang="en-US"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1"/>
          <a:stretch>
            <a:fillRect/>
          </a:stretch>
        </p:blipFill>
        <p:spPr>
          <a:xfrm>
            <a:off x="631630" y="102734"/>
            <a:ext cx="10928739" cy="6492875"/>
          </a:xfrm>
          <a:prstGeom prst="rect">
            <a:avLst/>
          </a:prstGeom>
        </p:spPr>
      </p:pic>
      <p:sp>
        <p:nvSpPr>
          <p:cNvPr id="7" name="文字方塊 6"/>
          <p:cNvSpPr txBox="1"/>
          <p:nvPr/>
        </p:nvSpPr>
        <p:spPr>
          <a:xfrm>
            <a:off x="6095999" y="1456293"/>
            <a:ext cx="2425700" cy="369332"/>
          </a:xfrm>
          <a:prstGeom prst="rect">
            <a:avLst/>
          </a:prstGeom>
          <a:noFill/>
        </p:spPr>
        <p:txBody>
          <a:bodyPr wrap="square">
            <a:spAutoFit/>
          </a:bodyPr>
          <a:lstStyle/>
          <a:p>
            <a:r>
              <a:rPr lang="en-US" altLang="zh-TW"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讓物件 </a:t>
            </a:r>
            <a:r>
              <a:rPr lang="en-US" altLang="zh-TW" dirty="0">
                <a:latin typeface="Microsoft JhengHei" panose="020B0604030504040204" pitchFamily="34" charset="-120"/>
                <a:ea typeface="Microsoft JhengHei" panose="020B0604030504040204" pitchFamily="34" charset="-120"/>
              </a:rPr>
              <a:t>c </a:t>
            </a:r>
            <a:r>
              <a:rPr lang="zh-TW" altLang="en-US" dirty="0">
                <a:latin typeface="Microsoft JhengHei" panose="020B0604030504040204" pitchFamily="34" charset="-120"/>
                <a:ea typeface="Microsoft JhengHei" panose="020B0604030504040204" pitchFamily="34" charset="-120"/>
              </a:rPr>
              <a:t>渴望物件 </a:t>
            </a:r>
            <a:r>
              <a:rPr lang="en-US" altLang="zh-TW" dirty="0">
                <a:latin typeface="Microsoft JhengHei" panose="020B0604030504040204" pitchFamily="34" charset="-120"/>
                <a:ea typeface="Microsoft JhengHei" panose="020B0604030504040204" pitchFamily="34" charset="-120"/>
              </a:rPr>
              <a:t>a)</a:t>
            </a:r>
            <a:endParaRPr lang="zh-TW" altLang="en-US"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endParaRPr lang="en-US" altLang="zh-TW" dirty="0"/>
          </a:p>
          <a:p>
            <a:pPr marL="0" indent="0">
              <a:buNone/>
            </a:pPr>
            <a:endParaRPr lang="en-US" altLang="zh-TW" dirty="0"/>
          </a:p>
          <a:p>
            <a:endParaRPr lang="en-US" altLang="zh-TW" dirty="0"/>
          </a:p>
          <a:p>
            <a:endParaRPr lang="en-US" altLang="zh-TW" dirty="0"/>
          </a:p>
          <a:p>
            <a:endParaRPr lang="en-US" altLang="zh-TW" dirty="0"/>
          </a:p>
          <a:p>
            <a:endParaRPr lang="zh-TW" altLang="en-US" dirty="0"/>
          </a:p>
        </p:txBody>
      </p:sp>
      <p:pic>
        <p:nvPicPr>
          <p:cNvPr id="7" name="圖片 6"/>
          <p:cNvPicPr>
            <a:picLocks noChangeAspect="1"/>
          </p:cNvPicPr>
          <p:nvPr/>
        </p:nvPicPr>
        <p:blipFill>
          <a:blip r:embed="rId1"/>
          <a:stretch>
            <a:fillRect/>
          </a:stretch>
        </p:blipFill>
        <p:spPr>
          <a:xfrm>
            <a:off x="1184628" y="348457"/>
            <a:ext cx="10169172" cy="5828506"/>
          </a:xfrm>
          <a:prstGeom prst="rect">
            <a:avLst/>
          </a:prstGeom>
        </p:spPr>
      </p:pic>
      <p:sp>
        <p:nvSpPr>
          <p:cNvPr id="8" name="文字方塊 7"/>
          <p:cNvSpPr txBox="1"/>
          <p:nvPr/>
        </p:nvSpPr>
        <p:spPr>
          <a:xfrm>
            <a:off x="8226578" y="6249988"/>
            <a:ext cx="3660622" cy="369332"/>
          </a:xfrm>
          <a:prstGeom prst="rect">
            <a:avLst/>
          </a:prstGeom>
          <a:noFill/>
        </p:spPr>
        <p:txBody>
          <a:bodyPr wrap="square">
            <a:spAutoFit/>
          </a:bodyPr>
          <a:lstStyle/>
          <a:p>
            <a:r>
              <a:rPr lang="en-US" altLang="zh-TW" dirty="0"/>
              <a:t>https://arxiv.org/abs/2305.15771</a:t>
            </a:r>
            <a:endParaRPr lang="en-US" altLang="zh-TW"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7" name="文字方塊 6"/>
          <p:cNvSpPr txBox="1"/>
          <p:nvPr/>
        </p:nvSpPr>
        <p:spPr>
          <a:xfrm>
            <a:off x="884888" y="6078538"/>
            <a:ext cx="3605893" cy="369332"/>
          </a:xfrm>
          <a:prstGeom prst="rect">
            <a:avLst/>
          </a:prstGeom>
          <a:noFill/>
        </p:spPr>
        <p:txBody>
          <a:bodyPr wrap="square">
            <a:spAutoFit/>
          </a:bodyPr>
          <a:lstStyle/>
          <a:p>
            <a:r>
              <a:rPr lang="zh-TW" altLang="en-US" dirty="0"/>
              <a:t>https://arxiv.org/abs/2409.13373</a:t>
            </a:r>
            <a:endParaRPr lang="zh-TW" altLang="en-US" dirty="0"/>
          </a:p>
        </p:txBody>
      </p:sp>
      <p:pic>
        <p:nvPicPr>
          <p:cNvPr id="11" name="圖片 10"/>
          <p:cNvPicPr>
            <a:picLocks noChangeAspect="1"/>
          </p:cNvPicPr>
          <p:nvPr/>
        </p:nvPicPr>
        <p:blipFill>
          <a:blip r:embed="rId1"/>
          <a:stretch>
            <a:fillRect/>
          </a:stretch>
        </p:blipFill>
        <p:spPr>
          <a:xfrm>
            <a:off x="4747956" y="330062"/>
            <a:ext cx="6348669" cy="611780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5" name="圖片 4"/>
          <p:cNvPicPr>
            <a:picLocks noChangeAspect="1"/>
          </p:cNvPicPr>
          <p:nvPr/>
        </p:nvPicPr>
        <p:blipFill>
          <a:blip r:embed="rId1"/>
          <a:stretch>
            <a:fillRect/>
          </a:stretch>
        </p:blipFill>
        <p:spPr>
          <a:xfrm>
            <a:off x="723900" y="681037"/>
            <a:ext cx="10744200" cy="5601562"/>
          </a:xfrm>
          <a:prstGeom prst="rect">
            <a:avLst/>
          </a:prstGeom>
        </p:spPr>
      </p:pic>
      <p:sp>
        <p:nvSpPr>
          <p:cNvPr id="7" name="文字方塊 6"/>
          <p:cNvSpPr txBox="1"/>
          <p:nvPr/>
        </p:nvSpPr>
        <p:spPr>
          <a:xfrm>
            <a:off x="8599714" y="6311900"/>
            <a:ext cx="6096000" cy="369332"/>
          </a:xfrm>
          <a:prstGeom prst="rect">
            <a:avLst/>
          </a:prstGeom>
          <a:noFill/>
        </p:spPr>
        <p:txBody>
          <a:bodyPr wrap="square">
            <a:spAutoFit/>
          </a:bodyPr>
          <a:lstStyle/>
          <a:p>
            <a:r>
              <a:rPr lang="zh-TW" altLang="en-US" dirty="0"/>
              <a:t>https://arxiv.org/abs/2402.01622</a:t>
            </a:r>
            <a:endParaRPr lang="zh-TW" altLang="en-US" dirty="0"/>
          </a:p>
        </p:txBody>
      </p:sp>
      <p:sp>
        <p:nvSpPr>
          <p:cNvPr id="6" name="文字方塊 5"/>
          <p:cNvSpPr txBox="1"/>
          <p:nvPr/>
        </p:nvSpPr>
        <p:spPr>
          <a:xfrm>
            <a:off x="395289" y="259489"/>
            <a:ext cx="7343774" cy="387222"/>
          </a:xfrm>
          <a:prstGeom prst="rect">
            <a:avLst/>
          </a:prstGeom>
          <a:noFill/>
        </p:spPr>
        <p:txBody>
          <a:bodyPr wrap="square">
            <a:spAutoFit/>
          </a:bodyPr>
          <a:lstStyle/>
          <a:p>
            <a:pPr algn="l">
              <a:lnSpc>
                <a:spcPts val="2100"/>
              </a:lnSpc>
              <a:spcAft>
                <a:spcPts val="900"/>
              </a:spcAft>
            </a:pPr>
            <a:r>
              <a:rPr lang="en-US" altLang="zh-TW" sz="3200" b="1" i="0" u="sng" dirty="0" err="1">
                <a:solidFill>
                  <a:srgbClr val="000000"/>
                </a:solidFill>
                <a:effectLst/>
                <a:latin typeface="Lucida Grande"/>
              </a:rPr>
              <a:t>TravelPlanner</a:t>
            </a:r>
            <a:endParaRPr lang="en-US" altLang="zh-TW" sz="3200" b="1" i="0" u="sng" dirty="0">
              <a:solidFill>
                <a:srgbClr val="000000"/>
              </a:solidFill>
              <a:effectLst/>
              <a:latin typeface="Lucida Grande"/>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026" name="Picture 2" descr="grade-lv"/>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365125"/>
            <a:ext cx="10790701" cy="14798675"/>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p:cNvSpPr txBox="1"/>
          <p:nvPr/>
        </p:nvSpPr>
        <p:spPr>
          <a:xfrm>
            <a:off x="6233550" y="1825625"/>
            <a:ext cx="6096000" cy="369332"/>
          </a:xfrm>
          <a:prstGeom prst="rect">
            <a:avLst/>
          </a:prstGeom>
          <a:noFill/>
        </p:spPr>
        <p:txBody>
          <a:bodyPr wrap="square">
            <a:spAutoFit/>
          </a:bodyPr>
          <a:lstStyle/>
          <a:p>
            <a:r>
              <a:rPr lang="zh-TW" altLang="en-US" dirty="0"/>
              <a:t>https://osu-nlp-group.github.io/TravelPlanner/</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5" name="圖片 4"/>
          <p:cNvPicPr>
            <a:picLocks noChangeAspect="1"/>
          </p:cNvPicPr>
          <p:nvPr/>
        </p:nvPicPr>
        <p:blipFill>
          <a:blip r:embed="rId1"/>
          <a:stretch>
            <a:fillRect/>
          </a:stretch>
        </p:blipFill>
        <p:spPr>
          <a:xfrm>
            <a:off x="337708" y="681037"/>
            <a:ext cx="11516583" cy="5088392"/>
          </a:xfrm>
          <a:prstGeom prst="rect">
            <a:avLst/>
          </a:prstGeom>
        </p:spPr>
      </p:pic>
      <p:sp>
        <p:nvSpPr>
          <p:cNvPr id="6" name="文字方塊 5"/>
          <p:cNvSpPr txBox="1"/>
          <p:nvPr/>
        </p:nvSpPr>
        <p:spPr>
          <a:xfrm>
            <a:off x="8599714" y="6311900"/>
            <a:ext cx="6096000" cy="369332"/>
          </a:xfrm>
          <a:prstGeom prst="rect">
            <a:avLst/>
          </a:prstGeom>
          <a:noFill/>
        </p:spPr>
        <p:txBody>
          <a:bodyPr wrap="square">
            <a:spAutoFit/>
          </a:bodyPr>
          <a:lstStyle/>
          <a:p>
            <a:r>
              <a:rPr lang="zh-TW" altLang="en-US" dirty="0"/>
              <a:t>https://arxiv.org/abs/2402.01622</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15" name="圖片 14"/>
          <p:cNvPicPr>
            <a:picLocks noChangeAspect="1"/>
          </p:cNvPicPr>
          <p:nvPr/>
        </p:nvPicPr>
        <p:blipFill>
          <a:blip r:embed="rId1"/>
          <a:stretch>
            <a:fillRect/>
          </a:stretch>
        </p:blipFill>
        <p:spPr>
          <a:xfrm>
            <a:off x="317095" y="871537"/>
            <a:ext cx="5582354" cy="4705786"/>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17" name="文字方塊 16"/>
          <p:cNvSpPr txBox="1"/>
          <p:nvPr/>
        </p:nvSpPr>
        <p:spPr>
          <a:xfrm>
            <a:off x="317095" y="6329200"/>
            <a:ext cx="7010400" cy="369332"/>
          </a:xfrm>
          <a:prstGeom prst="rect">
            <a:avLst/>
          </a:prstGeom>
          <a:noFill/>
        </p:spPr>
        <p:txBody>
          <a:bodyPr wrap="square">
            <a:spAutoFit/>
          </a:bodyPr>
          <a:lstStyle/>
          <a:p>
            <a:r>
              <a:rPr lang="zh-TW" altLang="en-US" dirty="0"/>
              <a:t>https://osu-nlp-group.github.io/TravelPlanner/</a:t>
            </a:r>
            <a:endParaRPr lang="zh-TW" altLang="en-US" dirty="0"/>
          </a:p>
        </p:txBody>
      </p:sp>
      <p:pic>
        <p:nvPicPr>
          <p:cNvPr id="19" name="圖片 18"/>
          <p:cNvPicPr>
            <a:picLocks noChangeAspect="1"/>
          </p:cNvPicPr>
          <p:nvPr/>
        </p:nvPicPr>
        <p:blipFill>
          <a:blip r:embed="rId2"/>
          <a:stretch>
            <a:fillRect/>
          </a:stretch>
        </p:blipFill>
        <p:spPr>
          <a:xfrm>
            <a:off x="6130978" y="133680"/>
            <a:ext cx="5858227" cy="6552158"/>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5" name="文字方塊 4"/>
          <p:cNvSpPr txBox="1"/>
          <p:nvPr/>
        </p:nvSpPr>
        <p:spPr>
          <a:xfrm>
            <a:off x="838200" y="5807631"/>
            <a:ext cx="6096000" cy="369332"/>
          </a:xfrm>
          <a:prstGeom prst="rect">
            <a:avLst/>
          </a:prstGeom>
          <a:noFill/>
        </p:spPr>
        <p:txBody>
          <a:bodyPr wrap="square">
            <a:spAutoFit/>
          </a:bodyPr>
          <a:lstStyle/>
          <a:p>
            <a:r>
              <a:rPr lang="zh-TW" altLang="en-US" dirty="0"/>
              <a:t>https://arxiv.org/abs/2404.11891</a:t>
            </a:r>
            <a:endParaRPr lang="zh-TW" altLang="en-US" dirty="0"/>
          </a:p>
        </p:txBody>
      </p:sp>
      <p:pic>
        <p:nvPicPr>
          <p:cNvPr id="7" name="圖片 6"/>
          <p:cNvPicPr>
            <a:picLocks noChangeAspect="1"/>
          </p:cNvPicPr>
          <p:nvPr/>
        </p:nvPicPr>
        <p:blipFill>
          <a:blip r:embed="rId1"/>
          <a:stretch>
            <a:fillRect/>
          </a:stretch>
        </p:blipFill>
        <p:spPr>
          <a:xfrm>
            <a:off x="174270" y="903877"/>
            <a:ext cx="11843459" cy="47559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5" name="圖片 4"/>
          <p:cNvPicPr>
            <a:picLocks noChangeAspect="1"/>
          </p:cNvPicPr>
          <p:nvPr/>
        </p:nvPicPr>
        <p:blipFill>
          <a:blip r:embed="rId1"/>
          <a:stretch>
            <a:fillRect/>
          </a:stretch>
        </p:blipFill>
        <p:spPr>
          <a:xfrm>
            <a:off x="536293" y="681037"/>
            <a:ext cx="10590065" cy="5066620"/>
          </a:xfrm>
          <a:prstGeom prst="rect">
            <a:avLst/>
          </a:prstGeom>
        </p:spPr>
      </p:pic>
      <p:sp>
        <p:nvSpPr>
          <p:cNvPr id="6" name="文字方塊 5"/>
          <p:cNvSpPr txBox="1"/>
          <p:nvPr/>
        </p:nvSpPr>
        <p:spPr>
          <a:xfrm>
            <a:off x="838200" y="5807631"/>
            <a:ext cx="6096000" cy="369332"/>
          </a:xfrm>
          <a:prstGeom prst="rect">
            <a:avLst/>
          </a:prstGeom>
          <a:noFill/>
        </p:spPr>
        <p:txBody>
          <a:bodyPr wrap="square">
            <a:spAutoFit/>
          </a:bodyPr>
          <a:lstStyle/>
          <a:p>
            <a:r>
              <a:rPr lang="zh-TW" altLang="en-US" dirty="0"/>
              <a:t>https://arxiv.org/abs/2404.11891</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強化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的規劃能力</a:t>
            </a:r>
            <a:endParaRPr lang="zh-TW" altLang="en-US" dirty="0">
              <a:latin typeface="Microsoft JhengHei" panose="020B0604030504040204" pitchFamily="34" charset="-120"/>
              <a:ea typeface="Microsoft JhengHei" panose="020B0604030504040204" pitchFamily="34" charset="-120"/>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9355" y="3302555"/>
            <a:ext cx="1052967" cy="1052968"/>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圓角 8"/>
          <p:cNvSpPr/>
          <p:nvPr/>
        </p:nvSpPr>
        <p:spPr>
          <a:xfrm>
            <a:off x="0" y="3668089"/>
            <a:ext cx="12192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11" name="矩形: 圓角 10"/>
          <p:cNvSpPr/>
          <p:nvPr/>
        </p:nvSpPr>
        <p:spPr>
          <a:xfrm>
            <a:off x="3679310" y="2262986"/>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1-1</a:t>
            </a:r>
            <a:endParaRPr lang="zh-TW" altLang="en-US" sz="2400" dirty="0"/>
          </a:p>
        </p:txBody>
      </p:sp>
      <p:cxnSp>
        <p:nvCxnSpPr>
          <p:cNvPr id="21" name="直線單箭頭接點 20"/>
          <p:cNvCxnSpPr/>
          <p:nvPr/>
        </p:nvCxnSpPr>
        <p:spPr>
          <a:xfrm>
            <a:off x="1270955" y="3870849"/>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flipV="1">
            <a:off x="2833158" y="2442986"/>
            <a:ext cx="743550" cy="14278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圓角 27"/>
          <p:cNvSpPr/>
          <p:nvPr/>
        </p:nvSpPr>
        <p:spPr>
          <a:xfrm>
            <a:off x="3679310" y="3683744"/>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1-2</a:t>
            </a:r>
            <a:endParaRPr lang="zh-TW" altLang="en-US" sz="2400" dirty="0"/>
          </a:p>
        </p:txBody>
      </p:sp>
      <p:sp>
        <p:nvSpPr>
          <p:cNvPr id="29" name="矩形: 圓角 28"/>
          <p:cNvSpPr/>
          <p:nvPr/>
        </p:nvSpPr>
        <p:spPr>
          <a:xfrm>
            <a:off x="3679310" y="5142602"/>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1-3</a:t>
            </a:r>
            <a:endParaRPr lang="zh-TW" altLang="en-US" sz="2400" dirty="0"/>
          </a:p>
        </p:txBody>
      </p:sp>
      <p:cxnSp>
        <p:nvCxnSpPr>
          <p:cNvPr id="34" name="直線單箭頭接點 33"/>
          <p:cNvCxnSpPr/>
          <p:nvPr/>
        </p:nvCxnSpPr>
        <p:spPr>
          <a:xfrm>
            <a:off x="2831620" y="3848089"/>
            <a:ext cx="78318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a:off x="2833158" y="3829039"/>
            <a:ext cx="743550" cy="14278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圓角 41"/>
          <p:cNvSpPr/>
          <p:nvPr/>
        </p:nvSpPr>
        <p:spPr>
          <a:xfrm>
            <a:off x="5293458" y="2262986"/>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2-1</a:t>
            </a:r>
            <a:endParaRPr lang="zh-TW" altLang="en-US" sz="2400" dirty="0"/>
          </a:p>
        </p:txBody>
      </p:sp>
      <p:sp>
        <p:nvSpPr>
          <p:cNvPr id="43" name="矩形: 圓角 42"/>
          <p:cNvSpPr/>
          <p:nvPr/>
        </p:nvSpPr>
        <p:spPr>
          <a:xfrm>
            <a:off x="5301190" y="3680349"/>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2-2</a:t>
            </a:r>
            <a:endParaRPr lang="zh-TW" altLang="en-US" sz="2400" dirty="0"/>
          </a:p>
        </p:txBody>
      </p:sp>
      <p:sp>
        <p:nvSpPr>
          <p:cNvPr id="44" name="矩形: 圓角 43"/>
          <p:cNvSpPr/>
          <p:nvPr/>
        </p:nvSpPr>
        <p:spPr>
          <a:xfrm>
            <a:off x="5301190" y="5142602"/>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2-3</a:t>
            </a:r>
            <a:endParaRPr lang="zh-TW" altLang="en-US" sz="2400" dirty="0"/>
          </a:p>
        </p:txBody>
      </p:sp>
      <p:pic>
        <p:nvPicPr>
          <p:cNvPr id="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97808" y="1803595"/>
            <a:ext cx="1052967" cy="1052968"/>
          </a:xfrm>
          <a:prstGeom prst="rect">
            <a:avLst/>
          </a:prstGeom>
          <a:noFill/>
          <a:extLst>
            <a:ext uri="{909E8E84-426E-40DD-AFC4-6F175D3DCCD1}">
              <a14:hiddenFill xmlns:a14="http://schemas.microsoft.com/office/drawing/2010/main">
                <a:solidFill>
                  <a:srgbClr val="FFFFFF"/>
                </a:solidFill>
              </a14:hiddenFill>
            </a:ext>
          </a:extLst>
        </p:spPr>
      </p:pic>
      <p:cxnSp>
        <p:nvCxnSpPr>
          <p:cNvPr id="47" name="直線單箭頭接點 46"/>
          <p:cNvCxnSpPr/>
          <p:nvPr/>
        </p:nvCxnSpPr>
        <p:spPr>
          <a:xfrm>
            <a:off x="6620023" y="2404076"/>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圓角 47"/>
          <p:cNvSpPr/>
          <p:nvPr/>
        </p:nvSpPr>
        <p:spPr>
          <a:xfrm>
            <a:off x="8590386" y="1521188"/>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2-1-1</a:t>
            </a:r>
            <a:endParaRPr lang="zh-TW" altLang="en-US" sz="2400" dirty="0"/>
          </a:p>
        </p:txBody>
      </p:sp>
      <p:pic>
        <p:nvPicPr>
          <p:cNvPr id="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00221" y="3244190"/>
            <a:ext cx="1052967" cy="1052968"/>
          </a:xfrm>
          <a:prstGeom prst="rect">
            <a:avLst/>
          </a:prstGeom>
          <a:noFill/>
          <a:extLst>
            <a:ext uri="{909E8E84-426E-40DD-AFC4-6F175D3DCCD1}">
              <a14:hiddenFill xmlns:a14="http://schemas.microsoft.com/office/drawing/2010/main">
                <a:solidFill>
                  <a:srgbClr val="FFFFFF"/>
                </a:solidFill>
              </a14:hiddenFill>
            </a:ext>
          </a:extLst>
        </p:spPr>
      </p:pic>
      <p:cxnSp>
        <p:nvCxnSpPr>
          <p:cNvPr id="51" name="直線單箭頭接點 50"/>
          <p:cNvCxnSpPr/>
          <p:nvPr/>
        </p:nvCxnSpPr>
        <p:spPr>
          <a:xfrm>
            <a:off x="6661346" y="3844671"/>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00222" y="4730418"/>
            <a:ext cx="1052967" cy="1052968"/>
          </a:xfrm>
          <a:prstGeom prst="rect">
            <a:avLst/>
          </a:prstGeom>
          <a:noFill/>
          <a:extLst>
            <a:ext uri="{909E8E84-426E-40DD-AFC4-6F175D3DCCD1}">
              <a14:hiddenFill xmlns:a14="http://schemas.microsoft.com/office/drawing/2010/main">
                <a:solidFill>
                  <a:srgbClr val="FFFFFF"/>
                </a:solidFill>
              </a14:hiddenFill>
            </a:ext>
          </a:extLst>
        </p:spPr>
      </p:pic>
      <p:cxnSp>
        <p:nvCxnSpPr>
          <p:cNvPr id="53" name="直線單箭頭接點 52"/>
          <p:cNvCxnSpPr/>
          <p:nvPr/>
        </p:nvCxnSpPr>
        <p:spPr>
          <a:xfrm>
            <a:off x="6680802" y="5330899"/>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矩形: 圓角 53"/>
          <p:cNvSpPr/>
          <p:nvPr/>
        </p:nvSpPr>
        <p:spPr>
          <a:xfrm>
            <a:off x="8590386" y="2633486"/>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2-1-2</a:t>
            </a:r>
            <a:endParaRPr lang="zh-TW" altLang="en-US" sz="2400" dirty="0"/>
          </a:p>
        </p:txBody>
      </p:sp>
      <p:sp>
        <p:nvSpPr>
          <p:cNvPr id="55" name="矩形: 圓角 54"/>
          <p:cNvSpPr/>
          <p:nvPr/>
        </p:nvSpPr>
        <p:spPr>
          <a:xfrm>
            <a:off x="10316908" y="1521188"/>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2-1-1</a:t>
            </a:r>
            <a:endParaRPr lang="zh-TW" altLang="en-US" sz="2400" dirty="0"/>
          </a:p>
        </p:txBody>
      </p:sp>
      <p:sp>
        <p:nvSpPr>
          <p:cNvPr id="56" name="矩形: 圓角 55"/>
          <p:cNvSpPr/>
          <p:nvPr/>
        </p:nvSpPr>
        <p:spPr>
          <a:xfrm>
            <a:off x="10316908" y="2633486"/>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2-1-2</a:t>
            </a:r>
            <a:endParaRPr lang="zh-TW" altLang="en-US" sz="2400" dirty="0"/>
          </a:p>
        </p:txBody>
      </p:sp>
      <p:sp>
        <p:nvSpPr>
          <p:cNvPr id="57" name="矩形: 圓角 56"/>
          <p:cNvSpPr/>
          <p:nvPr/>
        </p:nvSpPr>
        <p:spPr>
          <a:xfrm>
            <a:off x="8628486" y="3648102"/>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2-2-1</a:t>
            </a:r>
            <a:endParaRPr lang="zh-TW" altLang="en-US" sz="2400" dirty="0"/>
          </a:p>
        </p:txBody>
      </p:sp>
      <p:sp>
        <p:nvSpPr>
          <p:cNvPr id="58" name="矩形: 圓角 57"/>
          <p:cNvSpPr/>
          <p:nvPr/>
        </p:nvSpPr>
        <p:spPr>
          <a:xfrm>
            <a:off x="10355008" y="3648102"/>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2-2-1</a:t>
            </a:r>
            <a:endParaRPr lang="zh-TW" altLang="en-US" sz="2400" dirty="0"/>
          </a:p>
        </p:txBody>
      </p:sp>
      <p:sp>
        <p:nvSpPr>
          <p:cNvPr id="59" name="矩形: 圓角 58"/>
          <p:cNvSpPr/>
          <p:nvPr/>
        </p:nvSpPr>
        <p:spPr>
          <a:xfrm>
            <a:off x="8590386" y="4692501"/>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2-3-1</a:t>
            </a:r>
            <a:endParaRPr lang="zh-TW" altLang="en-US" sz="2400" dirty="0"/>
          </a:p>
        </p:txBody>
      </p:sp>
      <p:sp>
        <p:nvSpPr>
          <p:cNvPr id="60" name="矩形: 圓角 59"/>
          <p:cNvSpPr/>
          <p:nvPr/>
        </p:nvSpPr>
        <p:spPr>
          <a:xfrm>
            <a:off x="8590386" y="5747649"/>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2-3-2</a:t>
            </a:r>
            <a:endParaRPr lang="zh-TW" altLang="en-US" sz="2400" dirty="0"/>
          </a:p>
        </p:txBody>
      </p:sp>
      <p:sp>
        <p:nvSpPr>
          <p:cNvPr id="61" name="矩形: 圓角 60"/>
          <p:cNvSpPr/>
          <p:nvPr/>
        </p:nvSpPr>
        <p:spPr>
          <a:xfrm>
            <a:off x="10316908" y="4692501"/>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2-3-1</a:t>
            </a:r>
            <a:endParaRPr lang="zh-TW" altLang="en-US" sz="2400" dirty="0"/>
          </a:p>
        </p:txBody>
      </p:sp>
      <p:sp>
        <p:nvSpPr>
          <p:cNvPr id="62" name="矩形: 圓角 61"/>
          <p:cNvSpPr/>
          <p:nvPr/>
        </p:nvSpPr>
        <p:spPr>
          <a:xfrm>
            <a:off x="10316908" y="5747649"/>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2-3-2</a:t>
            </a:r>
            <a:endParaRPr lang="zh-TW" altLang="en-US" sz="2400" dirty="0"/>
          </a:p>
        </p:txBody>
      </p:sp>
      <p:cxnSp>
        <p:nvCxnSpPr>
          <p:cNvPr id="63" name="直線單箭頭接點 62"/>
          <p:cNvCxnSpPr/>
          <p:nvPr/>
        </p:nvCxnSpPr>
        <p:spPr>
          <a:xfrm flipV="1">
            <a:off x="8207925" y="1701188"/>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5" name="直線單箭頭接點 1024"/>
          <p:cNvCxnSpPr/>
          <p:nvPr/>
        </p:nvCxnSpPr>
        <p:spPr>
          <a:xfrm>
            <a:off x="8232833" y="2314448"/>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7" name="直線單箭頭接點 1026"/>
          <p:cNvCxnSpPr/>
          <p:nvPr/>
        </p:nvCxnSpPr>
        <p:spPr>
          <a:xfrm flipV="1">
            <a:off x="8183017" y="4794452"/>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8" name="直線單箭頭接點 1027"/>
          <p:cNvCxnSpPr/>
          <p:nvPr/>
        </p:nvCxnSpPr>
        <p:spPr>
          <a:xfrm>
            <a:off x="8207925" y="5407712"/>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9" name="直線單箭頭接點 1028"/>
          <p:cNvCxnSpPr/>
          <p:nvPr/>
        </p:nvCxnSpPr>
        <p:spPr>
          <a:xfrm>
            <a:off x="8148008" y="3825610"/>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1419" y="4176121"/>
            <a:ext cx="743550" cy="7435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3796" y="4491442"/>
            <a:ext cx="719546" cy="719546"/>
          </a:xfrm>
          <a:prstGeom prst="rect">
            <a:avLst/>
          </a:prstGeom>
          <a:noFill/>
          <a:extLst>
            <a:ext uri="{909E8E84-426E-40DD-AFC4-6F175D3DCCD1}">
              <a14:hiddenFill xmlns:a14="http://schemas.microsoft.com/office/drawing/2010/main">
                <a:solidFill>
                  <a:srgbClr val="FFFFFF"/>
                </a:solidFill>
              </a14:hiddenFill>
            </a:ext>
          </a:extLst>
        </p:spPr>
      </p:pic>
      <p:sp>
        <p:nvSpPr>
          <p:cNvPr id="1030" name="文字方塊 1029"/>
          <p:cNvSpPr txBox="1"/>
          <p:nvPr/>
        </p:nvSpPr>
        <p:spPr>
          <a:xfrm>
            <a:off x="1219200" y="5973286"/>
            <a:ext cx="5400823"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如果路徑太長怎麼辦？</a:t>
            </a:r>
            <a:endParaRPr lang="zh-TW" altLang="en-US" sz="2400" dirty="0">
              <a:latin typeface="Microsoft JhengHei" panose="020B0604030504040204" pitchFamily="34" charset="-120"/>
              <a:ea typeface="Microsoft JhengHei" panose="020B0604030504040204" pitchFamily="34" charset="-120"/>
            </a:endParaRPr>
          </a:p>
        </p:txBody>
      </p:sp>
      <p:sp>
        <p:nvSpPr>
          <p:cNvPr id="3" name="文字方塊 2"/>
          <p:cNvSpPr txBox="1"/>
          <p:nvPr/>
        </p:nvSpPr>
        <p:spPr>
          <a:xfrm>
            <a:off x="876296" y="1516309"/>
            <a:ext cx="5400823"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實際試試看？</a:t>
            </a:r>
            <a:endParaRPr lang="zh-TW" altLang="en-US" sz="24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2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2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2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0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05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05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8" grpId="0" animBg="1"/>
      <p:bldP spid="29" grpId="0" animBg="1"/>
      <p:bldP spid="42" grpId="0" animBg="1"/>
      <p:bldP spid="43" grpId="0" animBg="1"/>
      <p:bldP spid="44" grpId="0" animBg="1"/>
      <p:bldP spid="48" grpId="0" animBg="1"/>
      <p:bldP spid="54" grpId="0" animBg="1"/>
      <p:bldP spid="55" grpId="0" animBg="1"/>
      <p:bldP spid="56" grpId="0" animBg="1"/>
      <p:bldP spid="57" grpId="0" animBg="1"/>
      <p:bldP spid="58" grpId="0" animBg="1"/>
      <p:bldP spid="59" grpId="0" animBg="1"/>
      <p:bldP spid="60" grpId="0" animBg="1"/>
      <p:bldP spid="61" grpId="0" animBg="1"/>
      <p:bldP spid="62" grpId="0" animBg="1"/>
      <p:bldP spid="1030" grpId="0"/>
      <p:bldP spid="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9355" y="3302555"/>
            <a:ext cx="1052967" cy="1052968"/>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圓角 8"/>
          <p:cNvSpPr/>
          <p:nvPr/>
        </p:nvSpPr>
        <p:spPr>
          <a:xfrm>
            <a:off x="0" y="3668089"/>
            <a:ext cx="12192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11" name="矩形: 圓角 10"/>
          <p:cNvSpPr/>
          <p:nvPr/>
        </p:nvSpPr>
        <p:spPr>
          <a:xfrm>
            <a:off x="3679310" y="2262986"/>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1-1</a:t>
            </a:r>
            <a:endParaRPr lang="zh-TW" altLang="en-US" sz="2400" dirty="0"/>
          </a:p>
        </p:txBody>
      </p:sp>
      <p:cxnSp>
        <p:nvCxnSpPr>
          <p:cNvPr id="21" name="直線單箭頭接點 20"/>
          <p:cNvCxnSpPr/>
          <p:nvPr/>
        </p:nvCxnSpPr>
        <p:spPr>
          <a:xfrm>
            <a:off x="1270955" y="3870849"/>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flipV="1">
            <a:off x="2833158" y="2442986"/>
            <a:ext cx="743550" cy="14278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圓角 28"/>
          <p:cNvSpPr/>
          <p:nvPr/>
        </p:nvSpPr>
        <p:spPr>
          <a:xfrm>
            <a:off x="3679310" y="5142602"/>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1-2</a:t>
            </a:r>
            <a:endParaRPr lang="zh-TW" altLang="en-US" sz="2400" dirty="0"/>
          </a:p>
        </p:txBody>
      </p:sp>
      <p:cxnSp>
        <p:nvCxnSpPr>
          <p:cNvPr id="38" name="直線單箭頭接點 37"/>
          <p:cNvCxnSpPr/>
          <p:nvPr/>
        </p:nvCxnSpPr>
        <p:spPr>
          <a:xfrm>
            <a:off x="2833158" y="3829039"/>
            <a:ext cx="743550" cy="14278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圓角 41"/>
          <p:cNvSpPr/>
          <p:nvPr/>
        </p:nvSpPr>
        <p:spPr>
          <a:xfrm>
            <a:off x="5293458" y="2262986"/>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2-1</a:t>
            </a:r>
            <a:endParaRPr lang="zh-TW" altLang="en-US" sz="2400" dirty="0"/>
          </a:p>
        </p:txBody>
      </p:sp>
      <p:sp>
        <p:nvSpPr>
          <p:cNvPr id="44" name="矩形: 圓角 43"/>
          <p:cNvSpPr/>
          <p:nvPr/>
        </p:nvSpPr>
        <p:spPr>
          <a:xfrm>
            <a:off x="5301190" y="5142602"/>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2-2</a:t>
            </a:r>
            <a:endParaRPr lang="zh-TW" altLang="en-US" sz="2400" dirty="0"/>
          </a:p>
        </p:txBody>
      </p:sp>
      <p:pic>
        <p:nvPicPr>
          <p:cNvPr id="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47125" y="1099936"/>
            <a:ext cx="1052967" cy="105296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00222" y="4730418"/>
            <a:ext cx="1052967" cy="1052968"/>
          </a:xfrm>
          <a:prstGeom prst="rect">
            <a:avLst/>
          </a:prstGeom>
          <a:noFill/>
          <a:extLst>
            <a:ext uri="{909E8E84-426E-40DD-AFC4-6F175D3DCCD1}">
              <a14:hiddenFill xmlns:a14="http://schemas.microsoft.com/office/drawing/2010/main">
                <a:solidFill>
                  <a:srgbClr val="FFFFFF"/>
                </a:solidFill>
              </a14:hiddenFill>
            </a:ext>
          </a:extLst>
        </p:spPr>
      </p:pic>
      <p:cxnSp>
        <p:nvCxnSpPr>
          <p:cNvPr id="53" name="直線單箭頭接點 52"/>
          <p:cNvCxnSpPr/>
          <p:nvPr/>
        </p:nvCxnSpPr>
        <p:spPr>
          <a:xfrm>
            <a:off x="6680802" y="5330899"/>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矩形: 圓角 58"/>
          <p:cNvSpPr/>
          <p:nvPr/>
        </p:nvSpPr>
        <p:spPr>
          <a:xfrm>
            <a:off x="8590386" y="4692501"/>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2-2-1</a:t>
            </a:r>
            <a:endParaRPr lang="zh-TW" altLang="en-US" sz="2400" dirty="0"/>
          </a:p>
        </p:txBody>
      </p:sp>
      <p:sp>
        <p:nvSpPr>
          <p:cNvPr id="60" name="矩形: 圓角 59"/>
          <p:cNvSpPr/>
          <p:nvPr/>
        </p:nvSpPr>
        <p:spPr>
          <a:xfrm>
            <a:off x="8590386" y="5747649"/>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2-2-2</a:t>
            </a:r>
            <a:endParaRPr lang="zh-TW" altLang="en-US" sz="2400" dirty="0"/>
          </a:p>
        </p:txBody>
      </p:sp>
      <p:sp>
        <p:nvSpPr>
          <p:cNvPr id="61" name="矩形: 圓角 60"/>
          <p:cNvSpPr/>
          <p:nvPr/>
        </p:nvSpPr>
        <p:spPr>
          <a:xfrm>
            <a:off x="10316908" y="4692501"/>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2-2-1</a:t>
            </a:r>
            <a:endParaRPr lang="zh-TW" altLang="en-US" sz="2400" dirty="0"/>
          </a:p>
        </p:txBody>
      </p:sp>
      <p:sp>
        <p:nvSpPr>
          <p:cNvPr id="62" name="矩形: 圓角 61"/>
          <p:cNvSpPr/>
          <p:nvPr/>
        </p:nvSpPr>
        <p:spPr>
          <a:xfrm>
            <a:off x="10316908" y="5747649"/>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2-2-2</a:t>
            </a:r>
            <a:endParaRPr lang="zh-TW" altLang="en-US" sz="2400" dirty="0"/>
          </a:p>
        </p:txBody>
      </p:sp>
      <p:cxnSp>
        <p:nvCxnSpPr>
          <p:cNvPr id="1027" name="直線單箭頭接點 1026"/>
          <p:cNvCxnSpPr/>
          <p:nvPr/>
        </p:nvCxnSpPr>
        <p:spPr>
          <a:xfrm flipV="1">
            <a:off x="8183017" y="4794452"/>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8" name="直線單箭頭接點 1027"/>
          <p:cNvCxnSpPr/>
          <p:nvPr/>
        </p:nvCxnSpPr>
        <p:spPr>
          <a:xfrm>
            <a:off x="8207925" y="5407712"/>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0568" y="2050343"/>
            <a:ext cx="766916" cy="766916"/>
          </a:xfrm>
          <a:prstGeom prst="rect">
            <a:avLst/>
          </a:prstGeom>
          <a:noFill/>
          <a:extLst>
            <a:ext uri="{909E8E84-426E-40DD-AFC4-6F175D3DCCD1}">
              <a14:hiddenFill xmlns:a14="http://schemas.microsoft.com/office/drawing/2010/main">
                <a:solidFill>
                  <a:srgbClr val="FFFFFF"/>
                </a:solidFill>
              </a14:hiddenFill>
            </a:ext>
          </a:extLst>
        </p:spPr>
      </p:pic>
      <p:sp>
        <p:nvSpPr>
          <p:cNvPr id="5" name="語音泡泡: 圓角矩形 4"/>
          <p:cNvSpPr/>
          <p:nvPr/>
        </p:nvSpPr>
        <p:spPr>
          <a:xfrm>
            <a:off x="3743098" y="672415"/>
            <a:ext cx="1917891" cy="697827"/>
          </a:xfrm>
          <a:prstGeom prst="wedgeRoundRectCallout">
            <a:avLst>
              <a:gd name="adj1" fmla="val -47023"/>
              <a:gd name="adj2" fmla="val 80004"/>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有機會嗎？</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6" name="語音泡泡: 圓角矩形 5"/>
          <p:cNvSpPr/>
          <p:nvPr/>
        </p:nvSpPr>
        <p:spPr>
          <a:xfrm>
            <a:off x="6842726" y="707667"/>
            <a:ext cx="1340292" cy="697827"/>
          </a:xfrm>
          <a:prstGeom prst="wedgeRoundRectCallout">
            <a:avLst>
              <a:gd name="adj1" fmla="val -47023"/>
              <a:gd name="adj2" fmla="val 80004"/>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沒有 </a:t>
            </a:r>
            <a:r>
              <a:rPr lang="en-US" altLang="zh-TW" sz="2400" dirty="0">
                <a:solidFill>
                  <a:schemeClr val="tx1"/>
                </a:solidFill>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67614" y="3938733"/>
            <a:ext cx="1052967" cy="1052968"/>
          </a:xfrm>
          <a:prstGeom prst="rect">
            <a:avLst/>
          </a:prstGeom>
          <a:noFill/>
          <a:extLst>
            <a:ext uri="{909E8E84-426E-40DD-AFC4-6F175D3DCCD1}">
              <a14:hiddenFill xmlns:a14="http://schemas.microsoft.com/office/drawing/2010/main">
                <a:solidFill>
                  <a:srgbClr val="FFFFFF"/>
                </a:solidFill>
              </a14:hiddenFill>
            </a:ext>
          </a:extLst>
        </p:spPr>
      </p:pic>
      <p:sp>
        <p:nvSpPr>
          <p:cNvPr id="8" name="語音泡泡: 圓角矩形 7"/>
          <p:cNvSpPr/>
          <p:nvPr/>
        </p:nvSpPr>
        <p:spPr>
          <a:xfrm>
            <a:off x="3863587" y="3511212"/>
            <a:ext cx="1917891" cy="697827"/>
          </a:xfrm>
          <a:prstGeom prst="wedgeRoundRectCallout">
            <a:avLst>
              <a:gd name="adj1" fmla="val -47023"/>
              <a:gd name="adj2" fmla="val 80004"/>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有機會嗎？</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10" name="語音泡泡: 圓角矩形 9"/>
          <p:cNvSpPr/>
          <p:nvPr/>
        </p:nvSpPr>
        <p:spPr>
          <a:xfrm>
            <a:off x="6963215" y="3546464"/>
            <a:ext cx="1340292" cy="697827"/>
          </a:xfrm>
          <a:prstGeom prst="wedgeRoundRectCallout">
            <a:avLst>
              <a:gd name="adj1" fmla="val -47023"/>
              <a:gd name="adj2" fmla="val 80004"/>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有 </a:t>
            </a:r>
            <a:r>
              <a:rPr lang="en-US" altLang="zh-TW" sz="2400" dirty="0">
                <a:solidFill>
                  <a:schemeClr val="tx1"/>
                </a:solidFill>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12" name="文字方塊 11"/>
          <p:cNvSpPr txBox="1"/>
          <p:nvPr/>
        </p:nvSpPr>
        <p:spPr>
          <a:xfrm>
            <a:off x="7446279" y="2244437"/>
            <a:ext cx="3240771" cy="461665"/>
          </a:xfrm>
          <a:prstGeom prst="rect">
            <a:avLst/>
          </a:prstGeom>
          <a:noFill/>
        </p:spPr>
        <p:txBody>
          <a:bodyPr wrap="square" rtlCol="0">
            <a:spAutoFit/>
          </a:bodyPr>
          <a:lstStyle/>
          <a:p>
            <a:r>
              <a:rPr lang="zh-TW" altLang="en-US" sz="2400" dirty="0">
                <a:solidFill>
                  <a:srgbClr val="FF0000"/>
                </a:solidFill>
                <a:latin typeface="Microsoft JhengHei" panose="020B0604030504040204" pitchFamily="34" charset="-120"/>
                <a:ea typeface="Microsoft JhengHei" panose="020B0604030504040204" pitchFamily="34" charset="-120"/>
              </a:rPr>
              <a:t>減少沒必要的搜尋</a:t>
            </a:r>
            <a:endParaRPr lang="zh-TW" altLang="en-US" sz="2400" dirty="0">
              <a:solidFill>
                <a:srgbClr val="FF0000"/>
              </a:solidFill>
              <a:latin typeface="Microsoft JhengHei" panose="020B0604030504040204" pitchFamily="34" charset="-120"/>
              <a:ea typeface="Microsoft JhengHei" panose="020B0604030504040204" pitchFamily="34" charset="-120"/>
            </a:endParaRPr>
          </a:p>
        </p:txBody>
      </p:sp>
      <p:sp>
        <p:nvSpPr>
          <p:cNvPr id="14" name="文字方塊 13"/>
          <p:cNvSpPr txBox="1"/>
          <p:nvPr/>
        </p:nvSpPr>
        <p:spPr>
          <a:xfrm>
            <a:off x="609600" y="5862419"/>
            <a:ext cx="6467474" cy="646331"/>
          </a:xfrm>
          <a:prstGeom prst="rect">
            <a:avLst/>
          </a:prstGeom>
          <a:noFill/>
        </p:spPr>
        <p:txBody>
          <a:bodyPr wrap="square">
            <a:spAutoFit/>
          </a:bodyPr>
          <a:lstStyle/>
          <a:p>
            <a:r>
              <a:rPr lang="en-US" altLang="zh-TW" dirty="0"/>
              <a:t>Tree Search for Language Model Agents</a:t>
            </a:r>
            <a:endParaRPr lang="en-US" altLang="zh-TW" dirty="0"/>
          </a:p>
          <a:p>
            <a:r>
              <a:rPr lang="en-US" altLang="zh-TW" dirty="0"/>
              <a:t>https://arxiv.org/abs/2407.01476</a:t>
            </a:r>
            <a:endParaRPr lang="en-US" altLang="zh-TW" sz="1800" b="1" dirty="0">
              <a:solidFill>
                <a:srgbClr val="000000"/>
              </a:solidFill>
              <a:latin typeface="Open Sans" panose="020B0606030504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P spid="61" grpId="0" animBg="1"/>
      <p:bldP spid="62" grpId="0" animBg="1"/>
      <p:bldP spid="5" grpId="0" animBg="1"/>
      <p:bldP spid="6" grpId="0" animBg="1"/>
      <p:bldP spid="8" grpId="0" animBg="1"/>
      <p:bldP spid="10" grpId="0" animBg="1"/>
      <p:bldP spid="1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文字方塊 3"/>
          <p:cNvSpPr txBox="1"/>
          <p:nvPr/>
        </p:nvSpPr>
        <p:spPr>
          <a:xfrm>
            <a:off x="7177863" y="230188"/>
            <a:ext cx="3429000" cy="369332"/>
          </a:xfrm>
          <a:prstGeom prst="rect">
            <a:avLst/>
          </a:prstGeom>
          <a:noFill/>
        </p:spPr>
        <p:txBody>
          <a:bodyPr wrap="square">
            <a:spAutoFit/>
          </a:bodyPr>
          <a:lstStyle/>
          <a:p>
            <a:r>
              <a:rPr lang="en-US" altLang="zh-TW" dirty="0"/>
              <a:t>https://arxiv.org/abs/2407.01476</a:t>
            </a:r>
            <a:endParaRPr lang="en-US" altLang="zh-TW" sz="1800" b="1" dirty="0">
              <a:solidFill>
                <a:srgbClr val="000000"/>
              </a:solidFill>
              <a:latin typeface="Open Sans" panose="020B0606030504020204" pitchFamily="34" charset="0"/>
            </a:endParaRPr>
          </a:p>
        </p:txBody>
      </p:sp>
      <p:pic>
        <p:nvPicPr>
          <p:cNvPr id="6" name="圖片 5"/>
          <p:cNvPicPr>
            <a:picLocks noChangeAspect="1"/>
          </p:cNvPicPr>
          <p:nvPr/>
        </p:nvPicPr>
        <p:blipFill>
          <a:blip r:embed="rId1"/>
          <a:stretch>
            <a:fillRect/>
          </a:stretch>
        </p:blipFill>
        <p:spPr>
          <a:xfrm>
            <a:off x="1910442" y="814963"/>
            <a:ext cx="8371116" cy="5706356"/>
          </a:xfrm>
          <a:prstGeom prst="rect">
            <a:avLst/>
          </a:prstGeom>
        </p:spPr>
      </p:pic>
      <p:sp>
        <p:nvSpPr>
          <p:cNvPr id="8" name="文字方塊 7"/>
          <p:cNvSpPr txBox="1"/>
          <p:nvPr/>
        </p:nvSpPr>
        <p:spPr>
          <a:xfrm>
            <a:off x="327837" y="72737"/>
            <a:ext cx="8054163" cy="584775"/>
          </a:xfrm>
          <a:prstGeom prst="rect">
            <a:avLst/>
          </a:prstGeom>
          <a:noFill/>
        </p:spPr>
        <p:txBody>
          <a:bodyPr wrap="square">
            <a:spAutoFit/>
          </a:bodyPr>
          <a:lstStyle/>
          <a:p>
            <a:r>
              <a:rPr lang="en-US" altLang="zh-TW" sz="3200" b="1" dirty="0"/>
              <a:t>Tree Search for Language Model Agents</a:t>
            </a:r>
            <a:endParaRPr lang="zh-TW" altLang="en-US" sz="3200" b="1"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9355" y="3302555"/>
            <a:ext cx="1052967" cy="1052968"/>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圓角 8"/>
          <p:cNvSpPr/>
          <p:nvPr/>
        </p:nvSpPr>
        <p:spPr>
          <a:xfrm>
            <a:off x="0" y="3668089"/>
            <a:ext cx="12192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sp>
        <p:nvSpPr>
          <p:cNvPr id="11" name="矩形: 圓角 10"/>
          <p:cNvSpPr/>
          <p:nvPr/>
        </p:nvSpPr>
        <p:spPr>
          <a:xfrm>
            <a:off x="3679310" y="2262986"/>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1-1</a:t>
            </a:r>
            <a:endParaRPr lang="zh-TW" altLang="en-US" sz="2400" dirty="0"/>
          </a:p>
        </p:txBody>
      </p:sp>
      <p:cxnSp>
        <p:nvCxnSpPr>
          <p:cNvPr id="21" name="直線單箭頭接點 20"/>
          <p:cNvCxnSpPr/>
          <p:nvPr/>
        </p:nvCxnSpPr>
        <p:spPr>
          <a:xfrm>
            <a:off x="1270955" y="3870849"/>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flipV="1">
            <a:off x="2833158" y="2442986"/>
            <a:ext cx="743550" cy="14278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圓角 27"/>
          <p:cNvSpPr/>
          <p:nvPr/>
        </p:nvSpPr>
        <p:spPr>
          <a:xfrm>
            <a:off x="3679310" y="3683744"/>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1-2</a:t>
            </a:r>
            <a:endParaRPr lang="zh-TW" altLang="en-US" sz="2400" dirty="0"/>
          </a:p>
        </p:txBody>
      </p:sp>
      <p:sp>
        <p:nvSpPr>
          <p:cNvPr id="29" name="矩形: 圓角 28"/>
          <p:cNvSpPr/>
          <p:nvPr/>
        </p:nvSpPr>
        <p:spPr>
          <a:xfrm>
            <a:off x="3679310" y="5142602"/>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1-3</a:t>
            </a:r>
            <a:endParaRPr lang="zh-TW" altLang="en-US" sz="2400" dirty="0"/>
          </a:p>
        </p:txBody>
      </p:sp>
      <p:cxnSp>
        <p:nvCxnSpPr>
          <p:cNvPr id="34" name="直線單箭頭接點 33"/>
          <p:cNvCxnSpPr/>
          <p:nvPr/>
        </p:nvCxnSpPr>
        <p:spPr>
          <a:xfrm>
            <a:off x="2831620" y="3848089"/>
            <a:ext cx="78318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a:off x="2833158" y="3829039"/>
            <a:ext cx="743550" cy="14278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圓角 41"/>
          <p:cNvSpPr/>
          <p:nvPr/>
        </p:nvSpPr>
        <p:spPr>
          <a:xfrm>
            <a:off x="5293458" y="2262986"/>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2-1</a:t>
            </a:r>
            <a:endParaRPr lang="zh-TW" altLang="en-US" sz="2400" dirty="0"/>
          </a:p>
        </p:txBody>
      </p:sp>
      <p:sp>
        <p:nvSpPr>
          <p:cNvPr id="43" name="矩形: 圓角 42"/>
          <p:cNvSpPr/>
          <p:nvPr/>
        </p:nvSpPr>
        <p:spPr>
          <a:xfrm>
            <a:off x="5301190" y="3680349"/>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2-2</a:t>
            </a:r>
            <a:endParaRPr lang="zh-TW" altLang="en-US" sz="2400" dirty="0"/>
          </a:p>
        </p:txBody>
      </p:sp>
      <p:sp>
        <p:nvSpPr>
          <p:cNvPr id="44" name="矩形: 圓角 43"/>
          <p:cNvSpPr/>
          <p:nvPr/>
        </p:nvSpPr>
        <p:spPr>
          <a:xfrm>
            <a:off x="5301190" y="5142602"/>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2-3</a:t>
            </a:r>
            <a:endParaRPr lang="zh-TW" altLang="en-US" sz="2400" dirty="0"/>
          </a:p>
        </p:txBody>
      </p:sp>
      <p:pic>
        <p:nvPicPr>
          <p:cNvPr id="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97808" y="1803595"/>
            <a:ext cx="1052967" cy="1052968"/>
          </a:xfrm>
          <a:prstGeom prst="rect">
            <a:avLst/>
          </a:prstGeom>
          <a:noFill/>
          <a:extLst>
            <a:ext uri="{909E8E84-426E-40DD-AFC4-6F175D3DCCD1}">
              <a14:hiddenFill xmlns:a14="http://schemas.microsoft.com/office/drawing/2010/main">
                <a:solidFill>
                  <a:srgbClr val="FFFFFF"/>
                </a:solidFill>
              </a14:hiddenFill>
            </a:ext>
          </a:extLst>
        </p:spPr>
      </p:pic>
      <p:cxnSp>
        <p:nvCxnSpPr>
          <p:cNvPr id="47" name="直線單箭頭接點 46"/>
          <p:cNvCxnSpPr/>
          <p:nvPr/>
        </p:nvCxnSpPr>
        <p:spPr>
          <a:xfrm>
            <a:off x="6620023" y="2404076"/>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圓角 47"/>
          <p:cNvSpPr/>
          <p:nvPr/>
        </p:nvSpPr>
        <p:spPr>
          <a:xfrm>
            <a:off x="8590386" y="1521188"/>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2-1-1</a:t>
            </a:r>
            <a:endParaRPr lang="zh-TW" altLang="en-US" sz="2400" dirty="0"/>
          </a:p>
        </p:txBody>
      </p:sp>
      <p:pic>
        <p:nvPicPr>
          <p:cNvPr id="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00221" y="3244190"/>
            <a:ext cx="1052967" cy="1052968"/>
          </a:xfrm>
          <a:prstGeom prst="rect">
            <a:avLst/>
          </a:prstGeom>
          <a:noFill/>
          <a:extLst>
            <a:ext uri="{909E8E84-426E-40DD-AFC4-6F175D3DCCD1}">
              <a14:hiddenFill xmlns:a14="http://schemas.microsoft.com/office/drawing/2010/main">
                <a:solidFill>
                  <a:srgbClr val="FFFFFF"/>
                </a:solidFill>
              </a14:hiddenFill>
            </a:ext>
          </a:extLst>
        </p:spPr>
      </p:pic>
      <p:cxnSp>
        <p:nvCxnSpPr>
          <p:cNvPr id="51" name="直線單箭頭接點 50"/>
          <p:cNvCxnSpPr/>
          <p:nvPr/>
        </p:nvCxnSpPr>
        <p:spPr>
          <a:xfrm>
            <a:off x="6661346" y="3844671"/>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00222" y="4730418"/>
            <a:ext cx="1052967" cy="1052968"/>
          </a:xfrm>
          <a:prstGeom prst="rect">
            <a:avLst/>
          </a:prstGeom>
          <a:noFill/>
          <a:extLst>
            <a:ext uri="{909E8E84-426E-40DD-AFC4-6F175D3DCCD1}">
              <a14:hiddenFill xmlns:a14="http://schemas.microsoft.com/office/drawing/2010/main">
                <a:solidFill>
                  <a:srgbClr val="FFFFFF"/>
                </a:solidFill>
              </a14:hiddenFill>
            </a:ext>
          </a:extLst>
        </p:spPr>
      </p:pic>
      <p:cxnSp>
        <p:nvCxnSpPr>
          <p:cNvPr id="53" name="直線單箭頭接點 52"/>
          <p:cNvCxnSpPr/>
          <p:nvPr/>
        </p:nvCxnSpPr>
        <p:spPr>
          <a:xfrm>
            <a:off x="6680802" y="5330899"/>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矩形: 圓角 53"/>
          <p:cNvSpPr/>
          <p:nvPr/>
        </p:nvSpPr>
        <p:spPr>
          <a:xfrm>
            <a:off x="8590386" y="2633486"/>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2-1-2</a:t>
            </a:r>
            <a:endParaRPr lang="zh-TW" altLang="en-US" sz="2400" dirty="0"/>
          </a:p>
        </p:txBody>
      </p:sp>
      <p:sp>
        <p:nvSpPr>
          <p:cNvPr id="55" name="矩形: 圓角 54"/>
          <p:cNvSpPr/>
          <p:nvPr/>
        </p:nvSpPr>
        <p:spPr>
          <a:xfrm>
            <a:off x="10316908" y="1521188"/>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2-1-1</a:t>
            </a:r>
            <a:endParaRPr lang="zh-TW" altLang="en-US" sz="2400" dirty="0"/>
          </a:p>
        </p:txBody>
      </p:sp>
      <p:sp>
        <p:nvSpPr>
          <p:cNvPr id="56" name="矩形: 圓角 55"/>
          <p:cNvSpPr/>
          <p:nvPr/>
        </p:nvSpPr>
        <p:spPr>
          <a:xfrm>
            <a:off x="10316908" y="2633486"/>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2-1-2</a:t>
            </a:r>
            <a:endParaRPr lang="zh-TW" altLang="en-US" sz="2400" dirty="0"/>
          </a:p>
        </p:txBody>
      </p:sp>
      <p:sp>
        <p:nvSpPr>
          <p:cNvPr id="57" name="矩形: 圓角 56"/>
          <p:cNvSpPr/>
          <p:nvPr/>
        </p:nvSpPr>
        <p:spPr>
          <a:xfrm>
            <a:off x="8628486" y="3648102"/>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2-2-1</a:t>
            </a:r>
            <a:endParaRPr lang="zh-TW" altLang="en-US" sz="2400" dirty="0"/>
          </a:p>
        </p:txBody>
      </p:sp>
      <p:sp>
        <p:nvSpPr>
          <p:cNvPr id="58" name="矩形: 圓角 57"/>
          <p:cNvSpPr/>
          <p:nvPr/>
        </p:nvSpPr>
        <p:spPr>
          <a:xfrm>
            <a:off x="10355008" y="3648102"/>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2-2-1</a:t>
            </a:r>
            <a:endParaRPr lang="zh-TW" altLang="en-US" sz="2400" dirty="0"/>
          </a:p>
        </p:txBody>
      </p:sp>
      <p:sp>
        <p:nvSpPr>
          <p:cNvPr id="59" name="矩形: 圓角 58"/>
          <p:cNvSpPr/>
          <p:nvPr/>
        </p:nvSpPr>
        <p:spPr>
          <a:xfrm>
            <a:off x="8590386" y="4692501"/>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2-3-1</a:t>
            </a:r>
            <a:endParaRPr lang="zh-TW" altLang="en-US" sz="2400" dirty="0"/>
          </a:p>
        </p:txBody>
      </p:sp>
      <p:sp>
        <p:nvSpPr>
          <p:cNvPr id="60" name="矩形: 圓角 59"/>
          <p:cNvSpPr/>
          <p:nvPr/>
        </p:nvSpPr>
        <p:spPr>
          <a:xfrm>
            <a:off x="8590386" y="5747649"/>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2-3-2</a:t>
            </a:r>
            <a:endParaRPr lang="zh-TW" altLang="en-US" sz="2400" dirty="0"/>
          </a:p>
        </p:txBody>
      </p:sp>
      <p:sp>
        <p:nvSpPr>
          <p:cNvPr id="61" name="矩形: 圓角 60"/>
          <p:cNvSpPr/>
          <p:nvPr/>
        </p:nvSpPr>
        <p:spPr>
          <a:xfrm>
            <a:off x="10316908" y="4692501"/>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2-3-1</a:t>
            </a:r>
            <a:endParaRPr lang="zh-TW" altLang="en-US" sz="2400" dirty="0"/>
          </a:p>
        </p:txBody>
      </p:sp>
      <p:sp>
        <p:nvSpPr>
          <p:cNvPr id="62" name="矩形: 圓角 61"/>
          <p:cNvSpPr/>
          <p:nvPr/>
        </p:nvSpPr>
        <p:spPr>
          <a:xfrm>
            <a:off x="10316908" y="5747649"/>
            <a:ext cx="1586161"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2-3-2</a:t>
            </a:r>
            <a:endParaRPr lang="zh-TW" altLang="en-US" sz="2400" dirty="0"/>
          </a:p>
        </p:txBody>
      </p:sp>
      <p:cxnSp>
        <p:nvCxnSpPr>
          <p:cNvPr id="63" name="直線單箭頭接點 62"/>
          <p:cNvCxnSpPr/>
          <p:nvPr/>
        </p:nvCxnSpPr>
        <p:spPr>
          <a:xfrm flipV="1">
            <a:off x="8207925" y="1701188"/>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5" name="直線單箭頭接點 1024"/>
          <p:cNvCxnSpPr/>
          <p:nvPr/>
        </p:nvCxnSpPr>
        <p:spPr>
          <a:xfrm>
            <a:off x="8232833" y="2314448"/>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7" name="直線單箭頭接點 1026"/>
          <p:cNvCxnSpPr/>
          <p:nvPr/>
        </p:nvCxnSpPr>
        <p:spPr>
          <a:xfrm flipV="1">
            <a:off x="8183017" y="4794452"/>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8" name="直線單箭頭接點 1027"/>
          <p:cNvCxnSpPr/>
          <p:nvPr/>
        </p:nvCxnSpPr>
        <p:spPr>
          <a:xfrm>
            <a:off x="8207925" y="5407712"/>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9" name="直線單箭頭接點 1028"/>
          <p:cNvCxnSpPr/>
          <p:nvPr/>
        </p:nvCxnSpPr>
        <p:spPr>
          <a:xfrm>
            <a:off x="8148008" y="3825610"/>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1419" y="4176121"/>
            <a:ext cx="743550" cy="7435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3796" y="4491442"/>
            <a:ext cx="719546" cy="719546"/>
          </a:xfrm>
          <a:prstGeom prst="rect">
            <a:avLst/>
          </a:prstGeom>
          <a:noFill/>
          <a:extLst>
            <a:ext uri="{909E8E84-426E-40DD-AFC4-6F175D3DCCD1}">
              <a14:hiddenFill xmlns:a14="http://schemas.microsoft.com/office/drawing/2010/main">
                <a:solidFill>
                  <a:srgbClr val="FFFFFF"/>
                </a:solidFill>
              </a14:hiddenFill>
            </a:ext>
          </a:extLst>
        </p:spPr>
      </p:pic>
      <p:sp>
        <p:nvSpPr>
          <p:cNvPr id="3" name="文字方塊 2"/>
          <p:cNvSpPr txBox="1"/>
          <p:nvPr/>
        </p:nvSpPr>
        <p:spPr>
          <a:xfrm>
            <a:off x="609600" y="132920"/>
            <a:ext cx="5506378" cy="523220"/>
          </a:xfrm>
          <a:prstGeom prst="rect">
            <a:avLst/>
          </a:prstGeom>
          <a:noFill/>
        </p:spPr>
        <p:txBody>
          <a:bodyPr wrap="square" rtlCol="0">
            <a:spAutoFit/>
          </a:bodyPr>
          <a:lstStyle/>
          <a:p>
            <a:r>
              <a:rPr lang="zh-TW" altLang="en-US" sz="2800" dirty="0">
                <a:solidFill>
                  <a:srgbClr val="FF0000"/>
                </a:solidFill>
                <a:latin typeface="Microsoft JhengHei" panose="020B0604030504040204" pitchFamily="34" charset="-120"/>
                <a:ea typeface="Microsoft JhengHei" panose="020B0604030504040204" pitchFamily="34" charset="-120"/>
              </a:rPr>
              <a:t>缺點：有些動作無法回溯</a:t>
            </a:r>
            <a:endParaRPr lang="zh-TW" altLang="en-US" sz="2800" dirty="0">
              <a:solidFill>
                <a:srgbClr val="FF0000"/>
              </a:solidFill>
              <a:latin typeface="Microsoft JhengHei" panose="020B0604030504040204" pitchFamily="34" charset="-120"/>
              <a:ea typeface="Microsoft JhengHei" panose="020B0604030504040204" pitchFamily="34" charset="-120"/>
            </a:endParaRPr>
          </a:p>
        </p:txBody>
      </p:sp>
      <p:sp>
        <p:nvSpPr>
          <p:cNvPr id="5" name="文字方塊 4"/>
          <p:cNvSpPr txBox="1"/>
          <p:nvPr/>
        </p:nvSpPr>
        <p:spPr>
          <a:xfrm>
            <a:off x="3608544" y="1748515"/>
            <a:ext cx="1586162" cy="461665"/>
          </a:xfrm>
          <a:prstGeom prst="rect">
            <a:avLst/>
          </a:prstGeom>
          <a:noFill/>
        </p:spPr>
        <p:txBody>
          <a:bodyPr wrap="square" rtlCol="0">
            <a:spAutoFit/>
          </a:bodyPr>
          <a:lstStyle/>
          <a:p>
            <a:pPr algn="ctr"/>
            <a:r>
              <a:rPr lang="zh-TW" altLang="en-US" sz="2400" b="1" dirty="0">
                <a:latin typeface="Microsoft JhengHei" panose="020B0604030504040204" pitchFamily="34" charset="-120"/>
                <a:ea typeface="Microsoft JhengHei" panose="020B0604030504040204" pitchFamily="34" charset="-120"/>
              </a:rPr>
              <a:t>訂披薩</a:t>
            </a:r>
            <a:endParaRPr lang="zh-TW" altLang="en-US" sz="2400" b="1" dirty="0">
              <a:latin typeface="Microsoft JhengHei" panose="020B0604030504040204" pitchFamily="34" charset="-120"/>
              <a:ea typeface="Microsoft JhengHei" panose="020B0604030504040204" pitchFamily="34" charset="-120"/>
            </a:endParaRPr>
          </a:p>
        </p:txBody>
      </p:sp>
      <p:sp>
        <p:nvSpPr>
          <p:cNvPr id="6" name="文字方塊 5"/>
          <p:cNvSpPr txBox="1"/>
          <p:nvPr/>
        </p:nvSpPr>
        <p:spPr>
          <a:xfrm>
            <a:off x="3679310" y="5631315"/>
            <a:ext cx="1586162" cy="461665"/>
          </a:xfrm>
          <a:prstGeom prst="rect">
            <a:avLst/>
          </a:prstGeom>
          <a:noFill/>
        </p:spPr>
        <p:txBody>
          <a:bodyPr wrap="square" rtlCol="0">
            <a:spAutoFit/>
          </a:bodyPr>
          <a:lstStyle/>
          <a:p>
            <a:pPr algn="ctr"/>
            <a:r>
              <a:rPr lang="zh-TW" altLang="en-US" sz="2400" b="1" dirty="0">
                <a:latin typeface="Microsoft JhengHei" panose="020B0604030504040204" pitchFamily="34" charset="-120"/>
                <a:ea typeface="Microsoft JhengHei" panose="020B0604030504040204" pitchFamily="34" charset="-120"/>
              </a:rPr>
              <a:t>訂便當</a:t>
            </a:r>
            <a:endParaRPr lang="zh-TW" altLang="en-US" sz="2400" b="1" dirty="0">
              <a:latin typeface="Microsoft JhengHei" panose="020B0604030504040204" pitchFamily="34" charset="-120"/>
              <a:ea typeface="Microsoft JhengHei" panose="020B0604030504040204" pitchFamily="34" charset="-120"/>
            </a:endParaRPr>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0823" y="849963"/>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7" name="語音泡泡: 圓角矩形 6"/>
          <p:cNvSpPr/>
          <p:nvPr/>
        </p:nvSpPr>
        <p:spPr>
          <a:xfrm>
            <a:off x="1757714" y="921975"/>
            <a:ext cx="2931000" cy="697827"/>
          </a:xfrm>
          <a:prstGeom prst="wedgeRoundRectCallout">
            <a:avLst>
              <a:gd name="adj1" fmla="val 70244"/>
              <a:gd name="adj2" fmla="val 49530"/>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訂都訂了誰管你啊</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9355" y="3302555"/>
            <a:ext cx="1052967" cy="1052968"/>
          </a:xfrm>
          <a:prstGeom prst="rect">
            <a:avLst/>
          </a:prstGeom>
          <a:noFill/>
          <a:extLst>
            <a:ext uri="{909E8E84-426E-40DD-AFC4-6F175D3DCCD1}">
              <a14:hiddenFill xmlns:a14="http://schemas.microsoft.com/office/drawing/2010/main">
                <a:solidFill>
                  <a:srgbClr val="FFFFFF"/>
                </a:solidFill>
              </a14:hiddenFill>
            </a:ext>
          </a:extLst>
        </p:spPr>
      </p:pic>
      <p:sp>
        <p:nvSpPr>
          <p:cNvPr id="62" name="語音泡泡: 矩形 61"/>
          <p:cNvSpPr/>
          <p:nvPr/>
        </p:nvSpPr>
        <p:spPr>
          <a:xfrm>
            <a:off x="2798344" y="99651"/>
            <a:ext cx="9295225" cy="6492875"/>
          </a:xfrm>
          <a:prstGeom prst="wedgeRectCallout">
            <a:avLst>
              <a:gd name="adj1" fmla="val -55615"/>
              <a:gd name="adj2" fmla="val 8974"/>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圓角 4"/>
          <p:cNvSpPr/>
          <p:nvPr/>
        </p:nvSpPr>
        <p:spPr>
          <a:xfrm>
            <a:off x="0" y="3668089"/>
            <a:ext cx="12192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cxnSp>
        <p:nvCxnSpPr>
          <p:cNvPr id="6" name="直線單箭頭接點 5"/>
          <p:cNvCxnSpPr/>
          <p:nvPr/>
        </p:nvCxnSpPr>
        <p:spPr>
          <a:xfrm>
            <a:off x="1270955" y="3870849"/>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 name="群組 1"/>
          <p:cNvGrpSpPr/>
          <p:nvPr/>
        </p:nvGrpSpPr>
        <p:grpSpPr>
          <a:xfrm>
            <a:off x="2932222" y="672415"/>
            <a:ext cx="9335696" cy="5516844"/>
            <a:chOff x="2932222" y="672415"/>
            <a:chExt cx="9335696" cy="5516844"/>
          </a:xfrm>
        </p:grpSpPr>
        <p:sp>
          <p:nvSpPr>
            <p:cNvPr id="40" name="矩形: 圓角 39"/>
            <p:cNvSpPr/>
            <p:nvPr/>
          </p:nvSpPr>
          <p:spPr>
            <a:xfrm>
              <a:off x="4784210" y="2262986"/>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1-1</a:t>
              </a:r>
              <a:endParaRPr lang="zh-TW" altLang="en-US" sz="2400" dirty="0"/>
            </a:p>
          </p:txBody>
        </p:sp>
        <p:cxnSp>
          <p:nvCxnSpPr>
            <p:cNvPr id="41" name="直線單箭頭接點 40"/>
            <p:cNvCxnSpPr/>
            <p:nvPr/>
          </p:nvCxnSpPr>
          <p:spPr>
            <a:xfrm flipV="1">
              <a:off x="3938058" y="2442986"/>
              <a:ext cx="743550" cy="14278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圓角 41"/>
            <p:cNvSpPr/>
            <p:nvPr/>
          </p:nvSpPr>
          <p:spPr>
            <a:xfrm>
              <a:off x="4784210" y="5142602"/>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1-2</a:t>
              </a:r>
              <a:endParaRPr lang="zh-TW" altLang="en-US" sz="2400" dirty="0"/>
            </a:p>
          </p:txBody>
        </p:sp>
        <p:cxnSp>
          <p:nvCxnSpPr>
            <p:cNvPr id="43" name="直線單箭頭接點 42"/>
            <p:cNvCxnSpPr/>
            <p:nvPr/>
          </p:nvCxnSpPr>
          <p:spPr>
            <a:xfrm>
              <a:off x="3938058" y="3829039"/>
              <a:ext cx="743550" cy="14278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圓角 43"/>
            <p:cNvSpPr/>
            <p:nvPr/>
          </p:nvSpPr>
          <p:spPr>
            <a:xfrm>
              <a:off x="6398358" y="2262986"/>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2-1</a:t>
              </a:r>
              <a:endParaRPr lang="zh-TW" altLang="en-US" sz="2400" dirty="0"/>
            </a:p>
          </p:txBody>
        </p:sp>
        <p:sp>
          <p:nvSpPr>
            <p:cNvPr id="45" name="矩形: 圓角 44"/>
            <p:cNvSpPr/>
            <p:nvPr/>
          </p:nvSpPr>
          <p:spPr>
            <a:xfrm>
              <a:off x="6406090" y="5142602"/>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2-2</a:t>
              </a:r>
              <a:endParaRPr lang="zh-TW" altLang="en-US" sz="2400" dirty="0"/>
            </a:p>
          </p:txBody>
        </p:sp>
        <p:pic>
          <p:nvPicPr>
            <p:cNvPr id="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52025" y="1099936"/>
              <a:ext cx="1052967" cy="1052968"/>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05122" y="4730418"/>
              <a:ext cx="1052967" cy="1052968"/>
            </a:xfrm>
            <a:prstGeom prst="rect">
              <a:avLst/>
            </a:prstGeom>
            <a:noFill/>
            <a:extLst>
              <a:ext uri="{909E8E84-426E-40DD-AFC4-6F175D3DCCD1}">
                <a14:hiddenFill xmlns:a14="http://schemas.microsoft.com/office/drawing/2010/main">
                  <a:solidFill>
                    <a:srgbClr val="FFFFFF"/>
                  </a:solidFill>
                </a14:hiddenFill>
              </a:ext>
            </a:extLst>
          </p:spPr>
        </p:pic>
        <p:cxnSp>
          <p:nvCxnSpPr>
            <p:cNvPr id="48" name="直線單箭頭接點 47"/>
            <p:cNvCxnSpPr/>
            <p:nvPr/>
          </p:nvCxnSpPr>
          <p:spPr>
            <a:xfrm>
              <a:off x="7785702" y="5330899"/>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矩形: 圓角 48"/>
            <p:cNvSpPr/>
            <p:nvPr/>
          </p:nvSpPr>
          <p:spPr>
            <a:xfrm>
              <a:off x="9695286" y="4692501"/>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2-2-1</a:t>
              </a:r>
              <a:endParaRPr lang="zh-TW" altLang="en-US" sz="2400" dirty="0"/>
            </a:p>
          </p:txBody>
        </p:sp>
        <p:sp>
          <p:nvSpPr>
            <p:cNvPr id="50" name="矩形: 圓角 49"/>
            <p:cNvSpPr/>
            <p:nvPr/>
          </p:nvSpPr>
          <p:spPr>
            <a:xfrm>
              <a:off x="9695286" y="5747649"/>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2-2-2</a:t>
              </a:r>
              <a:endParaRPr lang="zh-TW" altLang="en-US" sz="2400" dirty="0"/>
            </a:p>
          </p:txBody>
        </p:sp>
        <p:cxnSp>
          <p:nvCxnSpPr>
            <p:cNvPr id="53" name="直線單箭頭接點 52"/>
            <p:cNvCxnSpPr/>
            <p:nvPr/>
          </p:nvCxnSpPr>
          <p:spPr>
            <a:xfrm flipV="1">
              <a:off x="9287917" y="4794452"/>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p:nvPr/>
          </p:nvCxnSpPr>
          <p:spPr>
            <a:xfrm>
              <a:off x="9312825" y="5407712"/>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5468" y="2050343"/>
              <a:ext cx="766916" cy="766916"/>
            </a:xfrm>
            <a:prstGeom prst="rect">
              <a:avLst/>
            </a:prstGeom>
            <a:noFill/>
            <a:extLst>
              <a:ext uri="{909E8E84-426E-40DD-AFC4-6F175D3DCCD1}">
                <a14:hiddenFill xmlns:a14="http://schemas.microsoft.com/office/drawing/2010/main">
                  <a:solidFill>
                    <a:srgbClr val="FFFFFF"/>
                  </a:solidFill>
                </a14:hiddenFill>
              </a:ext>
            </a:extLst>
          </p:spPr>
        </p:pic>
        <p:sp>
          <p:nvSpPr>
            <p:cNvPr id="56" name="語音泡泡: 圓角矩形 55"/>
            <p:cNvSpPr/>
            <p:nvPr/>
          </p:nvSpPr>
          <p:spPr>
            <a:xfrm>
              <a:off x="4847998" y="672415"/>
              <a:ext cx="1917891" cy="697827"/>
            </a:xfrm>
            <a:prstGeom prst="wedgeRoundRectCallout">
              <a:avLst>
                <a:gd name="adj1" fmla="val -47023"/>
                <a:gd name="adj2" fmla="val 80004"/>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有機會嗎？</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57" name="語音泡泡: 圓角矩形 56"/>
            <p:cNvSpPr/>
            <p:nvPr/>
          </p:nvSpPr>
          <p:spPr>
            <a:xfrm>
              <a:off x="7947626" y="707667"/>
              <a:ext cx="1340292" cy="697827"/>
            </a:xfrm>
            <a:prstGeom prst="wedgeRoundRectCallout">
              <a:avLst>
                <a:gd name="adj1" fmla="val -47023"/>
                <a:gd name="adj2" fmla="val 80004"/>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沒有 </a:t>
              </a:r>
              <a:r>
                <a:rPr lang="en-US" altLang="zh-TW" sz="2400" dirty="0">
                  <a:solidFill>
                    <a:schemeClr val="tx1"/>
                  </a:solidFill>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pic>
          <p:nvPicPr>
            <p:cNvPr id="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72514" y="3938733"/>
              <a:ext cx="1052967" cy="1052968"/>
            </a:xfrm>
            <a:prstGeom prst="rect">
              <a:avLst/>
            </a:prstGeom>
            <a:noFill/>
            <a:extLst>
              <a:ext uri="{909E8E84-426E-40DD-AFC4-6F175D3DCCD1}">
                <a14:hiddenFill xmlns:a14="http://schemas.microsoft.com/office/drawing/2010/main">
                  <a:solidFill>
                    <a:srgbClr val="FFFFFF"/>
                  </a:solidFill>
                </a14:hiddenFill>
              </a:ext>
            </a:extLst>
          </p:spPr>
        </p:pic>
        <p:sp>
          <p:nvSpPr>
            <p:cNvPr id="59" name="語音泡泡: 圓角矩形 58"/>
            <p:cNvSpPr/>
            <p:nvPr/>
          </p:nvSpPr>
          <p:spPr>
            <a:xfrm>
              <a:off x="4968487" y="3511212"/>
              <a:ext cx="1917891" cy="697827"/>
            </a:xfrm>
            <a:prstGeom prst="wedgeRoundRectCallout">
              <a:avLst>
                <a:gd name="adj1" fmla="val -47023"/>
                <a:gd name="adj2" fmla="val 80004"/>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有機會嗎？</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60" name="語音泡泡: 圓角矩形 59"/>
            <p:cNvSpPr/>
            <p:nvPr/>
          </p:nvSpPr>
          <p:spPr>
            <a:xfrm>
              <a:off x="8068115" y="3546464"/>
              <a:ext cx="1340292" cy="697827"/>
            </a:xfrm>
            <a:prstGeom prst="wedgeRoundRectCallout">
              <a:avLst>
                <a:gd name="adj1" fmla="val -47023"/>
                <a:gd name="adj2" fmla="val 80004"/>
                <a:gd name="adj3" fmla="val 16667"/>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icrosoft JhengHei" panose="020B0604030504040204" pitchFamily="34" charset="-120"/>
                  <a:ea typeface="Microsoft JhengHei" panose="020B0604030504040204" pitchFamily="34" charset="-120"/>
                </a:rPr>
                <a:t>有 </a:t>
              </a:r>
              <a:r>
                <a:rPr lang="en-US" altLang="zh-TW" sz="2400" dirty="0">
                  <a:solidFill>
                    <a:schemeClr val="tx1"/>
                  </a:solidFill>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400" dirty="0">
                <a:solidFill>
                  <a:schemeClr val="tx1"/>
                </a:solidFill>
                <a:latin typeface="Microsoft JhengHei" panose="020B0604030504040204" pitchFamily="34" charset="-120"/>
                <a:ea typeface="Microsoft JhengHei" panose="020B0604030504040204" pitchFamily="34" charset="-120"/>
              </a:endParaRPr>
            </a:p>
          </p:txBody>
        </p:sp>
        <p:sp>
          <p:nvSpPr>
            <p:cNvPr id="61" name="文字方塊 60"/>
            <p:cNvSpPr txBox="1"/>
            <p:nvPr/>
          </p:nvSpPr>
          <p:spPr>
            <a:xfrm>
              <a:off x="8551179" y="2244437"/>
              <a:ext cx="3240771" cy="461665"/>
            </a:xfrm>
            <a:prstGeom prst="rect">
              <a:avLst/>
            </a:prstGeom>
            <a:noFill/>
          </p:spPr>
          <p:txBody>
            <a:bodyPr wrap="square" rtlCol="0">
              <a:spAutoFit/>
            </a:bodyPr>
            <a:lstStyle/>
            <a:p>
              <a:r>
                <a:rPr lang="zh-TW" altLang="en-US" sz="2400" dirty="0">
                  <a:solidFill>
                    <a:srgbClr val="FF0000"/>
                  </a:solidFill>
                  <a:latin typeface="Microsoft JhengHei" panose="020B0604030504040204" pitchFamily="34" charset="-120"/>
                  <a:ea typeface="Microsoft JhengHei" panose="020B0604030504040204" pitchFamily="34" charset="-120"/>
                </a:rPr>
                <a:t>減少沒必要的搜尋</a:t>
              </a:r>
              <a:endParaRPr lang="zh-TW" altLang="en-US" sz="2400" dirty="0">
                <a:solidFill>
                  <a:srgbClr val="FF0000"/>
                </a:solidFill>
                <a:latin typeface="Microsoft JhengHei" panose="020B0604030504040204" pitchFamily="34" charset="-120"/>
                <a:ea typeface="Microsoft JhengHei" panose="020B0604030504040204" pitchFamily="34" charset="-120"/>
              </a:endParaRPr>
            </a:p>
          </p:txBody>
        </p:sp>
        <p:pic>
          <p:nvPicPr>
            <p:cNvPr id="6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32222" y="3288938"/>
              <a:ext cx="1052967" cy="1052968"/>
            </a:xfrm>
            <a:prstGeom prst="rect">
              <a:avLst/>
            </a:prstGeom>
            <a:noFill/>
            <a:extLst>
              <a:ext uri="{909E8E84-426E-40DD-AFC4-6F175D3DCCD1}">
                <a14:hiddenFill xmlns:a14="http://schemas.microsoft.com/office/drawing/2010/main">
                  <a:solidFill>
                    <a:srgbClr val="FFFFFF"/>
                  </a:solidFill>
                </a14:hiddenFill>
              </a:ext>
            </a:extLst>
          </p:spPr>
        </p:pic>
        <p:sp>
          <p:nvSpPr>
            <p:cNvPr id="64" name="文字方塊 63"/>
            <p:cNvSpPr txBox="1"/>
            <p:nvPr/>
          </p:nvSpPr>
          <p:spPr>
            <a:xfrm>
              <a:off x="11429718" y="4524376"/>
              <a:ext cx="838200" cy="523220"/>
            </a:xfrm>
            <a:prstGeom prst="rect">
              <a:avLst/>
            </a:prstGeom>
            <a:noFill/>
          </p:spPr>
          <p:txBody>
            <a:bodyPr wrap="square" rtlCol="0">
              <a:spAutoFit/>
            </a:bodyPr>
            <a:lstStyle/>
            <a:p>
              <a:r>
                <a:rPr lang="en-US" altLang="zh-TW" sz="2800" b="1" dirty="0"/>
                <a:t>……</a:t>
              </a:r>
              <a:endParaRPr lang="zh-TW" altLang="en-US" sz="2800" b="1" dirty="0"/>
            </a:p>
          </p:txBody>
        </p:sp>
        <p:sp>
          <p:nvSpPr>
            <p:cNvPr id="65" name="文字方塊 64"/>
            <p:cNvSpPr txBox="1"/>
            <p:nvPr/>
          </p:nvSpPr>
          <p:spPr>
            <a:xfrm>
              <a:off x="11419349" y="5666039"/>
              <a:ext cx="838200" cy="523220"/>
            </a:xfrm>
            <a:prstGeom prst="rect">
              <a:avLst/>
            </a:prstGeom>
            <a:noFill/>
          </p:spPr>
          <p:txBody>
            <a:bodyPr wrap="square" rtlCol="0">
              <a:spAutoFit/>
            </a:bodyPr>
            <a:lstStyle/>
            <a:p>
              <a:r>
                <a:rPr lang="en-US" altLang="zh-TW" sz="2800" b="1" dirty="0"/>
                <a:t>……</a:t>
              </a:r>
              <a:endParaRPr lang="zh-TW" altLang="en-US" sz="2800" b="1" dirty="0"/>
            </a:p>
          </p:txBody>
        </p:sp>
      </p:gr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9355" y="3302555"/>
            <a:ext cx="1052967" cy="1052968"/>
          </a:xfrm>
          <a:prstGeom prst="rect">
            <a:avLst/>
          </a:prstGeom>
          <a:noFill/>
          <a:extLst>
            <a:ext uri="{909E8E84-426E-40DD-AFC4-6F175D3DCCD1}">
              <a14:hiddenFill xmlns:a14="http://schemas.microsoft.com/office/drawing/2010/main">
                <a:solidFill>
                  <a:srgbClr val="FFFFFF"/>
                </a:solidFill>
              </a14:hiddenFill>
            </a:ext>
          </a:extLst>
        </p:spPr>
      </p:pic>
      <p:sp>
        <p:nvSpPr>
          <p:cNvPr id="62" name="語音泡泡: 矩形 61"/>
          <p:cNvSpPr/>
          <p:nvPr/>
        </p:nvSpPr>
        <p:spPr>
          <a:xfrm>
            <a:off x="2798344" y="99651"/>
            <a:ext cx="9295225" cy="6492875"/>
          </a:xfrm>
          <a:prstGeom prst="wedgeRectCallout">
            <a:avLst>
              <a:gd name="adj1" fmla="val -55615"/>
              <a:gd name="adj2" fmla="val 8974"/>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圓角 4"/>
          <p:cNvSpPr/>
          <p:nvPr/>
        </p:nvSpPr>
        <p:spPr>
          <a:xfrm>
            <a:off x="0" y="3668089"/>
            <a:ext cx="1219200"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1</a:t>
            </a:r>
            <a:endParaRPr lang="zh-TW" altLang="en-US" sz="2400" dirty="0"/>
          </a:p>
        </p:txBody>
      </p:sp>
      <p:cxnSp>
        <p:nvCxnSpPr>
          <p:cNvPr id="6" name="直線單箭頭接點 5"/>
          <p:cNvCxnSpPr/>
          <p:nvPr/>
        </p:nvCxnSpPr>
        <p:spPr>
          <a:xfrm>
            <a:off x="1270955" y="3870849"/>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矩形: 圓角 39"/>
          <p:cNvSpPr/>
          <p:nvPr/>
        </p:nvSpPr>
        <p:spPr>
          <a:xfrm>
            <a:off x="4784210" y="2262986"/>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1-1</a:t>
            </a:r>
            <a:endParaRPr lang="zh-TW" altLang="en-US" sz="2400" dirty="0"/>
          </a:p>
        </p:txBody>
      </p:sp>
      <p:cxnSp>
        <p:nvCxnSpPr>
          <p:cNvPr id="41" name="直線單箭頭接點 40"/>
          <p:cNvCxnSpPr/>
          <p:nvPr/>
        </p:nvCxnSpPr>
        <p:spPr>
          <a:xfrm flipV="1">
            <a:off x="3938058" y="2442986"/>
            <a:ext cx="743550" cy="14278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圓角 41"/>
          <p:cNvSpPr/>
          <p:nvPr/>
        </p:nvSpPr>
        <p:spPr>
          <a:xfrm>
            <a:off x="4784210" y="5142602"/>
            <a:ext cx="1554298"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1-2</a:t>
            </a:r>
            <a:endParaRPr lang="zh-TW" altLang="en-US" sz="2400" dirty="0"/>
          </a:p>
        </p:txBody>
      </p:sp>
      <p:cxnSp>
        <p:nvCxnSpPr>
          <p:cNvPr id="43" name="直線單箭頭接點 42"/>
          <p:cNvCxnSpPr/>
          <p:nvPr/>
        </p:nvCxnSpPr>
        <p:spPr>
          <a:xfrm>
            <a:off x="3938058" y="3829039"/>
            <a:ext cx="743550" cy="14278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圓角 43"/>
          <p:cNvSpPr/>
          <p:nvPr/>
        </p:nvSpPr>
        <p:spPr>
          <a:xfrm>
            <a:off x="6398358" y="2262986"/>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2-1</a:t>
            </a:r>
            <a:endParaRPr lang="zh-TW" altLang="en-US" sz="2400" dirty="0"/>
          </a:p>
        </p:txBody>
      </p:sp>
      <p:sp>
        <p:nvSpPr>
          <p:cNvPr id="45" name="矩形: 圓角 44"/>
          <p:cNvSpPr/>
          <p:nvPr/>
        </p:nvSpPr>
        <p:spPr>
          <a:xfrm>
            <a:off x="6406090" y="5142602"/>
            <a:ext cx="1299378" cy="360000"/>
          </a:xfrm>
          <a:prstGeom prst="roundRect">
            <a:avLst/>
          </a:prstGeom>
          <a:solidFill>
            <a:schemeClr val="accent5">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err="1"/>
              <a:t>obs</a:t>
            </a:r>
            <a:r>
              <a:rPr lang="en-US" altLang="zh-TW" sz="2400" dirty="0"/>
              <a:t> 2-2</a:t>
            </a:r>
            <a:endParaRPr lang="zh-TW" altLang="en-US" sz="2400" dirty="0"/>
          </a:p>
        </p:txBody>
      </p:sp>
      <p:pic>
        <p:nvPicPr>
          <p:cNvPr id="4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05122" y="4730418"/>
            <a:ext cx="1052967" cy="1052968"/>
          </a:xfrm>
          <a:prstGeom prst="rect">
            <a:avLst/>
          </a:prstGeom>
          <a:noFill/>
          <a:extLst>
            <a:ext uri="{909E8E84-426E-40DD-AFC4-6F175D3DCCD1}">
              <a14:hiddenFill xmlns:a14="http://schemas.microsoft.com/office/drawing/2010/main">
                <a:solidFill>
                  <a:srgbClr val="FFFFFF"/>
                </a:solidFill>
              </a14:hiddenFill>
            </a:ext>
          </a:extLst>
        </p:spPr>
      </p:pic>
      <p:cxnSp>
        <p:nvCxnSpPr>
          <p:cNvPr id="48" name="直線單箭頭接點 47"/>
          <p:cNvCxnSpPr/>
          <p:nvPr/>
        </p:nvCxnSpPr>
        <p:spPr>
          <a:xfrm>
            <a:off x="7785702" y="5330899"/>
            <a:ext cx="44237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矩形: 圓角 48"/>
          <p:cNvSpPr/>
          <p:nvPr/>
        </p:nvSpPr>
        <p:spPr>
          <a:xfrm>
            <a:off x="9695286" y="4692501"/>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2-2-1</a:t>
            </a:r>
            <a:endParaRPr lang="zh-TW" altLang="en-US" sz="2400" dirty="0"/>
          </a:p>
        </p:txBody>
      </p:sp>
      <p:sp>
        <p:nvSpPr>
          <p:cNvPr id="50" name="矩形: 圓角 49"/>
          <p:cNvSpPr/>
          <p:nvPr/>
        </p:nvSpPr>
        <p:spPr>
          <a:xfrm>
            <a:off x="9695286" y="5747649"/>
            <a:ext cx="1724063" cy="360000"/>
          </a:xfrm>
          <a:prstGeom prst="roundRect">
            <a:avLst/>
          </a:prstGeom>
          <a:solidFill>
            <a:schemeClr val="accent2">
              <a:lumMod val="20000"/>
              <a:lumOff val="80000"/>
            </a:schemeClr>
          </a:solidFill>
          <a:ln w="381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action 2-2-2</a:t>
            </a:r>
            <a:endParaRPr lang="zh-TW" altLang="en-US" sz="2400" dirty="0"/>
          </a:p>
        </p:txBody>
      </p:sp>
      <p:cxnSp>
        <p:nvCxnSpPr>
          <p:cNvPr id="53" name="直線單箭頭接點 52"/>
          <p:cNvCxnSpPr/>
          <p:nvPr/>
        </p:nvCxnSpPr>
        <p:spPr>
          <a:xfrm flipV="1">
            <a:off x="9287917" y="4794452"/>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p:nvPr/>
        </p:nvCxnSpPr>
        <p:spPr>
          <a:xfrm>
            <a:off x="9312825" y="5407712"/>
            <a:ext cx="344361" cy="56557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5468" y="2050343"/>
            <a:ext cx="766916" cy="766916"/>
          </a:xfrm>
          <a:prstGeom prst="rect">
            <a:avLst/>
          </a:prstGeom>
          <a:noFill/>
          <a:extLst>
            <a:ext uri="{909E8E84-426E-40DD-AFC4-6F175D3DCCD1}">
              <a14:hiddenFill xmlns:a14="http://schemas.microsoft.com/office/drawing/2010/main">
                <a:solidFill>
                  <a:srgbClr val="FFFFFF"/>
                </a:solidFill>
              </a14:hiddenFill>
            </a:ext>
          </a:extLst>
        </p:spPr>
      </p:pic>
      <p:sp>
        <p:nvSpPr>
          <p:cNvPr id="61" name="文字方塊 60"/>
          <p:cNvSpPr txBox="1"/>
          <p:nvPr/>
        </p:nvSpPr>
        <p:spPr>
          <a:xfrm>
            <a:off x="8551179" y="2244437"/>
            <a:ext cx="3240771" cy="461665"/>
          </a:xfrm>
          <a:prstGeom prst="rect">
            <a:avLst/>
          </a:prstGeom>
          <a:noFill/>
        </p:spPr>
        <p:txBody>
          <a:bodyPr wrap="square" rtlCol="0">
            <a:spAutoFit/>
          </a:bodyPr>
          <a:lstStyle/>
          <a:p>
            <a:r>
              <a:rPr lang="zh-TW" altLang="en-US" sz="2400" dirty="0">
                <a:solidFill>
                  <a:srgbClr val="FF0000"/>
                </a:solidFill>
                <a:latin typeface="Microsoft JhengHei" panose="020B0604030504040204" pitchFamily="34" charset="-120"/>
                <a:ea typeface="Microsoft JhengHei" panose="020B0604030504040204" pitchFamily="34" charset="-120"/>
              </a:rPr>
              <a:t>減少沒必要的搜尋</a:t>
            </a:r>
            <a:endParaRPr lang="zh-TW" altLang="en-US" sz="2400" dirty="0">
              <a:solidFill>
                <a:srgbClr val="FF0000"/>
              </a:solidFill>
              <a:latin typeface="Microsoft JhengHei" panose="020B0604030504040204" pitchFamily="34" charset="-120"/>
              <a:ea typeface="Microsoft JhengHei" panose="020B0604030504040204" pitchFamily="34" charset="-120"/>
            </a:endParaRPr>
          </a:p>
        </p:txBody>
      </p:sp>
      <p:pic>
        <p:nvPicPr>
          <p:cNvPr id="6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32222" y="3288938"/>
            <a:ext cx="1052967" cy="1052968"/>
          </a:xfrm>
          <a:prstGeom prst="rect">
            <a:avLst/>
          </a:prstGeom>
          <a:noFill/>
          <a:extLst>
            <a:ext uri="{909E8E84-426E-40DD-AFC4-6F175D3DCCD1}">
              <a14:hiddenFill xmlns:a14="http://schemas.microsoft.com/office/drawing/2010/main">
                <a:solidFill>
                  <a:srgbClr val="FFFFFF"/>
                </a:solidFill>
              </a14:hiddenFill>
            </a:ext>
          </a:extLst>
        </p:spPr>
      </p:pic>
      <p:sp>
        <p:nvSpPr>
          <p:cNvPr id="64" name="文字方塊 63"/>
          <p:cNvSpPr txBox="1"/>
          <p:nvPr/>
        </p:nvSpPr>
        <p:spPr>
          <a:xfrm>
            <a:off x="11429718" y="4524376"/>
            <a:ext cx="838200" cy="523220"/>
          </a:xfrm>
          <a:prstGeom prst="rect">
            <a:avLst/>
          </a:prstGeom>
          <a:noFill/>
        </p:spPr>
        <p:txBody>
          <a:bodyPr wrap="square" rtlCol="0">
            <a:spAutoFit/>
          </a:bodyPr>
          <a:lstStyle/>
          <a:p>
            <a:r>
              <a:rPr lang="en-US" altLang="zh-TW" sz="2800" b="1" dirty="0"/>
              <a:t>……</a:t>
            </a:r>
            <a:endParaRPr lang="zh-TW" altLang="en-US" sz="2800" b="1" dirty="0"/>
          </a:p>
        </p:txBody>
      </p:sp>
      <p:sp>
        <p:nvSpPr>
          <p:cNvPr id="65" name="文字方塊 64"/>
          <p:cNvSpPr txBox="1"/>
          <p:nvPr/>
        </p:nvSpPr>
        <p:spPr>
          <a:xfrm>
            <a:off x="11419349" y="5666039"/>
            <a:ext cx="838200" cy="523220"/>
          </a:xfrm>
          <a:prstGeom prst="rect">
            <a:avLst/>
          </a:prstGeom>
          <a:noFill/>
        </p:spPr>
        <p:txBody>
          <a:bodyPr wrap="square" rtlCol="0">
            <a:spAutoFit/>
          </a:bodyPr>
          <a:lstStyle/>
          <a:p>
            <a:r>
              <a:rPr lang="en-US" altLang="zh-TW" sz="2800" b="1" dirty="0"/>
              <a:t>……</a:t>
            </a:r>
            <a:endParaRPr lang="zh-TW" altLang="en-US" sz="2800" b="1" dirty="0"/>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1608" y="584057"/>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8758" y="3609601"/>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單箭頭接點 6"/>
          <p:cNvCxnSpPr/>
          <p:nvPr/>
        </p:nvCxnSpPr>
        <p:spPr>
          <a:xfrm flipV="1">
            <a:off x="5504209" y="1634288"/>
            <a:ext cx="371775" cy="61014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flipV="1">
            <a:off x="5501556" y="4523726"/>
            <a:ext cx="371775" cy="61014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a:off x="6780942" y="1652837"/>
            <a:ext cx="371775" cy="61014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a:off x="6862159" y="4519487"/>
            <a:ext cx="371775" cy="61014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45776" y="654835"/>
            <a:ext cx="1052967" cy="105296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83700" y="3668089"/>
            <a:ext cx="1052967" cy="1052968"/>
          </a:xfrm>
          <a:prstGeom prst="rect">
            <a:avLst/>
          </a:prstGeom>
          <a:noFill/>
          <a:extLst>
            <a:ext uri="{909E8E84-426E-40DD-AFC4-6F175D3DCCD1}">
              <a14:hiddenFill xmlns:a14="http://schemas.microsoft.com/office/drawing/2010/main">
                <a:solidFill>
                  <a:srgbClr val="FFFFFF"/>
                </a:solidFill>
              </a14:hiddenFill>
            </a:ext>
          </a:extLst>
        </p:spPr>
      </p:pic>
      <p:sp>
        <p:nvSpPr>
          <p:cNvPr id="15" name="文字方塊 14"/>
          <p:cNvSpPr txBox="1"/>
          <p:nvPr/>
        </p:nvSpPr>
        <p:spPr>
          <a:xfrm>
            <a:off x="7381068" y="678961"/>
            <a:ext cx="3541764" cy="461665"/>
          </a:xfrm>
          <a:prstGeom prst="rect">
            <a:avLst/>
          </a:prstGeom>
          <a:noFill/>
        </p:spPr>
        <p:txBody>
          <a:bodyPr wrap="square" rtlCol="0">
            <a:spAutoFit/>
          </a:bodyPr>
          <a:lstStyle/>
          <a:p>
            <a:r>
              <a:rPr lang="zh-TW" altLang="en-US" sz="2400" dirty="0">
                <a:latin typeface="Microsoft JhengHei" panose="020B0604030504040204" pitchFamily="34" charset="-120"/>
                <a:ea typeface="Microsoft JhengHei" panose="020B0604030504040204" pitchFamily="34" charset="-120"/>
              </a:rPr>
              <a:t>我們需要 </a:t>
            </a:r>
            <a:r>
              <a:rPr lang="en-US" altLang="zh-TW" sz="2400" dirty="0">
                <a:latin typeface="Microsoft JhengHei" panose="020B0604030504040204" pitchFamily="34" charset="-120"/>
                <a:ea typeface="Microsoft JhengHei" panose="020B0604030504040204" pitchFamily="34" charset="-120"/>
              </a:rPr>
              <a:t>World Model</a:t>
            </a:r>
            <a:endParaRPr lang="en-US" altLang="zh-TW" sz="2400" dirty="0">
              <a:latin typeface="Microsoft JhengHei" panose="020B0604030504040204" pitchFamily="34" charset="-120"/>
              <a:ea typeface="Microsoft JhengHei" panose="020B0604030504040204" pitchFamily="34" charset="-120"/>
            </a:endParaRPr>
          </a:p>
        </p:txBody>
      </p:sp>
      <p:sp>
        <p:nvSpPr>
          <p:cNvPr id="16" name="文字方塊 15"/>
          <p:cNvSpPr txBox="1"/>
          <p:nvPr/>
        </p:nvSpPr>
        <p:spPr>
          <a:xfrm>
            <a:off x="7381068" y="1172623"/>
            <a:ext cx="4631753" cy="461665"/>
          </a:xfrm>
          <a:prstGeom prst="rect">
            <a:avLst/>
          </a:prstGeom>
          <a:noFill/>
        </p:spPr>
        <p:txBody>
          <a:bodyPr wrap="square" rtlCol="0">
            <a:spAutoFit/>
          </a:bodyPr>
          <a:lstStyle/>
          <a:p>
            <a:r>
              <a:rPr lang="en-US" altLang="zh-TW" sz="2400" dirty="0">
                <a:latin typeface="Microsoft JhengHei" panose="020B0604030504040204" pitchFamily="34" charset="-120"/>
                <a:ea typeface="Microsoft JhengHei" panose="020B0604030504040204" pitchFamily="34" charset="-120"/>
              </a:rPr>
              <a:t>AI</a:t>
            </a:r>
            <a:r>
              <a:rPr lang="zh-TW" altLang="en-US" sz="2400" dirty="0">
                <a:latin typeface="Microsoft JhengHei" panose="020B0604030504040204" pitchFamily="34" charset="-120"/>
                <a:ea typeface="Microsoft JhengHei" panose="020B0604030504040204" pitchFamily="34" charset="-120"/>
              </a:rPr>
              <a:t> 可以自己扮演 </a:t>
            </a:r>
            <a:r>
              <a:rPr lang="en-US" altLang="zh-TW" sz="2400" dirty="0">
                <a:latin typeface="Microsoft JhengHei" panose="020B0604030504040204" pitchFamily="34" charset="-120"/>
                <a:ea typeface="Microsoft JhengHei" panose="020B0604030504040204" pitchFamily="34" charset="-120"/>
              </a:rPr>
              <a:t>World Model? </a:t>
            </a:r>
            <a:endParaRPr lang="en-US" altLang="zh-TW" sz="24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p:cNvSpPr txBox="1"/>
          <p:nvPr/>
        </p:nvSpPr>
        <p:spPr>
          <a:xfrm>
            <a:off x="8439150" y="860286"/>
            <a:ext cx="6096000" cy="369332"/>
          </a:xfrm>
          <a:prstGeom prst="rect">
            <a:avLst/>
          </a:prstGeom>
          <a:noFill/>
        </p:spPr>
        <p:txBody>
          <a:bodyPr wrap="square">
            <a:spAutoFit/>
          </a:bodyPr>
          <a:lstStyle/>
          <a:p>
            <a:r>
              <a:rPr lang="zh-TW" altLang="en-US" dirty="0"/>
              <a:t>https://arxiv.org/abs/2411.06559</a:t>
            </a:r>
            <a:endParaRPr lang="zh-TW" altLang="en-US" dirty="0"/>
          </a:p>
        </p:txBody>
      </p:sp>
      <p:sp>
        <p:nvSpPr>
          <p:cNvPr id="9" name="文字方塊 8"/>
          <p:cNvSpPr txBox="1"/>
          <p:nvPr/>
        </p:nvSpPr>
        <p:spPr>
          <a:xfrm>
            <a:off x="869156" y="152400"/>
            <a:ext cx="10453687" cy="1077218"/>
          </a:xfrm>
          <a:prstGeom prst="rect">
            <a:avLst/>
          </a:prstGeom>
          <a:noFill/>
        </p:spPr>
        <p:txBody>
          <a:bodyPr wrap="square">
            <a:spAutoFit/>
          </a:bodyPr>
          <a:lstStyle/>
          <a:p>
            <a:r>
              <a:rPr lang="en-US" altLang="zh-TW" sz="3200" i="0" dirty="0">
                <a:solidFill>
                  <a:srgbClr val="000000"/>
                </a:solidFill>
                <a:effectLst/>
                <a:latin typeface="Lucida Grande"/>
              </a:rPr>
              <a:t>Is Your LLM Secretly a World Model of the Internet? Model-Based Planning for Web Agents</a:t>
            </a:r>
            <a:endParaRPr lang="zh-TW" altLang="en-US" sz="3200" dirty="0"/>
          </a:p>
        </p:txBody>
      </p:sp>
      <p:pic>
        <p:nvPicPr>
          <p:cNvPr id="11" name="圖片 10"/>
          <p:cNvPicPr>
            <a:picLocks noChangeAspect="1"/>
          </p:cNvPicPr>
          <p:nvPr/>
        </p:nvPicPr>
        <p:blipFill>
          <a:blip r:embed="rId1"/>
          <a:stretch>
            <a:fillRect/>
          </a:stretch>
        </p:blipFill>
        <p:spPr>
          <a:xfrm>
            <a:off x="1186537" y="1242707"/>
            <a:ext cx="9818926" cy="546289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Microsoft JhengHei" panose="020B0604030504040204" pitchFamily="34" charset="-120"/>
                <a:ea typeface="Microsoft JhengHei" panose="020B0604030504040204" pitchFamily="34" charset="-120"/>
              </a:rPr>
              <a:t>從 </a:t>
            </a:r>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的角度來看「思考」的能力</a:t>
            </a:r>
            <a:endParaRPr lang="zh-TW" altLang="en-US" dirty="0">
              <a:latin typeface="Microsoft JhengHei" panose="020B0604030504040204" pitchFamily="34" charset="-120"/>
              <a:ea typeface="Microsoft JhengHei" panose="020B0604030504040204" pitchFamily="34" charset="-120"/>
            </a:endParaRPr>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9495" y="1497094"/>
            <a:ext cx="1219200" cy="12192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單箭頭接點 7"/>
          <p:cNvCxnSpPr/>
          <p:nvPr/>
        </p:nvCxnSpPr>
        <p:spPr>
          <a:xfrm>
            <a:off x="1371184" y="2234840"/>
            <a:ext cx="104733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228600" y="1972658"/>
            <a:ext cx="12192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TW" altLang="en-US" sz="2400" b="1"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輸入</a:t>
            </a:r>
            <a:endParaRPr kumimoji="0" lang="zh-TW" altLang="en-US" sz="2400" b="1"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p:txBody>
      </p:sp>
      <p:cxnSp>
        <p:nvCxnSpPr>
          <p:cNvPr id="10" name="直線單箭頭接點 9"/>
          <p:cNvCxnSpPr/>
          <p:nvPr/>
        </p:nvCxnSpPr>
        <p:spPr>
          <a:xfrm>
            <a:off x="3883911" y="2256315"/>
            <a:ext cx="111103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5037480" y="6322092"/>
            <a:ext cx="109841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2400" b="1"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輸出</a:t>
            </a:r>
            <a:endParaRPr kumimoji="0" lang="zh-TW" altLang="en-US" sz="2400" b="1"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p:txBody>
      </p:sp>
      <p:sp>
        <p:nvSpPr>
          <p:cNvPr id="20" name="矩形: 圓角 19"/>
          <p:cNvSpPr/>
          <p:nvPr/>
        </p:nvSpPr>
        <p:spPr>
          <a:xfrm>
            <a:off x="5037480" y="1589455"/>
            <a:ext cx="6497295" cy="4570915"/>
          </a:xfrm>
          <a:prstGeom prst="roundRect">
            <a:avLst>
              <a:gd name="adj" fmla="val 7483"/>
            </a:avLst>
          </a:prstGeom>
          <a:noFill/>
          <a:ln w="5715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1200" cap="none" spc="0" normalizeH="0" baseline="0" noProof="0">
              <a:ln>
                <a:noFill/>
              </a:ln>
              <a:solidFill>
                <a:prstClr val="white"/>
              </a:solidFill>
              <a:effectLst/>
              <a:uLnTx/>
              <a:uFillTx/>
              <a:latin typeface="Aptos" panose="02110004020202020204"/>
              <a:ea typeface="PMingLiU" panose="02020500000000000000" pitchFamily="18" charset="-120"/>
              <a:cs typeface="+mn-cs"/>
            </a:endParaRPr>
          </a:p>
        </p:txBody>
      </p:sp>
      <p:sp>
        <p:nvSpPr>
          <p:cNvPr id="21" name="文字方塊 20"/>
          <p:cNvSpPr txBox="1"/>
          <p:nvPr/>
        </p:nvSpPr>
        <p:spPr>
          <a:xfrm>
            <a:off x="99072" y="5929537"/>
            <a:ext cx="4089332" cy="461665"/>
          </a:xfrm>
          <a:prstGeom prst="rect">
            <a:avLst/>
          </a:prstGeom>
          <a:noFill/>
        </p:spPr>
        <p:txBody>
          <a:bodyPr wrap="square" rtlCol="0">
            <a:spAutoFit/>
          </a:bodyPr>
          <a:lstStyle/>
          <a:p>
            <a:pPr algn="r"/>
            <a:r>
              <a:rPr lang="zh-TW" altLang="en-US" sz="2400" dirty="0">
                <a:solidFill>
                  <a:srgbClr val="FF0000"/>
                </a:solidFill>
                <a:latin typeface="Microsoft JhengHei" panose="020B0604030504040204" pitchFamily="34" charset="-120"/>
                <a:ea typeface="Microsoft JhengHei" panose="020B0604030504040204" pitchFamily="34" charset="-120"/>
              </a:rPr>
              <a:t>腦內小劇場</a:t>
            </a:r>
            <a:endParaRPr lang="zh-TW" altLang="en-US" sz="2400" dirty="0">
              <a:solidFill>
                <a:srgbClr val="FF0000"/>
              </a:solidFill>
              <a:latin typeface="Microsoft JhengHei" panose="020B0604030504040204" pitchFamily="34" charset="-120"/>
              <a:ea typeface="Microsoft JhengHei" panose="020B0604030504040204" pitchFamily="34" charset="-120"/>
            </a:endParaRPr>
          </a:p>
        </p:txBody>
      </p:sp>
      <p:cxnSp>
        <p:nvCxnSpPr>
          <p:cNvPr id="22" name="直線單箭頭接點 21"/>
          <p:cNvCxnSpPr/>
          <p:nvPr/>
        </p:nvCxnSpPr>
        <p:spPr>
          <a:xfrm flipV="1">
            <a:off x="4277837" y="5510860"/>
            <a:ext cx="742745" cy="461665"/>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52" name="圖片 51"/>
          <p:cNvPicPr>
            <a:picLocks noChangeAspect="1"/>
          </p:cNvPicPr>
          <p:nvPr/>
        </p:nvPicPr>
        <p:blipFill>
          <a:blip r:embed="rId2"/>
          <a:stretch>
            <a:fillRect/>
          </a:stretch>
        </p:blipFill>
        <p:spPr>
          <a:xfrm>
            <a:off x="5251597" y="1728013"/>
            <a:ext cx="6144733" cy="4316239"/>
          </a:xfrm>
          <a:prstGeom prst="rect">
            <a:avLst/>
          </a:prstGeom>
        </p:spPr>
      </p:pic>
      <p:sp>
        <p:nvSpPr>
          <p:cNvPr id="53" name="文字方塊 52"/>
          <p:cNvSpPr txBox="1"/>
          <p:nvPr/>
        </p:nvSpPr>
        <p:spPr>
          <a:xfrm>
            <a:off x="5567679" y="160873"/>
            <a:ext cx="4855891" cy="523220"/>
          </a:xfrm>
          <a:prstGeom prst="rect">
            <a:avLst/>
          </a:prstGeom>
          <a:noFill/>
        </p:spPr>
        <p:txBody>
          <a:bodyPr wrap="square">
            <a:spAutoFit/>
          </a:bodyPr>
          <a:lstStyle/>
          <a:p>
            <a:pPr algn="ctr"/>
            <a:r>
              <a:rPr lang="en-US" altLang="zh-TW" sz="2800" dirty="0">
                <a:latin typeface="Microsoft JhengHei" panose="020B0604030504040204" pitchFamily="34" charset="-120"/>
                <a:ea typeface="Microsoft JhengHei" panose="020B0604030504040204" pitchFamily="34" charset="-120"/>
              </a:rPr>
              <a:t>(Reasoning)</a:t>
            </a:r>
            <a:endParaRPr lang="zh-TW" altLang="en-US" sz="2800" dirty="0">
              <a:latin typeface="Microsoft JhengHei" panose="020B0604030504040204" pitchFamily="34" charset="-120"/>
              <a:ea typeface="Microsoft JhengHei" panose="020B0604030504040204" pitchFamily="34" charset="-120"/>
            </a:endParaRPr>
          </a:p>
        </p:txBody>
      </p:sp>
      <p:sp>
        <p:nvSpPr>
          <p:cNvPr id="55" name="文字方塊 54"/>
          <p:cNvSpPr txBox="1"/>
          <p:nvPr/>
        </p:nvSpPr>
        <p:spPr>
          <a:xfrm>
            <a:off x="193879" y="2485460"/>
            <a:ext cx="219767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TW" sz="2400" b="1"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(Observation)</a:t>
            </a:r>
            <a:endParaRPr kumimoji="0" lang="zh-TW" altLang="en-US" sz="2400" b="1"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p:txBody>
      </p:sp>
      <p:sp>
        <p:nvSpPr>
          <p:cNvPr id="56" name="文字方塊 55"/>
          <p:cNvSpPr txBox="1"/>
          <p:nvPr/>
        </p:nvSpPr>
        <p:spPr>
          <a:xfrm>
            <a:off x="5737283" y="6285969"/>
            <a:ext cx="219767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TW" sz="2400" b="1"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(Action)</a:t>
            </a:r>
            <a:endParaRPr kumimoji="0" lang="zh-TW" altLang="en-US" sz="2400" b="1"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55714" y="2026819"/>
            <a:ext cx="1619842" cy="1619843"/>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線單箭頭接點 10"/>
          <p:cNvCxnSpPr/>
          <p:nvPr/>
        </p:nvCxnSpPr>
        <p:spPr>
          <a:xfrm>
            <a:off x="4554735" y="2923679"/>
            <a:ext cx="53541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p:nvPr/>
        </p:nvCxnSpPr>
        <p:spPr>
          <a:xfrm>
            <a:off x="6675556" y="2893817"/>
            <a:ext cx="49942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 name="群組 18"/>
          <p:cNvGrpSpPr/>
          <p:nvPr/>
        </p:nvGrpSpPr>
        <p:grpSpPr>
          <a:xfrm>
            <a:off x="257110" y="823791"/>
            <a:ext cx="4249440" cy="3903474"/>
            <a:chOff x="503106" y="203215"/>
            <a:chExt cx="4249440" cy="3903474"/>
          </a:xfrm>
        </p:grpSpPr>
        <p:sp>
          <p:nvSpPr>
            <p:cNvPr id="5" name="文字方塊 4"/>
            <p:cNvSpPr txBox="1"/>
            <p:nvPr/>
          </p:nvSpPr>
          <p:spPr>
            <a:xfrm>
              <a:off x="547503" y="397119"/>
              <a:ext cx="3806371" cy="1477328"/>
            </a:xfrm>
            <a:prstGeom prst="rect">
              <a:avLst/>
            </a:prstGeom>
            <a:noFill/>
          </p:spPr>
          <p:txBody>
            <a:bodyPr wrap="square">
              <a:spAutoFit/>
            </a:bodyPr>
            <a:lstStyle/>
            <a:p>
              <a:r>
                <a:rPr lang="zh-TW" altLang="en-US" dirty="0">
                  <a:latin typeface="Microsoft JhengHei" panose="020B0604030504040204" pitchFamily="34" charset="-120"/>
                  <a:ea typeface="Microsoft JhengHei" panose="020B0604030504040204" pitchFamily="34" charset="-120"/>
                </a:rPr>
                <a:t>可以執行的操作： </a:t>
              </a:r>
              <a:endParaRPr lang="en-US" altLang="zh-TW" dirty="0">
                <a:latin typeface="Microsoft JhengHei" panose="020B0604030504040204" pitchFamily="34" charset="-120"/>
                <a:ea typeface="Microsoft JhengHei" panose="020B0604030504040204" pitchFamily="34" charset="-120"/>
              </a:endParaRPr>
            </a:p>
            <a:p>
              <a:pPr marL="342900" indent="-342900">
                <a:buAutoNum type="arabicPeriod"/>
              </a:pPr>
              <a:r>
                <a:rPr lang="zh-TW" altLang="en-US" dirty="0">
                  <a:latin typeface="Microsoft JhengHei" panose="020B0604030504040204" pitchFamily="34" charset="-120"/>
                  <a:ea typeface="Microsoft JhengHei" panose="020B0604030504040204" pitchFamily="34" charset="-120"/>
                </a:rPr>
                <a:t>從桌上拿起一個積木 </a:t>
              </a:r>
              <a:endParaRPr lang="en-US" altLang="zh-TW" dirty="0">
                <a:latin typeface="Microsoft JhengHei" panose="020B0604030504040204" pitchFamily="34" charset="-120"/>
                <a:ea typeface="Microsoft JhengHei" panose="020B0604030504040204" pitchFamily="34" charset="-120"/>
              </a:endParaRPr>
            </a:p>
            <a:p>
              <a:pPr marL="342900" indent="-342900">
                <a:buAutoNum type="arabicPeriod"/>
              </a:pPr>
              <a:r>
                <a:rPr lang="zh-TW" altLang="en-US" dirty="0">
                  <a:latin typeface="Microsoft JhengHei" panose="020B0604030504040204" pitchFamily="34" charset="-120"/>
                  <a:ea typeface="Microsoft JhengHei" panose="020B0604030504040204" pitchFamily="34" charset="-120"/>
                </a:rPr>
                <a:t>從另一個積木上拿起另一個積木 </a:t>
              </a:r>
              <a:endParaRPr lang="en-US" altLang="zh-TW" dirty="0">
                <a:latin typeface="Microsoft JhengHei" panose="020B0604030504040204" pitchFamily="34" charset="-120"/>
                <a:ea typeface="Microsoft JhengHei" panose="020B0604030504040204" pitchFamily="34" charset="-120"/>
              </a:endParaRPr>
            </a:p>
            <a:p>
              <a:pPr marL="342900" indent="-342900">
                <a:buAutoNum type="arabicPeriod"/>
              </a:pPr>
              <a:r>
                <a:rPr lang="zh-TW" altLang="en-US" dirty="0">
                  <a:latin typeface="Microsoft JhengHei" panose="020B0604030504040204" pitchFamily="34" charset="-120"/>
                  <a:ea typeface="Microsoft JhengHei" panose="020B0604030504040204" pitchFamily="34" charset="-120"/>
                </a:rPr>
                <a:t>把積木放到桌上 </a:t>
              </a:r>
              <a:endParaRPr lang="en-US" altLang="zh-TW" dirty="0">
                <a:latin typeface="Microsoft JhengHei" panose="020B0604030504040204" pitchFamily="34" charset="-120"/>
                <a:ea typeface="Microsoft JhengHei" panose="020B0604030504040204" pitchFamily="34" charset="-120"/>
              </a:endParaRPr>
            </a:p>
            <a:p>
              <a:pPr marL="342900" indent="-342900">
                <a:buAutoNum type="arabicPeriod"/>
              </a:pPr>
              <a:r>
                <a:rPr lang="zh-TW" altLang="en-US" dirty="0">
                  <a:latin typeface="Microsoft JhengHei" panose="020B0604030504040204" pitchFamily="34" charset="-120"/>
                  <a:ea typeface="Microsoft JhengHei" panose="020B0604030504040204" pitchFamily="34" charset="-120"/>
                </a:rPr>
                <a:t>將一個積木堆在另一個積木上 </a:t>
              </a:r>
              <a:endParaRPr lang="zh-TW" altLang="en-US" dirty="0">
                <a:latin typeface="Microsoft JhengHei" panose="020B0604030504040204" pitchFamily="34" charset="-120"/>
                <a:ea typeface="Microsoft JhengHei" panose="020B0604030504040204" pitchFamily="34" charset="-120"/>
              </a:endParaRPr>
            </a:p>
          </p:txBody>
        </p:sp>
        <p:sp>
          <p:nvSpPr>
            <p:cNvPr id="6" name="文字方塊 5"/>
            <p:cNvSpPr txBox="1"/>
            <p:nvPr/>
          </p:nvSpPr>
          <p:spPr>
            <a:xfrm>
              <a:off x="547503" y="2048172"/>
              <a:ext cx="4107542" cy="923330"/>
            </a:xfrm>
            <a:prstGeom prst="rect">
              <a:avLst/>
            </a:prstGeom>
            <a:noFill/>
          </p:spPr>
          <p:txBody>
            <a:bodyPr wrap="square">
              <a:spAutoFit/>
            </a:bodyPr>
            <a:lstStyle/>
            <a:p>
              <a:r>
                <a:rPr lang="zh-TW" altLang="en-US" dirty="0">
                  <a:latin typeface="Microsoft JhengHei" panose="020B0604030504040204" pitchFamily="34" charset="-120"/>
                  <a:ea typeface="Microsoft JhengHei" panose="020B0604030504040204" pitchFamily="34" charset="-120"/>
                </a:rPr>
                <a:t>目前狀態：藍色積木在橘色積木的上面，紅色積木在桌子上，橘色積木在桌子上，黃色積木也在桌子上。</a:t>
              </a:r>
              <a:endParaRPr lang="zh-TW" altLang="en-US" dirty="0">
                <a:latin typeface="Microsoft JhengHei" panose="020B0604030504040204" pitchFamily="34" charset="-120"/>
                <a:ea typeface="Microsoft JhengHei" panose="020B0604030504040204" pitchFamily="34" charset="-120"/>
              </a:endParaRPr>
            </a:p>
          </p:txBody>
        </p:sp>
        <p:sp>
          <p:nvSpPr>
            <p:cNvPr id="7" name="文字方塊 6"/>
            <p:cNvSpPr txBox="1"/>
            <p:nvPr/>
          </p:nvSpPr>
          <p:spPr>
            <a:xfrm>
              <a:off x="547503" y="3135092"/>
              <a:ext cx="4107542" cy="369332"/>
            </a:xfrm>
            <a:prstGeom prst="rect">
              <a:avLst/>
            </a:prstGeom>
            <a:noFill/>
          </p:spPr>
          <p:txBody>
            <a:bodyPr wrap="square">
              <a:spAutoFit/>
            </a:bodyPr>
            <a:lstStyle/>
            <a:p>
              <a:r>
                <a:rPr lang="zh-TW" altLang="en-US" dirty="0">
                  <a:latin typeface="Microsoft JhengHei" panose="020B0604030504040204" pitchFamily="34" charset="-120"/>
                  <a:ea typeface="Microsoft JhengHei" panose="020B0604030504040204" pitchFamily="34" charset="-120"/>
                </a:rPr>
                <a:t>目標：讓橘色積木放置在藍色積木上。</a:t>
              </a:r>
              <a:endParaRPr lang="zh-TW" altLang="en-US" dirty="0">
                <a:latin typeface="Microsoft JhengHei" panose="020B0604030504040204" pitchFamily="34" charset="-120"/>
                <a:ea typeface="Microsoft JhengHei" panose="020B0604030504040204" pitchFamily="34" charset="-120"/>
              </a:endParaRPr>
            </a:p>
          </p:txBody>
        </p:sp>
        <p:sp>
          <p:nvSpPr>
            <p:cNvPr id="9" name="矩形: 圓角 8"/>
            <p:cNvSpPr/>
            <p:nvPr/>
          </p:nvSpPr>
          <p:spPr>
            <a:xfrm>
              <a:off x="503106" y="203215"/>
              <a:ext cx="4249440" cy="3903474"/>
            </a:xfrm>
            <a:prstGeom prst="roundRect">
              <a:avLst>
                <a:gd name="adj" fmla="val 3189"/>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13"/>
            <p:cNvSpPr txBox="1"/>
            <p:nvPr/>
          </p:nvSpPr>
          <p:spPr>
            <a:xfrm>
              <a:off x="553705" y="3620890"/>
              <a:ext cx="4031342" cy="369332"/>
            </a:xfrm>
            <a:prstGeom prst="rect">
              <a:avLst/>
            </a:prstGeom>
            <a:noFill/>
          </p:spPr>
          <p:txBody>
            <a:bodyPr wrap="square">
              <a:spAutoFit/>
            </a:bodyPr>
            <a:lstStyle/>
            <a:p>
              <a:r>
                <a:rPr lang="zh-TW" altLang="en-US" b="0" i="0" dirty="0">
                  <a:solidFill>
                    <a:srgbClr val="262626"/>
                  </a:solidFill>
                  <a:effectLst/>
                  <a:latin typeface="Inter"/>
                </a:rPr>
                <a:t>告訴我你的下一步</a:t>
              </a:r>
              <a:endParaRPr lang="zh-TW" altLang="en-US" dirty="0"/>
            </a:p>
          </p:txBody>
        </p:sp>
      </p:grpSp>
      <p:sp>
        <p:nvSpPr>
          <p:cNvPr id="16" name="文字方塊 15"/>
          <p:cNvSpPr txBox="1"/>
          <p:nvPr/>
        </p:nvSpPr>
        <p:spPr>
          <a:xfrm>
            <a:off x="6675556" y="5821493"/>
            <a:ext cx="7515224" cy="369332"/>
          </a:xfrm>
          <a:prstGeom prst="rect">
            <a:avLst/>
          </a:prstGeom>
          <a:noFill/>
        </p:spPr>
        <p:txBody>
          <a:bodyPr wrap="square">
            <a:spAutoFit/>
          </a:bodyPr>
          <a:lstStyle/>
          <a:p>
            <a:r>
              <a:rPr lang="zh-TW" altLang="en-US" dirty="0">
                <a:latin typeface="Microsoft JhengHei" panose="020B0604030504040204" pitchFamily="34" charset="-120"/>
                <a:ea typeface="Microsoft JhengHei" panose="020B0604030504040204" pitchFamily="34" charset="-120"/>
              </a:rPr>
              <a:t>下一步：使用操作</a:t>
            </a:r>
            <a:r>
              <a:rPr lang="en-US" altLang="zh-TW" dirty="0">
                <a:latin typeface="Microsoft JhengHei" panose="020B0604030504040204" pitchFamily="34" charset="-120"/>
                <a:ea typeface="Microsoft JhengHei" panose="020B0604030504040204" pitchFamily="34" charset="-120"/>
              </a:rPr>
              <a:t>2</a:t>
            </a:r>
            <a:r>
              <a:rPr lang="zh-TW" altLang="en-US" dirty="0">
                <a:latin typeface="Microsoft JhengHei" panose="020B0604030504040204" pitchFamily="34" charset="-120"/>
                <a:ea typeface="Microsoft JhengHei" panose="020B0604030504040204" pitchFamily="34" charset="-120"/>
              </a:rPr>
              <a:t>，從橘色積木上拿起藍色積木。</a:t>
            </a:r>
            <a:endParaRPr lang="zh-TW" altLang="en-US" dirty="0">
              <a:latin typeface="Microsoft JhengHei" panose="020B0604030504040204" pitchFamily="34" charset="-120"/>
              <a:ea typeface="Microsoft JhengHei" panose="020B0604030504040204" pitchFamily="34" charset="-120"/>
            </a:endParaRPr>
          </a:p>
        </p:txBody>
      </p:sp>
      <p:pic>
        <p:nvPicPr>
          <p:cNvPr id="18" name="圖片 17"/>
          <p:cNvPicPr>
            <a:picLocks noChangeAspect="1"/>
          </p:cNvPicPr>
          <p:nvPr/>
        </p:nvPicPr>
        <p:blipFill>
          <a:blip r:embed="rId2"/>
          <a:stretch>
            <a:fillRect/>
          </a:stretch>
        </p:blipFill>
        <p:spPr>
          <a:xfrm>
            <a:off x="7174983" y="1204332"/>
            <a:ext cx="10490633" cy="4449335"/>
          </a:xfrm>
          <a:prstGeom prst="rect">
            <a:avLst/>
          </a:prstGeom>
        </p:spPr>
      </p:pic>
      <p:sp>
        <p:nvSpPr>
          <p:cNvPr id="24" name="文字方塊 23"/>
          <p:cNvSpPr txBox="1"/>
          <p:nvPr/>
        </p:nvSpPr>
        <p:spPr>
          <a:xfrm>
            <a:off x="7343750" y="667175"/>
            <a:ext cx="7515224" cy="461665"/>
          </a:xfrm>
          <a:prstGeom prst="rect">
            <a:avLst/>
          </a:prstGeom>
          <a:noFill/>
        </p:spPr>
        <p:txBody>
          <a:bodyPr wrap="square">
            <a:spAutoFit/>
          </a:bodyPr>
          <a:lstStyle/>
          <a:p>
            <a:r>
              <a:rPr lang="zh-TW" altLang="en-US" sz="2400" dirty="0">
                <a:solidFill>
                  <a:srgbClr val="404040"/>
                </a:solidFill>
                <a:latin typeface="Microsoft JhengHei" panose="020B0604030504040204" pitchFamily="34" charset="-120"/>
                <a:ea typeface="Microsoft JhengHei" panose="020B0604030504040204" pitchFamily="34" charset="-120"/>
              </a:rPr>
              <a:t>上略 </a:t>
            </a:r>
            <a:r>
              <a:rPr lang="en-US" altLang="zh-TW" sz="2400" dirty="0">
                <a:solidFill>
                  <a:srgbClr val="404040"/>
                </a:solidFill>
                <a:latin typeface="Microsoft JhengHei" panose="020B0604030504040204" pitchFamily="34" charset="-120"/>
                <a:ea typeface="Microsoft JhengHei" panose="020B0604030504040204" pitchFamily="34" charset="-120"/>
              </a:rPr>
              <a:t>1500 </a:t>
            </a:r>
            <a:r>
              <a:rPr lang="zh-TW" altLang="en-US" sz="2400" dirty="0">
                <a:solidFill>
                  <a:srgbClr val="404040"/>
                </a:solidFill>
                <a:latin typeface="Microsoft JhengHei" panose="020B0604030504040204" pitchFamily="34" charset="-120"/>
                <a:ea typeface="Microsoft JhengHei" panose="020B0604030504040204" pitchFamily="34" charset="-120"/>
              </a:rPr>
              <a:t>字</a:t>
            </a:r>
            <a:endParaRPr lang="zh-TW" altLang="en-US" sz="2400" dirty="0">
              <a:latin typeface="Microsoft JhengHei" panose="020B0604030504040204" pitchFamily="34" charset="-120"/>
              <a:ea typeface="Microsoft JhengHei" panose="020B0604030504040204" pitchFamily="34" charset="-120"/>
            </a:endParaRPr>
          </a:p>
        </p:txBody>
      </p:sp>
      <p:sp>
        <p:nvSpPr>
          <p:cNvPr id="25" name="文字方塊 24"/>
          <p:cNvSpPr txBox="1"/>
          <p:nvPr/>
        </p:nvSpPr>
        <p:spPr>
          <a:xfrm>
            <a:off x="4875945" y="3676200"/>
            <a:ext cx="1929643" cy="461665"/>
          </a:xfrm>
          <a:prstGeom prst="rect">
            <a:avLst/>
          </a:prstGeom>
          <a:noFill/>
        </p:spPr>
        <p:txBody>
          <a:bodyPr wrap="square" rtlCol="0">
            <a:spAutoFit/>
          </a:bodyPr>
          <a:lstStyle/>
          <a:p>
            <a:r>
              <a:rPr lang="en-US" altLang="zh-TW" sz="2400" dirty="0"/>
              <a:t>DeepSeek-R1</a:t>
            </a:r>
            <a:endParaRPr lang="zh-TW" altLang="en-US" sz="2400" dirty="0"/>
          </a:p>
        </p:txBody>
      </p:sp>
      <p:sp>
        <p:nvSpPr>
          <p:cNvPr id="27" name="文字方塊 26"/>
          <p:cNvSpPr txBox="1"/>
          <p:nvPr/>
        </p:nvSpPr>
        <p:spPr>
          <a:xfrm>
            <a:off x="509344" y="5378640"/>
            <a:ext cx="530545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TW" b="1" i="0" dirty="0">
                <a:solidFill>
                  <a:srgbClr val="000000"/>
                </a:solidFill>
                <a:effectLst/>
                <a:latin typeface="Lucida Grande"/>
              </a:rPr>
              <a:t>The Danger of Overthinking: Examining the Reasoning-Action Dilemma in Agentic Tasks</a:t>
            </a:r>
            <a:endParaRPr lang="en-US" altLang="zh-TW" b="1" i="0" dirty="0">
              <a:solidFill>
                <a:srgbClr val="000000"/>
              </a:solidFill>
              <a:effectLst/>
              <a:latin typeface="Lucida Grande"/>
            </a:endParaRPr>
          </a:p>
          <a:p>
            <a:pPr marL="0" marR="0" lvl="0" indent="0" algn="l" defTabSz="914400" rtl="0" eaLnBrk="1" fontAlgn="auto" latinLnBrk="0" hangingPunct="1">
              <a:lnSpc>
                <a:spcPct val="100000"/>
              </a:lnSpc>
              <a:spcBef>
                <a:spcPts val="0"/>
              </a:spcBef>
              <a:spcAft>
                <a:spcPts val="0"/>
              </a:spcAft>
              <a:buClrTx/>
              <a:buSzTx/>
              <a:buFontTx/>
              <a:buNone/>
              <a:defRPr/>
            </a:pPr>
            <a:r>
              <a:rPr lang="zh-TW" altLang="en-US" dirty="0"/>
              <a:t>https://arxiv.org/abs/2502.08235</a:t>
            </a:r>
            <a:endParaRPr lang="zh-TW" altLang="en-US"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27"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Microsoft JhengHei" panose="020B0604030504040204" pitchFamily="34" charset="-120"/>
                <a:ea typeface="Microsoft JhengHei" panose="020B0604030504040204" pitchFamily="34" charset="-120"/>
              </a:rPr>
              <a:t>AI</a:t>
            </a:r>
            <a:r>
              <a:rPr lang="zh-TW" altLang="en-US" dirty="0">
                <a:latin typeface="Microsoft JhengHei" panose="020B0604030504040204" pitchFamily="34" charset="-120"/>
                <a:ea typeface="Microsoft JhengHei" panose="020B0604030504040204" pitchFamily="34" charset="-120"/>
              </a:rPr>
              <a:t> </a:t>
            </a:r>
            <a:r>
              <a:rPr lang="en-US" altLang="zh-TW" dirty="0">
                <a:latin typeface="Microsoft JhengHei" panose="020B0604030504040204" pitchFamily="34" charset="-120"/>
                <a:ea typeface="Microsoft JhengHei" panose="020B0604030504040204" pitchFamily="34" charset="-120"/>
              </a:rPr>
              <a:t>Agent </a:t>
            </a:r>
            <a:r>
              <a:rPr lang="zh-TW" altLang="en-US" dirty="0">
                <a:latin typeface="Microsoft JhengHei" panose="020B0604030504040204" pitchFamily="34" charset="-120"/>
                <a:ea typeface="Microsoft JhengHei" panose="020B0604030504040204" pitchFamily="34" charset="-120"/>
              </a:rPr>
              <a:t>關鍵能力剖析</a:t>
            </a:r>
            <a:endParaRPr lang="zh-TW" altLang="en-US" dirty="0">
              <a:latin typeface="Microsoft JhengHei" panose="020B0604030504040204" pitchFamily="34" charset="-120"/>
              <a:ea typeface="Microsoft JhengHei" panose="020B0604030504040204" pitchFamily="34" charset="-120"/>
            </a:endParaRPr>
          </a:p>
        </p:txBody>
      </p:sp>
      <p:graphicFrame>
        <p:nvGraphicFramePr>
          <p:cNvPr id="4" name="內容版面配置區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1_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9994</Words>
  <Application>WPS 演示</Application>
  <PresentationFormat>寬螢幕</PresentationFormat>
  <Paragraphs>1426</Paragraphs>
  <Slides>96</Slides>
  <Notes>49</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96</vt:i4>
      </vt:variant>
    </vt:vector>
  </HeadingPairs>
  <TitlesOfParts>
    <vt:vector size="124" baseType="lpstr">
      <vt:lpstr>Arial</vt:lpstr>
      <vt:lpstr>宋体</vt:lpstr>
      <vt:lpstr>Wingdings</vt:lpstr>
      <vt:lpstr>Microsoft JhengHei</vt:lpstr>
      <vt:lpstr>Roboto</vt:lpstr>
      <vt:lpstr>Times New Roman</vt:lpstr>
      <vt:lpstr>Calibri Light</vt:lpstr>
      <vt:lpstr>微软雅黑</vt:lpstr>
      <vt:lpstr>Arial Unicode MS</vt:lpstr>
      <vt:lpstr>PMingLiU</vt:lpstr>
      <vt:lpstr>Segoe Print</vt:lpstr>
      <vt:lpstr>Calibri</vt:lpstr>
      <vt:lpstr>等线</vt:lpstr>
      <vt:lpstr>Aptos</vt:lpstr>
      <vt:lpstr>Segoe UI</vt:lpstr>
      <vt:lpstr>KSOF6DA6CABE</vt:lpstr>
      <vt:lpstr>KSOFBE50A8BF</vt:lpstr>
      <vt:lpstr>PMingLiU</vt:lpstr>
      <vt:lpstr>PMingLiU-ExtB</vt:lpstr>
      <vt:lpstr>Calibri</vt:lpstr>
      <vt:lpstr>Aptos</vt:lpstr>
      <vt:lpstr>Google Sans</vt:lpstr>
      <vt:lpstr>Segoe UI Historic</vt:lpstr>
      <vt:lpstr>Gisha</vt:lpstr>
      <vt:lpstr>Lucida Grande</vt:lpstr>
      <vt:lpstr>Open Sans</vt:lpstr>
      <vt:lpstr>Inter</vt:lpstr>
      <vt:lpstr>1_Office 佈景主題</vt:lpstr>
      <vt:lpstr>AI Agent </vt:lpstr>
      <vt:lpstr>PowerPoint 演示文稿</vt:lpstr>
      <vt:lpstr>AI Agent </vt:lpstr>
      <vt:lpstr>AI Agent (AlphaGo)</vt:lpstr>
      <vt:lpstr>如何打造 AI Agent? RL?</vt:lpstr>
      <vt:lpstr>如何打造 AI Agent? 直接用 LLM！</vt:lpstr>
      <vt:lpstr>LLM 能不能下棋？</vt:lpstr>
      <vt:lpstr>LLM 能不能下棋？</vt:lpstr>
      <vt:lpstr>如何打造 AI Agent? 直接用 LLM！</vt:lpstr>
      <vt:lpstr>從 LLM 的角度來看 Agent 要解的問題</vt:lpstr>
      <vt:lpstr> 請注意在這堂課中 沒有任何模型被訓練</vt:lpstr>
      <vt:lpstr>AI Agent 不是最近才熱門</vt:lpstr>
      <vt:lpstr>以 LLM 運行 AI Agent 的優勢</vt:lpstr>
      <vt:lpstr>以 LLM 運行 AI Agent 的優勢</vt:lpstr>
      <vt:lpstr>AI Agent 舉例：AI 村民組成的虛擬村莊</vt:lpstr>
      <vt:lpstr>PowerPoint 演示文稿</vt:lpstr>
      <vt:lpstr>AI Agent 舉例：Minecraft 中的 AI NPC</vt:lpstr>
      <vt:lpstr>AI Agent 舉例：讓 AI 使用電腦</vt:lpstr>
      <vt:lpstr>AI Agent 舉例：讓 AI 使用電腦</vt:lpstr>
      <vt:lpstr>AI Agent 舉例：讓 AI 使用電腦</vt:lpstr>
      <vt:lpstr>AI Agent 舉例：讓 AI 使用電腦</vt:lpstr>
      <vt:lpstr>AI Agent 舉例：用 AI 訓練模型</vt:lpstr>
      <vt:lpstr>AI Agent 舉例：用 AI 做研究</vt:lpstr>
      <vt:lpstr>邁向更加真實的互動情境</vt:lpstr>
      <vt:lpstr>邁向更加真實的互動情境</vt:lpstr>
      <vt:lpstr>邁向更加真實的互動情境</vt:lpstr>
      <vt:lpstr>AI Agent 關鍵能力剖析</vt:lpstr>
      <vt:lpstr>根據經驗調整行為</vt:lpstr>
      <vt:lpstr>根據經驗調整行為</vt:lpstr>
      <vt:lpstr>根據經驗調整行為</vt:lpstr>
      <vt:lpstr>根據經驗調整行為</vt:lpstr>
      <vt:lpstr>根據經驗調整行為</vt:lpstr>
      <vt:lpstr>StreamBench</vt:lpstr>
      <vt:lpstr>StreamBench</vt:lpstr>
      <vt:lpstr>StreamBench</vt:lpstr>
      <vt:lpstr>StreamBench</vt:lpstr>
      <vt:lpstr>StreamBench</vt:lpstr>
      <vt:lpstr>根據經驗調整行為</vt:lpstr>
      <vt:lpstr>根據經驗調整行為</vt:lpstr>
      <vt:lpstr>根據經驗調整行為</vt:lpstr>
      <vt:lpstr>根據經驗調整行為</vt:lpstr>
      <vt:lpstr>有記憶的 ChatGPT </vt:lpstr>
      <vt:lpstr>有記憶的 ChatGPT </vt:lpstr>
      <vt:lpstr>有記憶的 ChatGPT </vt:lpstr>
      <vt:lpstr>有記憶的 ChatGPT </vt:lpstr>
      <vt:lpstr>To learn more …</vt:lpstr>
      <vt:lpstr>AI 如何使用工具</vt:lpstr>
      <vt:lpstr>語言模型常用工具</vt:lpstr>
      <vt:lpstr>如何使用工具</vt:lpstr>
      <vt:lpstr>如何使用工具</vt:lpstr>
      <vt:lpstr>最常使用的工具：搜尋引擎</vt:lpstr>
      <vt:lpstr>使用其他 AI 作為工具 </vt:lpstr>
      <vt:lpstr>PowerPoint 演示文稿</vt:lpstr>
      <vt:lpstr>使用其他 AI 作為工具</vt:lpstr>
      <vt:lpstr>非常多工具怎麼辦？</vt:lpstr>
      <vt:lpstr>非常多工具怎麼辦？</vt:lpstr>
      <vt:lpstr>模型自己打造工具</vt:lpstr>
      <vt:lpstr>PowerPoint 演示文稿</vt:lpstr>
      <vt:lpstr>假如工具有問題 … 以 RAG 為例</vt:lpstr>
      <vt:lpstr>PowerPoint 演示文稿</vt:lpstr>
      <vt:lpstr>語言模型有沒有自己的判斷力？</vt:lpstr>
      <vt:lpstr>語言模型有沒有自己的判斷力？</vt:lpstr>
      <vt:lpstr>語言模型在做 RAG 時 ……</vt:lpstr>
      <vt:lpstr>什麼樣的外部知識比較容易說服 AI ……</vt:lpstr>
      <vt:lpstr>什麼樣的外部知識比較容易說服 AI ……</vt:lpstr>
      <vt:lpstr>什麼樣的外部知識比較容易說服 AI ……</vt:lpstr>
      <vt:lpstr>什麼樣的外部知識比較容易說服 AI ……</vt:lpstr>
      <vt:lpstr>就算工具可靠 … 不代表 AI 就不會犯錯</vt:lpstr>
      <vt:lpstr>使用工具與模型本身能力間的平衡</vt:lpstr>
      <vt:lpstr>AI 能不能做計劃？</vt:lpstr>
      <vt:lpstr>做計劃</vt:lpstr>
      <vt:lpstr>做計劃</vt:lpstr>
      <vt:lpstr>做計劃</vt:lpstr>
      <vt:lpstr>語言模型有能力做計畫嗎？</vt:lpstr>
      <vt:lpstr>PowerPoint 演示文稿</vt:lpstr>
      <vt:lpstr>PlanBench</vt:lpstr>
      <vt:lpstr>PlanBench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強化 AI Agent 的規劃能力</vt:lpstr>
      <vt:lpstr>PowerPoint 演示文稿</vt:lpstr>
      <vt:lpstr>PowerPoint 演示文稿</vt:lpstr>
      <vt:lpstr>PowerPoint 演示文稿</vt:lpstr>
      <vt:lpstr>PowerPoint 演示文稿</vt:lpstr>
      <vt:lpstr>PowerPoint 演示文稿</vt:lpstr>
      <vt:lpstr>PowerPoint 演示文稿</vt:lpstr>
      <vt:lpstr>從 AI Agent 的角度來看「思考」的能力</vt:lpstr>
      <vt:lpstr>PowerPoint 演示文稿</vt:lpstr>
      <vt:lpstr>AI Agent 關鍵能力剖析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代理人</dc:title>
  <dc:creator>Hung-yi Lee</dc:creator>
  <cp:lastModifiedBy>朱科翰</cp:lastModifiedBy>
  <cp:revision>493</cp:revision>
  <dcterms:created xsi:type="dcterms:W3CDTF">2024-03-14T16:18:00Z</dcterms:created>
  <dcterms:modified xsi:type="dcterms:W3CDTF">2026-10-26T12:31:32Z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249AEF1CD9084874AFBF620CAF3DBBAC_12</vt:lpwstr>
  </property>
  <property fmtid="{D5CDD505-2E9C-101B-9397-08002B2CF9AE}" pid="3" name="KSOProductBuildVer">
    <vt:lpwstr>2052-12.1.0.29161</vt:lpwstr>
  </property>
</Properties>
</file>